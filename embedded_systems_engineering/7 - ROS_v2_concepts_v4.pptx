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814D90CD-D400-5612-B49E-CD4DF6BF7C8B}"/>
    <pc:docChg chg="undo custSel delSld modSld">
      <pc:chgData name="Schlesinger, Sebastian" userId="d814e6c9-e9fb-4b77-84f7-ccd8aa3529bb" providerId="ADAL" clId="{814D90CD-D400-5612-B49E-CD4DF6BF7C8B}" dt="2026-03-11T18:56:27.525" v="219" actId="2696"/>
      <pc:docMkLst>
        <pc:docMk/>
      </pc:docMkLst>
      <pc:sldChg chg="addSp modSp mod">
        <pc:chgData name="Schlesinger, Sebastian" userId="d814e6c9-e9fb-4b77-84f7-ccd8aa3529bb" providerId="ADAL" clId="{814D90CD-D400-5612-B49E-CD4DF6BF7C8B}" dt="2026-03-11T18:55:59.977" v="203" actId="14100"/>
        <pc:sldMkLst>
          <pc:docMk/>
          <pc:sldMk cId="0" sldId="269"/>
        </pc:sldMkLst>
        <pc:spChg chg="mod">
          <ac:chgData name="Schlesinger, Sebastian" userId="d814e6c9-e9fb-4b77-84f7-ccd8aa3529bb" providerId="ADAL" clId="{814D90CD-D400-5612-B49E-CD4DF6BF7C8B}" dt="2026-03-11T18:55:59.977" v="203" actId="14100"/>
          <ac:spMkLst>
            <pc:docMk/>
            <pc:sldMk cId="0" sldId="26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5:52.766" v="201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5:00.086" v="70" actId="2057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5:27.867" v="122" actId="20577"/>
          <ac:spMkLst>
            <pc:docMk/>
            <pc:sldMk cId="0" sldId="269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5:49.115" v="200" actId="20577"/>
          <ac:spMkLst>
            <pc:docMk/>
            <pc:sldMk cId="0" sldId="269"/>
            <ac:spMk id="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5:56.726" v="202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5:56.726" v="202" actId="1076"/>
          <ac:spMkLst>
            <pc:docMk/>
            <pc:sldMk cId="0" sldId="269"/>
            <ac:spMk id="26" creationId="{00000000-0000-0000-0000-000000000000}"/>
          </ac:spMkLst>
        </pc:spChg>
        <pc:spChg chg="add mod">
          <ac:chgData name="Schlesinger, Sebastian" userId="d814e6c9-e9fb-4b77-84f7-ccd8aa3529bb" providerId="ADAL" clId="{814D90CD-D400-5612-B49E-CD4DF6BF7C8B}" dt="2026-03-11T18:55:19.167" v="106" actId="14100"/>
          <ac:spMkLst>
            <pc:docMk/>
            <pc:sldMk cId="0" sldId="269"/>
            <ac:spMk id="35" creationId="{887B0EBE-9353-6749-46A9-CD09B49095B9}"/>
          </ac:spMkLst>
        </pc:spChg>
      </pc:sldChg>
      <pc:sldChg chg="modSp mod">
        <pc:chgData name="Schlesinger, Sebastian" userId="d814e6c9-e9fb-4b77-84f7-ccd8aa3529bb" providerId="ADAL" clId="{814D90CD-D400-5612-B49E-CD4DF6BF7C8B}" dt="2026-03-11T18:56:11.343" v="214" actId="1035"/>
        <pc:sldMkLst>
          <pc:docMk/>
          <pc:sldMk cId="0" sldId="270"/>
        </pc:sldMkLst>
        <pc:spChg chg="mod">
          <ac:chgData name="Schlesinger, Sebastian" userId="d814e6c9-e9fb-4b77-84f7-ccd8aa3529bb" providerId="ADAL" clId="{814D90CD-D400-5612-B49E-CD4DF6BF7C8B}" dt="2026-03-11T18:56:11.343" v="214" actId="1035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6:11.343" v="214" actId="1035"/>
          <ac:spMkLst>
            <pc:docMk/>
            <pc:sldMk cId="0" sldId="270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6:11.343" v="214" actId="1035"/>
          <ac:spMkLst>
            <pc:docMk/>
            <pc:sldMk cId="0" sldId="270"/>
            <ac:spMk id="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6:11.343" v="214" actId="1035"/>
          <ac:spMkLst>
            <pc:docMk/>
            <pc:sldMk cId="0" sldId="270"/>
            <ac:spMk id="26" creationId="{00000000-0000-0000-0000-000000000000}"/>
          </ac:spMkLst>
        </pc:spChg>
      </pc:sldChg>
      <pc:sldChg chg="del">
        <pc:chgData name="Schlesinger, Sebastian" userId="d814e6c9-e9fb-4b77-84f7-ccd8aa3529bb" providerId="ADAL" clId="{814D90CD-D400-5612-B49E-CD4DF6BF7C8B}" dt="2026-03-11T18:56:16.176" v="215" actId="2696"/>
        <pc:sldMkLst>
          <pc:docMk/>
          <pc:sldMk cId="0" sldId="272"/>
        </pc:sldMkLst>
      </pc:sldChg>
      <pc:sldChg chg="modSp">
        <pc:chgData name="Schlesinger, Sebastian" userId="d814e6c9-e9fb-4b77-84f7-ccd8aa3529bb" providerId="ADAL" clId="{814D90CD-D400-5612-B49E-CD4DF6BF7C8B}" dt="2026-03-11T18:56:16.176" v="216"/>
        <pc:sldMkLst>
          <pc:docMk/>
          <pc:sldMk cId="0" sldId="273"/>
        </pc:sldMkLst>
        <pc:graphicFrameChg chg="mod">
          <ac:chgData name="Schlesinger, Sebastian" userId="d814e6c9-e9fb-4b77-84f7-ccd8aa3529bb" providerId="ADAL" clId="{814D90CD-D400-5612-B49E-CD4DF6BF7C8B}" dt="2026-03-11T18:56:16.176" v="216"/>
          <ac:graphicFrameMkLst>
            <pc:docMk/>
            <pc:sldMk cId="0" sldId="273"/>
            <ac:graphicFrameMk id="19" creationId="{00000000-0000-0000-0000-000000000000}"/>
          </ac:graphicFrameMkLst>
        </pc:graphicFrameChg>
      </pc:sldChg>
      <pc:sldChg chg="del">
        <pc:chgData name="Schlesinger, Sebastian" userId="d814e6c9-e9fb-4b77-84f7-ccd8aa3529bb" providerId="ADAL" clId="{814D90CD-D400-5612-B49E-CD4DF6BF7C8B}" dt="2026-03-11T18:56:22.163" v="217" actId="2696"/>
        <pc:sldMkLst>
          <pc:docMk/>
          <pc:sldMk cId="0" sldId="283"/>
        </pc:sldMkLst>
      </pc:sldChg>
      <pc:sldChg chg="del">
        <pc:chgData name="Schlesinger, Sebastian" userId="d814e6c9-e9fb-4b77-84f7-ccd8aa3529bb" providerId="ADAL" clId="{814D90CD-D400-5612-B49E-CD4DF6BF7C8B}" dt="2026-03-11T18:56:24.320" v="218" actId="2696"/>
        <pc:sldMkLst>
          <pc:docMk/>
          <pc:sldMk cId="0" sldId="287"/>
        </pc:sldMkLst>
      </pc:sldChg>
      <pc:sldChg chg="del">
        <pc:chgData name="Schlesinger, Sebastian" userId="d814e6c9-e9fb-4b77-84f7-ccd8aa3529bb" providerId="ADAL" clId="{814D90CD-D400-5612-B49E-CD4DF6BF7C8B}" dt="2026-03-11T18:56:27.525" v="219" actId="2696"/>
        <pc:sldMkLst>
          <pc:docMk/>
          <pc:sldMk cId="0" sldId="296"/>
        </pc:sldMkLst>
      </pc:sldChg>
      <pc:sldChg chg="modSp mod">
        <pc:chgData name="Schlesinger, Sebastian" userId="d814e6c9-e9fb-4b77-84f7-ccd8aa3529bb" providerId="ADAL" clId="{814D90CD-D400-5612-B49E-CD4DF6BF7C8B}" dt="2026-03-11T18:53:59.390" v="6" actId="1076"/>
        <pc:sldMkLst>
          <pc:docMk/>
          <pc:sldMk cId="0" sldId="303"/>
        </pc:sldMkLst>
        <pc:spChg chg="mod">
          <ac:chgData name="Schlesinger, Sebastian" userId="d814e6c9-e9fb-4b77-84f7-ccd8aa3529bb" providerId="ADAL" clId="{814D90CD-D400-5612-B49E-CD4DF6BF7C8B}" dt="2026-03-11T18:53:46.959" v="3" actId="1076"/>
          <ac:spMkLst>
            <pc:docMk/>
            <pc:sldMk cId="0" sldId="303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3:56.126" v="5" actId="1076"/>
          <ac:spMkLst>
            <pc:docMk/>
            <pc:sldMk cId="0" sldId="303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3:59.390" v="6" actId="1076"/>
          <ac:spMkLst>
            <pc:docMk/>
            <pc:sldMk cId="0" sldId="303"/>
            <ac:spMk id="16" creationId="{00000000-0000-0000-0000-000000000000}"/>
          </ac:spMkLst>
        </pc:spChg>
      </pc:sldChg>
      <pc:sldChg chg="modSp mod">
        <pc:chgData name="Schlesinger, Sebastian" userId="d814e6c9-e9fb-4b77-84f7-ccd8aa3529bb" providerId="ADAL" clId="{814D90CD-D400-5612-B49E-CD4DF6BF7C8B}" dt="2026-03-11T18:54:15.225" v="7" actId="1076"/>
        <pc:sldMkLst>
          <pc:docMk/>
          <pc:sldMk cId="0" sldId="304"/>
        </pc:sldMkLst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3-11T18:54:15.225" v="7" actId="1076"/>
          <ac:spMkLst>
            <pc:docMk/>
            <pc:sldMk cId="0" sldId="304"/>
            <ac:spMk id="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30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D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D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 Operating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(ROS)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Architektur, Kommunikationsfluss &amp; Konzepte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2743200" cy="27432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Dr.-Ing. Sebastian Schlesinger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für Wirtschaftsinformatik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und Embedded Systems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stehen wir? – Vom Modell zum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68580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3152" cy="82296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Statecharts – Verhalten einzelner Komponenten formal modellieren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68580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73152" cy="82296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4–5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Automata &amp; UPPAAL – Zeitverhalten und formale Verifikation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68580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3152" cy="82296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3520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C/Rust – Implementierung auf Prozessebene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789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7899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166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Einzelne Komponenten können wir modellieren und implementieren.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kommunizieren und koordinieren sie im verteilten Robotersystem?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1371600"/>
            <a:ext cx="3383280" cy="292608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8321040" y="15544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ROS als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Middleware-Antwort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 das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Verteilungsproblem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Orchestrierungsproblem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303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Roboter ist kein monolithischer Prozess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Roboter: 10–20 parallele Prozesse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Kamera, LiDAR, Lokalisierung, Navigation, Motorsteuerung, Greifersteuerung 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2120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212080" cy="54864"/>
          </a:xfrm>
          <a:prstGeom prst="rect">
            <a:avLst/>
          </a:prstGeom>
          <a:solidFill>
            <a:srgbClr val="D14B4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nicht einfach direkt verbinden?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Direktverbindungen: O(n²) Abhängigkeiten – skaliert nicht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Gemeinsamer Speicher: Race Conditions, nicht verteilt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789920" cy="228600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Lösung: Middleware mit strukturiertem Nachrichtensystem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Kopplung: </a:t>
            </a: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 kennen sich nicht direkt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 </a:t>
            </a: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Prozess- und Rechnergrenzen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Genau das leistet ROS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Lernziele dieser Vorlesung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Erklären, welches Architekturproblem ROS löst (verteilte Robotersysteme)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ROS-Kommunikationsmuster (Topics, Services, Actions) konzeptuell einordnen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Analogien zwischen ROS-Konzepten und formalen Modellen herstellen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Unterschied zwischen ROS 1 und ROS 2 architekturell begründen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ROS 2-Applikationen selbst erstellen und testen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03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Real-Time-Einschränkungen von ROS 1/2 kritisch bewerten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 auf einen Blick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 Robot Operating System?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32004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747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Betriebssystem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ist kein klassisches Betriebssystem. Es ist ein Open-Source-Middleware-Framework zwischen Hardware und Anwendungscode.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74720" cy="32004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4747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Kommunikationsschicht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bietet strukturierten Nachrichtenaustausch, Service-Aufrufe und Parameterverwaltung, damit verteilte Prozesse zusammenarbeiten.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32004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747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41248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Ökosystem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6517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 Middleware bietet ROS Werkzeuge (RViz, Gazebo), Bibliotheken (Navigation, Perzeption) und eine weltweite Entwickler-Community.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= Middleware + Werkzeuge + Bibliotheken + Community für verteilte Robotersoftware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Kernprinzipien von 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3152" cy="210312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kommunizieren nach der Entdeckung direkt. Kein zentraler Flaschenhals für den Datentransfer.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73152" cy="210312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Modularität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Funktion ist ein eigener Node. Komponenten unabhängig austauschen, aktualisieren oder testen.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73152" cy="210312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Sprachneutral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Client-Bibliotheken für C++, Python u.a. Nodes in verschiedenen Sprachen interagieren über Nachrichten.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14600" y="3749040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2514600" y="3749040"/>
            <a:ext cx="73152" cy="210312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278892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Werkzeugbasiert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8892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Reiches Ökosystem: rosbag (Aufzeichnung), roslaunch (Orchestrierung), RViz (Visualisierung).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749040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6263640" y="3749040"/>
            <a:ext cx="73152" cy="21031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653796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BSD-lizenziert. Frei nutzbar in Forschung und kommerziellen Produkten. Große Community-Beiträge.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ROS-Komponentenübersicht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389120" y="2743200"/>
            <a:ext cx="3291840" cy="128016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389120" y="2743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 Middleware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291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29184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 Programme für eine Aufgabe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3291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389120" y="1188720"/>
            <a:ext cx="329184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5720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Benannte Pub/Sub-Kanäle für asynchrone Nachrichten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291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8229600" y="1371600"/>
            <a:ext cx="3291840" cy="54864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841248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Synchrone Anfrage/Antwort-Aufrufe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3291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329184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Typisierte Datenstrukturen (.msg-Dateien)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4754880"/>
            <a:ext cx="3291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4389120" y="4754880"/>
            <a:ext cx="32918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457200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Server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5303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Laufzeitkonfigurationsspeicher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572000"/>
            <a:ext cx="3291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8229600" y="4572000"/>
            <a:ext cx="329184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841248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laufende Aufgaben mit Rückmeldung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ROS-Systemarchitektur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Schichtmodell von Hardware bis Applikation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9418320" cy="713232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Applikationsschicht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Roboteranwendung: Navigation, Manipulation, Perzeption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267712"/>
            <a:ext cx="9418320" cy="713232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645920" y="2359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ROS-Client-Bibliotheken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2359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rospy (Python), roscpp (C++), rclpy, rclcpp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072384"/>
            <a:ext cx="9418320" cy="713232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1645920" y="31638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ROS-Kommunikation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31638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Services, Actions, Parameter Server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877056"/>
            <a:ext cx="9418320" cy="71323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1645920" y="39684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Master / DDS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0" y="39684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1: roscore (zentralisiert) | ROS 2: DDS (dezentral)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4681728"/>
            <a:ext cx="9418320" cy="713232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645920" y="47731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Betriebssystem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0" y="47731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(primär), auch Windows/macOS für ROS 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71600" y="5486400"/>
            <a:ext cx="9418320" cy="7132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164592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0" y="5577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Sensoren, Aktoren, eingebettete Controller, GPUs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ist ROS? – Im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789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3152" cy="1463040"/>
          </a:xfrm>
          <a:prstGeom prst="rect">
            <a:avLst/>
          </a:prstGeom>
          <a:solidFill>
            <a:srgbClr val="D14B4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Problem: Verteilte Robotersoftware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Robotik-Software besteht aus vielen heterogenen, lose gekoppelten Teilsystemen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müssen kommunizieren, synchronisieren und wiederverwendbar bleiben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789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73152" cy="1463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Lösung: ROS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Open-Source-Middleware-Framework für Robotikanwendungen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Software-Schicht zwischen Hardware und Applikation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Bietet: Hardware-Abstraktion, IPC, Werkzeuge und Bibliotheken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0789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73152" cy="146304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ROS nicht ist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Echtzeit-Betriebssystem (ROS 1) – fehlende harte Zeitgarantien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Produktionssystem per se (aber ROS 2 zielt aktiv darauf ab)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ROS?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920240" y="1554480"/>
            <a:ext cx="822960" cy="82296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 Community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Tausende Entwickler und Forscher weltweit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5669280" y="1554480"/>
            <a:ext cx="822960" cy="822960"/>
          </a:xfrm>
          <a:prstGeom prst="ellipse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Praxisbewährt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Eingesetzt in Industrie, Forschung und Wettbewerben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9418320" y="1554480"/>
            <a:ext cx="822960" cy="822960"/>
          </a:xfrm>
          <a:prstGeom prst="ellipse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Wiederverwendbare Pakete verkürzen Entwicklungszyklen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1920240" y="3840480"/>
            <a:ext cx="822960" cy="822960"/>
          </a:xfrm>
          <a:prstGeom prst="ellipse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Multiplattform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Windows, macOS, RTOS (ROS 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3566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5669280" y="384048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457200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BSD-Lizenz – frei für kommerzielle Nutzung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566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9418320" y="3840480"/>
            <a:ext cx="822960" cy="82296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83210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Industrieunterstützung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2104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Intel, NVIDIA, Bosch, Toyota u.v.m.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Modell zum Roboter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Engineering • Statecharts • Timed Automata • Code • ROS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MDE-Weg: Vom Modell zum laufenden Roboter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2377440"/>
          </a:xfrm>
          <a:prstGeom prst="rect">
            <a:avLst/>
          </a:prstGeom>
          <a:solidFill>
            <a:srgbClr val="1B6B93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Statecharts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Verhalten modellieren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560320" cy="2377440"/>
          </a:xfrm>
          <a:prstGeom prst="rect">
            <a:avLst/>
          </a:prstGeom>
          <a:solidFill>
            <a:srgbClr val="0E8B7D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365760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4–5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verifizieren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2560320" cy="2377440"/>
          </a:xfrm>
          <a:prstGeom prst="rect">
            <a:avLst/>
          </a:prstGeom>
          <a:solidFill>
            <a:srgbClr val="2D9C6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53796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/ Rust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379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281160" y="1371600"/>
            <a:ext cx="2560320" cy="2377440"/>
          </a:xfrm>
          <a:prstGeom prst="rect">
            <a:avLst/>
          </a:prstGeom>
          <a:solidFill>
            <a:srgbClr val="E85D3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941832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183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Verteilen &amp; Integrieren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10789920" cy="210312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914400" y="4343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 MDE-Phase findet ihr Gegenstück in ROS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14400" y="4937760"/>
            <a:ext cx="32004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1371600" y="4892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Statecharts → Zustand + Ereignisse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4892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(Zustand) + Topics (Ereignisse)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5376672"/>
            <a:ext cx="320040" cy="32004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1371600" y="5330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Automata → Zeitschranken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5330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DDS QoS – Deadlines &amp; Liveliness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4400" y="5815584"/>
            <a:ext cx="320040" cy="32004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1371600" y="57698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C/Rust-Code → Prozesse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0" y="57698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Client Libraries (roscpp, rclpy, rclcpp)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Statecharts → ROS: Verhalten wird verteilt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03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Statechart-Konzept (Deck 3)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Automat befindet sich in genau einem Zustand (z.B. IDLE, MOVING, ERROR)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Ereignisse / Events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Auslöser für Zustandsübergänge, asynchron von außen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Superstates kapseln Substates – Komplexitätsreduktion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Parallelität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Orthogonale Regionen – mehrere Automaten gleichzeitig aktiv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548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20000"/>
              </a:lnSpc>
              <a:buNone/>
            </a:pPr>
            <a:r>
              <a:rPr lang="en-US" sz="2400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  <a:p>
            <a:pPr marL="0" indent="0" algn="ctr">
              <a:lnSpc>
                <a:spcPct val="220000"/>
              </a:lnSpc>
              <a:buNone/>
            </a:pPr>
            <a:r>
              <a:rPr lang="en-US" sz="2400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  <a:p>
            <a:pPr marL="0" indent="0" algn="ctr">
              <a:lnSpc>
                <a:spcPct val="220000"/>
              </a:lnSpc>
              <a:buNone/>
            </a:pPr>
            <a:r>
              <a:rPr lang="en-US" sz="2400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  <a:p>
            <a:pPr marL="0" indent="0" algn="ctr">
              <a:lnSpc>
                <a:spcPct val="220000"/>
              </a:lnSpc>
              <a:buNone/>
            </a:pPr>
            <a:r>
              <a:rPr lang="en-US" sz="2400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ROS-Gegenstück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Node hält seinen eigenen Zustand (interne Variablen, Lifecycle)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(Pub/Sub)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Asynchrone Nachrichten = Ereignisse, die Zustandswechsel auslösen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&amp; Packages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Kapselung und Modularisierung von Funktionalität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Multi-Node-Systeme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Nodes laufen parallel – jeder ist ein eigener Automat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6126480"/>
            <a:ext cx="10789920" cy="4572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Ein ROS-System ist im Grunde ein verteilter Statechart: parallele Automaten, die über Nachrichten kommunizieren.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Timed Automata → ROS 2: Zeitgarantien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03520" cy="3273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035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Automata (Deck 4–5)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Clock-Variablen: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148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Uhren messen die Zeit seit dem letzten Ereignis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Invarianten: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dürfen nur eine begrenzte Zeit aktiv sein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Guards: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Transitionen nur innerhalb definierter Zeitfenster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UPPAAL-Verifikation: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Formaler Beweis: kein Deadlock, Zeitschranke eingehalten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444752"/>
            <a:ext cx="5303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49224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DDS Quality of Service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Policy: 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2148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erlaubte Zeit zwischen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Nachrichten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 topic,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z.B.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message 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sonst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 notification)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Liveliness Policy: 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regelmäßig: lebt der Publisher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sonst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message)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Policy: 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3337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vs. BEST_EFFORT – Zuverlässigkeit vs.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(reliable –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garantierte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Zustellung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best effort,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0279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Nodes: 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0279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Definierte Zustände: Unconfigured → Inactive → Active → Finalized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937760"/>
            <a:ext cx="5303520" cy="1645920"/>
          </a:xfrm>
          <a:prstGeom prst="rect">
            <a:avLst/>
          </a:prstGeom>
          <a:solidFill>
            <a:srgbClr val="FFF0F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73152" cy="1645920"/>
          </a:xfrm>
          <a:prstGeom prst="rect">
            <a:avLst/>
          </a:prstGeom>
          <a:solidFill>
            <a:srgbClr val="D14B4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91440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1: Keine Zeitgarantien!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5486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QoS, kein Lifecycle, kein Echtzeit-Support. TCPROS ist Best-Effort ohne Deadline-Konzept.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4937760"/>
            <a:ext cx="5303520" cy="164592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73152" cy="164592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64922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2: Timed-Automata-nah!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5486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 QoS-Policies bilden Invarianten und Guards ab. Lifecycle Nodes formalisieren Zustände.</a:t>
            </a:r>
            <a:endParaRPr lang="en-US" sz="1300" dirty="0"/>
          </a:p>
        </p:txBody>
      </p:sp>
      <p:sp>
        <p:nvSpPr>
          <p:cNvPr id="35" name="Rounded Rectangular Callout 34">
            <a:extLst>
              <a:ext uri="{FF2B5EF4-FFF2-40B4-BE49-F238E27FC236}">
                <a16:creationId xmlns:a16="http://schemas.microsoft.com/office/drawing/2014/main" id="{887B0EBE-9353-6749-46A9-CD09B49095B9}"/>
              </a:ext>
            </a:extLst>
          </p:cNvPr>
          <p:cNvSpPr/>
          <p:nvPr/>
        </p:nvSpPr>
        <p:spPr>
          <a:xfrm>
            <a:off x="9895840" y="1097280"/>
            <a:ext cx="1656080" cy="79248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</a:t>
            </a:r>
            <a:r>
              <a:rPr lang="en-DE" dirty="0"/>
              <a:t>eine formale Garantie!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C/Rust-Code → ROS: Vom Prozess zum Node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035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03520" cy="54864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Code-Ebene (Deck 6)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Typsicherheit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Ownership, C-Typen – sicherer Speicherzugriff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Nebenläufigkeit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Threads, Mutexes, Message Passing (z.B. Rust Channels)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Compile-Checks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werden zur Compile-Zeit erkannt, nicht zur Laufzeit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40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Bare-Metal-Fähig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67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auf Mikrocontrollern, RTOS, ohne Betriebssystem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3035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49224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ROS-Übersetzung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Types (.msg)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Typisierte Schnittstellen – Publisher und Subscriber müssen denselben Typ verwenden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Multi-Node-Architektur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Threads: separate Prozesse (Nodes), über Topics/Services verbunden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Colcon Build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Build-System prüft Abhängigkeiten und Interfaces zur Compile-Zeit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40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467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auf Mikrocontrollern – Brücke zwischen Bare-Metal und verteiltem System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789920" cy="11887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91440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Thread → ROS Node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806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Rust: Message between threads         # ROS 2: Message between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tx.send(SensorData { range: 1.5 });     publisher.publish(LaserScan(range=1.5))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msg = rx.recv();                    # subscriber callback receives msg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Synthese: MDE-Konzepte in ROS wiederfinden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4572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MDE-Konzept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Formale Ebene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ROS-Realisierung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Zustände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Statechart-States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Node-interne Variablen, Lifecycle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Ereignisse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Statechart-Events / 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Messages (asynchron)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Synchrone Aufrufe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Funktionsaufruf, Guard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(Request/Response)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Zeitschranken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Timed-Automata-Invarianten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DDS Deadline / Liveliness QoS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Parallelität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Orthogonale Regionen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Multi-Node-System (separate Prozesse)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Typisierung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Rust-Typsystem,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.msg / .srv / .action Definitionen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Verifikation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UPPAAL Model Checking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 Lifecycle + QoS-Monitoring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Kapselung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Hierarchische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Packages, Namespaces, Launch-Gruppen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6126480"/>
            <a:ext cx="10789920" cy="45720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ist die praktische Plattform, auf der die formalen Konzepte aus Deck 3–6 zur laufenden Software werden.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 1 vs. ROS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Kommunikation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TCPROS / UDPROS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DDS-basiert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Echtzeit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 für RT ausgelegt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Integrierter RT-Support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Entdeckung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Zentralisiert (ROS Master)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Dezentral (DDS)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Sicherheit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Verschlüsselung &amp; Authentifizierung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Plattformen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Hauptsächlich Linux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Linux, Win, macOS, RTOS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catkin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colcon + ament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Zentralisiert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Verteilt pro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760720"/>
            <a:ext cx="10789920" cy="73152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ist nicht nur ein Update – es ist eine Neuarchitektur für moderne Robotik.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DDS – Das Kommunikations-Herzstück von ROS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Data Distribution Service (DDS) ist ein offener OMG-Standard für verteilte Echtzeit-Kommunikation und ersetzt das proprietäre TCPROS/UDPROS aus ROS 1.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583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73152" cy="9144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Dezentrale Erkennung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finden sich automatisch – kein zentraler Master mehr, kein Single Point of Failure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6583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3152" cy="91440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971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 (QoS)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37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Feingranulare Profile: Zuverlässigkeit, Latenz-Budgets, Nachrichten-Lebensdauer, History-Tiefe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6583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73152" cy="91440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Echtzeitfähigkeit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434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Deterministische Nachrichtenauslieferung mit konfigurierbaren Deadlines für harte RT-Anforderungen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6583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73152" cy="9144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Interoperabilität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Verschiedene DDS-Implementierungen (Fast DDS, Cyclone DDS, Connext) sind austauschbar über die RMW-Schicht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1828800"/>
            <a:ext cx="4023360" cy="43891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Kommunikationsschichten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63840" y="2468880"/>
            <a:ext cx="3474720" cy="50292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786384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ROS-2-Nodes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63840" y="3108960"/>
            <a:ext cx="3474720" cy="50292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786384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(ROS Client Library)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0" y="3749040"/>
            <a:ext cx="3474720" cy="50292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786384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RMW (Middleware Interface)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63840" y="4389120"/>
            <a:ext cx="3474720" cy="50292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7863840" y="4389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DDS-Implementierung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63840" y="5029200"/>
            <a:ext cx="3474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7863840" y="5029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 (UDP/Shared Memory)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0" y="2971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0" y="3611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2688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2688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5943600"/>
            <a:ext cx="10789920" cy="640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3" name="Text 41"/>
          <p:cNvSpPr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DDS-Implementierung austauschbar ohne Codeänderung:  export RMW_IMPLEMENTATION=rmw_cyclonedds_cpp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 von ROS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• Nodes • Topics • Messages • Services • Parameter Server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Architektur: ROS Master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68580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45720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Zentraler Koordinator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registrieren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 und Namespaces verwalten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helfen, einander zu finden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5943600" cy="128016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18872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6177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ROS Master überträgt keine Daten. Er stellt nur Verbindungen zwischen Nodes her.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3749040" cy="457200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4124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38160" y="3200400"/>
            <a:ext cx="1371600" cy="7315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13816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3200400"/>
            <a:ext cx="1371600" cy="7315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969264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4572000"/>
            <a:ext cx="1371600" cy="7315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8869680" y="4572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Architektur: Nodes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68580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182880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Node ist ein eigenständiges Programm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Node erfüllt genau eine Funktion. Ein ROS-System entsteht durch Kombination mehrerer Nodes.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1645920" y="3749040"/>
            <a:ext cx="914400" cy="91440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64592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 daten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5661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480560" y="3749040"/>
            <a:ext cx="914400" cy="914400"/>
          </a:xfrm>
          <a:prstGeom prst="ellipse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48056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Bewegungs- steuerung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5661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7315200" y="3749040"/>
            <a:ext cx="914400" cy="914400"/>
          </a:xfrm>
          <a:prstGeom prst="ellipse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731520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Kartierung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Lokalisierung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Kartierung &amp; Lokalisierung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18320" y="35661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10149840" y="3749040"/>
            <a:ext cx="914400" cy="914400"/>
          </a:xfrm>
          <a:prstGeom prst="ellipse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1014984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Pfad-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Pfad- planung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Architektur: Topics (Publish–Subscribe)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789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sind benannte Kanäle für den Datenaustausch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2011680" cy="109728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2423160"/>
            <a:ext cx="4114800" cy="45720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3840480" y="2423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/sensor_data (Topic)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0" y="2103120"/>
            <a:ext cx="2011680" cy="1097280"/>
          </a:xfrm>
          <a:prstGeom prst="ellipse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8503920" y="2103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A6B7E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5528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A6B7E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sendet, ohne auf Antwort des Subscribers zu warten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402336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Viele-zu-Viele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Publisher und Subscriber pro Topic möglich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402336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83210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Typisiert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Topic hat einen definierten Nachrichtentyp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Architektur: Messages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943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32004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definieren die Struktur der zwischen Nodes ausgetauschten Daten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 Datenformate gewährleisten Kompatibilität zwischen Nodes und Packages.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6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sensor_msgs/LaserScan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8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geometry_msgs/Twist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280160"/>
            <a:ext cx="4663440" cy="32004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13232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geometry_msgs/Twist.msg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01168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geometry_msgs/Vector3 linear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float64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float64 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float64 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geometry_msgs/Vector3 angular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float64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float64 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float64 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789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7899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ermöglichen es Nodes, gemeinsame Daten zu verstehen – sie bilden die typisierte Schnittstelle der ROS-Kommunikation.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Architektur: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789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2286000" cy="11887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2286000" cy="1188720"/>
          </a:xfrm>
          <a:prstGeom prst="ellipse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8229600" y="1645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 &amp; Blockierend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wartet auf Antwort des Servers, bevor er fortfährt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393192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57200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Eins-zu-Eins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Anfrage, eine Antwort pro Aufruf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93192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83210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Anwendungsfälle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Prozesse starten/stoppen, Roboterposition zurücksetzen, Zustand abfragen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Architektur: Parameter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9436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4114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Zentraler Speicher für Konfigurationsparameter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Speichert Werte wie: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Roboterdimensionen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Sensorgrenzen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Reglerparameter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zur Laufzeit änderbar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erneutes Kompilieren nötig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1280160"/>
            <a:ext cx="4663440" cy="41148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13232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(ROS 2):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9202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parameter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param set /my_node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max_speed 1.5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parameter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param get /my_node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max_speed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all parameters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param list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Kommunikationsmuster: Pub/Sub und Entkopplung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303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Publish/Subscribe?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und Subscriber kennen sich nicht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Asynchron: Sender blockiert nicht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 beliebig viele Teilnehmer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03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 (zentralisiert)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→ Nodes registrieren → Daten fließen direkt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(dezentral – DDS)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zentraler Koordinator – Nodes finden sich gegenseitig.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789920" cy="137160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 der ROS-Architektur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Modulares &amp; wiederverwendbares Design  •  Einfaches Debugging &amp; Testen  •  Simulation + reale Hardware  •  Multi-Roboter-fähig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ROS-Ökosystem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• RViz • Werkzeuge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ROS-Ökosystem – Gazebo &amp; RViz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03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Gazebo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Physikbasierter Robotersimulator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1: Gazebo Classic (eng integriert)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2: Gazebo Simulator (nativer Support)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vor realem Einsatz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035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RViz (Visualisierung)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3D-Visualisierer für Roboterdaten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1: RViz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2: RViz2 (aktualisiert)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 von LiDAR, Roboterposen, Navigationszielen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 Version &amp; welches Werkzeug?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657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Empfohlenes 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Empfohlenes Werkzeug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Hochschulkurs / Labor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1 Noetic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 Classic + RViz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Physischer Roboter mit LiDAR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 Humble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RViz2 + realer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Multi-Roboter-System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 Simulator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Legacy-Code-Migration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1 → ROS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(ros1_bridge)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/ Echtzeit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 Dateisystem &amp; Entwicklung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• Pakete • Bauen • Launch-Dateien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 Dateisystem-Konzepte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4747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für spezifische Aufgaben wie Motorsteuerung oder Sensorauswertung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4747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Sammlungen von Nodes, Konfigurationsdateien und Abhängigkeiten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474720" cy="54864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9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10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Entwicklungsumgebungen, die Pakete enthalten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789920" cy="27432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Standard-Workspace-Struktur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workspace_name/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 # Quellcode (Pakete liegen hier)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build/         # Build-Artefakte (kompilierter Code)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install/       # Installierte Programme und Bibliotheken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log/           # Build- und Laufzeit-Logs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Wichtige Dateien in einem Paket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789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77724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package.xml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280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Paket-Metadaten und Abhängigkeiten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0" y="1417320"/>
            <a:ext cx="1371600" cy="457200"/>
          </a:xfrm>
          <a:prstGeom prst="rect">
            <a:avLst/>
          </a:prstGeom>
          <a:solidFill>
            <a:srgbClr val="E85D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0789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73152" cy="7772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CMakeLists.txt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240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Build-Anweisungen für C++-Pakete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0789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3152" cy="77724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setup.py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3200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Python-Paket-Konfiguration (ROS 2)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789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73152" cy="77724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9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launch/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41605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Verzeichnis für Launch-Dateien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789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or scripts/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0480" y="5120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liegt der Quellcode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Umgebungsvariable: ROS_PACKAGE_PATH teilt ROS mit, wo Pakete zu finden sind.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Workspaces: ROS 1 vs. ROS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03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 (catkin)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Verzeichnisse: src, build, devel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catkin_make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4754880" cy="25603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~/catkin_ws/src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~/catkin_ws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catkin_make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devel/setup.bash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53035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(colcon)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Verzeichnisse: src, build, install, log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colcon build (unabhängige Pakete)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926080"/>
            <a:ext cx="4754880" cy="25603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675120" y="31089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~/ros2_ws/src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~/ros2_ws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colcon build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install/setup.bash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17920"/>
            <a:ext cx="10789920" cy="4572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erlaubt unabhängiges Bauen einzelner Pakete und verbessert die Performance bei großen Projekten.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Pakete erstellen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Paket organisiert zusammengehörige Roboter-Software: Node-Quellcode, Launch-Dateien, Parameter-Konfigurationen und Ressourcen.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03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 Package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4754880" cy="16459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~/catkin_ws/src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catkin_create_pkg my_pkg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rospy std_msgs geometry_msgs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035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Package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2240" y="2560320"/>
            <a:ext cx="4754880" cy="16459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675120" y="27432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~/ros2_ws/src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pkg create my_pkg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--build-type ament_python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--dependencies rclpy std_msgs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789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Build-Typen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ament_cmake – Für C++-Pakete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ament_python – Für Python-Pakete (empfohlen)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– Legacy-CMake-Stil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Bauen und Sourcing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303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292608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Kompiliert Code, verlinkt Abhängigkeiten, erzeugt ausführbare Nodes.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4754880" cy="13716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ROS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catkin_make --only-pkg-with-deps my_pkg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ROS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colcon build --packages-select my_pkg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colcon build --symlink-install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03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73152" cy="292608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Setzt Umgebungsvariablen, damit ROS Pakete finden kann. Nach jedem Build und in jedem neuen Terminal erforderlich.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675120" y="26517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ROS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~/catkin_ws/devel/setup.bash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ROS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~/ros2_ws/install/setup.bash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permanent: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"source ..." &gt;&gt; ~/.bashrc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789920" cy="91440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Sourcing kann ROS neue Pakete nicht finden. Viele Entwickler fügen den source-Befehl in ~/.bashrc ein.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Launch-Dateien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Launch-Dateien starten mehrere ROS-Nodes automatisch – Sensoren, Navigation, Controller und Visualisierung mit einem Befehl.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03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 – XML Format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4754880" cy="30175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&lt;launch&gt;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&lt;node pkg="my_package"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type="my_node.py"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name="my_node"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output="screen"/&gt;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&lt;node pkg="another_package"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type="another_node"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name="another_node"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respawn="true"/&gt;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&lt;/launch&gt;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035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– Python Format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2240" y="2560320"/>
            <a:ext cx="4754880" cy="301752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675120" y="265176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launch import LaunchDescription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launch_ros.actions import Node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generate_launch_description():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LaunchDescription([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package='my_package',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executable='my_node',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name='my_node',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output='screen'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verwendet Python für Launch-Dateien und ermöglicht bedingte Logik, Schleifen und dynamische Konfiguration.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Workspace- &amp; Build-System-Vergleich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200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1 (catkin)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 (colcon)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Build-Befehl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catkin_make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colcon build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Source-Pfad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devel/setup.bash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install/setup.bash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catkin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colcon + ament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Python-Unterstützung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über catkin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nativ (ament_python)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Standard-Workspace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catkin_ws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ros2_ws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Beispielprojekt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Autonomer Lagerroboter mit ROS 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10058400" cy="7772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73152" cy="7772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lidar_driver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18288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LiDAR-Sensordaten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743200"/>
            <a:ext cx="10058400" cy="7772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73152" cy="77724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slam_node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743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Erstellt Karte aus Sensordaten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657600"/>
            <a:ext cx="10058400" cy="7772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73152" cy="77724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nav_planner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657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hindernisfreie Pfade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0" y="4572000"/>
            <a:ext cx="10058400" cy="7772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1097280" y="4572000"/>
            <a:ext cx="73152" cy="77724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137160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motor_ctrl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4572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Steuert die Radmotoren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4572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Abonniert /cmd_vel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5486400"/>
            <a:ext cx="10058400" cy="7772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1097280" y="548640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1371600" y="5486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inventory_scan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840480" y="5486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Barcodes an Regalen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0" y="5486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/inventory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Projektarchitektur: Node-Kommunikation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9260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92608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6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lidar_driver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1645920"/>
            <a:ext cx="29260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114800" y="1645920"/>
            <a:ext cx="292608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20624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slam_node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0" y="1645920"/>
            <a:ext cx="29260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7498080" y="1645920"/>
            <a:ext cx="2926080" cy="54864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58952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9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nav_planner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4114800"/>
            <a:ext cx="29260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7498080" y="4114800"/>
            <a:ext cx="292608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58952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motor_ctrl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29260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29260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inventory_scan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2148840"/>
            <a:ext cx="1005840" cy="3200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338328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148840"/>
            <a:ext cx="914400" cy="32004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676656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12480" y="3108960"/>
            <a:ext cx="1188720" cy="32004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841248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852160"/>
            <a:ext cx="10789920" cy="73152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914400" y="5852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Werkzeuge: Gazebo für Simulation  •  RViz2 für Visualisierung  •  rosbag2 für Datenaufzeichnung  •  colcon zum Bauen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Projekt: Implementierungs-Fahrplan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einrichten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ros2_ws erstellen, Pakete für jeden Node initialisieren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Nachrichten definieren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.msg-Dateien für Inventurdaten erstellen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implementieren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3657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Python-Nodes: Publisher für /scan, Subscriber-Ketten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01752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6492240" y="3337560"/>
            <a:ext cx="640080" cy="640080"/>
          </a:xfrm>
          <a:prstGeom prst="ellipse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492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Launch-Datei erstellen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0" y="3657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Python-Launch-Datei zum Starten aller 5 Nodes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4800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Gazebo simulieren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45920" y="5303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Lager-Szenario testen vor echter Hardware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4663440"/>
            <a:ext cx="53035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6492240" y="4983480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649224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15200" y="4800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Deployen &amp; Testen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315200" y="5303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echten Roboter flashen, rosbag2 für Datenanalyse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Projektstruktur: Wo liegt was?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Verzeichnisbaum eines ROS-2-Workspace am Beispiel des Lagerroboters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6400800" cy="50292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5852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ros2_ws/                          ← Workspace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              ← Quellcode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lidar_pkg/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lidar_pkg/          ← Python-Module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lidar_node.py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launch/             ← Launch-Dateien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lidar_launch.py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msg/                ← Nachrichtentypen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ScanData.msg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srv/                ← Service-Definitionen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GetStatus.srv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config/             ← Parameter (YAML)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params.yaml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package.xml         ← Pflicht: Metadaten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setup.py            ← Python-Build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nav_pkg/                ← weiteres Paket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motor_pkg/              ← C++ → CMakeLists.txt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build/                      ← Build-Artefakte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install/                    ← Installierte Pakete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log/                        ← Build- &amp; Laufzeit-Logs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4206240" cy="6858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7315200" y="1371600"/>
            <a:ext cx="73152" cy="6858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54380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package.xml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43800" y="1691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Pflichtdatei: Name, Version, Abhängigkeiten, Lizenz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2176272"/>
            <a:ext cx="4206240" cy="6858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7315200" y="2176272"/>
            <a:ext cx="73152" cy="68580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54380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3800" y="2496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Python-Pakete: Entry Points, Install-Konfiguration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980944"/>
            <a:ext cx="4206240" cy="6858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7315200" y="2980944"/>
            <a:ext cx="73152" cy="68580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543800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CMakeLists.txt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43800" y="3300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C/C++-Pakete: Compiler-Flags, Linking, Install-Regeln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3785616"/>
            <a:ext cx="4206240" cy="6858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7315200" y="3785616"/>
            <a:ext cx="73152" cy="68580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7543800" y="38039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msg/ &amp; srv/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41056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Nachrichten- und Service-Typen (.msg, .srv, .action)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4590288"/>
            <a:ext cx="4206240" cy="6858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7315200" y="4590288"/>
            <a:ext cx="73152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7543800" y="4608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launch/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4910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Startskripte: welche Nodes mit welchen Parametern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5394960"/>
            <a:ext cx="4206240" cy="68580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7315200" y="5394960"/>
            <a:ext cx="73152" cy="6858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7543800" y="5413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5715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YAML-Parameterdateien, zur Laufzeit ladbar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Codebeispiel: Publisher- &amp; Subscriber-Node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sieht ein typischer ROS-2-Node in Python aus – Daten publizieren und empfangen: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0352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303520" cy="54864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– lidar_node.py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4754880" cy="402336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rclpy.node import Node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sensor_msgs.msg import LaserScan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LidarDriver(Node):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super().__init__('lidar_driver')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Publisher auf /scan erstellen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self.pub = self.create_publisher(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LaserScan, '/scan', 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Alle 100ms Daten lesen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self.timer = self.create_timer(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0.1, self.read_sensor)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read_sensor(self):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 = LaserScan()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Sensor auslesen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self.pub.publish(msg)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0352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03520" cy="54864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– slam_node.py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2240280"/>
            <a:ext cx="4754880" cy="402336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rclpy.node import Node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sensor_msgs.msg import LaserScan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SlamNode(Node):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super().__init__('slam_node')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Subscriber auf /scan erstellen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self.sub = self.create_subscription(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LaserScan, '/scan',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self.on_scan, 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Publisher auf /map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self.pub = self.create_publisher(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OccupancyGrid, '/map', 10)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on_scan(self, msg):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Scan verarbeiten, Karte bauen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map_msg = self.build_map(msg)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self.pub.publish(map_msg)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D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0972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Wichtigste Erkenntnisse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ist ein Middleware-Framework, kein OS – es löst das verteilte Kommunikationsproblem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Kernmuster: Nodes kommunizieren über Topics (asynchron) und Services (synchron)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wurde neu konzipiert für Echtzeit, Sicherheit und dezentrale Erkennung (DDS)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10058400" cy="73152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1371600" y="45720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Reiches Ökosystem: Gazebo, RViz, rosbag und tausende Community-Pakete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1371600" y="54864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 Modelle (Statecharts, Timed Automata) bilden direkt auf ROS-Architektur ab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9C6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Aufgabe: ROS 2 installieren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Bringen Sie ROS 2 auf Ihrem Rechner zum Laufen!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554480"/>
            <a:ext cx="4754880" cy="164592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73152" cy="164592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Ubuntu 22.04 LTS (Jammy Jellyfish)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mind. 4 GB RAM, 20 GB freier Speicher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Internetzugang für apt-Pakete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029200" cy="164592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73152" cy="1645920"/>
          </a:xfrm>
          <a:prstGeom prst="rect">
            <a:avLst/>
          </a:prstGeom>
          <a:solidFill>
            <a:srgbClr val="0E8B7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4922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ROS 2 Humble Hawksbill (LTS)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bis Mai 2027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Bestes Ökosystem für TurtleBot3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291840"/>
            <a:ext cx="10149840" cy="265176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Installationsschritte (Kurzfassung)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611880"/>
            <a:ext cx="9601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ROS 2 apt-Repository einrichten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software-properties-common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add-apt-repository universe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curl -sSL https://raw.githubusercontent.com/ros/\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rosdistro/master/ros.key -o /usr/share/keyrings/ros-archive-keyring.gpg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Desktop-Version installieren (inkl. RViz und Demos)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ros-humble-desktop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Gazebo-Simulator + TurtleBot3-Pakete installieren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ros-humble-gazebo-ros-pkgs ros-humble-turtlebot3*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Environment einrichten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'source /opt/ros/humble/setup.bash' &gt;&gt; ~/.bashrc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TURTLEBOT3_MODEL=burger' &gt;&gt; ~/.bashrc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6080760"/>
            <a:ext cx="10149840" cy="594360"/>
          </a:xfrm>
          <a:prstGeom prst="rect">
            <a:avLst/>
          </a:prstGeom>
          <a:solidFill>
            <a:srgbClr val="2D9C6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371600" y="6080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Test 1: ros2 run demo_nodes_cpp talker + ros2 run demo_nodes_py listener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Test 2: ros2 launch turtlebot3_gazebo turtlebot3_world.launch.py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Aufgabe: TurtleBot3 Burger steuern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eigenen Rechner den echten Roboter per Tastatur fahren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554480"/>
            <a:ext cx="4754880" cy="32918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73152" cy="329184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Roboter einrichten (SBC)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Raspberry Pi 4 mit Ubuntu 22.04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ROS 2 Humble auf dem Pi installieren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TurtleBot3-Pakete bauen (colcon)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WLAN-Verbindung konfigurieren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PC einrichten (Remote)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Gleiche ROS_DOMAIN_ID auf PC und 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TurtleBot3-Pakete installieren: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apt install ros-humble-turtlebot3*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TURTLEBOT3_MODEL=burger exportieren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029200" cy="32918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73152" cy="329184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4922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Roboter starten &amp; steuern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Roboter (SSH):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331720"/>
            <a:ext cx="4480560" cy="50292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675120" y="23591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turtlebot3_bringup\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robot.launch.py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PC (Teleop):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200400"/>
            <a:ext cx="4480560" cy="50292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6675120" y="3227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run turtlebot3_teleop\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teleop_keyboard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Tastenbelegung: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06740" y="38176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8206740" y="38176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09460" y="42291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7109460" y="42291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06740" y="42291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8206740" y="42291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04020" y="42291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9304020" y="42291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06740" y="464058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8206740" y="46405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97280" y="5166360"/>
            <a:ext cx="10149840" cy="1463040"/>
          </a:xfrm>
          <a:prstGeom prst="rect">
            <a:avLst/>
          </a:prstGeom>
          <a:solidFill>
            <a:srgbClr val="0D305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1097280" y="5166360"/>
            <a:ext cx="73152" cy="1463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1371600" y="5257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&amp; Dokumentation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71600" y="5623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ROS 2 Humble Installation:  docs.ros.org/en/humble/Installation/Ubuntu-Install-Debs.html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TurtleBot3 Quick Start:  emanual.robotis.com/docs/en/platform/turtlebot3/quick-start/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TurtleBot3 SBC Setup (Pi):  emanual.robotis.com/docs/en/platform/turtlebot3/sbc_setup/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Teleop &amp; Basic Operation:  emanual.robotis.com/docs/en/platform/turtlebot3/basic_operation/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3957</Words>
  <Application>Microsoft Macintosh PowerPoint</Application>
  <PresentationFormat>Widescreen</PresentationFormat>
  <Paragraphs>782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Operating System (ROS) - Architektur, Kommunikation &amp; Konzepte</dc:title>
  <dc:subject>PptxGenJS Presentation</dc:subject>
  <dc:creator>Prof. Dr.-Ing. Sebastian Schlesinger</dc:creator>
  <cp:lastModifiedBy>Schlesinger, Sebastian</cp:lastModifiedBy>
  <cp:revision>1</cp:revision>
  <dcterms:created xsi:type="dcterms:W3CDTF">2026-03-11T18:51:48Z</dcterms:created>
  <dcterms:modified xsi:type="dcterms:W3CDTF">2026-03-11T18:56:27Z</dcterms:modified>
</cp:coreProperties>
</file>