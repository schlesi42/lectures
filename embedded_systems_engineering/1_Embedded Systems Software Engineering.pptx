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ppt/media/image8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25.jpg" ContentType="image/jpg"/>
  <Override PartName="/ppt/media/image34.jpg" ContentType="image/jpg"/>
  <Override PartName="/ppt/media/image65.jpg" ContentType="image/jpg"/>
  <Override PartName="/ppt/media/image67.jpg" ContentType="image/jpg"/>
  <Override PartName="/ppt/media/image76.jpg" ContentType="image/jp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78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/>
  </p:normalViewPr>
  <p:slideViewPr>
    <p:cSldViewPr>
      <p:cViewPr varScale="1">
        <p:scale>
          <a:sx n="118" d="100"/>
          <a:sy n="118" d="100"/>
        </p:scale>
        <p:origin x="1672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lesinger, Sebastian" userId="d814e6c9-e9fb-4b77-84f7-ccd8aa3529bb" providerId="ADAL" clId="{814D90CD-D400-5612-B49E-CD4DF6BF7C8B}"/>
    <pc:docChg chg="custSel delSld modSld">
      <pc:chgData name="Schlesinger, Sebastian" userId="d814e6c9-e9fb-4b77-84f7-ccd8aa3529bb" providerId="ADAL" clId="{814D90CD-D400-5612-B49E-CD4DF6BF7C8B}" dt="2026-02-09T15:14:13.415" v="2" actId="2696"/>
      <pc:docMkLst>
        <pc:docMk/>
      </pc:docMkLst>
      <pc:sldChg chg="del">
        <pc:chgData name="Schlesinger, Sebastian" userId="d814e6c9-e9fb-4b77-84f7-ccd8aa3529bb" providerId="ADAL" clId="{814D90CD-D400-5612-B49E-CD4DF6BF7C8B}" dt="2026-02-09T15:14:13.415" v="2" actId="2696"/>
        <pc:sldMkLst>
          <pc:docMk/>
          <pc:sldMk cId="0" sldId="256"/>
        </pc:sldMkLst>
      </pc:sldChg>
      <pc:sldChg chg="delSp mod">
        <pc:chgData name="Schlesinger, Sebastian" userId="d814e6c9-e9fb-4b77-84f7-ccd8aa3529bb" providerId="ADAL" clId="{814D90CD-D400-5612-B49E-CD4DF6BF7C8B}" dt="2026-02-07T11:32:09.311" v="0" actId="478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F57B8-157A-EF43-953C-28C8DB46DFEA}" type="datetimeFigureOut">
              <a:rPr lang="en-DE" smtClean="0"/>
              <a:t>09.02.26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DC94D-9AF0-104A-B9D4-AB117CDE94F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870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0584" y="265633"/>
            <a:ext cx="378904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B548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B548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B548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B548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73952"/>
            <a:ext cx="9144000" cy="384175"/>
          </a:xfrm>
          <a:custGeom>
            <a:avLst/>
            <a:gdLst/>
            <a:ahLst/>
            <a:cxnLst/>
            <a:rect l="l" t="t" r="r" b="b"/>
            <a:pathLst>
              <a:path w="9144000" h="384175">
                <a:moveTo>
                  <a:pt x="9144000" y="0"/>
                </a:moveTo>
                <a:lnTo>
                  <a:pt x="0" y="0"/>
                </a:lnTo>
                <a:lnTo>
                  <a:pt x="0" y="384048"/>
                </a:lnTo>
                <a:lnTo>
                  <a:pt x="9144000" y="384048"/>
                </a:lnTo>
                <a:lnTo>
                  <a:pt x="9144000" y="0"/>
                </a:lnTo>
                <a:close/>
              </a:path>
            </a:pathLst>
          </a:custGeom>
          <a:solidFill>
            <a:srgbClr val="2B54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54329" y="1055369"/>
            <a:ext cx="8437245" cy="0"/>
          </a:xfrm>
          <a:custGeom>
            <a:avLst/>
            <a:gdLst/>
            <a:ahLst/>
            <a:cxnLst/>
            <a:rect l="l" t="t" r="r" b="b"/>
            <a:pathLst>
              <a:path w="8437245">
                <a:moveTo>
                  <a:pt x="0" y="0"/>
                </a:moveTo>
                <a:lnTo>
                  <a:pt x="8436864" y="0"/>
                </a:lnTo>
              </a:path>
            </a:pathLst>
          </a:custGeom>
          <a:ln w="31750">
            <a:solidFill>
              <a:srgbClr val="2B54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62618"/>
            <a:ext cx="655319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B5480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7542" y="1260093"/>
            <a:ext cx="7728584" cy="457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07542" y="6603669"/>
            <a:ext cx="6049645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de-DE" spc="-30" dirty="0"/>
              <a:t>Prof. Dr. Sebastian Schlesinger</a:t>
            </a:r>
            <a:endParaRPr spc="-3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55254" y="6591401"/>
            <a:ext cx="2190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648773-08BD-7986-0378-1D906574FA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238" y="353451"/>
            <a:ext cx="1364032" cy="31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hyperlink" Target="http://iansommerville.com/software-engineering-book/slides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gesspiegel.de/berlin/flughafen-berlin-brandenburg-gift-im-kaffee-anschlag-auf-ber-ingenieur/13528314.html" TargetMode="Externa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3697528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" Type="http://schemas.openxmlformats.org/officeDocument/2006/relationships/image" Target="../media/image36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2" Type="http://schemas.openxmlformats.org/officeDocument/2006/relationships/hyperlink" Target="http://iansommerville.com/software-engineering-book/slides/" TargetMode="External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31" Type="http://schemas.openxmlformats.org/officeDocument/2006/relationships/image" Target="../media/image6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overflow.com/a/1242070/6788483" TargetMode="External"/><Relationship Id="rId2" Type="http://schemas.openxmlformats.org/officeDocument/2006/relationships/hyperlink" Target="http://stackoverflow.com/q/1241912/6788483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hyperlink" Target="http://iansommerville.com/software-engineering-book/slides/" TargetMode="External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77.png"/><Relationship Id="rId16" Type="http://schemas.openxmlformats.org/officeDocument/2006/relationships/hyperlink" Target="http://iansommerville.com/software-engineering-book/slid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98" y="1273462"/>
            <a:ext cx="5138148" cy="513814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E39F0E3-8C0D-B9FB-C5FC-26F66EBAD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2921" y="1066800"/>
            <a:ext cx="3626391" cy="3323987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Embedded Systems Engineering </a:t>
            </a:r>
            <a:br>
              <a:rPr lang="en-US" sz="3600" dirty="0">
                <a:solidFill>
                  <a:srgbClr val="FF0000"/>
                </a:solidFill>
              </a:rPr>
            </a:br>
            <a:br>
              <a:rPr lang="en-US" sz="3600" dirty="0">
                <a:solidFill>
                  <a:srgbClr val="FF0000"/>
                </a:solidFill>
              </a:rPr>
            </a:br>
            <a:r>
              <a:rPr lang="en-US" sz="3600" dirty="0">
                <a:solidFill>
                  <a:srgbClr val="FF0000"/>
                </a:solidFill>
              </a:rPr>
              <a:t>Software Engineering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07C4BB-AF59-5A16-7633-E602C040004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378541" y="4443162"/>
            <a:ext cx="3555152" cy="1846659"/>
          </a:xfrm>
        </p:spPr>
        <p:txBody>
          <a:bodyPr/>
          <a:lstStyle/>
          <a:p>
            <a:r>
              <a:rPr lang="en-US" dirty="0"/>
              <a:t>Prof. Dr.-Ing. Sebastian Schlesinger</a:t>
            </a:r>
          </a:p>
          <a:p>
            <a:r>
              <a:rPr lang="en-US" dirty="0"/>
              <a:t>Professor of Business Computer Science </a:t>
            </a:r>
          </a:p>
          <a:p>
            <a:r>
              <a:rPr lang="en-US" dirty="0"/>
              <a:t>Cybersecurity and Embedded Systems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A7715-BA0F-DB10-A552-EBA003592A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184998" y="5798333"/>
            <a:ext cx="164135" cy="141064"/>
          </a:xfrm>
        </p:spPr>
        <p:txBody>
          <a:bodyPr/>
          <a:lstStyle/>
          <a:p>
            <a:pPr marL="1351583">
              <a:lnSpc>
                <a:spcPts val="1128"/>
              </a:lnSpc>
            </a:pPr>
            <a:fld id="{81D60167-4931-47E6-BA6A-407CBD079E47}" type="slidenum">
              <a:rPr lang="en-DE" spc="-15"/>
              <a:pPr marL="1351583">
                <a:lnSpc>
                  <a:spcPts val="1128"/>
                </a:lnSpc>
              </a:pPr>
              <a:t>1</a:t>
            </a:fld>
            <a:endParaRPr lang="en-DE" spc="-15"/>
          </a:p>
        </p:txBody>
      </p:sp>
    </p:spTree>
    <p:extLst>
      <p:ext uri="{BB962C8B-B14F-4D97-AF65-F5344CB8AC3E}">
        <p14:creationId xmlns:p14="http://schemas.microsoft.com/office/powerpoint/2010/main" val="203947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0" dirty="0"/>
              <a:t>Diese</a:t>
            </a:r>
            <a:r>
              <a:rPr spc="-200" dirty="0"/>
              <a:t> </a:t>
            </a:r>
            <a:r>
              <a:rPr spc="-204" dirty="0"/>
              <a:t>Vorlesung</a:t>
            </a:r>
          </a:p>
        </p:txBody>
      </p:sp>
      <p:sp>
        <p:nvSpPr>
          <p:cNvPr id="3" name="object 3"/>
          <p:cNvSpPr/>
          <p:nvPr/>
        </p:nvSpPr>
        <p:spPr>
          <a:xfrm>
            <a:off x="545591" y="1423416"/>
            <a:ext cx="1510665" cy="4215765"/>
          </a:xfrm>
          <a:custGeom>
            <a:avLst/>
            <a:gdLst/>
            <a:ahLst/>
            <a:cxnLst/>
            <a:rect l="l" t="t" r="r" b="b"/>
            <a:pathLst>
              <a:path w="1510664" h="4215765">
                <a:moveTo>
                  <a:pt x="1426718" y="0"/>
                </a:moveTo>
                <a:lnTo>
                  <a:pt x="83604" y="0"/>
                </a:lnTo>
                <a:lnTo>
                  <a:pt x="51059" y="6574"/>
                </a:lnTo>
                <a:lnTo>
                  <a:pt x="24485" y="24495"/>
                </a:lnTo>
                <a:lnTo>
                  <a:pt x="6569" y="51059"/>
                </a:lnTo>
                <a:lnTo>
                  <a:pt x="0" y="83566"/>
                </a:lnTo>
                <a:lnTo>
                  <a:pt x="0" y="4131818"/>
                </a:lnTo>
                <a:lnTo>
                  <a:pt x="6569" y="4164340"/>
                </a:lnTo>
                <a:lnTo>
                  <a:pt x="24485" y="4190903"/>
                </a:lnTo>
                <a:lnTo>
                  <a:pt x="51059" y="4208815"/>
                </a:lnTo>
                <a:lnTo>
                  <a:pt x="83604" y="4215384"/>
                </a:lnTo>
                <a:lnTo>
                  <a:pt x="1426718" y="4215384"/>
                </a:lnTo>
                <a:lnTo>
                  <a:pt x="1459224" y="4208815"/>
                </a:lnTo>
                <a:lnTo>
                  <a:pt x="1485788" y="4190903"/>
                </a:lnTo>
                <a:lnTo>
                  <a:pt x="1503709" y="4164340"/>
                </a:lnTo>
                <a:lnTo>
                  <a:pt x="1510283" y="4131818"/>
                </a:lnTo>
                <a:lnTo>
                  <a:pt x="1510283" y="83566"/>
                </a:lnTo>
                <a:lnTo>
                  <a:pt x="1503709" y="51059"/>
                </a:lnTo>
                <a:lnTo>
                  <a:pt x="1485788" y="24495"/>
                </a:lnTo>
                <a:lnTo>
                  <a:pt x="1459224" y="6574"/>
                </a:lnTo>
                <a:lnTo>
                  <a:pt x="1426718" y="0"/>
                </a:lnTo>
                <a:close/>
              </a:path>
            </a:pathLst>
          </a:custGeom>
          <a:solidFill>
            <a:srgbClr val="D2D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7471" y="1691767"/>
            <a:ext cx="11626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75" dirty="0">
                <a:latin typeface="Arial"/>
                <a:cs typeface="Arial"/>
              </a:rPr>
              <a:t>Einführung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6590" y="2971545"/>
            <a:ext cx="1314450" cy="764540"/>
            <a:chOff x="656590" y="2971545"/>
            <a:chExt cx="1314450" cy="764540"/>
          </a:xfrm>
        </p:grpSpPr>
        <p:sp>
          <p:nvSpPr>
            <p:cNvPr id="6" name="object 6"/>
            <p:cNvSpPr/>
            <p:nvPr/>
          </p:nvSpPr>
          <p:spPr>
            <a:xfrm>
              <a:off x="662940" y="2977895"/>
              <a:ext cx="1301750" cy="751840"/>
            </a:xfrm>
            <a:custGeom>
              <a:avLst/>
              <a:gdLst/>
              <a:ahLst/>
              <a:cxnLst/>
              <a:rect l="l" t="t" r="r" b="b"/>
              <a:pathLst>
                <a:path w="1301750" h="751839">
                  <a:moveTo>
                    <a:pt x="1226311" y="0"/>
                  </a:moveTo>
                  <a:lnTo>
                    <a:pt x="75133" y="0"/>
                  </a:lnTo>
                  <a:lnTo>
                    <a:pt x="45889" y="5907"/>
                  </a:lnTo>
                  <a:lnTo>
                    <a:pt x="22007" y="22018"/>
                  </a:lnTo>
                  <a:lnTo>
                    <a:pt x="5904" y="45916"/>
                  </a:lnTo>
                  <a:lnTo>
                    <a:pt x="0" y="75183"/>
                  </a:lnTo>
                  <a:lnTo>
                    <a:pt x="0" y="676147"/>
                  </a:lnTo>
                  <a:lnTo>
                    <a:pt x="5904" y="705415"/>
                  </a:lnTo>
                  <a:lnTo>
                    <a:pt x="22007" y="729313"/>
                  </a:lnTo>
                  <a:lnTo>
                    <a:pt x="45889" y="745424"/>
                  </a:lnTo>
                  <a:lnTo>
                    <a:pt x="75133" y="751331"/>
                  </a:lnTo>
                  <a:lnTo>
                    <a:pt x="1226311" y="751331"/>
                  </a:lnTo>
                  <a:lnTo>
                    <a:pt x="1255579" y="745424"/>
                  </a:lnTo>
                  <a:lnTo>
                    <a:pt x="1279477" y="729313"/>
                  </a:lnTo>
                  <a:lnTo>
                    <a:pt x="1295588" y="705415"/>
                  </a:lnTo>
                  <a:lnTo>
                    <a:pt x="1301496" y="676147"/>
                  </a:lnTo>
                  <a:lnTo>
                    <a:pt x="1301496" y="75183"/>
                  </a:lnTo>
                  <a:lnTo>
                    <a:pt x="1295588" y="45916"/>
                  </a:lnTo>
                  <a:lnTo>
                    <a:pt x="1279477" y="22018"/>
                  </a:lnTo>
                  <a:lnTo>
                    <a:pt x="1255579" y="5907"/>
                  </a:lnTo>
                  <a:lnTo>
                    <a:pt x="122631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940" y="2977895"/>
              <a:ext cx="1301750" cy="751840"/>
            </a:xfrm>
            <a:custGeom>
              <a:avLst/>
              <a:gdLst/>
              <a:ahLst/>
              <a:cxnLst/>
              <a:rect l="l" t="t" r="r" b="b"/>
              <a:pathLst>
                <a:path w="1301750" h="751839">
                  <a:moveTo>
                    <a:pt x="0" y="75183"/>
                  </a:moveTo>
                  <a:lnTo>
                    <a:pt x="5904" y="45916"/>
                  </a:lnTo>
                  <a:lnTo>
                    <a:pt x="22007" y="22018"/>
                  </a:lnTo>
                  <a:lnTo>
                    <a:pt x="45889" y="5907"/>
                  </a:lnTo>
                  <a:lnTo>
                    <a:pt x="75133" y="0"/>
                  </a:lnTo>
                  <a:lnTo>
                    <a:pt x="1226311" y="0"/>
                  </a:lnTo>
                  <a:lnTo>
                    <a:pt x="1255579" y="5907"/>
                  </a:lnTo>
                  <a:lnTo>
                    <a:pt x="1279477" y="22018"/>
                  </a:lnTo>
                  <a:lnTo>
                    <a:pt x="1295588" y="45916"/>
                  </a:lnTo>
                  <a:lnTo>
                    <a:pt x="1301496" y="75183"/>
                  </a:lnTo>
                  <a:lnTo>
                    <a:pt x="1301496" y="676147"/>
                  </a:lnTo>
                  <a:lnTo>
                    <a:pt x="1295588" y="705415"/>
                  </a:lnTo>
                  <a:lnTo>
                    <a:pt x="1279477" y="729313"/>
                  </a:lnTo>
                  <a:lnTo>
                    <a:pt x="1255579" y="745424"/>
                  </a:lnTo>
                  <a:lnTo>
                    <a:pt x="1226311" y="751331"/>
                  </a:lnTo>
                  <a:lnTo>
                    <a:pt x="75133" y="751331"/>
                  </a:lnTo>
                  <a:lnTo>
                    <a:pt x="45889" y="745424"/>
                  </a:lnTo>
                  <a:lnTo>
                    <a:pt x="22007" y="729313"/>
                  </a:lnTo>
                  <a:lnTo>
                    <a:pt x="5904" y="705415"/>
                  </a:lnTo>
                  <a:lnTo>
                    <a:pt x="0" y="676147"/>
                  </a:lnTo>
                  <a:lnTo>
                    <a:pt x="0" y="7518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6569" y="2997453"/>
            <a:ext cx="1257300" cy="6654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ctr">
              <a:lnSpc>
                <a:spcPts val="1620"/>
              </a:lnSpc>
              <a:spcBef>
                <a:spcPts val="305"/>
              </a:spcBef>
            </a:pPr>
            <a:r>
              <a:rPr sz="1500" spc="-70" dirty="0">
                <a:solidFill>
                  <a:srgbClr val="FFFFFF"/>
                </a:solidFill>
                <a:latin typeface="Arial"/>
                <a:cs typeface="Arial"/>
              </a:rPr>
              <a:t>Besonderheiten </a:t>
            </a:r>
            <a:r>
              <a:rPr sz="1500" spc="-10" dirty="0">
                <a:solidFill>
                  <a:srgbClr val="FFFFFF"/>
                </a:solidFill>
                <a:latin typeface="Arial"/>
                <a:cs typeface="Arial"/>
              </a:rPr>
              <a:t>eingebetteter Software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76401" y="4588509"/>
            <a:ext cx="1314450" cy="721360"/>
            <a:chOff x="676401" y="4588509"/>
            <a:chExt cx="1314450" cy="72136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751" y="4594859"/>
              <a:ext cx="1301496" cy="7086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82751" y="4594859"/>
              <a:ext cx="1301750" cy="708660"/>
            </a:xfrm>
            <a:custGeom>
              <a:avLst/>
              <a:gdLst/>
              <a:ahLst/>
              <a:cxnLst/>
              <a:rect l="l" t="t" r="r" b="b"/>
              <a:pathLst>
                <a:path w="1301750" h="708660">
                  <a:moveTo>
                    <a:pt x="0" y="70865"/>
                  </a:moveTo>
                  <a:lnTo>
                    <a:pt x="5568" y="43291"/>
                  </a:lnTo>
                  <a:lnTo>
                    <a:pt x="20754" y="20764"/>
                  </a:lnTo>
                  <a:lnTo>
                    <a:pt x="43280" y="5572"/>
                  </a:lnTo>
                  <a:lnTo>
                    <a:pt x="70866" y="0"/>
                  </a:lnTo>
                  <a:lnTo>
                    <a:pt x="1230630" y="0"/>
                  </a:lnTo>
                  <a:lnTo>
                    <a:pt x="1258204" y="5572"/>
                  </a:lnTo>
                  <a:lnTo>
                    <a:pt x="1280731" y="20764"/>
                  </a:lnTo>
                  <a:lnTo>
                    <a:pt x="1295923" y="43291"/>
                  </a:lnTo>
                  <a:lnTo>
                    <a:pt x="1301496" y="70865"/>
                  </a:lnTo>
                  <a:lnTo>
                    <a:pt x="1301496" y="637793"/>
                  </a:lnTo>
                  <a:lnTo>
                    <a:pt x="1295923" y="665368"/>
                  </a:lnTo>
                  <a:lnTo>
                    <a:pt x="1280731" y="687895"/>
                  </a:lnTo>
                  <a:lnTo>
                    <a:pt x="1258204" y="703087"/>
                  </a:lnTo>
                  <a:lnTo>
                    <a:pt x="1230630" y="708659"/>
                  </a:lnTo>
                  <a:lnTo>
                    <a:pt x="70866" y="708659"/>
                  </a:lnTo>
                  <a:lnTo>
                    <a:pt x="43280" y="703087"/>
                  </a:lnTo>
                  <a:lnTo>
                    <a:pt x="20754" y="687895"/>
                  </a:lnTo>
                  <a:lnTo>
                    <a:pt x="5568" y="665368"/>
                  </a:lnTo>
                  <a:lnTo>
                    <a:pt x="0" y="637793"/>
                  </a:lnTo>
                  <a:lnTo>
                    <a:pt x="0" y="7086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55091" y="4680915"/>
            <a:ext cx="1155700" cy="488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25"/>
              </a:lnSpc>
              <a:spcBef>
                <a:spcPts val="95"/>
              </a:spcBef>
            </a:pP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Spezifikations</a:t>
            </a:r>
            <a:endParaRPr sz="1600">
              <a:latin typeface="Arial"/>
              <a:cs typeface="Arial"/>
            </a:endParaRPr>
          </a:p>
          <a:p>
            <a:pPr marL="635" algn="ctr">
              <a:lnSpc>
                <a:spcPts val="1825"/>
              </a:lnSpc>
            </a:pPr>
            <a:r>
              <a:rPr sz="1600" spc="-6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sprachen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44267" y="1423416"/>
            <a:ext cx="2635250" cy="4215765"/>
          </a:xfrm>
          <a:custGeom>
            <a:avLst/>
            <a:gdLst/>
            <a:ahLst/>
            <a:cxnLst/>
            <a:rect l="l" t="t" r="r" b="b"/>
            <a:pathLst>
              <a:path w="2635250" h="4215765">
                <a:moveTo>
                  <a:pt x="2543047" y="0"/>
                </a:moveTo>
                <a:lnTo>
                  <a:pt x="91948" y="0"/>
                </a:lnTo>
                <a:lnTo>
                  <a:pt x="56149" y="7223"/>
                </a:lnTo>
                <a:lnTo>
                  <a:pt x="26924" y="26924"/>
                </a:lnTo>
                <a:lnTo>
                  <a:pt x="7223" y="56149"/>
                </a:lnTo>
                <a:lnTo>
                  <a:pt x="0" y="91948"/>
                </a:lnTo>
                <a:lnTo>
                  <a:pt x="0" y="4123436"/>
                </a:lnTo>
                <a:lnTo>
                  <a:pt x="7223" y="4159223"/>
                </a:lnTo>
                <a:lnTo>
                  <a:pt x="26924" y="4188450"/>
                </a:lnTo>
                <a:lnTo>
                  <a:pt x="56149" y="4208157"/>
                </a:lnTo>
                <a:lnTo>
                  <a:pt x="91948" y="4215384"/>
                </a:lnTo>
                <a:lnTo>
                  <a:pt x="2543047" y="4215384"/>
                </a:lnTo>
                <a:lnTo>
                  <a:pt x="2578846" y="4208157"/>
                </a:lnTo>
                <a:lnTo>
                  <a:pt x="2608072" y="4188450"/>
                </a:lnTo>
                <a:lnTo>
                  <a:pt x="2627772" y="4159223"/>
                </a:lnTo>
                <a:lnTo>
                  <a:pt x="2634996" y="4123436"/>
                </a:lnTo>
                <a:lnTo>
                  <a:pt x="2634996" y="91948"/>
                </a:lnTo>
                <a:lnTo>
                  <a:pt x="2627772" y="56149"/>
                </a:lnTo>
                <a:lnTo>
                  <a:pt x="2608072" y="26924"/>
                </a:lnTo>
                <a:lnTo>
                  <a:pt x="2578846" y="7223"/>
                </a:lnTo>
                <a:lnTo>
                  <a:pt x="2543047" y="0"/>
                </a:lnTo>
                <a:close/>
              </a:path>
            </a:pathLst>
          </a:custGeom>
          <a:solidFill>
            <a:srgbClr val="D2D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49016" y="1691767"/>
            <a:ext cx="848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5" dirty="0">
                <a:latin typeface="Arial"/>
                <a:cs typeface="Arial"/>
              </a:rPr>
              <a:t>Entwurf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62529" y="2962401"/>
            <a:ext cx="1070610" cy="567690"/>
            <a:chOff x="2462529" y="2962401"/>
            <a:chExt cx="1070610" cy="567690"/>
          </a:xfrm>
        </p:grpSpPr>
        <p:sp>
          <p:nvSpPr>
            <p:cNvPr id="16" name="object 16"/>
            <p:cNvSpPr/>
            <p:nvPr/>
          </p:nvSpPr>
          <p:spPr>
            <a:xfrm>
              <a:off x="2468879" y="2968751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1002157" y="0"/>
                  </a:moveTo>
                  <a:lnTo>
                    <a:pt x="55499" y="0"/>
                  </a:lnTo>
                  <a:lnTo>
                    <a:pt x="33914" y="4367"/>
                  </a:lnTo>
                  <a:lnTo>
                    <a:pt x="16271" y="16271"/>
                  </a:lnTo>
                  <a:lnTo>
                    <a:pt x="4367" y="33914"/>
                  </a:lnTo>
                  <a:lnTo>
                    <a:pt x="0" y="55499"/>
                  </a:lnTo>
                  <a:lnTo>
                    <a:pt x="0" y="499237"/>
                  </a:lnTo>
                  <a:lnTo>
                    <a:pt x="4367" y="520821"/>
                  </a:lnTo>
                  <a:lnTo>
                    <a:pt x="16271" y="538464"/>
                  </a:lnTo>
                  <a:lnTo>
                    <a:pt x="33914" y="550368"/>
                  </a:lnTo>
                  <a:lnTo>
                    <a:pt x="55499" y="554736"/>
                  </a:lnTo>
                  <a:lnTo>
                    <a:pt x="1002157" y="554736"/>
                  </a:lnTo>
                  <a:lnTo>
                    <a:pt x="1023741" y="550368"/>
                  </a:lnTo>
                  <a:lnTo>
                    <a:pt x="1041384" y="538464"/>
                  </a:lnTo>
                  <a:lnTo>
                    <a:pt x="1053288" y="520821"/>
                  </a:lnTo>
                  <a:lnTo>
                    <a:pt x="1057656" y="499237"/>
                  </a:lnTo>
                  <a:lnTo>
                    <a:pt x="1057656" y="55499"/>
                  </a:lnTo>
                  <a:lnTo>
                    <a:pt x="1053288" y="33914"/>
                  </a:lnTo>
                  <a:lnTo>
                    <a:pt x="1041384" y="16271"/>
                  </a:lnTo>
                  <a:lnTo>
                    <a:pt x="1023741" y="4367"/>
                  </a:lnTo>
                  <a:lnTo>
                    <a:pt x="100215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68879" y="2968751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0" y="55499"/>
                  </a:moveTo>
                  <a:lnTo>
                    <a:pt x="4367" y="33914"/>
                  </a:lnTo>
                  <a:lnTo>
                    <a:pt x="16271" y="16271"/>
                  </a:lnTo>
                  <a:lnTo>
                    <a:pt x="33914" y="4367"/>
                  </a:lnTo>
                  <a:lnTo>
                    <a:pt x="55499" y="0"/>
                  </a:lnTo>
                  <a:lnTo>
                    <a:pt x="1002157" y="0"/>
                  </a:lnTo>
                  <a:lnTo>
                    <a:pt x="1023741" y="4367"/>
                  </a:lnTo>
                  <a:lnTo>
                    <a:pt x="1041384" y="16271"/>
                  </a:lnTo>
                  <a:lnTo>
                    <a:pt x="1053288" y="33914"/>
                  </a:lnTo>
                  <a:lnTo>
                    <a:pt x="1057656" y="55499"/>
                  </a:lnTo>
                  <a:lnTo>
                    <a:pt x="1057656" y="499237"/>
                  </a:lnTo>
                  <a:lnTo>
                    <a:pt x="1053288" y="520821"/>
                  </a:lnTo>
                  <a:lnTo>
                    <a:pt x="1041384" y="538464"/>
                  </a:lnTo>
                  <a:lnTo>
                    <a:pt x="1023741" y="550368"/>
                  </a:lnTo>
                  <a:lnTo>
                    <a:pt x="1002157" y="554736"/>
                  </a:lnTo>
                  <a:lnTo>
                    <a:pt x="55499" y="554736"/>
                  </a:lnTo>
                  <a:lnTo>
                    <a:pt x="33914" y="550368"/>
                  </a:lnTo>
                  <a:lnTo>
                    <a:pt x="16271" y="538464"/>
                  </a:lnTo>
                  <a:lnTo>
                    <a:pt x="4367" y="520821"/>
                  </a:lnTo>
                  <a:lnTo>
                    <a:pt x="0" y="499237"/>
                  </a:lnTo>
                  <a:lnTo>
                    <a:pt x="0" y="5549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520823" y="2978657"/>
            <a:ext cx="95504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114300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Endliche </a:t>
            </a:r>
            <a:r>
              <a:rPr sz="1600" spc="-60" dirty="0">
                <a:solidFill>
                  <a:srgbClr val="FFFFFF"/>
                </a:solidFill>
                <a:latin typeface="Arial"/>
                <a:cs typeface="Arial"/>
              </a:rPr>
              <a:t>Automaten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462529" y="3629914"/>
            <a:ext cx="1070610" cy="567690"/>
            <a:chOff x="2462529" y="3629914"/>
            <a:chExt cx="1070610" cy="567690"/>
          </a:xfrm>
        </p:grpSpPr>
        <p:sp>
          <p:nvSpPr>
            <p:cNvPr id="20" name="object 20"/>
            <p:cNvSpPr/>
            <p:nvPr/>
          </p:nvSpPr>
          <p:spPr>
            <a:xfrm>
              <a:off x="2468879" y="3636264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1002157" y="0"/>
                  </a:moveTo>
                  <a:lnTo>
                    <a:pt x="55499" y="0"/>
                  </a:lnTo>
                  <a:lnTo>
                    <a:pt x="33914" y="4367"/>
                  </a:lnTo>
                  <a:lnTo>
                    <a:pt x="16271" y="16271"/>
                  </a:lnTo>
                  <a:lnTo>
                    <a:pt x="4367" y="33914"/>
                  </a:lnTo>
                  <a:lnTo>
                    <a:pt x="0" y="55499"/>
                  </a:lnTo>
                  <a:lnTo>
                    <a:pt x="0" y="499237"/>
                  </a:lnTo>
                  <a:lnTo>
                    <a:pt x="4367" y="520821"/>
                  </a:lnTo>
                  <a:lnTo>
                    <a:pt x="16271" y="538464"/>
                  </a:lnTo>
                  <a:lnTo>
                    <a:pt x="33914" y="550368"/>
                  </a:lnTo>
                  <a:lnTo>
                    <a:pt x="55499" y="554736"/>
                  </a:lnTo>
                  <a:lnTo>
                    <a:pt x="1002157" y="554736"/>
                  </a:lnTo>
                  <a:lnTo>
                    <a:pt x="1023741" y="550368"/>
                  </a:lnTo>
                  <a:lnTo>
                    <a:pt x="1041384" y="538464"/>
                  </a:lnTo>
                  <a:lnTo>
                    <a:pt x="1053288" y="520821"/>
                  </a:lnTo>
                  <a:lnTo>
                    <a:pt x="1057656" y="499237"/>
                  </a:lnTo>
                  <a:lnTo>
                    <a:pt x="1057656" y="55499"/>
                  </a:lnTo>
                  <a:lnTo>
                    <a:pt x="1053288" y="33914"/>
                  </a:lnTo>
                  <a:lnTo>
                    <a:pt x="1041384" y="16271"/>
                  </a:lnTo>
                  <a:lnTo>
                    <a:pt x="1023741" y="4367"/>
                  </a:lnTo>
                  <a:lnTo>
                    <a:pt x="100215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68879" y="3636264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0" y="55499"/>
                  </a:moveTo>
                  <a:lnTo>
                    <a:pt x="4367" y="33914"/>
                  </a:lnTo>
                  <a:lnTo>
                    <a:pt x="16271" y="16271"/>
                  </a:lnTo>
                  <a:lnTo>
                    <a:pt x="33914" y="4367"/>
                  </a:lnTo>
                  <a:lnTo>
                    <a:pt x="55499" y="0"/>
                  </a:lnTo>
                  <a:lnTo>
                    <a:pt x="1002157" y="0"/>
                  </a:lnTo>
                  <a:lnTo>
                    <a:pt x="1023741" y="4367"/>
                  </a:lnTo>
                  <a:lnTo>
                    <a:pt x="1041384" y="16271"/>
                  </a:lnTo>
                  <a:lnTo>
                    <a:pt x="1053288" y="33914"/>
                  </a:lnTo>
                  <a:lnTo>
                    <a:pt x="1057656" y="55499"/>
                  </a:lnTo>
                  <a:lnTo>
                    <a:pt x="1057656" y="499237"/>
                  </a:lnTo>
                  <a:lnTo>
                    <a:pt x="1053288" y="520821"/>
                  </a:lnTo>
                  <a:lnTo>
                    <a:pt x="1041384" y="538464"/>
                  </a:lnTo>
                  <a:lnTo>
                    <a:pt x="1023741" y="550368"/>
                  </a:lnTo>
                  <a:lnTo>
                    <a:pt x="1002157" y="554736"/>
                  </a:lnTo>
                  <a:lnTo>
                    <a:pt x="55499" y="554736"/>
                  </a:lnTo>
                  <a:lnTo>
                    <a:pt x="33914" y="550368"/>
                  </a:lnTo>
                  <a:lnTo>
                    <a:pt x="16271" y="538464"/>
                  </a:lnTo>
                  <a:lnTo>
                    <a:pt x="4367" y="520821"/>
                  </a:lnTo>
                  <a:lnTo>
                    <a:pt x="0" y="499237"/>
                  </a:lnTo>
                  <a:lnTo>
                    <a:pt x="0" y="5549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521076" y="3755897"/>
            <a:ext cx="955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Statecharts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62529" y="4321809"/>
            <a:ext cx="1070610" cy="567690"/>
            <a:chOff x="2462529" y="4321809"/>
            <a:chExt cx="1070610" cy="567690"/>
          </a:xfrm>
        </p:grpSpPr>
        <p:sp>
          <p:nvSpPr>
            <p:cNvPr id="24" name="object 24"/>
            <p:cNvSpPr/>
            <p:nvPr/>
          </p:nvSpPr>
          <p:spPr>
            <a:xfrm>
              <a:off x="2468879" y="4328159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1002157" y="0"/>
                  </a:moveTo>
                  <a:lnTo>
                    <a:pt x="55499" y="0"/>
                  </a:lnTo>
                  <a:lnTo>
                    <a:pt x="33914" y="4367"/>
                  </a:lnTo>
                  <a:lnTo>
                    <a:pt x="16271" y="16271"/>
                  </a:lnTo>
                  <a:lnTo>
                    <a:pt x="4367" y="33914"/>
                  </a:lnTo>
                  <a:lnTo>
                    <a:pt x="0" y="55498"/>
                  </a:lnTo>
                  <a:lnTo>
                    <a:pt x="0" y="499237"/>
                  </a:lnTo>
                  <a:lnTo>
                    <a:pt x="4367" y="520821"/>
                  </a:lnTo>
                  <a:lnTo>
                    <a:pt x="16271" y="538464"/>
                  </a:lnTo>
                  <a:lnTo>
                    <a:pt x="33914" y="550368"/>
                  </a:lnTo>
                  <a:lnTo>
                    <a:pt x="55499" y="554735"/>
                  </a:lnTo>
                  <a:lnTo>
                    <a:pt x="1002157" y="554735"/>
                  </a:lnTo>
                  <a:lnTo>
                    <a:pt x="1023741" y="550368"/>
                  </a:lnTo>
                  <a:lnTo>
                    <a:pt x="1041384" y="538464"/>
                  </a:lnTo>
                  <a:lnTo>
                    <a:pt x="1053288" y="520821"/>
                  </a:lnTo>
                  <a:lnTo>
                    <a:pt x="1057656" y="499237"/>
                  </a:lnTo>
                  <a:lnTo>
                    <a:pt x="1057656" y="55498"/>
                  </a:lnTo>
                  <a:lnTo>
                    <a:pt x="1053288" y="33914"/>
                  </a:lnTo>
                  <a:lnTo>
                    <a:pt x="1041384" y="16271"/>
                  </a:lnTo>
                  <a:lnTo>
                    <a:pt x="1023741" y="4367"/>
                  </a:lnTo>
                  <a:lnTo>
                    <a:pt x="100215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68879" y="4328159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0" y="55498"/>
                  </a:moveTo>
                  <a:lnTo>
                    <a:pt x="4367" y="33914"/>
                  </a:lnTo>
                  <a:lnTo>
                    <a:pt x="16271" y="16271"/>
                  </a:lnTo>
                  <a:lnTo>
                    <a:pt x="33914" y="4367"/>
                  </a:lnTo>
                  <a:lnTo>
                    <a:pt x="55499" y="0"/>
                  </a:lnTo>
                  <a:lnTo>
                    <a:pt x="1002157" y="0"/>
                  </a:lnTo>
                  <a:lnTo>
                    <a:pt x="1023741" y="4367"/>
                  </a:lnTo>
                  <a:lnTo>
                    <a:pt x="1041384" y="16271"/>
                  </a:lnTo>
                  <a:lnTo>
                    <a:pt x="1053288" y="33914"/>
                  </a:lnTo>
                  <a:lnTo>
                    <a:pt x="1057656" y="55498"/>
                  </a:lnTo>
                  <a:lnTo>
                    <a:pt x="1057656" y="499237"/>
                  </a:lnTo>
                  <a:lnTo>
                    <a:pt x="1053288" y="520821"/>
                  </a:lnTo>
                  <a:lnTo>
                    <a:pt x="1041384" y="538464"/>
                  </a:lnTo>
                  <a:lnTo>
                    <a:pt x="1023741" y="550368"/>
                  </a:lnTo>
                  <a:lnTo>
                    <a:pt x="1002157" y="554735"/>
                  </a:lnTo>
                  <a:lnTo>
                    <a:pt x="55499" y="554735"/>
                  </a:lnTo>
                  <a:lnTo>
                    <a:pt x="33914" y="550368"/>
                  </a:lnTo>
                  <a:lnTo>
                    <a:pt x="16271" y="538464"/>
                  </a:lnTo>
                  <a:lnTo>
                    <a:pt x="4367" y="520821"/>
                  </a:lnTo>
                  <a:lnTo>
                    <a:pt x="0" y="499237"/>
                  </a:lnTo>
                  <a:lnTo>
                    <a:pt x="0" y="5549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575941" y="4337684"/>
            <a:ext cx="84328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150495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Timed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Automata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597909" y="4321809"/>
            <a:ext cx="1070610" cy="567690"/>
            <a:chOff x="3597909" y="4321809"/>
            <a:chExt cx="1070610" cy="567690"/>
          </a:xfrm>
        </p:grpSpPr>
        <p:sp>
          <p:nvSpPr>
            <p:cNvPr id="28" name="object 28"/>
            <p:cNvSpPr/>
            <p:nvPr/>
          </p:nvSpPr>
          <p:spPr>
            <a:xfrm>
              <a:off x="3604259" y="4328159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1002156" y="0"/>
                  </a:moveTo>
                  <a:lnTo>
                    <a:pt x="55499" y="0"/>
                  </a:lnTo>
                  <a:lnTo>
                    <a:pt x="33914" y="4367"/>
                  </a:lnTo>
                  <a:lnTo>
                    <a:pt x="16271" y="16271"/>
                  </a:lnTo>
                  <a:lnTo>
                    <a:pt x="4367" y="33914"/>
                  </a:lnTo>
                  <a:lnTo>
                    <a:pt x="0" y="55498"/>
                  </a:lnTo>
                  <a:lnTo>
                    <a:pt x="0" y="499237"/>
                  </a:lnTo>
                  <a:lnTo>
                    <a:pt x="4367" y="520821"/>
                  </a:lnTo>
                  <a:lnTo>
                    <a:pt x="16271" y="538464"/>
                  </a:lnTo>
                  <a:lnTo>
                    <a:pt x="33914" y="550368"/>
                  </a:lnTo>
                  <a:lnTo>
                    <a:pt x="55499" y="554735"/>
                  </a:lnTo>
                  <a:lnTo>
                    <a:pt x="1002156" y="554735"/>
                  </a:lnTo>
                  <a:lnTo>
                    <a:pt x="1023741" y="550368"/>
                  </a:lnTo>
                  <a:lnTo>
                    <a:pt x="1041384" y="538464"/>
                  </a:lnTo>
                  <a:lnTo>
                    <a:pt x="1053288" y="520821"/>
                  </a:lnTo>
                  <a:lnTo>
                    <a:pt x="1057655" y="499237"/>
                  </a:lnTo>
                  <a:lnTo>
                    <a:pt x="1057655" y="55498"/>
                  </a:lnTo>
                  <a:lnTo>
                    <a:pt x="1053288" y="33914"/>
                  </a:lnTo>
                  <a:lnTo>
                    <a:pt x="1041384" y="16271"/>
                  </a:lnTo>
                  <a:lnTo>
                    <a:pt x="1023741" y="4367"/>
                  </a:lnTo>
                  <a:lnTo>
                    <a:pt x="100215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04259" y="4328159"/>
              <a:ext cx="1057910" cy="554990"/>
            </a:xfrm>
            <a:custGeom>
              <a:avLst/>
              <a:gdLst/>
              <a:ahLst/>
              <a:cxnLst/>
              <a:rect l="l" t="t" r="r" b="b"/>
              <a:pathLst>
                <a:path w="1057910" h="554989">
                  <a:moveTo>
                    <a:pt x="0" y="55498"/>
                  </a:moveTo>
                  <a:lnTo>
                    <a:pt x="4367" y="33914"/>
                  </a:lnTo>
                  <a:lnTo>
                    <a:pt x="16271" y="16271"/>
                  </a:lnTo>
                  <a:lnTo>
                    <a:pt x="33914" y="4367"/>
                  </a:lnTo>
                  <a:lnTo>
                    <a:pt x="55499" y="0"/>
                  </a:lnTo>
                  <a:lnTo>
                    <a:pt x="1002156" y="0"/>
                  </a:lnTo>
                  <a:lnTo>
                    <a:pt x="1023741" y="4367"/>
                  </a:lnTo>
                  <a:lnTo>
                    <a:pt x="1041384" y="16271"/>
                  </a:lnTo>
                  <a:lnTo>
                    <a:pt x="1053288" y="33914"/>
                  </a:lnTo>
                  <a:lnTo>
                    <a:pt x="1057655" y="55498"/>
                  </a:lnTo>
                  <a:lnTo>
                    <a:pt x="1057655" y="499237"/>
                  </a:lnTo>
                  <a:lnTo>
                    <a:pt x="1053288" y="520821"/>
                  </a:lnTo>
                  <a:lnTo>
                    <a:pt x="1041384" y="538464"/>
                  </a:lnTo>
                  <a:lnTo>
                    <a:pt x="1023741" y="550368"/>
                  </a:lnTo>
                  <a:lnTo>
                    <a:pt x="1002156" y="554735"/>
                  </a:lnTo>
                  <a:lnTo>
                    <a:pt x="55499" y="554735"/>
                  </a:lnTo>
                  <a:lnTo>
                    <a:pt x="33914" y="550368"/>
                  </a:lnTo>
                  <a:lnTo>
                    <a:pt x="16271" y="538464"/>
                  </a:lnTo>
                  <a:lnTo>
                    <a:pt x="4367" y="520821"/>
                  </a:lnTo>
                  <a:lnTo>
                    <a:pt x="0" y="499237"/>
                  </a:lnTo>
                  <a:lnTo>
                    <a:pt x="0" y="5549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772915" y="4447413"/>
            <a:ext cx="720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45" dirty="0">
                <a:solidFill>
                  <a:srgbClr val="FFFFFF"/>
                </a:solidFill>
                <a:latin typeface="Arial"/>
                <a:cs typeface="Arial"/>
              </a:rPr>
              <a:t>SystemC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597909" y="2965450"/>
            <a:ext cx="1070610" cy="1231900"/>
            <a:chOff x="3597909" y="2965450"/>
            <a:chExt cx="1070610" cy="1231900"/>
          </a:xfrm>
        </p:grpSpPr>
        <p:sp>
          <p:nvSpPr>
            <p:cNvPr id="32" name="object 32"/>
            <p:cNvSpPr/>
            <p:nvPr/>
          </p:nvSpPr>
          <p:spPr>
            <a:xfrm>
              <a:off x="3604259" y="2971800"/>
              <a:ext cx="1057910" cy="1219200"/>
            </a:xfrm>
            <a:custGeom>
              <a:avLst/>
              <a:gdLst/>
              <a:ahLst/>
              <a:cxnLst/>
              <a:rect l="l" t="t" r="r" b="b"/>
              <a:pathLst>
                <a:path w="1057910" h="1219200">
                  <a:moveTo>
                    <a:pt x="951864" y="0"/>
                  </a:moveTo>
                  <a:lnTo>
                    <a:pt x="105790" y="0"/>
                  </a:lnTo>
                  <a:lnTo>
                    <a:pt x="64615" y="8314"/>
                  </a:lnTo>
                  <a:lnTo>
                    <a:pt x="30987" y="30987"/>
                  </a:lnTo>
                  <a:lnTo>
                    <a:pt x="8314" y="64615"/>
                  </a:lnTo>
                  <a:lnTo>
                    <a:pt x="0" y="105790"/>
                  </a:lnTo>
                  <a:lnTo>
                    <a:pt x="0" y="1113408"/>
                  </a:lnTo>
                  <a:lnTo>
                    <a:pt x="8314" y="1154584"/>
                  </a:lnTo>
                  <a:lnTo>
                    <a:pt x="30987" y="1188212"/>
                  </a:lnTo>
                  <a:lnTo>
                    <a:pt x="64615" y="1210885"/>
                  </a:lnTo>
                  <a:lnTo>
                    <a:pt x="105790" y="1219200"/>
                  </a:lnTo>
                  <a:lnTo>
                    <a:pt x="951864" y="1219200"/>
                  </a:lnTo>
                  <a:lnTo>
                    <a:pt x="993040" y="1210885"/>
                  </a:lnTo>
                  <a:lnTo>
                    <a:pt x="1026668" y="1188212"/>
                  </a:lnTo>
                  <a:lnTo>
                    <a:pt x="1049341" y="1154584"/>
                  </a:lnTo>
                  <a:lnTo>
                    <a:pt x="1057655" y="1113408"/>
                  </a:lnTo>
                  <a:lnTo>
                    <a:pt x="1057655" y="105790"/>
                  </a:lnTo>
                  <a:lnTo>
                    <a:pt x="1049341" y="64615"/>
                  </a:lnTo>
                  <a:lnTo>
                    <a:pt x="1026667" y="30987"/>
                  </a:lnTo>
                  <a:lnTo>
                    <a:pt x="993040" y="8314"/>
                  </a:lnTo>
                  <a:lnTo>
                    <a:pt x="95186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04259" y="2971800"/>
              <a:ext cx="1057910" cy="1219200"/>
            </a:xfrm>
            <a:custGeom>
              <a:avLst/>
              <a:gdLst/>
              <a:ahLst/>
              <a:cxnLst/>
              <a:rect l="l" t="t" r="r" b="b"/>
              <a:pathLst>
                <a:path w="1057910" h="1219200">
                  <a:moveTo>
                    <a:pt x="0" y="105790"/>
                  </a:moveTo>
                  <a:lnTo>
                    <a:pt x="8314" y="64615"/>
                  </a:lnTo>
                  <a:lnTo>
                    <a:pt x="30987" y="30987"/>
                  </a:lnTo>
                  <a:lnTo>
                    <a:pt x="64615" y="8314"/>
                  </a:lnTo>
                  <a:lnTo>
                    <a:pt x="105790" y="0"/>
                  </a:lnTo>
                  <a:lnTo>
                    <a:pt x="951864" y="0"/>
                  </a:lnTo>
                  <a:lnTo>
                    <a:pt x="993040" y="8314"/>
                  </a:lnTo>
                  <a:lnTo>
                    <a:pt x="1026667" y="30987"/>
                  </a:lnTo>
                  <a:lnTo>
                    <a:pt x="1049341" y="64615"/>
                  </a:lnTo>
                  <a:lnTo>
                    <a:pt x="1057655" y="105790"/>
                  </a:lnTo>
                  <a:lnTo>
                    <a:pt x="1057655" y="1113408"/>
                  </a:lnTo>
                  <a:lnTo>
                    <a:pt x="1049341" y="1154584"/>
                  </a:lnTo>
                  <a:lnTo>
                    <a:pt x="1026668" y="1188212"/>
                  </a:lnTo>
                  <a:lnTo>
                    <a:pt x="993040" y="1210885"/>
                  </a:lnTo>
                  <a:lnTo>
                    <a:pt x="951864" y="1219200"/>
                  </a:lnTo>
                  <a:lnTo>
                    <a:pt x="105790" y="1219200"/>
                  </a:lnTo>
                  <a:lnTo>
                    <a:pt x="64615" y="1210885"/>
                  </a:lnTo>
                  <a:lnTo>
                    <a:pt x="30987" y="1188212"/>
                  </a:lnTo>
                  <a:lnTo>
                    <a:pt x="8314" y="1154584"/>
                  </a:lnTo>
                  <a:lnTo>
                    <a:pt x="0" y="1113408"/>
                  </a:lnTo>
                  <a:lnTo>
                    <a:pt x="0" y="10579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58361" y="3160902"/>
            <a:ext cx="949325" cy="7931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2384" marR="5080" indent="-20320">
              <a:lnSpc>
                <a:spcPts val="1730"/>
              </a:lnSpc>
              <a:spcBef>
                <a:spcPts val="310"/>
              </a:spcBef>
            </a:pP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Signalfluss-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orientierte</a:t>
            </a:r>
            <a:endParaRPr sz="16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450"/>
              </a:spcBef>
            </a:pP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Sprachen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94178" y="2924417"/>
            <a:ext cx="228600" cy="19621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spc="-65" dirty="0">
                <a:solidFill>
                  <a:srgbClr val="1F4E79"/>
                </a:solidFill>
                <a:latin typeface="Arial"/>
                <a:cs typeface="Arial"/>
              </a:rPr>
              <a:t>Modellierungssprachen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867655" y="1423416"/>
            <a:ext cx="1952625" cy="4215765"/>
          </a:xfrm>
          <a:custGeom>
            <a:avLst/>
            <a:gdLst/>
            <a:ahLst/>
            <a:cxnLst/>
            <a:rect l="l" t="t" r="r" b="b"/>
            <a:pathLst>
              <a:path w="1952625" h="4215765">
                <a:moveTo>
                  <a:pt x="1853692" y="0"/>
                </a:moveTo>
                <a:lnTo>
                  <a:pt x="98552" y="0"/>
                </a:lnTo>
                <a:lnTo>
                  <a:pt x="60168" y="7737"/>
                </a:lnTo>
                <a:lnTo>
                  <a:pt x="28844" y="28844"/>
                </a:lnTo>
                <a:lnTo>
                  <a:pt x="7737" y="60168"/>
                </a:lnTo>
                <a:lnTo>
                  <a:pt x="0" y="98551"/>
                </a:lnTo>
                <a:lnTo>
                  <a:pt x="0" y="4116832"/>
                </a:lnTo>
                <a:lnTo>
                  <a:pt x="7737" y="4155194"/>
                </a:lnTo>
                <a:lnTo>
                  <a:pt x="28844" y="4186520"/>
                </a:lnTo>
                <a:lnTo>
                  <a:pt x="60168" y="4207639"/>
                </a:lnTo>
                <a:lnTo>
                  <a:pt x="98552" y="4215384"/>
                </a:lnTo>
                <a:lnTo>
                  <a:pt x="1853692" y="4215384"/>
                </a:lnTo>
                <a:lnTo>
                  <a:pt x="1892075" y="4207639"/>
                </a:lnTo>
                <a:lnTo>
                  <a:pt x="1923399" y="4186520"/>
                </a:lnTo>
                <a:lnTo>
                  <a:pt x="1944506" y="4155194"/>
                </a:lnTo>
                <a:lnTo>
                  <a:pt x="1952244" y="4116832"/>
                </a:lnTo>
                <a:lnTo>
                  <a:pt x="1952244" y="98551"/>
                </a:lnTo>
                <a:lnTo>
                  <a:pt x="1944506" y="60168"/>
                </a:lnTo>
                <a:lnTo>
                  <a:pt x="1923399" y="28844"/>
                </a:lnTo>
                <a:lnTo>
                  <a:pt x="1892075" y="7737"/>
                </a:lnTo>
                <a:lnTo>
                  <a:pt x="1853692" y="0"/>
                </a:lnTo>
                <a:close/>
              </a:path>
            </a:pathLst>
          </a:custGeom>
          <a:solidFill>
            <a:srgbClr val="D2D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934839" y="1672285"/>
            <a:ext cx="1818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5" dirty="0">
                <a:latin typeface="Arial"/>
                <a:cs typeface="Arial"/>
              </a:rPr>
              <a:t>Implementierung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475478" y="2387854"/>
            <a:ext cx="1170940" cy="520700"/>
            <a:chOff x="5475478" y="2387854"/>
            <a:chExt cx="1170940" cy="520700"/>
          </a:xfrm>
        </p:grpSpPr>
        <p:sp>
          <p:nvSpPr>
            <p:cNvPr id="39" name="object 39"/>
            <p:cNvSpPr/>
            <p:nvPr/>
          </p:nvSpPr>
          <p:spPr>
            <a:xfrm>
              <a:off x="5481828" y="2394204"/>
              <a:ext cx="1158240" cy="508000"/>
            </a:xfrm>
            <a:custGeom>
              <a:avLst/>
              <a:gdLst/>
              <a:ahLst/>
              <a:cxnLst/>
              <a:rect l="l" t="t" r="r" b="b"/>
              <a:pathLst>
                <a:path w="1158240" h="508000">
                  <a:moveTo>
                    <a:pt x="1107440" y="0"/>
                  </a:moveTo>
                  <a:lnTo>
                    <a:pt x="50800" y="0"/>
                  </a:lnTo>
                  <a:lnTo>
                    <a:pt x="31021" y="3990"/>
                  </a:lnTo>
                  <a:lnTo>
                    <a:pt x="14874" y="14874"/>
                  </a:lnTo>
                  <a:lnTo>
                    <a:pt x="3990" y="31021"/>
                  </a:lnTo>
                  <a:lnTo>
                    <a:pt x="0" y="50800"/>
                  </a:lnTo>
                  <a:lnTo>
                    <a:pt x="0" y="456692"/>
                  </a:lnTo>
                  <a:lnTo>
                    <a:pt x="3990" y="476470"/>
                  </a:lnTo>
                  <a:lnTo>
                    <a:pt x="14874" y="492617"/>
                  </a:lnTo>
                  <a:lnTo>
                    <a:pt x="31021" y="503501"/>
                  </a:lnTo>
                  <a:lnTo>
                    <a:pt x="50800" y="507492"/>
                  </a:lnTo>
                  <a:lnTo>
                    <a:pt x="1107440" y="507492"/>
                  </a:lnTo>
                  <a:lnTo>
                    <a:pt x="1127218" y="503501"/>
                  </a:lnTo>
                  <a:lnTo>
                    <a:pt x="1143365" y="492617"/>
                  </a:lnTo>
                  <a:lnTo>
                    <a:pt x="1154249" y="476470"/>
                  </a:lnTo>
                  <a:lnTo>
                    <a:pt x="1158240" y="456692"/>
                  </a:lnTo>
                  <a:lnTo>
                    <a:pt x="1158240" y="50800"/>
                  </a:lnTo>
                  <a:lnTo>
                    <a:pt x="1154249" y="31021"/>
                  </a:lnTo>
                  <a:lnTo>
                    <a:pt x="1143365" y="14874"/>
                  </a:lnTo>
                  <a:lnTo>
                    <a:pt x="1127218" y="3990"/>
                  </a:lnTo>
                  <a:lnTo>
                    <a:pt x="110744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481828" y="2394204"/>
              <a:ext cx="1158240" cy="508000"/>
            </a:xfrm>
            <a:custGeom>
              <a:avLst/>
              <a:gdLst/>
              <a:ahLst/>
              <a:cxnLst/>
              <a:rect l="l" t="t" r="r" b="b"/>
              <a:pathLst>
                <a:path w="1158240" h="508000">
                  <a:moveTo>
                    <a:pt x="0" y="50800"/>
                  </a:moveTo>
                  <a:lnTo>
                    <a:pt x="3990" y="31021"/>
                  </a:lnTo>
                  <a:lnTo>
                    <a:pt x="14874" y="14874"/>
                  </a:lnTo>
                  <a:lnTo>
                    <a:pt x="31021" y="3990"/>
                  </a:lnTo>
                  <a:lnTo>
                    <a:pt x="50800" y="0"/>
                  </a:lnTo>
                  <a:lnTo>
                    <a:pt x="1107440" y="0"/>
                  </a:lnTo>
                  <a:lnTo>
                    <a:pt x="1127218" y="3990"/>
                  </a:lnTo>
                  <a:lnTo>
                    <a:pt x="1143365" y="14874"/>
                  </a:lnTo>
                  <a:lnTo>
                    <a:pt x="1154249" y="31021"/>
                  </a:lnTo>
                  <a:lnTo>
                    <a:pt x="1158240" y="50800"/>
                  </a:lnTo>
                  <a:lnTo>
                    <a:pt x="1158240" y="456692"/>
                  </a:lnTo>
                  <a:lnTo>
                    <a:pt x="1154249" y="476470"/>
                  </a:lnTo>
                  <a:lnTo>
                    <a:pt x="1143365" y="492617"/>
                  </a:lnTo>
                  <a:lnTo>
                    <a:pt x="1127218" y="503501"/>
                  </a:lnTo>
                  <a:lnTo>
                    <a:pt x="1107440" y="507492"/>
                  </a:lnTo>
                  <a:lnTo>
                    <a:pt x="50800" y="507492"/>
                  </a:lnTo>
                  <a:lnTo>
                    <a:pt x="31021" y="503501"/>
                  </a:lnTo>
                  <a:lnTo>
                    <a:pt x="14874" y="492617"/>
                  </a:lnTo>
                  <a:lnTo>
                    <a:pt x="3990" y="476470"/>
                  </a:lnTo>
                  <a:lnTo>
                    <a:pt x="0" y="456692"/>
                  </a:lnTo>
                  <a:lnTo>
                    <a:pt x="0" y="5080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490173" y="2483865"/>
            <a:ext cx="1141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Ada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012182" y="4276090"/>
            <a:ext cx="1660525" cy="889000"/>
            <a:chOff x="5012182" y="4276090"/>
            <a:chExt cx="1660525" cy="889000"/>
          </a:xfrm>
        </p:grpSpPr>
        <p:sp>
          <p:nvSpPr>
            <p:cNvPr id="43" name="object 43"/>
            <p:cNvSpPr/>
            <p:nvPr/>
          </p:nvSpPr>
          <p:spPr>
            <a:xfrm>
              <a:off x="5018532" y="4282440"/>
              <a:ext cx="1647825" cy="876300"/>
            </a:xfrm>
            <a:custGeom>
              <a:avLst/>
              <a:gdLst/>
              <a:ahLst/>
              <a:cxnLst/>
              <a:rect l="l" t="t" r="r" b="b"/>
              <a:pathLst>
                <a:path w="1647825" h="876300">
                  <a:moveTo>
                    <a:pt x="1559814" y="0"/>
                  </a:moveTo>
                  <a:lnTo>
                    <a:pt x="87629" y="0"/>
                  </a:lnTo>
                  <a:lnTo>
                    <a:pt x="53524" y="6887"/>
                  </a:lnTo>
                  <a:lnTo>
                    <a:pt x="25669" y="25669"/>
                  </a:lnTo>
                  <a:lnTo>
                    <a:pt x="6887" y="53524"/>
                  </a:lnTo>
                  <a:lnTo>
                    <a:pt x="0" y="87630"/>
                  </a:lnTo>
                  <a:lnTo>
                    <a:pt x="0" y="788670"/>
                  </a:lnTo>
                  <a:lnTo>
                    <a:pt x="6887" y="822775"/>
                  </a:lnTo>
                  <a:lnTo>
                    <a:pt x="25669" y="850630"/>
                  </a:lnTo>
                  <a:lnTo>
                    <a:pt x="53524" y="869412"/>
                  </a:lnTo>
                  <a:lnTo>
                    <a:pt x="87629" y="876300"/>
                  </a:lnTo>
                  <a:lnTo>
                    <a:pt x="1559814" y="876300"/>
                  </a:lnTo>
                  <a:lnTo>
                    <a:pt x="1593919" y="869412"/>
                  </a:lnTo>
                  <a:lnTo>
                    <a:pt x="1621774" y="850630"/>
                  </a:lnTo>
                  <a:lnTo>
                    <a:pt x="1640556" y="822775"/>
                  </a:lnTo>
                  <a:lnTo>
                    <a:pt x="1647443" y="788670"/>
                  </a:lnTo>
                  <a:lnTo>
                    <a:pt x="1647443" y="87630"/>
                  </a:lnTo>
                  <a:lnTo>
                    <a:pt x="1640556" y="53524"/>
                  </a:lnTo>
                  <a:lnTo>
                    <a:pt x="1621774" y="25669"/>
                  </a:lnTo>
                  <a:lnTo>
                    <a:pt x="1593919" y="6887"/>
                  </a:lnTo>
                  <a:lnTo>
                    <a:pt x="155981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018532" y="4282440"/>
              <a:ext cx="1647825" cy="876300"/>
            </a:xfrm>
            <a:custGeom>
              <a:avLst/>
              <a:gdLst/>
              <a:ahLst/>
              <a:cxnLst/>
              <a:rect l="l" t="t" r="r" b="b"/>
              <a:pathLst>
                <a:path w="1647825" h="876300">
                  <a:moveTo>
                    <a:pt x="0" y="87630"/>
                  </a:moveTo>
                  <a:lnTo>
                    <a:pt x="6887" y="53524"/>
                  </a:lnTo>
                  <a:lnTo>
                    <a:pt x="25669" y="25669"/>
                  </a:lnTo>
                  <a:lnTo>
                    <a:pt x="53524" y="6887"/>
                  </a:lnTo>
                  <a:lnTo>
                    <a:pt x="87629" y="0"/>
                  </a:lnTo>
                  <a:lnTo>
                    <a:pt x="1559814" y="0"/>
                  </a:lnTo>
                  <a:lnTo>
                    <a:pt x="1593919" y="6887"/>
                  </a:lnTo>
                  <a:lnTo>
                    <a:pt x="1621774" y="25669"/>
                  </a:lnTo>
                  <a:lnTo>
                    <a:pt x="1640556" y="53524"/>
                  </a:lnTo>
                  <a:lnTo>
                    <a:pt x="1647443" y="87630"/>
                  </a:lnTo>
                  <a:lnTo>
                    <a:pt x="1647443" y="788670"/>
                  </a:lnTo>
                  <a:lnTo>
                    <a:pt x="1640556" y="822775"/>
                  </a:lnTo>
                  <a:lnTo>
                    <a:pt x="1621774" y="850630"/>
                  </a:lnTo>
                  <a:lnTo>
                    <a:pt x="1593919" y="869412"/>
                  </a:lnTo>
                  <a:lnTo>
                    <a:pt x="1559814" y="876300"/>
                  </a:lnTo>
                  <a:lnTo>
                    <a:pt x="87629" y="876300"/>
                  </a:lnTo>
                  <a:lnTo>
                    <a:pt x="53524" y="869412"/>
                  </a:lnTo>
                  <a:lnTo>
                    <a:pt x="25669" y="850630"/>
                  </a:lnTo>
                  <a:lnTo>
                    <a:pt x="6887" y="822775"/>
                  </a:lnTo>
                  <a:lnTo>
                    <a:pt x="0" y="788670"/>
                  </a:lnTo>
                  <a:lnTo>
                    <a:pt x="0" y="8763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474589" y="4404486"/>
            <a:ext cx="735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Echtzeit-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154548" y="4709286"/>
            <a:ext cx="1375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betriebssysteme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908292" y="1423416"/>
            <a:ext cx="1321435" cy="4215765"/>
          </a:xfrm>
          <a:custGeom>
            <a:avLst/>
            <a:gdLst/>
            <a:ahLst/>
            <a:cxnLst/>
            <a:rect l="l" t="t" r="r" b="b"/>
            <a:pathLst>
              <a:path w="1321434" h="4215765">
                <a:moveTo>
                  <a:pt x="1189227" y="0"/>
                </a:moveTo>
                <a:lnTo>
                  <a:pt x="132079" y="0"/>
                </a:lnTo>
                <a:lnTo>
                  <a:pt x="90350" y="6738"/>
                </a:lnTo>
                <a:lnTo>
                  <a:pt x="54095" y="25497"/>
                </a:lnTo>
                <a:lnTo>
                  <a:pt x="25497" y="54095"/>
                </a:lnTo>
                <a:lnTo>
                  <a:pt x="6738" y="90350"/>
                </a:lnTo>
                <a:lnTo>
                  <a:pt x="0" y="132080"/>
                </a:lnTo>
                <a:lnTo>
                  <a:pt x="0" y="4083304"/>
                </a:lnTo>
                <a:lnTo>
                  <a:pt x="6738" y="4125033"/>
                </a:lnTo>
                <a:lnTo>
                  <a:pt x="25497" y="4161288"/>
                </a:lnTo>
                <a:lnTo>
                  <a:pt x="54095" y="4189886"/>
                </a:lnTo>
                <a:lnTo>
                  <a:pt x="90350" y="4208645"/>
                </a:lnTo>
                <a:lnTo>
                  <a:pt x="132079" y="4215384"/>
                </a:lnTo>
                <a:lnTo>
                  <a:pt x="1189227" y="4215384"/>
                </a:lnTo>
                <a:lnTo>
                  <a:pt x="1230957" y="4208645"/>
                </a:lnTo>
                <a:lnTo>
                  <a:pt x="1267212" y="4189886"/>
                </a:lnTo>
                <a:lnTo>
                  <a:pt x="1295810" y="4161288"/>
                </a:lnTo>
                <a:lnTo>
                  <a:pt x="1314569" y="4125033"/>
                </a:lnTo>
                <a:lnTo>
                  <a:pt x="1321307" y="4083304"/>
                </a:lnTo>
                <a:lnTo>
                  <a:pt x="1321307" y="132080"/>
                </a:lnTo>
                <a:lnTo>
                  <a:pt x="1314569" y="90350"/>
                </a:lnTo>
                <a:lnTo>
                  <a:pt x="1295810" y="54095"/>
                </a:lnTo>
                <a:lnTo>
                  <a:pt x="1267212" y="25497"/>
                </a:lnTo>
                <a:lnTo>
                  <a:pt x="1230957" y="6738"/>
                </a:lnTo>
                <a:lnTo>
                  <a:pt x="1189227" y="0"/>
                </a:lnTo>
                <a:close/>
              </a:path>
            </a:pathLst>
          </a:custGeom>
          <a:solidFill>
            <a:srgbClr val="D2D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025131" y="1444244"/>
            <a:ext cx="1087755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635" algn="ctr">
              <a:lnSpc>
                <a:spcPts val="1939"/>
              </a:lnSpc>
              <a:spcBef>
                <a:spcPts val="345"/>
              </a:spcBef>
            </a:pPr>
            <a:r>
              <a:rPr sz="1800" spc="-70" dirty="0">
                <a:latin typeface="Arial"/>
                <a:cs typeface="Arial"/>
              </a:rPr>
              <a:t>Validierung </a:t>
            </a:r>
            <a:r>
              <a:rPr sz="1800" spc="-25" dirty="0">
                <a:latin typeface="Arial"/>
                <a:cs typeface="Arial"/>
              </a:rPr>
              <a:t>und </a:t>
            </a:r>
            <a:r>
              <a:rPr sz="1800" spc="-55" dirty="0">
                <a:latin typeface="Arial"/>
                <a:cs typeface="Arial"/>
              </a:rPr>
              <a:t>Verifikation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029957" y="3436365"/>
            <a:ext cx="1069340" cy="817880"/>
            <a:chOff x="7029957" y="3436365"/>
            <a:chExt cx="1069340" cy="817880"/>
          </a:xfrm>
        </p:grpSpPr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6307" y="3442715"/>
              <a:ext cx="1056132" cy="804672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036307" y="3442715"/>
              <a:ext cx="1056640" cy="805180"/>
            </a:xfrm>
            <a:custGeom>
              <a:avLst/>
              <a:gdLst/>
              <a:ahLst/>
              <a:cxnLst/>
              <a:rect l="l" t="t" r="r" b="b"/>
              <a:pathLst>
                <a:path w="1056640" h="805179">
                  <a:moveTo>
                    <a:pt x="0" y="80518"/>
                  </a:moveTo>
                  <a:lnTo>
                    <a:pt x="6330" y="49184"/>
                  </a:lnTo>
                  <a:lnTo>
                    <a:pt x="23590" y="23590"/>
                  </a:lnTo>
                  <a:lnTo>
                    <a:pt x="49184" y="6330"/>
                  </a:lnTo>
                  <a:lnTo>
                    <a:pt x="80518" y="0"/>
                  </a:lnTo>
                  <a:lnTo>
                    <a:pt x="975614" y="0"/>
                  </a:lnTo>
                  <a:lnTo>
                    <a:pt x="1006947" y="6330"/>
                  </a:lnTo>
                  <a:lnTo>
                    <a:pt x="1032541" y="23590"/>
                  </a:lnTo>
                  <a:lnTo>
                    <a:pt x="1049801" y="49184"/>
                  </a:lnTo>
                  <a:lnTo>
                    <a:pt x="1056132" y="80518"/>
                  </a:lnTo>
                  <a:lnTo>
                    <a:pt x="1056132" y="724154"/>
                  </a:lnTo>
                  <a:lnTo>
                    <a:pt x="1049801" y="755487"/>
                  </a:lnTo>
                  <a:lnTo>
                    <a:pt x="1032541" y="781081"/>
                  </a:lnTo>
                  <a:lnTo>
                    <a:pt x="1006947" y="798341"/>
                  </a:lnTo>
                  <a:lnTo>
                    <a:pt x="975614" y="804672"/>
                  </a:lnTo>
                  <a:lnTo>
                    <a:pt x="80518" y="804672"/>
                  </a:lnTo>
                  <a:lnTo>
                    <a:pt x="49184" y="798341"/>
                  </a:lnTo>
                  <a:lnTo>
                    <a:pt x="23590" y="781081"/>
                  </a:lnTo>
                  <a:lnTo>
                    <a:pt x="6330" y="755487"/>
                  </a:lnTo>
                  <a:lnTo>
                    <a:pt x="0" y="724154"/>
                  </a:lnTo>
                  <a:lnTo>
                    <a:pt x="0" y="8051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112634" y="3686936"/>
            <a:ext cx="9061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5" dirty="0">
                <a:solidFill>
                  <a:srgbClr val="FFFFFF"/>
                </a:solidFill>
                <a:latin typeface="Arial"/>
                <a:cs typeface="Arial"/>
              </a:rPr>
              <a:t>Simulation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61162" y="2233929"/>
            <a:ext cx="1314450" cy="622300"/>
            <a:chOff x="661162" y="2233929"/>
            <a:chExt cx="1314450" cy="622300"/>
          </a:xfrm>
        </p:grpSpPr>
        <p:sp>
          <p:nvSpPr>
            <p:cNvPr id="54" name="object 54"/>
            <p:cNvSpPr/>
            <p:nvPr/>
          </p:nvSpPr>
          <p:spPr>
            <a:xfrm>
              <a:off x="667512" y="2240279"/>
              <a:ext cx="1301750" cy="609600"/>
            </a:xfrm>
            <a:custGeom>
              <a:avLst/>
              <a:gdLst/>
              <a:ahLst/>
              <a:cxnLst/>
              <a:rect l="l" t="t" r="r" b="b"/>
              <a:pathLst>
                <a:path w="1301750" h="609600">
                  <a:moveTo>
                    <a:pt x="1240536" y="0"/>
                  </a:moveTo>
                  <a:lnTo>
                    <a:pt x="60959" y="0"/>
                  </a:lnTo>
                  <a:lnTo>
                    <a:pt x="37231" y="4792"/>
                  </a:lnTo>
                  <a:lnTo>
                    <a:pt x="17854" y="17859"/>
                  </a:lnTo>
                  <a:lnTo>
                    <a:pt x="4790" y="37236"/>
                  </a:lnTo>
                  <a:lnTo>
                    <a:pt x="0" y="60960"/>
                  </a:lnTo>
                  <a:lnTo>
                    <a:pt x="0" y="548640"/>
                  </a:lnTo>
                  <a:lnTo>
                    <a:pt x="4790" y="572363"/>
                  </a:lnTo>
                  <a:lnTo>
                    <a:pt x="17854" y="591740"/>
                  </a:lnTo>
                  <a:lnTo>
                    <a:pt x="37231" y="604807"/>
                  </a:lnTo>
                  <a:lnTo>
                    <a:pt x="60959" y="609600"/>
                  </a:lnTo>
                  <a:lnTo>
                    <a:pt x="1240536" y="609600"/>
                  </a:lnTo>
                  <a:lnTo>
                    <a:pt x="1264259" y="604807"/>
                  </a:lnTo>
                  <a:lnTo>
                    <a:pt x="1283636" y="591740"/>
                  </a:lnTo>
                  <a:lnTo>
                    <a:pt x="1296703" y="572363"/>
                  </a:lnTo>
                  <a:lnTo>
                    <a:pt x="1301495" y="548640"/>
                  </a:lnTo>
                  <a:lnTo>
                    <a:pt x="1301495" y="60960"/>
                  </a:lnTo>
                  <a:lnTo>
                    <a:pt x="1296703" y="37236"/>
                  </a:lnTo>
                  <a:lnTo>
                    <a:pt x="1283636" y="17859"/>
                  </a:lnTo>
                  <a:lnTo>
                    <a:pt x="1264259" y="4792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67512" y="2240279"/>
              <a:ext cx="1301750" cy="609600"/>
            </a:xfrm>
            <a:custGeom>
              <a:avLst/>
              <a:gdLst/>
              <a:ahLst/>
              <a:cxnLst/>
              <a:rect l="l" t="t" r="r" b="b"/>
              <a:pathLst>
                <a:path w="1301750" h="609600">
                  <a:moveTo>
                    <a:pt x="0" y="60960"/>
                  </a:move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59" y="0"/>
                  </a:lnTo>
                  <a:lnTo>
                    <a:pt x="1240536" y="0"/>
                  </a:lnTo>
                  <a:lnTo>
                    <a:pt x="1264259" y="4792"/>
                  </a:lnTo>
                  <a:lnTo>
                    <a:pt x="1283636" y="17859"/>
                  </a:lnTo>
                  <a:lnTo>
                    <a:pt x="1296703" y="37236"/>
                  </a:lnTo>
                  <a:lnTo>
                    <a:pt x="1301495" y="60960"/>
                  </a:lnTo>
                  <a:lnTo>
                    <a:pt x="1301495" y="548640"/>
                  </a:lnTo>
                  <a:lnTo>
                    <a:pt x="1296703" y="572363"/>
                  </a:lnTo>
                  <a:lnTo>
                    <a:pt x="1283636" y="591740"/>
                  </a:lnTo>
                  <a:lnTo>
                    <a:pt x="1264259" y="604807"/>
                  </a:lnTo>
                  <a:lnTo>
                    <a:pt x="1240536" y="609600"/>
                  </a:lnTo>
                  <a:lnTo>
                    <a:pt x="60959" y="609600"/>
                  </a:lnTo>
                  <a:lnTo>
                    <a:pt x="37231" y="604807"/>
                  </a:lnTo>
                  <a:lnTo>
                    <a:pt x="17854" y="591740"/>
                  </a:lnTo>
                  <a:lnTo>
                    <a:pt x="4790" y="572363"/>
                  </a:lnTo>
                  <a:lnTo>
                    <a:pt x="0" y="548640"/>
                  </a:lnTo>
                  <a:lnTo>
                    <a:pt x="0" y="609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77951" y="2277236"/>
            <a:ext cx="107950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95580" marR="5080" indent="-182880">
              <a:lnSpc>
                <a:spcPts val="1730"/>
              </a:lnSpc>
              <a:spcBef>
                <a:spcPts val="310"/>
              </a:spcBef>
            </a:pP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Eingebettete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Systeme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45591" y="5725667"/>
            <a:ext cx="3794760" cy="376555"/>
          </a:xfrm>
          <a:custGeom>
            <a:avLst/>
            <a:gdLst/>
            <a:ahLst/>
            <a:cxnLst/>
            <a:rect l="l" t="t" r="r" b="b"/>
            <a:pathLst>
              <a:path w="3794760" h="376554">
                <a:moveTo>
                  <a:pt x="3757168" y="0"/>
                </a:moveTo>
                <a:lnTo>
                  <a:pt x="37642" y="0"/>
                </a:lnTo>
                <a:lnTo>
                  <a:pt x="22990" y="2958"/>
                </a:lnTo>
                <a:lnTo>
                  <a:pt x="11025" y="11025"/>
                </a:lnTo>
                <a:lnTo>
                  <a:pt x="2958" y="22990"/>
                </a:lnTo>
                <a:lnTo>
                  <a:pt x="0" y="37642"/>
                </a:lnTo>
                <a:lnTo>
                  <a:pt x="0" y="338785"/>
                </a:lnTo>
                <a:lnTo>
                  <a:pt x="2958" y="353437"/>
                </a:lnTo>
                <a:lnTo>
                  <a:pt x="11025" y="365402"/>
                </a:lnTo>
                <a:lnTo>
                  <a:pt x="22990" y="373469"/>
                </a:lnTo>
                <a:lnTo>
                  <a:pt x="37642" y="376427"/>
                </a:lnTo>
                <a:lnTo>
                  <a:pt x="3757168" y="376427"/>
                </a:lnTo>
                <a:lnTo>
                  <a:pt x="3771774" y="373469"/>
                </a:lnTo>
                <a:lnTo>
                  <a:pt x="3783726" y="365402"/>
                </a:lnTo>
                <a:lnTo>
                  <a:pt x="3791797" y="353437"/>
                </a:lnTo>
                <a:lnTo>
                  <a:pt x="3794760" y="338785"/>
                </a:lnTo>
                <a:lnTo>
                  <a:pt x="3794760" y="37642"/>
                </a:lnTo>
                <a:lnTo>
                  <a:pt x="3791797" y="22990"/>
                </a:lnTo>
                <a:lnTo>
                  <a:pt x="3783726" y="11025"/>
                </a:lnTo>
                <a:lnTo>
                  <a:pt x="3771774" y="2958"/>
                </a:lnTo>
                <a:lnTo>
                  <a:pt x="375716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997711" y="5718149"/>
            <a:ext cx="28898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Schwerpunkte/Vorlesungen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358765" y="5738571"/>
            <a:ext cx="1851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Zusätzliche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Aspekte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3" name="object 6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9735" y="2382011"/>
            <a:ext cx="2197608" cy="434339"/>
          </a:xfrm>
          <a:prstGeom prst="rect">
            <a:avLst/>
          </a:prstGeom>
        </p:spPr>
      </p:pic>
      <p:sp>
        <p:nvSpPr>
          <p:cNvPr id="64" name="object 64"/>
          <p:cNvSpPr/>
          <p:nvPr/>
        </p:nvSpPr>
        <p:spPr>
          <a:xfrm>
            <a:off x="2459735" y="2382011"/>
            <a:ext cx="2197735" cy="434340"/>
          </a:xfrm>
          <a:custGeom>
            <a:avLst/>
            <a:gdLst/>
            <a:ahLst/>
            <a:cxnLst/>
            <a:rect l="l" t="t" r="r" b="b"/>
            <a:pathLst>
              <a:path w="2197735" h="434339">
                <a:moveTo>
                  <a:pt x="0" y="43434"/>
                </a:moveTo>
                <a:lnTo>
                  <a:pt x="3411" y="26521"/>
                </a:lnTo>
                <a:lnTo>
                  <a:pt x="12715" y="12715"/>
                </a:lnTo>
                <a:lnTo>
                  <a:pt x="26521" y="3411"/>
                </a:lnTo>
                <a:lnTo>
                  <a:pt x="43433" y="0"/>
                </a:lnTo>
                <a:lnTo>
                  <a:pt x="2154174" y="0"/>
                </a:lnTo>
                <a:lnTo>
                  <a:pt x="2171086" y="3411"/>
                </a:lnTo>
                <a:lnTo>
                  <a:pt x="2184892" y="12715"/>
                </a:lnTo>
                <a:lnTo>
                  <a:pt x="2194196" y="26521"/>
                </a:lnTo>
                <a:lnTo>
                  <a:pt x="2197608" y="43434"/>
                </a:lnTo>
                <a:lnTo>
                  <a:pt x="2197608" y="390905"/>
                </a:lnTo>
                <a:lnTo>
                  <a:pt x="2194196" y="407818"/>
                </a:lnTo>
                <a:lnTo>
                  <a:pt x="2184892" y="421624"/>
                </a:lnTo>
                <a:lnTo>
                  <a:pt x="2171086" y="430928"/>
                </a:lnTo>
                <a:lnTo>
                  <a:pt x="2154174" y="434339"/>
                </a:lnTo>
                <a:lnTo>
                  <a:pt x="43433" y="434339"/>
                </a:lnTo>
                <a:lnTo>
                  <a:pt x="26521" y="430928"/>
                </a:lnTo>
                <a:lnTo>
                  <a:pt x="12715" y="421624"/>
                </a:lnTo>
                <a:lnTo>
                  <a:pt x="3411" y="407818"/>
                </a:lnTo>
                <a:lnTo>
                  <a:pt x="0" y="390905"/>
                </a:lnTo>
                <a:lnTo>
                  <a:pt x="0" y="43434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2978276" y="2330957"/>
            <a:ext cx="1162685" cy="48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spc="-45" dirty="0">
                <a:solidFill>
                  <a:srgbClr val="FFFFFF"/>
                </a:solidFill>
                <a:latin typeface="Arial"/>
                <a:cs typeface="Arial"/>
              </a:rPr>
              <a:t>Model-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Driven</a:t>
            </a:r>
            <a:endParaRPr sz="1600">
              <a:latin typeface="Arial"/>
              <a:cs typeface="Arial"/>
            </a:endParaRPr>
          </a:p>
          <a:p>
            <a:pPr marL="91440">
              <a:lnSpc>
                <a:spcPts val="1825"/>
              </a:lnSpc>
            </a:pP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7036054" y="4522978"/>
            <a:ext cx="1069340" cy="819150"/>
            <a:chOff x="7036054" y="4522978"/>
            <a:chExt cx="1069340" cy="819150"/>
          </a:xfrm>
        </p:grpSpPr>
        <p:sp>
          <p:nvSpPr>
            <p:cNvPr id="67" name="object 67"/>
            <p:cNvSpPr/>
            <p:nvPr/>
          </p:nvSpPr>
          <p:spPr>
            <a:xfrm>
              <a:off x="7042404" y="4529328"/>
              <a:ext cx="1056640" cy="806450"/>
            </a:xfrm>
            <a:custGeom>
              <a:avLst/>
              <a:gdLst/>
              <a:ahLst/>
              <a:cxnLst/>
              <a:rect l="l" t="t" r="r" b="b"/>
              <a:pathLst>
                <a:path w="1056640" h="806450">
                  <a:moveTo>
                    <a:pt x="975487" y="0"/>
                  </a:moveTo>
                  <a:lnTo>
                    <a:pt x="80645" y="0"/>
                  </a:lnTo>
                  <a:lnTo>
                    <a:pt x="49238" y="6332"/>
                  </a:lnTo>
                  <a:lnTo>
                    <a:pt x="23606" y="23606"/>
                  </a:lnTo>
                  <a:lnTo>
                    <a:pt x="6332" y="49238"/>
                  </a:lnTo>
                  <a:lnTo>
                    <a:pt x="0" y="80645"/>
                  </a:lnTo>
                  <a:lnTo>
                    <a:pt x="0" y="725551"/>
                  </a:lnTo>
                  <a:lnTo>
                    <a:pt x="6332" y="756957"/>
                  </a:lnTo>
                  <a:lnTo>
                    <a:pt x="23606" y="782589"/>
                  </a:lnTo>
                  <a:lnTo>
                    <a:pt x="49238" y="799863"/>
                  </a:lnTo>
                  <a:lnTo>
                    <a:pt x="80645" y="806196"/>
                  </a:lnTo>
                  <a:lnTo>
                    <a:pt x="975487" y="806196"/>
                  </a:lnTo>
                  <a:lnTo>
                    <a:pt x="1006893" y="799863"/>
                  </a:lnTo>
                  <a:lnTo>
                    <a:pt x="1032525" y="782589"/>
                  </a:lnTo>
                  <a:lnTo>
                    <a:pt x="1049799" y="756957"/>
                  </a:lnTo>
                  <a:lnTo>
                    <a:pt x="1056131" y="725551"/>
                  </a:lnTo>
                  <a:lnTo>
                    <a:pt x="1056131" y="80645"/>
                  </a:lnTo>
                  <a:lnTo>
                    <a:pt x="1049799" y="49238"/>
                  </a:lnTo>
                  <a:lnTo>
                    <a:pt x="1032525" y="23606"/>
                  </a:lnTo>
                  <a:lnTo>
                    <a:pt x="1006893" y="6332"/>
                  </a:lnTo>
                  <a:lnTo>
                    <a:pt x="97548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042404" y="4529328"/>
              <a:ext cx="1056640" cy="806450"/>
            </a:xfrm>
            <a:custGeom>
              <a:avLst/>
              <a:gdLst/>
              <a:ahLst/>
              <a:cxnLst/>
              <a:rect l="l" t="t" r="r" b="b"/>
              <a:pathLst>
                <a:path w="1056640" h="806450">
                  <a:moveTo>
                    <a:pt x="0" y="80645"/>
                  </a:moveTo>
                  <a:lnTo>
                    <a:pt x="6332" y="49238"/>
                  </a:lnTo>
                  <a:lnTo>
                    <a:pt x="23606" y="23606"/>
                  </a:lnTo>
                  <a:lnTo>
                    <a:pt x="49238" y="6332"/>
                  </a:lnTo>
                  <a:lnTo>
                    <a:pt x="80645" y="0"/>
                  </a:lnTo>
                  <a:lnTo>
                    <a:pt x="975487" y="0"/>
                  </a:lnTo>
                  <a:lnTo>
                    <a:pt x="1006893" y="6332"/>
                  </a:lnTo>
                  <a:lnTo>
                    <a:pt x="1032525" y="23606"/>
                  </a:lnTo>
                  <a:lnTo>
                    <a:pt x="1049799" y="49238"/>
                  </a:lnTo>
                  <a:lnTo>
                    <a:pt x="1056131" y="80645"/>
                  </a:lnTo>
                  <a:lnTo>
                    <a:pt x="1056131" y="725551"/>
                  </a:lnTo>
                  <a:lnTo>
                    <a:pt x="1049799" y="756957"/>
                  </a:lnTo>
                  <a:lnTo>
                    <a:pt x="1032525" y="782589"/>
                  </a:lnTo>
                  <a:lnTo>
                    <a:pt x="1006893" y="799863"/>
                  </a:lnTo>
                  <a:lnTo>
                    <a:pt x="975487" y="806196"/>
                  </a:lnTo>
                  <a:lnTo>
                    <a:pt x="80645" y="806196"/>
                  </a:lnTo>
                  <a:lnTo>
                    <a:pt x="49238" y="799863"/>
                  </a:lnTo>
                  <a:lnTo>
                    <a:pt x="23606" y="782589"/>
                  </a:lnTo>
                  <a:lnTo>
                    <a:pt x="6332" y="756957"/>
                  </a:lnTo>
                  <a:lnTo>
                    <a:pt x="0" y="725551"/>
                  </a:lnTo>
                  <a:lnTo>
                    <a:pt x="0" y="806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085456" y="4786376"/>
            <a:ext cx="9690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Verifikation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7029957" y="2369566"/>
            <a:ext cx="1069340" cy="819150"/>
            <a:chOff x="7029957" y="2369566"/>
            <a:chExt cx="1069340" cy="819150"/>
          </a:xfrm>
        </p:grpSpPr>
        <p:sp>
          <p:nvSpPr>
            <p:cNvPr id="71" name="object 71"/>
            <p:cNvSpPr/>
            <p:nvPr/>
          </p:nvSpPr>
          <p:spPr>
            <a:xfrm>
              <a:off x="7036307" y="2375916"/>
              <a:ext cx="1056640" cy="806450"/>
            </a:xfrm>
            <a:custGeom>
              <a:avLst/>
              <a:gdLst/>
              <a:ahLst/>
              <a:cxnLst/>
              <a:rect l="l" t="t" r="r" b="b"/>
              <a:pathLst>
                <a:path w="1056640" h="806450">
                  <a:moveTo>
                    <a:pt x="975487" y="0"/>
                  </a:moveTo>
                  <a:lnTo>
                    <a:pt x="80645" y="0"/>
                  </a:lnTo>
                  <a:lnTo>
                    <a:pt x="49238" y="6332"/>
                  </a:lnTo>
                  <a:lnTo>
                    <a:pt x="23606" y="23606"/>
                  </a:lnTo>
                  <a:lnTo>
                    <a:pt x="6332" y="49238"/>
                  </a:lnTo>
                  <a:lnTo>
                    <a:pt x="0" y="80645"/>
                  </a:lnTo>
                  <a:lnTo>
                    <a:pt x="0" y="725551"/>
                  </a:lnTo>
                  <a:lnTo>
                    <a:pt x="6332" y="756957"/>
                  </a:lnTo>
                  <a:lnTo>
                    <a:pt x="23606" y="782589"/>
                  </a:lnTo>
                  <a:lnTo>
                    <a:pt x="49238" y="799863"/>
                  </a:lnTo>
                  <a:lnTo>
                    <a:pt x="80645" y="806196"/>
                  </a:lnTo>
                  <a:lnTo>
                    <a:pt x="975487" y="806196"/>
                  </a:lnTo>
                  <a:lnTo>
                    <a:pt x="1006893" y="799863"/>
                  </a:lnTo>
                  <a:lnTo>
                    <a:pt x="1032525" y="782589"/>
                  </a:lnTo>
                  <a:lnTo>
                    <a:pt x="1049799" y="756957"/>
                  </a:lnTo>
                  <a:lnTo>
                    <a:pt x="1056132" y="725551"/>
                  </a:lnTo>
                  <a:lnTo>
                    <a:pt x="1056132" y="80645"/>
                  </a:lnTo>
                  <a:lnTo>
                    <a:pt x="1049799" y="49238"/>
                  </a:lnTo>
                  <a:lnTo>
                    <a:pt x="1032525" y="23606"/>
                  </a:lnTo>
                  <a:lnTo>
                    <a:pt x="1006893" y="6332"/>
                  </a:lnTo>
                  <a:lnTo>
                    <a:pt x="97548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036307" y="2375916"/>
              <a:ext cx="1056640" cy="806450"/>
            </a:xfrm>
            <a:custGeom>
              <a:avLst/>
              <a:gdLst/>
              <a:ahLst/>
              <a:cxnLst/>
              <a:rect l="l" t="t" r="r" b="b"/>
              <a:pathLst>
                <a:path w="1056640" h="806450">
                  <a:moveTo>
                    <a:pt x="0" y="80645"/>
                  </a:moveTo>
                  <a:lnTo>
                    <a:pt x="6332" y="49238"/>
                  </a:lnTo>
                  <a:lnTo>
                    <a:pt x="23606" y="23606"/>
                  </a:lnTo>
                  <a:lnTo>
                    <a:pt x="49238" y="6332"/>
                  </a:lnTo>
                  <a:lnTo>
                    <a:pt x="80645" y="0"/>
                  </a:lnTo>
                  <a:lnTo>
                    <a:pt x="975487" y="0"/>
                  </a:lnTo>
                  <a:lnTo>
                    <a:pt x="1006893" y="6332"/>
                  </a:lnTo>
                  <a:lnTo>
                    <a:pt x="1032525" y="23606"/>
                  </a:lnTo>
                  <a:lnTo>
                    <a:pt x="1049799" y="49238"/>
                  </a:lnTo>
                  <a:lnTo>
                    <a:pt x="1056132" y="80645"/>
                  </a:lnTo>
                  <a:lnTo>
                    <a:pt x="1056132" y="725551"/>
                  </a:lnTo>
                  <a:lnTo>
                    <a:pt x="1049799" y="756957"/>
                  </a:lnTo>
                  <a:lnTo>
                    <a:pt x="1032525" y="782589"/>
                  </a:lnTo>
                  <a:lnTo>
                    <a:pt x="1006893" y="799863"/>
                  </a:lnTo>
                  <a:lnTo>
                    <a:pt x="975487" y="806196"/>
                  </a:lnTo>
                  <a:lnTo>
                    <a:pt x="80645" y="806196"/>
                  </a:lnTo>
                  <a:lnTo>
                    <a:pt x="49238" y="799863"/>
                  </a:lnTo>
                  <a:lnTo>
                    <a:pt x="23606" y="782589"/>
                  </a:lnTo>
                  <a:lnTo>
                    <a:pt x="6332" y="756957"/>
                  </a:lnTo>
                  <a:lnTo>
                    <a:pt x="0" y="725551"/>
                  </a:lnTo>
                  <a:lnTo>
                    <a:pt x="0" y="806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7252843" y="2614676"/>
            <a:ext cx="62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Testen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5480050" y="2986785"/>
            <a:ext cx="1166495" cy="518795"/>
            <a:chOff x="5480050" y="2986785"/>
            <a:chExt cx="1166495" cy="518795"/>
          </a:xfrm>
        </p:grpSpPr>
        <p:sp>
          <p:nvSpPr>
            <p:cNvPr id="75" name="object 75"/>
            <p:cNvSpPr/>
            <p:nvPr/>
          </p:nvSpPr>
          <p:spPr>
            <a:xfrm>
              <a:off x="5486400" y="2993135"/>
              <a:ext cx="1153795" cy="506095"/>
            </a:xfrm>
            <a:custGeom>
              <a:avLst/>
              <a:gdLst/>
              <a:ahLst/>
              <a:cxnLst/>
              <a:rect l="l" t="t" r="r" b="b"/>
              <a:pathLst>
                <a:path w="1153795" h="506095">
                  <a:moveTo>
                    <a:pt x="1103122" y="0"/>
                  </a:moveTo>
                  <a:lnTo>
                    <a:pt x="50546" y="0"/>
                  </a:lnTo>
                  <a:lnTo>
                    <a:pt x="30861" y="3968"/>
                  </a:lnTo>
                  <a:lnTo>
                    <a:pt x="14795" y="14795"/>
                  </a:lnTo>
                  <a:lnTo>
                    <a:pt x="3968" y="30861"/>
                  </a:lnTo>
                  <a:lnTo>
                    <a:pt x="0" y="50546"/>
                  </a:lnTo>
                  <a:lnTo>
                    <a:pt x="0" y="455422"/>
                  </a:lnTo>
                  <a:lnTo>
                    <a:pt x="3968" y="475107"/>
                  </a:lnTo>
                  <a:lnTo>
                    <a:pt x="14795" y="491172"/>
                  </a:lnTo>
                  <a:lnTo>
                    <a:pt x="30861" y="501999"/>
                  </a:lnTo>
                  <a:lnTo>
                    <a:pt x="50546" y="505967"/>
                  </a:lnTo>
                  <a:lnTo>
                    <a:pt x="1103122" y="505967"/>
                  </a:lnTo>
                  <a:lnTo>
                    <a:pt x="1122806" y="501999"/>
                  </a:lnTo>
                  <a:lnTo>
                    <a:pt x="1138872" y="491172"/>
                  </a:lnTo>
                  <a:lnTo>
                    <a:pt x="1149699" y="475107"/>
                  </a:lnTo>
                  <a:lnTo>
                    <a:pt x="1153668" y="455422"/>
                  </a:lnTo>
                  <a:lnTo>
                    <a:pt x="1153668" y="50546"/>
                  </a:lnTo>
                  <a:lnTo>
                    <a:pt x="1149699" y="30861"/>
                  </a:lnTo>
                  <a:lnTo>
                    <a:pt x="1138872" y="14795"/>
                  </a:lnTo>
                  <a:lnTo>
                    <a:pt x="1122806" y="3968"/>
                  </a:lnTo>
                  <a:lnTo>
                    <a:pt x="110312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486400" y="2993135"/>
              <a:ext cx="1153795" cy="506095"/>
            </a:xfrm>
            <a:custGeom>
              <a:avLst/>
              <a:gdLst/>
              <a:ahLst/>
              <a:cxnLst/>
              <a:rect l="l" t="t" r="r" b="b"/>
              <a:pathLst>
                <a:path w="1153795" h="506095">
                  <a:moveTo>
                    <a:pt x="0" y="50546"/>
                  </a:moveTo>
                  <a:lnTo>
                    <a:pt x="3968" y="30861"/>
                  </a:lnTo>
                  <a:lnTo>
                    <a:pt x="14795" y="14795"/>
                  </a:lnTo>
                  <a:lnTo>
                    <a:pt x="30861" y="3968"/>
                  </a:lnTo>
                  <a:lnTo>
                    <a:pt x="50546" y="0"/>
                  </a:lnTo>
                  <a:lnTo>
                    <a:pt x="1103122" y="0"/>
                  </a:lnTo>
                  <a:lnTo>
                    <a:pt x="1122806" y="3968"/>
                  </a:lnTo>
                  <a:lnTo>
                    <a:pt x="1138872" y="14795"/>
                  </a:lnTo>
                  <a:lnTo>
                    <a:pt x="1149699" y="30861"/>
                  </a:lnTo>
                  <a:lnTo>
                    <a:pt x="1153668" y="50546"/>
                  </a:lnTo>
                  <a:lnTo>
                    <a:pt x="1153668" y="455422"/>
                  </a:lnTo>
                  <a:lnTo>
                    <a:pt x="1149699" y="475107"/>
                  </a:lnTo>
                  <a:lnTo>
                    <a:pt x="1138872" y="491172"/>
                  </a:lnTo>
                  <a:lnTo>
                    <a:pt x="1122806" y="501999"/>
                  </a:lnTo>
                  <a:lnTo>
                    <a:pt x="1103122" y="505967"/>
                  </a:lnTo>
                  <a:lnTo>
                    <a:pt x="50546" y="505967"/>
                  </a:lnTo>
                  <a:lnTo>
                    <a:pt x="30861" y="501999"/>
                  </a:lnTo>
                  <a:lnTo>
                    <a:pt x="14795" y="491172"/>
                  </a:lnTo>
                  <a:lnTo>
                    <a:pt x="3968" y="475107"/>
                  </a:lnTo>
                  <a:lnTo>
                    <a:pt x="0" y="455422"/>
                  </a:lnTo>
                  <a:lnTo>
                    <a:pt x="0" y="5054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5494734" y="3081654"/>
            <a:ext cx="1137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100"/>
              </a:spcBef>
            </a:pPr>
            <a:r>
              <a:rPr sz="1800" spc="-35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für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90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480050" y="3617721"/>
            <a:ext cx="1166495" cy="518795"/>
            <a:chOff x="5480050" y="3617721"/>
            <a:chExt cx="1166495" cy="518795"/>
          </a:xfrm>
        </p:grpSpPr>
        <p:sp>
          <p:nvSpPr>
            <p:cNvPr id="79" name="object 79"/>
            <p:cNvSpPr/>
            <p:nvPr/>
          </p:nvSpPr>
          <p:spPr>
            <a:xfrm>
              <a:off x="5486400" y="3624071"/>
              <a:ext cx="1153795" cy="506095"/>
            </a:xfrm>
            <a:custGeom>
              <a:avLst/>
              <a:gdLst/>
              <a:ahLst/>
              <a:cxnLst/>
              <a:rect l="l" t="t" r="r" b="b"/>
              <a:pathLst>
                <a:path w="1153795" h="506095">
                  <a:moveTo>
                    <a:pt x="1103122" y="0"/>
                  </a:moveTo>
                  <a:lnTo>
                    <a:pt x="50546" y="0"/>
                  </a:lnTo>
                  <a:lnTo>
                    <a:pt x="30861" y="3968"/>
                  </a:lnTo>
                  <a:lnTo>
                    <a:pt x="14795" y="14795"/>
                  </a:lnTo>
                  <a:lnTo>
                    <a:pt x="3968" y="30860"/>
                  </a:lnTo>
                  <a:lnTo>
                    <a:pt x="0" y="50545"/>
                  </a:lnTo>
                  <a:lnTo>
                    <a:pt x="0" y="455421"/>
                  </a:lnTo>
                  <a:lnTo>
                    <a:pt x="3968" y="475106"/>
                  </a:lnTo>
                  <a:lnTo>
                    <a:pt x="14795" y="491172"/>
                  </a:lnTo>
                  <a:lnTo>
                    <a:pt x="30861" y="501999"/>
                  </a:lnTo>
                  <a:lnTo>
                    <a:pt x="50546" y="505967"/>
                  </a:lnTo>
                  <a:lnTo>
                    <a:pt x="1103122" y="505967"/>
                  </a:lnTo>
                  <a:lnTo>
                    <a:pt x="1122806" y="501999"/>
                  </a:lnTo>
                  <a:lnTo>
                    <a:pt x="1138872" y="491172"/>
                  </a:lnTo>
                  <a:lnTo>
                    <a:pt x="1149699" y="475106"/>
                  </a:lnTo>
                  <a:lnTo>
                    <a:pt x="1153668" y="455421"/>
                  </a:lnTo>
                  <a:lnTo>
                    <a:pt x="1153668" y="50545"/>
                  </a:lnTo>
                  <a:lnTo>
                    <a:pt x="1149699" y="30860"/>
                  </a:lnTo>
                  <a:lnTo>
                    <a:pt x="1138872" y="14795"/>
                  </a:lnTo>
                  <a:lnTo>
                    <a:pt x="1122806" y="3968"/>
                  </a:lnTo>
                  <a:lnTo>
                    <a:pt x="110312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486400" y="3624071"/>
              <a:ext cx="1153795" cy="506095"/>
            </a:xfrm>
            <a:custGeom>
              <a:avLst/>
              <a:gdLst/>
              <a:ahLst/>
              <a:cxnLst/>
              <a:rect l="l" t="t" r="r" b="b"/>
              <a:pathLst>
                <a:path w="1153795" h="506095">
                  <a:moveTo>
                    <a:pt x="0" y="50545"/>
                  </a:moveTo>
                  <a:lnTo>
                    <a:pt x="3968" y="30860"/>
                  </a:lnTo>
                  <a:lnTo>
                    <a:pt x="14795" y="14795"/>
                  </a:lnTo>
                  <a:lnTo>
                    <a:pt x="30861" y="3968"/>
                  </a:lnTo>
                  <a:lnTo>
                    <a:pt x="50546" y="0"/>
                  </a:lnTo>
                  <a:lnTo>
                    <a:pt x="1103122" y="0"/>
                  </a:lnTo>
                  <a:lnTo>
                    <a:pt x="1122806" y="3968"/>
                  </a:lnTo>
                  <a:lnTo>
                    <a:pt x="1138872" y="14795"/>
                  </a:lnTo>
                  <a:lnTo>
                    <a:pt x="1149699" y="30860"/>
                  </a:lnTo>
                  <a:lnTo>
                    <a:pt x="1153668" y="50545"/>
                  </a:lnTo>
                  <a:lnTo>
                    <a:pt x="1153668" y="455421"/>
                  </a:lnTo>
                  <a:lnTo>
                    <a:pt x="1149699" y="475106"/>
                  </a:lnTo>
                  <a:lnTo>
                    <a:pt x="1138872" y="491172"/>
                  </a:lnTo>
                  <a:lnTo>
                    <a:pt x="1122806" y="501999"/>
                  </a:lnTo>
                  <a:lnTo>
                    <a:pt x="1103122" y="505967"/>
                  </a:lnTo>
                  <a:lnTo>
                    <a:pt x="50546" y="505967"/>
                  </a:lnTo>
                  <a:lnTo>
                    <a:pt x="30861" y="501999"/>
                  </a:lnTo>
                  <a:lnTo>
                    <a:pt x="14795" y="491172"/>
                  </a:lnTo>
                  <a:lnTo>
                    <a:pt x="3968" y="475106"/>
                  </a:lnTo>
                  <a:lnTo>
                    <a:pt x="0" y="455421"/>
                  </a:lnTo>
                  <a:lnTo>
                    <a:pt x="0" y="505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5494734" y="3712286"/>
            <a:ext cx="11372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Rust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123560" y="2348021"/>
            <a:ext cx="228600" cy="18497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spc="-80" dirty="0">
                <a:solidFill>
                  <a:srgbClr val="1F4E79"/>
                </a:solidFill>
                <a:latin typeface="Arial"/>
                <a:cs typeface="Arial"/>
              </a:rPr>
              <a:t>Programmiersprachen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76401" y="3853941"/>
            <a:ext cx="1314450" cy="622300"/>
            <a:chOff x="676401" y="3853941"/>
            <a:chExt cx="1314450" cy="622300"/>
          </a:xfrm>
        </p:grpSpPr>
        <p:sp>
          <p:nvSpPr>
            <p:cNvPr id="84" name="object 84"/>
            <p:cNvSpPr/>
            <p:nvPr/>
          </p:nvSpPr>
          <p:spPr>
            <a:xfrm>
              <a:off x="682751" y="3860291"/>
              <a:ext cx="1301750" cy="609600"/>
            </a:xfrm>
            <a:custGeom>
              <a:avLst/>
              <a:gdLst/>
              <a:ahLst/>
              <a:cxnLst/>
              <a:rect l="l" t="t" r="r" b="b"/>
              <a:pathLst>
                <a:path w="1301750" h="609600">
                  <a:moveTo>
                    <a:pt x="1240536" y="0"/>
                  </a:moveTo>
                  <a:lnTo>
                    <a:pt x="60960" y="0"/>
                  </a:lnTo>
                  <a:lnTo>
                    <a:pt x="37231" y="4792"/>
                  </a:lnTo>
                  <a:lnTo>
                    <a:pt x="17854" y="17859"/>
                  </a:lnTo>
                  <a:lnTo>
                    <a:pt x="4790" y="37236"/>
                  </a:lnTo>
                  <a:lnTo>
                    <a:pt x="0" y="60959"/>
                  </a:lnTo>
                  <a:lnTo>
                    <a:pt x="0" y="548639"/>
                  </a:lnTo>
                  <a:lnTo>
                    <a:pt x="4790" y="572363"/>
                  </a:lnTo>
                  <a:lnTo>
                    <a:pt x="17854" y="591740"/>
                  </a:lnTo>
                  <a:lnTo>
                    <a:pt x="37231" y="604807"/>
                  </a:lnTo>
                  <a:lnTo>
                    <a:pt x="60960" y="609599"/>
                  </a:lnTo>
                  <a:lnTo>
                    <a:pt x="1240536" y="609599"/>
                  </a:lnTo>
                  <a:lnTo>
                    <a:pt x="1264259" y="604807"/>
                  </a:lnTo>
                  <a:lnTo>
                    <a:pt x="1283636" y="591740"/>
                  </a:lnTo>
                  <a:lnTo>
                    <a:pt x="1296703" y="572363"/>
                  </a:lnTo>
                  <a:lnTo>
                    <a:pt x="1301496" y="548639"/>
                  </a:lnTo>
                  <a:lnTo>
                    <a:pt x="1301496" y="60959"/>
                  </a:lnTo>
                  <a:lnTo>
                    <a:pt x="1296703" y="37236"/>
                  </a:lnTo>
                  <a:lnTo>
                    <a:pt x="1283636" y="17859"/>
                  </a:lnTo>
                  <a:lnTo>
                    <a:pt x="1264259" y="4792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82751" y="3860291"/>
              <a:ext cx="1301750" cy="609600"/>
            </a:xfrm>
            <a:custGeom>
              <a:avLst/>
              <a:gdLst/>
              <a:ahLst/>
              <a:cxnLst/>
              <a:rect l="l" t="t" r="r" b="b"/>
              <a:pathLst>
                <a:path w="1301750" h="609600">
                  <a:moveTo>
                    <a:pt x="0" y="60959"/>
                  </a:moveTo>
                  <a:lnTo>
                    <a:pt x="4790" y="37236"/>
                  </a:lnTo>
                  <a:lnTo>
                    <a:pt x="17854" y="17859"/>
                  </a:lnTo>
                  <a:lnTo>
                    <a:pt x="37231" y="4792"/>
                  </a:lnTo>
                  <a:lnTo>
                    <a:pt x="60960" y="0"/>
                  </a:lnTo>
                  <a:lnTo>
                    <a:pt x="1240536" y="0"/>
                  </a:lnTo>
                  <a:lnTo>
                    <a:pt x="1264259" y="4792"/>
                  </a:lnTo>
                  <a:lnTo>
                    <a:pt x="1283636" y="17859"/>
                  </a:lnTo>
                  <a:lnTo>
                    <a:pt x="1296703" y="37236"/>
                  </a:lnTo>
                  <a:lnTo>
                    <a:pt x="1301496" y="60959"/>
                  </a:lnTo>
                  <a:lnTo>
                    <a:pt x="1301496" y="548639"/>
                  </a:lnTo>
                  <a:lnTo>
                    <a:pt x="1296703" y="572363"/>
                  </a:lnTo>
                  <a:lnTo>
                    <a:pt x="1283636" y="591740"/>
                  </a:lnTo>
                  <a:lnTo>
                    <a:pt x="1264259" y="604807"/>
                  </a:lnTo>
                  <a:lnTo>
                    <a:pt x="1240536" y="609599"/>
                  </a:lnTo>
                  <a:lnTo>
                    <a:pt x="60960" y="609599"/>
                  </a:lnTo>
                  <a:lnTo>
                    <a:pt x="37231" y="604807"/>
                  </a:lnTo>
                  <a:lnTo>
                    <a:pt x="17854" y="591740"/>
                  </a:lnTo>
                  <a:lnTo>
                    <a:pt x="4790" y="572363"/>
                  </a:lnTo>
                  <a:lnTo>
                    <a:pt x="0" y="548639"/>
                  </a:lnTo>
                  <a:lnTo>
                    <a:pt x="0" y="6095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02563" y="3878579"/>
              <a:ext cx="1262380" cy="573405"/>
            </a:xfrm>
            <a:custGeom>
              <a:avLst/>
              <a:gdLst/>
              <a:ahLst/>
              <a:cxnLst/>
              <a:rect l="l" t="t" r="r" b="b"/>
              <a:pathLst>
                <a:path w="1262380" h="573404">
                  <a:moveTo>
                    <a:pt x="1261872" y="0"/>
                  </a:moveTo>
                  <a:lnTo>
                    <a:pt x="0" y="0"/>
                  </a:lnTo>
                  <a:lnTo>
                    <a:pt x="0" y="573024"/>
                  </a:lnTo>
                  <a:lnTo>
                    <a:pt x="1261872" y="573024"/>
                  </a:lnTo>
                  <a:lnTo>
                    <a:pt x="126187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830986" y="3896995"/>
            <a:ext cx="100203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118745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383692" y="3616578"/>
            <a:ext cx="469900" cy="440690"/>
            <a:chOff x="383692" y="3616578"/>
            <a:chExt cx="469900" cy="440690"/>
          </a:xfrm>
        </p:grpSpPr>
        <p:sp>
          <p:nvSpPr>
            <p:cNvPr id="89" name="object 89"/>
            <p:cNvSpPr/>
            <p:nvPr/>
          </p:nvSpPr>
          <p:spPr>
            <a:xfrm>
              <a:off x="390042" y="3622928"/>
              <a:ext cx="457200" cy="427990"/>
            </a:xfrm>
            <a:custGeom>
              <a:avLst/>
              <a:gdLst/>
              <a:ahLst/>
              <a:cxnLst/>
              <a:rect l="l" t="t" r="r" b="b"/>
              <a:pathLst>
                <a:path w="457200" h="427989">
                  <a:moveTo>
                    <a:pt x="129692" y="0"/>
                  </a:moveTo>
                  <a:lnTo>
                    <a:pt x="0" y="160020"/>
                  </a:lnTo>
                  <a:lnTo>
                    <a:pt x="231940" y="347980"/>
                  </a:lnTo>
                  <a:lnTo>
                    <a:pt x="167093" y="427990"/>
                  </a:lnTo>
                  <a:lnTo>
                    <a:pt x="456793" y="397764"/>
                  </a:lnTo>
                  <a:lnTo>
                    <a:pt x="426478" y="107950"/>
                  </a:lnTo>
                  <a:lnTo>
                    <a:pt x="361632" y="187960"/>
                  </a:lnTo>
                  <a:lnTo>
                    <a:pt x="12969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90042" y="3622928"/>
              <a:ext cx="457200" cy="427990"/>
            </a:xfrm>
            <a:custGeom>
              <a:avLst/>
              <a:gdLst/>
              <a:ahLst/>
              <a:cxnLst/>
              <a:rect l="l" t="t" r="r" b="b"/>
              <a:pathLst>
                <a:path w="457200" h="427989">
                  <a:moveTo>
                    <a:pt x="129692" y="0"/>
                  </a:moveTo>
                  <a:lnTo>
                    <a:pt x="361632" y="187960"/>
                  </a:lnTo>
                  <a:lnTo>
                    <a:pt x="426478" y="107950"/>
                  </a:lnTo>
                  <a:lnTo>
                    <a:pt x="456793" y="397764"/>
                  </a:lnTo>
                  <a:lnTo>
                    <a:pt x="167093" y="427990"/>
                  </a:lnTo>
                  <a:lnTo>
                    <a:pt x="231940" y="347980"/>
                  </a:lnTo>
                  <a:lnTo>
                    <a:pt x="0" y="160020"/>
                  </a:lnTo>
                  <a:lnTo>
                    <a:pt x="129692" y="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5633"/>
            <a:ext cx="12172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Inhalt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707542" y="1226338"/>
            <a:ext cx="4059554" cy="136588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sz="2400" spc="-10" dirty="0">
                <a:latin typeface="Arial"/>
                <a:cs typeface="Arial"/>
              </a:rPr>
              <a:t>Einführung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2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sz="2400" spc="-114" dirty="0">
                <a:latin typeface="Arial"/>
                <a:cs typeface="Arial"/>
              </a:rPr>
              <a:t>Softwareentwicklungsprozesse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15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sz="2400" spc="-145" dirty="0">
                <a:latin typeface="Arial"/>
                <a:cs typeface="Arial"/>
              </a:rPr>
              <a:t>Fazit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210" dirty="0">
                <a:latin typeface="Arial"/>
                <a:cs typeface="Arial"/>
              </a:rPr>
              <a:t>+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Literatur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81429"/>
            <a:ext cx="5651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0" dirty="0">
                <a:latin typeface="Arial"/>
                <a:cs typeface="Arial"/>
              </a:rPr>
              <a:t>Planlos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programmieren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ist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wie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planlos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bauen.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 descr="desktop-140669070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" y="2962655"/>
            <a:ext cx="2653283" cy="1979676"/>
          </a:xfrm>
          <a:prstGeom prst="rect">
            <a:avLst/>
          </a:prstGeom>
        </p:spPr>
      </p:pic>
      <p:pic>
        <p:nvPicPr>
          <p:cNvPr id="5" name="object 5" descr="desktop-14066907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8559" y="2962655"/>
            <a:ext cx="2855976" cy="1979676"/>
          </a:xfrm>
          <a:prstGeom prst="rect">
            <a:avLst/>
          </a:prstGeom>
        </p:spPr>
      </p:pic>
      <p:pic>
        <p:nvPicPr>
          <p:cNvPr id="6" name="object 6" descr="desktop-140669070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40652" y="2962655"/>
            <a:ext cx="1321307" cy="197967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62618"/>
            <a:ext cx="779805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25" dirty="0"/>
              <a:t>Phasen</a:t>
            </a:r>
            <a:r>
              <a:rPr spc="-220" dirty="0"/>
              <a:t> </a:t>
            </a:r>
            <a:r>
              <a:rPr spc="-285" dirty="0"/>
              <a:t>des</a:t>
            </a:r>
            <a:r>
              <a:rPr spc="-200" dirty="0"/>
              <a:t> </a:t>
            </a:r>
            <a:r>
              <a:rPr spc="-165" dirty="0"/>
              <a:t>Software</a:t>
            </a:r>
            <a:r>
              <a:rPr spc="-200" dirty="0"/>
              <a:t> </a:t>
            </a:r>
            <a:r>
              <a:rPr spc="-170" dirty="0"/>
              <a:t>Engineering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81429"/>
            <a:ext cx="667512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135" dirty="0">
                <a:latin typeface="Arial"/>
                <a:cs typeface="Arial"/>
              </a:rPr>
              <a:t>Stattdessen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nähern </a:t>
            </a:r>
            <a:r>
              <a:rPr sz="2400" dirty="0">
                <a:latin typeface="Arial"/>
                <a:cs typeface="Arial"/>
              </a:rPr>
              <a:t>wir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uns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Lösung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schrittweise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spc="-90" dirty="0">
                <a:latin typeface="Arial"/>
                <a:cs typeface="Arial"/>
              </a:rPr>
              <a:t>mehreren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Phasen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2480" y="2750820"/>
            <a:ext cx="1518285" cy="2086610"/>
            <a:chOff x="792480" y="2750820"/>
            <a:chExt cx="1518285" cy="20866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480" y="2750820"/>
              <a:ext cx="1299971" cy="129997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04316" y="3531108"/>
              <a:ext cx="1300480" cy="1300480"/>
            </a:xfrm>
            <a:custGeom>
              <a:avLst/>
              <a:gdLst/>
              <a:ahLst/>
              <a:cxnLst/>
              <a:rect l="l" t="t" r="r" b="b"/>
              <a:pathLst>
                <a:path w="1300480" h="1300479">
                  <a:moveTo>
                    <a:pt x="1169923" y="0"/>
                  </a:moveTo>
                  <a:lnTo>
                    <a:pt x="129997" y="0"/>
                  </a:lnTo>
                  <a:lnTo>
                    <a:pt x="79397" y="10211"/>
                  </a:lnTo>
                  <a:lnTo>
                    <a:pt x="38076" y="38068"/>
                  </a:lnTo>
                  <a:lnTo>
                    <a:pt x="10216" y="79402"/>
                  </a:lnTo>
                  <a:lnTo>
                    <a:pt x="0" y="130047"/>
                  </a:lnTo>
                  <a:lnTo>
                    <a:pt x="0" y="1169923"/>
                  </a:lnTo>
                  <a:lnTo>
                    <a:pt x="10216" y="1220569"/>
                  </a:lnTo>
                  <a:lnTo>
                    <a:pt x="38076" y="1261903"/>
                  </a:lnTo>
                  <a:lnTo>
                    <a:pt x="79397" y="1289760"/>
                  </a:lnTo>
                  <a:lnTo>
                    <a:pt x="129997" y="1299971"/>
                  </a:lnTo>
                  <a:lnTo>
                    <a:pt x="1169923" y="1299971"/>
                  </a:lnTo>
                  <a:lnTo>
                    <a:pt x="1220569" y="1289760"/>
                  </a:lnTo>
                  <a:lnTo>
                    <a:pt x="1261903" y="1261903"/>
                  </a:lnTo>
                  <a:lnTo>
                    <a:pt x="1289760" y="1220569"/>
                  </a:lnTo>
                  <a:lnTo>
                    <a:pt x="1299972" y="1169923"/>
                  </a:lnTo>
                  <a:lnTo>
                    <a:pt x="1299972" y="130047"/>
                  </a:lnTo>
                  <a:lnTo>
                    <a:pt x="1289760" y="79402"/>
                  </a:lnTo>
                  <a:lnTo>
                    <a:pt x="1261903" y="38068"/>
                  </a:lnTo>
                  <a:lnTo>
                    <a:pt x="1220569" y="10211"/>
                  </a:lnTo>
                  <a:lnTo>
                    <a:pt x="116992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04316" y="3531108"/>
              <a:ext cx="1300480" cy="1300480"/>
            </a:xfrm>
            <a:custGeom>
              <a:avLst/>
              <a:gdLst/>
              <a:ahLst/>
              <a:cxnLst/>
              <a:rect l="l" t="t" r="r" b="b"/>
              <a:pathLst>
                <a:path w="1300480" h="1300479">
                  <a:moveTo>
                    <a:pt x="0" y="130047"/>
                  </a:moveTo>
                  <a:lnTo>
                    <a:pt x="10216" y="79402"/>
                  </a:lnTo>
                  <a:lnTo>
                    <a:pt x="38076" y="38068"/>
                  </a:lnTo>
                  <a:lnTo>
                    <a:pt x="79397" y="10211"/>
                  </a:lnTo>
                  <a:lnTo>
                    <a:pt x="129997" y="0"/>
                  </a:lnTo>
                  <a:lnTo>
                    <a:pt x="1169923" y="0"/>
                  </a:lnTo>
                  <a:lnTo>
                    <a:pt x="1220569" y="10211"/>
                  </a:lnTo>
                  <a:lnTo>
                    <a:pt x="1261903" y="38068"/>
                  </a:lnTo>
                  <a:lnTo>
                    <a:pt x="1289760" y="79402"/>
                  </a:lnTo>
                  <a:lnTo>
                    <a:pt x="1299972" y="130047"/>
                  </a:lnTo>
                  <a:lnTo>
                    <a:pt x="1299972" y="1169923"/>
                  </a:lnTo>
                  <a:lnTo>
                    <a:pt x="1289760" y="1220569"/>
                  </a:lnTo>
                  <a:lnTo>
                    <a:pt x="1261903" y="1261903"/>
                  </a:lnTo>
                  <a:lnTo>
                    <a:pt x="1220569" y="1289760"/>
                  </a:lnTo>
                  <a:lnTo>
                    <a:pt x="1169923" y="1299971"/>
                  </a:lnTo>
                  <a:lnTo>
                    <a:pt x="129997" y="1299971"/>
                  </a:lnTo>
                  <a:lnTo>
                    <a:pt x="79397" y="1289760"/>
                  </a:lnTo>
                  <a:lnTo>
                    <a:pt x="38076" y="1261903"/>
                  </a:lnTo>
                  <a:lnTo>
                    <a:pt x="10216" y="1220569"/>
                  </a:lnTo>
                  <a:lnTo>
                    <a:pt x="0" y="1169923"/>
                  </a:lnTo>
                  <a:lnTo>
                    <a:pt x="0" y="13004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16583" y="4024122"/>
            <a:ext cx="10763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Spezifikation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43911" y="3244595"/>
            <a:ext cx="250190" cy="312420"/>
          </a:xfrm>
          <a:custGeom>
            <a:avLst/>
            <a:gdLst/>
            <a:ahLst/>
            <a:cxnLst/>
            <a:rect l="l" t="t" r="r" b="b"/>
            <a:pathLst>
              <a:path w="250189" h="312420">
                <a:moveTo>
                  <a:pt x="124968" y="0"/>
                </a:moveTo>
                <a:lnTo>
                  <a:pt x="124968" y="62483"/>
                </a:lnTo>
                <a:lnTo>
                  <a:pt x="0" y="62483"/>
                </a:lnTo>
                <a:lnTo>
                  <a:pt x="0" y="249936"/>
                </a:lnTo>
                <a:lnTo>
                  <a:pt x="124968" y="249936"/>
                </a:lnTo>
                <a:lnTo>
                  <a:pt x="124968" y="312419"/>
                </a:lnTo>
                <a:lnTo>
                  <a:pt x="249936" y="156209"/>
                </a:lnTo>
                <a:lnTo>
                  <a:pt x="124968" y="0"/>
                </a:lnTo>
                <a:close/>
              </a:path>
            </a:pathLst>
          </a:custGeom>
          <a:solidFill>
            <a:srgbClr val="B5C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2808732" y="2750820"/>
            <a:ext cx="1518285" cy="2086610"/>
            <a:chOff x="2808732" y="2750820"/>
            <a:chExt cx="1518285" cy="208661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8732" y="2750820"/>
              <a:ext cx="1299971" cy="129997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020568" y="3531108"/>
              <a:ext cx="1300480" cy="1300480"/>
            </a:xfrm>
            <a:custGeom>
              <a:avLst/>
              <a:gdLst/>
              <a:ahLst/>
              <a:cxnLst/>
              <a:rect l="l" t="t" r="r" b="b"/>
              <a:pathLst>
                <a:path w="1300479" h="1300479">
                  <a:moveTo>
                    <a:pt x="1169923" y="0"/>
                  </a:moveTo>
                  <a:lnTo>
                    <a:pt x="130048" y="0"/>
                  </a:lnTo>
                  <a:lnTo>
                    <a:pt x="79402" y="10211"/>
                  </a:lnTo>
                  <a:lnTo>
                    <a:pt x="38068" y="38068"/>
                  </a:lnTo>
                  <a:lnTo>
                    <a:pt x="10211" y="79402"/>
                  </a:lnTo>
                  <a:lnTo>
                    <a:pt x="0" y="130047"/>
                  </a:lnTo>
                  <a:lnTo>
                    <a:pt x="0" y="1169923"/>
                  </a:lnTo>
                  <a:lnTo>
                    <a:pt x="10211" y="1220569"/>
                  </a:lnTo>
                  <a:lnTo>
                    <a:pt x="38068" y="1261903"/>
                  </a:lnTo>
                  <a:lnTo>
                    <a:pt x="79402" y="1289760"/>
                  </a:lnTo>
                  <a:lnTo>
                    <a:pt x="130048" y="1299971"/>
                  </a:lnTo>
                  <a:lnTo>
                    <a:pt x="1169923" y="1299971"/>
                  </a:lnTo>
                  <a:lnTo>
                    <a:pt x="1220569" y="1289760"/>
                  </a:lnTo>
                  <a:lnTo>
                    <a:pt x="1261903" y="1261903"/>
                  </a:lnTo>
                  <a:lnTo>
                    <a:pt x="1289760" y="1220569"/>
                  </a:lnTo>
                  <a:lnTo>
                    <a:pt x="1299971" y="1169923"/>
                  </a:lnTo>
                  <a:lnTo>
                    <a:pt x="1299971" y="130047"/>
                  </a:lnTo>
                  <a:lnTo>
                    <a:pt x="1289760" y="79402"/>
                  </a:lnTo>
                  <a:lnTo>
                    <a:pt x="1261903" y="38068"/>
                  </a:lnTo>
                  <a:lnTo>
                    <a:pt x="1220569" y="10211"/>
                  </a:lnTo>
                  <a:lnTo>
                    <a:pt x="116992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20568" y="3531108"/>
              <a:ext cx="1300480" cy="1300480"/>
            </a:xfrm>
            <a:custGeom>
              <a:avLst/>
              <a:gdLst/>
              <a:ahLst/>
              <a:cxnLst/>
              <a:rect l="l" t="t" r="r" b="b"/>
              <a:pathLst>
                <a:path w="1300479" h="1300479">
                  <a:moveTo>
                    <a:pt x="0" y="130047"/>
                  </a:moveTo>
                  <a:lnTo>
                    <a:pt x="10211" y="79402"/>
                  </a:lnTo>
                  <a:lnTo>
                    <a:pt x="38068" y="38068"/>
                  </a:lnTo>
                  <a:lnTo>
                    <a:pt x="79402" y="10211"/>
                  </a:lnTo>
                  <a:lnTo>
                    <a:pt x="130048" y="0"/>
                  </a:lnTo>
                  <a:lnTo>
                    <a:pt x="1169923" y="0"/>
                  </a:lnTo>
                  <a:lnTo>
                    <a:pt x="1220569" y="10211"/>
                  </a:lnTo>
                  <a:lnTo>
                    <a:pt x="1261903" y="38068"/>
                  </a:lnTo>
                  <a:lnTo>
                    <a:pt x="1289760" y="79402"/>
                  </a:lnTo>
                  <a:lnTo>
                    <a:pt x="1299971" y="130047"/>
                  </a:lnTo>
                  <a:lnTo>
                    <a:pt x="1299971" y="1169923"/>
                  </a:lnTo>
                  <a:lnTo>
                    <a:pt x="1289760" y="1220569"/>
                  </a:lnTo>
                  <a:lnTo>
                    <a:pt x="1261903" y="1261903"/>
                  </a:lnTo>
                  <a:lnTo>
                    <a:pt x="1220569" y="1289760"/>
                  </a:lnTo>
                  <a:lnTo>
                    <a:pt x="1169923" y="1299971"/>
                  </a:lnTo>
                  <a:lnTo>
                    <a:pt x="130048" y="1299971"/>
                  </a:lnTo>
                  <a:lnTo>
                    <a:pt x="79402" y="1289760"/>
                  </a:lnTo>
                  <a:lnTo>
                    <a:pt x="38068" y="1261903"/>
                  </a:lnTo>
                  <a:lnTo>
                    <a:pt x="10211" y="1220569"/>
                  </a:lnTo>
                  <a:lnTo>
                    <a:pt x="0" y="1169923"/>
                  </a:lnTo>
                  <a:lnTo>
                    <a:pt x="0" y="13004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58744" y="4024122"/>
            <a:ext cx="1022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Entwicklung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58640" y="3244595"/>
            <a:ext cx="250190" cy="312420"/>
          </a:xfrm>
          <a:custGeom>
            <a:avLst/>
            <a:gdLst/>
            <a:ahLst/>
            <a:cxnLst/>
            <a:rect l="l" t="t" r="r" b="b"/>
            <a:pathLst>
              <a:path w="250189" h="312420">
                <a:moveTo>
                  <a:pt x="124968" y="0"/>
                </a:moveTo>
                <a:lnTo>
                  <a:pt x="124968" y="62483"/>
                </a:lnTo>
                <a:lnTo>
                  <a:pt x="0" y="62483"/>
                </a:lnTo>
                <a:lnTo>
                  <a:pt x="0" y="249936"/>
                </a:lnTo>
                <a:lnTo>
                  <a:pt x="124968" y="249936"/>
                </a:lnTo>
                <a:lnTo>
                  <a:pt x="124968" y="312419"/>
                </a:lnTo>
                <a:lnTo>
                  <a:pt x="249936" y="156209"/>
                </a:lnTo>
                <a:lnTo>
                  <a:pt x="124968" y="0"/>
                </a:lnTo>
                <a:close/>
              </a:path>
            </a:pathLst>
          </a:custGeom>
          <a:solidFill>
            <a:srgbClr val="B5C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823459" y="2750820"/>
            <a:ext cx="1518285" cy="2086610"/>
            <a:chOff x="4823459" y="2750820"/>
            <a:chExt cx="1518285" cy="208661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3459" y="2750820"/>
              <a:ext cx="1299972" cy="129997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35295" y="3531108"/>
              <a:ext cx="1300480" cy="1300480"/>
            </a:xfrm>
            <a:custGeom>
              <a:avLst/>
              <a:gdLst/>
              <a:ahLst/>
              <a:cxnLst/>
              <a:rect l="l" t="t" r="r" b="b"/>
              <a:pathLst>
                <a:path w="1300479" h="1300479">
                  <a:moveTo>
                    <a:pt x="1169924" y="0"/>
                  </a:moveTo>
                  <a:lnTo>
                    <a:pt x="130048" y="0"/>
                  </a:lnTo>
                  <a:lnTo>
                    <a:pt x="79402" y="10211"/>
                  </a:lnTo>
                  <a:lnTo>
                    <a:pt x="38068" y="38068"/>
                  </a:lnTo>
                  <a:lnTo>
                    <a:pt x="10211" y="79402"/>
                  </a:lnTo>
                  <a:lnTo>
                    <a:pt x="0" y="130047"/>
                  </a:lnTo>
                  <a:lnTo>
                    <a:pt x="0" y="1169923"/>
                  </a:lnTo>
                  <a:lnTo>
                    <a:pt x="10211" y="1220569"/>
                  </a:lnTo>
                  <a:lnTo>
                    <a:pt x="38068" y="1261903"/>
                  </a:lnTo>
                  <a:lnTo>
                    <a:pt x="79402" y="1289760"/>
                  </a:lnTo>
                  <a:lnTo>
                    <a:pt x="130048" y="1299971"/>
                  </a:lnTo>
                  <a:lnTo>
                    <a:pt x="1169924" y="1299971"/>
                  </a:lnTo>
                  <a:lnTo>
                    <a:pt x="1220569" y="1289760"/>
                  </a:lnTo>
                  <a:lnTo>
                    <a:pt x="1261903" y="1261903"/>
                  </a:lnTo>
                  <a:lnTo>
                    <a:pt x="1289760" y="1220569"/>
                  </a:lnTo>
                  <a:lnTo>
                    <a:pt x="1299971" y="1169923"/>
                  </a:lnTo>
                  <a:lnTo>
                    <a:pt x="1299971" y="130047"/>
                  </a:lnTo>
                  <a:lnTo>
                    <a:pt x="1289760" y="79402"/>
                  </a:lnTo>
                  <a:lnTo>
                    <a:pt x="1261903" y="38068"/>
                  </a:lnTo>
                  <a:lnTo>
                    <a:pt x="1220569" y="10211"/>
                  </a:lnTo>
                  <a:lnTo>
                    <a:pt x="116992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35295" y="3531108"/>
              <a:ext cx="1300480" cy="1300480"/>
            </a:xfrm>
            <a:custGeom>
              <a:avLst/>
              <a:gdLst/>
              <a:ahLst/>
              <a:cxnLst/>
              <a:rect l="l" t="t" r="r" b="b"/>
              <a:pathLst>
                <a:path w="1300479" h="1300479">
                  <a:moveTo>
                    <a:pt x="0" y="130047"/>
                  </a:moveTo>
                  <a:lnTo>
                    <a:pt x="10211" y="79402"/>
                  </a:lnTo>
                  <a:lnTo>
                    <a:pt x="38068" y="38068"/>
                  </a:lnTo>
                  <a:lnTo>
                    <a:pt x="79402" y="10211"/>
                  </a:lnTo>
                  <a:lnTo>
                    <a:pt x="130048" y="0"/>
                  </a:lnTo>
                  <a:lnTo>
                    <a:pt x="1169924" y="0"/>
                  </a:lnTo>
                  <a:lnTo>
                    <a:pt x="1220569" y="10211"/>
                  </a:lnTo>
                  <a:lnTo>
                    <a:pt x="1261903" y="38068"/>
                  </a:lnTo>
                  <a:lnTo>
                    <a:pt x="1289760" y="79402"/>
                  </a:lnTo>
                  <a:lnTo>
                    <a:pt x="1299971" y="130047"/>
                  </a:lnTo>
                  <a:lnTo>
                    <a:pt x="1299971" y="1169923"/>
                  </a:lnTo>
                  <a:lnTo>
                    <a:pt x="1289760" y="1220569"/>
                  </a:lnTo>
                  <a:lnTo>
                    <a:pt x="1261903" y="1261903"/>
                  </a:lnTo>
                  <a:lnTo>
                    <a:pt x="1220569" y="1289760"/>
                  </a:lnTo>
                  <a:lnTo>
                    <a:pt x="1169924" y="1299971"/>
                  </a:lnTo>
                  <a:lnTo>
                    <a:pt x="130048" y="1299971"/>
                  </a:lnTo>
                  <a:lnTo>
                    <a:pt x="79402" y="1289760"/>
                  </a:lnTo>
                  <a:lnTo>
                    <a:pt x="38068" y="1261903"/>
                  </a:lnTo>
                  <a:lnTo>
                    <a:pt x="10211" y="1220569"/>
                  </a:lnTo>
                  <a:lnTo>
                    <a:pt x="0" y="1169923"/>
                  </a:lnTo>
                  <a:lnTo>
                    <a:pt x="0" y="13004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208270" y="4024122"/>
            <a:ext cx="9537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Validierung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74891" y="3244595"/>
            <a:ext cx="250190" cy="312420"/>
          </a:xfrm>
          <a:custGeom>
            <a:avLst/>
            <a:gdLst/>
            <a:ahLst/>
            <a:cxnLst/>
            <a:rect l="l" t="t" r="r" b="b"/>
            <a:pathLst>
              <a:path w="250190" h="312420">
                <a:moveTo>
                  <a:pt x="124968" y="0"/>
                </a:moveTo>
                <a:lnTo>
                  <a:pt x="124968" y="62483"/>
                </a:lnTo>
                <a:lnTo>
                  <a:pt x="0" y="62483"/>
                </a:lnTo>
                <a:lnTo>
                  <a:pt x="0" y="249936"/>
                </a:lnTo>
                <a:lnTo>
                  <a:pt x="124968" y="249936"/>
                </a:lnTo>
                <a:lnTo>
                  <a:pt x="124968" y="312419"/>
                </a:lnTo>
                <a:lnTo>
                  <a:pt x="249936" y="156209"/>
                </a:lnTo>
                <a:lnTo>
                  <a:pt x="124968" y="0"/>
                </a:lnTo>
                <a:close/>
              </a:path>
            </a:pathLst>
          </a:custGeom>
          <a:solidFill>
            <a:srgbClr val="B5C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6839711" y="2750820"/>
            <a:ext cx="1518285" cy="2086610"/>
            <a:chOff x="6839711" y="2750820"/>
            <a:chExt cx="1518285" cy="208661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39711" y="2750820"/>
              <a:ext cx="1299972" cy="129997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051547" y="3531108"/>
              <a:ext cx="1300480" cy="1300480"/>
            </a:xfrm>
            <a:custGeom>
              <a:avLst/>
              <a:gdLst/>
              <a:ahLst/>
              <a:cxnLst/>
              <a:rect l="l" t="t" r="r" b="b"/>
              <a:pathLst>
                <a:path w="1300479" h="1300479">
                  <a:moveTo>
                    <a:pt x="1169924" y="0"/>
                  </a:moveTo>
                  <a:lnTo>
                    <a:pt x="130048" y="0"/>
                  </a:lnTo>
                  <a:lnTo>
                    <a:pt x="79402" y="10211"/>
                  </a:lnTo>
                  <a:lnTo>
                    <a:pt x="38068" y="38068"/>
                  </a:lnTo>
                  <a:lnTo>
                    <a:pt x="10211" y="79402"/>
                  </a:lnTo>
                  <a:lnTo>
                    <a:pt x="0" y="130047"/>
                  </a:lnTo>
                  <a:lnTo>
                    <a:pt x="0" y="1169923"/>
                  </a:lnTo>
                  <a:lnTo>
                    <a:pt x="10211" y="1220569"/>
                  </a:lnTo>
                  <a:lnTo>
                    <a:pt x="38068" y="1261903"/>
                  </a:lnTo>
                  <a:lnTo>
                    <a:pt x="79402" y="1289760"/>
                  </a:lnTo>
                  <a:lnTo>
                    <a:pt x="130048" y="1299971"/>
                  </a:lnTo>
                  <a:lnTo>
                    <a:pt x="1169924" y="1299971"/>
                  </a:lnTo>
                  <a:lnTo>
                    <a:pt x="1220569" y="1289760"/>
                  </a:lnTo>
                  <a:lnTo>
                    <a:pt x="1261903" y="1261903"/>
                  </a:lnTo>
                  <a:lnTo>
                    <a:pt x="1289760" y="1220569"/>
                  </a:lnTo>
                  <a:lnTo>
                    <a:pt x="1299972" y="1169923"/>
                  </a:lnTo>
                  <a:lnTo>
                    <a:pt x="1299972" y="130047"/>
                  </a:lnTo>
                  <a:lnTo>
                    <a:pt x="1289760" y="79402"/>
                  </a:lnTo>
                  <a:lnTo>
                    <a:pt x="1261903" y="38068"/>
                  </a:lnTo>
                  <a:lnTo>
                    <a:pt x="1220569" y="10211"/>
                  </a:lnTo>
                  <a:lnTo>
                    <a:pt x="116992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51547" y="3531108"/>
              <a:ext cx="1300480" cy="1300480"/>
            </a:xfrm>
            <a:custGeom>
              <a:avLst/>
              <a:gdLst/>
              <a:ahLst/>
              <a:cxnLst/>
              <a:rect l="l" t="t" r="r" b="b"/>
              <a:pathLst>
                <a:path w="1300479" h="1300479">
                  <a:moveTo>
                    <a:pt x="0" y="130047"/>
                  </a:moveTo>
                  <a:lnTo>
                    <a:pt x="10211" y="79402"/>
                  </a:lnTo>
                  <a:lnTo>
                    <a:pt x="38068" y="38068"/>
                  </a:lnTo>
                  <a:lnTo>
                    <a:pt x="79402" y="10211"/>
                  </a:lnTo>
                  <a:lnTo>
                    <a:pt x="130048" y="0"/>
                  </a:lnTo>
                  <a:lnTo>
                    <a:pt x="1169924" y="0"/>
                  </a:lnTo>
                  <a:lnTo>
                    <a:pt x="1220569" y="10211"/>
                  </a:lnTo>
                  <a:lnTo>
                    <a:pt x="1261903" y="38068"/>
                  </a:lnTo>
                  <a:lnTo>
                    <a:pt x="1289760" y="79402"/>
                  </a:lnTo>
                  <a:lnTo>
                    <a:pt x="1299972" y="130047"/>
                  </a:lnTo>
                  <a:lnTo>
                    <a:pt x="1299972" y="1169923"/>
                  </a:lnTo>
                  <a:lnTo>
                    <a:pt x="1289760" y="1220569"/>
                  </a:lnTo>
                  <a:lnTo>
                    <a:pt x="1261903" y="1261903"/>
                  </a:lnTo>
                  <a:lnTo>
                    <a:pt x="1220569" y="1289760"/>
                  </a:lnTo>
                  <a:lnTo>
                    <a:pt x="1169924" y="1299971"/>
                  </a:lnTo>
                  <a:lnTo>
                    <a:pt x="130048" y="1299971"/>
                  </a:lnTo>
                  <a:lnTo>
                    <a:pt x="79402" y="1289760"/>
                  </a:lnTo>
                  <a:lnTo>
                    <a:pt x="38068" y="1261903"/>
                  </a:lnTo>
                  <a:lnTo>
                    <a:pt x="10211" y="1220569"/>
                  </a:lnTo>
                  <a:lnTo>
                    <a:pt x="0" y="1169923"/>
                  </a:lnTo>
                  <a:lnTo>
                    <a:pt x="0" y="13004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301610" y="4024122"/>
            <a:ext cx="8013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Evolution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5" dirty="0"/>
              <a:t>Software</a:t>
            </a:r>
            <a:r>
              <a:rPr spc="-135" dirty="0"/>
              <a:t> </a:t>
            </a:r>
            <a:r>
              <a:rPr spc="-185" dirty="0"/>
              <a:t>Engineering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2375"/>
              </a:lnSpc>
              <a:spcBef>
                <a:spcPts val="95"/>
              </a:spcBef>
            </a:pPr>
            <a:r>
              <a:rPr sz="2200" spc="-70" dirty="0"/>
              <a:t>„Software-</a:t>
            </a:r>
            <a:r>
              <a:rPr sz="2200" spc="-114" dirty="0"/>
              <a:t>Engineering</a:t>
            </a:r>
            <a:r>
              <a:rPr sz="2200" spc="-50" dirty="0"/>
              <a:t> </a:t>
            </a:r>
            <a:r>
              <a:rPr sz="2200" spc="-55" dirty="0"/>
              <a:t>ist</a:t>
            </a:r>
            <a:r>
              <a:rPr sz="2200" spc="-75" dirty="0"/>
              <a:t> </a:t>
            </a:r>
            <a:r>
              <a:rPr sz="2200" spc="-90" dirty="0"/>
              <a:t>eine</a:t>
            </a:r>
            <a:r>
              <a:rPr sz="2200" spc="-55" dirty="0"/>
              <a:t> </a:t>
            </a:r>
            <a:r>
              <a:rPr sz="2200" b="1" spc="-190" dirty="0">
                <a:latin typeface="Arial"/>
                <a:cs typeface="Arial"/>
              </a:rPr>
              <a:t>technische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spc="-165" dirty="0">
                <a:latin typeface="Arial"/>
                <a:cs typeface="Arial"/>
              </a:rPr>
              <a:t>Disziplin</a:t>
            </a:r>
            <a:r>
              <a:rPr sz="2200" spc="-165" dirty="0"/>
              <a:t>,</a:t>
            </a:r>
            <a:r>
              <a:rPr sz="2200" spc="-85" dirty="0"/>
              <a:t> </a:t>
            </a:r>
            <a:r>
              <a:rPr sz="2200" spc="-75" dirty="0"/>
              <a:t>die</a:t>
            </a:r>
            <a:r>
              <a:rPr sz="2200" spc="-65" dirty="0"/>
              <a:t> </a:t>
            </a:r>
            <a:r>
              <a:rPr sz="2200" spc="-135" dirty="0"/>
              <a:t>sich</a:t>
            </a:r>
            <a:r>
              <a:rPr sz="2200" spc="-80" dirty="0"/>
              <a:t> </a:t>
            </a:r>
            <a:r>
              <a:rPr sz="2200" spc="-25" dirty="0"/>
              <a:t>mit</a:t>
            </a:r>
            <a:endParaRPr sz="2200">
              <a:latin typeface="Arial"/>
              <a:cs typeface="Arial"/>
            </a:endParaRPr>
          </a:p>
          <a:p>
            <a:pPr marR="5080" algn="r">
              <a:lnSpc>
                <a:spcPts val="2210"/>
              </a:lnSpc>
            </a:pPr>
            <a:r>
              <a:rPr sz="2200" b="1" spc="-130" dirty="0">
                <a:latin typeface="Arial"/>
                <a:cs typeface="Arial"/>
              </a:rPr>
              <a:t>allen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190" dirty="0">
                <a:latin typeface="Arial"/>
                <a:cs typeface="Arial"/>
              </a:rPr>
              <a:t>Aspekten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spc="-70" dirty="0"/>
              <a:t>der</a:t>
            </a:r>
            <a:r>
              <a:rPr sz="2200" spc="-50" dirty="0"/>
              <a:t> </a:t>
            </a:r>
            <a:r>
              <a:rPr sz="2200" spc="-90" dirty="0"/>
              <a:t>Softwareherstellung</a:t>
            </a:r>
            <a:r>
              <a:rPr sz="2200" spc="-45" dirty="0"/>
              <a:t> </a:t>
            </a:r>
            <a:r>
              <a:rPr sz="2200" spc="-10" dirty="0"/>
              <a:t>beschäftigt.“</a:t>
            </a:r>
            <a:endParaRPr sz="2200">
              <a:latin typeface="Arial"/>
              <a:cs typeface="Arial"/>
            </a:endParaRPr>
          </a:p>
          <a:p>
            <a:pPr marR="5715" algn="r">
              <a:lnSpc>
                <a:spcPts val="1635"/>
              </a:lnSpc>
            </a:pPr>
            <a:r>
              <a:rPr sz="1500" i="1" spc="-65" dirty="0">
                <a:latin typeface="Arial"/>
                <a:cs typeface="Arial"/>
              </a:rPr>
              <a:t>Ian</a:t>
            </a:r>
            <a:r>
              <a:rPr sz="1500" i="1" spc="-60" dirty="0">
                <a:latin typeface="Arial"/>
                <a:cs typeface="Arial"/>
              </a:rPr>
              <a:t> </a:t>
            </a:r>
            <a:r>
              <a:rPr sz="1500" i="1" spc="-10" dirty="0">
                <a:latin typeface="Arial"/>
                <a:cs typeface="Arial"/>
              </a:rPr>
              <a:t>Sommerville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ts val="2630"/>
              </a:lnSpc>
            </a:pPr>
            <a:r>
              <a:rPr sz="2200" b="1" spc="-110" dirty="0">
                <a:latin typeface="Arial"/>
                <a:cs typeface="Arial"/>
              </a:rPr>
              <a:t>Prozessaktivitäten:</a:t>
            </a:r>
            <a:endParaRPr sz="2200">
              <a:latin typeface="Arial"/>
              <a:cs typeface="Arial"/>
            </a:endParaRPr>
          </a:p>
          <a:p>
            <a:pPr marL="697865" indent="-227965">
              <a:lnSpc>
                <a:spcPts val="2365"/>
              </a:lnSpc>
              <a:buClr>
                <a:srgbClr val="2D75B6"/>
              </a:buClr>
              <a:buSzPct val="109090"/>
              <a:buFont typeface="Wingdings"/>
              <a:buChar char=""/>
              <a:tabLst>
                <a:tab pos="697865" algn="l"/>
              </a:tabLst>
            </a:pPr>
            <a:r>
              <a:rPr sz="2200" spc="-95" dirty="0"/>
              <a:t>Spezifikation,</a:t>
            </a:r>
            <a:r>
              <a:rPr sz="2200" spc="-45" dirty="0"/>
              <a:t> </a:t>
            </a:r>
            <a:r>
              <a:rPr sz="2200" spc="-95" dirty="0"/>
              <a:t>Entwicklung,</a:t>
            </a:r>
            <a:r>
              <a:rPr sz="2200" spc="-40" dirty="0"/>
              <a:t> </a:t>
            </a:r>
            <a:r>
              <a:rPr sz="2200" spc="-95" dirty="0"/>
              <a:t>Validierung,</a:t>
            </a:r>
            <a:r>
              <a:rPr sz="2200" spc="-80" dirty="0"/>
              <a:t> </a:t>
            </a:r>
            <a:r>
              <a:rPr sz="2200" spc="-10" dirty="0"/>
              <a:t>Evolution</a:t>
            </a:r>
            <a:endParaRPr sz="2200"/>
          </a:p>
          <a:p>
            <a:pPr marL="697865">
              <a:lnSpc>
                <a:spcPts val="2375"/>
              </a:lnSpc>
            </a:pPr>
            <a:r>
              <a:rPr sz="2200" spc="-25" dirty="0"/>
              <a:t>(Weiterentwicklung)</a:t>
            </a:r>
            <a:endParaRPr sz="2200"/>
          </a:p>
          <a:p>
            <a:pPr marL="12700">
              <a:lnSpc>
                <a:spcPts val="2630"/>
              </a:lnSpc>
              <a:spcBef>
                <a:spcPts val="470"/>
              </a:spcBef>
            </a:pPr>
            <a:r>
              <a:rPr sz="2200" b="1" spc="-145" dirty="0">
                <a:latin typeface="Arial"/>
                <a:cs typeface="Arial"/>
              </a:rPr>
              <a:t>Softwareentwicklungsprozesse</a:t>
            </a:r>
            <a:endParaRPr sz="2200">
              <a:latin typeface="Arial"/>
              <a:cs typeface="Arial"/>
            </a:endParaRPr>
          </a:p>
          <a:p>
            <a:pPr marL="697865" indent="-227965">
              <a:lnSpc>
                <a:spcPts val="2630"/>
              </a:lnSpc>
              <a:buClr>
                <a:srgbClr val="2D75B6"/>
              </a:buClr>
              <a:buSzPct val="109090"/>
              <a:buFont typeface="Wingdings"/>
              <a:buChar char=""/>
              <a:tabLst>
                <a:tab pos="697865" algn="l"/>
              </a:tabLst>
            </a:pPr>
            <a:r>
              <a:rPr sz="2200" spc="-130" dirty="0"/>
              <a:t>Reihenfolge</a:t>
            </a:r>
            <a:r>
              <a:rPr sz="2200" spc="-30" dirty="0"/>
              <a:t> </a:t>
            </a:r>
            <a:r>
              <a:rPr sz="2200" spc="-85" dirty="0"/>
              <a:t>und Häufigkeit</a:t>
            </a:r>
            <a:r>
              <a:rPr sz="2200" spc="-60" dirty="0"/>
              <a:t> </a:t>
            </a:r>
            <a:r>
              <a:rPr sz="2200" spc="-70" dirty="0"/>
              <a:t>der </a:t>
            </a:r>
            <a:r>
              <a:rPr sz="2200" spc="-45" dirty="0"/>
              <a:t>Prozessaktivitäten</a:t>
            </a:r>
            <a:endParaRPr sz="2200"/>
          </a:p>
          <a:p>
            <a:pPr marL="12700">
              <a:lnSpc>
                <a:spcPts val="2630"/>
              </a:lnSpc>
              <a:spcBef>
                <a:spcPts val="465"/>
              </a:spcBef>
            </a:pPr>
            <a:r>
              <a:rPr sz="2200" b="1" spc="-125" dirty="0">
                <a:latin typeface="Arial"/>
                <a:cs typeface="Arial"/>
              </a:rPr>
              <a:t>Methoden</a:t>
            </a:r>
            <a:r>
              <a:rPr sz="2200" b="1" spc="-55" dirty="0">
                <a:latin typeface="Arial"/>
                <a:cs typeface="Arial"/>
              </a:rPr>
              <a:t> </a:t>
            </a:r>
            <a:r>
              <a:rPr sz="2200" b="1" spc="-185" dirty="0">
                <a:latin typeface="Arial"/>
                <a:cs typeface="Arial"/>
              </a:rPr>
              <a:t>und</a:t>
            </a:r>
            <a:r>
              <a:rPr sz="2200" b="1" spc="-80" dirty="0">
                <a:latin typeface="Arial"/>
                <a:cs typeface="Arial"/>
              </a:rPr>
              <a:t> </a:t>
            </a:r>
            <a:r>
              <a:rPr sz="2200" b="1" spc="-185" dirty="0">
                <a:latin typeface="Arial"/>
                <a:cs typeface="Arial"/>
              </a:rPr>
              <a:t>Werkzeuge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spc="-225" dirty="0">
                <a:latin typeface="Arial"/>
                <a:cs typeface="Arial"/>
              </a:rPr>
              <a:t>des</a:t>
            </a:r>
            <a:r>
              <a:rPr sz="2200" b="1" spc="-80" dirty="0">
                <a:latin typeface="Arial"/>
                <a:cs typeface="Arial"/>
              </a:rPr>
              <a:t> </a:t>
            </a:r>
            <a:r>
              <a:rPr sz="2200" b="1" spc="-95" dirty="0">
                <a:latin typeface="Arial"/>
                <a:cs typeface="Arial"/>
              </a:rPr>
              <a:t>Softwareentwicklung</a:t>
            </a:r>
            <a:endParaRPr sz="2200">
              <a:latin typeface="Arial"/>
              <a:cs typeface="Arial"/>
            </a:endParaRPr>
          </a:p>
          <a:p>
            <a:pPr marL="697865" indent="-227965">
              <a:lnSpc>
                <a:spcPts val="2365"/>
              </a:lnSpc>
              <a:buClr>
                <a:srgbClr val="2D75B6"/>
              </a:buClr>
              <a:buSzPct val="109090"/>
              <a:buFont typeface="Wingdings"/>
              <a:buChar char=""/>
              <a:tabLst>
                <a:tab pos="697865" algn="l"/>
              </a:tabLst>
            </a:pPr>
            <a:r>
              <a:rPr sz="2200" spc="-105" dirty="0"/>
              <a:t>Anforderungsmanagement,</a:t>
            </a:r>
            <a:r>
              <a:rPr sz="2200" spc="-50" dirty="0"/>
              <a:t> </a:t>
            </a:r>
            <a:r>
              <a:rPr sz="2200" spc="-95" dirty="0"/>
              <a:t>Spezifikation-</a:t>
            </a:r>
            <a:r>
              <a:rPr sz="2200" spc="-40" dirty="0"/>
              <a:t> </a:t>
            </a:r>
            <a:r>
              <a:rPr sz="2200" spc="-25" dirty="0"/>
              <a:t>und</a:t>
            </a:r>
            <a:endParaRPr sz="2200"/>
          </a:p>
          <a:p>
            <a:pPr marL="697865">
              <a:lnSpc>
                <a:spcPts val="2360"/>
              </a:lnSpc>
            </a:pPr>
            <a:r>
              <a:rPr sz="2200" spc="-50" dirty="0"/>
              <a:t>Modellierungssprachen</a:t>
            </a:r>
            <a:endParaRPr sz="2200"/>
          </a:p>
          <a:p>
            <a:pPr marL="697865" indent="-227965">
              <a:lnSpc>
                <a:spcPts val="2620"/>
              </a:lnSpc>
              <a:buClr>
                <a:srgbClr val="2D75B6"/>
              </a:buClr>
              <a:buSzPct val="109090"/>
              <a:buFont typeface="Wingdings"/>
              <a:buChar char=""/>
              <a:tabLst>
                <a:tab pos="697865" algn="l"/>
              </a:tabLst>
            </a:pPr>
            <a:r>
              <a:rPr sz="2200" spc="-160" dirty="0"/>
              <a:t>Testen,</a:t>
            </a:r>
            <a:r>
              <a:rPr sz="2200" spc="-60" dirty="0"/>
              <a:t> </a:t>
            </a:r>
            <a:r>
              <a:rPr sz="2200" spc="-95" dirty="0"/>
              <a:t>Simulierung,</a:t>
            </a:r>
            <a:r>
              <a:rPr sz="2200" spc="-75" dirty="0"/>
              <a:t> </a:t>
            </a:r>
            <a:r>
              <a:rPr sz="2200" spc="-55" dirty="0"/>
              <a:t>Model</a:t>
            </a:r>
            <a:r>
              <a:rPr sz="2200" spc="-70" dirty="0"/>
              <a:t> </a:t>
            </a:r>
            <a:r>
              <a:rPr sz="2200" spc="-25" dirty="0"/>
              <a:t>Checking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73952"/>
            <a:ext cx="9144000" cy="384175"/>
          </a:xfrm>
          <a:custGeom>
            <a:avLst/>
            <a:gdLst/>
            <a:ahLst/>
            <a:cxnLst/>
            <a:rect l="l" t="t" r="r" b="b"/>
            <a:pathLst>
              <a:path w="9144000" h="384175">
                <a:moveTo>
                  <a:pt x="9144000" y="0"/>
                </a:moveTo>
                <a:lnTo>
                  <a:pt x="0" y="0"/>
                </a:lnTo>
                <a:lnTo>
                  <a:pt x="0" y="384048"/>
                </a:lnTo>
                <a:lnTo>
                  <a:pt x="9144000" y="384048"/>
                </a:lnTo>
                <a:lnTo>
                  <a:pt x="9144000" y="0"/>
                </a:lnTo>
                <a:close/>
              </a:path>
            </a:pathLst>
          </a:custGeom>
          <a:solidFill>
            <a:srgbClr val="2B54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4329" y="3603497"/>
            <a:ext cx="8437245" cy="0"/>
          </a:xfrm>
          <a:custGeom>
            <a:avLst/>
            <a:gdLst/>
            <a:ahLst/>
            <a:cxnLst/>
            <a:rect l="l" t="t" r="r" b="b"/>
            <a:pathLst>
              <a:path w="8437245">
                <a:moveTo>
                  <a:pt x="0" y="0"/>
                </a:moveTo>
                <a:lnTo>
                  <a:pt x="8436864" y="0"/>
                </a:lnTo>
              </a:path>
            </a:pathLst>
          </a:custGeom>
          <a:ln w="31750">
            <a:solidFill>
              <a:srgbClr val="2B54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191" y="2889504"/>
            <a:ext cx="451104" cy="652272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58697" y="2841447"/>
            <a:ext cx="12172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Inhalt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26844" y="3670218"/>
            <a:ext cx="4175125" cy="139636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2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spc="-10" dirty="0">
                <a:solidFill>
                  <a:srgbClr val="A4A4A4"/>
                </a:solidFill>
                <a:latin typeface="Arial"/>
                <a:cs typeface="Arial"/>
              </a:rPr>
              <a:t>Einführung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spc="-114" dirty="0">
                <a:latin typeface="Arial"/>
                <a:cs typeface="Arial"/>
              </a:rPr>
              <a:t>Softwareentwicklungsprozesse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spc="-145" dirty="0">
                <a:solidFill>
                  <a:srgbClr val="A4A4A4"/>
                </a:solidFill>
                <a:latin typeface="Arial"/>
                <a:cs typeface="Arial"/>
              </a:rPr>
              <a:t>Fazit</a:t>
            </a:r>
            <a:r>
              <a:rPr sz="2400" spc="-140" dirty="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sz="2400" spc="-210" dirty="0">
                <a:solidFill>
                  <a:srgbClr val="A4A4A4"/>
                </a:solidFill>
                <a:latin typeface="Arial"/>
                <a:cs typeface="Arial"/>
              </a:rPr>
              <a:t>+</a:t>
            </a:r>
            <a:r>
              <a:rPr sz="2400" spc="-135" dirty="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A4A4A4"/>
                </a:solidFill>
                <a:latin typeface="Arial"/>
                <a:cs typeface="Arial"/>
              </a:rPr>
              <a:t>Literatur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542" y="6467347"/>
            <a:ext cx="5469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200" dirty="0">
                <a:solidFill>
                  <a:srgbClr val="FFFFFF"/>
                </a:solidFill>
                <a:latin typeface="Arial"/>
                <a:cs typeface="Arial"/>
              </a:rPr>
              <a:t>SEES: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Grundlagen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 -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Prof.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Dr.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Sabine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Glesner,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Paul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Kogel,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Wolffhardt Schwabe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33358" y="655330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A0C58-9A6B-1231-D8BB-B5B9F089F3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lang="en-DE" spc="-50" smtClean="0"/>
              <a:t>7</a:t>
            </a:fld>
            <a:endParaRPr lang="en-DE"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Softwareentwicklungsprozesse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52473"/>
            <a:ext cx="6835775" cy="9766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660"/>
              </a:spcBef>
            </a:pPr>
            <a:r>
              <a:rPr sz="2400" spc="-155" dirty="0">
                <a:latin typeface="Arial"/>
                <a:cs typeface="Arial"/>
              </a:rPr>
              <a:t>Ausgehend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von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informellen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Anforderungen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werden </a:t>
            </a:r>
            <a:r>
              <a:rPr sz="2400" spc="-25" dirty="0">
                <a:latin typeface="Arial"/>
                <a:cs typeface="Arial"/>
              </a:rPr>
              <a:t>die </a:t>
            </a:r>
            <a:r>
              <a:rPr sz="2400" b="1" spc="-190" dirty="0">
                <a:latin typeface="Arial"/>
                <a:cs typeface="Arial"/>
              </a:rPr>
              <a:t>grundlegenden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125" dirty="0">
                <a:latin typeface="Arial"/>
                <a:cs typeface="Arial"/>
              </a:rPr>
              <a:t>Aktivitäten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in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einem </a:t>
            </a:r>
            <a:r>
              <a:rPr sz="2400" b="1" spc="-195" dirty="0">
                <a:latin typeface="Arial"/>
                <a:cs typeface="Arial"/>
              </a:rPr>
              <a:t>Softwareentwicklungsprozess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kombiniert.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4355972"/>
            <a:ext cx="6971665" cy="13963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126364">
              <a:lnSpc>
                <a:spcPct val="80000"/>
              </a:lnSpc>
              <a:spcBef>
                <a:spcPts val="675"/>
              </a:spcBef>
            </a:pPr>
            <a:r>
              <a:rPr sz="2400" spc="-145" dirty="0">
                <a:latin typeface="Arial"/>
                <a:cs typeface="Arial"/>
              </a:rPr>
              <a:t>Verschiedene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Softwareentwicklungsprozesse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legen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den </a:t>
            </a:r>
            <a:r>
              <a:rPr sz="2400" b="1" spc="-195" dirty="0">
                <a:latin typeface="Arial"/>
                <a:cs typeface="Arial"/>
              </a:rPr>
              <a:t>Schwerpunkt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auf </a:t>
            </a:r>
            <a:r>
              <a:rPr sz="2400" spc="-125" dirty="0">
                <a:latin typeface="Arial"/>
                <a:cs typeface="Arial"/>
              </a:rPr>
              <a:t>verschiedene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Aspekte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der </a:t>
            </a:r>
            <a:r>
              <a:rPr sz="2400" spc="-40" dirty="0">
                <a:latin typeface="Arial"/>
                <a:cs typeface="Arial"/>
              </a:rPr>
              <a:t>Softwareentwicklung.</a:t>
            </a:r>
            <a:endParaRPr sz="2400">
              <a:latin typeface="Arial"/>
              <a:cs typeface="Arial"/>
            </a:endParaRPr>
          </a:p>
          <a:p>
            <a:pPr marL="766445">
              <a:lnSpc>
                <a:spcPct val="100000"/>
              </a:lnSpc>
              <a:spcBef>
                <a:spcPts val="420"/>
              </a:spcBef>
            </a:pPr>
            <a:r>
              <a:rPr sz="2400" spc="-355" dirty="0">
                <a:latin typeface="Arial"/>
                <a:cs typeface="Arial"/>
              </a:rPr>
              <a:t>Es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gibt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keinen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idealen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15" dirty="0">
                <a:latin typeface="Arial"/>
                <a:cs typeface="Arial"/>
              </a:rPr>
              <a:t>Prozess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für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alle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Situationen!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0936" y="2602992"/>
            <a:ext cx="1783080" cy="403860"/>
          </a:xfrm>
          <a:custGeom>
            <a:avLst/>
            <a:gdLst/>
            <a:ahLst/>
            <a:cxnLst/>
            <a:rect l="l" t="t" r="r" b="b"/>
            <a:pathLst>
              <a:path w="1783080" h="403860">
                <a:moveTo>
                  <a:pt x="0" y="403860"/>
                </a:moveTo>
                <a:lnTo>
                  <a:pt x="1783080" y="403860"/>
                </a:lnTo>
                <a:lnTo>
                  <a:pt x="1783080" y="0"/>
                </a:lnTo>
                <a:lnTo>
                  <a:pt x="0" y="0"/>
                </a:lnTo>
                <a:lnTo>
                  <a:pt x="0" y="403860"/>
                </a:lnTo>
                <a:close/>
              </a:path>
            </a:pathLst>
          </a:custGeom>
          <a:ln w="12699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4586" y="2596642"/>
            <a:ext cx="1795780" cy="416559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81280" rIns="0" bIns="0" rtlCol="0">
            <a:spAutoFit/>
          </a:bodyPr>
          <a:lstStyle/>
          <a:p>
            <a:pPr marL="438784">
              <a:lnSpc>
                <a:spcPct val="100000"/>
              </a:lnSpc>
              <a:spcBef>
                <a:spcPts val="64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Spezifikation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586" y="3013201"/>
            <a:ext cx="1795780" cy="980440"/>
          </a:xfrm>
          <a:prstGeom prst="rect">
            <a:avLst/>
          </a:prstGeom>
          <a:solidFill>
            <a:srgbClr val="D2DEEE">
              <a:alpha val="90194"/>
            </a:srgbClr>
          </a:solidFill>
          <a:ln w="3175">
            <a:solidFill>
              <a:srgbClr val="D2DEEE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96215" marR="144780" indent="-114300">
              <a:lnSpc>
                <a:spcPts val="1540"/>
              </a:lnSpc>
              <a:spcBef>
                <a:spcPts val="470"/>
              </a:spcBef>
              <a:buChar char="•"/>
              <a:tabLst>
                <a:tab pos="196215" algn="l"/>
              </a:tabLst>
            </a:pPr>
            <a:r>
              <a:rPr sz="1400" spc="-30" dirty="0">
                <a:latin typeface="Arial"/>
                <a:cs typeface="Arial"/>
              </a:rPr>
              <a:t>Definition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der</a:t>
            </a:r>
            <a:r>
              <a:rPr sz="1400" spc="-25" dirty="0">
                <a:latin typeface="Arial"/>
                <a:cs typeface="Arial"/>
              </a:rPr>
              <a:t> zu </a:t>
            </a:r>
            <a:r>
              <a:rPr sz="1400" spc="-10" dirty="0">
                <a:latin typeface="Arial"/>
                <a:cs typeface="Arial"/>
              </a:rPr>
              <a:t>entwickelnden </a:t>
            </a:r>
            <a:r>
              <a:rPr sz="1400" spc="-60" dirty="0">
                <a:latin typeface="Arial"/>
                <a:cs typeface="Arial"/>
              </a:rPr>
              <a:t>Software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und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ihrer </a:t>
            </a:r>
            <a:r>
              <a:rPr sz="1400" spc="-80" dirty="0">
                <a:latin typeface="Arial"/>
                <a:cs typeface="Arial"/>
              </a:rPr>
              <a:t>Einsatzbedingungen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63951" y="2602992"/>
            <a:ext cx="1783080" cy="403860"/>
          </a:xfrm>
          <a:custGeom>
            <a:avLst/>
            <a:gdLst/>
            <a:ahLst/>
            <a:cxnLst/>
            <a:rect l="l" t="t" r="r" b="b"/>
            <a:pathLst>
              <a:path w="1783079" h="403860">
                <a:moveTo>
                  <a:pt x="0" y="403860"/>
                </a:moveTo>
                <a:lnTo>
                  <a:pt x="1783079" y="403860"/>
                </a:lnTo>
                <a:lnTo>
                  <a:pt x="1783079" y="0"/>
                </a:lnTo>
                <a:lnTo>
                  <a:pt x="0" y="0"/>
                </a:lnTo>
                <a:lnTo>
                  <a:pt x="0" y="403860"/>
                </a:lnTo>
                <a:close/>
              </a:path>
            </a:pathLst>
          </a:custGeom>
          <a:ln w="12699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57601" y="2596642"/>
            <a:ext cx="1795780" cy="416559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81280" rIns="0" bIns="0" rtlCol="0">
            <a:spAutoFit/>
          </a:bodyPr>
          <a:lstStyle/>
          <a:p>
            <a:pPr marL="461645">
              <a:lnSpc>
                <a:spcPct val="100000"/>
              </a:lnSpc>
              <a:spcBef>
                <a:spcPts val="64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Entwicklung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7601" y="3013201"/>
            <a:ext cx="1795780" cy="980440"/>
          </a:xfrm>
          <a:prstGeom prst="rect">
            <a:avLst/>
          </a:prstGeom>
          <a:solidFill>
            <a:srgbClr val="D2DEEE">
              <a:alpha val="90194"/>
            </a:srgbClr>
          </a:solidFill>
          <a:ln w="3175">
            <a:solidFill>
              <a:srgbClr val="D2DEEE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95580" marR="372745" indent="-114300">
              <a:lnSpc>
                <a:spcPts val="1540"/>
              </a:lnSpc>
              <a:spcBef>
                <a:spcPts val="470"/>
              </a:spcBef>
              <a:buChar char="•"/>
              <a:tabLst>
                <a:tab pos="195580" algn="l"/>
              </a:tabLst>
            </a:pPr>
            <a:r>
              <a:rPr sz="1400" spc="-40" dirty="0">
                <a:latin typeface="Arial"/>
                <a:cs typeface="Arial"/>
              </a:rPr>
              <a:t>Entwurf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und </a:t>
            </a:r>
            <a:r>
              <a:rPr sz="1400" spc="-65" dirty="0">
                <a:latin typeface="Arial"/>
                <a:cs typeface="Arial"/>
              </a:rPr>
              <a:t>Programmierung </a:t>
            </a:r>
            <a:r>
              <a:rPr sz="1400" spc="-35" dirty="0">
                <a:latin typeface="Arial"/>
                <a:cs typeface="Arial"/>
              </a:rPr>
              <a:t>der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Software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96967" y="2602992"/>
            <a:ext cx="1783080" cy="403860"/>
          </a:xfrm>
          <a:custGeom>
            <a:avLst/>
            <a:gdLst/>
            <a:ahLst/>
            <a:cxnLst/>
            <a:rect l="l" t="t" r="r" b="b"/>
            <a:pathLst>
              <a:path w="1783079" h="403860">
                <a:moveTo>
                  <a:pt x="0" y="403860"/>
                </a:moveTo>
                <a:lnTo>
                  <a:pt x="1783080" y="403860"/>
                </a:lnTo>
                <a:lnTo>
                  <a:pt x="1783080" y="0"/>
                </a:lnTo>
                <a:lnTo>
                  <a:pt x="0" y="0"/>
                </a:lnTo>
                <a:lnTo>
                  <a:pt x="0" y="403860"/>
                </a:lnTo>
                <a:close/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90617" y="2596642"/>
            <a:ext cx="1795780" cy="416559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81280" rIns="0" bIns="0" rtlCol="0">
            <a:spAutoFit/>
          </a:bodyPr>
          <a:lstStyle/>
          <a:p>
            <a:pPr marL="490220">
              <a:lnSpc>
                <a:spcPct val="100000"/>
              </a:lnSpc>
              <a:spcBef>
                <a:spcPts val="64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Validierung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0617" y="3013201"/>
            <a:ext cx="1795780" cy="980440"/>
          </a:xfrm>
          <a:prstGeom prst="rect">
            <a:avLst/>
          </a:prstGeom>
          <a:solidFill>
            <a:srgbClr val="D2DEEE">
              <a:alpha val="90194"/>
            </a:srgbClr>
          </a:solidFill>
          <a:ln w="3175">
            <a:solidFill>
              <a:srgbClr val="D2DEEE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95580" marR="376555" indent="-114300">
              <a:lnSpc>
                <a:spcPts val="1540"/>
              </a:lnSpc>
              <a:spcBef>
                <a:spcPts val="470"/>
              </a:spcBef>
              <a:buChar char="•"/>
              <a:tabLst>
                <a:tab pos="195580" algn="l"/>
              </a:tabLst>
            </a:pPr>
            <a:r>
              <a:rPr sz="1400" spc="-50" dirty="0">
                <a:latin typeface="Arial"/>
                <a:cs typeface="Arial"/>
              </a:rPr>
              <a:t>Überprüfung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der </a:t>
            </a:r>
            <a:r>
              <a:rPr sz="1400" spc="-60" dirty="0">
                <a:latin typeface="Arial"/>
                <a:cs typeface="Arial"/>
              </a:rPr>
              <a:t>Software </a:t>
            </a:r>
            <a:r>
              <a:rPr sz="1400" spc="-25" dirty="0">
                <a:latin typeface="Arial"/>
                <a:cs typeface="Arial"/>
              </a:rPr>
              <a:t>auf </a:t>
            </a:r>
            <a:r>
              <a:rPr sz="1400" spc="-55" dirty="0">
                <a:latin typeface="Arial"/>
                <a:cs typeface="Arial"/>
              </a:rPr>
              <a:t>Erfüllung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der </a:t>
            </a:r>
            <a:r>
              <a:rPr sz="1400" spc="-10" dirty="0">
                <a:latin typeface="Arial"/>
                <a:cs typeface="Arial"/>
              </a:rPr>
              <a:t>Anforderungen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29983" y="2602992"/>
            <a:ext cx="1783080" cy="403860"/>
          </a:xfrm>
          <a:custGeom>
            <a:avLst/>
            <a:gdLst/>
            <a:ahLst/>
            <a:cxnLst/>
            <a:rect l="l" t="t" r="r" b="b"/>
            <a:pathLst>
              <a:path w="1783079" h="403860">
                <a:moveTo>
                  <a:pt x="0" y="403860"/>
                </a:moveTo>
                <a:lnTo>
                  <a:pt x="1783079" y="403860"/>
                </a:lnTo>
                <a:lnTo>
                  <a:pt x="1783079" y="0"/>
                </a:lnTo>
                <a:lnTo>
                  <a:pt x="0" y="0"/>
                </a:lnTo>
                <a:lnTo>
                  <a:pt x="0" y="403860"/>
                </a:lnTo>
                <a:close/>
              </a:path>
            </a:pathLst>
          </a:custGeom>
          <a:ln w="12699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23633" y="2596642"/>
            <a:ext cx="1795780" cy="416559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81280" rIns="0" bIns="0" rtlCol="0">
            <a:spAutoFit/>
          </a:bodyPr>
          <a:lstStyle/>
          <a:p>
            <a:pPr marL="558800">
              <a:lnSpc>
                <a:spcPct val="100000"/>
              </a:lnSpc>
              <a:spcBef>
                <a:spcPts val="64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Evolution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6723633" y="3013201"/>
            <a:ext cx="1795780" cy="980440"/>
          </a:xfrm>
          <a:prstGeom prst="rect">
            <a:avLst/>
          </a:prstGeom>
          <a:solidFill>
            <a:srgbClr val="D2DEEE">
              <a:alpha val="90194"/>
            </a:srgbClr>
          </a:solidFill>
          <a:ln w="3175">
            <a:solidFill>
              <a:srgbClr val="D2DEEE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95580" marR="226695" indent="-114300">
              <a:lnSpc>
                <a:spcPts val="1540"/>
              </a:lnSpc>
              <a:spcBef>
                <a:spcPts val="470"/>
              </a:spcBef>
              <a:buChar char="•"/>
              <a:tabLst>
                <a:tab pos="195580" algn="l"/>
              </a:tabLst>
            </a:pPr>
            <a:r>
              <a:rPr sz="1400" spc="-45" dirty="0">
                <a:latin typeface="Arial"/>
                <a:cs typeface="Arial"/>
              </a:rPr>
              <a:t>Weiterentwicklung und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0" dirty="0">
                <a:latin typeface="Arial"/>
                <a:cs typeface="Arial"/>
              </a:rPr>
              <a:t>Anpassung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an </a:t>
            </a:r>
            <a:r>
              <a:rPr sz="1400" spc="-10" dirty="0">
                <a:latin typeface="Arial"/>
                <a:cs typeface="Arial"/>
              </a:rPr>
              <a:t>geänderte Anforderungen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7887" y="1825751"/>
            <a:ext cx="7888605" cy="4351020"/>
            <a:chOff x="627887" y="1825751"/>
            <a:chExt cx="7888605" cy="43510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2928" y="4928616"/>
              <a:ext cx="1853183" cy="12481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887" y="1825751"/>
              <a:ext cx="1624584" cy="11018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0679" y="2400299"/>
              <a:ext cx="1714499" cy="10530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4420" y="4058411"/>
              <a:ext cx="2461260" cy="1293876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0" dirty="0"/>
              <a:t>Beispiel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331211" y="1848358"/>
            <a:ext cx="4319905" cy="154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Anforderung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800">
              <a:latin typeface="Arial"/>
              <a:cs typeface="Arial"/>
            </a:endParaRPr>
          </a:p>
          <a:p>
            <a:pPr marL="11049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Spezifikation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"/>
                <a:cs typeface="Arial"/>
              </a:rPr>
              <a:t>Entwicklung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01814" y="4075557"/>
            <a:ext cx="1070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Arial"/>
                <a:cs typeface="Arial"/>
              </a:rPr>
              <a:t>Validierung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58739" y="5823000"/>
            <a:ext cx="895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Arial"/>
                <a:cs typeface="Arial"/>
              </a:rPr>
              <a:t>Evolution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1298" y="3076955"/>
            <a:ext cx="4684395" cy="2948940"/>
            <a:chOff x="741298" y="3076955"/>
            <a:chExt cx="4684395" cy="294894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3972" y="3076955"/>
              <a:ext cx="2601468" cy="14493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7648" y="3549522"/>
              <a:ext cx="4027170" cy="2470150"/>
            </a:xfrm>
            <a:custGeom>
              <a:avLst/>
              <a:gdLst/>
              <a:ahLst/>
              <a:cxnLst/>
              <a:rect l="l" t="t" r="r" b="b"/>
              <a:pathLst>
                <a:path w="4027170" h="2470150">
                  <a:moveTo>
                    <a:pt x="110553" y="0"/>
                  </a:moveTo>
                  <a:lnTo>
                    <a:pt x="0" y="191515"/>
                  </a:lnTo>
                  <a:lnTo>
                    <a:pt x="3780028" y="2373934"/>
                  </a:lnTo>
                  <a:lnTo>
                    <a:pt x="3724783" y="2469680"/>
                  </a:lnTo>
                  <a:lnTo>
                    <a:pt x="4026789" y="2388742"/>
                  </a:lnTo>
                  <a:lnTo>
                    <a:pt x="3945890" y="2086711"/>
                  </a:lnTo>
                  <a:lnTo>
                    <a:pt x="3890645" y="2182456"/>
                  </a:lnTo>
                  <a:lnTo>
                    <a:pt x="11055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7648" y="3549522"/>
              <a:ext cx="4027170" cy="2470150"/>
            </a:xfrm>
            <a:custGeom>
              <a:avLst/>
              <a:gdLst/>
              <a:ahLst/>
              <a:cxnLst/>
              <a:rect l="l" t="t" r="r" b="b"/>
              <a:pathLst>
                <a:path w="4027170" h="2470150">
                  <a:moveTo>
                    <a:pt x="110553" y="0"/>
                  </a:moveTo>
                  <a:lnTo>
                    <a:pt x="3890645" y="2182456"/>
                  </a:lnTo>
                  <a:lnTo>
                    <a:pt x="3945890" y="2086711"/>
                  </a:lnTo>
                  <a:lnTo>
                    <a:pt x="4026789" y="2388742"/>
                  </a:lnTo>
                  <a:lnTo>
                    <a:pt x="3724783" y="2469680"/>
                  </a:lnTo>
                  <a:lnTo>
                    <a:pt x="3780028" y="2373934"/>
                  </a:lnTo>
                  <a:lnTo>
                    <a:pt x="0" y="191515"/>
                  </a:lnTo>
                  <a:lnTo>
                    <a:pt x="110553" y="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18437" y="4147819"/>
              <a:ext cx="2027554" cy="1275714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9" dirty="0"/>
              <a:t>Das</a:t>
            </a:r>
            <a:r>
              <a:rPr spc="-200" dirty="0"/>
              <a:t> </a:t>
            </a:r>
            <a:r>
              <a:rPr spc="-160" dirty="0"/>
              <a:t>Wasserfallmodell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542" y="1235710"/>
            <a:ext cx="7687945" cy="4789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65" dirty="0">
                <a:latin typeface="Arial"/>
                <a:cs typeface="Arial"/>
              </a:rPr>
              <a:t>Aufteilung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165" dirty="0">
                <a:latin typeface="Arial"/>
                <a:cs typeface="Arial"/>
              </a:rPr>
              <a:t>des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135" dirty="0">
                <a:latin typeface="Arial"/>
                <a:cs typeface="Arial"/>
              </a:rPr>
              <a:t>Entwicklungsprozesses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40" dirty="0">
                <a:latin typeface="Arial"/>
                <a:cs typeface="Arial"/>
              </a:rPr>
              <a:t>in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feste,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b="1" spc="-140" dirty="0">
                <a:latin typeface="Arial"/>
                <a:cs typeface="Arial"/>
              </a:rPr>
              <a:t>sequentielle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Phasen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2200">
              <a:latin typeface="Arial"/>
              <a:cs typeface="Arial"/>
            </a:endParaRPr>
          </a:p>
          <a:p>
            <a:pPr marL="240665" indent="-227965">
              <a:lnSpc>
                <a:spcPts val="2495"/>
              </a:lnSpc>
              <a:spcBef>
                <a:spcPts val="5"/>
              </a:spcBef>
              <a:buClr>
                <a:srgbClr val="2D75B6"/>
              </a:buClr>
              <a:buSzPct val="109090"/>
              <a:buFont typeface="Wingdings"/>
              <a:buChar char=""/>
              <a:tabLst>
                <a:tab pos="240665" algn="l"/>
              </a:tabLst>
            </a:pPr>
            <a:r>
              <a:rPr sz="2200" i="1" spc="-10" dirty="0">
                <a:latin typeface="Arial"/>
                <a:cs typeface="Arial"/>
              </a:rPr>
              <a:t>Vorteile</a:t>
            </a:r>
            <a:endParaRPr sz="2200">
              <a:latin typeface="Arial"/>
              <a:cs typeface="Arial"/>
            </a:endParaRPr>
          </a:p>
          <a:p>
            <a:pPr marL="355600">
              <a:lnSpc>
                <a:spcPts val="2355"/>
              </a:lnSpc>
            </a:pPr>
            <a:r>
              <a:rPr sz="2200" spc="-130" dirty="0">
                <a:latin typeface="Arial"/>
                <a:cs typeface="Arial"/>
              </a:rPr>
              <a:t>Klare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-135" dirty="0">
                <a:latin typeface="Arial"/>
                <a:cs typeface="Arial"/>
              </a:rPr>
              <a:t>Abgrenzung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der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einzelnen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spc="-265" dirty="0">
                <a:latin typeface="Arial"/>
                <a:cs typeface="Arial"/>
              </a:rPr>
              <a:t>Phasen…</a:t>
            </a:r>
            <a:endParaRPr sz="2200">
              <a:latin typeface="Arial"/>
              <a:cs typeface="Arial"/>
            </a:endParaRPr>
          </a:p>
          <a:p>
            <a:pPr marL="355600">
              <a:lnSpc>
                <a:spcPts val="2495"/>
              </a:lnSpc>
            </a:pPr>
            <a:r>
              <a:rPr sz="2200" spc="-125" dirty="0">
                <a:latin typeface="Arial"/>
                <a:cs typeface="Arial"/>
              </a:rPr>
              <a:t>…ermöglicht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einfache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Koordinierung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der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Arbeitsschritte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2200">
              <a:latin typeface="Arial"/>
              <a:cs typeface="Arial"/>
            </a:endParaRPr>
          </a:p>
          <a:p>
            <a:pPr marL="240665" indent="-227965">
              <a:lnSpc>
                <a:spcPts val="2495"/>
              </a:lnSpc>
              <a:buClr>
                <a:srgbClr val="2D75B6"/>
              </a:buClr>
              <a:buSzPct val="109090"/>
              <a:buFont typeface="Wingdings"/>
              <a:buChar char=""/>
              <a:tabLst>
                <a:tab pos="240665" algn="l"/>
              </a:tabLst>
            </a:pPr>
            <a:r>
              <a:rPr sz="2200" i="1" spc="-10" dirty="0">
                <a:latin typeface="Arial"/>
                <a:cs typeface="Arial"/>
              </a:rPr>
              <a:t>Nachteile</a:t>
            </a:r>
            <a:endParaRPr sz="2200">
              <a:latin typeface="Arial"/>
              <a:cs typeface="Arial"/>
            </a:endParaRPr>
          </a:p>
          <a:p>
            <a:pPr marL="355600">
              <a:lnSpc>
                <a:spcPts val="2355"/>
              </a:lnSpc>
            </a:pPr>
            <a:r>
              <a:rPr sz="2200" spc="-110" dirty="0">
                <a:latin typeface="Arial"/>
                <a:cs typeface="Arial"/>
              </a:rPr>
              <a:t>Umfangreiche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40" dirty="0">
                <a:latin typeface="Arial"/>
                <a:cs typeface="Arial"/>
              </a:rPr>
              <a:t>Planung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nötig</a:t>
            </a:r>
            <a:endParaRPr sz="2200">
              <a:latin typeface="Arial"/>
              <a:cs typeface="Arial"/>
            </a:endParaRPr>
          </a:p>
          <a:p>
            <a:pPr marL="355600">
              <a:lnSpc>
                <a:spcPts val="2100"/>
              </a:lnSpc>
            </a:pPr>
            <a:r>
              <a:rPr sz="2200" spc="-90" dirty="0">
                <a:latin typeface="Arial"/>
                <a:cs typeface="Arial"/>
              </a:rPr>
              <a:t>Auf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b="1" spc="-180" dirty="0">
                <a:latin typeface="Arial"/>
                <a:cs typeface="Arial"/>
              </a:rPr>
              <a:t>Veränderungen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spc="-130" dirty="0">
                <a:latin typeface="Arial"/>
                <a:cs typeface="Arial"/>
              </a:rPr>
              <a:t>kann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während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-165" dirty="0">
                <a:latin typeface="Arial"/>
                <a:cs typeface="Arial"/>
              </a:rPr>
              <a:t>des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195" dirty="0">
                <a:latin typeface="Arial"/>
                <a:cs typeface="Arial"/>
              </a:rPr>
              <a:t>Prozesses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schlecht</a:t>
            </a:r>
            <a:endParaRPr sz="2200">
              <a:latin typeface="Arial"/>
              <a:cs typeface="Arial"/>
            </a:endParaRPr>
          </a:p>
          <a:p>
            <a:pPr marL="355600">
              <a:lnSpc>
                <a:spcPts val="2095"/>
              </a:lnSpc>
            </a:pPr>
            <a:r>
              <a:rPr sz="2200" spc="-60" dirty="0">
                <a:latin typeface="Arial"/>
                <a:cs typeface="Arial"/>
              </a:rPr>
              <a:t>reagiert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werden…</a:t>
            </a:r>
            <a:endParaRPr sz="2200">
              <a:latin typeface="Arial"/>
              <a:cs typeface="Arial"/>
            </a:endParaRPr>
          </a:p>
          <a:p>
            <a:pPr marL="355600" marR="322580">
              <a:lnSpc>
                <a:spcPct val="79500"/>
              </a:lnSpc>
              <a:spcBef>
                <a:spcPts val="390"/>
              </a:spcBef>
            </a:pPr>
            <a:r>
              <a:rPr sz="2200" spc="-185" dirty="0">
                <a:latin typeface="Arial"/>
                <a:cs typeface="Arial"/>
              </a:rPr>
              <a:t>…darum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150" dirty="0">
                <a:latin typeface="Arial"/>
                <a:cs typeface="Arial"/>
              </a:rPr>
              <a:t>müssen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die</a:t>
            </a:r>
            <a:r>
              <a:rPr sz="2200" spc="-95" dirty="0">
                <a:latin typeface="Arial"/>
                <a:cs typeface="Arial"/>
              </a:rPr>
              <a:t> Anforderungen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weitestgehend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stabil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sein </a:t>
            </a:r>
            <a:r>
              <a:rPr sz="2200" spc="-114" dirty="0">
                <a:latin typeface="Arial"/>
                <a:cs typeface="Arial"/>
              </a:rPr>
              <a:t>Fehler</a:t>
            </a:r>
            <a:r>
              <a:rPr sz="2200" spc="-85" dirty="0">
                <a:latin typeface="Arial"/>
                <a:cs typeface="Arial"/>
              </a:rPr>
              <a:t> werden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erst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114" dirty="0">
                <a:latin typeface="Arial"/>
                <a:cs typeface="Arial"/>
              </a:rPr>
              <a:t>sehr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spät </a:t>
            </a:r>
            <a:r>
              <a:rPr sz="2200" spc="-75" dirty="0">
                <a:latin typeface="Arial"/>
                <a:cs typeface="Arial"/>
              </a:rPr>
              <a:t>erkannt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(späte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Integration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und </a:t>
            </a:r>
            <a:r>
              <a:rPr sz="2200" spc="-55" dirty="0">
                <a:latin typeface="Arial"/>
                <a:cs typeface="Arial"/>
              </a:rPr>
              <a:t>Systemtests)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00" spc="-114" dirty="0">
                <a:latin typeface="Arial"/>
                <a:cs typeface="Arial"/>
              </a:rPr>
              <a:t>Geeignet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für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stabile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Großprojekte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mit</a:t>
            </a:r>
            <a:r>
              <a:rPr sz="2200" spc="-90" dirty="0">
                <a:latin typeface="Arial"/>
                <a:cs typeface="Arial"/>
              </a:rPr>
              <a:t> mehreren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Entwicklungsteams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9" dirty="0"/>
              <a:t>Das</a:t>
            </a:r>
            <a:r>
              <a:rPr spc="-200" dirty="0"/>
              <a:t> </a:t>
            </a:r>
            <a:r>
              <a:rPr spc="-160" dirty="0"/>
              <a:t>Wasserfallmodell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5535574"/>
            <a:ext cx="20878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Ian</a:t>
            </a:r>
            <a:r>
              <a:rPr sz="800" u="sng" spc="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Sommerville,</a:t>
            </a:r>
            <a:r>
              <a:rPr sz="800" u="sng" spc="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Software-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Engineering,</a:t>
            </a:r>
            <a:r>
              <a:rPr sz="800" u="sng" spc="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Chapter</a:t>
            </a:r>
            <a:r>
              <a:rPr sz="800" u="sng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2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98770" y="1453514"/>
            <a:ext cx="7152640" cy="4003040"/>
            <a:chOff x="998770" y="1453514"/>
            <a:chExt cx="7152640" cy="4003040"/>
          </a:xfrm>
        </p:grpSpPr>
        <p:sp>
          <p:nvSpPr>
            <p:cNvPr id="5" name="object 5"/>
            <p:cNvSpPr/>
            <p:nvPr/>
          </p:nvSpPr>
          <p:spPr>
            <a:xfrm>
              <a:off x="1092957" y="1555868"/>
              <a:ext cx="1496060" cy="556895"/>
            </a:xfrm>
            <a:custGeom>
              <a:avLst/>
              <a:gdLst/>
              <a:ahLst/>
              <a:cxnLst/>
              <a:rect l="l" t="t" r="r" b="b"/>
              <a:pathLst>
                <a:path w="1496060" h="556894">
                  <a:moveTo>
                    <a:pt x="1248203" y="0"/>
                  </a:moveTo>
                  <a:lnTo>
                    <a:pt x="248996" y="0"/>
                  </a:lnTo>
                  <a:lnTo>
                    <a:pt x="198789" y="5050"/>
                  </a:lnTo>
                  <a:lnTo>
                    <a:pt x="152039" y="19521"/>
                  </a:lnTo>
                  <a:lnTo>
                    <a:pt x="109742" y="42396"/>
                  </a:lnTo>
                  <a:lnTo>
                    <a:pt x="72896" y="72656"/>
                  </a:lnTo>
                  <a:lnTo>
                    <a:pt x="42501" y="109281"/>
                  </a:lnTo>
                  <a:lnTo>
                    <a:pt x="19555" y="151255"/>
                  </a:lnTo>
                  <a:lnTo>
                    <a:pt x="5055" y="197558"/>
                  </a:lnTo>
                  <a:lnTo>
                    <a:pt x="0" y="247172"/>
                  </a:lnTo>
                  <a:lnTo>
                    <a:pt x="0" y="309402"/>
                  </a:lnTo>
                  <a:lnTo>
                    <a:pt x="5055" y="359589"/>
                  </a:lnTo>
                  <a:lnTo>
                    <a:pt x="19555" y="406182"/>
                  </a:lnTo>
                  <a:lnTo>
                    <a:pt x="42501" y="448225"/>
                  </a:lnTo>
                  <a:lnTo>
                    <a:pt x="72896" y="484764"/>
                  </a:lnTo>
                  <a:lnTo>
                    <a:pt x="109742" y="514845"/>
                  </a:lnTo>
                  <a:lnTo>
                    <a:pt x="152039" y="537513"/>
                  </a:lnTo>
                  <a:lnTo>
                    <a:pt x="198789" y="551814"/>
                  </a:lnTo>
                  <a:lnTo>
                    <a:pt x="248996" y="556793"/>
                  </a:lnTo>
                  <a:lnTo>
                    <a:pt x="1248203" y="556793"/>
                  </a:lnTo>
                  <a:lnTo>
                    <a:pt x="1297869" y="551814"/>
                  </a:lnTo>
                  <a:lnTo>
                    <a:pt x="1344212" y="537513"/>
                  </a:lnTo>
                  <a:lnTo>
                    <a:pt x="1386216" y="514845"/>
                  </a:lnTo>
                  <a:lnTo>
                    <a:pt x="1422863" y="484764"/>
                  </a:lnTo>
                  <a:lnTo>
                    <a:pt x="1453138" y="448225"/>
                  </a:lnTo>
                  <a:lnTo>
                    <a:pt x="1476021" y="406182"/>
                  </a:lnTo>
                  <a:lnTo>
                    <a:pt x="1490497" y="359589"/>
                  </a:lnTo>
                  <a:lnTo>
                    <a:pt x="1495549" y="309402"/>
                  </a:lnTo>
                  <a:lnTo>
                    <a:pt x="1495549" y="247172"/>
                  </a:lnTo>
                  <a:lnTo>
                    <a:pt x="1490497" y="197558"/>
                  </a:lnTo>
                  <a:lnTo>
                    <a:pt x="1476021" y="151255"/>
                  </a:lnTo>
                  <a:lnTo>
                    <a:pt x="1453138" y="109281"/>
                  </a:lnTo>
                  <a:lnTo>
                    <a:pt x="1422863" y="72656"/>
                  </a:lnTo>
                  <a:lnTo>
                    <a:pt x="1386216" y="42396"/>
                  </a:lnTo>
                  <a:lnTo>
                    <a:pt x="1344212" y="19521"/>
                  </a:lnTo>
                  <a:lnTo>
                    <a:pt x="1297869" y="5050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9417" y="1464161"/>
              <a:ext cx="1496060" cy="556895"/>
            </a:xfrm>
            <a:custGeom>
              <a:avLst/>
              <a:gdLst/>
              <a:ahLst/>
              <a:cxnLst/>
              <a:rect l="l" t="t" r="r" b="b"/>
              <a:pathLst>
                <a:path w="1496060" h="556894">
                  <a:moveTo>
                    <a:pt x="1248203" y="0"/>
                  </a:moveTo>
                  <a:lnTo>
                    <a:pt x="247336" y="0"/>
                  </a:lnTo>
                  <a:lnTo>
                    <a:pt x="197676" y="4978"/>
                  </a:lnTo>
                  <a:lnTo>
                    <a:pt x="151337" y="19276"/>
                  </a:lnTo>
                  <a:lnTo>
                    <a:pt x="109334" y="41936"/>
                  </a:lnTo>
                  <a:lnTo>
                    <a:pt x="72687" y="72000"/>
                  </a:lnTo>
                  <a:lnTo>
                    <a:pt x="42413" y="108514"/>
                  </a:lnTo>
                  <a:lnTo>
                    <a:pt x="19528" y="150518"/>
                  </a:lnTo>
                  <a:lnTo>
                    <a:pt x="5051" y="197056"/>
                  </a:lnTo>
                  <a:lnTo>
                    <a:pt x="0" y="247172"/>
                  </a:lnTo>
                  <a:lnTo>
                    <a:pt x="0" y="309402"/>
                  </a:lnTo>
                  <a:lnTo>
                    <a:pt x="5051" y="359088"/>
                  </a:lnTo>
                  <a:lnTo>
                    <a:pt x="19528" y="405445"/>
                  </a:lnTo>
                  <a:lnTo>
                    <a:pt x="42413" y="447458"/>
                  </a:lnTo>
                  <a:lnTo>
                    <a:pt x="72687" y="484109"/>
                  </a:lnTo>
                  <a:lnTo>
                    <a:pt x="109334" y="514384"/>
                  </a:lnTo>
                  <a:lnTo>
                    <a:pt x="151337" y="537267"/>
                  </a:lnTo>
                  <a:lnTo>
                    <a:pt x="197676" y="551742"/>
                  </a:lnTo>
                  <a:lnTo>
                    <a:pt x="247336" y="556793"/>
                  </a:lnTo>
                  <a:lnTo>
                    <a:pt x="1248203" y="556793"/>
                  </a:lnTo>
                  <a:lnTo>
                    <a:pt x="1297869" y="551742"/>
                  </a:lnTo>
                  <a:lnTo>
                    <a:pt x="1344212" y="537267"/>
                  </a:lnTo>
                  <a:lnTo>
                    <a:pt x="1386216" y="514384"/>
                  </a:lnTo>
                  <a:lnTo>
                    <a:pt x="1422863" y="484109"/>
                  </a:lnTo>
                  <a:lnTo>
                    <a:pt x="1453138" y="447458"/>
                  </a:lnTo>
                  <a:lnTo>
                    <a:pt x="1476021" y="405445"/>
                  </a:lnTo>
                  <a:lnTo>
                    <a:pt x="1490497" y="359088"/>
                  </a:lnTo>
                  <a:lnTo>
                    <a:pt x="1495549" y="309402"/>
                  </a:lnTo>
                  <a:lnTo>
                    <a:pt x="1495549" y="247172"/>
                  </a:lnTo>
                  <a:lnTo>
                    <a:pt x="1490497" y="197056"/>
                  </a:lnTo>
                  <a:lnTo>
                    <a:pt x="1476021" y="150518"/>
                  </a:lnTo>
                  <a:lnTo>
                    <a:pt x="1453138" y="108514"/>
                  </a:lnTo>
                  <a:lnTo>
                    <a:pt x="1422863" y="72000"/>
                  </a:lnTo>
                  <a:lnTo>
                    <a:pt x="1386216" y="41936"/>
                  </a:lnTo>
                  <a:lnTo>
                    <a:pt x="1344212" y="19276"/>
                  </a:lnTo>
                  <a:lnTo>
                    <a:pt x="1297869" y="4978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09417" y="1464161"/>
              <a:ext cx="1496060" cy="556895"/>
            </a:xfrm>
            <a:custGeom>
              <a:avLst/>
              <a:gdLst/>
              <a:ahLst/>
              <a:cxnLst/>
              <a:rect l="l" t="t" r="r" b="b"/>
              <a:pathLst>
                <a:path w="1496060" h="556894">
                  <a:moveTo>
                    <a:pt x="247336" y="0"/>
                  </a:moveTo>
                  <a:lnTo>
                    <a:pt x="1248203" y="0"/>
                  </a:lnTo>
                  <a:lnTo>
                    <a:pt x="1297869" y="4978"/>
                  </a:lnTo>
                  <a:lnTo>
                    <a:pt x="1344212" y="19276"/>
                  </a:lnTo>
                  <a:lnTo>
                    <a:pt x="1386216" y="41936"/>
                  </a:lnTo>
                  <a:lnTo>
                    <a:pt x="1422863" y="72000"/>
                  </a:lnTo>
                  <a:lnTo>
                    <a:pt x="1453138" y="108514"/>
                  </a:lnTo>
                  <a:lnTo>
                    <a:pt x="1476021" y="150518"/>
                  </a:lnTo>
                  <a:lnTo>
                    <a:pt x="1490497" y="197056"/>
                  </a:lnTo>
                  <a:lnTo>
                    <a:pt x="1495549" y="247172"/>
                  </a:lnTo>
                  <a:lnTo>
                    <a:pt x="1495549" y="309402"/>
                  </a:lnTo>
                  <a:lnTo>
                    <a:pt x="1490497" y="359088"/>
                  </a:lnTo>
                  <a:lnTo>
                    <a:pt x="1476021" y="405445"/>
                  </a:lnTo>
                  <a:lnTo>
                    <a:pt x="1453138" y="447458"/>
                  </a:lnTo>
                  <a:lnTo>
                    <a:pt x="1422863" y="484109"/>
                  </a:lnTo>
                  <a:lnTo>
                    <a:pt x="1386216" y="514384"/>
                  </a:lnTo>
                  <a:lnTo>
                    <a:pt x="1344212" y="537267"/>
                  </a:lnTo>
                  <a:lnTo>
                    <a:pt x="1297869" y="551742"/>
                  </a:lnTo>
                  <a:lnTo>
                    <a:pt x="1248203" y="556793"/>
                  </a:lnTo>
                  <a:lnTo>
                    <a:pt x="247336" y="556793"/>
                  </a:lnTo>
                  <a:lnTo>
                    <a:pt x="197676" y="551742"/>
                  </a:lnTo>
                  <a:lnTo>
                    <a:pt x="151337" y="537267"/>
                  </a:lnTo>
                  <a:lnTo>
                    <a:pt x="109334" y="514384"/>
                  </a:lnTo>
                  <a:lnTo>
                    <a:pt x="72687" y="484109"/>
                  </a:lnTo>
                  <a:lnTo>
                    <a:pt x="42413" y="447458"/>
                  </a:lnTo>
                  <a:lnTo>
                    <a:pt x="19528" y="405445"/>
                  </a:lnTo>
                  <a:lnTo>
                    <a:pt x="5051" y="359088"/>
                  </a:lnTo>
                  <a:lnTo>
                    <a:pt x="0" y="309402"/>
                  </a:lnTo>
                  <a:lnTo>
                    <a:pt x="0" y="247172"/>
                  </a:lnTo>
                  <a:lnTo>
                    <a:pt x="5051" y="197056"/>
                  </a:lnTo>
                  <a:lnTo>
                    <a:pt x="19528" y="150518"/>
                  </a:lnTo>
                  <a:lnTo>
                    <a:pt x="42413" y="108514"/>
                  </a:lnTo>
                  <a:lnTo>
                    <a:pt x="72687" y="72000"/>
                  </a:lnTo>
                  <a:lnTo>
                    <a:pt x="109334" y="41936"/>
                  </a:lnTo>
                  <a:lnTo>
                    <a:pt x="151337" y="19276"/>
                  </a:lnTo>
                  <a:lnTo>
                    <a:pt x="197676" y="4978"/>
                  </a:lnTo>
                  <a:lnTo>
                    <a:pt x="247336" y="0"/>
                  </a:lnTo>
                  <a:close/>
                </a:path>
              </a:pathLst>
            </a:custGeom>
            <a:ln w="21295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36706" y="2081656"/>
              <a:ext cx="4867275" cy="2999740"/>
            </a:xfrm>
            <a:custGeom>
              <a:avLst/>
              <a:gdLst/>
              <a:ahLst/>
              <a:cxnLst/>
              <a:rect l="l" t="t" r="r" b="b"/>
              <a:pathLst>
                <a:path w="4867275" h="2999740">
                  <a:moveTo>
                    <a:pt x="4866797" y="2999171"/>
                  </a:moveTo>
                  <a:lnTo>
                    <a:pt x="0" y="2999171"/>
                  </a:lnTo>
                  <a:lnTo>
                    <a:pt x="0" y="0"/>
                  </a:lnTo>
                </a:path>
              </a:pathLst>
            </a:custGeom>
            <a:ln w="49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1497" y="2026794"/>
              <a:ext cx="68803" cy="1162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9439" y="1562419"/>
              <a:ext cx="1068007" cy="3456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14054" y="1743376"/>
              <a:ext cx="1589789" cy="120644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52000" y="2948069"/>
              <a:ext cx="0" cy="2136140"/>
            </a:xfrm>
            <a:custGeom>
              <a:avLst/>
              <a:gdLst/>
              <a:ahLst/>
              <a:cxnLst/>
              <a:rect l="l" t="t" r="r" b="b"/>
              <a:pathLst>
                <a:path h="2136140">
                  <a:moveTo>
                    <a:pt x="0" y="0"/>
                  </a:moveTo>
                  <a:lnTo>
                    <a:pt x="0" y="0"/>
                  </a:lnTo>
                  <a:lnTo>
                    <a:pt x="0" y="2136032"/>
                  </a:lnTo>
                </a:path>
              </a:pathLst>
            </a:custGeom>
            <a:ln w="49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8428" y="2894955"/>
              <a:ext cx="68846" cy="1145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6334" y="2580312"/>
              <a:ext cx="4335044" cy="287562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Validierung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52473"/>
            <a:ext cx="6433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0" dirty="0">
                <a:latin typeface="Arial"/>
                <a:cs typeface="Arial"/>
              </a:rPr>
              <a:t>Alles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gut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geplant,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aber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nur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Quatsch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implementiert…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8673" y="5449011"/>
            <a:ext cx="1407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20" dirty="0">
                <a:latin typeface="Arial"/>
                <a:cs typeface="Arial"/>
              </a:rPr>
              <a:t>…was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nun?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 descr="https://i.imgur.com/R7euR8Z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1448" y="1944623"/>
            <a:ext cx="4261104" cy="340766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5633"/>
            <a:ext cx="2794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9" dirty="0"/>
              <a:t>Das</a:t>
            </a:r>
            <a:r>
              <a:rPr spc="-200" dirty="0"/>
              <a:t> </a:t>
            </a:r>
            <a:r>
              <a:rPr spc="-265" dirty="0"/>
              <a:t>V-</a:t>
            </a:r>
            <a:r>
              <a:rPr spc="-40" dirty="0"/>
              <a:t>Modell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3645" y="1944623"/>
            <a:ext cx="1767205" cy="1015365"/>
            <a:chOff x="723645" y="1944623"/>
            <a:chExt cx="1767205" cy="1015365"/>
          </a:xfrm>
        </p:grpSpPr>
        <p:sp>
          <p:nvSpPr>
            <p:cNvPr id="4" name="object 4"/>
            <p:cNvSpPr/>
            <p:nvPr/>
          </p:nvSpPr>
          <p:spPr>
            <a:xfrm>
              <a:off x="723645" y="1944623"/>
              <a:ext cx="181610" cy="587375"/>
            </a:xfrm>
            <a:custGeom>
              <a:avLst/>
              <a:gdLst/>
              <a:ahLst/>
              <a:cxnLst/>
              <a:rect l="l" t="t" r="r" b="b"/>
              <a:pathLst>
                <a:path w="181609" h="587375">
                  <a:moveTo>
                    <a:pt x="104889" y="510921"/>
                  </a:moveTo>
                  <a:lnTo>
                    <a:pt x="104889" y="587121"/>
                  </a:lnTo>
                  <a:lnTo>
                    <a:pt x="168389" y="555371"/>
                  </a:lnTo>
                  <a:lnTo>
                    <a:pt x="117589" y="555371"/>
                  </a:lnTo>
                  <a:lnTo>
                    <a:pt x="117589" y="542671"/>
                  </a:lnTo>
                  <a:lnTo>
                    <a:pt x="168389" y="542671"/>
                  </a:lnTo>
                  <a:lnTo>
                    <a:pt x="104889" y="510921"/>
                  </a:lnTo>
                  <a:close/>
                </a:path>
                <a:path w="181609" h="587375">
                  <a:moveTo>
                    <a:pt x="12700" y="0"/>
                  </a:moveTo>
                  <a:lnTo>
                    <a:pt x="0" y="0"/>
                  </a:lnTo>
                  <a:lnTo>
                    <a:pt x="0" y="555371"/>
                  </a:lnTo>
                  <a:lnTo>
                    <a:pt x="104889" y="555371"/>
                  </a:lnTo>
                  <a:lnTo>
                    <a:pt x="104889" y="549021"/>
                  </a:lnTo>
                  <a:lnTo>
                    <a:pt x="12700" y="549021"/>
                  </a:lnTo>
                  <a:lnTo>
                    <a:pt x="6350" y="542671"/>
                  </a:lnTo>
                  <a:lnTo>
                    <a:pt x="12700" y="542671"/>
                  </a:lnTo>
                  <a:lnTo>
                    <a:pt x="12700" y="0"/>
                  </a:lnTo>
                  <a:close/>
                </a:path>
                <a:path w="181609" h="587375">
                  <a:moveTo>
                    <a:pt x="168389" y="542671"/>
                  </a:moveTo>
                  <a:lnTo>
                    <a:pt x="117589" y="542671"/>
                  </a:lnTo>
                  <a:lnTo>
                    <a:pt x="117589" y="555371"/>
                  </a:lnTo>
                  <a:lnTo>
                    <a:pt x="168389" y="555371"/>
                  </a:lnTo>
                  <a:lnTo>
                    <a:pt x="181089" y="549021"/>
                  </a:lnTo>
                  <a:lnTo>
                    <a:pt x="168389" y="542671"/>
                  </a:lnTo>
                  <a:close/>
                </a:path>
                <a:path w="181609" h="587375">
                  <a:moveTo>
                    <a:pt x="12700" y="542671"/>
                  </a:moveTo>
                  <a:lnTo>
                    <a:pt x="6350" y="542671"/>
                  </a:lnTo>
                  <a:lnTo>
                    <a:pt x="12700" y="549021"/>
                  </a:lnTo>
                  <a:lnTo>
                    <a:pt x="12700" y="542671"/>
                  </a:lnTo>
                  <a:close/>
                </a:path>
                <a:path w="181609" h="587375">
                  <a:moveTo>
                    <a:pt x="104889" y="542671"/>
                  </a:moveTo>
                  <a:lnTo>
                    <a:pt x="12700" y="542671"/>
                  </a:lnTo>
                  <a:lnTo>
                    <a:pt x="12700" y="549021"/>
                  </a:lnTo>
                  <a:lnTo>
                    <a:pt x="104889" y="549021"/>
                  </a:lnTo>
                  <a:lnTo>
                    <a:pt x="104889" y="542671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1951" y="2708147"/>
              <a:ext cx="76200" cy="2517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05255" y="2279903"/>
              <a:ext cx="1579245" cy="428625"/>
            </a:xfrm>
            <a:custGeom>
              <a:avLst/>
              <a:gdLst/>
              <a:ahLst/>
              <a:cxnLst/>
              <a:rect l="l" t="t" r="r" b="b"/>
              <a:pathLst>
                <a:path w="1579245" h="428625">
                  <a:moveTo>
                    <a:pt x="1364742" y="0"/>
                  </a:moveTo>
                  <a:lnTo>
                    <a:pt x="214122" y="0"/>
                  </a:lnTo>
                  <a:lnTo>
                    <a:pt x="165023" y="5656"/>
                  </a:lnTo>
                  <a:lnTo>
                    <a:pt x="119953" y="21766"/>
                  </a:lnTo>
                  <a:lnTo>
                    <a:pt x="80197" y="47046"/>
                  </a:lnTo>
                  <a:lnTo>
                    <a:pt x="47038" y="80207"/>
                  </a:lnTo>
                  <a:lnTo>
                    <a:pt x="21762" y="119965"/>
                  </a:lnTo>
                  <a:lnTo>
                    <a:pt x="5654" y="165031"/>
                  </a:lnTo>
                  <a:lnTo>
                    <a:pt x="0" y="214122"/>
                  </a:lnTo>
                  <a:lnTo>
                    <a:pt x="5654" y="263212"/>
                  </a:lnTo>
                  <a:lnTo>
                    <a:pt x="21762" y="308278"/>
                  </a:lnTo>
                  <a:lnTo>
                    <a:pt x="47038" y="348036"/>
                  </a:lnTo>
                  <a:lnTo>
                    <a:pt x="80197" y="381197"/>
                  </a:lnTo>
                  <a:lnTo>
                    <a:pt x="119953" y="406477"/>
                  </a:lnTo>
                  <a:lnTo>
                    <a:pt x="165023" y="422587"/>
                  </a:lnTo>
                  <a:lnTo>
                    <a:pt x="214122" y="428244"/>
                  </a:lnTo>
                  <a:lnTo>
                    <a:pt x="1364742" y="428244"/>
                  </a:lnTo>
                  <a:lnTo>
                    <a:pt x="1413832" y="422587"/>
                  </a:lnTo>
                  <a:lnTo>
                    <a:pt x="1458898" y="406477"/>
                  </a:lnTo>
                  <a:lnTo>
                    <a:pt x="1498656" y="381197"/>
                  </a:lnTo>
                  <a:lnTo>
                    <a:pt x="1531817" y="348036"/>
                  </a:lnTo>
                  <a:lnTo>
                    <a:pt x="1557097" y="308278"/>
                  </a:lnTo>
                  <a:lnTo>
                    <a:pt x="1573207" y="263212"/>
                  </a:lnTo>
                  <a:lnTo>
                    <a:pt x="1578864" y="214122"/>
                  </a:lnTo>
                  <a:lnTo>
                    <a:pt x="1573207" y="165031"/>
                  </a:lnTo>
                  <a:lnTo>
                    <a:pt x="1557097" y="119965"/>
                  </a:lnTo>
                  <a:lnTo>
                    <a:pt x="1531817" y="80207"/>
                  </a:lnTo>
                  <a:lnTo>
                    <a:pt x="1498656" y="47046"/>
                  </a:lnTo>
                  <a:lnTo>
                    <a:pt x="1458898" y="21766"/>
                  </a:lnTo>
                  <a:lnTo>
                    <a:pt x="1413832" y="5656"/>
                  </a:lnTo>
                  <a:lnTo>
                    <a:pt x="136474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5255" y="2279903"/>
              <a:ext cx="1579245" cy="428625"/>
            </a:xfrm>
            <a:custGeom>
              <a:avLst/>
              <a:gdLst/>
              <a:ahLst/>
              <a:cxnLst/>
              <a:rect l="l" t="t" r="r" b="b"/>
              <a:pathLst>
                <a:path w="1579245" h="428625">
                  <a:moveTo>
                    <a:pt x="0" y="214122"/>
                  </a:moveTo>
                  <a:lnTo>
                    <a:pt x="5654" y="165031"/>
                  </a:lnTo>
                  <a:lnTo>
                    <a:pt x="21762" y="119965"/>
                  </a:lnTo>
                  <a:lnTo>
                    <a:pt x="47038" y="80207"/>
                  </a:lnTo>
                  <a:lnTo>
                    <a:pt x="80197" y="47046"/>
                  </a:lnTo>
                  <a:lnTo>
                    <a:pt x="119953" y="21766"/>
                  </a:lnTo>
                  <a:lnTo>
                    <a:pt x="165023" y="5656"/>
                  </a:lnTo>
                  <a:lnTo>
                    <a:pt x="214122" y="0"/>
                  </a:lnTo>
                  <a:lnTo>
                    <a:pt x="1364742" y="0"/>
                  </a:lnTo>
                  <a:lnTo>
                    <a:pt x="1413832" y="5656"/>
                  </a:lnTo>
                  <a:lnTo>
                    <a:pt x="1458898" y="21766"/>
                  </a:lnTo>
                  <a:lnTo>
                    <a:pt x="1498656" y="47046"/>
                  </a:lnTo>
                  <a:lnTo>
                    <a:pt x="1531817" y="80207"/>
                  </a:lnTo>
                  <a:lnTo>
                    <a:pt x="1557097" y="119965"/>
                  </a:lnTo>
                  <a:lnTo>
                    <a:pt x="1573207" y="165031"/>
                  </a:lnTo>
                  <a:lnTo>
                    <a:pt x="1578864" y="214122"/>
                  </a:lnTo>
                  <a:lnTo>
                    <a:pt x="1573207" y="263212"/>
                  </a:lnTo>
                  <a:lnTo>
                    <a:pt x="1557097" y="308278"/>
                  </a:lnTo>
                  <a:lnTo>
                    <a:pt x="1531817" y="348036"/>
                  </a:lnTo>
                  <a:lnTo>
                    <a:pt x="1498656" y="381197"/>
                  </a:lnTo>
                  <a:lnTo>
                    <a:pt x="1458898" y="406477"/>
                  </a:lnTo>
                  <a:lnTo>
                    <a:pt x="1413832" y="422587"/>
                  </a:lnTo>
                  <a:lnTo>
                    <a:pt x="1364742" y="428244"/>
                  </a:lnTo>
                  <a:lnTo>
                    <a:pt x="214122" y="428244"/>
                  </a:lnTo>
                  <a:lnTo>
                    <a:pt x="165023" y="422587"/>
                  </a:lnTo>
                  <a:lnTo>
                    <a:pt x="119953" y="406477"/>
                  </a:lnTo>
                  <a:lnTo>
                    <a:pt x="80197" y="381197"/>
                  </a:lnTo>
                  <a:lnTo>
                    <a:pt x="47038" y="348036"/>
                  </a:lnTo>
                  <a:lnTo>
                    <a:pt x="21762" y="308278"/>
                  </a:lnTo>
                  <a:lnTo>
                    <a:pt x="5654" y="263212"/>
                  </a:lnTo>
                  <a:lnTo>
                    <a:pt x="0" y="214122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933701" y="3371088"/>
            <a:ext cx="1751964" cy="897890"/>
            <a:chOff x="1933701" y="3371088"/>
            <a:chExt cx="1751964" cy="897890"/>
          </a:xfrm>
        </p:grpSpPr>
        <p:sp>
          <p:nvSpPr>
            <p:cNvPr id="9" name="object 9"/>
            <p:cNvSpPr/>
            <p:nvPr/>
          </p:nvSpPr>
          <p:spPr>
            <a:xfrm>
              <a:off x="1933702" y="3371087"/>
              <a:ext cx="1189355" cy="897890"/>
            </a:xfrm>
            <a:custGeom>
              <a:avLst/>
              <a:gdLst/>
              <a:ahLst/>
              <a:cxnLst/>
              <a:rect l="l" t="t" r="r" b="b"/>
              <a:pathLst>
                <a:path w="1189355" h="897889">
                  <a:moveTo>
                    <a:pt x="165100" y="417195"/>
                  </a:moveTo>
                  <a:lnTo>
                    <a:pt x="152400" y="410845"/>
                  </a:lnTo>
                  <a:lnTo>
                    <a:pt x="88900" y="379095"/>
                  </a:lnTo>
                  <a:lnTo>
                    <a:pt x="88900" y="410845"/>
                  </a:lnTo>
                  <a:lnTo>
                    <a:pt x="12700" y="410845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423545"/>
                  </a:lnTo>
                  <a:lnTo>
                    <a:pt x="88900" y="423545"/>
                  </a:lnTo>
                  <a:lnTo>
                    <a:pt x="88900" y="455295"/>
                  </a:lnTo>
                  <a:lnTo>
                    <a:pt x="152400" y="423545"/>
                  </a:lnTo>
                  <a:lnTo>
                    <a:pt x="165100" y="417195"/>
                  </a:lnTo>
                  <a:close/>
                </a:path>
                <a:path w="1189355" h="897889">
                  <a:moveTo>
                    <a:pt x="1188974" y="821309"/>
                  </a:moveTo>
                  <a:lnTo>
                    <a:pt x="1157224" y="821309"/>
                  </a:lnTo>
                  <a:lnTo>
                    <a:pt x="1157224" y="629412"/>
                  </a:lnTo>
                  <a:lnTo>
                    <a:pt x="1144524" y="629412"/>
                  </a:lnTo>
                  <a:lnTo>
                    <a:pt x="1144524" y="821309"/>
                  </a:lnTo>
                  <a:lnTo>
                    <a:pt x="1112774" y="821309"/>
                  </a:lnTo>
                  <a:lnTo>
                    <a:pt x="1150874" y="897509"/>
                  </a:lnTo>
                  <a:lnTo>
                    <a:pt x="1182624" y="834009"/>
                  </a:lnTo>
                  <a:lnTo>
                    <a:pt x="1188974" y="821309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00071" y="3576828"/>
              <a:ext cx="1579245" cy="424180"/>
            </a:xfrm>
            <a:custGeom>
              <a:avLst/>
              <a:gdLst/>
              <a:ahLst/>
              <a:cxnLst/>
              <a:rect l="l" t="t" r="r" b="b"/>
              <a:pathLst>
                <a:path w="1579245" h="424179">
                  <a:moveTo>
                    <a:pt x="1367027" y="0"/>
                  </a:moveTo>
                  <a:lnTo>
                    <a:pt x="211835" y="0"/>
                  </a:lnTo>
                  <a:lnTo>
                    <a:pt x="163272" y="5596"/>
                  </a:lnTo>
                  <a:lnTo>
                    <a:pt x="118687" y="21535"/>
                  </a:lnTo>
                  <a:lnTo>
                    <a:pt x="79354" y="46546"/>
                  </a:lnTo>
                  <a:lnTo>
                    <a:pt x="46546" y="79354"/>
                  </a:lnTo>
                  <a:lnTo>
                    <a:pt x="21535" y="118687"/>
                  </a:lnTo>
                  <a:lnTo>
                    <a:pt x="5596" y="163272"/>
                  </a:lnTo>
                  <a:lnTo>
                    <a:pt x="0" y="211836"/>
                  </a:lnTo>
                  <a:lnTo>
                    <a:pt x="5596" y="260399"/>
                  </a:lnTo>
                  <a:lnTo>
                    <a:pt x="21535" y="304984"/>
                  </a:lnTo>
                  <a:lnTo>
                    <a:pt x="46546" y="344317"/>
                  </a:lnTo>
                  <a:lnTo>
                    <a:pt x="79354" y="377125"/>
                  </a:lnTo>
                  <a:lnTo>
                    <a:pt x="118687" y="402136"/>
                  </a:lnTo>
                  <a:lnTo>
                    <a:pt x="163272" y="418075"/>
                  </a:lnTo>
                  <a:lnTo>
                    <a:pt x="211835" y="423672"/>
                  </a:lnTo>
                  <a:lnTo>
                    <a:pt x="1367027" y="423672"/>
                  </a:lnTo>
                  <a:lnTo>
                    <a:pt x="1415591" y="418075"/>
                  </a:lnTo>
                  <a:lnTo>
                    <a:pt x="1460176" y="402136"/>
                  </a:lnTo>
                  <a:lnTo>
                    <a:pt x="1499509" y="377125"/>
                  </a:lnTo>
                  <a:lnTo>
                    <a:pt x="1532317" y="344317"/>
                  </a:lnTo>
                  <a:lnTo>
                    <a:pt x="1557328" y="304984"/>
                  </a:lnTo>
                  <a:lnTo>
                    <a:pt x="1573267" y="260399"/>
                  </a:lnTo>
                  <a:lnTo>
                    <a:pt x="1578864" y="211836"/>
                  </a:lnTo>
                  <a:lnTo>
                    <a:pt x="1573267" y="163272"/>
                  </a:lnTo>
                  <a:lnTo>
                    <a:pt x="1557328" y="118687"/>
                  </a:lnTo>
                  <a:lnTo>
                    <a:pt x="1532317" y="79354"/>
                  </a:lnTo>
                  <a:lnTo>
                    <a:pt x="1499509" y="46546"/>
                  </a:lnTo>
                  <a:lnTo>
                    <a:pt x="1460176" y="21535"/>
                  </a:lnTo>
                  <a:lnTo>
                    <a:pt x="1415591" y="5596"/>
                  </a:lnTo>
                  <a:lnTo>
                    <a:pt x="13670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00071" y="3576828"/>
              <a:ext cx="1579245" cy="424180"/>
            </a:xfrm>
            <a:custGeom>
              <a:avLst/>
              <a:gdLst/>
              <a:ahLst/>
              <a:cxnLst/>
              <a:rect l="l" t="t" r="r" b="b"/>
              <a:pathLst>
                <a:path w="1579245" h="424179">
                  <a:moveTo>
                    <a:pt x="0" y="211836"/>
                  </a:moveTo>
                  <a:lnTo>
                    <a:pt x="5596" y="163272"/>
                  </a:lnTo>
                  <a:lnTo>
                    <a:pt x="21535" y="118687"/>
                  </a:lnTo>
                  <a:lnTo>
                    <a:pt x="46546" y="79354"/>
                  </a:lnTo>
                  <a:lnTo>
                    <a:pt x="79354" y="46546"/>
                  </a:lnTo>
                  <a:lnTo>
                    <a:pt x="118687" y="21535"/>
                  </a:lnTo>
                  <a:lnTo>
                    <a:pt x="163272" y="5596"/>
                  </a:lnTo>
                  <a:lnTo>
                    <a:pt x="211835" y="0"/>
                  </a:lnTo>
                  <a:lnTo>
                    <a:pt x="1367027" y="0"/>
                  </a:lnTo>
                  <a:lnTo>
                    <a:pt x="1415591" y="5596"/>
                  </a:lnTo>
                  <a:lnTo>
                    <a:pt x="1460176" y="21535"/>
                  </a:lnTo>
                  <a:lnTo>
                    <a:pt x="1499509" y="46546"/>
                  </a:lnTo>
                  <a:lnTo>
                    <a:pt x="1532317" y="79354"/>
                  </a:lnTo>
                  <a:lnTo>
                    <a:pt x="1557328" y="118687"/>
                  </a:lnTo>
                  <a:lnTo>
                    <a:pt x="1573267" y="163272"/>
                  </a:lnTo>
                  <a:lnTo>
                    <a:pt x="1578864" y="211836"/>
                  </a:lnTo>
                  <a:lnTo>
                    <a:pt x="1573267" y="260399"/>
                  </a:lnTo>
                  <a:lnTo>
                    <a:pt x="1557328" y="304984"/>
                  </a:lnTo>
                  <a:lnTo>
                    <a:pt x="1532317" y="344317"/>
                  </a:lnTo>
                  <a:lnTo>
                    <a:pt x="1499509" y="377125"/>
                  </a:lnTo>
                  <a:lnTo>
                    <a:pt x="1460176" y="402136"/>
                  </a:lnTo>
                  <a:lnTo>
                    <a:pt x="1415591" y="418075"/>
                  </a:lnTo>
                  <a:lnTo>
                    <a:pt x="1367027" y="423672"/>
                  </a:lnTo>
                  <a:lnTo>
                    <a:pt x="211835" y="423672"/>
                  </a:lnTo>
                  <a:lnTo>
                    <a:pt x="163272" y="418075"/>
                  </a:lnTo>
                  <a:lnTo>
                    <a:pt x="118687" y="402136"/>
                  </a:lnTo>
                  <a:lnTo>
                    <a:pt x="79354" y="377125"/>
                  </a:lnTo>
                  <a:lnTo>
                    <a:pt x="46546" y="344317"/>
                  </a:lnTo>
                  <a:lnTo>
                    <a:pt x="21535" y="304984"/>
                  </a:lnTo>
                  <a:lnTo>
                    <a:pt x="5596" y="260399"/>
                  </a:lnTo>
                  <a:lnTo>
                    <a:pt x="0" y="211836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078226" y="4440935"/>
            <a:ext cx="3667760" cy="1140460"/>
            <a:chOff x="3078226" y="4440935"/>
            <a:chExt cx="3667760" cy="1140460"/>
          </a:xfrm>
        </p:grpSpPr>
        <p:sp>
          <p:nvSpPr>
            <p:cNvPr id="13" name="object 13"/>
            <p:cNvSpPr/>
            <p:nvPr/>
          </p:nvSpPr>
          <p:spPr>
            <a:xfrm>
              <a:off x="3078226" y="4558283"/>
              <a:ext cx="3667760" cy="617220"/>
            </a:xfrm>
            <a:custGeom>
              <a:avLst/>
              <a:gdLst/>
              <a:ahLst/>
              <a:cxnLst/>
              <a:rect l="l" t="t" r="r" b="b"/>
              <a:pathLst>
                <a:path w="3667759" h="617220">
                  <a:moveTo>
                    <a:pt x="134366" y="578866"/>
                  </a:moveTo>
                  <a:lnTo>
                    <a:pt x="121666" y="572516"/>
                  </a:lnTo>
                  <a:lnTo>
                    <a:pt x="58166" y="540766"/>
                  </a:lnTo>
                  <a:lnTo>
                    <a:pt x="58166" y="572516"/>
                  </a:lnTo>
                  <a:lnTo>
                    <a:pt x="12700" y="572516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585216"/>
                  </a:lnTo>
                  <a:lnTo>
                    <a:pt x="58166" y="585216"/>
                  </a:lnTo>
                  <a:lnTo>
                    <a:pt x="58166" y="616966"/>
                  </a:lnTo>
                  <a:lnTo>
                    <a:pt x="121666" y="585216"/>
                  </a:lnTo>
                  <a:lnTo>
                    <a:pt x="134366" y="578866"/>
                  </a:lnTo>
                  <a:close/>
                </a:path>
                <a:path w="3667759" h="617220">
                  <a:moveTo>
                    <a:pt x="3667760" y="208788"/>
                  </a:moveTo>
                  <a:lnTo>
                    <a:pt x="3661410" y="196088"/>
                  </a:lnTo>
                  <a:lnTo>
                    <a:pt x="3629660" y="132588"/>
                  </a:lnTo>
                  <a:lnTo>
                    <a:pt x="3591560" y="208788"/>
                  </a:lnTo>
                  <a:lnTo>
                    <a:pt x="3623310" y="208788"/>
                  </a:lnTo>
                  <a:lnTo>
                    <a:pt x="3623310" y="572770"/>
                  </a:lnTo>
                  <a:lnTo>
                    <a:pt x="3314954" y="572770"/>
                  </a:lnTo>
                  <a:lnTo>
                    <a:pt x="3314954" y="585470"/>
                  </a:lnTo>
                  <a:lnTo>
                    <a:pt x="3636010" y="585470"/>
                  </a:lnTo>
                  <a:lnTo>
                    <a:pt x="3636010" y="579120"/>
                  </a:lnTo>
                  <a:lnTo>
                    <a:pt x="3636010" y="572770"/>
                  </a:lnTo>
                  <a:lnTo>
                    <a:pt x="3636010" y="208788"/>
                  </a:lnTo>
                  <a:lnTo>
                    <a:pt x="3667760" y="208788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7992" y="5347715"/>
              <a:ext cx="76200" cy="2239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2392" y="4440935"/>
              <a:ext cx="151384" cy="76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19956" y="4440935"/>
              <a:ext cx="148971" cy="76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54396" y="5347715"/>
              <a:ext cx="76200" cy="233172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6670548" y="3381755"/>
            <a:ext cx="850900" cy="887094"/>
          </a:xfrm>
          <a:custGeom>
            <a:avLst/>
            <a:gdLst/>
            <a:ahLst/>
            <a:cxnLst/>
            <a:rect l="l" t="t" r="r" b="b"/>
            <a:pathLst>
              <a:path w="850900" h="887095">
                <a:moveTo>
                  <a:pt x="76200" y="694944"/>
                </a:moveTo>
                <a:lnTo>
                  <a:pt x="69850" y="682244"/>
                </a:lnTo>
                <a:lnTo>
                  <a:pt x="38100" y="618744"/>
                </a:lnTo>
                <a:lnTo>
                  <a:pt x="0" y="694944"/>
                </a:lnTo>
                <a:lnTo>
                  <a:pt x="31750" y="694944"/>
                </a:lnTo>
                <a:lnTo>
                  <a:pt x="31750" y="886841"/>
                </a:lnTo>
                <a:lnTo>
                  <a:pt x="44450" y="886841"/>
                </a:lnTo>
                <a:lnTo>
                  <a:pt x="44450" y="694944"/>
                </a:lnTo>
                <a:lnTo>
                  <a:pt x="76200" y="694944"/>
                </a:lnTo>
                <a:close/>
              </a:path>
              <a:path w="850900" h="887095">
                <a:moveTo>
                  <a:pt x="850773" y="76200"/>
                </a:moveTo>
                <a:lnTo>
                  <a:pt x="844423" y="63500"/>
                </a:lnTo>
                <a:lnTo>
                  <a:pt x="812673" y="0"/>
                </a:lnTo>
                <a:lnTo>
                  <a:pt x="774573" y="76200"/>
                </a:lnTo>
                <a:lnTo>
                  <a:pt x="806323" y="76200"/>
                </a:lnTo>
                <a:lnTo>
                  <a:pt x="806323" y="401701"/>
                </a:lnTo>
                <a:lnTo>
                  <a:pt x="438912" y="401701"/>
                </a:lnTo>
                <a:lnTo>
                  <a:pt x="438912" y="414401"/>
                </a:lnTo>
                <a:lnTo>
                  <a:pt x="819023" y="414401"/>
                </a:lnTo>
                <a:lnTo>
                  <a:pt x="819023" y="408051"/>
                </a:lnTo>
                <a:lnTo>
                  <a:pt x="819023" y="401701"/>
                </a:lnTo>
                <a:lnTo>
                  <a:pt x="819023" y="76200"/>
                </a:lnTo>
                <a:lnTo>
                  <a:pt x="850773" y="7620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799833" y="2086355"/>
            <a:ext cx="1445895" cy="868680"/>
            <a:chOff x="6799833" y="2086355"/>
            <a:chExt cx="1445895" cy="868680"/>
          </a:xfrm>
        </p:grpSpPr>
        <p:sp>
          <p:nvSpPr>
            <p:cNvPr id="20" name="object 20"/>
            <p:cNvSpPr/>
            <p:nvPr/>
          </p:nvSpPr>
          <p:spPr>
            <a:xfrm>
              <a:off x="7940039" y="2086355"/>
              <a:ext cx="306070" cy="414655"/>
            </a:xfrm>
            <a:custGeom>
              <a:avLst/>
              <a:gdLst/>
              <a:ahLst/>
              <a:cxnLst/>
              <a:rect l="l" t="t" r="r" b="b"/>
              <a:pathLst>
                <a:path w="306070" h="414655">
                  <a:moveTo>
                    <a:pt x="261111" y="401701"/>
                  </a:moveTo>
                  <a:lnTo>
                    <a:pt x="0" y="401701"/>
                  </a:lnTo>
                  <a:lnTo>
                    <a:pt x="0" y="414401"/>
                  </a:lnTo>
                  <a:lnTo>
                    <a:pt x="273811" y="414401"/>
                  </a:lnTo>
                  <a:lnTo>
                    <a:pt x="273811" y="408051"/>
                  </a:lnTo>
                  <a:lnTo>
                    <a:pt x="261111" y="408051"/>
                  </a:lnTo>
                  <a:lnTo>
                    <a:pt x="261111" y="401701"/>
                  </a:lnTo>
                  <a:close/>
                </a:path>
                <a:path w="306070" h="414655">
                  <a:moveTo>
                    <a:pt x="273811" y="63500"/>
                  </a:moveTo>
                  <a:lnTo>
                    <a:pt x="261111" y="63500"/>
                  </a:lnTo>
                  <a:lnTo>
                    <a:pt x="261111" y="408051"/>
                  </a:lnTo>
                  <a:lnTo>
                    <a:pt x="267461" y="401701"/>
                  </a:lnTo>
                  <a:lnTo>
                    <a:pt x="273811" y="401701"/>
                  </a:lnTo>
                  <a:lnTo>
                    <a:pt x="273811" y="63500"/>
                  </a:lnTo>
                  <a:close/>
                </a:path>
                <a:path w="306070" h="414655">
                  <a:moveTo>
                    <a:pt x="273811" y="401701"/>
                  </a:moveTo>
                  <a:lnTo>
                    <a:pt x="267461" y="401701"/>
                  </a:lnTo>
                  <a:lnTo>
                    <a:pt x="261111" y="408051"/>
                  </a:lnTo>
                  <a:lnTo>
                    <a:pt x="273811" y="408051"/>
                  </a:lnTo>
                  <a:lnTo>
                    <a:pt x="273811" y="401701"/>
                  </a:lnTo>
                  <a:close/>
                </a:path>
                <a:path w="306070" h="414655">
                  <a:moveTo>
                    <a:pt x="267461" y="0"/>
                  </a:moveTo>
                  <a:lnTo>
                    <a:pt x="229361" y="76200"/>
                  </a:lnTo>
                  <a:lnTo>
                    <a:pt x="261111" y="76200"/>
                  </a:lnTo>
                  <a:lnTo>
                    <a:pt x="261111" y="63500"/>
                  </a:lnTo>
                  <a:lnTo>
                    <a:pt x="299211" y="63500"/>
                  </a:lnTo>
                  <a:lnTo>
                    <a:pt x="267461" y="0"/>
                  </a:lnTo>
                  <a:close/>
                </a:path>
                <a:path w="306070" h="414655">
                  <a:moveTo>
                    <a:pt x="299211" y="63500"/>
                  </a:moveTo>
                  <a:lnTo>
                    <a:pt x="273811" y="63500"/>
                  </a:lnTo>
                  <a:lnTo>
                    <a:pt x="273811" y="76200"/>
                  </a:lnTo>
                  <a:lnTo>
                    <a:pt x="305561" y="76200"/>
                  </a:lnTo>
                  <a:lnTo>
                    <a:pt x="299211" y="63500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44739" y="2705100"/>
              <a:ext cx="76200" cy="24968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806183" y="2282951"/>
              <a:ext cx="1134110" cy="422275"/>
            </a:xfrm>
            <a:custGeom>
              <a:avLst/>
              <a:gdLst/>
              <a:ahLst/>
              <a:cxnLst/>
              <a:rect l="l" t="t" r="r" b="b"/>
              <a:pathLst>
                <a:path w="1134109" h="422275">
                  <a:moveTo>
                    <a:pt x="922782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4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8"/>
                  </a:lnTo>
                  <a:lnTo>
                    <a:pt x="922782" y="422148"/>
                  </a:lnTo>
                  <a:lnTo>
                    <a:pt x="971183" y="416574"/>
                  </a:lnTo>
                  <a:lnTo>
                    <a:pt x="1015612" y="400696"/>
                  </a:lnTo>
                  <a:lnTo>
                    <a:pt x="1054803" y="375781"/>
                  </a:lnTo>
                  <a:lnTo>
                    <a:pt x="1087489" y="343095"/>
                  </a:lnTo>
                  <a:lnTo>
                    <a:pt x="1112404" y="303904"/>
                  </a:lnTo>
                  <a:lnTo>
                    <a:pt x="1128282" y="259475"/>
                  </a:lnTo>
                  <a:lnTo>
                    <a:pt x="1133856" y="211074"/>
                  </a:lnTo>
                  <a:lnTo>
                    <a:pt x="1128282" y="162672"/>
                  </a:lnTo>
                  <a:lnTo>
                    <a:pt x="1112404" y="118243"/>
                  </a:lnTo>
                  <a:lnTo>
                    <a:pt x="1087489" y="79052"/>
                  </a:lnTo>
                  <a:lnTo>
                    <a:pt x="1054803" y="46366"/>
                  </a:lnTo>
                  <a:lnTo>
                    <a:pt x="1015612" y="21451"/>
                  </a:lnTo>
                  <a:lnTo>
                    <a:pt x="971183" y="5573"/>
                  </a:lnTo>
                  <a:lnTo>
                    <a:pt x="92278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06183" y="2282951"/>
              <a:ext cx="1134110" cy="422275"/>
            </a:xfrm>
            <a:custGeom>
              <a:avLst/>
              <a:gdLst/>
              <a:ahLst/>
              <a:cxnLst/>
              <a:rect l="l" t="t" r="r" b="b"/>
              <a:pathLst>
                <a:path w="1134109" h="422275">
                  <a:moveTo>
                    <a:pt x="0" y="211074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922782" y="0"/>
                  </a:lnTo>
                  <a:lnTo>
                    <a:pt x="971183" y="5573"/>
                  </a:lnTo>
                  <a:lnTo>
                    <a:pt x="1015612" y="21451"/>
                  </a:lnTo>
                  <a:lnTo>
                    <a:pt x="1054803" y="46366"/>
                  </a:lnTo>
                  <a:lnTo>
                    <a:pt x="1087489" y="79052"/>
                  </a:lnTo>
                  <a:lnTo>
                    <a:pt x="1112404" y="118243"/>
                  </a:lnTo>
                  <a:lnTo>
                    <a:pt x="1128282" y="162672"/>
                  </a:lnTo>
                  <a:lnTo>
                    <a:pt x="1133856" y="211074"/>
                  </a:lnTo>
                  <a:lnTo>
                    <a:pt x="1128282" y="259475"/>
                  </a:lnTo>
                  <a:lnTo>
                    <a:pt x="1112404" y="303904"/>
                  </a:lnTo>
                  <a:lnTo>
                    <a:pt x="1087489" y="343095"/>
                  </a:lnTo>
                  <a:lnTo>
                    <a:pt x="1054803" y="375781"/>
                  </a:lnTo>
                  <a:lnTo>
                    <a:pt x="1015612" y="400696"/>
                  </a:lnTo>
                  <a:lnTo>
                    <a:pt x="971183" y="416574"/>
                  </a:lnTo>
                  <a:lnTo>
                    <a:pt x="922782" y="422148"/>
                  </a:lnTo>
                  <a:lnTo>
                    <a:pt x="211074" y="422148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4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3020568" y="3129152"/>
            <a:ext cx="3361690" cy="80010"/>
          </a:xfrm>
          <a:custGeom>
            <a:avLst/>
            <a:gdLst/>
            <a:ahLst/>
            <a:cxnLst/>
            <a:rect l="l" t="t" r="r" b="b"/>
            <a:pathLst>
              <a:path w="3361690" h="80010">
                <a:moveTo>
                  <a:pt x="1348359" y="31369"/>
                </a:moveTo>
                <a:lnTo>
                  <a:pt x="76161" y="35521"/>
                </a:lnTo>
                <a:lnTo>
                  <a:pt x="76073" y="3810"/>
                </a:lnTo>
                <a:lnTo>
                  <a:pt x="0" y="42164"/>
                </a:lnTo>
                <a:lnTo>
                  <a:pt x="76327" y="80010"/>
                </a:lnTo>
                <a:lnTo>
                  <a:pt x="76212" y="48260"/>
                </a:lnTo>
                <a:lnTo>
                  <a:pt x="63500" y="48260"/>
                </a:lnTo>
                <a:lnTo>
                  <a:pt x="76200" y="48221"/>
                </a:lnTo>
                <a:lnTo>
                  <a:pt x="1348359" y="44069"/>
                </a:lnTo>
                <a:lnTo>
                  <a:pt x="1348359" y="35560"/>
                </a:lnTo>
                <a:lnTo>
                  <a:pt x="1348359" y="31369"/>
                </a:lnTo>
                <a:close/>
              </a:path>
              <a:path w="3361690" h="80010">
                <a:moveTo>
                  <a:pt x="3361563" y="35814"/>
                </a:moveTo>
                <a:lnTo>
                  <a:pt x="2478036" y="31686"/>
                </a:lnTo>
                <a:lnTo>
                  <a:pt x="2478151" y="0"/>
                </a:lnTo>
                <a:lnTo>
                  <a:pt x="2401824" y="37719"/>
                </a:lnTo>
                <a:lnTo>
                  <a:pt x="2477897" y="76200"/>
                </a:lnTo>
                <a:lnTo>
                  <a:pt x="2477998" y="44386"/>
                </a:lnTo>
                <a:lnTo>
                  <a:pt x="3361436" y="48514"/>
                </a:lnTo>
                <a:lnTo>
                  <a:pt x="3361563" y="35814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21180" y="1816607"/>
            <a:ext cx="5288915" cy="76835"/>
          </a:xfrm>
          <a:custGeom>
            <a:avLst/>
            <a:gdLst/>
            <a:ahLst/>
            <a:cxnLst/>
            <a:rect l="l" t="t" r="r" b="b"/>
            <a:pathLst>
              <a:path w="5288915" h="76835">
                <a:moveTo>
                  <a:pt x="2547747" y="31750"/>
                </a:moveTo>
                <a:lnTo>
                  <a:pt x="76200" y="3175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2547747" y="44450"/>
                </a:lnTo>
                <a:lnTo>
                  <a:pt x="2547747" y="31750"/>
                </a:lnTo>
                <a:close/>
              </a:path>
              <a:path w="5288915" h="76835">
                <a:moveTo>
                  <a:pt x="5288661" y="37973"/>
                </a:moveTo>
                <a:lnTo>
                  <a:pt x="3677424" y="32054"/>
                </a:lnTo>
                <a:lnTo>
                  <a:pt x="3677539" y="254"/>
                </a:lnTo>
                <a:lnTo>
                  <a:pt x="3601212" y="38100"/>
                </a:lnTo>
                <a:lnTo>
                  <a:pt x="3677285" y="76454"/>
                </a:lnTo>
                <a:lnTo>
                  <a:pt x="3677386" y="44754"/>
                </a:lnTo>
                <a:lnTo>
                  <a:pt x="5288661" y="50673"/>
                </a:lnTo>
                <a:lnTo>
                  <a:pt x="5288661" y="37973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369308" y="5576315"/>
            <a:ext cx="1327785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Software-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komponenten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35760" y="2290317"/>
            <a:ext cx="916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25" marR="5080" indent="-21336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Anforderungs-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analyse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83917" y="3676015"/>
            <a:ext cx="10077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System-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Entwurf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206242" y="4919217"/>
            <a:ext cx="1591945" cy="434975"/>
            <a:chOff x="3206242" y="4919217"/>
            <a:chExt cx="1591945" cy="434975"/>
          </a:xfrm>
        </p:grpSpPr>
        <p:sp>
          <p:nvSpPr>
            <p:cNvPr id="30" name="object 30"/>
            <p:cNvSpPr/>
            <p:nvPr/>
          </p:nvSpPr>
          <p:spPr>
            <a:xfrm>
              <a:off x="3212592" y="4925567"/>
              <a:ext cx="1579245" cy="422275"/>
            </a:xfrm>
            <a:custGeom>
              <a:avLst/>
              <a:gdLst/>
              <a:ahLst/>
              <a:cxnLst/>
              <a:rect l="l" t="t" r="r" b="b"/>
              <a:pathLst>
                <a:path w="1579245" h="422275">
                  <a:moveTo>
                    <a:pt x="1367790" y="0"/>
                  </a:moveTo>
                  <a:lnTo>
                    <a:pt x="211073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3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3" y="422147"/>
                  </a:lnTo>
                  <a:lnTo>
                    <a:pt x="1367790" y="422147"/>
                  </a:lnTo>
                  <a:lnTo>
                    <a:pt x="1416191" y="416574"/>
                  </a:lnTo>
                  <a:lnTo>
                    <a:pt x="1460620" y="400696"/>
                  </a:lnTo>
                  <a:lnTo>
                    <a:pt x="1499811" y="375781"/>
                  </a:lnTo>
                  <a:lnTo>
                    <a:pt x="1532497" y="343095"/>
                  </a:lnTo>
                  <a:lnTo>
                    <a:pt x="1557412" y="303904"/>
                  </a:lnTo>
                  <a:lnTo>
                    <a:pt x="1573290" y="259475"/>
                  </a:lnTo>
                  <a:lnTo>
                    <a:pt x="1578863" y="211073"/>
                  </a:lnTo>
                  <a:lnTo>
                    <a:pt x="1573290" y="162672"/>
                  </a:lnTo>
                  <a:lnTo>
                    <a:pt x="1557412" y="118243"/>
                  </a:lnTo>
                  <a:lnTo>
                    <a:pt x="1532497" y="79052"/>
                  </a:lnTo>
                  <a:lnTo>
                    <a:pt x="1499811" y="46366"/>
                  </a:lnTo>
                  <a:lnTo>
                    <a:pt x="1460620" y="21451"/>
                  </a:lnTo>
                  <a:lnTo>
                    <a:pt x="1416191" y="5573"/>
                  </a:lnTo>
                  <a:lnTo>
                    <a:pt x="136779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12592" y="4925567"/>
              <a:ext cx="1579245" cy="422275"/>
            </a:xfrm>
            <a:custGeom>
              <a:avLst/>
              <a:gdLst/>
              <a:ahLst/>
              <a:cxnLst/>
              <a:rect l="l" t="t" r="r" b="b"/>
              <a:pathLst>
                <a:path w="1579245" h="422275">
                  <a:moveTo>
                    <a:pt x="0" y="211073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3" y="0"/>
                  </a:lnTo>
                  <a:lnTo>
                    <a:pt x="1367790" y="0"/>
                  </a:lnTo>
                  <a:lnTo>
                    <a:pt x="1416191" y="5573"/>
                  </a:lnTo>
                  <a:lnTo>
                    <a:pt x="1460620" y="21451"/>
                  </a:lnTo>
                  <a:lnTo>
                    <a:pt x="1499811" y="46366"/>
                  </a:lnTo>
                  <a:lnTo>
                    <a:pt x="1532497" y="79052"/>
                  </a:lnTo>
                  <a:lnTo>
                    <a:pt x="1557412" y="118243"/>
                  </a:lnTo>
                  <a:lnTo>
                    <a:pt x="1573290" y="162672"/>
                  </a:lnTo>
                  <a:lnTo>
                    <a:pt x="1578863" y="211073"/>
                  </a:lnTo>
                  <a:lnTo>
                    <a:pt x="1573290" y="259475"/>
                  </a:lnTo>
                  <a:lnTo>
                    <a:pt x="1557412" y="303904"/>
                  </a:lnTo>
                  <a:lnTo>
                    <a:pt x="1532497" y="343095"/>
                  </a:lnTo>
                  <a:lnTo>
                    <a:pt x="1499811" y="375781"/>
                  </a:lnTo>
                  <a:lnTo>
                    <a:pt x="1460620" y="400696"/>
                  </a:lnTo>
                  <a:lnTo>
                    <a:pt x="1416191" y="416574"/>
                  </a:lnTo>
                  <a:lnTo>
                    <a:pt x="1367790" y="422147"/>
                  </a:lnTo>
                  <a:lnTo>
                    <a:pt x="211073" y="422147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3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451605" y="5024754"/>
            <a:ext cx="11004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Implementierung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252973" y="4919217"/>
            <a:ext cx="1146810" cy="434975"/>
            <a:chOff x="5252973" y="4919217"/>
            <a:chExt cx="1146810" cy="434975"/>
          </a:xfrm>
        </p:grpSpPr>
        <p:sp>
          <p:nvSpPr>
            <p:cNvPr id="34" name="object 34"/>
            <p:cNvSpPr/>
            <p:nvPr/>
          </p:nvSpPr>
          <p:spPr>
            <a:xfrm>
              <a:off x="5259323" y="4925567"/>
              <a:ext cx="1134110" cy="422275"/>
            </a:xfrm>
            <a:custGeom>
              <a:avLst/>
              <a:gdLst/>
              <a:ahLst/>
              <a:cxnLst/>
              <a:rect l="l" t="t" r="r" b="b"/>
              <a:pathLst>
                <a:path w="1134110" h="422275">
                  <a:moveTo>
                    <a:pt x="922781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3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7"/>
                  </a:lnTo>
                  <a:lnTo>
                    <a:pt x="922781" y="422147"/>
                  </a:lnTo>
                  <a:lnTo>
                    <a:pt x="971183" y="416574"/>
                  </a:lnTo>
                  <a:lnTo>
                    <a:pt x="1015612" y="400696"/>
                  </a:lnTo>
                  <a:lnTo>
                    <a:pt x="1054803" y="375781"/>
                  </a:lnTo>
                  <a:lnTo>
                    <a:pt x="1087489" y="343095"/>
                  </a:lnTo>
                  <a:lnTo>
                    <a:pt x="1112404" y="303904"/>
                  </a:lnTo>
                  <a:lnTo>
                    <a:pt x="1128282" y="259475"/>
                  </a:lnTo>
                  <a:lnTo>
                    <a:pt x="1133855" y="211073"/>
                  </a:lnTo>
                  <a:lnTo>
                    <a:pt x="1128282" y="162672"/>
                  </a:lnTo>
                  <a:lnTo>
                    <a:pt x="1112404" y="118243"/>
                  </a:lnTo>
                  <a:lnTo>
                    <a:pt x="1087489" y="79052"/>
                  </a:lnTo>
                  <a:lnTo>
                    <a:pt x="1054803" y="46366"/>
                  </a:lnTo>
                  <a:lnTo>
                    <a:pt x="1015612" y="21451"/>
                  </a:lnTo>
                  <a:lnTo>
                    <a:pt x="971183" y="5573"/>
                  </a:lnTo>
                  <a:lnTo>
                    <a:pt x="92278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59323" y="4925567"/>
              <a:ext cx="1134110" cy="422275"/>
            </a:xfrm>
            <a:custGeom>
              <a:avLst/>
              <a:gdLst/>
              <a:ahLst/>
              <a:cxnLst/>
              <a:rect l="l" t="t" r="r" b="b"/>
              <a:pathLst>
                <a:path w="1134110" h="422275">
                  <a:moveTo>
                    <a:pt x="0" y="211073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922781" y="0"/>
                  </a:lnTo>
                  <a:lnTo>
                    <a:pt x="971183" y="5573"/>
                  </a:lnTo>
                  <a:lnTo>
                    <a:pt x="1015612" y="21451"/>
                  </a:lnTo>
                  <a:lnTo>
                    <a:pt x="1054803" y="46366"/>
                  </a:lnTo>
                  <a:lnTo>
                    <a:pt x="1087489" y="79052"/>
                  </a:lnTo>
                  <a:lnTo>
                    <a:pt x="1112404" y="118243"/>
                  </a:lnTo>
                  <a:lnTo>
                    <a:pt x="1128282" y="162672"/>
                  </a:lnTo>
                  <a:lnTo>
                    <a:pt x="1133855" y="211073"/>
                  </a:lnTo>
                  <a:lnTo>
                    <a:pt x="1128282" y="259475"/>
                  </a:lnTo>
                  <a:lnTo>
                    <a:pt x="1112404" y="303904"/>
                  </a:lnTo>
                  <a:lnTo>
                    <a:pt x="1087489" y="343095"/>
                  </a:lnTo>
                  <a:lnTo>
                    <a:pt x="1054803" y="375781"/>
                  </a:lnTo>
                  <a:lnTo>
                    <a:pt x="1015612" y="400696"/>
                  </a:lnTo>
                  <a:lnTo>
                    <a:pt x="971183" y="416574"/>
                  </a:lnTo>
                  <a:lnTo>
                    <a:pt x="922781" y="422147"/>
                  </a:lnTo>
                  <a:lnTo>
                    <a:pt x="211074" y="422147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3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472176" y="5024754"/>
            <a:ext cx="711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94076" y="4268723"/>
            <a:ext cx="1325880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44475" marR="237490" indent="118745">
              <a:lnSpc>
                <a:spcPct val="100000"/>
              </a:lnSpc>
              <a:spcBef>
                <a:spcPts val="15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Entwurfs-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beschreibung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73267" y="4268723"/>
            <a:ext cx="1327785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45440" marR="250190" indent="-86995">
              <a:lnSpc>
                <a:spcPct val="100000"/>
              </a:lnSpc>
              <a:spcBef>
                <a:spcPts val="155"/>
              </a:spcBef>
            </a:pP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ausführbares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Teilsystem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94688" y="2959607"/>
            <a:ext cx="1325880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8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Anforderungen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80988" y="2959607"/>
            <a:ext cx="1327785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443865" marR="249554" indent="-184785">
              <a:lnSpc>
                <a:spcPct val="100000"/>
              </a:lnSpc>
              <a:spcBef>
                <a:spcPts val="155"/>
              </a:spcBef>
            </a:pP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ausführbares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95300" y="1645920"/>
            <a:ext cx="1325880" cy="41783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43840" marR="237490" indent="132080">
              <a:lnSpc>
                <a:spcPct val="100000"/>
              </a:lnSpc>
              <a:spcBef>
                <a:spcPts val="13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Problem-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beschreibung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09459" y="1648967"/>
            <a:ext cx="1327785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875"/>
              </a:spcBef>
            </a:pP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benutztes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362958" y="4262373"/>
            <a:ext cx="1066165" cy="434975"/>
            <a:chOff x="4362958" y="4262373"/>
            <a:chExt cx="1066165" cy="434975"/>
          </a:xfrm>
        </p:grpSpPr>
        <p:sp>
          <p:nvSpPr>
            <p:cNvPr id="44" name="object 44"/>
            <p:cNvSpPr/>
            <p:nvPr/>
          </p:nvSpPr>
          <p:spPr>
            <a:xfrm>
              <a:off x="4369308" y="4268723"/>
              <a:ext cx="1053465" cy="422275"/>
            </a:xfrm>
            <a:custGeom>
              <a:avLst/>
              <a:gdLst/>
              <a:ahLst/>
              <a:cxnLst/>
              <a:rect l="l" t="t" r="r" b="b"/>
              <a:pathLst>
                <a:path w="1053464" h="422275">
                  <a:moveTo>
                    <a:pt x="842009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4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8"/>
                  </a:lnTo>
                  <a:lnTo>
                    <a:pt x="842009" y="422148"/>
                  </a:lnTo>
                  <a:lnTo>
                    <a:pt x="890411" y="416574"/>
                  </a:lnTo>
                  <a:lnTo>
                    <a:pt x="934840" y="400696"/>
                  </a:lnTo>
                  <a:lnTo>
                    <a:pt x="974031" y="375781"/>
                  </a:lnTo>
                  <a:lnTo>
                    <a:pt x="1006717" y="343095"/>
                  </a:lnTo>
                  <a:lnTo>
                    <a:pt x="1031632" y="303904"/>
                  </a:lnTo>
                  <a:lnTo>
                    <a:pt x="1047510" y="259475"/>
                  </a:lnTo>
                  <a:lnTo>
                    <a:pt x="1053083" y="211074"/>
                  </a:lnTo>
                  <a:lnTo>
                    <a:pt x="1047510" y="162672"/>
                  </a:lnTo>
                  <a:lnTo>
                    <a:pt x="1031632" y="118243"/>
                  </a:lnTo>
                  <a:lnTo>
                    <a:pt x="1006717" y="79052"/>
                  </a:lnTo>
                  <a:lnTo>
                    <a:pt x="974031" y="46366"/>
                  </a:lnTo>
                  <a:lnTo>
                    <a:pt x="934840" y="21451"/>
                  </a:lnTo>
                  <a:lnTo>
                    <a:pt x="890411" y="5573"/>
                  </a:lnTo>
                  <a:lnTo>
                    <a:pt x="842009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69308" y="4268723"/>
              <a:ext cx="1053465" cy="422275"/>
            </a:xfrm>
            <a:custGeom>
              <a:avLst/>
              <a:gdLst/>
              <a:ahLst/>
              <a:cxnLst/>
              <a:rect l="l" t="t" r="r" b="b"/>
              <a:pathLst>
                <a:path w="1053464" h="422275">
                  <a:moveTo>
                    <a:pt x="0" y="211074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842009" y="0"/>
                  </a:lnTo>
                  <a:lnTo>
                    <a:pt x="890411" y="5573"/>
                  </a:lnTo>
                  <a:lnTo>
                    <a:pt x="934840" y="21451"/>
                  </a:lnTo>
                  <a:lnTo>
                    <a:pt x="974031" y="46366"/>
                  </a:lnTo>
                  <a:lnTo>
                    <a:pt x="1006717" y="79052"/>
                  </a:lnTo>
                  <a:lnTo>
                    <a:pt x="1031632" y="118243"/>
                  </a:lnTo>
                  <a:lnTo>
                    <a:pt x="1047510" y="162672"/>
                  </a:lnTo>
                  <a:lnTo>
                    <a:pt x="1053083" y="211074"/>
                  </a:lnTo>
                  <a:lnTo>
                    <a:pt x="1047510" y="259475"/>
                  </a:lnTo>
                  <a:lnTo>
                    <a:pt x="1031632" y="303904"/>
                  </a:lnTo>
                  <a:lnTo>
                    <a:pt x="1006717" y="343095"/>
                  </a:lnTo>
                  <a:lnTo>
                    <a:pt x="974031" y="375781"/>
                  </a:lnTo>
                  <a:lnTo>
                    <a:pt x="934840" y="400696"/>
                  </a:lnTo>
                  <a:lnTo>
                    <a:pt x="890411" y="416574"/>
                  </a:lnTo>
                  <a:lnTo>
                    <a:pt x="842009" y="422148"/>
                  </a:lnTo>
                  <a:lnTo>
                    <a:pt x="211074" y="422148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534280" y="4367021"/>
            <a:ext cx="723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Validierung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969253" y="3573526"/>
            <a:ext cx="1146810" cy="434975"/>
            <a:chOff x="5969253" y="3573526"/>
            <a:chExt cx="1146810" cy="434975"/>
          </a:xfrm>
        </p:grpSpPr>
        <p:sp>
          <p:nvSpPr>
            <p:cNvPr id="48" name="object 48"/>
            <p:cNvSpPr/>
            <p:nvPr/>
          </p:nvSpPr>
          <p:spPr>
            <a:xfrm>
              <a:off x="5975603" y="3579876"/>
              <a:ext cx="1134110" cy="422275"/>
            </a:xfrm>
            <a:custGeom>
              <a:avLst/>
              <a:gdLst/>
              <a:ahLst/>
              <a:cxnLst/>
              <a:rect l="l" t="t" r="r" b="b"/>
              <a:pathLst>
                <a:path w="1134109" h="422275">
                  <a:moveTo>
                    <a:pt x="922781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4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8"/>
                  </a:lnTo>
                  <a:lnTo>
                    <a:pt x="922781" y="422148"/>
                  </a:lnTo>
                  <a:lnTo>
                    <a:pt x="971183" y="416574"/>
                  </a:lnTo>
                  <a:lnTo>
                    <a:pt x="1015612" y="400696"/>
                  </a:lnTo>
                  <a:lnTo>
                    <a:pt x="1054803" y="375781"/>
                  </a:lnTo>
                  <a:lnTo>
                    <a:pt x="1087489" y="343095"/>
                  </a:lnTo>
                  <a:lnTo>
                    <a:pt x="1112404" y="303904"/>
                  </a:lnTo>
                  <a:lnTo>
                    <a:pt x="1128282" y="259475"/>
                  </a:lnTo>
                  <a:lnTo>
                    <a:pt x="1133855" y="211074"/>
                  </a:lnTo>
                  <a:lnTo>
                    <a:pt x="1128282" y="162672"/>
                  </a:lnTo>
                  <a:lnTo>
                    <a:pt x="1112404" y="118243"/>
                  </a:lnTo>
                  <a:lnTo>
                    <a:pt x="1087489" y="79052"/>
                  </a:lnTo>
                  <a:lnTo>
                    <a:pt x="1054803" y="46366"/>
                  </a:lnTo>
                  <a:lnTo>
                    <a:pt x="1015612" y="21451"/>
                  </a:lnTo>
                  <a:lnTo>
                    <a:pt x="971183" y="5573"/>
                  </a:lnTo>
                  <a:lnTo>
                    <a:pt x="92278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975603" y="3579876"/>
              <a:ext cx="1134110" cy="422275"/>
            </a:xfrm>
            <a:custGeom>
              <a:avLst/>
              <a:gdLst/>
              <a:ahLst/>
              <a:cxnLst/>
              <a:rect l="l" t="t" r="r" b="b"/>
              <a:pathLst>
                <a:path w="1134109" h="422275">
                  <a:moveTo>
                    <a:pt x="0" y="211074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922781" y="0"/>
                  </a:lnTo>
                  <a:lnTo>
                    <a:pt x="971183" y="5573"/>
                  </a:lnTo>
                  <a:lnTo>
                    <a:pt x="1015612" y="21451"/>
                  </a:lnTo>
                  <a:lnTo>
                    <a:pt x="1054803" y="46366"/>
                  </a:lnTo>
                  <a:lnTo>
                    <a:pt x="1087489" y="79052"/>
                  </a:lnTo>
                  <a:lnTo>
                    <a:pt x="1112404" y="118243"/>
                  </a:lnTo>
                  <a:lnTo>
                    <a:pt x="1128282" y="162672"/>
                  </a:lnTo>
                  <a:lnTo>
                    <a:pt x="1133855" y="211074"/>
                  </a:lnTo>
                  <a:lnTo>
                    <a:pt x="1128282" y="259475"/>
                  </a:lnTo>
                  <a:lnTo>
                    <a:pt x="1112404" y="303904"/>
                  </a:lnTo>
                  <a:lnTo>
                    <a:pt x="1087489" y="343095"/>
                  </a:lnTo>
                  <a:lnTo>
                    <a:pt x="1054803" y="375781"/>
                  </a:lnTo>
                  <a:lnTo>
                    <a:pt x="1015612" y="400696"/>
                  </a:lnTo>
                  <a:lnTo>
                    <a:pt x="971183" y="416574"/>
                  </a:lnTo>
                  <a:lnTo>
                    <a:pt x="922781" y="422148"/>
                  </a:lnTo>
                  <a:lnTo>
                    <a:pt x="211074" y="422148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4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188455" y="3677792"/>
            <a:ext cx="709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018781" y="2381758"/>
            <a:ext cx="711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362958" y="2948685"/>
            <a:ext cx="1066165" cy="434975"/>
            <a:chOff x="4362958" y="2948685"/>
            <a:chExt cx="1066165" cy="434975"/>
          </a:xfrm>
        </p:grpSpPr>
        <p:sp>
          <p:nvSpPr>
            <p:cNvPr id="53" name="object 53"/>
            <p:cNvSpPr/>
            <p:nvPr/>
          </p:nvSpPr>
          <p:spPr>
            <a:xfrm>
              <a:off x="4369308" y="2955035"/>
              <a:ext cx="1053465" cy="422275"/>
            </a:xfrm>
            <a:custGeom>
              <a:avLst/>
              <a:gdLst/>
              <a:ahLst/>
              <a:cxnLst/>
              <a:rect l="l" t="t" r="r" b="b"/>
              <a:pathLst>
                <a:path w="1053464" h="422275">
                  <a:moveTo>
                    <a:pt x="842009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4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8"/>
                  </a:lnTo>
                  <a:lnTo>
                    <a:pt x="842009" y="422148"/>
                  </a:lnTo>
                  <a:lnTo>
                    <a:pt x="890411" y="416574"/>
                  </a:lnTo>
                  <a:lnTo>
                    <a:pt x="934840" y="400696"/>
                  </a:lnTo>
                  <a:lnTo>
                    <a:pt x="974031" y="375781"/>
                  </a:lnTo>
                  <a:lnTo>
                    <a:pt x="1006717" y="343095"/>
                  </a:lnTo>
                  <a:lnTo>
                    <a:pt x="1031632" y="303904"/>
                  </a:lnTo>
                  <a:lnTo>
                    <a:pt x="1047510" y="259475"/>
                  </a:lnTo>
                  <a:lnTo>
                    <a:pt x="1053083" y="211074"/>
                  </a:lnTo>
                  <a:lnTo>
                    <a:pt x="1047510" y="162672"/>
                  </a:lnTo>
                  <a:lnTo>
                    <a:pt x="1031632" y="118243"/>
                  </a:lnTo>
                  <a:lnTo>
                    <a:pt x="1006717" y="79052"/>
                  </a:lnTo>
                  <a:lnTo>
                    <a:pt x="974031" y="46366"/>
                  </a:lnTo>
                  <a:lnTo>
                    <a:pt x="934840" y="21451"/>
                  </a:lnTo>
                  <a:lnTo>
                    <a:pt x="890411" y="5573"/>
                  </a:lnTo>
                  <a:lnTo>
                    <a:pt x="842009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369308" y="2955035"/>
              <a:ext cx="1053465" cy="422275"/>
            </a:xfrm>
            <a:custGeom>
              <a:avLst/>
              <a:gdLst/>
              <a:ahLst/>
              <a:cxnLst/>
              <a:rect l="l" t="t" r="r" b="b"/>
              <a:pathLst>
                <a:path w="1053464" h="422275">
                  <a:moveTo>
                    <a:pt x="0" y="211074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842009" y="0"/>
                  </a:lnTo>
                  <a:lnTo>
                    <a:pt x="890411" y="5573"/>
                  </a:lnTo>
                  <a:lnTo>
                    <a:pt x="934840" y="21451"/>
                  </a:lnTo>
                  <a:lnTo>
                    <a:pt x="974031" y="46366"/>
                  </a:lnTo>
                  <a:lnTo>
                    <a:pt x="1006717" y="79052"/>
                  </a:lnTo>
                  <a:lnTo>
                    <a:pt x="1031632" y="118243"/>
                  </a:lnTo>
                  <a:lnTo>
                    <a:pt x="1047510" y="162672"/>
                  </a:lnTo>
                  <a:lnTo>
                    <a:pt x="1053083" y="211074"/>
                  </a:lnTo>
                  <a:lnTo>
                    <a:pt x="1047510" y="259475"/>
                  </a:lnTo>
                  <a:lnTo>
                    <a:pt x="1031632" y="303904"/>
                  </a:lnTo>
                  <a:lnTo>
                    <a:pt x="1006717" y="343095"/>
                  </a:lnTo>
                  <a:lnTo>
                    <a:pt x="974031" y="375781"/>
                  </a:lnTo>
                  <a:lnTo>
                    <a:pt x="934840" y="400696"/>
                  </a:lnTo>
                  <a:lnTo>
                    <a:pt x="890411" y="416574"/>
                  </a:lnTo>
                  <a:lnTo>
                    <a:pt x="842009" y="422148"/>
                  </a:lnTo>
                  <a:lnTo>
                    <a:pt x="211074" y="422148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534280" y="3053841"/>
            <a:ext cx="723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Validierung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362958" y="1636522"/>
            <a:ext cx="1066165" cy="434975"/>
            <a:chOff x="4362958" y="1636522"/>
            <a:chExt cx="1066165" cy="434975"/>
          </a:xfrm>
        </p:grpSpPr>
        <p:sp>
          <p:nvSpPr>
            <p:cNvPr id="57" name="object 57"/>
            <p:cNvSpPr/>
            <p:nvPr/>
          </p:nvSpPr>
          <p:spPr>
            <a:xfrm>
              <a:off x="4369308" y="1642872"/>
              <a:ext cx="1053465" cy="422275"/>
            </a:xfrm>
            <a:custGeom>
              <a:avLst/>
              <a:gdLst/>
              <a:ahLst/>
              <a:cxnLst/>
              <a:rect l="l" t="t" r="r" b="b"/>
              <a:pathLst>
                <a:path w="1053464" h="422275">
                  <a:moveTo>
                    <a:pt x="842009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4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8"/>
                  </a:lnTo>
                  <a:lnTo>
                    <a:pt x="842009" y="422148"/>
                  </a:lnTo>
                  <a:lnTo>
                    <a:pt x="890411" y="416574"/>
                  </a:lnTo>
                  <a:lnTo>
                    <a:pt x="934840" y="400696"/>
                  </a:lnTo>
                  <a:lnTo>
                    <a:pt x="974031" y="375781"/>
                  </a:lnTo>
                  <a:lnTo>
                    <a:pt x="1006717" y="343095"/>
                  </a:lnTo>
                  <a:lnTo>
                    <a:pt x="1031632" y="303904"/>
                  </a:lnTo>
                  <a:lnTo>
                    <a:pt x="1047510" y="259475"/>
                  </a:lnTo>
                  <a:lnTo>
                    <a:pt x="1053083" y="211074"/>
                  </a:lnTo>
                  <a:lnTo>
                    <a:pt x="1047510" y="162672"/>
                  </a:lnTo>
                  <a:lnTo>
                    <a:pt x="1031632" y="118243"/>
                  </a:lnTo>
                  <a:lnTo>
                    <a:pt x="1006717" y="79052"/>
                  </a:lnTo>
                  <a:lnTo>
                    <a:pt x="974031" y="46366"/>
                  </a:lnTo>
                  <a:lnTo>
                    <a:pt x="934840" y="21451"/>
                  </a:lnTo>
                  <a:lnTo>
                    <a:pt x="890411" y="5573"/>
                  </a:lnTo>
                  <a:lnTo>
                    <a:pt x="842009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369308" y="1642872"/>
              <a:ext cx="1053465" cy="422275"/>
            </a:xfrm>
            <a:custGeom>
              <a:avLst/>
              <a:gdLst/>
              <a:ahLst/>
              <a:cxnLst/>
              <a:rect l="l" t="t" r="r" b="b"/>
              <a:pathLst>
                <a:path w="1053464" h="422275">
                  <a:moveTo>
                    <a:pt x="0" y="211074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842009" y="0"/>
                  </a:lnTo>
                  <a:lnTo>
                    <a:pt x="890411" y="5573"/>
                  </a:lnTo>
                  <a:lnTo>
                    <a:pt x="934840" y="21451"/>
                  </a:lnTo>
                  <a:lnTo>
                    <a:pt x="974031" y="46366"/>
                  </a:lnTo>
                  <a:lnTo>
                    <a:pt x="1006717" y="79052"/>
                  </a:lnTo>
                  <a:lnTo>
                    <a:pt x="1031632" y="118243"/>
                  </a:lnTo>
                  <a:lnTo>
                    <a:pt x="1047510" y="162672"/>
                  </a:lnTo>
                  <a:lnTo>
                    <a:pt x="1053083" y="211074"/>
                  </a:lnTo>
                  <a:lnTo>
                    <a:pt x="1047510" y="259475"/>
                  </a:lnTo>
                  <a:lnTo>
                    <a:pt x="1031632" y="303904"/>
                  </a:lnTo>
                  <a:lnTo>
                    <a:pt x="1006717" y="343095"/>
                  </a:lnTo>
                  <a:lnTo>
                    <a:pt x="974031" y="375781"/>
                  </a:lnTo>
                  <a:lnTo>
                    <a:pt x="934840" y="400696"/>
                  </a:lnTo>
                  <a:lnTo>
                    <a:pt x="890411" y="416574"/>
                  </a:lnTo>
                  <a:lnTo>
                    <a:pt x="842009" y="422148"/>
                  </a:lnTo>
                  <a:lnTo>
                    <a:pt x="211074" y="422148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534280" y="1741170"/>
            <a:ext cx="723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Validierung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5633"/>
            <a:ext cx="2794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9" dirty="0"/>
              <a:t>Das</a:t>
            </a:r>
            <a:r>
              <a:rPr spc="-200" dirty="0"/>
              <a:t> </a:t>
            </a:r>
            <a:r>
              <a:rPr spc="-265" dirty="0"/>
              <a:t>V-</a:t>
            </a:r>
            <a:r>
              <a:rPr spc="-40" dirty="0"/>
              <a:t>Modell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542" y="1266189"/>
            <a:ext cx="7713345" cy="4454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45" dirty="0">
                <a:latin typeface="Arial"/>
                <a:cs typeface="Arial"/>
              </a:rPr>
              <a:t>Erweitert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das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Wasserfallmodell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um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vorher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geplante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b="1" spc="-45" dirty="0">
                <a:latin typeface="Arial"/>
                <a:cs typeface="Arial"/>
              </a:rPr>
              <a:t>Testaktivitäten</a:t>
            </a:r>
            <a:endParaRPr sz="2000">
              <a:latin typeface="Arial"/>
              <a:cs typeface="Arial"/>
            </a:endParaRPr>
          </a:p>
          <a:p>
            <a:pPr marL="697865" indent="-227965">
              <a:lnSpc>
                <a:spcPct val="100000"/>
              </a:lnSpc>
              <a:spcBef>
                <a:spcPts val="2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697865" algn="l"/>
              </a:tabLst>
            </a:pPr>
            <a:r>
              <a:rPr sz="2000" spc="-95" dirty="0">
                <a:latin typeface="Arial"/>
                <a:cs typeface="Arial"/>
              </a:rPr>
              <a:t>Stärkerer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Fokus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auf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der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b="1" spc="-100" dirty="0">
                <a:latin typeface="Arial"/>
                <a:cs typeface="Arial"/>
              </a:rPr>
              <a:t>Validierungsphase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i="1" spc="-90" dirty="0">
                <a:latin typeface="Arial"/>
                <a:cs typeface="Arial"/>
              </a:rPr>
              <a:t>Entwickler-</a:t>
            </a:r>
            <a:r>
              <a:rPr sz="2000" i="1" spc="-30" dirty="0">
                <a:latin typeface="Arial"/>
                <a:cs typeface="Arial"/>
              </a:rPr>
              <a:t>/Komponententests</a:t>
            </a:r>
            <a:endParaRPr sz="2000">
              <a:latin typeface="Arial"/>
              <a:cs typeface="Arial"/>
            </a:endParaRPr>
          </a:p>
          <a:p>
            <a:pPr marL="355600" marR="5080">
              <a:lnSpc>
                <a:spcPct val="101000"/>
              </a:lnSpc>
            </a:pPr>
            <a:r>
              <a:rPr sz="2000" spc="-95" dirty="0">
                <a:latin typeface="Arial"/>
                <a:cs typeface="Arial"/>
              </a:rPr>
              <a:t>Komponenten</a:t>
            </a:r>
            <a:r>
              <a:rPr sz="2000" spc="-80" dirty="0">
                <a:latin typeface="Arial"/>
                <a:cs typeface="Arial"/>
              </a:rPr>
              <a:t> werden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unabhängig</a:t>
            </a:r>
            <a:r>
              <a:rPr sz="2000" spc="-95" dirty="0">
                <a:latin typeface="Arial"/>
                <a:cs typeface="Arial"/>
              </a:rPr>
              <a:t> von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anderen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Komponenten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getestet </a:t>
            </a:r>
            <a:r>
              <a:rPr sz="2000" spc="-75" dirty="0">
                <a:latin typeface="Arial"/>
                <a:cs typeface="Arial"/>
              </a:rPr>
              <a:t>Oftmals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durch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den </a:t>
            </a:r>
            <a:r>
              <a:rPr sz="2000" spc="-75" dirty="0">
                <a:latin typeface="Arial"/>
                <a:cs typeface="Arial"/>
              </a:rPr>
              <a:t>Entwickler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selbst,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um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Programmierfehler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zu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finden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2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i="1" spc="-25" dirty="0">
                <a:latin typeface="Arial"/>
                <a:cs typeface="Arial"/>
              </a:rPr>
              <a:t>Systemtest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000" spc="-215" dirty="0">
                <a:latin typeface="Arial"/>
                <a:cs typeface="Arial"/>
              </a:rPr>
              <a:t>Das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System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wird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vollständig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integriert</a:t>
            </a:r>
            <a:r>
              <a:rPr sz="2000" spc="-65" dirty="0">
                <a:latin typeface="Arial"/>
                <a:cs typeface="Arial"/>
              </a:rPr>
              <a:t> getestet,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eventuell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mehrstufig</a:t>
            </a:r>
            <a:endParaRPr sz="2000">
              <a:latin typeface="Arial"/>
              <a:cs typeface="Arial"/>
            </a:endParaRPr>
          </a:p>
          <a:p>
            <a:pPr marL="355600" marR="213995">
              <a:lnSpc>
                <a:spcPct val="80000"/>
              </a:lnSpc>
              <a:spcBef>
                <a:spcPts val="490"/>
              </a:spcBef>
            </a:pPr>
            <a:r>
              <a:rPr sz="2000" spc="-75" dirty="0">
                <a:latin typeface="Arial"/>
                <a:cs typeface="Arial"/>
              </a:rPr>
              <a:t>Dient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dem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Auffinden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von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Schnittstellenproblemen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und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Fehlern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in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der </a:t>
            </a:r>
            <a:r>
              <a:rPr sz="2000" spc="-45" dirty="0">
                <a:latin typeface="Arial"/>
                <a:cs typeface="Arial"/>
              </a:rPr>
              <a:t>Interaktion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von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Komponenten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3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i="1" spc="-95" dirty="0">
                <a:latin typeface="Arial"/>
                <a:cs typeface="Arial"/>
              </a:rPr>
              <a:t>Abnahmetest</a:t>
            </a:r>
            <a:r>
              <a:rPr sz="2000" i="1" spc="-5" dirty="0">
                <a:latin typeface="Arial"/>
                <a:cs typeface="Arial"/>
              </a:rPr>
              <a:t> </a:t>
            </a:r>
            <a:r>
              <a:rPr sz="2000" i="1" spc="-90" dirty="0">
                <a:latin typeface="Arial"/>
                <a:cs typeface="Arial"/>
              </a:rPr>
              <a:t>(Alpha-</a:t>
            </a:r>
            <a:r>
              <a:rPr sz="2000" i="1" spc="-20" dirty="0">
                <a:latin typeface="Arial"/>
                <a:cs typeface="Arial"/>
              </a:rPr>
              <a:t>Test)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160"/>
              </a:lnSpc>
              <a:spcBef>
                <a:spcPts val="10"/>
              </a:spcBef>
            </a:pPr>
            <a:r>
              <a:rPr sz="2000" spc="-160" dirty="0">
                <a:latin typeface="Arial"/>
                <a:cs typeface="Arial"/>
              </a:rPr>
              <a:t>Testen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des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Gesamtsystems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vom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Kunden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zur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Verfügung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gestellten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160"/>
              </a:lnSpc>
            </a:pPr>
            <a:r>
              <a:rPr sz="2000" spc="-10" dirty="0">
                <a:latin typeface="Arial"/>
                <a:cs typeface="Arial"/>
              </a:rPr>
              <a:t>Testdaten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000" spc="-75" dirty="0">
                <a:latin typeface="Arial"/>
                <a:cs typeface="Arial"/>
              </a:rPr>
              <a:t>Dient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der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direkten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Validierung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dem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Kunden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9" dirty="0"/>
              <a:t>Das</a:t>
            </a:r>
            <a:r>
              <a:rPr spc="-185" dirty="0"/>
              <a:t> </a:t>
            </a:r>
            <a:r>
              <a:rPr spc="-265" dirty="0"/>
              <a:t>V-</a:t>
            </a:r>
            <a:r>
              <a:rPr spc="-65" dirty="0"/>
              <a:t>Modell</a:t>
            </a:r>
            <a:r>
              <a:rPr spc="-180" dirty="0"/>
              <a:t> </a:t>
            </a:r>
            <a:r>
              <a:rPr spc="-165" dirty="0"/>
              <a:t>ohne</a:t>
            </a:r>
            <a:r>
              <a:rPr spc="-185" dirty="0"/>
              <a:t> </a:t>
            </a:r>
            <a:r>
              <a:rPr spc="-95" dirty="0"/>
              <a:t>Verifikation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63058" y="2026539"/>
            <a:ext cx="814705" cy="678815"/>
            <a:chOff x="5163058" y="2026539"/>
            <a:chExt cx="814705" cy="678815"/>
          </a:xfrm>
        </p:grpSpPr>
        <p:sp>
          <p:nvSpPr>
            <p:cNvPr id="4" name="object 4"/>
            <p:cNvSpPr/>
            <p:nvPr/>
          </p:nvSpPr>
          <p:spPr>
            <a:xfrm>
              <a:off x="5169408" y="2032889"/>
              <a:ext cx="802005" cy="666115"/>
            </a:xfrm>
            <a:custGeom>
              <a:avLst/>
              <a:gdLst/>
              <a:ahLst/>
              <a:cxnLst/>
              <a:rect l="l" t="t" r="r" b="b"/>
              <a:pathLst>
                <a:path w="802004" h="666114">
                  <a:moveTo>
                    <a:pt x="139826" y="0"/>
                  </a:moveTo>
                  <a:lnTo>
                    <a:pt x="133603" y="178435"/>
                  </a:lnTo>
                  <a:lnTo>
                    <a:pt x="0" y="178435"/>
                  </a:lnTo>
                  <a:lnTo>
                    <a:pt x="0" y="666114"/>
                  </a:lnTo>
                  <a:lnTo>
                    <a:pt x="801624" y="666114"/>
                  </a:lnTo>
                  <a:lnTo>
                    <a:pt x="801624" y="178435"/>
                  </a:lnTo>
                  <a:lnTo>
                    <a:pt x="334009" y="178435"/>
                  </a:lnTo>
                  <a:lnTo>
                    <a:pt x="13982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69408" y="2032889"/>
              <a:ext cx="802005" cy="666115"/>
            </a:xfrm>
            <a:custGeom>
              <a:avLst/>
              <a:gdLst/>
              <a:ahLst/>
              <a:cxnLst/>
              <a:rect l="l" t="t" r="r" b="b"/>
              <a:pathLst>
                <a:path w="802004" h="666114">
                  <a:moveTo>
                    <a:pt x="0" y="178435"/>
                  </a:moveTo>
                  <a:lnTo>
                    <a:pt x="133603" y="178435"/>
                  </a:lnTo>
                  <a:lnTo>
                    <a:pt x="139826" y="0"/>
                  </a:lnTo>
                  <a:lnTo>
                    <a:pt x="334009" y="178435"/>
                  </a:lnTo>
                  <a:lnTo>
                    <a:pt x="801624" y="178435"/>
                  </a:lnTo>
                  <a:lnTo>
                    <a:pt x="801624" y="259714"/>
                  </a:lnTo>
                  <a:lnTo>
                    <a:pt x="801624" y="381635"/>
                  </a:lnTo>
                  <a:lnTo>
                    <a:pt x="801624" y="666114"/>
                  </a:lnTo>
                  <a:lnTo>
                    <a:pt x="334009" y="666114"/>
                  </a:lnTo>
                  <a:lnTo>
                    <a:pt x="133603" y="666114"/>
                  </a:lnTo>
                  <a:lnTo>
                    <a:pt x="0" y="666114"/>
                  </a:lnTo>
                  <a:lnTo>
                    <a:pt x="0" y="381635"/>
                  </a:lnTo>
                  <a:lnTo>
                    <a:pt x="0" y="259714"/>
                  </a:lnTo>
                  <a:lnTo>
                    <a:pt x="0" y="178435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278882" y="2217547"/>
            <a:ext cx="58356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143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Fehler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erkannt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78048" y="2174494"/>
            <a:ext cx="1208405" cy="500380"/>
            <a:chOff x="2678048" y="2174494"/>
            <a:chExt cx="1208405" cy="500380"/>
          </a:xfrm>
        </p:grpSpPr>
        <p:sp>
          <p:nvSpPr>
            <p:cNvPr id="8" name="object 8"/>
            <p:cNvSpPr/>
            <p:nvPr/>
          </p:nvSpPr>
          <p:spPr>
            <a:xfrm>
              <a:off x="2684398" y="2180844"/>
              <a:ext cx="1195705" cy="487680"/>
            </a:xfrm>
            <a:custGeom>
              <a:avLst/>
              <a:gdLst/>
              <a:ahLst/>
              <a:cxnLst/>
              <a:rect l="l" t="t" r="r" b="b"/>
              <a:pathLst>
                <a:path w="1195704" h="487680">
                  <a:moveTo>
                    <a:pt x="1195704" y="0"/>
                  </a:moveTo>
                  <a:lnTo>
                    <a:pt x="275208" y="0"/>
                  </a:lnTo>
                  <a:lnTo>
                    <a:pt x="275208" y="284479"/>
                  </a:lnTo>
                  <a:lnTo>
                    <a:pt x="0" y="346963"/>
                  </a:lnTo>
                  <a:lnTo>
                    <a:pt x="275208" y="406400"/>
                  </a:lnTo>
                  <a:lnTo>
                    <a:pt x="275208" y="487679"/>
                  </a:lnTo>
                  <a:lnTo>
                    <a:pt x="1195704" y="487679"/>
                  </a:lnTo>
                  <a:lnTo>
                    <a:pt x="119570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84398" y="2180844"/>
              <a:ext cx="1195705" cy="487680"/>
            </a:xfrm>
            <a:custGeom>
              <a:avLst/>
              <a:gdLst/>
              <a:ahLst/>
              <a:cxnLst/>
              <a:rect l="l" t="t" r="r" b="b"/>
              <a:pathLst>
                <a:path w="1195704" h="487680">
                  <a:moveTo>
                    <a:pt x="275208" y="0"/>
                  </a:moveTo>
                  <a:lnTo>
                    <a:pt x="428625" y="0"/>
                  </a:lnTo>
                  <a:lnTo>
                    <a:pt x="658749" y="0"/>
                  </a:lnTo>
                  <a:lnTo>
                    <a:pt x="1195704" y="0"/>
                  </a:lnTo>
                  <a:lnTo>
                    <a:pt x="1195704" y="284479"/>
                  </a:lnTo>
                  <a:lnTo>
                    <a:pt x="1195704" y="406400"/>
                  </a:lnTo>
                  <a:lnTo>
                    <a:pt x="1195704" y="487679"/>
                  </a:lnTo>
                  <a:lnTo>
                    <a:pt x="658749" y="487679"/>
                  </a:lnTo>
                  <a:lnTo>
                    <a:pt x="428625" y="487679"/>
                  </a:lnTo>
                  <a:lnTo>
                    <a:pt x="275208" y="487679"/>
                  </a:lnTo>
                  <a:lnTo>
                    <a:pt x="275208" y="406400"/>
                  </a:lnTo>
                  <a:lnTo>
                    <a:pt x="0" y="346963"/>
                  </a:lnTo>
                  <a:lnTo>
                    <a:pt x="275208" y="284479"/>
                  </a:lnTo>
                  <a:lnTo>
                    <a:pt x="275208" y="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96260" y="2187067"/>
            <a:ext cx="64960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509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Fehler 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gemacht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06496" y="3098672"/>
            <a:ext cx="3360420" cy="80010"/>
          </a:xfrm>
          <a:custGeom>
            <a:avLst/>
            <a:gdLst/>
            <a:ahLst/>
            <a:cxnLst/>
            <a:rect l="l" t="t" r="r" b="b"/>
            <a:pathLst>
              <a:path w="3360420" h="80010">
                <a:moveTo>
                  <a:pt x="1348359" y="31369"/>
                </a:moveTo>
                <a:lnTo>
                  <a:pt x="76161" y="35521"/>
                </a:lnTo>
                <a:lnTo>
                  <a:pt x="76073" y="3810"/>
                </a:lnTo>
                <a:lnTo>
                  <a:pt x="0" y="42164"/>
                </a:lnTo>
                <a:lnTo>
                  <a:pt x="76327" y="80010"/>
                </a:lnTo>
                <a:lnTo>
                  <a:pt x="76212" y="48260"/>
                </a:lnTo>
                <a:lnTo>
                  <a:pt x="63500" y="48260"/>
                </a:lnTo>
                <a:lnTo>
                  <a:pt x="76200" y="48221"/>
                </a:lnTo>
                <a:lnTo>
                  <a:pt x="1348359" y="44069"/>
                </a:lnTo>
                <a:lnTo>
                  <a:pt x="1348359" y="35560"/>
                </a:lnTo>
                <a:lnTo>
                  <a:pt x="1348359" y="31369"/>
                </a:lnTo>
                <a:close/>
              </a:path>
              <a:path w="3360420" h="80010">
                <a:moveTo>
                  <a:pt x="3360026" y="35814"/>
                </a:moveTo>
                <a:lnTo>
                  <a:pt x="2476512" y="31686"/>
                </a:lnTo>
                <a:lnTo>
                  <a:pt x="2476627" y="0"/>
                </a:lnTo>
                <a:lnTo>
                  <a:pt x="2400300" y="37719"/>
                </a:lnTo>
                <a:lnTo>
                  <a:pt x="2476373" y="76200"/>
                </a:lnTo>
                <a:lnTo>
                  <a:pt x="2476474" y="44386"/>
                </a:lnTo>
                <a:lnTo>
                  <a:pt x="3359899" y="48514"/>
                </a:lnTo>
                <a:lnTo>
                  <a:pt x="3360026" y="35814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07108" y="1786127"/>
            <a:ext cx="5321935" cy="76835"/>
          </a:xfrm>
          <a:custGeom>
            <a:avLst/>
            <a:gdLst/>
            <a:ahLst/>
            <a:cxnLst/>
            <a:rect l="l" t="t" r="r" b="b"/>
            <a:pathLst>
              <a:path w="5321934" h="76835">
                <a:moveTo>
                  <a:pt x="2547747" y="31750"/>
                </a:moveTo>
                <a:lnTo>
                  <a:pt x="76200" y="3175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2547747" y="44450"/>
                </a:lnTo>
                <a:lnTo>
                  <a:pt x="2547747" y="31750"/>
                </a:lnTo>
                <a:close/>
              </a:path>
              <a:path w="5321934" h="76835">
                <a:moveTo>
                  <a:pt x="5321681" y="38100"/>
                </a:moveTo>
                <a:lnTo>
                  <a:pt x="3675900" y="32054"/>
                </a:lnTo>
                <a:lnTo>
                  <a:pt x="3676015" y="254"/>
                </a:lnTo>
                <a:lnTo>
                  <a:pt x="3599688" y="38100"/>
                </a:lnTo>
                <a:lnTo>
                  <a:pt x="3675761" y="76454"/>
                </a:lnTo>
                <a:lnTo>
                  <a:pt x="3675862" y="44754"/>
                </a:lnTo>
                <a:lnTo>
                  <a:pt x="5287137" y="50673"/>
                </a:lnTo>
                <a:lnTo>
                  <a:pt x="5287137" y="38100"/>
                </a:lnTo>
                <a:lnTo>
                  <a:pt x="5321681" y="3810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54952" y="3352800"/>
            <a:ext cx="852805" cy="885825"/>
          </a:xfrm>
          <a:custGeom>
            <a:avLst/>
            <a:gdLst/>
            <a:ahLst/>
            <a:cxnLst/>
            <a:rect l="l" t="t" r="r" b="b"/>
            <a:pathLst>
              <a:path w="852804" h="885825">
                <a:moveTo>
                  <a:pt x="76200" y="693420"/>
                </a:moveTo>
                <a:lnTo>
                  <a:pt x="69850" y="680720"/>
                </a:lnTo>
                <a:lnTo>
                  <a:pt x="38100" y="617220"/>
                </a:lnTo>
                <a:lnTo>
                  <a:pt x="0" y="693420"/>
                </a:lnTo>
                <a:lnTo>
                  <a:pt x="31750" y="693420"/>
                </a:lnTo>
                <a:lnTo>
                  <a:pt x="31750" y="885317"/>
                </a:lnTo>
                <a:lnTo>
                  <a:pt x="44450" y="885317"/>
                </a:lnTo>
                <a:lnTo>
                  <a:pt x="44450" y="693420"/>
                </a:lnTo>
                <a:lnTo>
                  <a:pt x="76200" y="693420"/>
                </a:lnTo>
                <a:close/>
              </a:path>
              <a:path w="852804" h="885825">
                <a:moveTo>
                  <a:pt x="852297" y="76200"/>
                </a:moveTo>
                <a:lnTo>
                  <a:pt x="845947" y="63500"/>
                </a:lnTo>
                <a:lnTo>
                  <a:pt x="814197" y="0"/>
                </a:lnTo>
                <a:lnTo>
                  <a:pt x="776097" y="76200"/>
                </a:lnTo>
                <a:lnTo>
                  <a:pt x="807847" y="76200"/>
                </a:lnTo>
                <a:lnTo>
                  <a:pt x="807847" y="401701"/>
                </a:lnTo>
                <a:lnTo>
                  <a:pt x="440436" y="401701"/>
                </a:lnTo>
                <a:lnTo>
                  <a:pt x="440436" y="414401"/>
                </a:lnTo>
                <a:lnTo>
                  <a:pt x="820547" y="414401"/>
                </a:lnTo>
                <a:lnTo>
                  <a:pt x="820547" y="408051"/>
                </a:lnTo>
                <a:lnTo>
                  <a:pt x="820547" y="401701"/>
                </a:lnTo>
                <a:lnTo>
                  <a:pt x="820547" y="76200"/>
                </a:lnTo>
                <a:lnTo>
                  <a:pt x="852297" y="7620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3262629" y="4410455"/>
            <a:ext cx="3669665" cy="1140460"/>
            <a:chOff x="3262629" y="4410455"/>
            <a:chExt cx="3669665" cy="1140460"/>
          </a:xfrm>
        </p:grpSpPr>
        <p:sp>
          <p:nvSpPr>
            <p:cNvPr id="15" name="object 15"/>
            <p:cNvSpPr/>
            <p:nvPr/>
          </p:nvSpPr>
          <p:spPr>
            <a:xfrm>
              <a:off x="3262617" y="4527803"/>
              <a:ext cx="3669665" cy="617220"/>
            </a:xfrm>
            <a:custGeom>
              <a:avLst/>
              <a:gdLst/>
              <a:ahLst/>
              <a:cxnLst/>
              <a:rect l="l" t="t" r="r" b="b"/>
              <a:pathLst>
                <a:path w="3669665" h="617220">
                  <a:moveTo>
                    <a:pt x="134378" y="578866"/>
                  </a:moveTo>
                  <a:lnTo>
                    <a:pt x="121678" y="572516"/>
                  </a:lnTo>
                  <a:lnTo>
                    <a:pt x="58178" y="540766"/>
                  </a:lnTo>
                  <a:lnTo>
                    <a:pt x="58178" y="572516"/>
                  </a:lnTo>
                  <a:lnTo>
                    <a:pt x="12700" y="572516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585216"/>
                  </a:lnTo>
                  <a:lnTo>
                    <a:pt x="58178" y="585216"/>
                  </a:lnTo>
                  <a:lnTo>
                    <a:pt x="58178" y="616966"/>
                  </a:lnTo>
                  <a:lnTo>
                    <a:pt x="121678" y="585216"/>
                  </a:lnTo>
                  <a:lnTo>
                    <a:pt x="134378" y="578866"/>
                  </a:lnTo>
                  <a:close/>
                </a:path>
                <a:path w="3669665" h="617220">
                  <a:moveTo>
                    <a:pt x="3669296" y="208788"/>
                  </a:moveTo>
                  <a:lnTo>
                    <a:pt x="3662946" y="196088"/>
                  </a:lnTo>
                  <a:lnTo>
                    <a:pt x="3631196" y="132588"/>
                  </a:lnTo>
                  <a:lnTo>
                    <a:pt x="3593096" y="208788"/>
                  </a:lnTo>
                  <a:lnTo>
                    <a:pt x="3624846" y="208788"/>
                  </a:lnTo>
                  <a:lnTo>
                    <a:pt x="3624846" y="572770"/>
                  </a:lnTo>
                  <a:lnTo>
                    <a:pt x="3316478" y="572770"/>
                  </a:lnTo>
                  <a:lnTo>
                    <a:pt x="3316478" y="585470"/>
                  </a:lnTo>
                  <a:lnTo>
                    <a:pt x="3637546" y="585470"/>
                  </a:lnTo>
                  <a:lnTo>
                    <a:pt x="3637546" y="579120"/>
                  </a:lnTo>
                  <a:lnTo>
                    <a:pt x="3637546" y="572770"/>
                  </a:lnTo>
                  <a:lnTo>
                    <a:pt x="3637546" y="208788"/>
                  </a:lnTo>
                  <a:lnTo>
                    <a:pt x="3669296" y="208788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2395" y="5318759"/>
              <a:ext cx="76200" cy="2239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6795" y="4410455"/>
              <a:ext cx="151383" cy="762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5883" y="4410455"/>
              <a:ext cx="148970" cy="76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0323" y="5317236"/>
              <a:ext cx="76200" cy="233172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7630668" y="2055876"/>
            <a:ext cx="799465" cy="869950"/>
            <a:chOff x="7630668" y="2055876"/>
            <a:chExt cx="799465" cy="869950"/>
          </a:xfrm>
        </p:grpSpPr>
        <p:sp>
          <p:nvSpPr>
            <p:cNvPr id="21" name="object 21"/>
            <p:cNvSpPr/>
            <p:nvPr/>
          </p:nvSpPr>
          <p:spPr>
            <a:xfrm>
              <a:off x="8124444" y="2055876"/>
              <a:ext cx="306070" cy="414655"/>
            </a:xfrm>
            <a:custGeom>
              <a:avLst/>
              <a:gdLst/>
              <a:ahLst/>
              <a:cxnLst/>
              <a:rect l="l" t="t" r="r" b="b"/>
              <a:pathLst>
                <a:path w="306070" h="414655">
                  <a:moveTo>
                    <a:pt x="261111" y="401700"/>
                  </a:moveTo>
                  <a:lnTo>
                    <a:pt x="0" y="401700"/>
                  </a:lnTo>
                  <a:lnTo>
                    <a:pt x="0" y="414400"/>
                  </a:lnTo>
                  <a:lnTo>
                    <a:pt x="273811" y="414400"/>
                  </a:lnTo>
                  <a:lnTo>
                    <a:pt x="273811" y="408050"/>
                  </a:lnTo>
                  <a:lnTo>
                    <a:pt x="261111" y="408050"/>
                  </a:lnTo>
                  <a:lnTo>
                    <a:pt x="261111" y="401700"/>
                  </a:lnTo>
                  <a:close/>
                </a:path>
                <a:path w="306070" h="414655">
                  <a:moveTo>
                    <a:pt x="273811" y="63500"/>
                  </a:moveTo>
                  <a:lnTo>
                    <a:pt x="261111" y="63500"/>
                  </a:lnTo>
                  <a:lnTo>
                    <a:pt x="261111" y="408050"/>
                  </a:lnTo>
                  <a:lnTo>
                    <a:pt x="267461" y="401700"/>
                  </a:lnTo>
                  <a:lnTo>
                    <a:pt x="273811" y="401700"/>
                  </a:lnTo>
                  <a:lnTo>
                    <a:pt x="273811" y="63500"/>
                  </a:lnTo>
                  <a:close/>
                </a:path>
                <a:path w="306070" h="414655">
                  <a:moveTo>
                    <a:pt x="273811" y="401700"/>
                  </a:moveTo>
                  <a:lnTo>
                    <a:pt x="267461" y="401700"/>
                  </a:lnTo>
                  <a:lnTo>
                    <a:pt x="261111" y="408050"/>
                  </a:lnTo>
                  <a:lnTo>
                    <a:pt x="273811" y="408050"/>
                  </a:lnTo>
                  <a:lnTo>
                    <a:pt x="273811" y="401700"/>
                  </a:lnTo>
                  <a:close/>
                </a:path>
                <a:path w="306070" h="414655">
                  <a:moveTo>
                    <a:pt x="267461" y="0"/>
                  </a:moveTo>
                  <a:lnTo>
                    <a:pt x="229361" y="76200"/>
                  </a:lnTo>
                  <a:lnTo>
                    <a:pt x="261111" y="76200"/>
                  </a:lnTo>
                  <a:lnTo>
                    <a:pt x="261111" y="63500"/>
                  </a:lnTo>
                  <a:lnTo>
                    <a:pt x="299211" y="63500"/>
                  </a:lnTo>
                  <a:lnTo>
                    <a:pt x="267461" y="0"/>
                  </a:lnTo>
                  <a:close/>
                </a:path>
                <a:path w="306070" h="414655">
                  <a:moveTo>
                    <a:pt x="299211" y="63500"/>
                  </a:moveTo>
                  <a:lnTo>
                    <a:pt x="273811" y="63500"/>
                  </a:lnTo>
                  <a:lnTo>
                    <a:pt x="273811" y="76200"/>
                  </a:lnTo>
                  <a:lnTo>
                    <a:pt x="305561" y="76200"/>
                  </a:lnTo>
                  <a:lnTo>
                    <a:pt x="299211" y="63500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30668" y="2676144"/>
              <a:ext cx="76200" cy="249681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909574" y="1915667"/>
            <a:ext cx="1765300" cy="1014094"/>
            <a:chOff x="909574" y="1915667"/>
            <a:chExt cx="1765300" cy="1014094"/>
          </a:xfrm>
        </p:grpSpPr>
        <p:sp>
          <p:nvSpPr>
            <p:cNvPr id="24" name="object 24"/>
            <p:cNvSpPr/>
            <p:nvPr/>
          </p:nvSpPr>
          <p:spPr>
            <a:xfrm>
              <a:off x="909574" y="1915667"/>
              <a:ext cx="181610" cy="587375"/>
            </a:xfrm>
            <a:custGeom>
              <a:avLst/>
              <a:gdLst/>
              <a:ahLst/>
              <a:cxnLst/>
              <a:rect l="l" t="t" r="r" b="b"/>
              <a:pathLst>
                <a:path w="181609" h="587375">
                  <a:moveTo>
                    <a:pt x="104889" y="510921"/>
                  </a:moveTo>
                  <a:lnTo>
                    <a:pt x="104889" y="587121"/>
                  </a:lnTo>
                  <a:lnTo>
                    <a:pt x="168389" y="555371"/>
                  </a:lnTo>
                  <a:lnTo>
                    <a:pt x="117589" y="555371"/>
                  </a:lnTo>
                  <a:lnTo>
                    <a:pt x="117589" y="542671"/>
                  </a:lnTo>
                  <a:lnTo>
                    <a:pt x="168389" y="542671"/>
                  </a:lnTo>
                  <a:lnTo>
                    <a:pt x="104889" y="510921"/>
                  </a:lnTo>
                  <a:close/>
                </a:path>
                <a:path w="181609" h="587375">
                  <a:moveTo>
                    <a:pt x="12700" y="0"/>
                  </a:moveTo>
                  <a:lnTo>
                    <a:pt x="0" y="0"/>
                  </a:lnTo>
                  <a:lnTo>
                    <a:pt x="0" y="555371"/>
                  </a:lnTo>
                  <a:lnTo>
                    <a:pt x="104889" y="555371"/>
                  </a:lnTo>
                  <a:lnTo>
                    <a:pt x="104889" y="549021"/>
                  </a:lnTo>
                  <a:lnTo>
                    <a:pt x="12700" y="549021"/>
                  </a:lnTo>
                  <a:lnTo>
                    <a:pt x="6350" y="542671"/>
                  </a:lnTo>
                  <a:lnTo>
                    <a:pt x="12700" y="542671"/>
                  </a:lnTo>
                  <a:lnTo>
                    <a:pt x="12700" y="0"/>
                  </a:lnTo>
                  <a:close/>
                </a:path>
                <a:path w="181609" h="587375">
                  <a:moveTo>
                    <a:pt x="168389" y="542671"/>
                  </a:moveTo>
                  <a:lnTo>
                    <a:pt x="117589" y="542671"/>
                  </a:lnTo>
                  <a:lnTo>
                    <a:pt x="117589" y="555371"/>
                  </a:lnTo>
                  <a:lnTo>
                    <a:pt x="168389" y="555371"/>
                  </a:lnTo>
                  <a:lnTo>
                    <a:pt x="181089" y="549021"/>
                  </a:lnTo>
                  <a:lnTo>
                    <a:pt x="168389" y="542671"/>
                  </a:lnTo>
                  <a:close/>
                </a:path>
                <a:path w="181609" h="587375">
                  <a:moveTo>
                    <a:pt x="12700" y="542671"/>
                  </a:moveTo>
                  <a:lnTo>
                    <a:pt x="6350" y="542671"/>
                  </a:lnTo>
                  <a:lnTo>
                    <a:pt x="12700" y="549021"/>
                  </a:lnTo>
                  <a:lnTo>
                    <a:pt x="12700" y="542671"/>
                  </a:lnTo>
                  <a:close/>
                </a:path>
                <a:path w="181609" h="587375">
                  <a:moveTo>
                    <a:pt x="104889" y="542671"/>
                  </a:moveTo>
                  <a:lnTo>
                    <a:pt x="12700" y="542671"/>
                  </a:lnTo>
                  <a:lnTo>
                    <a:pt x="12700" y="549021"/>
                  </a:lnTo>
                  <a:lnTo>
                    <a:pt x="104889" y="549021"/>
                  </a:lnTo>
                  <a:lnTo>
                    <a:pt x="104889" y="542671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87880" y="2677667"/>
              <a:ext cx="76200" cy="25171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089660" y="2250947"/>
              <a:ext cx="1579245" cy="426720"/>
            </a:xfrm>
            <a:custGeom>
              <a:avLst/>
              <a:gdLst/>
              <a:ahLst/>
              <a:cxnLst/>
              <a:rect l="l" t="t" r="r" b="b"/>
              <a:pathLst>
                <a:path w="1579245" h="426719">
                  <a:moveTo>
                    <a:pt x="1365504" y="0"/>
                  </a:moveTo>
                  <a:lnTo>
                    <a:pt x="213359" y="0"/>
                  </a:lnTo>
                  <a:lnTo>
                    <a:pt x="164440" y="5633"/>
                  </a:lnTo>
                  <a:lnTo>
                    <a:pt x="119531" y="21682"/>
                  </a:lnTo>
                  <a:lnTo>
                    <a:pt x="79916" y="46866"/>
                  </a:lnTo>
                  <a:lnTo>
                    <a:pt x="46874" y="79905"/>
                  </a:lnTo>
                  <a:lnTo>
                    <a:pt x="21687" y="119520"/>
                  </a:lnTo>
                  <a:lnTo>
                    <a:pt x="5635" y="164432"/>
                  </a:lnTo>
                  <a:lnTo>
                    <a:pt x="0" y="213360"/>
                  </a:lnTo>
                  <a:lnTo>
                    <a:pt x="5635" y="262287"/>
                  </a:lnTo>
                  <a:lnTo>
                    <a:pt x="21687" y="307199"/>
                  </a:lnTo>
                  <a:lnTo>
                    <a:pt x="46874" y="346814"/>
                  </a:lnTo>
                  <a:lnTo>
                    <a:pt x="79916" y="379853"/>
                  </a:lnTo>
                  <a:lnTo>
                    <a:pt x="119531" y="405037"/>
                  </a:lnTo>
                  <a:lnTo>
                    <a:pt x="164440" y="421086"/>
                  </a:lnTo>
                  <a:lnTo>
                    <a:pt x="213359" y="426719"/>
                  </a:lnTo>
                  <a:lnTo>
                    <a:pt x="1365504" y="426719"/>
                  </a:lnTo>
                  <a:lnTo>
                    <a:pt x="1414431" y="421086"/>
                  </a:lnTo>
                  <a:lnTo>
                    <a:pt x="1459343" y="405037"/>
                  </a:lnTo>
                  <a:lnTo>
                    <a:pt x="1498958" y="379853"/>
                  </a:lnTo>
                  <a:lnTo>
                    <a:pt x="1531997" y="346814"/>
                  </a:lnTo>
                  <a:lnTo>
                    <a:pt x="1557181" y="307199"/>
                  </a:lnTo>
                  <a:lnTo>
                    <a:pt x="1573230" y="262287"/>
                  </a:lnTo>
                  <a:lnTo>
                    <a:pt x="1578864" y="213360"/>
                  </a:lnTo>
                  <a:lnTo>
                    <a:pt x="1573230" y="164432"/>
                  </a:lnTo>
                  <a:lnTo>
                    <a:pt x="1557181" y="119520"/>
                  </a:lnTo>
                  <a:lnTo>
                    <a:pt x="1531997" y="79905"/>
                  </a:lnTo>
                  <a:lnTo>
                    <a:pt x="1498958" y="46866"/>
                  </a:lnTo>
                  <a:lnTo>
                    <a:pt x="1459343" y="21682"/>
                  </a:lnTo>
                  <a:lnTo>
                    <a:pt x="1414431" y="5633"/>
                  </a:lnTo>
                  <a:lnTo>
                    <a:pt x="136550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89660" y="2250947"/>
              <a:ext cx="1579245" cy="426720"/>
            </a:xfrm>
            <a:custGeom>
              <a:avLst/>
              <a:gdLst/>
              <a:ahLst/>
              <a:cxnLst/>
              <a:rect l="l" t="t" r="r" b="b"/>
              <a:pathLst>
                <a:path w="1579245" h="426719">
                  <a:moveTo>
                    <a:pt x="0" y="213360"/>
                  </a:moveTo>
                  <a:lnTo>
                    <a:pt x="5635" y="164432"/>
                  </a:lnTo>
                  <a:lnTo>
                    <a:pt x="21687" y="119520"/>
                  </a:lnTo>
                  <a:lnTo>
                    <a:pt x="46874" y="79905"/>
                  </a:lnTo>
                  <a:lnTo>
                    <a:pt x="79916" y="46866"/>
                  </a:lnTo>
                  <a:lnTo>
                    <a:pt x="119531" y="21682"/>
                  </a:lnTo>
                  <a:lnTo>
                    <a:pt x="164440" y="5633"/>
                  </a:lnTo>
                  <a:lnTo>
                    <a:pt x="213359" y="0"/>
                  </a:lnTo>
                  <a:lnTo>
                    <a:pt x="1365504" y="0"/>
                  </a:lnTo>
                  <a:lnTo>
                    <a:pt x="1414431" y="5633"/>
                  </a:lnTo>
                  <a:lnTo>
                    <a:pt x="1459343" y="21682"/>
                  </a:lnTo>
                  <a:lnTo>
                    <a:pt x="1498958" y="46866"/>
                  </a:lnTo>
                  <a:lnTo>
                    <a:pt x="1531997" y="79905"/>
                  </a:lnTo>
                  <a:lnTo>
                    <a:pt x="1557181" y="119520"/>
                  </a:lnTo>
                  <a:lnTo>
                    <a:pt x="1573230" y="164432"/>
                  </a:lnTo>
                  <a:lnTo>
                    <a:pt x="1578864" y="213360"/>
                  </a:lnTo>
                  <a:lnTo>
                    <a:pt x="1573230" y="262287"/>
                  </a:lnTo>
                  <a:lnTo>
                    <a:pt x="1557181" y="307199"/>
                  </a:lnTo>
                  <a:lnTo>
                    <a:pt x="1531997" y="346814"/>
                  </a:lnTo>
                  <a:lnTo>
                    <a:pt x="1498958" y="379853"/>
                  </a:lnTo>
                  <a:lnTo>
                    <a:pt x="1459343" y="405037"/>
                  </a:lnTo>
                  <a:lnTo>
                    <a:pt x="1414431" y="421086"/>
                  </a:lnTo>
                  <a:lnTo>
                    <a:pt x="1365504" y="426719"/>
                  </a:lnTo>
                  <a:lnTo>
                    <a:pt x="213359" y="426719"/>
                  </a:lnTo>
                  <a:lnTo>
                    <a:pt x="164440" y="421086"/>
                  </a:lnTo>
                  <a:lnTo>
                    <a:pt x="119531" y="405037"/>
                  </a:lnTo>
                  <a:lnTo>
                    <a:pt x="79916" y="379853"/>
                  </a:lnTo>
                  <a:lnTo>
                    <a:pt x="46874" y="346814"/>
                  </a:lnTo>
                  <a:lnTo>
                    <a:pt x="21687" y="307199"/>
                  </a:lnTo>
                  <a:lnTo>
                    <a:pt x="5635" y="262287"/>
                  </a:lnTo>
                  <a:lnTo>
                    <a:pt x="0" y="21336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2119629" y="3340608"/>
            <a:ext cx="1750060" cy="897890"/>
            <a:chOff x="2119629" y="3340608"/>
            <a:chExt cx="1750060" cy="897890"/>
          </a:xfrm>
        </p:grpSpPr>
        <p:sp>
          <p:nvSpPr>
            <p:cNvPr id="29" name="object 29"/>
            <p:cNvSpPr/>
            <p:nvPr/>
          </p:nvSpPr>
          <p:spPr>
            <a:xfrm>
              <a:off x="2119630" y="3340607"/>
              <a:ext cx="1187450" cy="897890"/>
            </a:xfrm>
            <a:custGeom>
              <a:avLst/>
              <a:gdLst/>
              <a:ahLst/>
              <a:cxnLst/>
              <a:rect l="l" t="t" r="r" b="b"/>
              <a:pathLst>
                <a:path w="1187450" h="897889">
                  <a:moveTo>
                    <a:pt x="165100" y="417195"/>
                  </a:moveTo>
                  <a:lnTo>
                    <a:pt x="152400" y="410845"/>
                  </a:lnTo>
                  <a:lnTo>
                    <a:pt x="88900" y="379095"/>
                  </a:lnTo>
                  <a:lnTo>
                    <a:pt x="88900" y="410845"/>
                  </a:lnTo>
                  <a:lnTo>
                    <a:pt x="12700" y="410845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423545"/>
                  </a:lnTo>
                  <a:lnTo>
                    <a:pt x="88900" y="423545"/>
                  </a:lnTo>
                  <a:lnTo>
                    <a:pt x="88900" y="455295"/>
                  </a:lnTo>
                  <a:lnTo>
                    <a:pt x="152400" y="423545"/>
                  </a:lnTo>
                  <a:lnTo>
                    <a:pt x="165100" y="417195"/>
                  </a:lnTo>
                  <a:close/>
                </a:path>
                <a:path w="1187450" h="897889">
                  <a:moveTo>
                    <a:pt x="1187437" y="821309"/>
                  </a:moveTo>
                  <a:lnTo>
                    <a:pt x="1155687" y="821309"/>
                  </a:lnTo>
                  <a:lnTo>
                    <a:pt x="1155687" y="629412"/>
                  </a:lnTo>
                  <a:lnTo>
                    <a:pt x="1142987" y="629412"/>
                  </a:lnTo>
                  <a:lnTo>
                    <a:pt x="1142987" y="821309"/>
                  </a:lnTo>
                  <a:lnTo>
                    <a:pt x="1111250" y="821309"/>
                  </a:lnTo>
                  <a:lnTo>
                    <a:pt x="1149337" y="897509"/>
                  </a:lnTo>
                  <a:lnTo>
                    <a:pt x="1181087" y="834009"/>
                  </a:lnTo>
                  <a:lnTo>
                    <a:pt x="1187437" y="821309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84475" y="3547872"/>
              <a:ext cx="1579245" cy="422275"/>
            </a:xfrm>
            <a:custGeom>
              <a:avLst/>
              <a:gdLst/>
              <a:ahLst/>
              <a:cxnLst/>
              <a:rect l="l" t="t" r="r" b="b"/>
              <a:pathLst>
                <a:path w="1579245" h="422275">
                  <a:moveTo>
                    <a:pt x="1367789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3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7"/>
                  </a:lnTo>
                  <a:lnTo>
                    <a:pt x="1367789" y="422147"/>
                  </a:lnTo>
                  <a:lnTo>
                    <a:pt x="1416191" y="416574"/>
                  </a:lnTo>
                  <a:lnTo>
                    <a:pt x="1460620" y="400696"/>
                  </a:lnTo>
                  <a:lnTo>
                    <a:pt x="1499811" y="375781"/>
                  </a:lnTo>
                  <a:lnTo>
                    <a:pt x="1532497" y="343095"/>
                  </a:lnTo>
                  <a:lnTo>
                    <a:pt x="1557412" y="303904"/>
                  </a:lnTo>
                  <a:lnTo>
                    <a:pt x="1573290" y="259475"/>
                  </a:lnTo>
                  <a:lnTo>
                    <a:pt x="1578864" y="211073"/>
                  </a:lnTo>
                  <a:lnTo>
                    <a:pt x="1573290" y="162672"/>
                  </a:lnTo>
                  <a:lnTo>
                    <a:pt x="1557412" y="118243"/>
                  </a:lnTo>
                  <a:lnTo>
                    <a:pt x="1532497" y="79052"/>
                  </a:lnTo>
                  <a:lnTo>
                    <a:pt x="1499811" y="46366"/>
                  </a:lnTo>
                  <a:lnTo>
                    <a:pt x="1460620" y="21451"/>
                  </a:lnTo>
                  <a:lnTo>
                    <a:pt x="1416191" y="5573"/>
                  </a:lnTo>
                  <a:lnTo>
                    <a:pt x="136778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284475" y="3547872"/>
              <a:ext cx="1579245" cy="422275"/>
            </a:xfrm>
            <a:custGeom>
              <a:avLst/>
              <a:gdLst/>
              <a:ahLst/>
              <a:cxnLst/>
              <a:rect l="l" t="t" r="r" b="b"/>
              <a:pathLst>
                <a:path w="1579245" h="422275">
                  <a:moveTo>
                    <a:pt x="0" y="211073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1367789" y="0"/>
                  </a:lnTo>
                  <a:lnTo>
                    <a:pt x="1416191" y="5573"/>
                  </a:lnTo>
                  <a:lnTo>
                    <a:pt x="1460620" y="21451"/>
                  </a:lnTo>
                  <a:lnTo>
                    <a:pt x="1499811" y="46366"/>
                  </a:lnTo>
                  <a:lnTo>
                    <a:pt x="1532497" y="79052"/>
                  </a:lnTo>
                  <a:lnTo>
                    <a:pt x="1557412" y="118243"/>
                  </a:lnTo>
                  <a:lnTo>
                    <a:pt x="1573290" y="162672"/>
                  </a:lnTo>
                  <a:lnTo>
                    <a:pt x="1578864" y="211073"/>
                  </a:lnTo>
                  <a:lnTo>
                    <a:pt x="1573290" y="259475"/>
                  </a:lnTo>
                  <a:lnTo>
                    <a:pt x="1557412" y="303904"/>
                  </a:lnTo>
                  <a:lnTo>
                    <a:pt x="1532497" y="343095"/>
                  </a:lnTo>
                  <a:lnTo>
                    <a:pt x="1499811" y="375781"/>
                  </a:lnTo>
                  <a:lnTo>
                    <a:pt x="1460620" y="400696"/>
                  </a:lnTo>
                  <a:lnTo>
                    <a:pt x="1416191" y="416574"/>
                  </a:lnTo>
                  <a:lnTo>
                    <a:pt x="1367789" y="422147"/>
                  </a:lnTo>
                  <a:lnTo>
                    <a:pt x="211074" y="422147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3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555235" y="5545835"/>
            <a:ext cx="1325880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27329" marR="220345" indent="132080">
              <a:lnSpc>
                <a:spcPct val="100000"/>
              </a:lnSpc>
              <a:spcBef>
                <a:spcPts val="16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Software-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komponenten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21130" y="2259533"/>
            <a:ext cx="91694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Anforderungs-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analyse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69210" y="3645789"/>
            <a:ext cx="10077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System-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Entwurf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390646" y="4888738"/>
            <a:ext cx="1591945" cy="436880"/>
            <a:chOff x="3390646" y="4888738"/>
            <a:chExt cx="1591945" cy="436880"/>
          </a:xfrm>
        </p:grpSpPr>
        <p:sp>
          <p:nvSpPr>
            <p:cNvPr id="36" name="object 36"/>
            <p:cNvSpPr/>
            <p:nvPr/>
          </p:nvSpPr>
          <p:spPr>
            <a:xfrm>
              <a:off x="3396996" y="4895088"/>
              <a:ext cx="1579245" cy="424180"/>
            </a:xfrm>
            <a:custGeom>
              <a:avLst/>
              <a:gdLst/>
              <a:ahLst/>
              <a:cxnLst/>
              <a:rect l="l" t="t" r="r" b="b"/>
              <a:pathLst>
                <a:path w="1579245" h="424179">
                  <a:moveTo>
                    <a:pt x="1367027" y="0"/>
                  </a:moveTo>
                  <a:lnTo>
                    <a:pt x="211836" y="0"/>
                  </a:lnTo>
                  <a:lnTo>
                    <a:pt x="163272" y="5596"/>
                  </a:lnTo>
                  <a:lnTo>
                    <a:pt x="118687" y="21535"/>
                  </a:lnTo>
                  <a:lnTo>
                    <a:pt x="79354" y="46546"/>
                  </a:lnTo>
                  <a:lnTo>
                    <a:pt x="46546" y="79354"/>
                  </a:lnTo>
                  <a:lnTo>
                    <a:pt x="21535" y="118687"/>
                  </a:lnTo>
                  <a:lnTo>
                    <a:pt x="5596" y="163272"/>
                  </a:lnTo>
                  <a:lnTo>
                    <a:pt x="0" y="211836"/>
                  </a:lnTo>
                  <a:lnTo>
                    <a:pt x="5596" y="260399"/>
                  </a:lnTo>
                  <a:lnTo>
                    <a:pt x="21535" y="304984"/>
                  </a:lnTo>
                  <a:lnTo>
                    <a:pt x="46546" y="344317"/>
                  </a:lnTo>
                  <a:lnTo>
                    <a:pt x="79354" y="377125"/>
                  </a:lnTo>
                  <a:lnTo>
                    <a:pt x="118687" y="402136"/>
                  </a:lnTo>
                  <a:lnTo>
                    <a:pt x="163272" y="418075"/>
                  </a:lnTo>
                  <a:lnTo>
                    <a:pt x="211836" y="423672"/>
                  </a:lnTo>
                  <a:lnTo>
                    <a:pt x="1367027" y="423672"/>
                  </a:lnTo>
                  <a:lnTo>
                    <a:pt x="1415591" y="418075"/>
                  </a:lnTo>
                  <a:lnTo>
                    <a:pt x="1460176" y="402136"/>
                  </a:lnTo>
                  <a:lnTo>
                    <a:pt x="1499509" y="377125"/>
                  </a:lnTo>
                  <a:lnTo>
                    <a:pt x="1532317" y="344317"/>
                  </a:lnTo>
                  <a:lnTo>
                    <a:pt x="1557328" y="304984"/>
                  </a:lnTo>
                  <a:lnTo>
                    <a:pt x="1573267" y="260399"/>
                  </a:lnTo>
                  <a:lnTo>
                    <a:pt x="1578864" y="211836"/>
                  </a:lnTo>
                  <a:lnTo>
                    <a:pt x="1573267" y="163272"/>
                  </a:lnTo>
                  <a:lnTo>
                    <a:pt x="1557328" y="118687"/>
                  </a:lnTo>
                  <a:lnTo>
                    <a:pt x="1532317" y="79354"/>
                  </a:lnTo>
                  <a:lnTo>
                    <a:pt x="1499509" y="46546"/>
                  </a:lnTo>
                  <a:lnTo>
                    <a:pt x="1460176" y="21535"/>
                  </a:lnTo>
                  <a:lnTo>
                    <a:pt x="1415591" y="5596"/>
                  </a:lnTo>
                  <a:lnTo>
                    <a:pt x="13670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96996" y="4895088"/>
              <a:ext cx="1579245" cy="424180"/>
            </a:xfrm>
            <a:custGeom>
              <a:avLst/>
              <a:gdLst/>
              <a:ahLst/>
              <a:cxnLst/>
              <a:rect l="l" t="t" r="r" b="b"/>
              <a:pathLst>
                <a:path w="1579245" h="424179">
                  <a:moveTo>
                    <a:pt x="0" y="211836"/>
                  </a:moveTo>
                  <a:lnTo>
                    <a:pt x="5596" y="163272"/>
                  </a:lnTo>
                  <a:lnTo>
                    <a:pt x="21535" y="118687"/>
                  </a:lnTo>
                  <a:lnTo>
                    <a:pt x="46546" y="79354"/>
                  </a:lnTo>
                  <a:lnTo>
                    <a:pt x="79354" y="46546"/>
                  </a:lnTo>
                  <a:lnTo>
                    <a:pt x="118687" y="21535"/>
                  </a:lnTo>
                  <a:lnTo>
                    <a:pt x="163272" y="5596"/>
                  </a:lnTo>
                  <a:lnTo>
                    <a:pt x="211836" y="0"/>
                  </a:lnTo>
                  <a:lnTo>
                    <a:pt x="1367027" y="0"/>
                  </a:lnTo>
                  <a:lnTo>
                    <a:pt x="1415591" y="5596"/>
                  </a:lnTo>
                  <a:lnTo>
                    <a:pt x="1460176" y="21535"/>
                  </a:lnTo>
                  <a:lnTo>
                    <a:pt x="1499509" y="46546"/>
                  </a:lnTo>
                  <a:lnTo>
                    <a:pt x="1532317" y="79354"/>
                  </a:lnTo>
                  <a:lnTo>
                    <a:pt x="1557328" y="118687"/>
                  </a:lnTo>
                  <a:lnTo>
                    <a:pt x="1573267" y="163272"/>
                  </a:lnTo>
                  <a:lnTo>
                    <a:pt x="1578864" y="211836"/>
                  </a:lnTo>
                  <a:lnTo>
                    <a:pt x="1573267" y="260399"/>
                  </a:lnTo>
                  <a:lnTo>
                    <a:pt x="1557328" y="304984"/>
                  </a:lnTo>
                  <a:lnTo>
                    <a:pt x="1532317" y="344317"/>
                  </a:lnTo>
                  <a:lnTo>
                    <a:pt x="1499509" y="377125"/>
                  </a:lnTo>
                  <a:lnTo>
                    <a:pt x="1460176" y="402136"/>
                  </a:lnTo>
                  <a:lnTo>
                    <a:pt x="1415591" y="418075"/>
                  </a:lnTo>
                  <a:lnTo>
                    <a:pt x="1367027" y="423672"/>
                  </a:lnTo>
                  <a:lnTo>
                    <a:pt x="211836" y="423672"/>
                  </a:lnTo>
                  <a:lnTo>
                    <a:pt x="163272" y="418075"/>
                  </a:lnTo>
                  <a:lnTo>
                    <a:pt x="118687" y="402136"/>
                  </a:lnTo>
                  <a:lnTo>
                    <a:pt x="79354" y="377125"/>
                  </a:lnTo>
                  <a:lnTo>
                    <a:pt x="46546" y="344317"/>
                  </a:lnTo>
                  <a:lnTo>
                    <a:pt x="21535" y="304984"/>
                  </a:lnTo>
                  <a:lnTo>
                    <a:pt x="5596" y="260399"/>
                  </a:lnTo>
                  <a:lnTo>
                    <a:pt x="0" y="211836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36645" y="4994529"/>
            <a:ext cx="11004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Implementierung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438902" y="4888738"/>
            <a:ext cx="1146810" cy="436880"/>
            <a:chOff x="5438902" y="4888738"/>
            <a:chExt cx="1146810" cy="436880"/>
          </a:xfrm>
        </p:grpSpPr>
        <p:sp>
          <p:nvSpPr>
            <p:cNvPr id="40" name="object 40"/>
            <p:cNvSpPr/>
            <p:nvPr/>
          </p:nvSpPr>
          <p:spPr>
            <a:xfrm>
              <a:off x="5445252" y="4895088"/>
              <a:ext cx="1134110" cy="424180"/>
            </a:xfrm>
            <a:custGeom>
              <a:avLst/>
              <a:gdLst/>
              <a:ahLst/>
              <a:cxnLst/>
              <a:rect l="l" t="t" r="r" b="b"/>
              <a:pathLst>
                <a:path w="1134109" h="424179">
                  <a:moveTo>
                    <a:pt x="922020" y="0"/>
                  </a:moveTo>
                  <a:lnTo>
                    <a:pt x="211836" y="0"/>
                  </a:lnTo>
                  <a:lnTo>
                    <a:pt x="163272" y="5596"/>
                  </a:lnTo>
                  <a:lnTo>
                    <a:pt x="118687" y="21535"/>
                  </a:lnTo>
                  <a:lnTo>
                    <a:pt x="79354" y="46546"/>
                  </a:lnTo>
                  <a:lnTo>
                    <a:pt x="46546" y="79354"/>
                  </a:lnTo>
                  <a:lnTo>
                    <a:pt x="21535" y="118687"/>
                  </a:lnTo>
                  <a:lnTo>
                    <a:pt x="5596" y="163272"/>
                  </a:lnTo>
                  <a:lnTo>
                    <a:pt x="0" y="211836"/>
                  </a:lnTo>
                  <a:lnTo>
                    <a:pt x="5596" y="260399"/>
                  </a:lnTo>
                  <a:lnTo>
                    <a:pt x="21535" y="304984"/>
                  </a:lnTo>
                  <a:lnTo>
                    <a:pt x="46546" y="344317"/>
                  </a:lnTo>
                  <a:lnTo>
                    <a:pt x="79354" y="377125"/>
                  </a:lnTo>
                  <a:lnTo>
                    <a:pt x="118687" y="402136"/>
                  </a:lnTo>
                  <a:lnTo>
                    <a:pt x="163272" y="418075"/>
                  </a:lnTo>
                  <a:lnTo>
                    <a:pt x="211836" y="423672"/>
                  </a:lnTo>
                  <a:lnTo>
                    <a:pt x="922020" y="423672"/>
                  </a:lnTo>
                  <a:lnTo>
                    <a:pt x="970583" y="418075"/>
                  </a:lnTo>
                  <a:lnTo>
                    <a:pt x="1015168" y="402136"/>
                  </a:lnTo>
                  <a:lnTo>
                    <a:pt x="1054501" y="377125"/>
                  </a:lnTo>
                  <a:lnTo>
                    <a:pt x="1087309" y="344317"/>
                  </a:lnTo>
                  <a:lnTo>
                    <a:pt x="1112320" y="304984"/>
                  </a:lnTo>
                  <a:lnTo>
                    <a:pt x="1128259" y="260399"/>
                  </a:lnTo>
                  <a:lnTo>
                    <a:pt x="1133855" y="211836"/>
                  </a:lnTo>
                  <a:lnTo>
                    <a:pt x="1128259" y="163272"/>
                  </a:lnTo>
                  <a:lnTo>
                    <a:pt x="1112320" y="118687"/>
                  </a:lnTo>
                  <a:lnTo>
                    <a:pt x="1087309" y="79354"/>
                  </a:lnTo>
                  <a:lnTo>
                    <a:pt x="1054501" y="46546"/>
                  </a:lnTo>
                  <a:lnTo>
                    <a:pt x="1015168" y="21535"/>
                  </a:lnTo>
                  <a:lnTo>
                    <a:pt x="970583" y="5596"/>
                  </a:lnTo>
                  <a:lnTo>
                    <a:pt x="92202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45252" y="4895088"/>
              <a:ext cx="1134110" cy="424180"/>
            </a:xfrm>
            <a:custGeom>
              <a:avLst/>
              <a:gdLst/>
              <a:ahLst/>
              <a:cxnLst/>
              <a:rect l="l" t="t" r="r" b="b"/>
              <a:pathLst>
                <a:path w="1134109" h="424179">
                  <a:moveTo>
                    <a:pt x="0" y="211836"/>
                  </a:moveTo>
                  <a:lnTo>
                    <a:pt x="5596" y="163272"/>
                  </a:lnTo>
                  <a:lnTo>
                    <a:pt x="21535" y="118687"/>
                  </a:lnTo>
                  <a:lnTo>
                    <a:pt x="46546" y="79354"/>
                  </a:lnTo>
                  <a:lnTo>
                    <a:pt x="79354" y="46546"/>
                  </a:lnTo>
                  <a:lnTo>
                    <a:pt x="118687" y="21535"/>
                  </a:lnTo>
                  <a:lnTo>
                    <a:pt x="163272" y="5596"/>
                  </a:lnTo>
                  <a:lnTo>
                    <a:pt x="211836" y="0"/>
                  </a:lnTo>
                  <a:lnTo>
                    <a:pt x="922020" y="0"/>
                  </a:lnTo>
                  <a:lnTo>
                    <a:pt x="970583" y="5596"/>
                  </a:lnTo>
                  <a:lnTo>
                    <a:pt x="1015168" y="21535"/>
                  </a:lnTo>
                  <a:lnTo>
                    <a:pt x="1054501" y="46546"/>
                  </a:lnTo>
                  <a:lnTo>
                    <a:pt x="1087309" y="79354"/>
                  </a:lnTo>
                  <a:lnTo>
                    <a:pt x="1112320" y="118687"/>
                  </a:lnTo>
                  <a:lnTo>
                    <a:pt x="1128259" y="163272"/>
                  </a:lnTo>
                  <a:lnTo>
                    <a:pt x="1133855" y="211836"/>
                  </a:lnTo>
                  <a:lnTo>
                    <a:pt x="1128259" y="260399"/>
                  </a:lnTo>
                  <a:lnTo>
                    <a:pt x="1112320" y="304984"/>
                  </a:lnTo>
                  <a:lnTo>
                    <a:pt x="1087309" y="344317"/>
                  </a:lnTo>
                  <a:lnTo>
                    <a:pt x="1054501" y="377125"/>
                  </a:lnTo>
                  <a:lnTo>
                    <a:pt x="1015168" y="402136"/>
                  </a:lnTo>
                  <a:lnTo>
                    <a:pt x="970583" y="418075"/>
                  </a:lnTo>
                  <a:lnTo>
                    <a:pt x="922020" y="423672"/>
                  </a:lnTo>
                  <a:lnTo>
                    <a:pt x="211836" y="423672"/>
                  </a:lnTo>
                  <a:lnTo>
                    <a:pt x="163272" y="418075"/>
                  </a:lnTo>
                  <a:lnTo>
                    <a:pt x="118687" y="402136"/>
                  </a:lnTo>
                  <a:lnTo>
                    <a:pt x="79354" y="377125"/>
                  </a:lnTo>
                  <a:lnTo>
                    <a:pt x="46546" y="344317"/>
                  </a:lnTo>
                  <a:lnTo>
                    <a:pt x="21535" y="304984"/>
                  </a:lnTo>
                  <a:lnTo>
                    <a:pt x="5596" y="260399"/>
                  </a:lnTo>
                  <a:lnTo>
                    <a:pt x="0" y="211836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657469" y="4994529"/>
            <a:ext cx="709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078479" y="4238244"/>
            <a:ext cx="1327785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45110" marR="238125" indent="118745">
              <a:lnSpc>
                <a:spcPct val="100000"/>
              </a:lnSpc>
              <a:spcBef>
                <a:spcPts val="15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Entwurfs-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beschreibung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759196" y="4238244"/>
            <a:ext cx="1325880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32740" marR="249554" indent="-74930">
              <a:lnSpc>
                <a:spcPct val="100000"/>
              </a:lnSpc>
              <a:spcBef>
                <a:spcPts val="155"/>
              </a:spcBef>
            </a:pP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ausführbares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Subsystem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879092" y="2929127"/>
            <a:ext cx="1327785" cy="42418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88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Anforderungen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566916" y="2929127"/>
            <a:ext cx="1327785" cy="42418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443230" marR="250190" indent="-184785">
              <a:lnSpc>
                <a:spcPct val="100000"/>
              </a:lnSpc>
              <a:spcBef>
                <a:spcPts val="160"/>
              </a:spcBef>
            </a:pP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ausführbares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9704" y="1616963"/>
            <a:ext cx="1327785" cy="416559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44475" marR="239395" indent="132080">
              <a:lnSpc>
                <a:spcPct val="100000"/>
              </a:lnSpc>
              <a:spcBef>
                <a:spcPts val="12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Problem-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beschreibung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95388" y="1618488"/>
            <a:ext cx="1325880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875"/>
              </a:spcBef>
            </a:pP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benutztes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155182" y="3543046"/>
            <a:ext cx="1146810" cy="434975"/>
            <a:chOff x="6155182" y="3543046"/>
            <a:chExt cx="1146810" cy="434975"/>
          </a:xfrm>
        </p:grpSpPr>
        <p:sp>
          <p:nvSpPr>
            <p:cNvPr id="50" name="object 50"/>
            <p:cNvSpPr/>
            <p:nvPr/>
          </p:nvSpPr>
          <p:spPr>
            <a:xfrm>
              <a:off x="6161532" y="3549396"/>
              <a:ext cx="1134110" cy="422275"/>
            </a:xfrm>
            <a:custGeom>
              <a:avLst/>
              <a:gdLst/>
              <a:ahLst/>
              <a:cxnLst/>
              <a:rect l="l" t="t" r="r" b="b"/>
              <a:pathLst>
                <a:path w="1134109" h="422275">
                  <a:moveTo>
                    <a:pt x="922782" y="0"/>
                  </a:moveTo>
                  <a:lnTo>
                    <a:pt x="211073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3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3" y="422147"/>
                  </a:lnTo>
                  <a:lnTo>
                    <a:pt x="922782" y="422147"/>
                  </a:lnTo>
                  <a:lnTo>
                    <a:pt x="971183" y="416574"/>
                  </a:lnTo>
                  <a:lnTo>
                    <a:pt x="1015612" y="400696"/>
                  </a:lnTo>
                  <a:lnTo>
                    <a:pt x="1054803" y="375781"/>
                  </a:lnTo>
                  <a:lnTo>
                    <a:pt x="1087489" y="343095"/>
                  </a:lnTo>
                  <a:lnTo>
                    <a:pt x="1112404" y="303904"/>
                  </a:lnTo>
                  <a:lnTo>
                    <a:pt x="1128282" y="259475"/>
                  </a:lnTo>
                  <a:lnTo>
                    <a:pt x="1133856" y="211073"/>
                  </a:lnTo>
                  <a:lnTo>
                    <a:pt x="1128282" y="162672"/>
                  </a:lnTo>
                  <a:lnTo>
                    <a:pt x="1112404" y="118243"/>
                  </a:lnTo>
                  <a:lnTo>
                    <a:pt x="1087489" y="79052"/>
                  </a:lnTo>
                  <a:lnTo>
                    <a:pt x="1054803" y="46366"/>
                  </a:lnTo>
                  <a:lnTo>
                    <a:pt x="1015612" y="21451"/>
                  </a:lnTo>
                  <a:lnTo>
                    <a:pt x="971183" y="5573"/>
                  </a:lnTo>
                  <a:lnTo>
                    <a:pt x="92278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161532" y="3549396"/>
              <a:ext cx="1134110" cy="422275"/>
            </a:xfrm>
            <a:custGeom>
              <a:avLst/>
              <a:gdLst/>
              <a:ahLst/>
              <a:cxnLst/>
              <a:rect l="l" t="t" r="r" b="b"/>
              <a:pathLst>
                <a:path w="1134109" h="422275">
                  <a:moveTo>
                    <a:pt x="0" y="211073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3" y="0"/>
                  </a:lnTo>
                  <a:lnTo>
                    <a:pt x="922782" y="0"/>
                  </a:lnTo>
                  <a:lnTo>
                    <a:pt x="971183" y="5573"/>
                  </a:lnTo>
                  <a:lnTo>
                    <a:pt x="1015612" y="21451"/>
                  </a:lnTo>
                  <a:lnTo>
                    <a:pt x="1054803" y="46366"/>
                  </a:lnTo>
                  <a:lnTo>
                    <a:pt x="1087489" y="79052"/>
                  </a:lnTo>
                  <a:lnTo>
                    <a:pt x="1112404" y="118243"/>
                  </a:lnTo>
                  <a:lnTo>
                    <a:pt x="1128282" y="162672"/>
                  </a:lnTo>
                  <a:lnTo>
                    <a:pt x="1133856" y="211073"/>
                  </a:lnTo>
                  <a:lnTo>
                    <a:pt x="1128282" y="259475"/>
                  </a:lnTo>
                  <a:lnTo>
                    <a:pt x="1112404" y="303904"/>
                  </a:lnTo>
                  <a:lnTo>
                    <a:pt x="1087489" y="343095"/>
                  </a:lnTo>
                  <a:lnTo>
                    <a:pt x="1054803" y="375781"/>
                  </a:lnTo>
                  <a:lnTo>
                    <a:pt x="1015612" y="400696"/>
                  </a:lnTo>
                  <a:lnTo>
                    <a:pt x="971183" y="416574"/>
                  </a:lnTo>
                  <a:lnTo>
                    <a:pt x="922782" y="422147"/>
                  </a:lnTo>
                  <a:lnTo>
                    <a:pt x="211073" y="422147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3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4548885" y="4231894"/>
            <a:ext cx="1064260" cy="434975"/>
            <a:chOff x="4548885" y="4231894"/>
            <a:chExt cx="1064260" cy="434975"/>
          </a:xfrm>
        </p:grpSpPr>
        <p:sp>
          <p:nvSpPr>
            <p:cNvPr id="53" name="object 53"/>
            <p:cNvSpPr/>
            <p:nvPr/>
          </p:nvSpPr>
          <p:spPr>
            <a:xfrm>
              <a:off x="4555235" y="4238244"/>
              <a:ext cx="1051560" cy="422275"/>
            </a:xfrm>
            <a:custGeom>
              <a:avLst/>
              <a:gdLst/>
              <a:ahLst/>
              <a:cxnLst/>
              <a:rect l="l" t="t" r="r" b="b"/>
              <a:pathLst>
                <a:path w="1051560" h="422275">
                  <a:moveTo>
                    <a:pt x="840486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3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7"/>
                  </a:lnTo>
                  <a:lnTo>
                    <a:pt x="840486" y="422147"/>
                  </a:lnTo>
                  <a:lnTo>
                    <a:pt x="888887" y="416574"/>
                  </a:lnTo>
                  <a:lnTo>
                    <a:pt x="933316" y="400696"/>
                  </a:lnTo>
                  <a:lnTo>
                    <a:pt x="972507" y="375781"/>
                  </a:lnTo>
                  <a:lnTo>
                    <a:pt x="1005193" y="343095"/>
                  </a:lnTo>
                  <a:lnTo>
                    <a:pt x="1030108" y="303904"/>
                  </a:lnTo>
                  <a:lnTo>
                    <a:pt x="1045986" y="259475"/>
                  </a:lnTo>
                  <a:lnTo>
                    <a:pt x="1051560" y="211073"/>
                  </a:lnTo>
                  <a:lnTo>
                    <a:pt x="1045986" y="162672"/>
                  </a:lnTo>
                  <a:lnTo>
                    <a:pt x="1030108" y="118243"/>
                  </a:lnTo>
                  <a:lnTo>
                    <a:pt x="1005193" y="79052"/>
                  </a:lnTo>
                  <a:lnTo>
                    <a:pt x="972507" y="46366"/>
                  </a:lnTo>
                  <a:lnTo>
                    <a:pt x="933316" y="21451"/>
                  </a:lnTo>
                  <a:lnTo>
                    <a:pt x="888887" y="5573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55235" y="4238244"/>
              <a:ext cx="1051560" cy="422275"/>
            </a:xfrm>
            <a:custGeom>
              <a:avLst/>
              <a:gdLst/>
              <a:ahLst/>
              <a:cxnLst/>
              <a:rect l="l" t="t" r="r" b="b"/>
              <a:pathLst>
                <a:path w="1051560" h="422275">
                  <a:moveTo>
                    <a:pt x="0" y="211073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840486" y="0"/>
                  </a:lnTo>
                  <a:lnTo>
                    <a:pt x="888887" y="5573"/>
                  </a:lnTo>
                  <a:lnTo>
                    <a:pt x="933316" y="21451"/>
                  </a:lnTo>
                  <a:lnTo>
                    <a:pt x="972507" y="46366"/>
                  </a:lnTo>
                  <a:lnTo>
                    <a:pt x="1005193" y="79052"/>
                  </a:lnTo>
                  <a:lnTo>
                    <a:pt x="1030108" y="118243"/>
                  </a:lnTo>
                  <a:lnTo>
                    <a:pt x="1045986" y="162672"/>
                  </a:lnTo>
                  <a:lnTo>
                    <a:pt x="1051560" y="211073"/>
                  </a:lnTo>
                  <a:lnTo>
                    <a:pt x="1045986" y="259475"/>
                  </a:lnTo>
                  <a:lnTo>
                    <a:pt x="1030108" y="303904"/>
                  </a:lnTo>
                  <a:lnTo>
                    <a:pt x="1005193" y="343095"/>
                  </a:lnTo>
                  <a:lnTo>
                    <a:pt x="972507" y="375781"/>
                  </a:lnTo>
                  <a:lnTo>
                    <a:pt x="933316" y="400696"/>
                  </a:lnTo>
                  <a:lnTo>
                    <a:pt x="888887" y="416574"/>
                  </a:lnTo>
                  <a:lnTo>
                    <a:pt x="840486" y="422147"/>
                  </a:lnTo>
                  <a:lnTo>
                    <a:pt x="211074" y="422147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3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555235" y="4238244"/>
              <a:ext cx="1051560" cy="422275"/>
            </a:xfrm>
            <a:custGeom>
              <a:avLst/>
              <a:gdLst/>
              <a:ahLst/>
              <a:cxnLst/>
              <a:rect l="l" t="t" r="r" b="b"/>
              <a:pathLst>
                <a:path w="1051560" h="422275">
                  <a:moveTo>
                    <a:pt x="840486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3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7"/>
                  </a:lnTo>
                  <a:lnTo>
                    <a:pt x="840486" y="422147"/>
                  </a:lnTo>
                  <a:lnTo>
                    <a:pt x="888887" y="416574"/>
                  </a:lnTo>
                  <a:lnTo>
                    <a:pt x="933316" y="400696"/>
                  </a:lnTo>
                  <a:lnTo>
                    <a:pt x="972507" y="375781"/>
                  </a:lnTo>
                  <a:lnTo>
                    <a:pt x="1005193" y="343095"/>
                  </a:lnTo>
                  <a:lnTo>
                    <a:pt x="1030108" y="303904"/>
                  </a:lnTo>
                  <a:lnTo>
                    <a:pt x="1045986" y="259475"/>
                  </a:lnTo>
                  <a:lnTo>
                    <a:pt x="1051560" y="211073"/>
                  </a:lnTo>
                  <a:lnTo>
                    <a:pt x="1045986" y="162672"/>
                  </a:lnTo>
                  <a:lnTo>
                    <a:pt x="1030108" y="118243"/>
                  </a:lnTo>
                  <a:lnTo>
                    <a:pt x="1005193" y="79052"/>
                  </a:lnTo>
                  <a:lnTo>
                    <a:pt x="972507" y="46366"/>
                  </a:lnTo>
                  <a:lnTo>
                    <a:pt x="933316" y="21451"/>
                  </a:lnTo>
                  <a:lnTo>
                    <a:pt x="888887" y="5573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555235" y="4238244"/>
              <a:ext cx="1051560" cy="422275"/>
            </a:xfrm>
            <a:custGeom>
              <a:avLst/>
              <a:gdLst/>
              <a:ahLst/>
              <a:cxnLst/>
              <a:rect l="l" t="t" r="r" b="b"/>
              <a:pathLst>
                <a:path w="1051560" h="422275">
                  <a:moveTo>
                    <a:pt x="0" y="211073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840486" y="0"/>
                  </a:lnTo>
                  <a:lnTo>
                    <a:pt x="888887" y="5573"/>
                  </a:lnTo>
                  <a:lnTo>
                    <a:pt x="933316" y="21451"/>
                  </a:lnTo>
                  <a:lnTo>
                    <a:pt x="972507" y="46366"/>
                  </a:lnTo>
                  <a:lnTo>
                    <a:pt x="1005193" y="79052"/>
                  </a:lnTo>
                  <a:lnTo>
                    <a:pt x="1030108" y="118243"/>
                  </a:lnTo>
                  <a:lnTo>
                    <a:pt x="1045986" y="162672"/>
                  </a:lnTo>
                  <a:lnTo>
                    <a:pt x="1051560" y="211073"/>
                  </a:lnTo>
                  <a:lnTo>
                    <a:pt x="1045986" y="259475"/>
                  </a:lnTo>
                  <a:lnTo>
                    <a:pt x="1030108" y="303904"/>
                  </a:lnTo>
                  <a:lnTo>
                    <a:pt x="1005193" y="343095"/>
                  </a:lnTo>
                  <a:lnTo>
                    <a:pt x="972507" y="375781"/>
                  </a:lnTo>
                  <a:lnTo>
                    <a:pt x="933316" y="400696"/>
                  </a:lnTo>
                  <a:lnTo>
                    <a:pt x="888887" y="416574"/>
                  </a:lnTo>
                  <a:lnTo>
                    <a:pt x="840486" y="422147"/>
                  </a:lnTo>
                  <a:lnTo>
                    <a:pt x="211074" y="422147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3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373495" y="3647694"/>
            <a:ext cx="709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985761" y="2246122"/>
            <a:ext cx="1145540" cy="436880"/>
            <a:chOff x="6985761" y="2246122"/>
            <a:chExt cx="1145540" cy="436880"/>
          </a:xfrm>
        </p:grpSpPr>
        <p:sp>
          <p:nvSpPr>
            <p:cNvPr id="59" name="object 59"/>
            <p:cNvSpPr/>
            <p:nvPr/>
          </p:nvSpPr>
          <p:spPr>
            <a:xfrm>
              <a:off x="6992111" y="2252472"/>
              <a:ext cx="1132840" cy="424180"/>
            </a:xfrm>
            <a:custGeom>
              <a:avLst/>
              <a:gdLst/>
              <a:ahLst/>
              <a:cxnLst/>
              <a:rect l="l" t="t" r="r" b="b"/>
              <a:pathLst>
                <a:path w="1132840" h="424180">
                  <a:moveTo>
                    <a:pt x="920496" y="0"/>
                  </a:moveTo>
                  <a:lnTo>
                    <a:pt x="211836" y="0"/>
                  </a:lnTo>
                  <a:lnTo>
                    <a:pt x="163272" y="5596"/>
                  </a:lnTo>
                  <a:lnTo>
                    <a:pt x="118687" y="21535"/>
                  </a:lnTo>
                  <a:lnTo>
                    <a:pt x="79354" y="46546"/>
                  </a:lnTo>
                  <a:lnTo>
                    <a:pt x="46546" y="79354"/>
                  </a:lnTo>
                  <a:lnTo>
                    <a:pt x="21535" y="118687"/>
                  </a:lnTo>
                  <a:lnTo>
                    <a:pt x="5596" y="163272"/>
                  </a:lnTo>
                  <a:lnTo>
                    <a:pt x="0" y="211836"/>
                  </a:lnTo>
                  <a:lnTo>
                    <a:pt x="5596" y="260399"/>
                  </a:lnTo>
                  <a:lnTo>
                    <a:pt x="21535" y="304984"/>
                  </a:lnTo>
                  <a:lnTo>
                    <a:pt x="46546" y="344317"/>
                  </a:lnTo>
                  <a:lnTo>
                    <a:pt x="79354" y="377125"/>
                  </a:lnTo>
                  <a:lnTo>
                    <a:pt x="118687" y="402136"/>
                  </a:lnTo>
                  <a:lnTo>
                    <a:pt x="163272" y="418075"/>
                  </a:lnTo>
                  <a:lnTo>
                    <a:pt x="211836" y="423672"/>
                  </a:lnTo>
                  <a:lnTo>
                    <a:pt x="920496" y="423672"/>
                  </a:lnTo>
                  <a:lnTo>
                    <a:pt x="969059" y="418075"/>
                  </a:lnTo>
                  <a:lnTo>
                    <a:pt x="1013644" y="402136"/>
                  </a:lnTo>
                  <a:lnTo>
                    <a:pt x="1052977" y="377125"/>
                  </a:lnTo>
                  <a:lnTo>
                    <a:pt x="1085785" y="344317"/>
                  </a:lnTo>
                  <a:lnTo>
                    <a:pt x="1110796" y="304984"/>
                  </a:lnTo>
                  <a:lnTo>
                    <a:pt x="1126735" y="260399"/>
                  </a:lnTo>
                  <a:lnTo>
                    <a:pt x="1132332" y="211836"/>
                  </a:lnTo>
                  <a:lnTo>
                    <a:pt x="1126735" y="163272"/>
                  </a:lnTo>
                  <a:lnTo>
                    <a:pt x="1110796" y="118687"/>
                  </a:lnTo>
                  <a:lnTo>
                    <a:pt x="1085785" y="79354"/>
                  </a:lnTo>
                  <a:lnTo>
                    <a:pt x="1052977" y="46546"/>
                  </a:lnTo>
                  <a:lnTo>
                    <a:pt x="1013644" y="21535"/>
                  </a:lnTo>
                  <a:lnTo>
                    <a:pt x="969059" y="5596"/>
                  </a:lnTo>
                  <a:lnTo>
                    <a:pt x="92049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92111" y="2252472"/>
              <a:ext cx="1132840" cy="424180"/>
            </a:xfrm>
            <a:custGeom>
              <a:avLst/>
              <a:gdLst/>
              <a:ahLst/>
              <a:cxnLst/>
              <a:rect l="l" t="t" r="r" b="b"/>
              <a:pathLst>
                <a:path w="1132840" h="424180">
                  <a:moveTo>
                    <a:pt x="0" y="211836"/>
                  </a:moveTo>
                  <a:lnTo>
                    <a:pt x="5596" y="163272"/>
                  </a:lnTo>
                  <a:lnTo>
                    <a:pt x="21535" y="118687"/>
                  </a:lnTo>
                  <a:lnTo>
                    <a:pt x="46546" y="79354"/>
                  </a:lnTo>
                  <a:lnTo>
                    <a:pt x="79354" y="46546"/>
                  </a:lnTo>
                  <a:lnTo>
                    <a:pt x="118687" y="21535"/>
                  </a:lnTo>
                  <a:lnTo>
                    <a:pt x="163272" y="5596"/>
                  </a:lnTo>
                  <a:lnTo>
                    <a:pt x="211836" y="0"/>
                  </a:lnTo>
                  <a:lnTo>
                    <a:pt x="920496" y="0"/>
                  </a:lnTo>
                  <a:lnTo>
                    <a:pt x="969059" y="5596"/>
                  </a:lnTo>
                  <a:lnTo>
                    <a:pt x="1013644" y="21535"/>
                  </a:lnTo>
                  <a:lnTo>
                    <a:pt x="1052977" y="46546"/>
                  </a:lnTo>
                  <a:lnTo>
                    <a:pt x="1085785" y="79354"/>
                  </a:lnTo>
                  <a:lnTo>
                    <a:pt x="1110796" y="118687"/>
                  </a:lnTo>
                  <a:lnTo>
                    <a:pt x="1126735" y="163272"/>
                  </a:lnTo>
                  <a:lnTo>
                    <a:pt x="1132332" y="211836"/>
                  </a:lnTo>
                  <a:lnTo>
                    <a:pt x="1126735" y="260399"/>
                  </a:lnTo>
                  <a:lnTo>
                    <a:pt x="1110796" y="304984"/>
                  </a:lnTo>
                  <a:lnTo>
                    <a:pt x="1085785" y="344317"/>
                  </a:lnTo>
                  <a:lnTo>
                    <a:pt x="1052977" y="377125"/>
                  </a:lnTo>
                  <a:lnTo>
                    <a:pt x="1013644" y="402136"/>
                  </a:lnTo>
                  <a:lnTo>
                    <a:pt x="969059" y="418075"/>
                  </a:lnTo>
                  <a:lnTo>
                    <a:pt x="920496" y="423672"/>
                  </a:lnTo>
                  <a:lnTo>
                    <a:pt x="211836" y="423672"/>
                  </a:lnTo>
                  <a:lnTo>
                    <a:pt x="163272" y="418075"/>
                  </a:lnTo>
                  <a:lnTo>
                    <a:pt x="118687" y="402136"/>
                  </a:lnTo>
                  <a:lnTo>
                    <a:pt x="79354" y="377125"/>
                  </a:lnTo>
                  <a:lnTo>
                    <a:pt x="46546" y="344317"/>
                  </a:lnTo>
                  <a:lnTo>
                    <a:pt x="21535" y="304984"/>
                  </a:lnTo>
                  <a:lnTo>
                    <a:pt x="5596" y="260399"/>
                  </a:lnTo>
                  <a:lnTo>
                    <a:pt x="0" y="211836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204075" y="2351659"/>
            <a:ext cx="709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548885" y="2918205"/>
            <a:ext cx="1064260" cy="436880"/>
            <a:chOff x="4548885" y="2918205"/>
            <a:chExt cx="1064260" cy="436880"/>
          </a:xfrm>
        </p:grpSpPr>
        <p:sp>
          <p:nvSpPr>
            <p:cNvPr id="63" name="object 63"/>
            <p:cNvSpPr/>
            <p:nvPr/>
          </p:nvSpPr>
          <p:spPr>
            <a:xfrm>
              <a:off x="4555235" y="2924555"/>
              <a:ext cx="1051560" cy="424180"/>
            </a:xfrm>
            <a:custGeom>
              <a:avLst/>
              <a:gdLst/>
              <a:ahLst/>
              <a:cxnLst/>
              <a:rect l="l" t="t" r="r" b="b"/>
              <a:pathLst>
                <a:path w="1051560" h="424179">
                  <a:moveTo>
                    <a:pt x="839724" y="0"/>
                  </a:moveTo>
                  <a:lnTo>
                    <a:pt x="211836" y="0"/>
                  </a:lnTo>
                  <a:lnTo>
                    <a:pt x="163272" y="5596"/>
                  </a:lnTo>
                  <a:lnTo>
                    <a:pt x="118687" y="21535"/>
                  </a:lnTo>
                  <a:lnTo>
                    <a:pt x="79354" y="46546"/>
                  </a:lnTo>
                  <a:lnTo>
                    <a:pt x="46546" y="79354"/>
                  </a:lnTo>
                  <a:lnTo>
                    <a:pt x="21535" y="118687"/>
                  </a:lnTo>
                  <a:lnTo>
                    <a:pt x="5596" y="163272"/>
                  </a:lnTo>
                  <a:lnTo>
                    <a:pt x="0" y="211836"/>
                  </a:lnTo>
                  <a:lnTo>
                    <a:pt x="5596" y="260399"/>
                  </a:lnTo>
                  <a:lnTo>
                    <a:pt x="21535" y="304984"/>
                  </a:lnTo>
                  <a:lnTo>
                    <a:pt x="46546" y="344317"/>
                  </a:lnTo>
                  <a:lnTo>
                    <a:pt x="79354" y="377125"/>
                  </a:lnTo>
                  <a:lnTo>
                    <a:pt x="118687" y="402136"/>
                  </a:lnTo>
                  <a:lnTo>
                    <a:pt x="163272" y="418075"/>
                  </a:lnTo>
                  <a:lnTo>
                    <a:pt x="211836" y="423672"/>
                  </a:lnTo>
                  <a:lnTo>
                    <a:pt x="839724" y="423672"/>
                  </a:lnTo>
                  <a:lnTo>
                    <a:pt x="888287" y="418075"/>
                  </a:lnTo>
                  <a:lnTo>
                    <a:pt x="932872" y="402136"/>
                  </a:lnTo>
                  <a:lnTo>
                    <a:pt x="972205" y="377125"/>
                  </a:lnTo>
                  <a:lnTo>
                    <a:pt x="1005013" y="344317"/>
                  </a:lnTo>
                  <a:lnTo>
                    <a:pt x="1030024" y="304984"/>
                  </a:lnTo>
                  <a:lnTo>
                    <a:pt x="1045963" y="260399"/>
                  </a:lnTo>
                  <a:lnTo>
                    <a:pt x="1051560" y="211836"/>
                  </a:lnTo>
                  <a:lnTo>
                    <a:pt x="1045963" y="163272"/>
                  </a:lnTo>
                  <a:lnTo>
                    <a:pt x="1030024" y="118687"/>
                  </a:lnTo>
                  <a:lnTo>
                    <a:pt x="1005013" y="79354"/>
                  </a:lnTo>
                  <a:lnTo>
                    <a:pt x="972205" y="46546"/>
                  </a:lnTo>
                  <a:lnTo>
                    <a:pt x="932872" y="21535"/>
                  </a:lnTo>
                  <a:lnTo>
                    <a:pt x="888287" y="5596"/>
                  </a:lnTo>
                  <a:lnTo>
                    <a:pt x="83972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555235" y="2924555"/>
              <a:ext cx="1051560" cy="424180"/>
            </a:xfrm>
            <a:custGeom>
              <a:avLst/>
              <a:gdLst/>
              <a:ahLst/>
              <a:cxnLst/>
              <a:rect l="l" t="t" r="r" b="b"/>
              <a:pathLst>
                <a:path w="1051560" h="424179">
                  <a:moveTo>
                    <a:pt x="0" y="211836"/>
                  </a:moveTo>
                  <a:lnTo>
                    <a:pt x="5596" y="163272"/>
                  </a:lnTo>
                  <a:lnTo>
                    <a:pt x="21535" y="118687"/>
                  </a:lnTo>
                  <a:lnTo>
                    <a:pt x="46546" y="79354"/>
                  </a:lnTo>
                  <a:lnTo>
                    <a:pt x="79354" y="46546"/>
                  </a:lnTo>
                  <a:lnTo>
                    <a:pt x="118687" y="21535"/>
                  </a:lnTo>
                  <a:lnTo>
                    <a:pt x="163272" y="5596"/>
                  </a:lnTo>
                  <a:lnTo>
                    <a:pt x="211836" y="0"/>
                  </a:lnTo>
                  <a:lnTo>
                    <a:pt x="839724" y="0"/>
                  </a:lnTo>
                  <a:lnTo>
                    <a:pt x="888287" y="5596"/>
                  </a:lnTo>
                  <a:lnTo>
                    <a:pt x="932872" y="21535"/>
                  </a:lnTo>
                  <a:lnTo>
                    <a:pt x="972205" y="46546"/>
                  </a:lnTo>
                  <a:lnTo>
                    <a:pt x="1005013" y="79354"/>
                  </a:lnTo>
                  <a:lnTo>
                    <a:pt x="1030024" y="118687"/>
                  </a:lnTo>
                  <a:lnTo>
                    <a:pt x="1045963" y="163272"/>
                  </a:lnTo>
                  <a:lnTo>
                    <a:pt x="1051560" y="211836"/>
                  </a:lnTo>
                  <a:lnTo>
                    <a:pt x="1045963" y="260399"/>
                  </a:lnTo>
                  <a:lnTo>
                    <a:pt x="1030024" y="304984"/>
                  </a:lnTo>
                  <a:lnTo>
                    <a:pt x="1005013" y="344317"/>
                  </a:lnTo>
                  <a:lnTo>
                    <a:pt x="972205" y="377125"/>
                  </a:lnTo>
                  <a:lnTo>
                    <a:pt x="932872" y="402136"/>
                  </a:lnTo>
                  <a:lnTo>
                    <a:pt x="888287" y="418075"/>
                  </a:lnTo>
                  <a:lnTo>
                    <a:pt x="839724" y="423672"/>
                  </a:lnTo>
                  <a:lnTo>
                    <a:pt x="211836" y="423672"/>
                  </a:lnTo>
                  <a:lnTo>
                    <a:pt x="163272" y="418075"/>
                  </a:lnTo>
                  <a:lnTo>
                    <a:pt x="118687" y="402136"/>
                  </a:lnTo>
                  <a:lnTo>
                    <a:pt x="79354" y="377125"/>
                  </a:lnTo>
                  <a:lnTo>
                    <a:pt x="46546" y="344317"/>
                  </a:lnTo>
                  <a:lnTo>
                    <a:pt x="21535" y="304984"/>
                  </a:lnTo>
                  <a:lnTo>
                    <a:pt x="5596" y="260399"/>
                  </a:lnTo>
                  <a:lnTo>
                    <a:pt x="0" y="211836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4719573" y="3023742"/>
            <a:ext cx="723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Validierung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548885" y="1606041"/>
            <a:ext cx="1064260" cy="434975"/>
            <a:chOff x="4548885" y="1606041"/>
            <a:chExt cx="1064260" cy="434975"/>
          </a:xfrm>
        </p:grpSpPr>
        <p:sp>
          <p:nvSpPr>
            <p:cNvPr id="67" name="object 67"/>
            <p:cNvSpPr/>
            <p:nvPr/>
          </p:nvSpPr>
          <p:spPr>
            <a:xfrm>
              <a:off x="4555235" y="1612391"/>
              <a:ext cx="1051560" cy="422275"/>
            </a:xfrm>
            <a:custGeom>
              <a:avLst/>
              <a:gdLst/>
              <a:ahLst/>
              <a:cxnLst/>
              <a:rect l="l" t="t" r="r" b="b"/>
              <a:pathLst>
                <a:path w="1051560" h="422275">
                  <a:moveTo>
                    <a:pt x="840486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4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8"/>
                  </a:lnTo>
                  <a:lnTo>
                    <a:pt x="840486" y="422148"/>
                  </a:lnTo>
                  <a:lnTo>
                    <a:pt x="888887" y="416574"/>
                  </a:lnTo>
                  <a:lnTo>
                    <a:pt x="933316" y="400696"/>
                  </a:lnTo>
                  <a:lnTo>
                    <a:pt x="972507" y="375781"/>
                  </a:lnTo>
                  <a:lnTo>
                    <a:pt x="1005193" y="343095"/>
                  </a:lnTo>
                  <a:lnTo>
                    <a:pt x="1030108" y="303904"/>
                  </a:lnTo>
                  <a:lnTo>
                    <a:pt x="1045986" y="259475"/>
                  </a:lnTo>
                  <a:lnTo>
                    <a:pt x="1051560" y="211074"/>
                  </a:lnTo>
                  <a:lnTo>
                    <a:pt x="1045986" y="162672"/>
                  </a:lnTo>
                  <a:lnTo>
                    <a:pt x="1030108" y="118243"/>
                  </a:lnTo>
                  <a:lnTo>
                    <a:pt x="1005193" y="79052"/>
                  </a:lnTo>
                  <a:lnTo>
                    <a:pt x="972507" y="46366"/>
                  </a:lnTo>
                  <a:lnTo>
                    <a:pt x="933316" y="21451"/>
                  </a:lnTo>
                  <a:lnTo>
                    <a:pt x="888887" y="5573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55235" y="1612391"/>
              <a:ext cx="1051560" cy="422275"/>
            </a:xfrm>
            <a:custGeom>
              <a:avLst/>
              <a:gdLst/>
              <a:ahLst/>
              <a:cxnLst/>
              <a:rect l="l" t="t" r="r" b="b"/>
              <a:pathLst>
                <a:path w="1051560" h="422275">
                  <a:moveTo>
                    <a:pt x="0" y="211074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840486" y="0"/>
                  </a:lnTo>
                  <a:lnTo>
                    <a:pt x="888887" y="5573"/>
                  </a:lnTo>
                  <a:lnTo>
                    <a:pt x="933316" y="21451"/>
                  </a:lnTo>
                  <a:lnTo>
                    <a:pt x="972507" y="46366"/>
                  </a:lnTo>
                  <a:lnTo>
                    <a:pt x="1005193" y="79052"/>
                  </a:lnTo>
                  <a:lnTo>
                    <a:pt x="1030108" y="118243"/>
                  </a:lnTo>
                  <a:lnTo>
                    <a:pt x="1045986" y="162672"/>
                  </a:lnTo>
                  <a:lnTo>
                    <a:pt x="1051560" y="211074"/>
                  </a:lnTo>
                  <a:lnTo>
                    <a:pt x="1045986" y="259475"/>
                  </a:lnTo>
                  <a:lnTo>
                    <a:pt x="1030108" y="303904"/>
                  </a:lnTo>
                  <a:lnTo>
                    <a:pt x="1005193" y="343095"/>
                  </a:lnTo>
                  <a:lnTo>
                    <a:pt x="972507" y="375781"/>
                  </a:lnTo>
                  <a:lnTo>
                    <a:pt x="933316" y="400696"/>
                  </a:lnTo>
                  <a:lnTo>
                    <a:pt x="888887" y="416574"/>
                  </a:lnTo>
                  <a:lnTo>
                    <a:pt x="840486" y="422148"/>
                  </a:lnTo>
                  <a:lnTo>
                    <a:pt x="211074" y="422148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4719573" y="1710944"/>
            <a:ext cx="723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Validierung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0" name="object 70"/>
          <p:cNvSpPr txBox="1"/>
          <p:nvPr/>
        </p:nvSpPr>
        <p:spPr>
          <a:xfrm>
            <a:off x="4719573" y="4336795"/>
            <a:ext cx="723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8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200" spc="-46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200" spc="-3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38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200" spc="-2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200" spc="-67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200" spc="-34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200" spc="-66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36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200" spc="-2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200" spc="-42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200" spc="-29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200" spc="-434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200" spc="-3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40" dirty="0"/>
              <a:t>…</a:t>
            </a:r>
            <a:r>
              <a:rPr spc="-175" dirty="0"/>
              <a:t> </a:t>
            </a:r>
            <a:r>
              <a:rPr spc="-145" dirty="0"/>
              <a:t>und</a:t>
            </a:r>
            <a:r>
              <a:rPr spc="-175" dirty="0"/>
              <a:t> </a:t>
            </a:r>
            <a:r>
              <a:rPr dirty="0"/>
              <a:t>mit</a:t>
            </a:r>
            <a:r>
              <a:rPr spc="-175" dirty="0"/>
              <a:t> </a:t>
            </a:r>
            <a:r>
              <a:rPr spc="-100" dirty="0"/>
              <a:t>Verifikation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3354" y="3411346"/>
            <a:ext cx="815975" cy="681355"/>
            <a:chOff x="673354" y="3411346"/>
            <a:chExt cx="815975" cy="681355"/>
          </a:xfrm>
        </p:grpSpPr>
        <p:sp>
          <p:nvSpPr>
            <p:cNvPr id="4" name="object 4"/>
            <p:cNvSpPr/>
            <p:nvPr/>
          </p:nvSpPr>
          <p:spPr>
            <a:xfrm>
              <a:off x="679704" y="3417696"/>
              <a:ext cx="803275" cy="668655"/>
            </a:xfrm>
            <a:custGeom>
              <a:avLst/>
              <a:gdLst/>
              <a:ahLst/>
              <a:cxnLst/>
              <a:rect l="l" t="t" r="r" b="b"/>
              <a:pathLst>
                <a:path w="803275" h="668654">
                  <a:moveTo>
                    <a:pt x="140042" y="0"/>
                  </a:moveTo>
                  <a:lnTo>
                    <a:pt x="133858" y="178942"/>
                  </a:lnTo>
                  <a:lnTo>
                    <a:pt x="0" y="178942"/>
                  </a:lnTo>
                  <a:lnTo>
                    <a:pt x="0" y="668146"/>
                  </a:lnTo>
                  <a:lnTo>
                    <a:pt x="803148" y="668146"/>
                  </a:lnTo>
                  <a:lnTo>
                    <a:pt x="803148" y="178942"/>
                  </a:lnTo>
                  <a:lnTo>
                    <a:pt x="334645" y="178942"/>
                  </a:lnTo>
                  <a:lnTo>
                    <a:pt x="1400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9704" y="3417696"/>
              <a:ext cx="803275" cy="668655"/>
            </a:xfrm>
            <a:custGeom>
              <a:avLst/>
              <a:gdLst/>
              <a:ahLst/>
              <a:cxnLst/>
              <a:rect l="l" t="t" r="r" b="b"/>
              <a:pathLst>
                <a:path w="803275" h="668654">
                  <a:moveTo>
                    <a:pt x="0" y="178942"/>
                  </a:moveTo>
                  <a:lnTo>
                    <a:pt x="133858" y="178942"/>
                  </a:lnTo>
                  <a:lnTo>
                    <a:pt x="140042" y="0"/>
                  </a:lnTo>
                  <a:lnTo>
                    <a:pt x="334645" y="178942"/>
                  </a:lnTo>
                  <a:lnTo>
                    <a:pt x="803148" y="178942"/>
                  </a:lnTo>
                  <a:lnTo>
                    <a:pt x="803148" y="260476"/>
                  </a:lnTo>
                  <a:lnTo>
                    <a:pt x="803148" y="382777"/>
                  </a:lnTo>
                  <a:lnTo>
                    <a:pt x="803148" y="668146"/>
                  </a:lnTo>
                  <a:lnTo>
                    <a:pt x="334645" y="668146"/>
                  </a:lnTo>
                  <a:lnTo>
                    <a:pt x="133858" y="668146"/>
                  </a:lnTo>
                  <a:lnTo>
                    <a:pt x="0" y="668146"/>
                  </a:lnTo>
                  <a:lnTo>
                    <a:pt x="0" y="382777"/>
                  </a:lnTo>
                  <a:lnTo>
                    <a:pt x="0" y="260476"/>
                  </a:lnTo>
                  <a:lnTo>
                    <a:pt x="0" y="178942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9533" y="3603497"/>
            <a:ext cx="5835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143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Fehler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erkannt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78048" y="2174494"/>
            <a:ext cx="1208405" cy="500380"/>
            <a:chOff x="2678048" y="2174494"/>
            <a:chExt cx="1208405" cy="500380"/>
          </a:xfrm>
        </p:grpSpPr>
        <p:sp>
          <p:nvSpPr>
            <p:cNvPr id="8" name="object 8"/>
            <p:cNvSpPr/>
            <p:nvPr/>
          </p:nvSpPr>
          <p:spPr>
            <a:xfrm>
              <a:off x="2684398" y="2180844"/>
              <a:ext cx="1195705" cy="487680"/>
            </a:xfrm>
            <a:custGeom>
              <a:avLst/>
              <a:gdLst/>
              <a:ahLst/>
              <a:cxnLst/>
              <a:rect l="l" t="t" r="r" b="b"/>
              <a:pathLst>
                <a:path w="1195704" h="487680">
                  <a:moveTo>
                    <a:pt x="1195704" y="0"/>
                  </a:moveTo>
                  <a:lnTo>
                    <a:pt x="275208" y="0"/>
                  </a:lnTo>
                  <a:lnTo>
                    <a:pt x="275208" y="284479"/>
                  </a:lnTo>
                  <a:lnTo>
                    <a:pt x="0" y="346963"/>
                  </a:lnTo>
                  <a:lnTo>
                    <a:pt x="275208" y="406400"/>
                  </a:lnTo>
                  <a:lnTo>
                    <a:pt x="275208" y="487679"/>
                  </a:lnTo>
                  <a:lnTo>
                    <a:pt x="1195704" y="487679"/>
                  </a:lnTo>
                  <a:lnTo>
                    <a:pt x="119570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84398" y="2180844"/>
              <a:ext cx="1195705" cy="487680"/>
            </a:xfrm>
            <a:custGeom>
              <a:avLst/>
              <a:gdLst/>
              <a:ahLst/>
              <a:cxnLst/>
              <a:rect l="l" t="t" r="r" b="b"/>
              <a:pathLst>
                <a:path w="1195704" h="487680">
                  <a:moveTo>
                    <a:pt x="275208" y="0"/>
                  </a:moveTo>
                  <a:lnTo>
                    <a:pt x="428625" y="0"/>
                  </a:lnTo>
                  <a:lnTo>
                    <a:pt x="658749" y="0"/>
                  </a:lnTo>
                  <a:lnTo>
                    <a:pt x="1195704" y="0"/>
                  </a:lnTo>
                  <a:lnTo>
                    <a:pt x="1195704" y="284479"/>
                  </a:lnTo>
                  <a:lnTo>
                    <a:pt x="1195704" y="406400"/>
                  </a:lnTo>
                  <a:lnTo>
                    <a:pt x="1195704" y="487679"/>
                  </a:lnTo>
                  <a:lnTo>
                    <a:pt x="658749" y="487679"/>
                  </a:lnTo>
                  <a:lnTo>
                    <a:pt x="428625" y="487679"/>
                  </a:lnTo>
                  <a:lnTo>
                    <a:pt x="275208" y="487679"/>
                  </a:lnTo>
                  <a:lnTo>
                    <a:pt x="275208" y="406400"/>
                  </a:lnTo>
                  <a:lnTo>
                    <a:pt x="0" y="346963"/>
                  </a:lnTo>
                  <a:lnTo>
                    <a:pt x="275208" y="284479"/>
                  </a:lnTo>
                  <a:lnTo>
                    <a:pt x="275208" y="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96260" y="2187067"/>
            <a:ext cx="64960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509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Fehler 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gemacht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85761" y="2055876"/>
            <a:ext cx="1444625" cy="869950"/>
            <a:chOff x="6985761" y="2055876"/>
            <a:chExt cx="1444625" cy="869950"/>
          </a:xfrm>
        </p:grpSpPr>
        <p:sp>
          <p:nvSpPr>
            <p:cNvPr id="12" name="object 12"/>
            <p:cNvSpPr/>
            <p:nvPr/>
          </p:nvSpPr>
          <p:spPr>
            <a:xfrm>
              <a:off x="8124444" y="2055876"/>
              <a:ext cx="306070" cy="414655"/>
            </a:xfrm>
            <a:custGeom>
              <a:avLst/>
              <a:gdLst/>
              <a:ahLst/>
              <a:cxnLst/>
              <a:rect l="l" t="t" r="r" b="b"/>
              <a:pathLst>
                <a:path w="306070" h="414655">
                  <a:moveTo>
                    <a:pt x="261111" y="401700"/>
                  </a:moveTo>
                  <a:lnTo>
                    <a:pt x="0" y="401700"/>
                  </a:lnTo>
                  <a:lnTo>
                    <a:pt x="0" y="414400"/>
                  </a:lnTo>
                  <a:lnTo>
                    <a:pt x="273811" y="414400"/>
                  </a:lnTo>
                  <a:lnTo>
                    <a:pt x="273811" y="408050"/>
                  </a:lnTo>
                  <a:lnTo>
                    <a:pt x="261111" y="408050"/>
                  </a:lnTo>
                  <a:lnTo>
                    <a:pt x="261111" y="401700"/>
                  </a:lnTo>
                  <a:close/>
                </a:path>
                <a:path w="306070" h="414655">
                  <a:moveTo>
                    <a:pt x="273811" y="63500"/>
                  </a:moveTo>
                  <a:lnTo>
                    <a:pt x="261111" y="63500"/>
                  </a:lnTo>
                  <a:lnTo>
                    <a:pt x="261111" y="408050"/>
                  </a:lnTo>
                  <a:lnTo>
                    <a:pt x="267461" y="401700"/>
                  </a:lnTo>
                  <a:lnTo>
                    <a:pt x="273811" y="401700"/>
                  </a:lnTo>
                  <a:lnTo>
                    <a:pt x="273811" y="63500"/>
                  </a:lnTo>
                  <a:close/>
                </a:path>
                <a:path w="306070" h="414655">
                  <a:moveTo>
                    <a:pt x="273811" y="401700"/>
                  </a:moveTo>
                  <a:lnTo>
                    <a:pt x="267461" y="401700"/>
                  </a:lnTo>
                  <a:lnTo>
                    <a:pt x="261111" y="408050"/>
                  </a:lnTo>
                  <a:lnTo>
                    <a:pt x="273811" y="408050"/>
                  </a:lnTo>
                  <a:lnTo>
                    <a:pt x="273811" y="401700"/>
                  </a:lnTo>
                  <a:close/>
                </a:path>
                <a:path w="306070" h="414655">
                  <a:moveTo>
                    <a:pt x="267461" y="0"/>
                  </a:moveTo>
                  <a:lnTo>
                    <a:pt x="229361" y="76200"/>
                  </a:lnTo>
                  <a:lnTo>
                    <a:pt x="261111" y="76200"/>
                  </a:lnTo>
                  <a:lnTo>
                    <a:pt x="261111" y="63500"/>
                  </a:lnTo>
                  <a:lnTo>
                    <a:pt x="299211" y="63500"/>
                  </a:lnTo>
                  <a:lnTo>
                    <a:pt x="267461" y="0"/>
                  </a:lnTo>
                  <a:close/>
                </a:path>
                <a:path w="306070" h="414655">
                  <a:moveTo>
                    <a:pt x="299211" y="63500"/>
                  </a:moveTo>
                  <a:lnTo>
                    <a:pt x="273811" y="63500"/>
                  </a:lnTo>
                  <a:lnTo>
                    <a:pt x="273811" y="76200"/>
                  </a:lnTo>
                  <a:lnTo>
                    <a:pt x="305561" y="76200"/>
                  </a:lnTo>
                  <a:lnTo>
                    <a:pt x="299211" y="63500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0667" y="2676144"/>
              <a:ext cx="76200" cy="2496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92111" y="2252472"/>
              <a:ext cx="1132840" cy="424180"/>
            </a:xfrm>
            <a:custGeom>
              <a:avLst/>
              <a:gdLst/>
              <a:ahLst/>
              <a:cxnLst/>
              <a:rect l="l" t="t" r="r" b="b"/>
              <a:pathLst>
                <a:path w="1132840" h="424180">
                  <a:moveTo>
                    <a:pt x="920496" y="0"/>
                  </a:moveTo>
                  <a:lnTo>
                    <a:pt x="211836" y="0"/>
                  </a:lnTo>
                  <a:lnTo>
                    <a:pt x="163272" y="5596"/>
                  </a:lnTo>
                  <a:lnTo>
                    <a:pt x="118687" y="21535"/>
                  </a:lnTo>
                  <a:lnTo>
                    <a:pt x="79354" y="46546"/>
                  </a:lnTo>
                  <a:lnTo>
                    <a:pt x="46546" y="79354"/>
                  </a:lnTo>
                  <a:lnTo>
                    <a:pt x="21535" y="118687"/>
                  </a:lnTo>
                  <a:lnTo>
                    <a:pt x="5596" y="163272"/>
                  </a:lnTo>
                  <a:lnTo>
                    <a:pt x="0" y="211836"/>
                  </a:lnTo>
                  <a:lnTo>
                    <a:pt x="5596" y="260399"/>
                  </a:lnTo>
                  <a:lnTo>
                    <a:pt x="21535" y="304984"/>
                  </a:lnTo>
                  <a:lnTo>
                    <a:pt x="46546" y="344317"/>
                  </a:lnTo>
                  <a:lnTo>
                    <a:pt x="79354" y="377125"/>
                  </a:lnTo>
                  <a:lnTo>
                    <a:pt x="118687" y="402136"/>
                  </a:lnTo>
                  <a:lnTo>
                    <a:pt x="163272" y="418075"/>
                  </a:lnTo>
                  <a:lnTo>
                    <a:pt x="211836" y="423672"/>
                  </a:lnTo>
                  <a:lnTo>
                    <a:pt x="920496" y="423672"/>
                  </a:lnTo>
                  <a:lnTo>
                    <a:pt x="969059" y="418075"/>
                  </a:lnTo>
                  <a:lnTo>
                    <a:pt x="1013644" y="402136"/>
                  </a:lnTo>
                  <a:lnTo>
                    <a:pt x="1052977" y="377125"/>
                  </a:lnTo>
                  <a:lnTo>
                    <a:pt x="1085785" y="344317"/>
                  </a:lnTo>
                  <a:lnTo>
                    <a:pt x="1110796" y="304984"/>
                  </a:lnTo>
                  <a:lnTo>
                    <a:pt x="1126735" y="260399"/>
                  </a:lnTo>
                  <a:lnTo>
                    <a:pt x="1132332" y="211836"/>
                  </a:lnTo>
                  <a:lnTo>
                    <a:pt x="1126735" y="163272"/>
                  </a:lnTo>
                  <a:lnTo>
                    <a:pt x="1110796" y="118687"/>
                  </a:lnTo>
                  <a:lnTo>
                    <a:pt x="1085785" y="79354"/>
                  </a:lnTo>
                  <a:lnTo>
                    <a:pt x="1052977" y="46546"/>
                  </a:lnTo>
                  <a:lnTo>
                    <a:pt x="1013644" y="21535"/>
                  </a:lnTo>
                  <a:lnTo>
                    <a:pt x="969059" y="5596"/>
                  </a:lnTo>
                  <a:lnTo>
                    <a:pt x="92049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92111" y="2252472"/>
              <a:ext cx="1132840" cy="424180"/>
            </a:xfrm>
            <a:custGeom>
              <a:avLst/>
              <a:gdLst/>
              <a:ahLst/>
              <a:cxnLst/>
              <a:rect l="l" t="t" r="r" b="b"/>
              <a:pathLst>
                <a:path w="1132840" h="424180">
                  <a:moveTo>
                    <a:pt x="0" y="211836"/>
                  </a:moveTo>
                  <a:lnTo>
                    <a:pt x="5596" y="163272"/>
                  </a:lnTo>
                  <a:lnTo>
                    <a:pt x="21535" y="118687"/>
                  </a:lnTo>
                  <a:lnTo>
                    <a:pt x="46546" y="79354"/>
                  </a:lnTo>
                  <a:lnTo>
                    <a:pt x="79354" y="46546"/>
                  </a:lnTo>
                  <a:lnTo>
                    <a:pt x="118687" y="21535"/>
                  </a:lnTo>
                  <a:lnTo>
                    <a:pt x="163272" y="5596"/>
                  </a:lnTo>
                  <a:lnTo>
                    <a:pt x="211836" y="0"/>
                  </a:lnTo>
                  <a:lnTo>
                    <a:pt x="920496" y="0"/>
                  </a:lnTo>
                  <a:lnTo>
                    <a:pt x="969059" y="5596"/>
                  </a:lnTo>
                  <a:lnTo>
                    <a:pt x="1013644" y="21535"/>
                  </a:lnTo>
                  <a:lnTo>
                    <a:pt x="1052977" y="46546"/>
                  </a:lnTo>
                  <a:lnTo>
                    <a:pt x="1085785" y="79354"/>
                  </a:lnTo>
                  <a:lnTo>
                    <a:pt x="1110796" y="118687"/>
                  </a:lnTo>
                  <a:lnTo>
                    <a:pt x="1126735" y="163272"/>
                  </a:lnTo>
                  <a:lnTo>
                    <a:pt x="1132332" y="211836"/>
                  </a:lnTo>
                  <a:lnTo>
                    <a:pt x="1126735" y="260399"/>
                  </a:lnTo>
                  <a:lnTo>
                    <a:pt x="1110796" y="304984"/>
                  </a:lnTo>
                  <a:lnTo>
                    <a:pt x="1085785" y="344317"/>
                  </a:lnTo>
                  <a:lnTo>
                    <a:pt x="1052977" y="377125"/>
                  </a:lnTo>
                  <a:lnTo>
                    <a:pt x="1013644" y="402136"/>
                  </a:lnTo>
                  <a:lnTo>
                    <a:pt x="969059" y="418075"/>
                  </a:lnTo>
                  <a:lnTo>
                    <a:pt x="920496" y="423672"/>
                  </a:lnTo>
                  <a:lnTo>
                    <a:pt x="211836" y="423672"/>
                  </a:lnTo>
                  <a:lnTo>
                    <a:pt x="163272" y="418075"/>
                  </a:lnTo>
                  <a:lnTo>
                    <a:pt x="118687" y="402136"/>
                  </a:lnTo>
                  <a:lnTo>
                    <a:pt x="79354" y="377125"/>
                  </a:lnTo>
                  <a:lnTo>
                    <a:pt x="46546" y="344317"/>
                  </a:lnTo>
                  <a:lnTo>
                    <a:pt x="21535" y="304984"/>
                  </a:lnTo>
                  <a:lnTo>
                    <a:pt x="5596" y="260399"/>
                  </a:lnTo>
                  <a:lnTo>
                    <a:pt x="0" y="211836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3206496" y="3098672"/>
            <a:ext cx="3360420" cy="80010"/>
          </a:xfrm>
          <a:custGeom>
            <a:avLst/>
            <a:gdLst/>
            <a:ahLst/>
            <a:cxnLst/>
            <a:rect l="l" t="t" r="r" b="b"/>
            <a:pathLst>
              <a:path w="3360420" h="80010">
                <a:moveTo>
                  <a:pt x="1348359" y="31369"/>
                </a:moveTo>
                <a:lnTo>
                  <a:pt x="76161" y="35521"/>
                </a:lnTo>
                <a:lnTo>
                  <a:pt x="76073" y="3810"/>
                </a:lnTo>
                <a:lnTo>
                  <a:pt x="0" y="42164"/>
                </a:lnTo>
                <a:lnTo>
                  <a:pt x="76327" y="80010"/>
                </a:lnTo>
                <a:lnTo>
                  <a:pt x="76212" y="48260"/>
                </a:lnTo>
                <a:lnTo>
                  <a:pt x="63500" y="48260"/>
                </a:lnTo>
                <a:lnTo>
                  <a:pt x="76200" y="48221"/>
                </a:lnTo>
                <a:lnTo>
                  <a:pt x="1348359" y="44069"/>
                </a:lnTo>
                <a:lnTo>
                  <a:pt x="1348359" y="35560"/>
                </a:lnTo>
                <a:lnTo>
                  <a:pt x="1348359" y="31369"/>
                </a:lnTo>
                <a:close/>
              </a:path>
              <a:path w="3360420" h="80010">
                <a:moveTo>
                  <a:pt x="3360026" y="35814"/>
                </a:moveTo>
                <a:lnTo>
                  <a:pt x="2476512" y="31686"/>
                </a:lnTo>
                <a:lnTo>
                  <a:pt x="2476627" y="0"/>
                </a:lnTo>
                <a:lnTo>
                  <a:pt x="2400300" y="37719"/>
                </a:lnTo>
                <a:lnTo>
                  <a:pt x="2476373" y="76200"/>
                </a:lnTo>
                <a:lnTo>
                  <a:pt x="2476474" y="44386"/>
                </a:lnTo>
                <a:lnTo>
                  <a:pt x="3359899" y="48514"/>
                </a:lnTo>
                <a:lnTo>
                  <a:pt x="3360026" y="35814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07108" y="1786127"/>
            <a:ext cx="5321935" cy="76835"/>
          </a:xfrm>
          <a:custGeom>
            <a:avLst/>
            <a:gdLst/>
            <a:ahLst/>
            <a:cxnLst/>
            <a:rect l="l" t="t" r="r" b="b"/>
            <a:pathLst>
              <a:path w="5321934" h="76835">
                <a:moveTo>
                  <a:pt x="2547747" y="31750"/>
                </a:moveTo>
                <a:lnTo>
                  <a:pt x="76200" y="3175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2547747" y="44450"/>
                </a:lnTo>
                <a:lnTo>
                  <a:pt x="2547747" y="31750"/>
                </a:lnTo>
                <a:close/>
              </a:path>
              <a:path w="5321934" h="76835">
                <a:moveTo>
                  <a:pt x="5321681" y="38100"/>
                </a:moveTo>
                <a:lnTo>
                  <a:pt x="3675900" y="32054"/>
                </a:lnTo>
                <a:lnTo>
                  <a:pt x="3676015" y="254"/>
                </a:lnTo>
                <a:lnTo>
                  <a:pt x="3599688" y="38100"/>
                </a:lnTo>
                <a:lnTo>
                  <a:pt x="3675761" y="76454"/>
                </a:lnTo>
                <a:lnTo>
                  <a:pt x="3675862" y="44754"/>
                </a:lnTo>
                <a:lnTo>
                  <a:pt x="5287137" y="50673"/>
                </a:lnTo>
                <a:lnTo>
                  <a:pt x="5287137" y="38100"/>
                </a:lnTo>
                <a:lnTo>
                  <a:pt x="5321681" y="3810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54952" y="3352800"/>
            <a:ext cx="852805" cy="885825"/>
          </a:xfrm>
          <a:custGeom>
            <a:avLst/>
            <a:gdLst/>
            <a:ahLst/>
            <a:cxnLst/>
            <a:rect l="l" t="t" r="r" b="b"/>
            <a:pathLst>
              <a:path w="852804" h="885825">
                <a:moveTo>
                  <a:pt x="76200" y="693420"/>
                </a:moveTo>
                <a:lnTo>
                  <a:pt x="69850" y="680720"/>
                </a:lnTo>
                <a:lnTo>
                  <a:pt x="38100" y="617220"/>
                </a:lnTo>
                <a:lnTo>
                  <a:pt x="0" y="693420"/>
                </a:lnTo>
                <a:lnTo>
                  <a:pt x="31750" y="693420"/>
                </a:lnTo>
                <a:lnTo>
                  <a:pt x="31750" y="885317"/>
                </a:lnTo>
                <a:lnTo>
                  <a:pt x="44450" y="885317"/>
                </a:lnTo>
                <a:lnTo>
                  <a:pt x="44450" y="693420"/>
                </a:lnTo>
                <a:lnTo>
                  <a:pt x="76200" y="693420"/>
                </a:lnTo>
                <a:close/>
              </a:path>
              <a:path w="852804" h="885825">
                <a:moveTo>
                  <a:pt x="852297" y="76200"/>
                </a:moveTo>
                <a:lnTo>
                  <a:pt x="845947" y="63500"/>
                </a:lnTo>
                <a:lnTo>
                  <a:pt x="814197" y="0"/>
                </a:lnTo>
                <a:lnTo>
                  <a:pt x="776097" y="76200"/>
                </a:lnTo>
                <a:lnTo>
                  <a:pt x="807847" y="76200"/>
                </a:lnTo>
                <a:lnTo>
                  <a:pt x="807847" y="401701"/>
                </a:lnTo>
                <a:lnTo>
                  <a:pt x="440436" y="401701"/>
                </a:lnTo>
                <a:lnTo>
                  <a:pt x="440436" y="414401"/>
                </a:lnTo>
                <a:lnTo>
                  <a:pt x="820547" y="414401"/>
                </a:lnTo>
                <a:lnTo>
                  <a:pt x="820547" y="408051"/>
                </a:lnTo>
                <a:lnTo>
                  <a:pt x="820547" y="401701"/>
                </a:lnTo>
                <a:lnTo>
                  <a:pt x="820547" y="76200"/>
                </a:lnTo>
                <a:lnTo>
                  <a:pt x="852297" y="76200"/>
                </a:lnTo>
                <a:close/>
              </a:path>
            </a:pathLst>
          </a:custGeom>
          <a:solidFill>
            <a:srgbClr val="3A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101339" y="4410455"/>
            <a:ext cx="3830954" cy="1384300"/>
            <a:chOff x="3101339" y="4410455"/>
            <a:chExt cx="3830954" cy="1384300"/>
          </a:xfrm>
        </p:grpSpPr>
        <p:sp>
          <p:nvSpPr>
            <p:cNvPr id="20" name="object 20"/>
            <p:cNvSpPr/>
            <p:nvPr/>
          </p:nvSpPr>
          <p:spPr>
            <a:xfrm>
              <a:off x="3262617" y="4527803"/>
              <a:ext cx="3669665" cy="617220"/>
            </a:xfrm>
            <a:custGeom>
              <a:avLst/>
              <a:gdLst/>
              <a:ahLst/>
              <a:cxnLst/>
              <a:rect l="l" t="t" r="r" b="b"/>
              <a:pathLst>
                <a:path w="3669665" h="617220">
                  <a:moveTo>
                    <a:pt x="134378" y="578866"/>
                  </a:moveTo>
                  <a:lnTo>
                    <a:pt x="121678" y="572516"/>
                  </a:lnTo>
                  <a:lnTo>
                    <a:pt x="58178" y="540766"/>
                  </a:lnTo>
                  <a:lnTo>
                    <a:pt x="58178" y="572516"/>
                  </a:lnTo>
                  <a:lnTo>
                    <a:pt x="12700" y="572516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585216"/>
                  </a:lnTo>
                  <a:lnTo>
                    <a:pt x="58178" y="585216"/>
                  </a:lnTo>
                  <a:lnTo>
                    <a:pt x="58178" y="616966"/>
                  </a:lnTo>
                  <a:lnTo>
                    <a:pt x="121678" y="585216"/>
                  </a:lnTo>
                  <a:lnTo>
                    <a:pt x="134378" y="578866"/>
                  </a:lnTo>
                  <a:close/>
                </a:path>
                <a:path w="3669665" h="617220">
                  <a:moveTo>
                    <a:pt x="3669296" y="208788"/>
                  </a:moveTo>
                  <a:lnTo>
                    <a:pt x="3662946" y="196088"/>
                  </a:lnTo>
                  <a:lnTo>
                    <a:pt x="3631196" y="132588"/>
                  </a:lnTo>
                  <a:lnTo>
                    <a:pt x="3593096" y="208788"/>
                  </a:lnTo>
                  <a:lnTo>
                    <a:pt x="3624846" y="208788"/>
                  </a:lnTo>
                  <a:lnTo>
                    <a:pt x="3624846" y="572770"/>
                  </a:lnTo>
                  <a:lnTo>
                    <a:pt x="3316478" y="572770"/>
                  </a:lnTo>
                  <a:lnTo>
                    <a:pt x="3316478" y="585470"/>
                  </a:lnTo>
                  <a:lnTo>
                    <a:pt x="3637546" y="585470"/>
                  </a:lnTo>
                  <a:lnTo>
                    <a:pt x="3637546" y="579120"/>
                  </a:lnTo>
                  <a:lnTo>
                    <a:pt x="3637546" y="572770"/>
                  </a:lnTo>
                  <a:lnTo>
                    <a:pt x="3637546" y="208788"/>
                  </a:lnTo>
                  <a:lnTo>
                    <a:pt x="3669296" y="208788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2395" y="5318759"/>
              <a:ext cx="76200" cy="2239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6795" y="4410455"/>
              <a:ext cx="151383" cy="76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5883" y="4410455"/>
              <a:ext cx="148970" cy="762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880103" y="5715444"/>
              <a:ext cx="673735" cy="79375"/>
            </a:xfrm>
            <a:custGeom>
              <a:avLst/>
              <a:gdLst/>
              <a:ahLst/>
              <a:cxnLst/>
              <a:rect l="l" t="t" r="r" b="b"/>
              <a:pathLst>
                <a:path w="673735" h="79375">
                  <a:moveTo>
                    <a:pt x="597788" y="3048"/>
                  </a:moveTo>
                  <a:lnTo>
                    <a:pt x="597423" y="76200"/>
                  </a:lnTo>
                  <a:lnTo>
                    <a:pt x="597408" y="79248"/>
                  </a:lnTo>
                  <a:lnTo>
                    <a:pt x="661631" y="47574"/>
                  </a:lnTo>
                  <a:lnTo>
                    <a:pt x="610235" y="47574"/>
                  </a:lnTo>
                  <a:lnTo>
                    <a:pt x="610362" y="34874"/>
                  </a:lnTo>
                  <a:lnTo>
                    <a:pt x="660476" y="34874"/>
                  </a:lnTo>
                  <a:lnTo>
                    <a:pt x="597788" y="3048"/>
                  </a:lnTo>
                  <a:close/>
                </a:path>
                <a:path w="673735" h="79375">
                  <a:moveTo>
                    <a:pt x="76454" y="0"/>
                  </a:moveTo>
                  <a:lnTo>
                    <a:pt x="0" y="37655"/>
                  </a:lnTo>
                  <a:lnTo>
                    <a:pt x="75946" y="76200"/>
                  </a:lnTo>
                  <a:lnTo>
                    <a:pt x="76136" y="47574"/>
                  </a:lnTo>
                  <a:lnTo>
                    <a:pt x="76157" y="44447"/>
                  </a:lnTo>
                  <a:lnTo>
                    <a:pt x="63500" y="44447"/>
                  </a:lnTo>
                  <a:lnTo>
                    <a:pt x="63500" y="31748"/>
                  </a:lnTo>
                  <a:lnTo>
                    <a:pt x="76242" y="31748"/>
                  </a:lnTo>
                  <a:lnTo>
                    <a:pt x="76433" y="3048"/>
                  </a:lnTo>
                  <a:lnTo>
                    <a:pt x="76454" y="0"/>
                  </a:lnTo>
                  <a:close/>
                </a:path>
                <a:path w="673735" h="79375">
                  <a:moveTo>
                    <a:pt x="76242" y="31748"/>
                  </a:moveTo>
                  <a:lnTo>
                    <a:pt x="76157" y="44447"/>
                  </a:lnTo>
                  <a:lnTo>
                    <a:pt x="610235" y="47574"/>
                  </a:lnTo>
                  <a:lnTo>
                    <a:pt x="597566" y="47574"/>
                  </a:lnTo>
                  <a:lnTo>
                    <a:pt x="597629" y="34874"/>
                  </a:lnTo>
                  <a:lnTo>
                    <a:pt x="610362" y="34874"/>
                  </a:lnTo>
                  <a:lnTo>
                    <a:pt x="76242" y="31748"/>
                  </a:lnTo>
                  <a:close/>
                </a:path>
                <a:path w="673735" h="79375">
                  <a:moveTo>
                    <a:pt x="660476" y="34874"/>
                  </a:moveTo>
                  <a:lnTo>
                    <a:pt x="610362" y="34874"/>
                  </a:lnTo>
                  <a:lnTo>
                    <a:pt x="610235" y="47574"/>
                  </a:lnTo>
                  <a:lnTo>
                    <a:pt x="661631" y="47574"/>
                  </a:lnTo>
                  <a:lnTo>
                    <a:pt x="673735" y="41605"/>
                  </a:lnTo>
                  <a:lnTo>
                    <a:pt x="660476" y="34874"/>
                  </a:lnTo>
                  <a:close/>
                </a:path>
                <a:path w="673735" h="79375">
                  <a:moveTo>
                    <a:pt x="76242" y="31748"/>
                  </a:moveTo>
                  <a:lnTo>
                    <a:pt x="63500" y="31748"/>
                  </a:lnTo>
                  <a:lnTo>
                    <a:pt x="63500" y="44447"/>
                  </a:lnTo>
                  <a:lnTo>
                    <a:pt x="76157" y="44447"/>
                  </a:lnTo>
                  <a:lnTo>
                    <a:pt x="76242" y="31748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40323" y="5317236"/>
              <a:ext cx="76200" cy="23317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101339" y="4600955"/>
              <a:ext cx="76200" cy="941069"/>
            </a:xfrm>
            <a:custGeom>
              <a:avLst/>
              <a:gdLst/>
              <a:ahLst/>
              <a:cxnLst/>
              <a:rect l="l" t="t" r="r" b="b"/>
              <a:pathLst>
                <a:path w="76200" h="941070">
                  <a:moveTo>
                    <a:pt x="31750" y="864743"/>
                  </a:moveTo>
                  <a:lnTo>
                    <a:pt x="0" y="864743"/>
                  </a:lnTo>
                  <a:lnTo>
                    <a:pt x="38100" y="940943"/>
                  </a:lnTo>
                  <a:lnTo>
                    <a:pt x="69850" y="877443"/>
                  </a:lnTo>
                  <a:lnTo>
                    <a:pt x="31750" y="877443"/>
                  </a:lnTo>
                  <a:lnTo>
                    <a:pt x="31750" y="864743"/>
                  </a:lnTo>
                  <a:close/>
                </a:path>
                <a:path w="76200" h="941070">
                  <a:moveTo>
                    <a:pt x="44450" y="0"/>
                  </a:moveTo>
                  <a:lnTo>
                    <a:pt x="31750" y="0"/>
                  </a:lnTo>
                  <a:lnTo>
                    <a:pt x="31750" y="877443"/>
                  </a:lnTo>
                  <a:lnTo>
                    <a:pt x="44450" y="877443"/>
                  </a:lnTo>
                  <a:lnTo>
                    <a:pt x="44450" y="0"/>
                  </a:lnTo>
                  <a:close/>
                </a:path>
                <a:path w="76200" h="941070">
                  <a:moveTo>
                    <a:pt x="76200" y="864743"/>
                  </a:moveTo>
                  <a:lnTo>
                    <a:pt x="44450" y="864743"/>
                  </a:lnTo>
                  <a:lnTo>
                    <a:pt x="44450" y="877443"/>
                  </a:lnTo>
                  <a:lnTo>
                    <a:pt x="69850" y="877443"/>
                  </a:lnTo>
                  <a:lnTo>
                    <a:pt x="76200" y="864743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713231" y="1915667"/>
            <a:ext cx="1962150" cy="1265555"/>
            <a:chOff x="713231" y="1915667"/>
            <a:chExt cx="1962150" cy="1265555"/>
          </a:xfrm>
        </p:grpSpPr>
        <p:sp>
          <p:nvSpPr>
            <p:cNvPr id="28" name="object 28"/>
            <p:cNvSpPr/>
            <p:nvPr/>
          </p:nvSpPr>
          <p:spPr>
            <a:xfrm>
              <a:off x="909573" y="1915667"/>
              <a:ext cx="181610" cy="587375"/>
            </a:xfrm>
            <a:custGeom>
              <a:avLst/>
              <a:gdLst/>
              <a:ahLst/>
              <a:cxnLst/>
              <a:rect l="l" t="t" r="r" b="b"/>
              <a:pathLst>
                <a:path w="181609" h="587375">
                  <a:moveTo>
                    <a:pt x="104889" y="510921"/>
                  </a:moveTo>
                  <a:lnTo>
                    <a:pt x="104889" y="587121"/>
                  </a:lnTo>
                  <a:lnTo>
                    <a:pt x="168389" y="555371"/>
                  </a:lnTo>
                  <a:lnTo>
                    <a:pt x="117589" y="555371"/>
                  </a:lnTo>
                  <a:lnTo>
                    <a:pt x="117589" y="542671"/>
                  </a:lnTo>
                  <a:lnTo>
                    <a:pt x="168389" y="542671"/>
                  </a:lnTo>
                  <a:lnTo>
                    <a:pt x="104889" y="510921"/>
                  </a:lnTo>
                  <a:close/>
                </a:path>
                <a:path w="181609" h="587375">
                  <a:moveTo>
                    <a:pt x="12700" y="0"/>
                  </a:moveTo>
                  <a:lnTo>
                    <a:pt x="0" y="0"/>
                  </a:lnTo>
                  <a:lnTo>
                    <a:pt x="0" y="555371"/>
                  </a:lnTo>
                  <a:lnTo>
                    <a:pt x="104889" y="555371"/>
                  </a:lnTo>
                  <a:lnTo>
                    <a:pt x="104889" y="549021"/>
                  </a:lnTo>
                  <a:lnTo>
                    <a:pt x="12700" y="549021"/>
                  </a:lnTo>
                  <a:lnTo>
                    <a:pt x="6350" y="542671"/>
                  </a:lnTo>
                  <a:lnTo>
                    <a:pt x="12700" y="542671"/>
                  </a:lnTo>
                  <a:lnTo>
                    <a:pt x="12700" y="0"/>
                  </a:lnTo>
                  <a:close/>
                </a:path>
                <a:path w="181609" h="587375">
                  <a:moveTo>
                    <a:pt x="168389" y="542671"/>
                  </a:moveTo>
                  <a:lnTo>
                    <a:pt x="117589" y="542671"/>
                  </a:lnTo>
                  <a:lnTo>
                    <a:pt x="117589" y="555371"/>
                  </a:lnTo>
                  <a:lnTo>
                    <a:pt x="168389" y="555371"/>
                  </a:lnTo>
                  <a:lnTo>
                    <a:pt x="181089" y="549021"/>
                  </a:lnTo>
                  <a:lnTo>
                    <a:pt x="168389" y="542671"/>
                  </a:lnTo>
                  <a:close/>
                </a:path>
                <a:path w="181609" h="587375">
                  <a:moveTo>
                    <a:pt x="12700" y="542671"/>
                  </a:moveTo>
                  <a:lnTo>
                    <a:pt x="6350" y="542671"/>
                  </a:lnTo>
                  <a:lnTo>
                    <a:pt x="12700" y="549021"/>
                  </a:lnTo>
                  <a:lnTo>
                    <a:pt x="12700" y="542671"/>
                  </a:lnTo>
                  <a:close/>
                </a:path>
                <a:path w="181609" h="587375">
                  <a:moveTo>
                    <a:pt x="104889" y="542671"/>
                  </a:moveTo>
                  <a:lnTo>
                    <a:pt x="12700" y="542671"/>
                  </a:lnTo>
                  <a:lnTo>
                    <a:pt x="12700" y="549021"/>
                  </a:lnTo>
                  <a:lnTo>
                    <a:pt x="104889" y="549021"/>
                  </a:lnTo>
                  <a:lnTo>
                    <a:pt x="104889" y="542671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87879" y="2677667"/>
              <a:ext cx="76200" cy="25171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13232" y="1929383"/>
              <a:ext cx="1167130" cy="1251585"/>
            </a:xfrm>
            <a:custGeom>
              <a:avLst/>
              <a:gdLst/>
              <a:ahLst/>
              <a:cxnLst/>
              <a:rect l="l" t="t" r="r" b="b"/>
              <a:pathLst>
                <a:path w="1167130" h="1251585">
                  <a:moveTo>
                    <a:pt x="76200" y="920242"/>
                  </a:moveTo>
                  <a:lnTo>
                    <a:pt x="44450" y="920242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920242"/>
                  </a:lnTo>
                  <a:lnTo>
                    <a:pt x="0" y="920242"/>
                  </a:lnTo>
                  <a:lnTo>
                    <a:pt x="38100" y="996442"/>
                  </a:lnTo>
                  <a:lnTo>
                    <a:pt x="69850" y="932942"/>
                  </a:lnTo>
                  <a:lnTo>
                    <a:pt x="76200" y="920242"/>
                  </a:lnTo>
                  <a:close/>
                </a:path>
                <a:path w="1167130" h="1251585">
                  <a:moveTo>
                    <a:pt x="1167003" y="1211580"/>
                  </a:moveTo>
                  <a:lnTo>
                    <a:pt x="1154798" y="1205534"/>
                  </a:lnTo>
                  <a:lnTo>
                    <a:pt x="1090676" y="1173734"/>
                  </a:lnTo>
                  <a:lnTo>
                    <a:pt x="1090777" y="1205534"/>
                  </a:lnTo>
                  <a:lnTo>
                    <a:pt x="710145" y="1206969"/>
                  </a:lnTo>
                  <a:lnTo>
                    <a:pt x="710057" y="1175258"/>
                  </a:lnTo>
                  <a:lnTo>
                    <a:pt x="633984" y="1213612"/>
                  </a:lnTo>
                  <a:lnTo>
                    <a:pt x="710311" y="1251458"/>
                  </a:lnTo>
                  <a:lnTo>
                    <a:pt x="710196" y="1219708"/>
                  </a:lnTo>
                  <a:lnTo>
                    <a:pt x="697484" y="1219708"/>
                  </a:lnTo>
                  <a:lnTo>
                    <a:pt x="710184" y="1219669"/>
                  </a:lnTo>
                  <a:lnTo>
                    <a:pt x="1090815" y="1218234"/>
                  </a:lnTo>
                  <a:lnTo>
                    <a:pt x="1090777" y="1207008"/>
                  </a:lnTo>
                  <a:lnTo>
                    <a:pt x="1090803" y="1213612"/>
                  </a:lnTo>
                  <a:lnTo>
                    <a:pt x="1090815" y="1218234"/>
                  </a:lnTo>
                  <a:lnTo>
                    <a:pt x="1090930" y="1249934"/>
                  </a:lnTo>
                  <a:lnTo>
                    <a:pt x="1153807" y="1218234"/>
                  </a:lnTo>
                  <a:lnTo>
                    <a:pt x="1167003" y="1211580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89659" y="2250947"/>
              <a:ext cx="1579245" cy="426720"/>
            </a:xfrm>
            <a:custGeom>
              <a:avLst/>
              <a:gdLst/>
              <a:ahLst/>
              <a:cxnLst/>
              <a:rect l="l" t="t" r="r" b="b"/>
              <a:pathLst>
                <a:path w="1579245" h="426719">
                  <a:moveTo>
                    <a:pt x="1365504" y="0"/>
                  </a:moveTo>
                  <a:lnTo>
                    <a:pt x="213359" y="0"/>
                  </a:lnTo>
                  <a:lnTo>
                    <a:pt x="164440" y="5633"/>
                  </a:lnTo>
                  <a:lnTo>
                    <a:pt x="119531" y="21682"/>
                  </a:lnTo>
                  <a:lnTo>
                    <a:pt x="79916" y="46866"/>
                  </a:lnTo>
                  <a:lnTo>
                    <a:pt x="46874" y="79905"/>
                  </a:lnTo>
                  <a:lnTo>
                    <a:pt x="21687" y="119520"/>
                  </a:lnTo>
                  <a:lnTo>
                    <a:pt x="5635" y="164432"/>
                  </a:lnTo>
                  <a:lnTo>
                    <a:pt x="0" y="213360"/>
                  </a:lnTo>
                  <a:lnTo>
                    <a:pt x="5635" y="262287"/>
                  </a:lnTo>
                  <a:lnTo>
                    <a:pt x="21687" y="307199"/>
                  </a:lnTo>
                  <a:lnTo>
                    <a:pt x="46874" y="346814"/>
                  </a:lnTo>
                  <a:lnTo>
                    <a:pt x="79916" y="379853"/>
                  </a:lnTo>
                  <a:lnTo>
                    <a:pt x="119531" y="405037"/>
                  </a:lnTo>
                  <a:lnTo>
                    <a:pt x="164440" y="421086"/>
                  </a:lnTo>
                  <a:lnTo>
                    <a:pt x="213359" y="426719"/>
                  </a:lnTo>
                  <a:lnTo>
                    <a:pt x="1365504" y="426719"/>
                  </a:lnTo>
                  <a:lnTo>
                    <a:pt x="1414431" y="421086"/>
                  </a:lnTo>
                  <a:lnTo>
                    <a:pt x="1459343" y="405037"/>
                  </a:lnTo>
                  <a:lnTo>
                    <a:pt x="1498958" y="379853"/>
                  </a:lnTo>
                  <a:lnTo>
                    <a:pt x="1531997" y="346814"/>
                  </a:lnTo>
                  <a:lnTo>
                    <a:pt x="1557181" y="307199"/>
                  </a:lnTo>
                  <a:lnTo>
                    <a:pt x="1573230" y="262287"/>
                  </a:lnTo>
                  <a:lnTo>
                    <a:pt x="1578864" y="213360"/>
                  </a:lnTo>
                  <a:lnTo>
                    <a:pt x="1573230" y="164432"/>
                  </a:lnTo>
                  <a:lnTo>
                    <a:pt x="1557181" y="119520"/>
                  </a:lnTo>
                  <a:lnTo>
                    <a:pt x="1531997" y="79905"/>
                  </a:lnTo>
                  <a:lnTo>
                    <a:pt x="1498958" y="46866"/>
                  </a:lnTo>
                  <a:lnTo>
                    <a:pt x="1459343" y="21682"/>
                  </a:lnTo>
                  <a:lnTo>
                    <a:pt x="1414431" y="5633"/>
                  </a:lnTo>
                  <a:lnTo>
                    <a:pt x="136550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89659" y="2250947"/>
              <a:ext cx="1579245" cy="426720"/>
            </a:xfrm>
            <a:custGeom>
              <a:avLst/>
              <a:gdLst/>
              <a:ahLst/>
              <a:cxnLst/>
              <a:rect l="l" t="t" r="r" b="b"/>
              <a:pathLst>
                <a:path w="1579245" h="426719">
                  <a:moveTo>
                    <a:pt x="0" y="213360"/>
                  </a:moveTo>
                  <a:lnTo>
                    <a:pt x="5635" y="164432"/>
                  </a:lnTo>
                  <a:lnTo>
                    <a:pt x="21687" y="119520"/>
                  </a:lnTo>
                  <a:lnTo>
                    <a:pt x="46874" y="79905"/>
                  </a:lnTo>
                  <a:lnTo>
                    <a:pt x="79916" y="46866"/>
                  </a:lnTo>
                  <a:lnTo>
                    <a:pt x="119531" y="21682"/>
                  </a:lnTo>
                  <a:lnTo>
                    <a:pt x="164440" y="5633"/>
                  </a:lnTo>
                  <a:lnTo>
                    <a:pt x="213359" y="0"/>
                  </a:lnTo>
                  <a:lnTo>
                    <a:pt x="1365504" y="0"/>
                  </a:lnTo>
                  <a:lnTo>
                    <a:pt x="1414431" y="5633"/>
                  </a:lnTo>
                  <a:lnTo>
                    <a:pt x="1459343" y="21682"/>
                  </a:lnTo>
                  <a:lnTo>
                    <a:pt x="1498958" y="46866"/>
                  </a:lnTo>
                  <a:lnTo>
                    <a:pt x="1531997" y="79905"/>
                  </a:lnTo>
                  <a:lnTo>
                    <a:pt x="1557181" y="119520"/>
                  </a:lnTo>
                  <a:lnTo>
                    <a:pt x="1573230" y="164432"/>
                  </a:lnTo>
                  <a:lnTo>
                    <a:pt x="1578864" y="213360"/>
                  </a:lnTo>
                  <a:lnTo>
                    <a:pt x="1573230" y="262287"/>
                  </a:lnTo>
                  <a:lnTo>
                    <a:pt x="1557181" y="307199"/>
                  </a:lnTo>
                  <a:lnTo>
                    <a:pt x="1531997" y="346814"/>
                  </a:lnTo>
                  <a:lnTo>
                    <a:pt x="1498958" y="379853"/>
                  </a:lnTo>
                  <a:lnTo>
                    <a:pt x="1459343" y="405037"/>
                  </a:lnTo>
                  <a:lnTo>
                    <a:pt x="1414431" y="421086"/>
                  </a:lnTo>
                  <a:lnTo>
                    <a:pt x="1365504" y="426719"/>
                  </a:lnTo>
                  <a:lnTo>
                    <a:pt x="213359" y="426719"/>
                  </a:lnTo>
                  <a:lnTo>
                    <a:pt x="164440" y="421086"/>
                  </a:lnTo>
                  <a:lnTo>
                    <a:pt x="119531" y="405037"/>
                  </a:lnTo>
                  <a:lnTo>
                    <a:pt x="79916" y="379853"/>
                  </a:lnTo>
                  <a:lnTo>
                    <a:pt x="46874" y="346814"/>
                  </a:lnTo>
                  <a:lnTo>
                    <a:pt x="21687" y="307199"/>
                  </a:lnTo>
                  <a:lnTo>
                    <a:pt x="5635" y="262287"/>
                  </a:lnTo>
                  <a:lnTo>
                    <a:pt x="0" y="21336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1909572" y="3285744"/>
            <a:ext cx="1960245" cy="1201420"/>
            <a:chOff x="1909572" y="3285744"/>
            <a:chExt cx="1960245" cy="1201420"/>
          </a:xfrm>
        </p:grpSpPr>
        <p:sp>
          <p:nvSpPr>
            <p:cNvPr id="34" name="object 34"/>
            <p:cNvSpPr/>
            <p:nvPr/>
          </p:nvSpPr>
          <p:spPr>
            <a:xfrm>
              <a:off x="1909572" y="3285743"/>
              <a:ext cx="1397635" cy="1201420"/>
            </a:xfrm>
            <a:custGeom>
              <a:avLst/>
              <a:gdLst/>
              <a:ahLst/>
              <a:cxnLst/>
              <a:rect l="l" t="t" r="r" b="b"/>
              <a:pathLst>
                <a:path w="1397635" h="1201420">
                  <a:moveTo>
                    <a:pt x="76200" y="876300"/>
                  </a:moveTo>
                  <a:lnTo>
                    <a:pt x="44450" y="876300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876300"/>
                  </a:lnTo>
                  <a:lnTo>
                    <a:pt x="0" y="876300"/>
                  </a:lnTo>
                  <a:lnTo>
                    <a:pt x="38100" y="952500"/>
                  </a:lnTo>
                  <a:lnTo>
                    <a:pt x="69850" y="889000"/>
                  </a:lnTo>
                  <a:lnTo>
                    <a:pt x="76200" y="876300"/>
                  </a:lnTo>
                  <a:close/>
                </a:path>
                <a:path w="1397635" h="1201420">
                  <a:moveTo>
                    <a:pt x="375158" y="472059"/>
                  </a:moveTo>
                  <a:lnTo>
                    <a:pt x="362458" y="465709"/>
                  </a:lnTo>
                  <a:lnTo>
                    <a:pt x="298958" y="433959"/>
                  </a:lnTo>
                  <a:lnTo>
                    <a:pt x="298958" y="465709"/>
                  </a:lnTo>
                  <a:lnTo>
                    <a:pt x="222758" y="465709"/>
                  </a:lnTo>
                  <a:lnTo>
                    <a:pt x="222758" y="54864"/>
                  </a:lnTo>
                  <a:lnTo>
                    <a:pt x="210058" y="54864"/>
                  </a:lnTo>
                  <a:lnTo>
                    <a:pt x="210058" y="478409"/>
                  </a:lnTo>
                  <a:lnTo>
                    <a:pt x="298958" y="478409"/>
                  </a:lnTo>
                  <a:lnTo>
                    <a:pt x="298958" y="510159"/>
                  </a:lnTo>
                  <a:lnTo>
                    <a:pt x="362458" y="478409"/>
                  </a:lnTo>
                  <a:lnTo>
                    <a:pt x="375158" y="472059"/>
                  </a:lnTo>
                  <a:close/>
                </a:path>
                <a:path w="1397635" h="1201420">
                  <a:moveTo>
                    <a:pt x="1169162" y="1162812"/>
                  </a:moveTo>
                  <a:lnTo>
                    <a:pt x="1156462" y="1156462"/>
                  </a:lnTo>
                  <a:lnTo>
                    <a:pt x="1092962" y="1124712"/>
                  </a:lnTo>
                  <a:lnTo>
                    <a:pt x="1092962" y="1156462"/>
                  </a:lnTo>
                  <a:lnTo>
                    <a:pt x="624840" y="1156462"/>
                  </a:lnTo>
                  <a:lnTo>
                    <a:pt x="624840" y="1124712"/>
                  </a:lnTo>
                  <a:lnTo>
                    <a:pt x="548640" y="1162812"/>
                  </a:lnTo>
                  <a:lnTo>
                    <a:pt x="624840" y="1200912"/>
                  </a:lnTo>
                  <a:lnTo>
                    <a:pt x="624840" y="1169162"/>
                  </a:lnTo>
                  <a:lnTo>
                    <a:pt x="1092962" y="1169162"/>
                  </a:lnTo>
                  <a:lnTo>
                    <a:pt x="1092962" y="1200912"/>
                  </a:lnTo>
                  <a:lnTo>
                    <a:pt x="1156462" y="1169162"/>
                  </a:lnTo>
                  <a:lnTo>
                    <a:pt x="1169162" y="1162812"/>
                  </a:lnTo>
                  <a:close/>
                </a:path>
                <a:path w="1397635" h="1201420">
                  <a:moveTo>
                    <a:pt x="1397495" y="876173"/>
                  </a:moveTo>
                  <a:lnTo>
                    <a:pt x="1365745" y="876173"/>
                  </a:lnTo>
                  <a:lnTo>
                    <a:pt x="1365745" y="684276"/>
                  </a:lnTo>
                  <a:lnTo>
                    <a:pt x="1353045" y="684276"/>
                  </a:lnTo>
                  <a:lnTo>
                    <a:pt x="1353045" y="876173"/>
                  </a:lnTo>
                  <a:lnTo>
                    <a:pt x="1321308" y="876173"/>
                  </a:lnTo>
                  <a:lnTo>
                    <a:pt x="1359395" y="952373"/>
                  </a:lnTo>
                  <a:lnTo>
                    <a:pt x="1391145" y="888873"/>
                  </a:lnTo>
                  <a:lnTo>
                    <a:pt x="1397495" y="876173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84476" y="3547872"/>
              <a:ext cx="1579245" cy="422275"/>
            </a:xfrm>
            <a:custGeom>
              <a:avLst/>
              <a:gdLst/>
              <a:ahLst/>
              <a:cxnLst/>
              <a:rect l="l" t="t" r="r" b="b"/>
              <a:pathLst>
                <a:path w="1579245" h="422275">
                  <a:moveTo>
                    <a:pt x="1367789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3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7"/>
                  </a:lnTo>
                  <a:lnTo>
                    <a:pt x="1367789" y="422147"/>
                  </a:lnTo>
                  <a:lnTo>
                    <a:pt x="1416191" y="416574"/>
                  </a:lnTo>
                  <a:lnTo>
                    <a:pt x="1460620" y="400696"/>
                  </a:lnTo>
                  <a:lnTo>
                    <a:pt x="1499811" y="375781"/>
                  </a:lnTo>
                  <a:lnTo>
                    <a:pt x="1532497" y="343095"/>
                  </a:lnTo>
                  <a:lnTo>
                    <a:pt x="1557412" y="303904"/>
                  </a:lnTo>
                  <a:lnTo>
                    <a:pt x="1573290" y="259475"/>
                  </a:lnTo>
                  <a:lnTo>
                    <a:pt x="1578864" y="211073"/>
                  </a:lnTo>
                  <a:lnTo>
                    <a:pt x="1573290" y="162672"/>
                  </a:lnTo>
                  <a:lnTo>
                    <a:pt x="1557412" y="118243"/>
                  </a:lnTo>
                  <a:lnTo>
                    <a:pt x="1532497" y="79052"/>
                  </a:lnTo>
                  <a:lnTo>
                    <a:pt x="1499811" y="46366"/>
                  </a:lnTo>
                  <a:lnTo>
                    <a:pt x="1460620" y="21451"/>
                  </a:lnTo>
                  <a:lnTo>
                    <a:pt x="1416191" y="5573"/>
                  </a:lnTo>
                  <a:lnTo>
                    <a:pt x="136778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84476" y="3547872"/>
              <a:ext cx="1579245" cy="422275"/>
            </a:xfrm>
            <a:custGeom>
              <a:avLst/>
              <a:gdLst/>
              <a:ahLst/>
              <a:cxnLst/>
              <a:rect l="l" t="t" r="r" b="b"/>
              <a:pathLst>
                <a:path w="1579245" h="422275">
                  <a:moveTo>
                    <a:pt x="0" y="211073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1367789" y="0"/>
                  </a:lnTo>
                  <a:lnTo>
                    <a:pt x="1416191" y="5573"/>
                  </a:lnTo>
                  <a:lnTo>
                    <a:pt x="1460620" y="21451"/>
                  </a:lnTo>
                  <a:lnTo>
                    <a:pt x="1499811" y="46366"/>
                  </a:lnTo>
                  <a:lnTo>
                    <a:pt x="1532497" y="79052"/>
                  </a:lnTo>
                  <a:lnTo>
                    <a:pt x="1557412" y="118243"/>
                  </a:lnTo>
                  <a:lnTo>
                    <a:pt x="1573290" y="162672"/>
                  </a:lnTo>
                  <a:lnTo>
                    <a:pt x="1578864" y="211073"/>
                  </a:lnTo>
                  <a:lnTo>
                    <a:pt x="1573290" y="259475"/>
                  </a:lnTo>
                  <a:lnTo>
                    <a:pt x="1557412" y="303904"/>
                  </a:lnTo>
                  <a:lnTo>
                    <a:pt x="1532497" y="343095"/>
                  </a:lnTo>
                  <a:lnTo>
                    <a:pt x="1499811" y="375781"/>
                  </a:lnTo>
                  <a:lnTo>
                    <a:pt x="1460620" y="400696"/>
                  </a:lnTo>
                  <a:lnTo>
                    <a:pt x="1416191" y="416574"/>
                  </a:lnTo>
                  <a:lnTo>
                    <a:pt x="1367789" y="422147"/>
                  </a:lnTo>
                  <a:lnTo>
                    <a:pt x="211074" y="422147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3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555235" y="5545835"/>
            <a:ext cx="1325880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227329" marR="220345" indent="132080">
              <a:lnSpc>
                <a:spcPct val="100000"/>
              </a:lnSpc>
              <a:spcBef>
                <a:spcPts val="16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Software-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komponenten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21130" y="2259533"/>
            <a:ext cx="91694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Anforderungs-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analyse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69210" y="3645789"/>
            <a:ext cx="10077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System-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Entwurf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390646" y="4888738"/>
            <a:ext cx="1591945" cy="436880"/>
            <a:chOff x="3390646" y="4888738"/>
            <a:chExt cx="1591945" cy="436880"/>
          </a:xfrm>
        </p:grpSpPr>
        <p:sp>
          <p:nvSpPr>
            <p:cNvPr id="41" name="object 41"/>
            <p:cNvSpPr/>
            <p:nvPr/>
          </p:nvSpPr>
          <p:spPr>
            <a:xfrm>
              <a:off x="3396996" y="4895088"/>
              <a:ext cx="1579245" cy="424180"/>
            </a:xfrm>
            <a:custGeom>
              <a:avLst/>
              <a:gdLst/>
              <a:ahLst/>
              <a:cxnLst/>
              <a:rect l="l" t="t" r="r" b="b"/>
              <a:pathLst>
                <a:path w="1579245" h="424179">
                  <a:moveTo>
                    <a:pt x="1367027" y="0"/>
                  </a:moveTo>
                  <a:lnTo>
                    <a:pt x="211836" y="0"/>
                  </a:lnTo>
                  <a:lnTo>
                    <a:pt x="163272" y="5596"/>
                  </a:lnTo>
                  <a:lnTo>
                    <a:pt x="118687" y="21535"/>
                  </a:lnTo>
                  <a:lnTo>
                    <a:pt x="79354" y="46546"/>
                  </a:lnTo>
                  <a:lnTo>
                    <a:pt x="46546" y="79354"/>
                  </a:lnTo>
                  <a:lnTo>
                    <a:pt x="21535" y="118687"/>
                  </a:lnTo>
                  <a:lnTo>
                    <a:pt x="5596" y="163272"/>
                  </a:lnTo>
                  <a:lnTo>
                    <a:pt x="0" y="211836"/>
                  </a:lnTo>
                  <a:lnTo>
                    <a:pt x="5596" y="260399"/>
                  </a:lnTo>
                  <a:lnTo>
                    <a:pt x="21535" y="304984"/>
                  </a:lnTo>
                  <a:lnTo>
                    <a:pt x="46546" y="344317"/>
                  </a:lnTo>
                  <a:lnTo>
                    <a:pt x="79354" y="377125"/>
                  </a:lnTo>
                  <a:lnTo>
                    <a:pt x="118687" y="402136"/>
                  </a:lnTo>
                  <a:lnTo>
                    <a:pt x="163272" y="418075"/>
                  </a:lnTo>
                  <a:lnTo>
                    <a:pt x="211836" y="423672"/>
                  </a:lnTo>
                  <a:lnTo>
                    <a:pt x="1367027" y="423672"/>
                  </a:lnTo>
                  <a:lnTo>
                    <a:pt x="1415591" y="418075"/>
                  </a:lnTo>
                  <a:lnTo>
                    <a:pt x="1460176" y="402136"/>
                  </a:lnTo>
                  <a:lnTo>
                    <a:pt x="1499509" y="377125"/>
                  </a:lnTo>
                  <a:lnTo>
                    <a:pt x="1532317" y="344317"/>
                  </a:lnTo>
                  <a:lnTo>
                    <a:pt x="1557328" y="304984"/>
                  </a:lnTo>
                  <a:lnTo>
                    <a:pt x="1573267" y="260399"/>
                  </a:lnTo>
                  <a:lnTo>
                    <a:pt x="1578864" y="211836"/>
                  </a:lnTo>
                  <a:lnTo>
                    <a:pt x="1573267" y="163272"/>
                  </a:lnTo>
                  <a:lnTo>
                    <a:pt x="1557328" y="118687"/>
                  </a:lnTo>
                  <a:lnTo>
                    <a:pt x="1532317" y="79354"/>
                  </a:lnTo>
                  <a:lnTo>
                    <a:pt x="1499509" y="46546"/>
                  </a:lnTo>
                  <a:lnTo>
                    <a:pt x="1460176" y="21535"/>
                  </a:lnTo>
                  <a:lnTo>
                    <a:pt x="1415591" y="5596"/>
                  </a:lnTo>
                  <a:lnTo>
                    <a:pt x="13670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96996" y="4895088"/>
              <a:ext cx="1579245" cy="424180"/>
            </a:xfrm>
            <a:custGeom>
              <a:avLst/>
              <a:gdLst/>
              <a:ahLst/>
              <a:cxnLst/>
              <a:rect l="l" t="t" r="r" b="b"/>
              <a:pathLst>
                <a:path w="1579245" h="424179">
                  <a:moveTo>
                    <a:pt x="0" y="211836"/>
                  </a:moveTo>
                  <a:lnTo>
                    <a:pt x="5596" y="163272"/>
                  </a:lnTo>
                  <a:lnTo>
                    <a:pt x="21535" y="118687"/>
                  </a:lnTo>
                  <a:lnTo>
                    <a:pt x="46546" y="79354"/>
                  </a:lnTo>
                  <a:lnTo>
                    <a:pt x="79354" y="46546"/>
                  </a:lnTo>
                  <a:lnTo>
                    <a:pt x="118687" y="21535"/>
                  </a:lnTo>
                  <a:lnTo>
                    <a:pt x="163272" y="5596"/>
                  </a:lnTo>
                  <a:lnTo>
                    <a:pt x="211836" y="0"/>
                  </a:lnTo>
                  <a:lnTo>
                    <a:pt x="1367027" y="0"/>
                  </a:lnTo>
                  <a:lnTo>
                    <a:pt x="1415591" y="5596"/>
                  </a:lnTo>
                  <a:lnTo>
                    <a:pt x="1460176" y="21535"/>
                  </a:lnTo>
                  <a:lnTo>
                    <a:pt x="1499509" y="46546"/>
                  </a:lnTo>
                  <a:lnTo>
                    <a:pt x="1532317" y="79354"/>
                  </a:lnTo>
                  <a:lnTo>
                    <a:pt x="1557328" y="118687"/>
                  </a:lnTo>
                  <a:lnTo>
                    <a:pt x="1573267" y="163272"/>
                  </a:lnTo>
                  <a:lnTo>
                    <a:pt x="1578864" y="211836"/>
                  </a:lnTo>
                  <a:lnTo>
                    <a:pt x="1573267" y="260399"/>
                  </a:lnTo>
                  <a:lnTo>
                    <a:pt x="1557328" y="304984"/>
                  </a:lnTo>
                  <a:lnTo>
                    <a:pt x="1532317" y="344317"/>
                  </a:lnTo>
                  <a:lnTo>
                    <a:pt x="1499509" y="377125"/>
                  </a:lnTo>
                  <a:lnTo>
                    <a:pt x="1460176" y="402136"/>
                  </a:lnTo>
                  <a:lnTo>
                    <a:pt x="1415591" y="418075"/>
                  </a:lnTo>
                  <a:lnTo>
                    <a:pt x="1367027" y="423672"/>
                  </a:lnTo>
                  <a:lnTo>
                    <a:pt x="211836" y="423672"/>
                  </a:lnTo>
                  <a:lnTo>
                    <a:pt x="163272" y="418075"/>
                  </a:lnTo>
                  <a:lnTo>
                    <a:pt x="118687" y="402136"/>
                  </a:lnTo>
                  <a:lnTo>
                    <a:pt x="79354" y="377125"/>
                  </a:lnTo>
                  <a:lnTo>
                    <a:pt x="46546" y="344317"/>
                  </a:lnTo>
                  <a:lnTo>
                    <a:pt x="21535" y="304984"/>
                  </a:lnTo>
                  <a:lnTo>
                    <a:pt x="5596" y="260399"/>
                  </a:lnTo>
                  <a:lnTo>
                    <a:pt x="0" y="211836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636645" y="4994529"/>
            <a:ext cx="11004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Implementierung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82626" y="2925826"/>
            <a:ext cx="1170940" cy="434975"/>
            <a:chOff x="182626" y="2925826"/>
            <a:chExt cx="1170940" cy="434975"/>
          </a:xfrm>
        </p:grpSpPr>
        <p:sp>
          <p:nvSpPr>
            <p:cNvPr id="45" name="object 45"/>
            <p:cNvSpPr/>
            <p:nvPr/>
          </p:nvSpPr>
          <p:spPr>
            <a:xfrm>
              <a:off x="188976" y="2932176"/>
              <a:ext cx="1158240" cy="422275"/>
            </a:xfrm>
            <a:custGeom>
              <a:avLst/>
              <a:gdLst/>
              <a:ahLst/>
              <a:cxnLst/>
              <a:rect l="l" t="t" r="r" b="b"/>
              <a:pathLst>
                <a:path w="1158240" h="422275">
                  <a:moveTo>
                    <a:pt x="947166" y="0"/>
                  </a:moveTo>
                  <a:lnTo>
                    <a:pt x="211073" y="0"/>
                  </a:lnTo>
                  <a:lnTo>
                    <a:pt x="162676" y="5573"/>
                  </a:lnTo>
                  <a:lnTo>
                    <a:pt x="118248" y="21451"/>
                  </a:lnTo>
                  <a:lnTo>
                    <a:pt x="79057" y="46366"/>
                  </a:lnTo>
                  <a:lnTo>
                    <a:pt x="46370" y="79052"/>
                  </a:lnTo>
                  <a:lnTo>
                    <a:pt x="21453" y="118243"/>
                  </a:lnTo>
                  <a:lnTo>
                    <a:pt x="5574" y="162672"/>
                  </a:lnTo>
                  <a:lnTo>
                    <a:pt x="0" y="211074"/>
                  </a:lnTo>
                  <a:lnTo>
                    <a:pt x="5574" y="259475"/>
                  </a:lnTo>
                  <a:lnTo>
                    <a:pt x="21453" y="303904"/>
                  </a:lnTo>
                  <a:lnTo>
                    <a:pt x="46370" y="343095"/>
                  </a:lnTo>
                  <a:lnTo>
                    <a:pt x="79057" y="375781"/>
                  </a:lnTo>
                  <a:lnTo>
                    <a:pt x="118248" y="400696"/>
                  </a:lnTo>
                  <a:lnTo>
                    <a:pt x="162676" y="416574"/>
                  </a:lnTo>
                  <a:lnTo>
                    <a:pt x="211073" y="422148"/>
                  </a:lnTo>
                  <a:lnTo>
                    <a:pt x="947166" y="422148"/>
                  </a:lnTo>
                  <a:lnTo>
                    <a:pt x="995563" y="416574"/>
                  </a:lnTo>
                  <a:lnTo>
                    <a:pt x="1039991" y="400696"/>
                  </a:lnTo>
                  <a:lnTo>
                    <a:pt x="1079182" y="375781"/>
                  </a:lnTo>
                  <a:lnTo>
                    <a:pt x="1111869" y="343095"/>
                  </a:lnTo>
                  <a:lnTo>
                    <a:pt x="1136786" y="303904"/>
                  </a:lnTo>
                  <a:lnTo>
                    <a:pt x="1152665" y="259475"/>
                  </a:lnTo>
                  <a:lnTo>
                    <a:pt x="1158240" y="211074"/>
                  </a:lnTo>
                  <a:lnTo>
                    <a:pt x="1152665" y="162672"/>
                  </a:lnTo>
                  <a:lnTo>
                    <a:pt x="1136786" y="118243"/>
                  </a:lnTo>
                  <a:lnTo>
                    <a:pt x="1111869" y="79052"/>
                  </a:lnTo>
                  <a:lnTo>
                    <a:pt x="1079182" y="46366"/>
                  </a:lnTo>
                  <a:lnTo>
                    <a:pt x="1039991" y="21451"/>
                  </a:lnTo>
                  <a:lnTo>
                    <a:pt x="995563" y="5573"/>
                  </a:lnTo>
                  <a:lnTo>
                    <a:pt x="94716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88976" y="2932176"/>
              <a:ext cx="1158240" cy="422275"/>
            </a:xfrm>
            <a:custGeom>
              <a:avLst/>
              <a:gdLst/>
              <a:ahLst/>
              <a:cxnLst/>
              <a:rect l="l" t="t" r="r" b="b"/>
              <a:pathLst>
                <a:path w="1158240" h="422275">
                  <a:moveTo>
                    <a:pt x="0" y="211074"/>
                  </a:moveTo>
                  <a:lnTo>
                    <a:pt x="5574" y="162672"/>
                  </a:lnTo>
                  <a:lnTo>
                    <a:pt x="21453" y="118243"/>
                  </a:lnTo>
                  <a:lnTo>
                    <a:pt x="46370" y="79052"/>
                  </a:lnTo>
                  <a:lnTo>
                    <a:pt x="79057" y="46366"/>
                  </a:lnTo>
                  <a:lnTo>
                    <a:pt x="118248" y="21451"/>
                  </a:lnTo>
                  <a:lnTo>
                    <a:pt x="162676" y="5573"/>
                  </a:lnTo>
                  <a:lnTo>
                    <a:pt x="211073" y="0"/>
                  </a:lnTo>
                  <a:lnTo>
                    <a:pt x="947166" y="0"/>
                  </a:lnTo>
                  <a:lnTo>
                    <a:pt x="995563" y="5573"/>
                  </a:lnTo>
                  <a:lnTo>
                    <a:pt x="1039991" y="21451"/>
                  </a:lnTo>
                  <a:lnTo>
                    <a:pt x="1079182" y="46366"/>
                  </a:lnTo>
                  <a:lnTo>
                    <a:pt x="1111869" y="79052"/>
                  </a:lnTo>
                  <a:lnTo>
                    <a:pt x="1136786" y="118243"/>
                  </a:lnTo>
                  <a:lnTo>
                    <a:pt x="1152665" y="162672"/>
                  </a:lnTo>
                  <a:lnTo>
                    <a:pt x="1158240" y="211074"/>
                  </a:lnTo>
                  <a:lnTo>
                    <a:pt x="1152665" y="259475"/>
                  </a:lnTo>
                  <a:lnTo>
                    <a:pt x="1136786" y="303904"/>
                  </a:lnTo>
                  <a:lnTo>
                    <a:pt x="1111869" y="343095"/>
                  </a:lnTo>
                  <a:lnTo>
                    <a:pt x="1079182" y="375781"/>
                  </a:lnTo>
                  <a:lnTo>
                    <a:pt x="1039991" y="400696"/>
                  </a:lnTo>
                  <a:lnTo>
                    <a:pt x="995563" y="416574"/>
                  </a:lnTo>
                  <a:lnTo>
                    <a:pt x="947166" y="422148"/>
                  </a:lnTo>
                  <a:lnTo>
                    <a:pt x="211073" y="422148"/>
                  </a:lnTo>
                  <a:lnTo>
                    <a:pt x="162676" y="416574"/>
                  </a:lnTo>
                  <a:lnTo>
                    <a:pt x="118248" y="400696"/>
                  </a:lnTo>
                  <a:lnTo>
                    <a:pt x="79057" y="375781"/>
                  </a:lnTo>
                  <a:lnTo>
                    <a:pt x="46370" y="343095"/>
                  </a:lnTo>
                  <a:lnTo>
                    <a:pt x="21453" y="303904"/>
                  </a:lnTo>
                  <a:lnTo>
                    <a:pt x="5574" y="259475"/>
                  </a:lnTo>
                  <a:lnTo>
                    <a:pt x="0" y="21107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98170" y="3030473"/>
            <a:ext cx="735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Verifikation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438902" y="4888738"/>
            <a:ext cx="1146810" cy="436880"/>
            <a:chOff x="5438902" y="4888738"/>
            <a:chExt cx="1146810" cy="436880"/>
          </a:xfrm>
        </p:grpSpPr>
        <p:sp>
          <p:nvSpPr>
            <p:cNvPr id="49" name="object 49"/>
            <p:cNvSpPr/>
            <p:nvPr/>
          </p:nvSpPr>
          <p:spPr>
            <a:xfrm>
              <a:off x="5445252" y="4895088"/>
              <a:ext cx="1134110" cy="424180"/>
            </a:xfrm>
            <a:custGeom>
              <a:avLst/>
              <a:gdLst/>
              <a:ahLst/>
              <a:cxnLst/>
              <a:rect l="l" t="t" r="r" b="b"/>
              <a:pathLst>
                <a:path w="1134109" h="424179">
                  <a:moveTo>
                    <a:pt x="922020" y="0"/>
                  </a:moveTo>
                  <a:lnTo>
                    <a:pt x="211836" y="0"/>
                  </a:lnTo>
                  <a:lnTo>
                    <a:pt x="163272" y="5596"/>
                  </a:lnTo>
                  <a:lnTo>
                    <a:pt x="118687" y="21535"/>
                  </a:lnTo>
                  <a:lnTo>
                    <a:pt x="79354" y="46546"/>
                  </a:lnTo>
                  <a:lnTo>
                    <a:pt x="46546" y="79354"/>
                  </a:lnTo>
                  <a:lnTo>
                    <a:pt x="21535" y="118687"/>
                  </a:lnTo>
                  <a:lnTo>
                    <a:pt x="5596" y="163272"/>
                  </a:lnTo>
                  <a:lnTo>
                    <a:pt x="0" y="211836"/>
                  </a:lnTo>
                  <a:lnTo>
                    <a:pt x="5596" y="260399"/>
                  </a:lnTo>
                  <a:lnTo>
                    <a:pt x="21535" y="304984"/>
                  </a:lnTo>
                  <a:lnTo>
                    <a:pt x="46546" y="344317"/>
                  </a:lnTo>
                  <a:lnTo>
                    <a:pt x="79354" y="377125"/>
                  </a:lnTo>
                  <a:lnTo>
                    <a:pt x="118687" y="402136"/>
                  </a:lnTo>
                  <a:lnTo>
                    <a:pt x="163272" y="418075"/>
                  </a:lnTo>
                  <a:lnTo>
                    <a:pt x="211836" y="423672"/>
                  </a:lnTo>
                  <a:lnTo>
                    <a:pt x="922020" y="423672"/>
                  </a:lnTo>
                  <a:lnTo>
                    <a:pt x="970583" y="418075"/>
                  </a:lnTo>
                  <a:lnTo>
                    <a:pt x="1015168" y="402136"/>
                  </a:lnTo>
                  <a:lnTo>
                    <a:pt x="1054501" y="377125"/>
                  </a:lnTo>
                  <a:lnTo>
                    <a:pt x="1087309" y="344317"/>
                  </a:lnTo>
                  <a:lnTo>
                    <a:pt x="1112320" y="304984"/>
                  </a:lnTo>
                  <a:lnTo>
                    <a:pt x="1128259" y="260399"/>
                  </a:lnTo>
                  <a:lnTo>
                    <a:pt x="1133855" y="211836"/>
                  </a:lnTo>
                  <a:lnTo>
                    <a:pt x="1128259" y="163272"/>
                  </a:lnTo>
                  <a:lnTo>
                    <a:pt x="1112320" y="118687"/>
                  </a:lnTo>
                  <a:lnTo>
                    <a:pt x="1087309" y="79354"/>
                  </a:lnTo>
                  <a:lnTo>
                    <a:pt x="1054501" y="46546"/>
                  </a:lnTo>
                  <a:lnTo>
                    <a:pt x="1015168" y="21535"/>
                  </a:lnTo>
                  <a:lnTo>
                    <a:pt x="970583" y="5596"/>
                  </a:lnTo>
                  <a:lnTo>
                    <a:pt x="92202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445252" y="4895088"/>
              <a:ext cx="1134110" cy="424180"/>
            </a:xfrm>
            <a:custGeom>
              <a:avLst/>
              <a:gdLst/>
              <a:ahLst/>
              <a:cxnLst/>
              <a:rect l="l" t="t" r="r" b="b"/>
              <a:pathLst>
                <a:path w="1134109" h="424179">
                  <a:moveTo>
                    <a:pt x="0" y="211836"/>
                  </a:moveTo>
                  <a:lnTo>
                    <a:pt x="5596" y="163272"/>
                  </a:lnTo>
                  <a:lnTo>
                    <a:pt x="21535" y="118687"/>
                  </a:lnTo>
                  <a:lnTo>
                    <a:pt x="46546" y="79354"/>
                  </a:lnTo>
                  <a:lnTo>
                    <a:pt x="79354" y="46546"/>
                  </a:lnTo>
                  <a:lnTo>
                    <a:pt x="118687" y="21535"/>
                  </a:lnTo>
                  <a:lnTo>
                    <a:pt x="163272" y="5596"/>
                  </a:lnTo>
                  <a:lnTo>
                    <a:pt x="211836" y="0"/>
                  </a:lnTo>
                  <a:lnTo>
                    <a:pt x="922020" y="0"/>
                  </a:lnTo>
                  <a:lnTo>
                    <a:pt x="970583" y="5596"/>
                  </a:lnTo>
                  <a:lnTo>
                    <a:pt x="1015168" y="21535"/>
                  </a:lnTo>
                  <a:lnTo>
                    <a:pt x="1054501" y="46546"/>
                  </a:lnTo>
                  <a:lnTo>
                    <a:pt x="1087309" y="79354"/>
                  </a:lnTo>
                  <a:lnTo>
                    <a:pt x="1112320" y="118687"/>
                  </a:lnTo>
                  <a:lnTo>
                    <a:pt x="1128259" y="163272"/>
                  </a:lnTo>
                  <a:lnTo>
                    <a:pt x="1133855" y="211836"/>
                  </a:lnTo>
                  <a:lnTo>
                    <a:pt x="1128259" y="260399"/>
                  </a:lnTo>
                  <a:lnTo>
                    <a:pt x="1112320" y="304984"/>
                  </a:lnTo>
                  <a:lnTo>
                    <a:pt x="1087309" y="344317"/>
                  </a:lnTo>
                  <a:lnTo>
                    <a:pt x="1054501" y="377125"/>
                  </a:lnTo>
                  <a:lnTo>
                    <a:pt x="1015168" y="402136"/>
                  </a:lnTo>
                  <a:lnTo>
                    <a:pt x="970583" y="418075"/>
                  </a:lnTo>
                  <a:lnTo>
                    <a:pt x="922020" y="423672"/>
                  </a:lnTo>
                  <a:lnTo>
                    <a:pt x="211836" y="423672"/>
                  </a:lnTo>
                  <a:lnTo>
                    <a:pt x="163272" y="418075"/>
                  </a:lnTo>
                  <a:lnTo>
                    <a:pt x="118687" y="402136"/>
                  </a:lnTo>
                  <a:lnTo>
                    <a:pt x="79354" y="377125"/>
                  </a:lnTo>
                  <a:lnTo>
                    <a:pt x="46546" y="344317"/>
                  </a:lnTo>
                  <a:lnTo>
                    <a:pt x="21535" y="304984"/>
                  </a:lnTo>
                  <a:lnTo>
                    <a:pt x="5596" y="260399"/>
                  </a:lnTo>
                  <a:lnTo>
                    <a:pt x="0" y="211836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657469" y="4994529"/>
            <a:ext cx="709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078479" y="4238244"/>
            <a:ext cx="1327785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45110" marR="238125" indent="118745">
              <a:lnSpc>
                <a:spcPct val="100000"/>
              </a:lnSpc>
              <a:spcBef>
                <a:spcPts val="15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Entwurfs-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beschreibung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759196" y="4238244"/>
            <a:ext cx="1325880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332740" marR="249554" indent="-74930">
              <a:lnSpc>
                <a:spcPct val="100000"/>
              </a:lnSpc>
              <a:spcBef>
                <a:spcPts val="155"/>
              </a:spcBef>
            </a:pP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ausführbares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Subsystem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879092" y="2929127"/>
            <a:ext cx="1327785" cy="42418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88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Anforderungen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566916" y="2929127"/>
            <a:ext cx="1327785" cy="42418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443230" marR="250190" indent="-184785">
              <a:lnSpc>
                <a:spcPct val="100000"/>
              </a:lnSpc>
              <a:spcBef>
                <a:spcPts val="160"/>
              </a:spcBef>
            </a:pP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ausführbares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9704" y="1616963"/>
            <a:ext cx="1327785" cy="416559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44475" marR="239395" indent="132080">
              <a:lnSpc>
                <a:spcPct val="100000"/>
              </a:lnSpc>
              <a:spcBef>
                <a:spcPts val="12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Problem-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beschreibung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295388" y="1618488"/>
            <a:ext cx="1325880" cy="42227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875"/>
              </a:spcBef>
            </a:pP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benutztes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155182" y="3543046"/>
            <a:ext cx="1146810" cy="434975"/>
            <a:chOff x="6155182" y="3543046"/>
            <a:chExt cx="1146810" cy="434975"/>
          </a:xfrm>
        </p:grpSpPr>
        <p:sp>
          <p:nvSpPr>
            <p:cNvPr id="59" name="object 59"/>
            <p:cNvSpPr/>
            <p:nvPr/>
          </p:nvSpPr>
          <p:spPr>
            <a:xfrm>
              <a:off x="6161532" y="3549396"/>
              <a:ext cx="1134110" cy="422275"/>
            </a:xfrm>
            <a:custGeom>
              <a:avLst/>
              <a:gdLst/>
              <a:ahLst/>
              <a:cxnLst/>
              <a:rect l="l" t="t" r="r" b="b"/>
              <a:pathLst>
                <a:path w="1134109" h="422275">
                  <a:moveTo>
                    <a:pt x="922782" y="0"/>
                  </a:moveTo>
                  <a:lnTo>
                    <a:pt x="211073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3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3" y="422147"/>
                  </a:lnTo>
                  <a:lnTo>
                    <a:pt x="922782" y="422147"/>
                  </a:lnTo>
                  <a:lnTo>
                    <a:pt x="971183" y="416574"/>
                  </a:lnTo>
                  <a:lnTo>
                    <a:pt x="1015612" y="400696"/>
                  </a:lnTo>
                  <a:lnTo>
                    <a:pt x="1054803" y="375781"/>
                  </a:lnTo>
                  <a:lnTo>
                    <a:pt x="1087489" y="343095"/>
                  </a:lnTo>
                  <a:lnTo>
                    <a:pt x="1112404" y="303904"/>
                  </a:lnTo>
                  <a:lnTo>
                    <a:pt x="1128282" y="259475"/>
                  </a:lnTo>
                  <a:lnTo>
                    <a:pt x="1133856" y="211073"/>
                  </a:lnTo>
                  <a:lnTo>
                    <a:pt x="1128282" y="162672"/>
                  </a:lnTo>
                  <a:lnTo>
                    <a:pt x="1112404" y="118243"/>
                  </a:lnTo>
                  <a:lnTo>
                    <a:pt x="1087489" y="79052"/>
                  </a:lnTo>
                  <a:lnTo>
                    <a:pt x="1054803" y="46366"/>
                  </a:lnTo>
                  <a:lnTo>
                    <a:pt x="1015612" y="21451"/>
                  </a:lnTo>
                  <a:lnTo>
                    <a:pt x="971183" y="5573"/>
                  </a:lnTo>
                  <a:lnTo>
                    <a:pt x="92278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161532" y="3549396"/>
              <a:ext cx="1134110" cy="422275"/>
            </a:xfrm>
            <a:custGeom>
              <a:avLst/>
              <a:gdLst/>
              <a:ahLst/>
              <a:cxnLst/>
              <a:rect l="l" t="t" r="r" b="b"/>
              <a:pathLst>
                <a:path w="1134109" h="422275">
                  <a:moveTo>
                    <a:pt x="0" y="211073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3" y="0"/>
                  </a:lnTo>
                  <a:lnTo>
                    <a:pt x="922782" y="0"/>
                  </a:lnTo>
                  <a:lnTo>
                    <a:pt x="971183" y="5573"/>
                  </a:lnTo>
                  <a:lnTo>
                    <a:pt x="1015612" y="21451"/>
                  </a:lnTo>
                  <a:lnTo>
                    <a:pt x="1054803" y="46366"/>
                  </a:lnTo>
                  <a:lnTo>
                    <a:pt x="1087489" y="79052"/>
                  </a:lnTo>
                  <a:lnTo>
                    <a:pt x="1112404" y="118243"/>
                  </a:lnTo>
                  <a:lnTo>
                    <a:pt x="1128282" y="162672"/>
                  </a:lnTo>
                  <a:lnTo>
                    <a:pt x="1133856" y="211073"/>
                  </a:lnTo>
                  <a:lnTo>
                    <a:pt x="1128282" y="259475"/>
                  </a:lnTo>
                  <a:lnTo>
                    <a:pt x="1112404" y="303904"/>
                  </a:lnTo>
                  <a:lnTo>
                    <a:pt x="1087489" y="343095"/>
                  </a:lnTo>
                  <a:lnTo>
                    <a:pt x="1054803" y="375781"/>
                  </a:lnTo>
                  <a:lnTo>
                    <a:pt x="1015612" y="400696"/>
                  </a:lnTo>
                  <a:lnTo>
                    <a:pt x="971183" y="416574"/>
                  </a:lnTo>
                  <a:lnTo>
                    <a:pt x="922782" y="422147"/>
                  </a:lnTo>
                  <a:lnTo>
                    <a:pt x="211073" y="422147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3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2717038" y="4231894"/>
            <a:ext cx="2896235" cy="1739900"/>
            <a:chOff x="2717038" y="4231894"/>
            <a:chExt cx="2896235" cy="1739900"/>
          </a:xfrm>
        </p:grpSpPr>
        <p:sp>
          <p:nvSpPr>
            <p:cNvPr id="62" name="object 62"/>
            <p:cNvSpPr/>
            <p:nvPr/>
          </p:nvSpPr>
          <p:spPr>
            <a:xfrm>
              <a:off x="4555236" y="4238244"/>
              <a:ext cx="1051560" cy="422275"/>
            </a:xfrm>
            <a:custGeom>
              <a:avLst/>
              <a:gdLst/>
              <a:ahLst/>
              <a:cxnLst/>
              <a:rect l="l" t="t" r="r" b="b"/>
              <a:pathLst>
                <a:path w="1051560" h="422275">
                  <a:moveTo>
                    <a:pt x="840486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3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7"/>
                  </a:lnTo>
                  <a:lnTo>
                    <a:pt x="840486" y="422147"/>
                  </a:lnTo>
                  <a:lnTo>
                    <a:pt x="888887" y="416574"/>
                  </a:lnTo>
                  <a:lnTo>
                    <a:pt x="933316" y="400696"/>
                  </a:lnTo>
                  <a:lnTo>
                    <a:pt x="972507" y="375781"/>
                  </a:lnTo>
                  <a:lnTo>
                    <a:pt x="1005193" y="343095"/>
                  </a:lnTo>
                  <a:lnTo>
                    <a:pt x="1030108" y="303904"/>
                  </a:lnTo>
                  <a:lnTo>
                    <a:pt x="1045986" y="259475"/>
                  </a:lnTo>
                  <a:lnTo>
                    <a:pt x="1051560" y="211073"/>
                  </a:lnTo>
                  <a:lnTo>
                    <a:pt x="1045986" y="162672"/>
                  </a:lnTo>
                  <a:lnTo>
                    <a:pt x="1030108" y="118243"/>
                  </a:lnTo>
                  <a:lnTo>
                    <a:pt x="1005193" y="79052"/>
                  </a:lnTo>
                  <a:lnTo>
                    <a:pt x="972507" y="46366"/>
                  </a:lnTo>
                  <a:lnTo>
                    <a:pt x="933316" y="21451"/>
                  </a:lnTo>
                  <a:lnTo>
                    <a:pt x="888887" y="5573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555236" y="4238244"/>
              <a:ext cx="1051560" cy="422275"/>
            </a:xfrm>
            <a:custGeom>
              <a:avLst/>
              <a:gdLst/>
              <a:ahLst/>
              <a:cxnLst/>
              <a:rect l="l" t="t" r="r" b="b"/>
              <a:pathLst>
                <a:path w="1051560" h="422275">
                  <a:moveTo>
                    <a:pt x="0" y="211073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840486" y="0"/>
                  </a:lnTo>
                  <a:lnTo>
                    <a:pt x="888887" y="5573"/>
                  </a:lnTo>
                  <a:lnTo>
                    <a:pt x="933316" y="21451"/>
                  </a:lnTo>
                  <a:lnTo>
                    <a:pt x="972507" y="46366"/>
                  </a:lnTo>
                  <a:lnTo>
                    <a:pt x="1005193" y="79052"/>
                  </a:lnTo>
                  <a:lnTo>
                    <a:pt x="1030108" y="118243"/>
                  </a:lnTo>
                  <a:lnTo>
                    <a:pt x="1045986" y="162672"/>
                  </a:lnTo>
                  <a:lnTo>
                    <a:pt x="1051560" y="211073"/>
                  </a:lnTo>
                  <a:lnTo>
                    <a:pt x="1045986" y="259475"/>
                  </a:lnTo>
                  <a:lnTo>
                    <a:pt x="1030108" y="303904"/>
                  </a:lnTo>
                  <a:lnTo>
                    <a:pt x="1005193" y="343095"/>
                  </a:lnTo>
                  <a:lnTo>
                    <a:pt x="972507" y="375781"/>
                  </a:lnTo>
                  <a:lnTo>
                    <a:pt x="933316" y="400696"/>
                  </a:lnTo>
                  <a:lnTo>
                    <a:pt x="888887" y="416574"/>
                  </a:lnTo>
                  <a:lnTo>
                    <a:pt x="840486" y="422147"/>
                  </a:lnTo>
                  <a:lnTo>
                    <a:pt x="211074" y="422147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3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723388" y="5541263"/>
              <a:ext cx="1156970" cy="424180"/>
            </a:xfrm>
            <a:custGeom>
              <a:avLst/>
              <a:gdLst/>
              <a:ahLst/>
              <a:cxnLst/>
              <a:rect l="l" t="t" r="r" b="b"/>
              <a:pathLst>
                <a:path w="1156970" h="424179">
                  <a:moveTo>
                    <a:pt x="944879" y="0"/>
                  </a:moveTo>
                  <a:lnTo>
                    <a:pt x="211836" y="0"/>
                  </a:lnTo>
                  <a:lnTo>
                    <a:pt x="163272" y="5594"/>
                  </a:lnTo>
                  <a:lnTo>
                    <a:pt x="118687" y="21531"/>
                  </a:lnTo>
                  <a:lnTo>
                    <a:pt x="79354" y="46538"/>
                  </a:lnTo>
                  <a:lnTo>
                    <a:pt x="46546" y="79343"/>
                  </a:lnTo>
                  <a:lnTo>
                    <a:pt x="21535" y="118676"/>
                  </a:lnTo>
                  <a:lnTo>
                    <a:pt x="5596" y="163264"/>
                  </a:lnTo>
                  <a:lnTo>
                    <a:pt x="0" y="211836"/>
                  </a:lnTo>
                  <a:lnTo>
                    <a:pt x="5596" y="260407"/>
                  </a:lnTo>
                  <a:lnTo>
                    <a:pt x="21535" y="304995"/>
                  </a:lnTo>
                  <a:lnTo>
                    <a:pt x="46546" y="344328"/>
                  </a:lnTo>
                  <a:lnTo>
                    <a:pt x="79354" y="377133"/>
                  </a:lnTo>
                  <a:lnTo>
                    <a:pt x="118687" y="402140"/>
                  </a:lnTo>
                  <a:lnTo>
                    <a:pt x="163272" y="418077"/>
                  </a:lnTo>
                  <a:lnTo>
                    <a:pt x="211836" y="423672"/>
                  </a:lnTo>
                  <a:lnTo>
                    <a:pt x="944879" y="423672"/>
                  </a:lnTo>
                  <a:lnTo>
                    <a:pt x="993443" y="418077"/>
                  </a:lnTo>
                  <a:lnTo>
                    <a:pt x="1038028" y="402140"/>
                  </a:lnTo>
                  <a:lnTo>
                    <a:pt x="1077361" y="377133"/>
                  </a:lnTo>
                  <a:lnTo>
                    <a:pt x="1110169" y="344328"/>
                  </a:lnTo>
                  <a:lnTo>
                    <a:pt x="1135180" y="304995"/>
                  </a:lnTo>
                  <a:lnTo>
                    <a:pt x="1151119" y="260407"/>
                  </a:lnTo>
                  <a:lnTo>
                    <a:pt x="1156715" y="211836"/>
                  </a:lnTo>
                  <a:lnTo>
                    <a:pt x="1151119" y="163264"/>
                  </a:lnTo>
                  <a:lnTo>
                    <a:pt x="1135180" y="118676"/>
                  </a:lnTo>
                  <a:lnTo>
                    <a:pt x="1110169" y="79343"/>
                  </a:lnTo>
                  <a:lnTo>
                    <a:pt x="1077361" y="46538"/>
                  </a:lnTo>
                  <a:lnTo>
                    <a:pt x="1038028" y="21531"/>
                  </a:lnTo>
                  <a:lnTo>
                    <a:pt x="993443" y="5594"/>
                  </a:lnTo>
                  <a:lnTo>
                    <a:pt x="944879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723388" y="5541263"/>
              <a:ext cx="1156970" cy="424180"/>
            </a:xfrm>
            <a:custGeom>
              <a:avLst/>
              <a:gdLst/>
              <a:ahLst/>
              <a:cxnLst/>
              <a:rect l="l" t="t" r="r" b="b"/>
              <a:pathLst>
                <a:path w="1156970" h="424179">
                  <a:moveTo>
                    <a:pt x="0" y="211836"/>
                  </a:moveTo>
                  <a:lnTo>
                    <a:pt x="5596" y="163264"/>
                  </a:lnTo>
                  <a:lnTo>
                    <a:pt x="21535" y="118676"/>
                  </a:lnTo>
                  <a:lnTo>
                    <a:pt x="46546" y="79343"/>
                  </a:lnTo>
                  <a:lnTo>
                    <a:pt x="79354" y="46538"/>
                  </a:lnTo>
                  <a:lnTo>
                    <a:pt x="118687" y="21531"/>
                  </a:lnTo>
                  <a:lnTo>
                    <a:pt x="163272" y="5594"/>
                  </a:lnTo>
                  <a:lnTo>
                    <a:pt x="211836" y="0"/>
                  </a:lnTo>
                  <a:lnTo>
                    <a:pt x="944879" y="0"/>
                  </a:lnTo>
                  <a:lnTo>
                    <a:pt x="993443" y="5594"/>
                  </a:lnTo>
                  <a:lnTo>
                    <a:pt x="1038028" y="21531"/>
                  </a:lnTo>
                  <a:lnTo>
                    <a:pt x="1077361" y="46538"/>
                  </a:lnTo>
                  <a:lnTo>
                    <a:pt x="1110169" y="79343"/>
                  </a:lnTo>
                  <a:lnTo>
                    <a:pt x="1135180" y="118676"/>
                  </a:lnTo>
                  <a:lnTo>
                    <a:pt x="1151119" y="163264"/>
                  </a:lnTo>
                  <a:lnTo>
                    <a:pt x="1156715" y="211836"/>
                  </a:lnTo>
                  <a:lnTo>
                    <a:pt x="1151119" y="260407"/>
                  </a:lnTo>
                  <a:lnTo>
                    <a:pt x="1135180" y="304995"/>
                  </a:lnTo>
                  <a:lnTo>
                    <a:pt x="1110169" y="344328"/>
                  </a:lnTo>
                  <a:lnTo>
                    <a:pt x="1077361" y="377133"/>
                  </a:lnTo>
                  <a:lnTo>
                    <a:pt x="1038028" y="402140"/>
                  </a:lnTo>
                  <a:lnTo>
                    <a:pt x="993443" y="418077"/>
                  </a:lnTo>
                  <a:lnTo>
                    <a:pt x="944879" y="423672"/>
                  </a:lnTo>
                  <a:lnTo>
                    <a:pt x="211836" y="423672"/>
                  </a:lnTo>
                  <a:lnTo>
                    <a:pt x="163272" y="418077"/>
                  </a:lnTo>
                  <a:lnTo>
                    <a:pt x="118687" y="402140"/>
                  </a:lnTo>
                  <a:lnTo>
                    <a:pt x="79354" y="377133"/>
                  </a:lnTo>
                  <a:lnTo>
                    <a:pt x="46546" y="344328"/>
                  </a:lnTo>
                  <a:lnTo>
                    <a:pt x="21535" y="304995"/>
                  </a:lnTo>
                  <a:lnTo>
                    <a:pt x="5596" y="260407"/>
                  </a:lnTo>
                  <a:lnTo>
                    <a:pt x="0" y="211836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373495" y="3647694"/>
            <a:ext cx="709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204075" y="2351659"/>
            <a:ext cx="709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548885" y="2918205"/>
            <a:ext cx="1064260" cy="436880"/>
            <a:chOff x="4548885" y="2918205"/>
            <a:chExt cx="1064260" cy="436880"/>
          </a:xfrm>
        </p:grpSpPr>
        <p:sp>
          <p:nvSpPr>
            <p:cNvPr id="69" name="object 69"/>
            <p:cNvSpPr/>
            <p:nvPr/>
          </p:nvSpPr>
          <p:spPr>
            <a:xfrm>
              <a:off x="4555235" y="2924555"/>
              <a:ext cx="1051560" cy="424180"/>
            </a:xfrm>
            <a:custGeom>
              <a:avLst/>
              <a:gdLst/>
              <a:ahLst/>
              <a:cxnLst/>
              <a:rect l="l" t="t" r="r" b="b"/>
              <a:pathLst>
                <a:path w="1051560" h="424179">
                  <a:moveTo>
                    <a:pt x="839724" y="0"/>
                  </a:moveTo>
                  <a:lnTo>
                    <a:pt x="211836" y="0"/>
                  </a:lnTo>
                  <a:lnTo>
                    <a:pt x="163272" y="5596"/>
                  </a:lnTo>
                  <a:lnTo>
                    <a:pt x="118687" y="21535"/>
                  </a:lnTo>
                  <a:lnTo>
                    <a:pt x="79354" y="46546"/>
                  </a:lnTo>
                  <a:lnTo>
                    <a:pt x="46546" y="79354"/>
                  </a:lnTo>
                  <a:lnTo>
                    <a:pt x="21535" y="118687"/>
                  </a:lnTo>
                  <a:lnTo>
                    <a:pt x="5596" y="163272"/>
                  </a:lnTo>
                  <a:lnTo>
                    <a:pt x="0" y="211836"/>
                  </a:lnTo>
                  <a:lnTo>
                    <a:pt x="5596" y="260399"/>
                  </a:lnTo>
                  <a:lnTo>
                    <a:pt x="21535" y="304984"/>
                  </a:lnTo>
                  <a:lnTo>
                    <a:pt x="46546" y="344317"/>
                  </a:lnTo>
                  <a:lnTo>
                    <a:pt x="79354" y="377125"/>
                  </a:lnTo>
                  <a:lnTo>
                    <a:pt x="118687" y="402136"/>
                  </a:lnTo>
                  <a:lnTo>
                    <a:pt x="163272" y="418075"/>
                  </a:lnTo>
                  <a:lnTo>
                    <a:pt x="211836" y="423672"/>
                  </a:lnTo>
                  <a:lnTo>
                    <a:pt x="839724" y="423672"/>
                  </a:lnTo>
                  <a:lnTo>
                    <a:pt x="888287" y="418075"/>
                  </a:lnTo>
                  <a:lnTo>
                    <a:pt x="932872" y="402136"/>
                  </a:lnTo>
                  <a:lnTo>
                    <a:pt x="972205" y="377125"/>
                  </a:lnTo>
                  <a:lnTo>
                    <a:pt x="1005013" y="344317"/>
                  </a:lnTo>
                  <a:lnTo>
                    <a:pt x="1030024" y="304984"/>
                  </a:lnTo>
                  <a:lnTo>
                    <a:pt x="1045963" y="260399"/>
                  </a:lnTo>
                  <a:lnTo>
                    <a:pt x="1051560" y="211836"/>
                  </a:lnTo>
                  <a:lnTo>
                    <a:pt x="1045963" y="163272"/>
                  </a:lnTo>
                  <a:lnTo>
                    <a:pt x="1030024" y="118687"/>
                  </a:lnTo>
                  <a:lnTo>
                    <a:pt x="1005013" y="79354"/>
                  </a:lnTo>
                  <a:lnTo>
                    <a:pt x="972205" y="46546"/>
                  </a:lnTo>
                  <a:lnTo>
                    <a:pt x="932872" y="21535"/>
                  </a:lnTo>
                  <a:lnTo>
                    <a:pt x="888287" y="5596"/>
                  </a:lnTo>
                  <a:lnTo>
                    <a:pt x="83972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555235" y="2924555"/>
              <a:ext cx="1051560" cy="424180"/>
            </a:xfrm>
            <a:custGeom>
              <a:avLst/>
              <a:gdLst/>
              <a:ahLst/>
              <a:cxnLst/>
              <a:rect l="l" t="t" r="r" b="b"/>
              <a:pathLst>
                <a:path w="1051560" h="424179">
                  <a:moveTo>
                    <a:pt x="0" y="211836"/>
                  </a:moveTo>
                  <a:lnTo>
                    <a:pt x="5596" y="163272"/>
                  </a:lnTo>
                  <a:lnTo>
                    <a:pt x="21535" y="118687"/>
                  </a:lnTo>
                  <a:lnTo>
                    <a:pt x="46546" y="79354"/>
                  </a:lnTo>
                  <a:lnTo>
                    <a:pt x="79354" y="46546"/>
                  </a:lnTo>
                  <a:lnTo>
                    <a:pt x="118687" y="21535"/>
                  </a:lnTo>
                  <a:lnTo>
                    <a:pt x="163272" y="5596"/>
                  </a:lnTo>
                  <a:lnTo>
                    <a:pt x="211836" y="0"/>
                  </a:lnTo>
                  <a:lnTo>
                    <a:pt x="839724" y="0"/>
                  </a:lnTo>
                  <a:lnTo>
                    <a:pt x="888287" y="5596"/>
                  </a:lnTo>
                  <a:lnTo>
                    <a:pt x="932872" y="21535"/>
                  </a:lnTo>
                  <a:lnTo>
                    <a:pt x="972205" y="46546"/>
                  </a:lnTo>
                  <a:lnTo>
                    <a:pt x="1005013" y="79354"/>
                  </a:lnTo>
                  <a:lnTo>
                    <a:pt x="1030024" y="118687"/>
                  </a:lnTo>
                  <a:lnTo>
                    <a:pt x="1045963" y="163272"/>
                  </a:lnTo>
                  <a:lnTo>
                    <a:pt x="1051560" y="211836"/>
                  </a:lnTo>
                  <a:lnTo>
                    <a:pt x="1045963" y="260399"/>
                  </a:lnTo>
                  <a:lnTo>
                    <a:pt x="1030024" y="304984"/>
                  </a:lnTo>
                  <a:lnTo>
                    <a:pt x="1005013" y="344317"/>
                  </a:lnTo>
                  <a:lnTo>
                    <a:pt x="972205" y="377125"/>
                  </a:lnTo>
                  <a:lnTo>
                    <a:pt x="932872" y="402136"/>
                  </a:lnTo>
                  <a:lnTo>
                    <a:pt x="888287" y="418075"/>
                  </a:lnTo>
                  <a:lnTo>
                    <a:pt x="839724" y="423672"/>
                  </a:lnTo>
                  <a:lnTo>
                    <a:pt x="211836" y="423672"/>
                  </a:lnTo>
                  <a:lnTo>
                    <a:pt x="163272" y="418075"/>
                  </a:lnTo>
                  <a:lnTo>
                    <a:pt x="118687" y="402136"/>
                  </a:lnTo>
                  <a:lnTo>
                    <a:pt x="79354" y="377125"/>
                  </a:lnTo>
                  <a:lnTo>
                    <a:pt x="46546" y="344317"/>
                  </a:lnTo>
                  <a:lnTo>
                    <a:pt x="21535" y="304984"/>
                  </a:lnTo>
                  <a:lnTo>
                    <a:pt x="5596" y="260399"/>
                  </a:lnTo>
                  <a:lnTo>
                    <a:pt x="0" y="211836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4719573" y="3023742"/>
            <a:ext cx="723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Validierung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548885" y="1606041"/>
            <a:ext cx="1064260" cy="434975"/>
            <a:chOff x="4548885" y="1606041"/>
            <a:chExt cx="1064260" cy="434975"/>
          </a:xfrm>
        </p:grpSpPr>
        <p:sp>
          <p:nvSpPr>
            <p:cNvPr id="73" name="object 73"/>
            <p:cNvSpPr/>
            <p:nvPr/>
          </p:nvSpPr>
          <p:spPr>
            <a:xfrm>
              <a:off x="4555235" y="1612391"/>
              <a:ext cx="1051560" cy="422275"/>
            </a:xfrm>
            <a:custGeom>
              <a:avLst/>
              <a:gdLst/>
              <a:ahLst/>
              <a:cxnLst/>
              <a:rect l="l" t="t" r="r" b="b"/>
              <a:pathLst>
                <a:path w="1051560" h="422275">
                  <a:moveTo>
                    <a:pt x="840486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4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8"/>
                  </a:lnTo>
                  <a:lnTo>
                    <a:pt x="840486" y="422148"/>
                  </a:lnTo>
                  <a:lnTo>
                    <a:pt x="888887" y="416574"/>
                  </a:lnTo>
                  <a:lnTo>
                    <a:pt x="933316" y="400696"/>
                  </a:lnTo>
                  <a:lnTo>
                    <a:pt x="972507" y="375781"/>
                  </a:lnTo>
                  <a:lnTo>
                    <a:pt x="1005193" y="343095"/>
                  </a:lnTo>
                  <a:lnTo>
                    <a:pt x="1030108" y="303904"/>
                  </a:lnTo>
                  <a:lnTo>
                    <a:pt x="1045986" y="259475"/>
                  </a:lnTo>
                  <a:lnTo>
                    <a:pt x="1051560" y="211074"/>
                  </a:lnTo>
                  <a:lnTo>
                    <a:pt x="1045986" y="162672"/>
                  </a:lnTo>
                  <a:lnTo>
                    <a:pt x="1030108" y="118243"/>
                  </a:lnTo>
                  <a:lnTo>
                    <a:pt x="1005193" y="79052"/>
                  </a:lnTo>
                  <a:lnTo>
                    <a:pt x="972507" y="46366"/>
                  </a:lnTo>
                  <a:lnTo>
                    <a:pt x="933316" y="21451"/>
                  </a:lnTo>
                  <a:lnTo>
                    <a:pt x="888887" y="5573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555235" y="1612391"/>
              <a:ext cx="1051560" cy="422275"/>
            </a:xfrm>
            <a:custGeom>
              <a:avLst/>
              <a:gdLst/>
              <a:ahLst/>
              <a:cxnLst/>
              <a:rect l="l" t="t" r="r" b="b"/>
              <a:pathLst>
                <a:path w="1051560" h="422275">
                  <a:moveTo>
                    <a:pt x="0" y="211074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840486" y="0"/>
                  </a:lnTo>
                  <a:lnTo>
                    <a:pt x="888887" y="5573"/>
                  </a:lnTo>
                  <a:lnTo>
                    <a:pt x="933316" y="21451"/>
                  </a:lnTo>
                  <a:lnTo>
                    <a:pt x="972507" y="46366"/>
                  </a:lnTo>
                  <a:lnTo>
                    <a:pt x="1005193" y="79052"/>
                  </a:lnTo>
                  <a:lnTo>
                    <a:pt x="1030108" y="118243"/>
                  </a:lnTo>
                  <a:lnTo>
                    <a:pt x="1045986" y="162672"/>
                  </a:lnTo>
                  <a:lnTo>
                    <a:pt x="1051560" y="211074"/>
                  </a:lnTo>
                  <a:lnTo>
                    <a:pt x="1045986" y="259475"/>
                  </a:lnTo>
                  <a:lnTo>
                    <a:pt x="1030108" y="303904"/>
                  </a:lnTo>
                  <a:lnTo>
                    <a:pt x="1005193" y="343095"/>
                  </a:lnTo>
                  <a:lnTo>
                    <a:pt x="972507" y="375781"/>
                  </a:lnTo>
                  <a:lnTo>
                    <a:pt x="933316" y="400696"/>
                  </a:lnTo>
                  <a:lnTo>
                    <a:pt x="888887" y="416574"/>
                  </a:lnTo>
                  <a:lnTo>
                    <a:pt x="840486" y="422148"/>
                  </a:lnTo>
                  <a:lnTo>
                    <a:pt x="211074" y="422148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4719573" y="1710944"/>
            <a:ext cx="723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Validierung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293622" y="4231894"/>
            <a:ext cx="1170940" cy="434975"/>
            <a:chOff x="1293622" y="4231894"/>
            <a:chExt cx="1170940" cy="434975"/>
          </a:xfrm>
        </p:grpSpPr>
        <p:sp>
          <p:nvSpPr>
            <p:cNvPr id="77" name="object 77"/>
            <p:cNvSpPr/>
            <p:nvPr/>
          </p:nvSpPr>
          <p:spPr>
            <a:xfrm>
              <a:off x="1299972" y="4238244"/>
              <a:ext cx="1158240" cy="422275"/>
            </a:xfrm>
            <a:custGeom>
              <a:avLst/>
              <a:gdLst/>
              <a:ahLst/>
              <a:cxnLst/>
              <a:rect l="l" t="t" r="r" b="b"/>
              <a:pathLst>
                <a:path w="1158239" h="422275">
                  <a:moveTo>
                    <a:pt x="947166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3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7"/>
                  </a:lnTo>
                  <a:lnTo>
                    <a:pt x="947166" y="422147"/>
                  </a:lnTo>
                  <a:lnTo>
                    <a:pt x="995567" y="416574"/>
                  </a:lnTo>
                  <a:lnTo>
                    <a:pt x="1039996" y="400696"/>
                  </a:lnTo>
                  <a:lnTo>
                    <a:pt x="1079187" y="375781"/>
                  </a:lnTo>
                  <a:lnTo>
                    <a:pt x="1111873" y="343095"/>
                  </a:lnTo>
                  <a:lnTo>
                    <a:pt x="1136788" y="303904"/>
                  </a:lnTo>
                  <a:lnTo>
                    <a:pt x="1152666" y="259475"/>
                  </a:lnTo>
                  <a:lnTo>
                    <a:pt x="1158240" y="211073"/>
                  </a:lnTo>
                  <a:lnTo>
                    <a:pt x="1152666" y="162672"/>
                  </a:lnTo>
                  <a:lnTo>
                    <a:pt x="1136788" y="118243"/>
                  </a:lnTo>
                  <a:lnTo>
                    <a:pt x="1111873" y="79052"/>
                  </a:lnTo>
                  <a:lnTo>
                    <a:pt x="1079187" y="46366"/>
                  </a:lnTo>
                  <a:lnTo>
                    <a:pt x="1039996" y="21451"/>
                  </a:lnTo>
                  <a:lnTo>
                    <a:pt x="995567" y="5573"/>
                  </a:lnTo>
                  <a:lnTo>
                    <a:pt x="94716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299972" y="4238244"/>
              <a:ext cx="1158240" cy="422275"/>
            </a:xfrm>
            <a:custGeom>
              <a:avLst/>
              <a:gdLst/>
              <a:ahLst/>
              <a:cxnLst/>
              <a:rect l="l" t="t" r="r" b="b"/>
              <a:pathLst>
                <a:path w="1158239" h="422275">
                  <a:moveTo>
                    <a:pt x="0" y="211073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947166" y="0"/>
                  </a:lnTo>
                  <a:lnTo>
                    <a:pt x="995567" y="5573"/>
                  </a:lnTo>
                  <a:lnTo>
                    <a:pt x="1039996" y="21451"/>
                  </a:lnTo>
                  <a:lnTo>
                    <a:pt x="1079187" y="46366"/>
                  </a:lnTo>
                  <a:lnTo>
                    <a:pt x="1111873" y="79052"/>
                  </a:lnTo>
                  <a:lnTo>
                    <a:pt x="1136788" y="118243"/>
                  </a:lnTo>
                  <a:lnTo>
                    <a:pt x="1152666" y="162672"/>
                  </a:lnTo>
                  <a:lnTo>
                    <a:pt x="1158240" y="211073"/>
                  </a:lnTo>
                  <a:lnTo>
                    <a:pt x="1152666" y="259475"/>
                  </a:lnTo>
                  <a:lnTo>
                    <a:pt x="1136788" y="303904"/>
                  </a:lnTo>
                  <a:lnTo>
                    <a:pt x="1111873" y="343095"/>
                  </a:lnTo>
                  <a:lnTo>
                    <a:pt x="1079187" y="375781"/>
                  </a:lnTo>
                  <a:lnTo>
                    <a:pt x="1039996" y="400696"/>
                  </a:lnTo>
                  <a:lnTo>
                    <a:pt x="995567" y="416574"/>
                  </a:lnTo>
                  <a:lnTo>
                    <a:pt x="947166" y="422147"/>
                  </a:lnTo>
                  <a:lnTo>
                    <a:pt x="211074" y="422147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3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510030" y="4336795"/>
            <a:ext cx="735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Verifikation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932938" y="5641035"/>
            <a:ext cx="735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Verifikation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4548885" y="4231894"/>
            <a:ext cx="1064260" cy="434975"/>
            <a:chOff x="4548885" y="4231894"/>
            <a:chExt cx="1064260" cy="434975"/>
          </a:xfrm>
        </p:grpSpPr>
        <p:sp>
          <p:nvSpPr>
            <p:cNvPr id="82" name="object 82"/>
            <p:cNvSpPr/>
            <p:nvPr/>
          </p:nvSpPr>
          <p:spPr>
            <a:xfrm>
              <a:off x="4555235" y="4238244"/>
              <a:ext cx="1051560" cy="422275"/>
            </a:xfrm>
            <a:custGeom>
              <a:avLst/>
              <a:gdLst/>
              <a:ahLst/>
              <a:cxnLst/>
              <a:rect l="l" t="t" r="r" b="b"/>
              <a:pathLst>
                <a:path w="1051560" h="422275">
                  <a:moveTo>
                    <a:pt x="840486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3"/>
                  </a:lnTo>
                  <a:lnTo>
                    <a:pt x="5573" y="259475"/>
                  </a:lnTo>
                  <a:lnTo>
                    <a:pt x="21451" y="303904"/>
                  </a:lnTo>
                  <a:lnTo>
                    <a:pt x="46366" y="343095"/>
                  </a:lnTo>
                  <a:lnTo>
                    <a:pt x="79052" y="375781"/>
                  </a:lnTo>
                  <a:lnTo>
                    <a:pt x="118243" y="400696"/>
                  </a:lnTo>
                  <a:lnTo>
                    <a:pt x="162672" y="416574"/>
                  </a:lnTo>
                  <a:lnTo>
                    <a:pt x="211074" y="422147"/>
                  </a:lnTo>
                  <a:lnTo>
                    <a:pt x="840486" y="422147"/>
                  </a:lnTo>
                  <a:lnTo>
                    <a:pt x="888887" y="416574"/>
                  </a:lnTo>
                  <a:lnTo>
                    <a:pt x="933316" y="400696"/>
                  </a:lnTo>
                  <a:lnTo>
                    <a:pt x="972507" y="375781"/>
                  </a:lnTo>
                  <a:lnTo>
                    <a:pt x="1005193" y="343095"/>
                  </a:lnTo>
                  <a:lnTo>
                    <a:pt x="1030108" y="303904"/>
                  </a:lnTo>
                  <a:lnTo>
                    <a:pt x="1045986" y="259475"/>
                  </a:lnTo>
                  <a:lnTo>
                    <a:pt x="1051560" y="211073"/>
                  </a:lnTo>
                  <a:lnTo>
                    <a:pt x="1045986" y="162672"/>
                  </a:lnTo>
                  <a:lnTo>
                    <a:pt x="1030108" y="118243"/>
                  </a:lnTo>
                  <a:lnTo>
                    <a:pt x="1005193" y="79052"/>
                  </a:lnTo>
                  <a:lnTo>
                    <a:pt x="972507" y="46366"/>
                  </a:lnTo>
                  <a:lnTo>
                    <a:pt x="933316" y="21451"/>
                  </a:lnTo>
                  <a:lnTo>
                    <a:pt x="888887" y="5573"/>
                  </a:lnTo>
                  <a:lnTo>
                    <a:pt x="84048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555235" y="4238244"/>
              <a:ext cx="1051560" cy="422275"/>
            </a:xfrm>
            <a:custGeom>
              <a:avLst/>
              <a:gdLst/>
              <a:ahLst/>
              <a:cxnLst/>
              <a:rect l="l" t="t" r="r" b="b"/>
              <a:pathLst>
                <a:path w="1051560" h="422275">
                  <a:moveTo>
                    <a:pt x="0" y="211073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840486" y="0"/>
                  </a:lnTo>
                  <a:lnTo>
                    <a:pt x="888887" y="5573"/>
                  </a:lnTo>
                  <a:lnTo>
                    <a:pt x="933316" y="21451"/>
                  </a:lnTo>
                  <a:lnTo>
                    <a:pt x="972507" y="46366"/>
                  </a:lnTo>
                  <a:lnTo>
                    <a:pt x="1005193" y="79052"/>
                  </a:lnTo>
                  <a:lnTo>
                    <a:pt x="1030108" y="118243"/>
                  </a:lnTo>
                  <a:lnTo>
                    <a:pt x="1045986" y="162672"/>
                  </a:lnTo>
                  <a:lnTo>
                    <a:pt x="1051560" y="211073"/>
                  </a:lnTo>
                  <a:lnTo>
                    <a:pt x="1045986" y="259475"/>
                  </a:lnTo>
                  <a:lnTo>
                    <a:pt x="1030108" y="303904"/>
                  </a:lnTo>
                  <a:lnTo>
                    <a:pt x="1005193" y="343095"/>
                  </a:lnTo>
                  <a:lnTo>
                    <a:pt x="972507" y="375781"/>
                  </a:lnTo>
                  <a:lnTo>
                    <a:pt x="933316" y="400696"/>
                  </a:lnTo>
                  <a:lnTo>
                    <a:pt x="888887" y="416574"/>
                  </a:lnTo>
                  <a:lnTo>
                    <a:pt x="840486" y="422147"/>
                  </a:lnTo>
                  <a:lnTo>
                    <a:pt x="211074" y="422147"/>
                  </a:lnTo>
                  <a:lnTo>
                    <a:pt x="162672" y="416574"/>
                  </a:lnTo>
                  <a:lnTo>
                    <a:pt x="118243" y="400696"/>
                  </a:lnTo>
                  <a:lnTo>
                    <a:pt x="79052" y="375781"/>
                  </a:lnTo>
                  <a:lnTo>
                    <a:pt x="46366" y="343095"/>
                  </a:lnTo>
                  <a:lnTo>
                    <a:pt x="21451" y="303904"/>
                  </a:lnTo>
                  <a:lnTo>
                    <a:pt x="5573" y="259475"/>
                  </a:lnTo>
                  <a:lnTo>
                    <a:pt x="0" y="211073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4719573" y="4336795"/>
            <a:ext cx="723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8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200" spc="-46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200" spc="-3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38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200" spc="-2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200" spc="-67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200" spc="-34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200" spc="-66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36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200" spc="-2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200" spc="-42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200" spc="-29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200" spc="-434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200" spc="-3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0" dirty="0"/>
              <a:t>Verifikation</a:t>
            </a:r>
            <a:r>
              <a:rPr spc="-190" dirty="0"/>
              <a:t> </a:t>
            </a:r>
            <a:r>
              <a:rPr spc="-140" dirty="0"/>
              <a:t>und</a:t>
            </a:r>
            <a:r>
              <a:rPr spc="-185" dirty="0"/>
              <a:t> </a:t>
            </a:r>
            <a:r>
              <a:rPr spc="-150" dirty="0"/>
              <a:t>Validierung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542" y="1281429"/>
            <a:ext cx="7412990" cy="431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sz="2400" b="1" spc="-75" dirty="0">
                <a:latin typeface="Arial"/>
                <a:cs typeface="Arial"/>
              </a:rPr>
              <a:t>Validierung</a:t>
            </a:r>
            <a:endParaRPr sz="2400">
              <a:latin typeface="Arial"/>
              <a:cs typeface="Arial"/>
            </a:endParaRPr>
          </a:p>
          <a:p>
            <a:pPr marL="697865" marR="439420" lvl="1" indent="-228600">
              <a:lnSpc>
                <a:spcPts val="2600"/>
              </a:lnSpc>
              <a:spcBef>
                <a:spcPts val="535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697865" algn="l"/>
              </a:tabLst>
            </a:pPr>
            <a:r>
              <a:rPr sz="2400" spc="-215" dirty="0">
                <a:latin typeface="Arial"/>
                <a:cs typeface="Arial"/>
              </a:rPr>
              <a:t>Passt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das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implementierte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System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zum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Plan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und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zur </a:t>
            </a:r>
            <a:r>
              <a:rPr sz="2400" spc="-45" dirty="0">
                <a:latin typeface="Arial"/>
                <a:cs typeface="Arial"/>
              </a:rPr>
              <a:t>Spezifikation?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00"/>
              </a:spcBef>
              <a:buClr>
                <a:srgbClr val="2D75B6"/>
              </a:buClr>
              <a:buFont typeface="Wingdings"/>
              <a:buChar char=""/>
            </a:pP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sz="2400" b="1" spc="-55" dirty="0">
                <a:latin typeface="Arial"/>
                <a:cs typeface="Arial"/>
              </a:rPr>
              <a:t>Verifikation</a:t>
            </a:r>
            <a:endParaRPr sz="2400">
              <a:latin typeface="Arial"/>
              <a:cs typeface="Arial"/>
            </a:endParaRPr>
          </a:p>
          <a:p>
            <a:pPr marL="697865" lvl="1" indent="-227965">
              <a:lnSpc>
                <a:spcPts val="2735"/>
              </a:lnSpc>
              <a:spcBef>
                <a:spcPts val="20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697865" algn="l"/>
              </a:tabLst>
            </a:pPr>
            <a:r>
              <a:rPr sz="2400" spc="-210" dirty="0">
                <a:latin typeface="Arial"/>
                <a:cs typeface="Arial"/>
              </a:rPr>
              <a:t>Passt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Plan</a:t>
            </a:r>
            <a:r>
              <a:rPr sz="2400" spc="-110" dirty="0">
                <a:latin typeface="Arial"/>
                <a:cs typeface="Arial"/>
              </a:rPr>
              <a:t> zur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Spezifikation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auf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nächsthöheren</a:t>
            </a:r>
            <a:endParaRPr sz="2400">
              <a:latin typeface="Arial"/>
              <a:cs typeface="Arial"/>
            </a:endParaRPr>
          </a:p>
          <a:p>
            <a:pPr marL="697865">
              <a:lnSpc>
                <a:spcPts val="2735"/>
              </a:lnSpc>
            </a:pPr>
            <a:r>
              <a:rPr sz="2400" spc="-60" dirty="0">
                <a:latin typeface="Arial"/>
                <a:cs typeface="Arial"/>
              </a:rPr>
              <a:t>Abstraktionsebene?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35"/>
              </a:spcBef>
            </a:pPr>
            <a:endParaRPr sz="2400">
              <a:latin typeface="Arial"/>
              <a:cs typeface="Arial"/>
            </a:endParaRPr>
          </a:p>
          <a:p>
            <a:pPr marL="241300" marR="399415" indent="-228600">
              <a:lnSpc>
                <a:spcPct val="90100"/>
              </a:lnSpc>
              <a:buClr>
                <a:srgbClr val="2D75B6"/>
              </a:buClr>
              <a:buSzPct val="110416"/>
              <a:buFont typeface="Wingdings"/>
              <a:buChar char=""/>
              <a:tabLst>
                <a:tab pos="241300" algn="l"/>
              </a:tabLst>
            </a:pPr>
            <a:r>
              <a:rPr sz="2400" b="1" spc="-150" dirty="0">
                <a:latin typeface="Arial"/>
                <a:cs typeface="Arial"/>
              </a:rPr>
              <a:t>Mathematisch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114" dirty="0">
                <a:latin typeface="Arial"/>
                <a:cs typeface="Arial"/>
              </a:rPr>
              <a:t>fundierte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175" dirty="0">
                <a:latin typeface="Arial"/>
                <a:cs typeface="Arial"/>
              </a:rPr>
              <a:t>Spezifikations-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und </a:t>
            </a:r>
            <a:r>
              <a:rPr sz="2400" b="1" spc="-180" dirty="0">
                <a:latin typeface="Arial"/>
                <a:cs typeface="Arial"/>
              </a:rPr>
              <a:t>Modellierungssprachen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ermöglichen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eine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umfassende </a:t>
            </a:r>
            <a:r>
              <a:rPr sz="2400" spc="-10" dirty="0">
                <a:latin typeface="Arial"/>
                <a:cs typeface="Arial"/>
              </a:rPr>
              <a:t>Verifikation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45" dirty="0"/>
              <a:t>Dynamische</a:t>
            </a:r>
            <a:r>
              <a:rPr spc="-185" dirty="0"/>
              <a:t> </a:t>
            </a:r>
            <a:r>
              <a:rPr spc="-135" dirty="0"/>
              <a:t>Anforderungen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81429"/>
            <a:ext cx="708215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100" dirty="0">
                <a:latin typeface="Arial"/>
                <a:cs typeface="Arial"/>
              </a:rPr>
              <a:t>Manchmal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ändern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sich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die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Anforderungen </a:t>
            </a:r>
            <a:r>
              <a:rPr sz="2400" spc="-40" dirty="0">
                <a:latin typeface="Arial"/>
                <a:cs typeface="Arial"/>
              </a:rPr>
              <a:t>im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Laufe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eines </a:t>
            </a:r>
            <a:r>
              <a:rPr sz="2400" spc="-10" dirty="0">
                <a:latin typeface="Arial"/>
                <a:cs typeface="Arial"/>
              </a:rPr>
              <a:t>Projektes.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 descr="Ein Bild, das draußen, Wasser, Gebäude, Boot enthält.  Automatisch generierte Beschreibu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4" y="2564892"/>
            <a:ext cx="3252215" cy="23393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7542" y="5476747"/>
            <a:ext cx="33115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95" dirty="0">
                <a:solidFill>
                  <a:srgbClr val="EC7C30"/>
                </a:solidFill>
                <a:latin typeface="Arial"/>
                <a:cs typeface="Arial"/>
              </a:rPr>
              <a:t>Wie</a:t>
            </a:r>
            <a:r>
              <a:rPr sz="2000" i="1" spc="-12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000" i="1" spc="-110" dirty="0">
                <a:solidFill>
                  <a:srgbClr val="EC7C30"/>
                </a:solidFill>
                <a:latin typeface="Arial"/>
                <a:cs typeface="Arial"/>
              </a:rPr>
              <a:t>kann</a:t>
            </a:r>
            <a:r>
              <a:rPr sz="2000" i="1" spc="-114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000" i="1" spc="-95" dirty="0">
                <a:solidFill>
                  <a:srgbClr val="EC7C30"/>
                </a:solidFill>
                <a:latin typeface="Arial"/>
                <a:cs typeface="Arial"/>
              </a:rPr>
              <a:t>man</a:t>
            </a:r>
            <a:r>
              <a:rPr sz="2000" i="1" spc="-114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000" i="1" spc="-30" dirty="0">
                <a:solidFill>
                  <a:srgbClr val="EC7C30"/>
                </a:solidFill>
                <a:latin typeface="Arial"/>
                <a:cs typeface="Arial"/>
              </a:rPr>
              <a:t>damit</a:t>
            </a:r>
            <a:r>
              <a:rPr sz="2000" i="1" spc="-10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000" i="1" spc="-95" dirty="0">
                <a:solidFill>
                  <a:srgbClr val="EC7C30"/>
                </a:solidFill>
                <a:latin typeface="Arial"/>
                <a:cs typeface="Arial"/>
              </a:rPr>
              <a:t>umgehen?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754481" y="4938776"/>
            <a:ext cx="30988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20" dirty="0">
                <a:solidFill>
                  <a:srgbClr val="A4A4A4"/>
                </a:solidFill>
                <a:latin typeface="Arial"/>
                <a:cs typeface="Arial"/>
                <a:hlinkClick r:id="rId3"/>
              </a:rPr>
              <a:t>Foto:</a:t>
            </a:r>
            <a:r>
              <a:rPr sz="300" spc="5" dirty="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sz="300" u="sng" spc="-20" dirty="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Arial"/>
                <a:cs typeface="Arial"/>
                <a:hlinkClick r:id="rId3"/>
              </a:rPr>
              <a:t>Tagesspiege</a:t>
            </a:r>
            <a:r>
              <a:rPr sz="300" spc="-20" dirty="0">
                <a:solidFill>
                  <a:srgbClr val="A4A4A4"/>
                </a:solidFill>
                <a:latin typeface="Arial"/>
                <a:cs typeface="Arial"/>
                <a:hlinkClick r:id="rId3"/>
              </a:rPr>
              <a:t>l</a:t>
            </a:r>
            <a:endParaRPr sz="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Inkrementelle</a:t>
            </a:r>
            <a:r>
              <a:rPr spc="-180" dirty="0"/>
              <a:t> </a:t>
            </a:r>
            <a:r>
              <a:rPr spc="-140" dirty="0"/>
              <a:t>Entwicklung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542" y="1352804"/>
            <a:ext cx="7477125" cy="4751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Arial"/>
                <a:cs typeface="Arial"/>
              </a:rPr>
              <a:t>Alternativ/komplementär</a:t>
            </a:r>
            <a:r>
              <a:rPr sz="1900" spc="5" dirty="0">
                <a:latin typeface="Arial"/>
                <a:cs typeface="Arial"/>
              </a:rPr>
              <a:t> </a:t>
            </a:r>
            <a:r>
              <a:rPr sz="1900" spc="-100" dirty="0">
                <a:latin typeface="Arial"/>
                <a:cs typeface="Arial"/>
              </a:rPr>
              <a:t>zur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Verifikation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900">
              <a:latin typeface="Arial"/>
              <a:cs typeface="Arial"/>
            </a:endParaRPr>
          </a:p>
          <a:p>
            <a:pPr marL="12700">
              <a:lnSpc>
                <a:spcPts val="2190"/>
              </a:lnSpc>
            </a:pPr>
            <a:r>
              <a:rPr sz="1900" spc="-75" dirty="0">
                <a:latin typeface="Arial"/>
                <a:cs typeface="Arial"/>
              </a:rPr>
              <a:t>Inkrementelles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-85" dirty="0">
                <a:latin typeface="Arial"/>
                <a:cs typeface="Arial"/>
              </a:rPr>
              <a:t>Entwicklungsmodell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mit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50" dirty="0">
                <a:latin typeface="Arial"/>
                <a:cs typeface="Arial"/>
              </a:rPr>
              <a:t>frühen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Prototypen</a:t>
            </a:r>
            <a:endParaRPr sz="1900">
              <a:latin typeface="Arial"/>
              <a:cs typeface="Arial"/>
            </a:endParaRPr>
          </a:p>
          <a:p>
            <a:pPr marL="697865" indent="-227965">
              <a:lnSpc>
                <a:spcPts val="2190"/>
              </a:lnSpc>
              <a:buClr>
                <a:srgbClr val="2D75B6"/>
              </a:buClr>
              <a:buSzPct val="110526"/>
              <a:buFont typeface="Wingdings"/>
              <a:buChar char=""/>
              <a:tabLst>
                <a:tab pos="697865" algn="l"/>
              </a:tabLst>
            </a:pPr>
            <a:r>
              <a:rPr sz="1900" spc="-105" dirty="0">
                <a:latin typeface="Arial"/>
                <a:cs typeface="Arial"/>
              </a:rPr>
              <a:t>Besonderer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160" dirty="0">
                <a:latin typeface="Arial"/>
                <a:cs typeface="Arial"/>
              </a:rPr>
              <a:t>Fokus</a:t>
            </a:r>
            <a:r>
              <a:rPr sz="1900" spc="-75" dirty="0">
                <a:latin typeface="Arial"/>
                <a:cs typeface="Arial"/>
              </a:rPr>
              <a:t> auf</a:t>
            </a:r>
            <a:r>
              <a:rPr sz="1900" spc="-80" dirty="0">
                <a:latin typeface="Arial"/>
                <a:cs typeface="Arial"/>
              </a:rPr>
              <a:t> </a:t>
            </a:r>
            <a:r>
              <a:rPr sz="1900" spc="-65" dirty="0">
                <a:latin typeface="Arial"/>
                <a:cs typeface="Arial"/>
              </a:rPr>
              <a:t>die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b="1" spc="-175" dirty="0">
                <a:latin typeface="Arial"/>
                <a:cs typeface="Arial"/>
              </a:rPr>
              <a:t>Transparenz</a:t>
            </a:r>
            <a:r>
              <a:rPr sz="1900" b="1" spc="-60" dirty="0">
                <a:latin typeface="Arial"/>
                <a:cs typeface="Arial"/>
              </a:rPr>
              <a:t> </a:t>
            </a:r>
            <a:r>
              <a:rPr sz="1900" spc="-145" dirty="0">
                <a:latin typeface="Arial"/>
                <a:cs typeface="Arial"/>
              </a:rPr>
              <a:t>des</a:t>
            </a:r>
            <a:r>
              <a:rPr sz="1900" spc="-80" dirty="0">
                <a:latin typeface="Arial"/>
                <a:cs typeface="Arial"/>
              </a:rPr>
              <a:t> </a:t>
            </a:r>
            <a:r>
              <a:rPr sz="1900" spc="-65" dirty="0">
                <a:latin typeface="Arial"/>
                <a:cs typeface="Arial"/>
              </a:rPr>
              <a:t>Entwicklungsprozesses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0"/>
              </a:spcBef>
              <a:buFont typeface="Wingdings"/>
              <a:buChar char=""/>
            </a:pPr>
            <a:endParaRPr sz="1900">
              <a:latin typeface="Arial"/>
              <a:cs typeface="Arial"/>
            </a:endParaRPr>
          </a:p>
          <a:p>
            <a:pPr marL="12700">
              <a:lnSpc>
                <a:spcPts val="2185"/>
              </a:lnSpc>
            </a:pPr>
            <a:r>
              <a:rPr sz="1900" spc="-125" dirty="0">
                <a:latin typeface="Arial"/>
                <a:cs typeface="Arial"/>
              </a:rPr>
              <a:t>Die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-85" dirty="0">
                <a:latin typeface="Arial"/>
                <a:cs typeface="Arial"/>
              </a:rPr>
              <a:t>Entwicklung</a:t>
            </a:r>
            <a:r>
              <a:rPr sz="1900" spc="-50" dirty="0">
                <a:latin typeface="Arial"/>
                <a:cs typeface="Arial"/>
              </a:rPr>
              <a:t> </a:t>
            </a:r>
            <a:r>
              <a:rPr sz="1900" spc="-25" dirty="0">
                <a:latin typeface="Arial"/>
                <a:cs typeface="Arial"/>
              </a:rPr>
              <a:t>wird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-75" dirty="0">
                <a:latin typeface="Arial"/>
                <a:cs typeface="Arial"/>
              </a:rPr>
              <a:t>durch </a:t>
            </a:r>
            <a:r>
              <a:rPr sz="1900" spc="-90" dirty="0">
                <a:latin typeface="Arial"/>
                <a:cs typeface="Arial"/>
              </a:rPr>
              <a:t>eine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b="1" spc="-150" dirty="0">
                <a:latin typeface="Arial"/>
                <a:cs typeface="Arial"/>
              </a:rPr>
              <a:t>Risikobewertung</a:t>
            </a:r>
            <a:r>
              <a:rPr sz="1900" b="1" spc="-60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gesteuert</a:t>
            </a:r>
            <a:endParaRPr sz="1900">
              <a:latin typeface="Arial"/>
              <a:cs typeface="Arial"/>
            </a:endParaRPr>
          </a:p>
          <a:p>
            <a:pPr marL="697865" indent="-227965">
              <a:lnSpc>
                <a:spcPts val="2095"/>
              </a:lnSpc>
              <a:buClr>
                <a:srgbClr val="2D75B6"/>
              </a:buClr>
              <a:buSzPct val="107894"/>
              <a:buFont typeface="Wingdings"/>
              <a:buChar char=""/>
              <a:tabLst>
                <a:tab pos="697865" algn="l"/>
              </a:tabLst>
            </a:pPr>
            <a:r>
              <a:rPr sz="1900" spc="-75" dirty="0">
                <a:latin typeface="Arial"/>
                <a:cs typeface="Arial"/>
              </a:rPr>
              <a:t>In</a:t>
            </a:r>
            <a:r>
              <a:rPr sz="1900" spc="-85" dirty="0">
                <a:latin typeface="Arial"/>
                <a:cs typeface="Arial"/>
              </a:rPr>
              <a:t> </a:t>
            </a:r>
            <a:r>
              <a:rPr sz="1900" spc="-60" dirty="0">
                <a:latin typeface="Arial"/>
                <a:cs typeface="Arial"/>
              </a:rPr>
              <a:t>jeder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40" dirty="0">
                <a:latin typeface="Arial"/>
                <a:cs typeface="Arial"/>
              </a:rPr>
              <a:t>Iteration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75" dirty="0">
                <a:latin typeface="Arial"/>
                <a:cs typeface="Arial"/>
              </a:rPr>
              <a:t>werden </a:t>
            </a:r>
            <a:r>
              <a:rPr sz="1900" spc="-65" dirty="0">
                <a:latin typeface="Arial"/>
                <a:cs typeface="Arial"/>
              </a:rPr>
              <a:t>die </a:t>
            </a:r>
            <a:r>
              <a:rPr sz="1900" spc="-135" dirty="0">
                <a:latin typeface="Arial"/>
                <a:cs typeface="Arial"/>
              </a:rPr>
              <a:t>Risiken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145" dirty="0">
                <a:latin typeface="Arial"/>
                <a:cs typeface="Arial"/>
              </a:rPr>
              <a:t>des</a:t>
            </a:r>
            <a:r>
              <a:rPr sz="1900" spc="-85" dirty="0">
                <a:latin typeface="Arial"/>
                <a:cs typeface="Arial"/>
              </a:rPr>
              <a:t> Projekts</a:t>
            </a:r>
            <a:r>
              <a:rPr sz="1900" spc="-50" dirty="0">
                <a:latin typeface="Arial"/>
                <a:cs typeface="Arial"/>
              </a:rPr>
              <a:t> </a:t>
            </a:r>
            <a:r>
              <a:rPr sz="1900" b="1" spc="-150" dirty="0">
                <a:latin typeface="Arial"/>
                <a:cs typeface="Arial"/>
              </a:rPr>
              <a:t>neu</a:t>
            </a:r>
            <a:r>
              <a:rPr sz="1900" b="1" spc="-60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bewertet</a:t>
            </a:r>
            <a:endParaRPr sz="1900">
              <a:latin typeface="Arial"/>
              <a:cs typeface="Arial"/>
            </a:endParaRPr>
          </a:p>
          <a:p>
            <a:pPr marL="697865" indent="-227965">
              <a:lnSpc>
                <a:spcPts val="2190"/>
              </a:lnSpc>
              <a:buClr>
                <a:srgbClr val="2D75B6"/>
              </a:buClr>
              <a:buSzPct val="107894"/>
              <a:buFont typeface="Wingdings"/>
              <a:buChar char=""/>
              <a:tabLst>
                <a:tab pos="697865" algn="l"/>
              </a:tabLst>
            </a:pPr>
            <a:r>
              <a:rPr sz="1900" spc="-170" dirty="0">
                <a:latin typeface="Arial"/>
                <a:cs typeface="Arial"/>
              </a:rPr>
              <a:t>Kann</a:t>
            </a:r>
            <a:r>
              <a:rPr sz="1900" spc="-70" dirty="0">
                <a:latin typeface="Arial"/>
                <a:cs typeface="Arial"/>
              </a:rPr>
              <a:t> ein</a:t>
            </a:r>
            <a:r>
              <a:rPr sz="1900" spc="-85" dirty="0">
                <a:latin typeface="Arial"/>
                <a:cs typeface="Arial"/>
              </a:rPr>
              <a:t> </a:t>
            </a:r>
            <a:r>
              <a:rPr sz="1900" spc="-135" dirty="0">
                <a:latin typeface="Arial"/>
                <a:cs typeface="Arial"/>
              </a:rPr>
              <a:t>Risiko</a:t>
            </a:r>
            <a:r>
              <a:rPr sz="1900" spc="-80" dirty="0">
                <a:latin typeface="Arial"/>
                <a:cs typeface="Arial"/>
              </a:rPr>
              <a:t> </a:t>
            </a:r>
            <a:r>
              <a:rPr sz="1900" spc="-40" dirty="0">
                <a:latin typeface="Arial"/>
                <a:cs typeface="Arial"/>
              </a:rPr>
              <a:t>nicht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b="1" spc="-120" dirty="0">
                <a:latin typeface="Arial"/>
                <a:cs typeface="Arial"/>
              </a:rPr>
              <a:t>beseitigt</a:t>
            </a:r>
            <a:r>
              <a:rPr sz="1900" b="1" spc="-75" dirty="0">
                <a:latin typeface="Arial"/>
                <a:cs typeface="Arial"/>
              </a:rPr>
              <a:t> </a:t>
            </a:r>
            <a:r>
              <a:rPr sz="1900" spc="-80" dirty="0">
                <a:latin typeface="Arial"/>
                <a:cs typeface="Arial"/>
              </a:rPr>
              <a:t>werden,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gilt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155" dirty="0">
                <a:latin typeface="Arial"/>
                <a:cs typeface="Arial"/>
              </a:rPr>
              <a:t>das</a:t>
            </a:r>
            <a:r>
              <a:rPr sz="1900" spc="-85" dirty="0">
                <a:latin typeface="Arial"/>
                <a:cs typeface="Arial"/>
              </a:rPr>
              <a:t> </a:t>
            </a:r>
            <a:r>
              <a:rPr sz="1900" spc="-65" dirty="0">
                <a:latin typeface="Arial"/>
                <a:cs typeface="Arial"/>
              </a:rPr>
              <a:t>Projekt </a:t>
            </a:r>
            <a:r>
              <a:rPr sz="1900" spc="-135" dirty="0">
                <a:latin typeface="Arial"/>
                <a:cs typeface="Arial"/>
              </a:rPr>
              <a:t>als</a:t>
            </a:r>
            <a:r>
              <a:rPr sz="1900" spc="-90" dirty="0">
                <a:latin typeface="Arial"/>
                <a:cs typeface="Arial"/>
              </a:rPr>
              <a:t> </a:t>
            </a:r>
            <a:r>
              <a:rPr sz="1900" spc="-35" dirty="0">
                <a:latin typeface="Arial"/>
                <a:cs typeface="Arial"/>
              </a:rPr>
              <a:t>gescheitert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900">
              <a:latin typeface="Arial"/>
              <a:cs typeface="Arial"/>
            </a:endParaRPr>
          </a:p>
          <a:p>
            <a:pPr marL="240665" indent="-227965">
              <a:lnSpc>
                <a:spcPts val="2185"/>
              </a:lnSpc>
              <a:buClr>
                <a:srgbClr val="2D75B6"/>
              </a:buClr>
              <a:buSzPct val="107894"/>
              <a:buFont typeface="Wingdings"/>
              <a:buChar char=""/>
              <a:tabLst>
                <a:tab pos="240665" algn="l"/>
              </a:tabLst>
            </a:pPr>
            <a:r>
              <a:rPr sz="1900" i="1" spc="-10" dirty="0">
                <a:latin typeface="Arial"/>
                <a:cs typeface="Arial"/>
              </a:rPr>
              <a:t>Vorteile</a:t>
            </a:r>
            <a:endParaRPr sz="1900">
              <a:latin typeface="Arial"/>
              <a:cs typeface="Arial"/>
            </a:endParaRPr>
          </a:p>
          <a:p>
            <a:pPr marL="355600">
              <a:lnSpc>
                <a:spcPts val="2095"/>
              </a:lnSpc>
            </a:pPr>
            <a:r>
              <a:rPr sz="1900" spc="-50" dirty="0">
                <a:latin typeface="Arial"/>
                <a:cs typeface="Arial"/>
              </a:rPr>
              <a:t>Iterative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85" dirty="0">
                <a:latin typeface="Arial"/>
                <a:cs typeface="Arial"/>
              </a:rPr>
              <a:t>Entwicklung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-55" dirty="0">
                <a:latin typeface="Arial"/>
                <a:cs typeface="Arial"/>
              </a:rPr>
              <a:t>reduziert </a:t>
            </a:r>
            <a:r>
              <a:rPr sz="1900" spc="-10" dirty="0">
                <a:latin typeface="Arial"/>
                <a:cs typeface="Arial"/>
              </a:rPr>
              <a:t>Risiko</a:t>
            </a:r>
            <a:endParaRPr sz="1900">
              <a:latin typeface="Arial"/>
              <a:cs typeface="Arial"/>
            </a:endParaRPr>
          </a:p>
          <a:p>
            <a:pPr marL="355600">
              <a:lnSpc>
                <a:spcPts val="2190"/>
              </a:lnSpc>
            </a:pPr>
            <a:r>
              <a:rPr sz="1900" spc="-135" dirty="0">
                <a:latin typeface="Arial"/>
                <a:cs typeface="Arial"/>
              </a:rPr>
              <a:t>Frühes</a:t>
            </a:r>
            <a:r>
              <a:rPr sz="1900" spc="-90" dirty="0">
                <a:latin typeface="Arial"/>
                <a:cs typeface="Arial"/>
              </a:rPr>
              <a:t> </a:t>
            </a:r>
            <a:r>
              <a:rPr sz="1900" spc="-150" dirty="0">
                <a:latin typeface="Arial"/>
                <a:cs typeface="Arial"/>
              </a:rPr>
              <a:t>Testen</a:t>
            </a:r>
            <a:r>
              <a:rPr sz="1900" spc="-85" dirty="0">
                <a:latin typeface="Arial"/>
                <a:cs typeface="Arial"/>
              </a:rPr>
              <a:t> </a:t>
            </a:r>
            <a:r>
              <a:rPr sz="1900" spc="-110" dirty="0">
                <a:latin typeface="Arial"/>
                <a:cs typeface="Arial"/>
              </a:rPr>
              <a:t>(auch</a:t>
            </a:r>
            <a:r>
              <a:rPr sz="1900" spc="-90" dirty="0">
                <a:latin typeface="Arial"/>
                <a:cs typeface="Arial"/>
              </a:rPr>
              <a:t> </a:t>
            </a:r>
            <a:r>
              <a:rPr sz="1900" spc="-75" dirty="0">
                <a:latin typeface="Arial"/>
                <a:cs typeface="Arial"/>
              </a:rPr>
              <a:t>durch</a:t>
            </a:r>
            <a:r>
              <a:rPr sz="1900" spc="-90" dirty="0">
                <a:latin typeface="Arial"/>
                <a:cs typeface="Arial"/>
              </a:rPr>
              <a:t> </a:t>
            </a:r>
            <a:r>
              <a:rPr sz="1900" spc="-95" dirty="0">
                <a:latin typeface="Arial"/>
                <a:cs typeface="Arial"/>
              </a:rPr>
              <a:t>Benutzer)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-90" dirty="0">
                <a:latin typeface="Arial"/>
                <a:cs typeface="Arial"/>
              </a:rPr>
              <a:t>von</a:t>
            </a:r>
            <a:r>
              <a:rPr sz="1900" spc="-9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Prototypen</a:t>
            </a:r>
            <a:endParaRPr sz="1900">
              <a:latin typeface="Arial"/>
              <a:cs typeface="Arial"/>
            </a:endParaRPr>
          </a:p>
          <a:p>
            <a:pPr marL="240665" indent="-227965">
              <a:lnSpc>
                <a:spcPts val="2190"/>
              </a:lnSpc>
              <a:spcBef>
                <a:spcPts val="315"/>
              </a:spcBef>
              <a:buClr>
                <a:srgbClr val="2D75B6"/>
              </a:buClr>
              <a:buSzPct val="107894"/>
              <a:buFont typeface="Wingdings"/>
              <a:buChar char=""/>
              <a:tabLst>
                <a:tab pos="240665" algn="l"/>
              </a:tabLst>
            </a:pPr>
            <a:r>
              <a:rPr sz="1900" i="1" spc="-10" dirty="0">
                <a:latin typeface="Arial"/>
                <a:cs typeface="Arial"/>
              </a:rPr>
              <a:t>Nachteile</a:t>
            </a:r>
            <a:endParaRPr sz="1900">
              <a:latin typeface="Arial"/>
              <a:cs typeface="Arial"/>
            </a:endParaRPr>
          </a:p>
          <a:p>
            <a:pPr marL="355600">
              <a:lnSpc>
                <a:spcPts val="2100"/>
              </a:lnSpc>
            </a:pPr>
            <a:r>
              <a:rPr sz="1900" spc="-140" dirty="0">
                <a:latin typeface="Arial"/>
                <a:cs typeface="Arial"/>
              </a:rPr>
              <a:t>Eher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für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-125" dirty="0">
                <a:latin typeface="Arial"/>
                <a:cs typeface="Arial"/>
              </a:rPr>
              <a:t>große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spc="-85" dirty="0">
                <a:latin typeface="Arial"/>
                <a:cs typeface="Arial"/>
              </a:rPr>
              <a:t>Projekte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geeignet</a:t>
            </a:r>
            <a:endParaRPr sz="1900">
              <a:latin typeface="Arial"/>
              <a:cs typeface="Arial"/>
            </a:endParaRPr>
          </a:p>
          <a:p>
            <a:pPr marL="355600">
              <a:lnSpc>
                <a:spcPts val="2095"/>
              </a:lnSpc>
            </a:pPr>
            <a:r>
              <a:rPr sz="1900" spc="-130" dirty="0">
                <a:latin typeface="Arial"/>
                <a:cs typeface="Arial"/>
              </a:rPr>
              <a:t>Risikoanalyse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110" dirty="0">
                <a:latin typeface="Arial"/>
                <a:cs typeface="Arial"/>
              </a:rPr>
              <a:t>kann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25" dirty="0">
                <a:latin typeface="Arial"/>
                <a:cs typeface="Arial"/>
              </a:rPr>
              <a:t>mitunter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spc="-95" dirty="0">
                <a:latin typeface="Arial"/>
                <a:cs typeface="Arial"/>
              </a:rPr>
              <a:t>sehr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50" dirty="0">
                <a:latin typeface="Arial"/>
                <a:cs typeface="Arial"/>
              </a:rPr>
              <a:t>teuer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spc="-20" dirty="0">
                <a:latin typeface="Arial"/>
                <a:cs typeface="Arial"/>
              </a:rPr>
              <a:t>sein</a:t>
            </a:r>
            <a:endParaRPr sz="1900">
              <a:latin typeface="Arial"/>
              <a:cs typeface="Arial"/>
            </a:endParaRPr>
          </a:p>
          <a:p>
            <a:pPr marL="355600">
              <a:lnSpc>
                <a:spcPts val="2185"/>
              </a:lnSpc>
            </a:pPr>
            <a:r>
              <a:rPr sz="1900" spc="-70" dirty="0">
                <a:latin typeface="Arial"/>
                <a:cs typeface="Arial"/>
              </a:rPr>
              <a:t>Prototypen</a:t>
            </a:r>
            <a:r>
              <a:rPr sz="1900" spc="-40" dirty="0">
                <a:latin typeface="Arial"/>
                <a:cs typeface="Arial"/>
              </a:rPr>
              <a:t> </a:t>
            </a:r>
            <a:r>
              <a:rPr sz="1900" spc="-100" dirty="0">
                <a:latin typeface="Arial"/>
                <a:cs typeface="Arial"/>
              </a:rPr>
              <a:t>können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-110" dirty="0">
                <a:latin typeface="Arial"/>
                <a:cs typeface="Arial"/>
              </a:rPr>
              <a:t>besonders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-50" dirty="0">
                <a:latin typeface="Arial"/>
                <a:cs typeface="Arial"/>
              </a:rPr>
              <a:t>im</a:t>
            </a:r>
            <a:r>
              <a:rPr sz="1900" spc="-75" dirty="0">
                <a:latin typeface="Arial"/>
                <a:cs typeface="Arial"/>
              </a:rPr>
              <a:t> </a:t>
            </a:r>
            <a:r>
              <a:rPr sz="1900" spc="-65" dirty="0">
                <a:latin typeface="Arial"/>
                <a:cs typeface="Arial"/>
              </a:rPr>
              <a:t>eingebetteten</a:t>
            </a:r>
            <a:r>
              <a:rPr sz="1900" spc="-5" dirty="0">
                <a:latin typeface="Arial"/>
                <a:cs typeface="Arial"/>
              </a:rPr>
              <a:t> </a:t>
            </a:r>
            <a:r>
              <a:rPr sz="1900" spc="-114" dirty="0">
                <a:latin typeface="Arial"/>
                <a:cs typeface="Arial"/>
              </a:rPr>
              <a:t>Bereich</a:t>
            </a:r>
            <a:r>
              <a:rPr sz="1900" spc="-50" dirty="0">
                <a:latin typeface="Arial"/>
                <a:cs typeface="Arial"/>
              </a:rPr>
              <a:t> </a:t>
            </a:r>
            <a:r>
              <a:rPr sz="1900" spc="-45" dirty="0">
                <a:latin typeface="Arial"/>
                <a:cs typeface="Arial"/>
              </a:rPr>
              <a:t>teuer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-20" dirty="0">
                <a:latin typeface="Arial"/>
                <a:cs typeface="Arial"/>
              </a:rPr>
              <a:t>sein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5633"/>
            <a:ext cx="52832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5" dirty="0"/>
              <a:t>Spiralmodell</a:t>
            </a:r>
            <a:r>
              <a:rPr spc="-180" dirty="0"/>
              <a:t> </a:t>
            </a:r>
            <a:r>
              <a:rPr spc="-235" dirty="0"/>
              <a:t>nach</a:t>
            </a:r>
            <a:r>
              <a:rPr spc="-180" dirty="0"/>
              <a:t> Boehm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3560" y="1394460"/>
            <a:ext cx="5027676" cy="41285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7542" y="6004356"/>
            <a:ext cx="29121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Erstellt</a:t>
            </a:r>
            <a:r>
              <a:rPr sz="8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8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von</a:t>
            </a:r>
            <a:r>
              <a:rPr sz="800" u="sng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800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Conny</a:t>
            </a:r>
            <a:r>
              <a:rPr sz="8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800" u="sng" spc="-7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aus</a:t>
            </a:r>
            <a:r>
              <a:rPr sz="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8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der</a:t>
            </a:r>
            <a:r>
              <a:rPr sz="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deutschsprachigen</a:t>
            </a:r>
            <a:r>
              <a:rPr sz="800" u="sng" spc="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800" u="sng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Wikipedia,</a:t>
            </a:r>
            <a:r>
              <a:rPr sz="800" u="sng" spc="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800" u="sng" spc="-1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CC</a:t>
            </a:r>
            <a:r>
              <a:rPr sz="8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800" u="sng" spc="-9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BY-</a:t>
            </a:r>
            <a:r>
              <a:rPr sz="800" u="sng" spc="-1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SA</a:t>
            </a:r>
            <a:r>
              <a:rPr sz="8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8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3.0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Inkrementelle</a:t>
            </a:r>
            <a:r>
              <a:rPr spc="-180" dirty="0"/>
              <a:t> </a:t>
            </a:r>
            <a:r>
              <a:rPr spc="-140" dirty="0"/>
              <a:t>Entwicklung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5975400"/>
            <a:ext cx="20878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Ian</a:t>
            </a:r>
            <a:r>
              <a:rPr sz="800" u="sng" spc="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Sommerville,</a:t>
            </a:r>
            <a:r>
              <a:rPr sz="800" u="sng" spc="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Software-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Engineering,</a:t>
            </a:r>
            <a:r>
              <a:rPr sz="800" u="sng" spc="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Chapter</a:t>
            </a:r>
            <a:r>
              <a:rPr sz="800" u="sng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2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2989" y="2117332"/>
            <a:ext cx="7489825" cy="3463925"/>
            <a:chOff x="832989" y="2117332"/>
            <a:chExt cx="7489825" cy="3463925"/>
          </a:xfrm>
        </p:grpSpPr>
        <p:sp>
          <p:nvSpPr>
            <p:cNvPr id="5" name="object 5"/>
            <p:cNvSpPr/>
            <p:nvPr/>
          </p:nvSpPr>
          <p:spPr>
            <a:xfrm>
              <a:off x="5404111" y="4037111"/>
              <a:ext cx="747395" cy="0"/>
            </a:xfrm>
            <a:custGeom>
              <a:avLst/>
              <a:gdLst/>
              <a:ahLst/>
              <a:cxnLst/>
              <a:rect l="l" t="t" r="r" b="b"/>
              <a:pathLst>
                <a:path w="747395">
                  <a:moveTo>
                    <a:pt x="0" y="0"/>
                  </a:moveTo>
                  <a:lnTo>
                    <a:pt x="746841" y="0"/>
                  </a:lnTo>
                </a:path>
              </a:pathLst>
            </a:custGeom>
            <a:ln w="11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3591" y="3985524"/>
              <a:ext cx="170485" cy="1031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4111" y="2900458"/>
              <a:ext cx="747395" cy="0"/>
            </a:xfrm>
            <a:custGeom>
              <a:avLst/>
              <a:gdLst/>
              <a:ahLst/>
              <a:cxnLst/>
              <a:rect l="l" t="t" r="r" b="b"/>
              <a:pathLst>
                <a:path w="747395">
                  <a:moveTo>
                    <a:pt x="0" y="0"/>
                  </a:moveTo>
                  <a:lnTo>
                    <a:pt x="746841" y="0"/>
                  </a:lnTo>
                </a:path>
              </a:pathLst>
            </a:custGeom>
            <a:ln w="11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3591" y="2848897"/>
              <a:ext cx="170485" cy="10312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96909" y="3712353"/>
              <a:ext cx="760730" cy="0"/>
            </a:xfrm>
            <a:custGeom>
              <a:avLst/>
              <a:gdLst/>
              <a:ahLst/>
              <a:cxnLst/>
              <a:rect l="l" t="t" r="r" b="b"/>
              <a:pathLst>
                <a:path w="760729">
                  <a:moveTo>
                    <a:pt x="0" y="0"/>
                  </a:moveTo>
                  <a:lnTo>
                    <a:pt x="760114" y="0"/>
                  </a:lnTo>
                </a:path>
              </a:pathLst>
            </a:custGeom>
            <a:ln w="11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67059" y="3660766"/>
              <a:ext cx="170486" cy="1050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96909" y="2575598"/>
              <a:ext cx="760730" cy="0"/>
            </a:xfrm>
            <a:custGeom>
              <a:avLst/>
              <a:gdLst/>
              <a:ahLst/>
              <a:cxnLst/>
              <a:rect l="l" t="t" r="r" b="b"/>
              <a:pathLst>
                <a:path w="760729">
                  <a:moveTo>
                    <a:pt x="0" y="0"/>
                  </a:moveTo>
                  <a:lnTo>
                    <a:pt x="760114" y="0"/>
                  </a:lnTo>
                </a:path>
              </a:pathLst>
            </a:custGeom>
            <a:ln w="11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67059" y="2524037"/>
              <a:ext cx="170485" cy="10312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96909" y="5013294"/>
              <a:ext cx="760730" cy="0"/>
            </a:xfrm>
            <a:custGeom>
              <a:avLst/>
              <a:gdLst/>
              <a:ahLst/>
              <a:cxnLst/>
              <a:rect l="l" t="t" r="r" b="b"/>
              <a:pathLst>
                <a:path w="760729">
                  <a:moveTo>
                    <a:pt x="0" y="0"/>
                  </a:moveTo>
                  <a:lnTo>
                    <a:pt x="760114" y="0"/>
                  </a:lnTo>
                </a:path>
              </a:pathLst>
            </a:custGeom>
            <a:ln w="11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7059" y="4961733"/>
              <a:ext cx="170485" cy="10314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25216" y="2117343"/>
              <a:ext cx="5197475" cy="3463925"/>
            </a:xfrm>
            <a:custGeom>
              <a:avLst/>
              <a:gdLst/>
              <a:ahLst/>
              <a:cxnLst/>
              <a:rect l="l" t="t" r="r" b="b"/>
              <a:pathLst>
                <a:path w="5197475" h="3463925">
                  <a:moveTo>
                    <a:pt x="2171687" y="51422"/>
                  </a:moveTo>
                  <a:lnTo>
                    <a:pt x="0" y="51422"/>
                  </a:lnTo>
                  <a:lnTo>
                    <a:pt x="0" y="3463340"/>
                  </a:lnTo>
                  <a:lnTo>
                    <a:pt x="2171687" y="3463340"/>
                  </a:lnTo>
                  <a:lnTo>
                    <a:pt x="2171687" y="51422"/>
                  </a:lnTo>
                  <a:close/>
                </a:path>
                <a:path w="5197475" h="3463925">
                  <a:moveTo>
                    <a:pt x="5197335" y="0"/>
                  </a:moveTo>
                  <a:lnTo>
                    <a:pt x="3025737" y="0"/>
                  </a:lnTo>
                  <a:lnTo>
                    <a:pt x="3025737" y="3411766"/>
                  </a:lnTo>
                  <a:lnTo>
                    <a:pt x="5197335" y="3411766"/>
                  </a:lnTo>
                  <a:lnTo>
                    <a:pt x="5197335" y="0"/>
                  </a:lnTo>
                  <a:close/>
                </a:path>
              </a:pathLst>
            </a:custGeom>
            <a:solidFill>
              <a:srgbClr val="CCE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12888" y="4717203"/>
              <a:ext cx="1630045" cy="649605"/>
            </a:xfrm>
            <a:custGeom>
              <a:avLst/>
              <a:gdLst/>
              <a:ahLst/>
              <a:cxnLst/>
              <a:rect l="l" t="t" r="r" b="b"/>
              <a:pathLst>
                <a:path w="1630045" h="649604">
                  <a:moveTo>
                    <a:pt x="1629728" y="0"/>
                  </a:moveTo>
                  <a:lnTo>
                    <a:pt x="0" y="0"/>
                  </a:lnTo>
                  <a:lnTo>
                    <a:pt x="0" y="649515"/>
                  </a:lnTo>
                  <a:lnTo>
                    <a:pt x="1629728" y="649515"/>
                  </a:lnTo>
                  <a:lnTo>
                    <a:pt x="1629728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12888" y="4717203"/>
              <a:ext cx="1630045" cy="649605"/>
            </a:xfrm>
            <a:custGeom>
              <a:avLst/>
              <a:gdLst/>
              <a:ahLst/>
              <a:cxnLst/>
              <a:rect l="l" t="t" r="r" b="b"/>
              <a:pathLst>
                <a:path w="1630045" h="649604">
                  <a:moveTo>
                    <a:pt x="0" y="649515"/>
                  </a:moveTo>
                  <a:lnTo>
                    <a:pt x="1629728" y="649515"/>
                  </a:lnTo>
                  <a:lnTo>
                    <a:pt x="1629728" y="0"/>
                  </a:lnTo>
                  <a:lnTo>
                    <a:pt x="0" y="0"/>
                  </a:lnTo>
                  <a:lnTo>
                    <a:pt x="0" y="649515"/>
                  </a:lnTo>
                  <a:close/>
                </a:path>
              </a:pathLst>
            </a:custGeom>
            <a:ln w="22932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76388" y="2443974"/>
              <a:ext cx="1630045" cy="649605"/>
            </a:xfrm>
            <a:custGeom>
              <a:avLst/>
              <a:gdLst/>
              <a:ahLst/>
              <a:cxnLst/>
              <a:rect l="l" t="t" r="r" b="b"/>
              <a:pathLst>
                <a:path w="1630045" h="649605">
                  <a:moveTo>
                    <a:pt x="1629728" y="0"/>
                  </a:moveTo>
                  <a:lnTo>
                    <a:pt x="0" y="0"/>
                  </a:lnTo>
                  <a:lnTo>
                    <a:pt x="0" y="649439"/>
                  </a:lnTo>
                  <a:lnTo>
                    <a:pt x="1629728" y="649439"/>
                  </a:lnTo>
                  <a:lnTo>
                    <a:pt x="1629728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76388" y="2443974"/>
              <a:ext cx="1630045" cy="649605"/>
            </a:xfrm>
            <a:custGeom>
              <a:avLst/>
              <a:gdLst/>
              <a:ahLst/>
              <a:cxnLst/>
              <a:rect l="l" t="t" r="r" b="b"/>
              <a:pathLst>
                <a:path w="1630045" h="649605">
                  <a:moveTo>
                    <a:pt x="0" y="649439"/>
                  </a:moveTo>
                  <a:lnTo>
                    <a:pt x="1629728" y="649439"/>
                  </a:lnTo>
                  <a:lnTo>
                    <a:pt x="1629728" y="0"/>
                  </a:lnTo>
                  <a:lnTo>
                    <a:pt x="0" y="0"/>
                  </a:lnTo>
                  <a:lnTo>
                    <a:pt x="0" y="649439"/>
                  </a:lnTo>
                  <a:close/>
                </a:path>
              </a:pathLst>
            </a:custGeom>
            <a:ln w="22932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84976" y="3496475"/>
              <a:ext cx="1886208" cy="90743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16751" y="2401957"/>
              <a:ext cx="1723363" cy="30201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440144" y="4644619"/>
              <a:ext cx="1630045" cy="649605"/>
            </a:xfrm>
            <a:custGeom>
              <a:avLst/>
              <a:gdLst/>
              <a:ahLst/>
              <a:cxnLst/>
              <a:rect l="l" t="t" r="r" b="b"/>
              <a:pathLst>
                <a:path w="1630045" h="649604">
                  <a:moveTo>
                    <a:pt x="1629728" y="0"/>
                  </a:moveTo>
                  <a:lnTo>
                    <a:pt x="0" y="0"/>
                  </a:lnTo>
                  <a:lnTo>
                    <a:pt x="0" y="649515"/>
                  </a:lnTo>
                  <a:lnTo>
                    <a:pt x="1629728" y="649515"/>
                  </a:lnTo>
                  <a:lnTo>
                    <a:pt x="1629728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40144" y="4644619"/>
              <a:ext cx="1630045" cy="649605"/>
            </a:xfrm>
            <a:custGeom>
              <a:avLst/>
              <a:gdLst/>
              <a:ahLst/>
              <a:cxnLst/>
              <a:rect l="l" t="t" r="r" b="b"/>
              <a:pathLst>
                <a:path w="1630045" h="649604">
                  <a:moveTo>
                    <a:pt x="0" y="649515"/>
                  </a:moveTo>
                  <a:lnTo>
                    <a:pt x="1629728" y="649515"/>
                  </a:lnTo>
                  <a:lnTo>
                    <a:pt x="1629728" y="0"/>
                  </a:lnTo>
                  <a:lnTo>
                    <a:pt x="0" y="0"/>
                  </a:lnTo>
                  <a:lnTo>
                    <a:pt x="0" y="649515"/>
                  </a:lnTo>
                  <a:close/>
                </a:path>
              </a:pathLst>
            </a:custGeom>
            <a:ln w="22932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56812" y="4736298"/>
              <a:ext cx="120474" cy="1566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04087" y="4785969"/>
              <a:ext cx="92142" cy="10697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19202" y="4784059"/>
              <a:ext cx="84230" cy="11079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430232" y="4730569"/>
              <a:ext cx="23495" cy="162560"/>
            </a:xfrm>
            <a:custGeom>
              <a:avLst/>
              <a:gdLst/>
              <a:ahLst/>
              <a:cxnLst/>
              <a:rect l="l" t="t" r="r" b="b"/>
              <a:pathLst>
                <a:path w="23495" h="162560">
                  <a:moveTo>
                    <a:pt x="22971" y="0"/>
                  </a:moveTo>
                  <a:lnTo>
                    <a:pt x="11485" y="1909"/>
                  </a:lnTo>
                  <a:lnTo>
                    <a:pt x="9444" y="3818"/>
                  </a:lnTo>
                  <a:lnTo>
                    <a:pt x="0" y="3818"/>
                  </a:lnTo>
                  <a:lnTo>
                    <a:pt x="1032" y="26120"/>
                  </a:lnTo>
                  <a:lnTo>
                    <a:pt x="1563" y="47045"/>
                  </a:lnTo>
                  <a:lnTo>
                    <a:pt x="1786" y="89794"/>
                  </a:lnTo>
                  <a:lnTo>
                    <a:pt x="1507" y="115079"/>
                  </a:lnTo>
                  <a:lnTo>
                    <a:pt x="0" y="160469"/>
                  </a:lnTo>
                  <a:lnTo>
                    <a:pt x="1786" y="162378"/>
                  </a:lnTo>
                  <a:lnTo>
                    <a:pt x="22971" y="162378"/>
                  </a:lnTo>
                  <a:lnTo>
                    <a:pt x="22971" y="160469"/>
                  </a:lnTo>
                  <a:lnTo>
                    <a:pt x="22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30466" y="5013294"/>
              <a:ext cx="193358" cy="11079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44871" y="4965558"/>
              <a:ext cx="183775" cy="15853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50039" y="5013294"/>
              <a:ext cx="101124" cy="11079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72348" y="5015204"/>
              <a:ext cx="93674" cy="10697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2989" y="3538508"/>
              <a:ext cx="2265424" cy="74505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403644" y="2371415"/>
              <a:ext cx="1630045" cy="649605"/>
            </a:xfrm>
            <a:custGeom>
              <a:avLst/>
              <a:gdLst/>
              <a:ahLst/>
              <a:cxnLst/>
              <a:rect l="l" t="t" r="r" b="b"/>
              <a:pathLst>
                <a:path w="1630045" h="649605">
                  <a:moveTo>
                    <a:pt x="1629728" y="0"/>
                  </a:moveTo>
                  <a:lnTo>
                    <a:pt x="0" y="0"/>
                  </a:lnTo>
                  <a:lnTo>
                    <a:pt x="0" y="649464"/>
                  </a:lnTo>
                  <a:lnTo>
                    <a:pt x="1629728" y="649464"/>
                  </a:lnTo>
                  <a:lnTo>
                    <a:pt x="1629728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03644" y="2371415"/>
              <a:ext cx="1630045" cy="649605"/>
            </a:xfrm>
            <a:custGeom>
              <a:avLst/>
              <a:gdLst/>
              <a:ahLst/>
              <a:cxnLst/>
              <a:rect l="l" t="t" r="r" b="b"/>
              <a:pathLst>
                <a:path w="1630045" h="649605">
                  <a:moveTo>
                    <a:pt x="0" y="649464"/>
                  </a:moveTo>
                  <a:lnTo>
                    <a:pt x="1629728" y="649464"/>
                  </a:lnTo>
                  <a:lnTo>
                    <a:pt x="1629728" y="0"/>
                  </a:lnTo>
                  <a:lnTo>
                    <a:pt x="0" y="0"/>
                  </a:lnTo>
                  <a:lnTo>
                    <a:pt x="0" y="649464"/>
                  </a:lnTo>
                  <a:close/>
                </a:path>
              </a:pathLst>
            </a:custGeom>
            <a:ln w="22932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84067" y="2474525"/>
              <a:ext cx="27305" cy="143510"/>
            </a:xfrm>
            <a:custGeom>
              <a:avLst/>
              <a:gdLst/>
              <a:ahLst/>
              <a:cxnLst/>
              <a:rect l="l" t="t" r="r" b="b"/>
              <a:pathLst>
                <a:path w="27304" h="143510">
                  <a:moveTo>
                    <a:pt x="24758" y="0"/>
                  </a:moveTo>
                  <a:lnTo>
                    <a:pt x="1786" y="0"/>
                  </a:lnTo>
                  <a:lnTo>
                    <a:pt x="0" y="1782"/>
                  </a:lnTo>
                  <a:lnTo>
                    <a:pt x="1032" y="24695"/>
                  </a:lnTo>
                  <a:lnTo>
                    <a:pt x="1563" y="47608"/>
                  </a:lnTo>
                  <a:lnTo>
                    <a:pt x="1758" y="70522"/>
                  </a:lnTo>
                  <a:lnTo>
                    <a:pt x="1786" y="143080"/>
                  </a:lnTo>
                  <a:lnTo>
                    <a:pt x="24758" y="143080"/>
                  </a:lnTo>
                  <a:lnTo>
                    <a:pt x="26800" y="141298"/>
                  </a:lnTo>
                  <a:lnTo>
                    <a:pt x="25620" y="126930"/>
                  </a:lnTo>
                  <a:lnTo>
                    <a:pt x="25013" y="110938"/>
                  </a:lnTo>
                  <a:lnTo>
                    <a:pt x="24790" y="91032"/>
                  </a:lnTo>
                  <a:lnTo>
                    <a:pt x="247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37668" y="2510677"/>
              <a:ext cx="93674" cy="10692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56357" y="2461032"/>
              <a:ext cx="141660" cy="15861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319202" y="2510677"/>
              <a:ext cx="84230" cy="10896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430232" y="2457213"/>
              <a:ext cx="24765" cy="160655"/>
            </a:xfrm>
            <a:custGeom>
              <a:avLst/>
              <a:gdLst/>
              <a:ahLst/>
              <a:cxnLst/>
              <a:rect l="l" t="t" r="r" b="b"/>
              <a:pathLst>
                <a:path w="24765" h="160655">
                  <a:moveTo>
                    <a:pt x="22971" y="0"/>
                  </a:moveTo>
                  <a:lnTo>
                    <a:pt x="11485" y="2036"/>
                  </a:lnTo>
                  <a:lnTo>
                    <a:pt x="9444" y="2036"/>
                  </a:lnTo>
                  <a:lnTo>
                    <a:pt x="0" y="3818"/>
                  </a:lnTo>
                  <a:lnTo>
                    <a:pt x="1032" y="24464"/>
                  </a:lnTo>
                  <a:lnTo>
                    <a:pt x="1563" y="45826"/>
                  </a:lnTo>
                  <a:lnTo>
                    <a:pt x="1758" y="67188"/>
                  </a:lnTo>
                  <a:lnTo>
                    <a:pt x="1786" y="87834"/>
                  </a:lnTo>
                  <a:lnTo>
                    <a:pt x="1567" y="108344"/>
                  </a:lnTo>
                  <a:lnTo>
                    <a:pt x="1507" y="113993"/>
                  </a:lnTo>
                  <a:lnTo>
                    <a:pt x="893" y="133470"/>
                  </a:lnTo>
                  <a:lnTo>
                    <a:pt x="279" y="148268"/>
                  </a:lnTo>
                  <a:lnTo>
                    <a:pt x="41" y="158610"/>
                  </a:lnTo>
                  <a:lnTo>
                    <a:pt x="0" y="160393"/>
                  </a:lnTo>
                  <a:lnTo>
                    <a:pt x="22971" y="160393"/>
                  </a:lnTo>
                  <a:lnTo>
                    <a:pt x="24758" y="158610"/>
                  </a:lnTo>
                  <a:lnTo>
                    <a:pt x="23725" y="144497"/>
                  </a:lnTo>
                  <a:lnTo>
                    <a:pt x="23195" y="128760"/>
                  </a:lnTo>
                  <a:lnTo>
                    <a:pt x="23053" y="113993"/>
                  </a:lnTo>
                  <a:lnTo>
                    <a:pt x="22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93967" y="2740065"/>
              <a:ext cx="194327" cy="10871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08371" y="2690420"/>
              <a:ext cx="184030" cy="15835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313571" y="2740065"/>
              <a:ext cx="101347" cy="10871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35848" y="2740065"/>
              <a:ext cx="93929" cy="106928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3680709" y="1599492"/>
            <a:ext cx="991869" cy="149225"/>
            <a:chOff x="3680709" y="1599492"/>
            <a:chExt cx="991869" cy="149225"/>
          </a:xfrm>
        </p:grpSpPr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680709" y="1599492"/>
              <a:ext cx="225890" cy="14893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29571" y="1637680"/>
              <a:ext cx="91887" cy="10692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44430" y="1635898"/>
              <a:ext cx="189645" cy="11074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60877" y="1635898"/>
              <a:ext cx="224103" cy="11074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504124" y="1607129"/>
              <a:ext cx="168460" cy="137479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3793526" y="1817168"/>
            <a:ext cx="758825" cy="158750"/>
            <a:chOff x="3793526" y="1817168"/>
            <a:chExt cx="758825" cy="158750"/>
          </a:xfrm>
        </p:grpSpPr>
        <p:pic>
          <p:nvPicPr>
            <p:cNvPr id="51" name="object 5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793526" y="1865031"/>
              <a:ext cx="86272" cy="11074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902770" y="1817168"/>
              <a:ext cx="442336" cy="15861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368079" y="1865031"/>
              <a:ext cx="183775" cy="110747"/>
            </a:xfrm>
            <a:prstGeom prst="rect">
              <a:avLst/>
            </a:prstGeom>
          </p:spPr>
        </p:pic>
      </p:grp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Inkrementelle</a:t>
            </a:r>
            <a:r>
              <a:rPr spc="-180" dirty="0"/>
              <a:t> </a:t>
            </a:r>
            <a:r>
              <a:rPr spc="-140" dirty="0"/>
              <a:t>Entwicklung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542" y="1266189"/>
            <a:ext cx="7559040" cy="4328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85" dirty="0">
                <a:latin typeface="Arial"/>
                <a:cs typeface="Arial"/>
              </a:rPr>
              <a:t>Spezifikation,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Entwicklung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und</a:t>
            </a:r>
            <a:r>
              <a:rPr sz="2000" spc="-85" dirty="0">
                <a:latin typeface="Arial"/>
                <a:cs typeface="Arial"/>
              </a:rPr>
              <a:t> Validierung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werden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b="1" spc="-110" dirty="0">
                <a:latin typeface="Arial"/>
                <a:cs typeface="Arial"/>
              </a:rPr>
              <a:t>parallel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ausgeführt</a:t>
            </a:r>
            <a:endParaRPr sz="2000">
              <a:latin typeface="Arial"/>
              <a:cs typeface="Arial"/>
            </a:endParaRPr>
          </a:p>
          <a:p>
            <a:pPr marL="697865" indent="-227965">
              <a:lnSpc>
                <a:spcPts val="2160"/>
              </a:lnSpc>
              <a:spcBef>
                <a:spcPts val="2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697865" algn="l"/>
              </a:tabLst>
            </a:pPr>
            <a:r>
              <a:rPr sz="2000" spc="-130" dirty="0">
                <a:latin typeface="Arial"/>
                <a:cs typeface="Arial"/>
              </a:rPr>
              <a:t>Zwischen</a:t>
            </a:r>
            <a:r>
              <a:rPr sz="2000" spc="-85" dirty="0">
                <a:latin typeface="Arial"/>
                <a:cs typeface="Arial"/>
              </a:rPr>
              <a:t> den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einzelnen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Aktivitäten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werden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Rückmeldungen</a:t>
            </a:r>
            <a:endParaRPr sz="2000">
              <a:latin typeface="Arial"/>
              <a:cs typeface="Arial"/>
            </a:endParaRPr>
          </a:p>
          <a:p>
            <a:pPr marL="697865">
              <a:lnSpc>
                <a:spcPts val="2160"/>
              </a:lnSpc>
            </a:pPr>
            <a:r>
              <a:rPr sz="2000" spc="-105" dirty="0">
                <a:latin typeface="Arial"/>
                <a:cs typeface="Arial"/>
              </a:rPr>
              <a:t>ausgetauscht,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um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Fehler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früh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zu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beheben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2000">
              <a:latin typeface="Arial"/>
              <a:cs typeface="Arial"/>
            </a:endParaRPr>
          </a:p>
          <a:p>
            <a:pPr marL="12700" marR="807720">
              <a:lnSpc>
                <a:spcPts val="1920"/>
              </a:lnSpc>
            </a:pPr>
            <a:r>
              <a:rPr sz="2000" spc="-110" dirty="0">
                <a:latin typeface="Arial"/>
                <a:cs typeface="Arial"/>
              </a:rPr>
              <a:t>Durch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frühe </a:t>
            </a:r>
            <a:r>
              <a:rPr sz="2000" spc="-65" dirty="0">
                <a:latin typeface="Arial"/>
                <a:cs typeface="Arial"/>
              </a:rPr>
              <a:t>Prototypen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(Anfangsimplementierung)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können </a:t>
            </a:r>
            <a:r>
              <a:rPr sz="2000" spc="-125" dirty="0">
                <a:latin typeface="Arial"/>
                <a:cs typeface="Arial"/>
              </a:rPr>
              <a:t>Kundenwünsche</a:t>
            </a:r>
            <a:r>
              <a:rPr sz="2000" spc="-85" dirty="0">
                <a:latin typeface="Arial"/>
                <a:cs typeface="Arial"/>
              </a:rPr>
              <a:t> während</a:t>
            </a:r>
            <a:r>
              <a:rPr sz="2000" spc="-55" dirty="0">
                <a:latin typeface="Arial"/>
                <a:cs typeface="Arial"/>
              </a:rPr>
              <a:t> der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Entwicklung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berücksichtigt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werden</a:t>
            </a:r>
            <a:endParaRPr sz="2000">
              <a:latin typeface="Arial"/>
              <a:cs typeface="Arial"/>
            </a:endParaRPr>
          </a:p>
          <a:p>
            <a:pPr marL="697865" indent="-227965">
              <a:lnSpc>
                <a:spcPct val="100000"/>
              </a:lnSpc>
              <a:spcBef>
                <a:spcPts val="2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697865" algn="l"/>
              </a:tabLst>
            </a:pPr>
            <a:r>
              <a:rPr sz="2000" spc="-170" dirty="0">
                <a:latin typeface="Arial"/>
                <a:cs typeface="Arial"/>
              </a:rPr>
              <a:t>Bis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zur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finalen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Version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werden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mehrere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Zwischenversionen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erstellt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i="1" spc="-114" dirty="0">
                <a:latin typeface="Arial"/>
                <a:cs typeface="Arial"/>
              </a:rPr>
              <a:t>Probleme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spc="-85" dirty="0">
                <a:latin typeface="Arial"/>
                <a:cs typeface="Arial"/>
              </a:rPr>
              <a:t>der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i="1" spc="-80" dirty="0">
                <a:latin typeface="Arial"/>
                <a:cs typeface="Arial"/>
              </a:rPr>
              <a:t>Inkrementellen</a:t>
            </a:r>
            <a:r>
              <a:rPr sz="2000" i="1" spc="-9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Entwicklung</a:t>
            </a:r>
            <a:endParaRPr sz="2000">
              <a:latin typeface="Arial"/>
              <a:cs typeface="Arial"/>
            </a:endParaRPr>
          </a:p>
          <a:p>
            <a:pPr marL="355600" marR="92075">
              <a:lnSpc>
                <a:spcPct val="80000"/>
              </a:lnSpc>
              <a:spcBef>
                <a:spcPts val="505"/>
              </a:spcBef>
            </a:pPr>
            <a:r>
              <a:rPr sz="2000" spc="-90" dirty="0">
                <a:latin typeface="Arial"/>
                <a:cs typeface="Arial"/>
              </a:rPr>
              <a:t>Bürokratische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Umgebungen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harmonieren </a:t>
            </a:r>
            <a:r>
              <a:rPr sz="2000" spc="-40" dirty="0">
                <a:latin typeface="Arial"/>
                <a:cs typeface="Arial"/>
              </a:rPr>
              <a:t>nicht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gut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informelleren </a:t>
            </a:r>
            <a:r>
              <a:rPr sz="2000" spc="-165" dirty="0">
                <a:latin typeface="Arial"/>
                <a:cs typeface="Arial"/>
              </a:rPr>
              <a:t>Prozessen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(z.B.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sicherheitskritische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Software)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0"/>
              </a:spcBef>
            </a:pPr>
            <a:r>
              <a:rPr sz="2000" spc="-110" dirty="0">
                <a:latin typeface="Arial"/>
                <a:cs typeface="Arial"/>
              </a:rPr>
              <a:t>Der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Gesamtfortschritt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ist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nicht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anhand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eines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starren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Planes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messbar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000">
              <a:latin typeface="Arial"/>
              <a:cs typeface="Arial"/>
            </a:endParaRPr>
          </a:p>
          <a:p>
            <a:pPr marL="476884">
              <a:lnSpc>
                <a:spcPct val="100000"/>
              </a:lnSpc>
            </a:pPr>
            <a:r>
              <a:rPr sz="2000" spc="-60" dirty="0">
                <a:latin typeface="Arial"/>
                <a:cs typeface="Arial"/>
              </a:rPr>
              <a:t>Inkrementelle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Entwicklung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ist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das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Fundament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b="1" spc="-125" dirty="0">
                <a:latin typeface="Arial"/>
                <a:cs typeface="Arial"/>
              </a:rPr>
              <a:t>agiler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45" dirty="0">
                <a:latin typeface="Arial"/>
                <a:cs typeface="Arial"/>
              </a:rPr>
              <a:t>Entwicklung</a:t>
            </a:r>
            <a:r>
              <a:rPr sz="2000" spc="-45" dirty="0">
                <a:latin typeface="Arial"/>
                <a:cs typeface="Arial"/>
              </a:rPr>
              <a:t>!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62618"/>
            <a:ext cx="7236078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0" dirty="0"/>
              <a:t>Wozu</a:t>
            </a:r>
            <a:r>
              <a:rPr spc="-180" dirty="0"/>
              <a:t> </a:t>
            </a:r>
            <a:r>
              <a:rPr spc="-185" dirty="0"/>
              <a:t>agile</a:t>
            </a:r>
            <a:r>
              <a:rPr spc="-180" dirty="0"/>
              <a:t> </a:t>
            </a:r>
            <a:r>
              <a:rPr spc="-220" dirty="0"/>
              <a:t>Entwicklungsprozesse?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1228" y="5212841"/>
            <a:ext cx="6242050" cy="6286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244090" marR="5080" indent="-2232025">
              <a:lnSpc>
                <a:spcPct val="80000"/>
              </a:lnSpc>
              <a:spcBef>
                <a:spcPts val="625"/>
              </a:spcBef>
            </a:pPr>
            <a:r>
              <a:rPr sz="2200" spc="-100" dirty="0">
                <a:latin typeface="Arial"/>
                <a:cs typeface="Arial"/>
              </a:rPr>
              <a:t>Agile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30" dirty="0">
                <a:latin typeface="Arial"/>
                <a:cs typeface="Arial"/>
              </a:rPr>
              <a:t>Entwicklungsprozesse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ermöglichen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b="1" spc="-135" dirty="0">
                <a:latin typeface="Arial"/>
                <a:cs typeface="Arial"/>
              </a:rPr>
              <a:t>veränderliche </a:t>
            </a:r>
            <a:r>
              <a:rPr sz="2200" b="1" spc="-100" dirty="0">
                <a:latin typeface="Arial"/>
                <a:cs typeface="Arial"/>
              </a:rPr>
              <a:t>Anforderungen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201" y="1312573"/>
            <a:ext cx="4557300" cy="367725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90" dirty="0"/>
              <a:t>Agile</a:t>
            </a:r>
            <a:r>
              <a:rPr spc="-185" dirty="0"/>
              <a:t> </a:t>
            </a:r>
            <a:r>
              <a:rPr spc="-215" dirty="0"/>
              <a:t>Entwicklungsprozesse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00710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5"/>
              </a:spcBef>
            </a:pPr>
            <a:r>
              <a:rPr spc="-90" dirty="0"/>
              <a:t>Agile</a:t>
            </a:r>
            <a:r>
              <a:rPr spc="-50" dirty="0"/>
              <a:t> </a:t>
            </a:r>
            <a:r>
              <a:rPr spc="-120" dirty="0"/>
              <a:t>Entwicklungsprozesse</a:t>
            </a:r>
            <a:r>
              <a:rPr spc="-45" dirty="0"/>
              <a:t> </a:t>
            </a:r>
            <a:r>
              <a:rPr spc="-100" dirty="0"/>
              <a:t>sind</a:t>
            </a:r>
            <a:r>
              <a:rPr spc="-45" dirty="0"/>
              <a:t> </a:t>
            </a:r>
            <a:r>
              <a:rPr spc="-55" dirty="0"/>
              <a:t>inkrementelle</a:t>
            </a:r>
            <a:r>
              <a:rPr spc="-5" dirty="0"/>
              <a:t> </a:t>
            </a:r>
            <a:r>
              <a:rPr spc="-114" dirty="0"/>
              <a:t>Entwicklungsprozesse</a:t>
            </a:r>
            <a:r>
              <a:rPr spc="-50" dirty="0"/>
              <a:t> </a:t>
            </a:r>
            <a:r>
              <a:rPr spc="-25" dirty="0"/>
              <a:t>mit</a:t>
            </a:r>
          </a:p>
          <a:p>
            <a:pPr marL="12700">
              <a:lnSpc>
                <a:spcPts val="2160"/>
              </a:lnSpc>
            </a:pPr>
            <a:r>
              <a:rPr b="1" spc="-165" dirty="0">
                <a:latin typeface="Arial"/>
                <a:cs typeface="Arial"/>
              </a:rPr>
              <a:t>sehr</a:t>
            </a:r>
            <a:r>
              <a:rPr b="1" spc="-100" dirty="0">
                <a:latin typeface="Arial"/>
                <a:cs typeface="Arial"/>
              </a:rPr>
              <a:t> </a:t>
            </a:r>
            <a:r>
              <a:rPr b="1" spc="-120" dirty="0">
                <a:latin typeface="Arial"/>
                <a:cs typeface="Arial"/>
              </a:rPr>
              <a:t>kleinen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spc="-120" dirty="0">
                <a:latin typeface="Arial"/>
                <a:cs typeface="Arial"/>
              </a:rPr>
              <a:t>Inkrementen</a:t>
            </a:r>
            <a:r>
              <a:rPr b="1" spc="-90" dirty="0">
                <a:latin typeface="Arial"/>
                <a:cs typeface="Arial"/>
              </a:rPr>
              <a:t> </a:t>
            </a:r>
            <a:r>
              <a:rPr spc="-70" dirty="0"/>
              <a:t>und</a:t>
            </a:r>
            <a:r>
              <a:rPr spc="-100" dirty="0"/>
              <a:t> </a:t>
            </a:r>
            <a:r>
              <a:rPr b="1" spc="-114" dirty="0">
                <a:latin typeface="Arial"/>
                <a:cs typeface="Arial"/>
              </a:rPr>
              <a:t>vielen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Prototypen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pc="-10" dirty="0"/>
          </a:p>
          <a:p>
            <a:pPr marL="240665" indent="-227965">
              <a:lnSpc>
                <a:spcPct val="100000"/>
              </a:lnSpc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pc="-45" dirty="0"/>
              <a:t>Weit</a:t>
            </a:r>
            <a:r>
              <a:rPr spc="-90" dirty="0"/>
              <a:t> </a:t>
            </a:r>
            <a:r>
              <a:rPr spc="-30" dirty="0"/>
              <a:t>verbreitet</a:t>
            </a:r>
            <a:r>
              <a:rPr spc="-35" dirty="0"/>
              <a:t> </a:t>
            </a:r>
            <a:r>
              <a:rPr spc="-70" dirty="0"/>
              <a:t>bei</a:t>
            </a:r>
            <a:r>
              <a:rPr spc="-75" dirty="0"/>
              <a:t> </a:t>
            </a:r>
            <a:r>
              <a:rPr spc="-50" dirty="0"/>
              <a:t>der</a:t>
            </a:r>
            <a:r>
              <a:rPr spc="-85" dirty="0"/>
              <a:t> </a:t>
            </a:r>
            <a:r>
              <a:rPr spc="-90" dirty="0"/>
              <a:t>Entwicklung </a:t>
            </a:r>
            <a:r>
              <a:rPr b="1" spc="-185" dirty="0">
                <a:latin typeface="Arial"/>
                <a:cs typeface="Arial"/>
              </a:rPr>
              <a:t>klassischer</a:t>
            </a:r>
            <a:r>
              <a:rPr b="1" spc="-10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Software</a:t>
            </a:r>
          </a:p>
          <a:p>
            <a:pPr marL="240665" indent="-227965">
              <a:lnSpc>
                <a:spcPct val="100000"/>
              </a:lnSpc>
              <a:spcBef>
                <a:spcPts val="51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i="1" spc="-114" dirty="0">
                <a:latin typeface="Arial"/>
                <a:cs typeface="Arial"/>
              </a:rPr>
              <a:t>Grundlegende</a:t>
            </a:r>
            <a:r>
              <a:rPr i="1" spc="-3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Prinzipien</a:t>
            </a: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pc="-114" dirty="0"/>
              <a:t>Einbeziehen</a:t>
            </a:r>
            <a:r>
              <a:rPr spc="-85" dirty="0"/>
              <a:t> </a:t>
            </a:r>
            <a:r>
              <a:rPr spc="-150" dirty="0"/>
              <a:t>des</a:t>
            </a:r>
            <a:r>
              <a:rPr spc="-75" dirty="0"/>
              <a:t> </a:t>
            </a:r>
            <a:r>
              <a:rPr spc="-120" dirty="0"/>
              <a:t>Kunden,</a:t>
            </a:r>
            <a:r>
              <a:rPr spc="-100" dirty="0"/>
              <a:t> </a:t>
            </a:r>
            <a:r>
              <a:rPr spc="-55" dirty="0"/>
              <a:t>inkrementelle</a:t>
            </a:r>
            <a:r>
              <a:rPr spc="-40" dirty="0"/>
              <a:t> </a:t>
            </a:r>
            <a:r>
              <a:rPr spc="-10" dirty="0"/>
              <a:t>Auslieferung</a:t>
            </a: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Gezielt</a:t>
            </a:r>
            <a:r>
              <a:rPr spc="-50" dirty="0"/>
              <a:t> </a:t>
            </a:r>
            <a:r>
              <a:rPr spc="-105" dirty="0"/>
              <a:t>Fähigkeiten</a:t>
            </a:r>
            <a:r>
              <a:rPr spc="-80" dirty="0"/>
              <a:t> </a:t>
            </a:r>
            <a:r>
              <a:rPr spc="-150" dirty="0"/>
              <a:t>des</a:t>
            </a:r>
            <a:r>
              <a:rPr spc="-70" dirty="0"/>
              <a:t> </a:t>
            </a:r>
            <a:r>
              <a:rPr spc="-210" dirty="0"/>
              <a:t>Teams</a:t>
            </a:r>
            <a:r>
              <a:rPr spc="-60" dirty="0"/>
              <a:t> </a:t>
            </a:r>
            <a:r>
              <a:rPr spc="-80" dirty="0"/>
              <a:t>nutzen</a:t>
            </a:r>
            <a:r>
              <a:rPr spc="-75" dirty="0"/>
              <a:t> </a:t>
            </a:r>
            <a:r>
              <a:rPr spc="-70" dirty="0"/>
              <a:t>(„Menschen</a:t>
            </a:r>
            <a:r>
              <a:rPr spc="-75" dirty="0"/>
              <a:t> </a:t>
            </a:r>
            <a:r>
              <a:rPr spc="-20" dirty="0"/>
              <a:t>statt</a:t>
            </a:r>
            <a:r>
              <a:rPr spc="-55" dirty="0"/>
              <a:t> </a:t>
            </a:r>
            <a:r>
              <a:rPr spc="-20" dirty="0"/>
              <a:t>Prozesse“)</a:t>
            </a:r>
          </a:p>
          <a:p>
            <a:pPr marL="355600">
              <a:lnSpc>
                <a:spcPct val="100000"/>
              </a:lnSpc>
              <a:spcBef>
                <a:spcPts val="20"/>
              </a:spcBef>
            </a:pPr>
            <a:r>
              <a:rPr spc="-75" dirty="0"/>
              <a:t>Offen</a:t>
            </a:r>
            <a:r>
              <a:rPr spc="-85" dirty="0"/>
              <a:t> </a:t>
            </a:r>
            <a:r>
              <a:rPr dirty="0"/>
              <a:t>für</a:t>
            </a:r>
            <a:r>
              <a:rPr spc="-85" dirty="0"/>
              <a:t> </a:t>
            </a:r>
            <a:r>
              <a:rPr spc="-100" dirty="0"/>
              <a:t>Änderungen</a:t>
            </a:r>
            <a:r>
              <a:rPr spc="-114" dirty="0"/>
              <a:t> </a:t>
            </a:r>
            <a:r>
              <a:rPr spc="-70" dirty="0"/>
              <a:t>und</a:t>
            </a:r>
            <a:r>
              <a:rPr spc="-95" dirty="0"/>
              <a:t> </a:t>
            </a:r>
            <a:r>
              <a:rPr spc="-85" dirty="0"/>
              <a:t>Einfachheit</a:t>
            </a:r>
            <a:r>
              <a:rPr spc="-90" dirty="0"/>
              <a:t> </a:t>
            </a:r>
            <a:r>
              <a:rPr spc="-150" dirty="0"/>
              <a:t>des</a:t>
            </a:r>
            <a:r>
              <a:rPr spc="-80" dirty="0"/>
              <a:t> </a:t>
            </a:r>
            <a:r>
              <a:rPr spc="-180" dirty="0"/>
              <a:t>Prozesses</a:t>
            </a:r>
            <a:r>
              <a:rPr spc="-55" dirty="0"/>
              <a:t> </a:t>
            </a:r>
            <a:r>
              <a:rPr spc="-70" dirty="0"/>
              <a:t>und</a:t>
            </a:r>
            <a:r>
              <a:rPr spc="-95" dirty="0"/>
              <a:t> </a:t>
            </a:r>
            <a:r>
              <a:rPr spc="-10" dirty="0"/>
              <a:t>Produkts</a:t>
            </a: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pc="-10" dirty="0"/>
          </a:p>
          <a:p>
            <a:pPr marR="8255" algn="r">
              <a:lnSpc>
                <a:spcPts val="1660"/>
              </a:lnSpc>
            </a:pPr>
            <a:r>
              <a:rPr sz="1500" spc="-60" dirty="0"/>
              <a:t>“</a:t>
            </a:r>
            <a:r>
              <a:rPr sz="1500" b="1" spc="-60" dirty="0">
                <a:latin typeface="Arial"/>
                <a:cs typeface="Arial"/>
              </a:rPr>
              <a:t>What's</a:t>
            </a:r>
            <a:r>
              <a:rPr sz="1500" b="1" spc="-50" dirty="0">
                <a:latin typeface="Arial"/>
                <a:cs typeface="Arial"/>
              </a:rPr>
              <a:t> </a:t>
            </a:r>
            <a:r>
              <a:rPr sz="1500" b="1" spc="-120" dirty="0">
                <a:latin typeface="Arial"/>
                <a:cs typeface="Arial"/>
              </a:rPr>
              <a:t>wrong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dirty="0"/>
              <a:t>with</a:t>
            </a:r>
            <a:r>
              <a:rPr sz="1500" spc="-40" dirty="0"/>
              <a:t> </a:t>
            </a:r>
            <a:r>
              <a:rPr sz="1500" spc="-20" dirty="0"/>
              <a:t>the</a:t>
            </a:r>
            <a:r>
              <a:rPr sz="1500" spc="-55" dirty="0"/>
              <a:t> </a:t>
            </a:r>
            <a:r>
              <a:rPr sz="1500" spc="-90" dirty="0"/>
              <a:t>analogy</a:t>
            </a:r>
            <a:r>
              <a:rPr sz="1500" spc="-100" dirty="0"/>
              <a:t> </a:t>
            </a:r>
            <a:r>
              <a:rPr sz="1500" spc="-60" dirty="0"/>
              <a:t>between</a:t>
            </a:r>
            <a:r>
              <a:rPr sz="1500" spc="-30" dirty="0"/>
              <a:t> </a:t>
            </a:r>
            <a:r>
              <a:rPr sz="1500" spc="-50" dirty="0"/>
              <a:t>software</a:t>
            </a:r>
            <a:r>
              <a:rPr sz="1500" spc="-55" dirty="0"/>
              <a:t> </a:t>
            </a:r>
            <a:r>
              <a:rPr sz="1500" spc="-85" dirty="0"/>
              <a:t>and</a:t>
            </a:r>
            <a:r>
              <a:rPr sz="1500" spc="-70" dirty="0"/>
              <a:t> </a:t>
            </a:r>
            <a:r>
              <a:rPr sz="1500" spc="-40" dirty="0"/>
              <a:t>building</a:t>
            </a:r>
            <a:r>
              <a:rPr sz="1500" spc="-75" dirty="0"/>
              <a:t> </a:t>
            </a:r>
            <a:r>
              <a:rPr sz="1500" spc="-10" dirty="0"/>
              <a:t>construction?”</a:t>
            </a:r>
            <a:endParaRPr sz="1500">
              <a:latin typeface="Arial"/>
              <a:cs typeface="Arial"/>
            </a:endParaRPr>
          </a:p>
          <a:p>
            <a:pPr marR="5080" algn="r">
              <a:lnSpc>
                <a:spcPts val="1300"/>
              </a:lnSpc>
            </a:pPr>
            <a:r>
              <a:rPr sz="1200" u="sng" spc="-9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Frage</a:t>
            </a:r>
            <a:r>
              <a:rPr sz="12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 </a:t>
            </a:r>
            <a:r>
              <a:rPr sz="1200" u="sng" spc="-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von</a:t>
            </a:r>
            <a:r>
              <a:rPr sz="12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 </a:t>
            </a:r>
            <a:r>
              <a:rPr sz="1200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oscarkuo</a:t>
            </a:r>
            <a:r>
              <a:rPr sz="12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 </a:t>
            </a:r>
            <a:r>
              <a:rPr sz="12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auf</a:t>
            </a:r>
            <a:r>
              <a:rPr sz="1200" u="sng" spc="-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StackOverflow.com</a:t>
            </a:r>
            <a:endParaRPr sz="1200"/>
          </a:p>
          <a:p>
            <a:pPr marR="5080" algn="r">
              <a:lnSpc>
                <a:spcPts val="1620"/>
              </a:lnSpc>
              <a:spcBef>
                <a:spcPts val="630"/>
              </a:spcBef>
            </a:pPr>
            <a:r>
              <a:rPr sz="1500" spc="-35" dirty="0"/>
              <a:t>„[Architect's</a:t>
            </a:r>
            <a:r>
              <a:rPr sz="1500" spc="-60" dirty="0"/>
              <a:t> </a:t>
            </a:r>
            <a:r>
              <a:rPr sz="1500" spc="-45" dirty="0"/>
              <a:t>clients] can't</a:t>
            </a:r>
            <a:r>
              <a:rPr sz="1500" spc="-75" dirty="0"/>
              <a:t> </a:t>
            </a:r>
            <a:r>
              <a:rPr sz="1500" spc="-70" dirty="0"/>
              <a:t>take</a:t>
            </a:r>
            <a:r>
              <a:rPr sz="1500" spc="-55" dirty="0"/>
              <a:t> </a:t>
            </a:r>
            <a:r>
              <a:rPr sz="1500" spc="-50" dirty="0"/>
              <a:t>delivery </a:t>
            </a:r>
            <a:r>
              <a:rPr sz="1500" dirty="0"/>
              <a:t>of</a:t>
            </a:r>
            <a:r>
              <a:rPr sz="1500" spc="-50" dirty="0"/>
              <a:t> </a:t>
            </a:r>
            <a:r>
              <a:rPr sz="1500" spc="-45" dirty="0"/>
              <a:t>your</a:t>
            </a:r>
            <a:r>
              <a:rPr sz="1500" spc="-50" dirty="0"/>
              <a:t> </a:t>
            </a:r>
            <a:r>
              <a:rPr sz="1500" b="1" spc="-105" dirty="0">
                <a:latin typeface="Arial"/>
                <a:cs typeface="Arial"/>
              </a:rPr>
              <a:t>finished</a:t>
            </a:r>
            <a:r>
              <a:rPr sz="1500" b="1" spc="-85" dirty="0">
                <a:latin typeface="Arial"/>
                <a:cs typeface="Arial"/>
              </a:rPr>
              <a:t> </a:t>
            </a:r>
            <a:r>
              <a:rPr sz="1500" spc="-60" dirty="0"/>
              <a:t>underground</a:t>
            </a:r>
            <a:r>
              <a:rPr sz="1500" spc="-90" dirty="0"/>
              <a:t> </a:t>
            </a:r>
            <a:r>
              <a:rPr sz="1500" spc="-75" dirty="0"/>
              <a:t>carpark </a:t>
            </a:r>
            <a:r>
              <a:rPr sz="1500" spc="-85" dirty="0"/>
              <a:t>and</a:t>
            </a:r>
            <a:r>
              <a:rPr sz="1500" spc="-65" dirty="0"/>
              <a:t> </a:t>
            </a:r>
            <a:r>
              <a:rPr sz="1500" spc="-125" dirty="0"/>
              <a:t>ask</a:t>
            </a:r>
            <a:r>
              <a:rPr sz="1500" spc="-50" dirty="0"/>
              <a:t> </a:t>
            </a:r>
            <a:r>
              <a:rPr sz="1500" spc="-65" dirty="0"/>
              <a:t>you</a:t>
            </a:r>
            <a:r>
              <a:rPr sz="1500" spc="-55" dirty="0"/>
              <a:t> </a:t>
            </a:r>
            <a:r>
              <a:rPr sz="1500" b="1" spc="-60" dirty="0">
                <a:latin typeface="Arial"/>
                <a:cs typeface="Arial"/>
              </a:rPr>
              <a:t>to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spc="-110" dirty="0">
                <a:latin typeface="Arial"/>
                <a:cs typeface="Arial"/>
              </a:rPr>
              <a:t>add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spc="-25" dirty="0"/>
              <a:t>an</a:t>
            </a:r>
            <a:endParaRPr sz="1500">
              <a:latin typeface="Arial"/>
              <a:cs typeface="Arial"/>
            </a:endParaRPr>
          </a:p>
          <a:p>
            <a:pPr marR="5715" algn="r">
              <a:lnSpc>
                <a:spcPts val="1480"/>
              </a:lnSpc>
            </a:pPr>
            <a:r>
              <a:rPr sz="1500" spc="-20" dirty="0"/>
              <a:t>airport</a:t>
            </a:r>
            <a:r>
              <a:rPr sz="1500" spc="-60" dirty="0"/>
              <a:t> </a:t>
            </a:r>
            <a:r>
              <a:rPr sz="1500" spc="-85" dirty="0"/>
              <a:t>(also</a:t>
            </a:r>
            <a:r>
              <a:rPr sz="1500" spc="-45" dirty="0"/>
              <a:t> </a:t>
            </a:r>
            <a:r>
              <a:rPr sz="1500" spc="-10" dirty="0"/>
              <a:t>underground)”</a:t>
            </a:r>
            <a:endParaRPr sz="1500"/>
          </a:p>
          <a:p>
            <a:pPr marR="5715" algn="r">
              <a:lnSpc>
                <a:spcPts val="1300"/>
              </a:lnSpc>
            </a:pPr>
            <a:r>
              <a:rPr sz="12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/>
              </a:rPr>
              <a:t>Antwort</a:t>
            </a:r>
            <a:r>
              <a:rPr sz="12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/>
              </a:rPr>
              <a:t> </a:t>
            </a:r>
            <a:r>
              <a:rPr sz="12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/>
              </a:rPr>
              <a:t>von</a:t>
            </a:r>
            <a:r>
              <a:rPr sz="12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/>
              </a:rPr>
              <a:t>Martin</a:t>
            </a:r>
            <a:r>
              <a:rPr sz="1200" u="sng" spc="-7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3"/>
              </a:rPr>
              <a:t>Beckett</a:t>
            </a:r>
            <a:endParaRPr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0" dirty="0"/>
              <a:t>Direktes</a:t>
            </a:r>
            <a:r>
              <a:rPr spc="-150" dirty="0"/>
              <a:t> </a:t>
            </a:r>
            <a:r>
              <a:rPr spc="-305" dirty="0"/>
              <a:t>Feedback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81429"/>
            <a:ext cx="731710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b="1" spc="-175" dirty="0">
                <a:latin typeface="Arial"/>
                <a:cs typeface="Arial"/>
              </a:rPr>
              <a:t>Annahme</a:t>
            </a:r>
            <a:r>
              <a:rPr sz="2400" spc="-175" dirty="0">
                <a:latin typeface="Arial"/>
                <a:cs typeface="Arial"/>
              </a:rPr>
              <a:t>: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Kunde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kennt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die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Anforderungen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selbst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noch </a:t>
            </a:r>
            <a:r>
              <a:rPr sz="2400" spc="-55" dirty="0">
                <a:latin typeface="Arial"/>
                <a:cs typeface="Arial"/>
              </a:rPr>
              <a:t>nicht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genau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180" y="2646783"/>
            <a:ext cx="3205244" cy="30300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7542" y="5975400"/>
            <a:ext cx="7575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Quelle:</a:t>
            </a:r>
            <a:r>
              <a:rPr sz="8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 </a:t>
            </a:r>
            <a:r>
              <a:rPr sz="8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Wikipedia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/>
              <a:t>Entwicklungsstile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66189"/>
            <a:ext cx="7509509" cy="4390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Arial"/>
                <a:cs typeface="Arial"/>
              </a:rPr>
              <a:t>Oft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wird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zwischen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b="1" spc="-135" dirty="0">
                <a:latin typeface="Arial"/>
                <a:cs typeface="Arial"/>
              </a:rPr>
              <a:t>plangesteuerten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und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b="1" spc="-140" dirty="0">
                <a:latin typeface="Arial"/>
                <a:cs typeface="Arial"/>
              </a:rPr>
              <a:t>agilen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spc="-170" dirty="0">
                <a:latin typeface="Arial"/>
                <a:cs typeface="Arial"/>
              </a:rPr>
              <a:t>Prozessen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unterschieden: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i="1" spc="-105" dirty="0">
                <a:latin typeface="Arial"/>
                <a:cs typeface="Arial"/>
              </a:rPr>
              <a:t>Plangesteuerte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spc="-70" dirty="0">
                <a:latin typeface="Arial"/>
                <a:cs typeface="Arial"/>
              </a:rPr>
              <a:t>Entwicklungsprozesse</a:t>
            </a:r>
            <a:endParaRPr sz="2000">
              <a:latin typeface="Arial"/>
              <a:cs typeface="Arial"/>
            </a:endParaRPr>
          </a:p>
          <a:p>
            <a:pPr marL="355600" marR="5080">
              <a:lnSpc>
                <a:spcPts val="2420"/>
              </a:lnSpc>
              <a:spcBef>
                <a:spcPts val="80"/>
              </a:spcBef>
            </a:pPr>
            <a:r>
              <a:rPr sz="2000" spc="-120" dirty="0">
                <a:latin typeface="Arial"/>
                <a:cs typeface="Arial"/>
              </a:rPr>
              <a:t>Die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Abfolge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der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Aktivitäten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und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deren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Ziele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b="1" spc="-114" dirty="0">
                <a:latin typeface="Arial"/>
                <a:cs typeface="Arial"/>
              </a:rPr>
              <a:t>im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90" dirty="0">
                <a:latin typeface="Arial"/>
                <a:cs typeface="Arial"/>
              </a:rPr>
              <a:t>Voraus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fest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eingeplant </a:t>
            </a:r>
            <a:r>
              <a:rPr sz="2000" spc="-110" dirty="0">
                <a:latin typeface="Arial"/>
                <a:cs typeface="Arial"/>
              </a:rPr>
              <a:t>Der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tatsächliche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Fortschritt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lässt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sich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leicht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anhand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b="1" spc="-204" dirty="0">
                <a:latin typeface="Arial"/>
                <a:cs typeface="Arial"/>
              </a:rPr>
              <a:t>des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Planes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1839"/>
              </a:lnSpc>
            </a:pPr>
            <a:r>
              <a:rPr sz="2000" spc="-10" dirty="0">
                <a:latin typeface="Arial"/>
                <a:cs typeface="Arial"/>
              </a:rPr>
              <a:t>feststellen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160"/>
              </a:lnSpc>
              <a:spcBef>
                <a:spcPts val="25"/>
              </a:spcBef>
            </a:pPr>
            <a:r>
              <a:rPr sz="2000" spc="-140" dirty="0">
                <a:latin typeface="Arial"/>
                <a:cs typeface="Arial"/>
              </a:rPr>
              <a:t>Eignen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sich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am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besten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für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große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Softwareprojekte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festen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160"/>
              </a:lnSpc>
            </a:pPr>
            <a:r>
              <a:rPr sz="2000" b="1" spc="-80" dirty="0">
                <a:latin typeface="Arial"/>
                <a:cs typeface="Arial"/>
              </a:rPr>
              <a:t>Anforderungen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i="1" spc="-85" dirty="0">
                <a:latin typeface="Arial"/>
                <a:cs typeface="Arial"/>
              </a:rPr>
              <a:t>Agile</a:t>
            </a:r>
            <a:r>
              <a:rPr sz="2000" i="1" spc="-95" dirty="0">
                <a:latin typeface="Arial"/>
                <a:cs typeface="Arial"/>
              </a:rPr>
              <a:t> </a:t>
            </a:r>
            <a:r>
              <a:rPr sz="2000" i="1" spc="-75" dirty="0">
                <a:latin typeface="Arial"/>
                <a:cs typeface="Arial"/>
              </a:rPr>
              <a:t>Entwicklungsprozesse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sz="2000" spc="-90" dirty="0">
                <a:latin typeface="Arial"/>
                <a:cs typeface="Arial"/>
              </a:rPr>
              <a:t>Spezifikation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und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Entwicklung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können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sich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b="1" spc="-70" dirty="0">
                <a:latin typeface="Arial"/>
                <a:cs typeface="Arial"/>
              </a:rPr>
              <a:t>überschneiden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000" spc="-120" dirty="0">
                <a:latin typeface="Arial"/>
                <a:cs typeface="Arial"/>
              </a:rPr>
              <a:t>Die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Software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wird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b="1" spc="-110" dirty="0">
                <a:latin typeface="Arial"/>
                <a:cs typeface="Arial"/>
              </a:rPr>
              <a:t>inkrementell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entwickelt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0"/>
              </a:spcBef>
            </a:pPr>
            <a:r>
              <a:rPr sz="2000" spc="-105" dirty="0">
                <a:latin typeface="Arial"/>
                <a:cs typeface="Arial"/>
              </a:rPr>
              <a:t>Frühe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Prototypen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ermöglichen</a:t>
            </a:r>
            <a:r>
              <a:rPr sz="2000" spc="-70" dirty="0">
                <a:latin typeface="Arial"/>
                <a:cs typeface="Arial"/>
              </a:rPr>
              <a:t> direktes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b="1" spc="-190" dirty="0">
                <a:latin typeface="Arial"/>
                <a:cs typeface="Arial"/>
              </a:rPr>
              <a:t>Feedback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vom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Kunden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sz="2000" spc="-140" dirty="0">
                <a:latin typeface="Arial"/>
                <a:cs typeface="Arial"/>
              </a:rPr>
              <a:t>Eignen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sich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gut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für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Umgebungen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b="1" spc="-160" dirty="0">
                <a:latin typeface="Arial"/>
                <a:cs typeface="Arial"/>
              </a:rPr>
              <a:t>wechselnden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60" dirty="0">
                <a:latin typeface="Arial"/>
                <a:cs typeface="Arial"/>
              </a:rPr>
              <a:t>Anforderungen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6805" y="3595115"/>
            <a:ext cx="1045110" cy="11917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5633"/>
            <a:ext cx="50215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Plangesteuert</a:t>
            </a:r>
            <a:r>
              <a:rPr spc="-200" dirty="0"/>
              <a:t> </a:t>
            </a:r>
            <a:r>
              <a:rPr spc="-130" dirty="0"/>
              <a:t>oder</a:t>
            </a:r>
            <a:r>
              <a:rPr spc="-185" dirty="0"/>
              <a:t> </a:t>
            </a:r>
            <a:r>
              <a:rPr spc="-145" dirty="0"/>
              <a:t>agil?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5950" y="1806320"/>
            <a:ext cx="7912100" cy="607060"/>
            <a:chOff x="615950" y="1806320"/>
            <a:chExt cx="7912100" cy="607060"/>
          </a:xfrm>
        </p:grpSpPr>
        <p:sp>
          <p:nvSpPr>
            <p:cNvPr id="4" name="object 4"/>
            <p:cNvSpPr/>
            <p:nvPr/>
          </p:nvSpPr>
          <p:spPr>
            <a:xfrm>
              <a:off x="628650" y="1819020"/>
              <a:ext cx="7886700" cy="297180"/>
            </a:xfrm>
            <a:custGeom>
              <a:avLst/>
              <a:gdLst/>
              <a:ahLst/>
              <a:cxnLst/>
              <a:rect l="l" t="t" r="r" b="b"/>
              <a:pathLst>
                <a:path w="7886700" h="297180">
                  <a:moveTo>
                    <a:pt x="7886700" y="0"/>
                  </a:moveTo>
                  <a:lnTo>
                    <a:pt x="6405245" y="0"/>
                  </a:lnTo>
                  <a:lnTo>
                    <a:pt x="0" y="0"/>
                  </a:lnTo>
                  <a:lnTo>
                    <a:pt x="0" y="297180"/>
                  </a:lnTo>
                  <a:lnTo>
                    <a:pt x="6405245" y="297180"/>
                  </a:lnTo>
                  <a:lnTo>
                    <a:pt x="7886700" y="297180"/>
                  </a:lnTo>
                  <a:lnTo>
                    <a:pt x="78867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8650" y="2116200"/>
              <a:ext cx="7886700" cy="297180"/>
            </a:xfrm>
            <a:custGeom>
              <a:avLst/>
              <a:gdLst/>
              <a:ahLst/>
              <a:cxnLst/>
              <a:rect l="l" t="t" r="r" b="b"/>
              <a:pathLst>
                <a:path w="7886700" h="297180">
                  <a:moveTo>
                    <a:pt x="7886700" y="0"/>
                  </a:moveTo>
                  <a:lnTo>
                    <a:pt x="6405245" y="0"/>
                  </a:lnTo>
                  <a:lnTo>
                    <a:pt x="0" y="0"/>
                  </a:lnTo>
                  <a:lnTo>
                    <a:pt x="0" y="297180"/>
                  </a:lnTo>
                  <a:lnTo>
                    <a:pt x="6405245" y="297180"/>
                  </a:lnTo>
                  <a:lnTo>
                    <a:pt x="7886700" y="297180"/>
                  </a:lnTo>
                  <a:lnTo>
                    <a:pt x="788670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8650" y="1819020"/>
              <a:ext cx="7886700" cy="297180"/>
            </a:xfrm>
            <a:custGeom>
              <a:avLst/>
              <a:gdLst/>
              <a:ahLst/>
              <a:cxnLst/>
              <a:rect l="l" t="t" r="r" b="b"/>
              <a:pathLst>
                <a:path w="7886700" h="297180">
                  <a:moveTo>
                    <a:pt x="0" y="297179"/>
                  </a:moveTo>
                  <a:lnTo>
                    <a:pt x="7886700" y="297179"/>
                  </a:lnTo>
                </a:path>
                <a:path w="7886700" h="297180">
                  <a:moveTo>
                    <a:pt x="0" y="0"/>
                  </a:moveTo>
                  <a:lnTo>
                    <a:pt x="78867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28650" y="2793745"/>
            <a:ext cx="7886700" cy="297180"/>
          </a:xfrm>
          <a:custGeom>
            <a:avLst/>
            <a:gdLst/>
            <a:ahLst/>
            <a:cxnLst/>
            <a:rect l="l" t="t" r="r" b="b"/>
            <a:pathLst>
              <a:path w="7886700" h="297180">
                <a:moveTo>
                  <a:pt x="7886700" y="0"/>
                </a:moveTo>
                <a:lnTo>
                  <a:pt x="6405245" y="0"/>
                </a:lnTo>
                <a:lnTo>
                  <a:pt x="0" y="0"/>
                </a:lnTo>
                <a:lnTo>
                  <a:pt x="0" y="297180"/>
                </a:lnTo>
                <a:lnTo>
                  <a:pt x="6405245" y="297180"/>
                </a:lnTo>
                <a:lnTo>
                  <a:pt x="7886700" y="297180"/>
                </a:lnTo>
                <a:lnTo>
                  <a:pt x="7886700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8650" y="3471316"/>
            <a:ext cx="7886700" cy="380365"/>
          </a:xfrm>
          <a:custGeom>
            <a:avLst/>
            <a:gdLst/>
            <a:ahLst/>
            <a:cxnLst/>
            <a:rect l="l" t="t" r="r" b="b"/>
            <a:pathLst>
              <a:path w="7886700" h="380364">
                <a:moveTo>
                  <a:pt x="7886700" y="0"/>
                </a:moveTo>
                <a:lnTo>
                  <a:pt x="6405245" y="0"/>
                </a:lnTo>
                <a:lnTo>
                  <a:pt x="0" y="0"/>
                </a:lnTo>
                <a:lnTo>
                  <a:pt x="0" y="380339"/>
                </a:lnTo>
                <a:lnTo>
                  <a:pt x="6405245" y="380339"/>
                </a:lnTo>
                <a:lnTo>
                  <a:pt x="7886700" y="380339"/>
                </a:lnTo>
                <a:lnTo>
                  <a:pt x="7886700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8650" y="4231894"/>
            <a:ext cx="7886700" cy="297180"/>
          </a:xfrm>
          <a:custGeom>
            <a:avLst/>
            <a:gdLst/>
            <a:ahLst/>
            <a:cxnLst/>
            <a:rect l="l" t="t" r="r" b="b"/>
            <a:pathLst>
              <a:path w="7886700" h="297179">
                <a:moveTo>
                  <a:pt x="7886700" y="0"/>
                </a:moveTo>
                <a:lnTo>
                  <a:pt x="6405245" y="0"/>
                </a:lnTo>
                <a:lnTo>
                  <a:pt x="0" y="0"/>
                </a:lnTo>
                <a:lnTo>
                  <a:pt x="0" y="297180"/>
                </a:lnTo>
                <a:lnTo>
                  <a:pt x="6405245" y="297180"/>
                </a:lnTo>
                <a:lnTo>
                  <a:pt x="7886700" y="297180"/>
                </a:lnTo>
                <a:lnTo>
                  <a:pt x="7886700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8650" y="4909464"/>
            <a:ext cx="7886700" cy="380365"/>
          </a:xfrm>
          <a:custGeom>
            <a:avLst/>
            <a:gdLst/>
            <a:ahLst/>
            <a:cxnLst/>
            <a:rect l="l" t="t" r="r" b="b"/>
            <a:pathLst>
              <a:path w="7886700" h="380364">
                <a:moveTo>
                  <a:pt x="7886700" y="0"/>
                </a:moveTo>
                <a:lnTo>
                  <a:pt x="6405245" y="0"/>
                </a:lnTo>
                <a:lnTo>
                  <a:pt x="0" y="0"/>
                </a:lnTo>
                <a:lnTo>
                  <a:pt x="0" y="380339"/>
                </a:lnTo>
                <a:lnTo>
                  <a:pt x="6405245" y="380339"/>
                </a:lnTo>
                <a:lnTo>
                  <a:pt x="7886700" y="380339"/>
                </a:lnTo>
                <a:lnTo>
                  <a:pt x="7886700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8650" y="5670143"/>
            <a:ext cx="7886700" cy="0"/>
          </a:xfrm>
          <a:custGeom>
            <a:avLst/>
            <a:gdLst/>
            <a:ahLst/>
            <a:cxnLst/>
            <a:rect l="l" t="t" r="r" b="b"/>
            <a:pathLst>
              <a:path w="7886700">
                <a:moveTo>
                  <a:pt x="0" y="0"/>
                </a:moveTo>
                <a:lnTo>
                  <a:pt x="78867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26223" y="2192934"/>
            <a:ext cx="964565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0"/>
              </a:lnSpc>
            </a:pPr>
            <a:r>
              <a:rPr sz="1350" spc="-60" dirty="0">
                <a:solidFill>
                  <a:srgbClr val="4471C4"/>
                </a:solidFill>
                <a:latin typeface="Arial"/>
                <a:cs typeface="Arial"/>
              </a:rPr>
              <a:t>Plangesteuert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26223" y="2490597"/>
            <a:ext cx="259715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350" spc="-70" dirty="0">
                <a:solidFill>
                  <a:srgbClr val="4471C4"/>
                </a:solidFill>
                <a:latin typeface="Arial"/>
                <a:cs typeface="Arial"/>
              </a:rPr>
              <a:t>Agil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26223" y="2870961"/>
            <a:ext cx="963930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350" spc="-70" dirty="0">
                <a:solidFill>
                  <a:srgbClr val="4471C4"/>
                </a:solidFill>
                <a:latin typeface="Arial"/>
                <a:cs typeface="Arial"/>
              </a:rPr>
              <a:t>Plangesteuert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26223" y="3168142"/>
            <a:ext cx="963930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350" spc="-70" dirty="0">
                <a:solidFill>
                  <a:srgbClr val="4471C4"/>
                </a:solidFill>
                <a:latin typeface="Arial"/>
                <a:cs typeface="Arial"/>
              </a:rPr>
              <a:t>Plangesteuert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26223" y="3548507"/>
            <a:ext cx="963930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350" spc="-70" dirty="0">
                <a:solidFill>
                  <a:srgbClr val="4471C4"/>
                </a:solidFill>
                <a:latin typeface="Arial"/>
                <a:cs typeface="Arial"/>
              </a:rPr>
              <a:t>Plangesteuert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6223" y="3928998"/>
            <a:ext cx="259715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350" spc="-70" dirty="0">
                <a:solidFill>
                  <a:srgbClr val="4471C4"/>
                </a:solidFill>
                <a:latin typeface="Arial"/>
                <a:cs typeface="Arial"/>
              </a:rPr>
              <a:t>Agil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26223" y="4309364"/>
            <a:ext cx="963930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350" spc="-70" dirty="0">
                <a:solidFill>
                  <a:srgbClr val="4471C4"/>
                </a:solidFill>
                <a:latin typeface="Arial"/>
                <a:cs typeface="Arial"/>
              </a:rPr>
              <a:t>Plangesteuert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6223" y="4606315"/>
            <a:ext cx="964565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0"/>
              </a:lnSpc>
            </a:pPr>
            <a:r>
              <a:rPr sz="1350" spc="-60" dirty="0">
                <a:solidFill>
                  <a:srgbClr val="4471C4"/>
                </a:solidFill>
                <a:latin typeface="Arial"/>
                <a:cs typeface="Arial"/>
              </a:rPr>
              <a:t>Plangesteuert</a:t>
            </a:r>
            <a:endParaRPr sz="13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26223" y="4986680"/>
            <a:ext cx="259079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0"/>
              </a:lnSpc>
            </a:pPr>
            <a:r>
              <a:rPr sz="1350" spc="-75" dirty="0">
                <a:solidFill>
                  <a:srgbClr val="4471C4"/>
                </a:solidFill>
                <a:latin typeface="Arial"/>
                <a:cs typeface="Arial"/>
              </a:rPr>
              <a:t>Agil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26223" y="5367654"/>
            <a:ext cx="963930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350" spc="-70" dirty="0">
                <a:solidFill>
                  <a:srgbClr val="4471C4"/>
                </a:solidFill>
                <a:latin typeface="Arial"/>
                <a:cs typeface="Arial"/>
              </a:rPr>
              <a:t>Plangesteuert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71106" y="2151633"/>
            <a:ext cx="1223010" cy="213995"/>
            <a:chOff x="7071106" y="2151633"/>
            <a:chExt cx="1223010" cy="213995"/>
          </a:xfrm>
        </p:grpSpPr>
        <p:sp>
          <p:nvSpPr>
            <p:cNvPr id="23" name="object 23"/>
            <p:cNvSpPr/>
            <p:nvPr/>
          </p:nvSpPr>
          <p:spPr>
            <a:xfrm>
              <a:off x="7077456" y="2157983"/>
              <a:ext cx="1210310" cy="201295"/>
            </a:xfrm>
            <a:custGeom>
              <a:avLst/>
              <a:gdLst/>
              <a:ahLst/>
              <a:cxnLst/>
              <a:rect l="l" t="t" r="r" b="b"/>
              <a:pathLst>
                <a:path w="1210309" h="201294">
                  <a:moveTo>
                    <a:pt x="1210055" y="0"/>
                  </a:moveTo>
                  <a:lnTo>
                    <a:pt x="0" y="0"/>
                  </a:lnTo>
                  <a:lnTo>
                    <a:pt x="0" y="201167"/>
                  </a:lnTo>
                  <a:lnTo>
                    <a:pt x="1210055" y="201167"/>
                  </a:lnTo>
                  <a:lnTo>
                    <a:pt x="1210055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77456" y="2157983"/>
              <a:ext cx="1210310" cy="201295"/>
            </a:xfrm>
            <a:custGeom>
              <a:avLst/>
              <a:gdLst/>
              <a:ahLst/>
              <a:cxnLst/>
              <a:rect l="l" t="t" r="r" b="b"/>
              <a:pathLst>
                <a:path w="1210309" h="201294">
                  <a:moveTo>
                    <a:pt x="0" y="201167"/>
                  </a:moveTo>
                  <a:lnTo>
                    <a:pt x="1210055" y="201167"/>
                  </a:lnTo>
                  <a:lnTo>
                    <a:pt x="1210055" y="0"/>
                  </a:lnTo>
                  <a:lnTo>
                    <a:pt x="0" y="0"/>
                  </a:lnTo>
                  <a:lnTo>
                    <a:pt x="0" y="201167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7125969" y="2869438"/>
            <a:ext cx="1221740" cy="186690"/>
            <a:chOff x="7125969" y="2869438"/>
            <a:chExt cx="1221740" cy="186690"/>
          </a:xfrm>
        </p:grpSpPr>
        <p:sp>
          <p:nvSpPr>
            <p:cNvPr id="26" name="object 26"/>
            <p:cNvSpPr/>
            <p:nvPr/>
          </p:nvSpPr>
          <p:spPr>
            <a:xfrm>
              <a:off x="7132319" y="2875788"/>
              <a:ext cx="1209040" cy="173990"/>
            </a:xfrm>
            <a:custGeom>
              <a:avLst/>
              <a:gdLst/>
              <a:ahLst/>
              <a:cxnLst/>
              <a:rect l="l" t="t" r="r" b="b"/>
              <a:pathLst>
                <a:path w="1209040" h="173989">
                  <a:moveTo>
                    <a:pt x="1208531" y="0"/>
                  </a:moveTo>
                  <a:lnTo>
                    <a:pt x="0" y="0"/>
                  </a:lnTo>
                  <a:lnTo>
                    <a:pt x="0" y="173736"/>
                  </a:lnTo>
                  <a:lnTo>
                    <a:pt x="1208531" y="173736"/>
                  </a:lnTo>
                  <a:lnTo>
                    <a:pt x="1208531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32319" y="2875788"/>
              <a:ext cx="1209040" cy="173990"/>
            </a:xfrm>
            <a:custGeom>
              <a:avLst/>
              <a:gdLst/>
              <a:ahLst/>
              <a:cxnLst/>
              <a:rect l="l" t="t" r="r" b="b"/>
              <a:pathLst>
                <a:path w="1209040" h="173989">
                  <a:moveTo>
                    <a:pt x="0" y="173736"/>
                  </a:moveTo>
                  <a:lnTo>
                    <a:pt x="1208531" y="173736"/>
                  </a:lnTo>
                  <a:lnTo>
                    <a:pt x="1208531" y="0"/>
                  </a:lnTo>
                  <a:lnTo>
                    <a:pt x="0" y="0"/>
                  </a:lnTo>
                  <a:lnTo>
                    <a:pt x="0" y="173736"/>
                  </a:lnTo>
                  <a:close/>
                </a:path>
              </a:pathLst>
            </a:custGeom>
            <a:ln w="12699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7125969" y="3486658"/>
            <a:ext cx="1221740" cy="296545"/>
            <a:chOff x="7125969" y="3486658"/>
            <a:chExt cx="1221740" cy="296545"/>
          </a:xfrm>
        </p:grpSpPr>
        <p:sp>
          <p:nvSpPr>
            <p:cNvPr id="29" name="object 29"/>
            <p:cNvSpPr/>
            <p:nvPr/>
          </p:nvSpPr>
          <p:spPr>
            <a:xfrm>
              <a:off x="7132319" y="3493008"/>
              <a:ext cx="1209040" cy="283845"/>
            </a:xfrm>
            <a:custGeom>
              <a:avLst/>
              <a:gdLst/>
              <a:ahLst/>
              <a:cxnLst/>
              <a:rect l="l" t="t" r="r" b="b"/>
              <a:pathLst>
                <a:path w="1209040" h="283845">
                  <a:moveTo>
                    <a:pt x="1208531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1208531" y="283463"/>
                  </a:lnTo>
                  <a:lnTo>
                    <a:pt x="1208531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2319" y="3493008"/>
              <a:ext cx="1209040" cy="283845"/>
            </a:xfrm>
            <a:custGeom>
              <a:avLst/>
              <a:gdLst/>
              <a:ahLst/>
              <a:cxnLst/>
              <a:rect l="l" t="t" r="r" b="b"/>
              <a:pathLst>
                <a:path w="1209040" h="283845">
                  <a:moveTo>
                    <a:pt x="0" y="283463"/>
                  </a:moveTo>
                  <a:lnTo>
                    <a:pt x="1208531" y="283463"/>
                  </a:lnTo>
                  <a:lnTo>
                    <a:pt x="1208531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7071106" y="4260850"/>
            <a:ext cx="1223010" cy="212725"/>
            <a:chOff x="7071106" y="4260850"/>
            <a:chExt cx="1223010" cy="212725"/>
          </a:xfrm>
        </p:grpSpPr>
        <p:sp>
          <p:nvSpPr>
            <p:cNvPr id="32" name="object 32"/>
            <p:cNvSpPr/>
            <p:nvPr/>
          </p:nvSpPr>
          <p:spPr>
            <a:xfrm>
              <a:off x="7077456" y="4267200"/>
              <a:ext cx="1210310" cy="200025"/>
            </a:xfrm>
            <a:custGeom>
              <a:avLst/>
              <a:gdLst/>
              <a:ahLst/>
              <a:cxnLst/>
              <a:rect l="l" t="t" r="r" b="b"/>
              <a:pathLst>
                <a:path w="1210309" h="200025">
                  <a:moveTo>
                    <a:pt x="1210055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1210055" y="199644"/>
                  </a:lnTo>
                  <a:lnTo>
                    <a:pt x="1210055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77456" y="4267200"/>
              <a:ext cx="1210310" cy="200025"/>
            </a:xfrm>
            <a:custGeom>
              <a:avLst/>
              <a:gdLst/>
              <a:ahLst/>
              <a:cxnLst/>
              <a:rect l="l" t="t" r="r" b="b"/>
              <a:pathLst>
                <a:path w="1210309" h="200025">
                  <a:moveTo>
                    <a:pt x="0" y="199644"/>
                  </a:moveTo>
                  <a:lnTo>
                    <a:pt x="1210055" y="199644"/>
                  </a:lnTo>
                  <a:lnTo>
                    <a:pt x="1210055" y="0"/>
                  </a:lnTo>
                  <a:lnTo>
                    <a:pt x="0" y="0"/>
                  </a:lnTo>
                  <a:lnTo>
                    <a:pt x="0" y="199644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7125969" y="4978653"/>
            <a:ext cx="1221740" cy="212725"/>
            <a:chOff x="7125969" y="4978653"/>
            <a:chExt cx="1221740" cy="212725"/>
          </a:xfrm>
        </p:grpSpPr>
        <p:sp>
          <p:nvSpPr>
            <p:cNvPr id="35" name="object 35"/>
            <p:cNvSpPr/>
            <p:nvPr/>
          </p:nvSpPr>
          <p:spPr>
            <a:xfrm>
              <a:off x="7132319" y="4985003"/>
              <a:ext cx="1209040" cy="200025"/>
            </a:xfrm>
            <a:custGeom>
              <a:avLst/>
              <a:gdLst/>
              <a:ahLst/>
              <a:cxnLst/>
              <a:rect l="l" t="t" r="r" b="b"/>
              <a:pathLst>
                <a:path w="1209040" h="200025">
                  <a:moveTo>
                    <a:pt x="1208531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1208531" y="199644"/>
                  </a:lnTo>
                  <a:lnTo>
                    <a:pt x="1208531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32319" y="4985003"/>
              <a:ext cx="1209040" cy="200025"/>
            </a:xfrm>
            <a:custGeom>
              <a:avLst/>
              <a:gdLst/>
              <a:ahLst/>
              <a:cxnLst/>
              <a:rect l="l" t="t" r="r" b="b"/>
              <a:pathLst>
                <a:path w="1209040" h="200025">
                  <a:moveTo>
                    <a:pt x="0" y="199644"/>
                  </a:moveTo>
                  <a:lnTo>
                    <a:pt x="1208531" y="199644"/>
                  </a:lnTo>
                  <a:lnTo>
                    <a:pt x="1208531" y="0"/>
                  </a:lnTo>
                  <a:lnTo>
                    <a:pt x="0" y="0"/>
                  </a:lnTo>
                  <a:lnTo>
                    <a:pt x="0" y="199644"/>
                  </a:lnTo>
                  <a:close/>
                </a:path>
              </a:pathLst>
            </a:custGeom>
            <a:ln w="12699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/>
          <p:nvPr/>
        </p:nvSpPr>
        <p:spPr>
          <a:xfrm>
            <a:off x="7132319" y="2487167"/>
            <a:ext cx="1209040" cy="201295"/>
          </a:xfrm>
          <a:custGeom>
            <a:avLst/>
            <a:gdLst/>
            <a:ahLst/>
            <a:cxnLst/>
            <a:rect l="l" t="t" r="r" b="b"/>
            <a:pathLst>
              <a:path w="1209040" h="201294">
                <a:moveTo>
                  <a:pt x="1208531" y="0"/>
                </a:moveTo>
                <a:lnTo>
                  <a:pt x="0" y="0"/>
                </a:lnTo>
                <a:lnTo>
                  <a:pt x="0" y="201167"/>
                </a:lnTo>
                <a:lnTo>
                  <a:pt x="1208531" y="201167"/>
                </a:lnTo>
                <a:lnTo>
                  <a:pt x="12085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132319" y="3148583"/>
            <a:ext cx="1209040" cy="200025"/>
          </a:xfrm>
          <a:custGeom>
            <a:avLst/>
            <a:gdLst/>
            <a:ahLst/>
            <a:cxnLst/>
            <a:rect l="l" t="t" r="r" b="b"/>
            <a:pathLst>
              <a:path w="1209040" h="200025">
                <a:moveTo>
                  <a:pt x="1208531" y="0"/>
                </a:moveTo>
                <a:lnTo>
                  <a:pt x="0" y="0"/>
                </a:lnTo>
                <a:lnTo>
                  <a:pt x="0" y="199644"/>
                </a:lnTo>
                <a:lnTo>
                  <a:pt x="1208531" y="199644"/>
                </a:lnTo>
                <a:lnTo>
                  <a:pt x="12085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104888" y="3921252"/>
            <a:ext cx="1210310" cy="201295"/>
          </a:xfrm>
          <a:custGeom>
            <a:avLst/>
            <a:gdLst/>
            <a:ahLst/>
            <a:cxnLst/>
            <a:rect l="l" t="t" r="r" b="b"/>
            <a:pathLst>
              <a:path w="1210309" h="201295">
                <a:moveTo>
                  <a:pt x="1210055" y="0"/>
                </a:moveTo>
                <a:lnTo>
                  <a:pt x="0" y="0"/>
                </a:lnTo>
                <a:lnTo>
                  <a:pt x="0" y="201168"/>
                </a:lnTo>
                <a:lnTo>
                  <a:pt x="1210055" y="201168"/>
                </a:lnTo>
                <a:lnTo>
                  <a:pt x="12100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104888" y="4585715"/>
            <a:ext cx="1210310" cy="200025"/>
          </a:xfrm>
          <a:custGeom>
            <a:avLst/>
            <a:gdLst/>
            <a:ahLst/>
            <a:cxnLst/>
            <a:rect l="l" t="t" r="r" b="b"/>
            <a:pathLst>
              <a:path w="1210309" h="200025">
                <a:moveTo>
                  <a:pt x="1210055" y="0"/>
                </a:moveTo>
                <a:lnTo>
                  <a:pt x="0" y="0"/>
                </a:lnTo>
                <a:lnTo>
                  <a:pt x="0" y="199643"/>
                </a:lnTo>
                <a:lnTo>
                  <a:pt x="1210055" y="199643"/>
                </a:lnTo>
                <a:lnTo>
                  <a:pt x="12100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132319" y="5355335"/>
            <a:ext cx="1209040" cy="201295"/>
          </a:xfrm>
          <a:custGeom>
            <a:avLst/>
            <a:gdLst/>
            <a:ahLst/>
            <a:cxnLst/>
            <a:rect l="l" t="t" r="r" b="b"/>
            <a:pathLst>
              <a:path w="1209040" h="201295">
                <a:moveTo>
                  <a:pt x="1208531" y="0"/>
                </a:moveTo>
                <a:lnTo>
                  <a:pt x="0" y="0"/>
                </a:lnTo>
                <a:lnTo>
                  <a:pt x="0" y="201167"/>
                </a:lnTo>
                <a:lnTo>
                  <a:pt x="1208531" y="201167"/>
                </a:lnTo>
                <a:lnTo>
                  <a:pt x="12085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63346" y="1268348"/>
            <a:ext cx="7332980" cy="4276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90" dirty="0">
                <a:solidFill>
                  <a:srgbClr val="EC7C30"/>
                </a:solidFill>
                <a:latin typeface="Arial"/>
                <a:cs typeface="Arial"/>
              </a:rPr>
              <a:t>Wo</a:t>
            </a:r>
            <a:r>
              <a:rPr sz="2200" b="1" spc="-8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110" dirty="0">
                <a:solidFill>
                  <a:srgbClr val="EC7C30"/>
                </a:solidFill>
                <a:latin typeface="Arial"/>
                <a:cs typeface="Arial"/>
              </a:rPr>
              <a:t>empfiehlt</a:t>
            </a:r>
            <a:r>
              <a:rPr sz="2200" b="1" spc="-9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240" dirty="0">
                <a:solidFill>
                  <a:srgbClr val="EC7C30"/>
                </a:solidFill>
                <a:latin typeface="Arial"/>
                <a:cs typeface="Arial"/>
              </a:rPr>
              <a:t>sich</a:t>
            </a:r>
            <a:r>
              <a:rPr sz="2200" b="1" spc="-8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135" dirty="0">
                <a:solidFill>
                  <a:srgbClr val="EC7C30"/>
                </a:solidFill>
                <a:latin typeface="Arial"/>
                <a:cs typeface="Arial"/>
              </a:rPr>
              <a:t>ein</a:t>
            </a:r>
            <a:r>
              <a:rPr sz="2200" b="1" spc="-9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150" dirty="0">
                <a:solidFill>
                  <a:srgbClr val="EC7C30"/>
                </a:solidFill>
                <a:latin typeface="Arial"/>
                <a:cs typeface="Arial"/>
              </a:rPr>
              <a:t>plangesteuerter,</a:t>
            </a:r>
            <a:r>
              <a:rPr sz="2200" b="1" spc="-5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155" dirty="0">
                <a:solidFill>
                  <a:srgbClr val="EC7C30"/>
                </a:solidFill>
                <a:latin typeface="Arial"/>
                <a:cs typeface="Arial"/>
              </a:rPr>
              <a:t>wo</a:t>
            </a:r>
            <a:r>
              <a:rPr sz="2200" b="1" spc="-7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135" dirty="0">
                <a:solidFill>
                  <a:srgbClr val="EC7C30"/>
                </a:solidFill>
                <a:latin typeface="Arial"/>
                <a:cs typeface="Arial"/>
              </a:rPr>
              <a:t>ein</a:t>
            </a:r>
            <a:r>
              <a:rPr sz="2200" b="1" spc="-9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150" dirty="0">
                <a:solidFill>
                  <a:srgbClr val="EC7C30"/>
                </a:solidFill>
                <a:latin typeface="Arial"/>
                <a:cs typeface="Arial"/>
              </a:rPr>
              <a:t>agiler</a:t>
            </a:r>
            <a:r>
              <a:rPr sz="2200" b="1" spc="-7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270" dirty="0">
                <a:solidFill>
                  <a:srgbClr val="EC7C30"/>
                </a:solidFill>
                <a:latin typeface="Arial"/>
                <a:cs typeface="Arial"/>
              </a:rPr>
              <a:t>Prozess?</a:t>
            </a:r>
            <a:endParaRPr sz="220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  <a:spcBef>
                <a:spcPts val="1875"/>
              </a:spcBef>
              <a:tabLst>
                <a:tab pos="6462395" algn="l"/>
              </a:tabLst>
            </a:pPr>
            <a:r>
              <a:rPr sz="1350" b="1" spc="-10" dirty="0">
                <a:solidFill>
                  <a:srgbClr val="FFFFFF"/>
                </a:solidFill>
                <a:latin typeface="Arial"/>
                <a:cs typeface="Arial"/>
              </a:rPr>
              <a:t>Aussage</a:t>
            </a:r>
            <a:r>
              <a:rPr sz="135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50" b="1" spc="-105" dirty="0">
                <a:solidFill>
                  <a:srgbClr val="FFFFFF"/>
                </a:solidFill>
                <a:latin typeface="Arial"/>
                <a:cs typeface="Arial"/>
              </a:rPr>
              <a:t>Empfehlung</a:t>
            </a:r>
            <a:endParaRPr sz="135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  <a:spcBef>
                <a:spcPts val="715"/>
              </a:spcBef>
            </a:pPr>
            <a:r>
              <a:rPr sz="1350" spc="-75" dirty="0">
                <a:latin typeface="Arial"/>
                <a:cs typeface="Arial"/>
              </a:rPr>
              <a:t>Die</a:t>
            </a:r>
            <a:r>
              <a:rPr sz="1350" spc="-45" dirty="0">
                <a:latin typeface="Arial"/>
                <a:cs typeface="Arial"/>
              </a:rPr>
              <a:t> </a:t>
            </a:r>
            <a:r>
              <a:rPr sz="1350" spc="-65" dirty="0">
                <a:latin typeface="Arial"/>
                <a:cs typeface="Arial"/>
              </a:rPr>
              <a:t>Entwicklung</a:t>
            </a:r>
            <a:r>
              <a:rPr sz="1350" spc="-30" dirty="0">
                <a:latin typeface="Arial"/>
                <a:cs typeface="Arial"/>
              </a:rPr>
              <a:t> benötigt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eine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spc="-75" dirty="0">
                <a:latin typeface="Arial"/>
                <a:cs typeface="Arial"/>
              </a:rPr>
              <a:t>sehr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spc="-25" dirty="0">
                <a:latin typeface="Arial"/>
                <a:cs typeface="Arial"/>
              </a:rPr>
              <a:t>detaillierte</a:t>
            </a:r>
            <a:r>
              <a:rPr sz="1350" spc="-1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Spezifikation.</a:t>
            </a:r>
            <a:endParaRPr sz="135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  <a:spcBef>
                <a:spcPts val="725"/>
              </a:spcBef>
            </a:pPr>
            <a:r>
              <a:rPr sz="1350" spc="-45" dirty="0">
                <a:latin typeface="Arial"/>
                <a:cs typeface="Arial"/>
              </a:rPr>
              <a:t>Inkrementelle </a:t>
            </a:r>
            <a:r>
              <a:rPr sz="1350" spc="-60" dirty="0">
                <a:latin typeface="Arial"/>
                <a:cs typeface="Arial"/>
              </a:rPr>
              <a:t>Auslieferung</a:t>
            </a:r>
            <a:r>
              <a:rPr sz="1350" spc="-15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ist</a:t>
            </a:r>
            <a:r>
              <a:rPr sz="1350" spc="-50" dirty="0">
                <a:latin typeface="Arial"/>
                <a:cs typeface="Arial"/>
              </a:rPr>
              <a:t> </a:t>
            </a:r>
            <a:r>
              <a:rPr sz="1350" spc="-55" dirty="0">
                <a:latin typeface="Arial"/>
                <a:cs typeface="Arial"/>
              </a:rPr>
              <a:t>realistisch</a:t>
            </a:r>
            <a:r>
              <a:rPr sz="1350" spc="-30" dirty="0">
                <a:latin typeface="Arial"/>
                <a:cs typeface="Arial"/>
              </a:rPr>
              <a:t> </a:t>
            </a:r>
            <a:r>
              <a:rPr sz="1350" spc="-50" dirty="0">
                <a:latin typeface="Arial"/>
                <a:cs typeface="Arial"/>
              </a:rPr>
              <a:t>und</a:t>
            </a:r>
            <a:r>
              <a:rPr sz="1350" spc="-35" dirty="0">
                <a:latin typeface="Arial"/>
                <a:cs typeface="Arial"/>
              </a:rPr>
              <a:t> </a:t>
            </a:r>
            <a:r>
              <a:rPr sz="1350" spc="-80" dirty="0">
                <a:latin typeface="Arial"/>
                <a:cs typeface="Arial"/>
              </a:rPr>
              <a:t>schnelles</a:t>
            </a:r>
            <a:r>
              <a:rPr sz="1350" spc="-35" dirty="0">
                <a:latin typeface="Arial"/>
                <a:cs typeface="Arial"/>
              </a:rPr>
              <a:t> </a:t>
            </a:r>
            <a:r>
              <a:rPr sz="1350" spc="-80" dirty="0">
                <a:latin typeface="Arial"/>
                <a:cs typeface="Arial"/>
              </a:rPr>
              <a:t>Kundenfeedback</a:t>
            </a:r>
            <a:r>
              <a:rPr sz="1350" spc="-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gewünscht.</a:t>
            </a:r>
            <a:endParaRPr sz="135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  <a:spcBef>
                <a:spcPts val="1375"/>
              </a:spcBef>
            </a:pPr>
            <a:r>
              <a:rPr sz="1350" spc="-145" dirty="0">
                <a:latin typeface="Arial"/>
                <a:cs typeface="Arial"/>
              </a:rPr>
              <a:t>Das</a:t>
            </a:r>
            <a:r>
              <a:rPr sz="1350" spc="-70" dirty="0">
                <a:latin typeface="Arial"/>
                <a:cs typeface="Arial"/>
              </a:rPr>
              <a:t> </a:t>
            </a:r>
            <a:r>
              <a:rPr sz="1350" spc="-50" dirty="0">
                <a:latin typeface="Arial"/>
                <a:cs typeface="Arial"/>
              </a:rPr>
              <a:t>Entwicklerteam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ist</a:t>
            </a:r>
            <a:r>
              <a:rPr sz="1350" spc="-55" dirty="0">
                <a:latin typeface="Arial"/>
                <a:cs typeface="Arial"/>
              </a:rPr>
              <a:t> </a:t>
            </a:r>
            <a:r>
              <a:rPr sz="1350" spc="-105" dirty="0">
                <a:latin typeface="Arial"/>
                <a:cs typeface="Arial"/>
              </a:rPr>
              <a:t>zu</a:t>
            </a:r>
            <a:r>
              <a:rPr sz="1350" spc="-40" dirty="0">
                <a:latin typeface="Arial"/>
                <a:cs typeface="Arial"/>
              </a:rPr>
              <a:t> </a:t>
            </a:r>
            <a:r>
              <a:rPr sz="1350" spc="-75" dirty="0">
                <a:latin typeface="Arial"/>
                <a:cs typeface="Arial"/>
              </a:rPr>
              <a:t>groß</a:t>
            </a:r>
            <a:r>
              <a:rPr sz="1350" spc="-5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für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spc="-35" dirty="0">
                <a:latin typeface="Arial"/>
                <a:cs typeface="Arial"/>
              </a:rPr>
              <a:t>informellen</a:t>
            </a:r>
            <a:r>
              <a:rPr sz="1350" spc="-4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Austausch.</a:t>
            </a:r>
            <a:endParaRPr sz="135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  <a:spcBef>
                <a:spcPts val="720"/>
              </a:spcBef>
            </a:pPr>
            <a:r>
              <a:rPr sz="1350" spc="-80" dirty="0">
                <a:latin typeface="Arial"/>
                <a:cs typeface="Arial"/>
              </a:rPr>
              <a:t>Die</a:t>
            </a:r>
            <a:r>
              <a:rPr sz="1350" spc="-70" dirty="0">
                <a:latin typeface="Arial"/>
                <a:cs typeface="Arial"/>
              </a:rPr>
              <a:t> </a:t>
            </a:r>
            <a:r>
              <a:rPr sz="1350" spc="-55" dirty="0">
                <a:latin typeface="Arial"/>
                <a:cs typeface="Arial"/>
              </a:rPr>
              <a:t>Anforderungen</a:t>
            </a:r>
            <a:r>
              <a:rPr sz="1350" spc="-15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sind</a:t>
            </a:r>
            <a:r>
              <a:rPr sz="1350" spc="-50" dirty="0">
                <a:latin typeface="Arial"/>
                <a:cs typeface="Arial"/>
              </a:rPr>
              <a:t> </a:t>
            </a:r>
            <a:r>
              <a:rPr sz="1350" spc="-70" dirty="0">
                <a:latin typeface="Arial"/>
                <a:cs typeface="Arial"/>
              </a:rPr>
              <a:t>komplex</a:t>
            </a:r>
            <a:r>
              <a:rPr sz="1350" spc="-50" dirty="0">
                <a:latin typeface="Arial"/>
                <a:cs typeface="Arial"/>
              </a:rPr>
              <a:t> und</a:t>
            </a:r>
            <a:r>
              <a:rPr sz="1350" spc="-45" dirty="0">
                <a:latin typeface="Arial"/>
                <a:cs typeface="Arial"/>
              </a:rPr>
              <a:t> </a:t>
            </a:r>
            <a:r>
              <a:rPr sz="1350" spc="-65" dirty="0">
                <a:latin typeface="Arial"/>
                <a:cs typeface="Arial"/>
              </a:rPr>
              <a:t>haben</a:t>
            </a:r>
            <a:r>
              <a:rPr sz="1350" spc="-40" dirty="0">
                <a:latin typeface="Arial"/>
                <a:cs typeface="Arial"/>
              </a:rPr>
              <a:t> </a:t>
            </a:r>
            <a:r>
              <a:rPr sz="1350" spc="-55" dirty="0">
                <a:latin typeface="Arial"/>
                <a:cs typeface="Arial"/>
              </a:rPr>
              <a:t>hohen</a:t>
            </a:r>
            <a:r>
              <a:rPr sz="1350" spc="-45" dirty="0">
                <a:latin typeface="Arial"/>
                <a:cs typeface="Arial"/>
              </a:rPr>
              <a:t> </a:t>
            </a:r>
            <a:r>
              <a:rPr sz="1350" spc="-70" dirty="0">
                <a:latin typeface="Arial"/>
                <a:cs typeface="Arial"/>
              </a:rPr>
              <a:t>Analysebedarf</a:t>
            </a:r>
            <a:r>
              <a:rPr sz="1350" spc="-35" dirty="0">
                <a:latin typeface="Arial"/>
                <a:cs typeface="Arial"/>
              </a:rPr>
              <a:t> </a:t>
            </a:r>
            <a:r>
              <a:rPr sz="1350" spc="-95" dirty="0">
                <a:latin typeface="Arial"/>
                <a:cs typeface="Arial"/>
              </a:rPr>
              <a:t>(z.B.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Echtzeitsystem).</a:t>
            </a:r>
            <a:endParaRPr sz="135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  <a:spcBef>
                <a:spcPts val="1375"/>
              </a:spcBef>
            </a:pPr>
            <a:r>
              <a:rPr sz="1350" spc="-140" dirty="0">
                <a:latin typeface="Arial"/>
                <a:cs typeface="Arial"/>
              </a:rPr>
              <a:t>Das</a:t>
            </a:r>
            <a:r>
              <a:rPr sz="1350" spc="-55" dirty="0">
                <a:latin typeface="Arial"/>
                <a:cs typeface="Arial"/>
              </a:rPr>
              <a:t> </a:t>
            </a:r>
            <a:r>
              <a:rPr sz="1350" spc="-110" dirty="0">
                <a:latin typeface="Arial"/>
                <a:cs typeface="Arial"/>
              </a:rPr>
              <a:t>System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ist</a:t>
            </a:r>
            <a:r>
              <a:rPr sz="1350" spc="-45" dirty="0">
                <a:latin typeface="Arial"/>
                <a:cs typeface="Arial"/>
              </a:rPr>
              <a:t> </a:t>
            </a:r>
            <a:r>
              <a:rPr sz="1350" spc="-65" dirty="0">
                <a:latin typeface="Arial"/>
                <a:cs typeface="Arial"/>
              </a:rPr>
              <a:t>sehr</a:t>
            </a:r>
            <a:r>
              <a:rPr sz="1350" spc="-35" dirty="0">
                <a:latin typeface="Arial"/>
                <a:cs typeface="Arial"/>
              </a:rPr>
              <a:t> </a:t>
            </a:r>
            <a:r>
              <a:rPr sz="1350" spc="-55" dirty="0">
                <a:latin typeface="Arial"/>
                <a:cs typeface="Arial"/>
              </a:rPr>
              <a:t>langlebig,</a:t>
            </a:r>
            <a:r>
              <a:rPr sz="1350" spc="-5" dirty="0">
                <a:latin typeface="Arial"/>
                <a:cs typeface="Arial"/>
              </a:rPr>
              <a:t> </a:t>
            </a:r>
            <a:r>
              <a:rPr sz="1350" spc="-65" dirty="0">
                <a:latin typeface="Arial"/>
                <a:cs typeface="Arial"/>
              </a:rPr>
              <a:t>umfangreiche</a:t>
            </a:r>
            <a:r>
              <a:rPr sz="1350" spc="-10" dirty="0">
                <a:latin typeface="Arial"/>
                <a:cs typeface="Arial"/>
              </a:rPr>
              <a:t> </a:t>
            </a:r>
            <a:r>
              <a:rPr sz="1350" spc="-55" dirty="0">
                <a:latin typeface="Arial"/>
                <a:cs typeface="Arial"/>
              </a:rPr>
              <a:t>Dokumentation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erwünscht.</a:t>
            </a:r>
            <a:endParaRPr sz="1350">
              <a:latin typeface="Arial"/>
              <a:cs typeface="Arial"/>
            </a:endParaRPr>
          </a:p>
          <a:p>
            <a:pPr marL="56515" marR="1064260">
              <a:lnSpc>
                <a:spcPct val="184900"/>
              </a:lnSpc>
            </a:pPr>
            <a:r>
              <a:rPr sz="1350" spc="-200" dirty="0">
                <a:latin typeface="Arial"/>
                <a:cs typeface="Arial"/>
              </a:rPr>
              <a:t>Es</a:t>
            </a:r>
            <a:r>
              <a:rPr sz="1350" spc="-55" dirty="0">
                <a:latin typeface="Arial"/>
                <a:cs typeface="Arial"/>
              </a:rPr>
              <a:t> </a:t>
            </a:r>
            <a:r>
              <a:rPr sz="1350" spc="-65" dirty="0">
                <a:latin typeface="Arial"/>
                <a:cs typeface="Arial"/>
              </a:rPr>
              <a:t>sind</a:t>
            </a:r>
            <a:r>
              <a:rPr sz="1350" spc="-50" dirty="0">
                <a:latin typeface="Arial"/>
                <a:cs typeface="Arial"/>
              </a:rPr>
              <a:t> </a:t>
            </a:r>
            <a:r>
              <a:rPr sz="1350" spc="-65" dirty="0">
                <a:latin typeface="Arial"/>
                <a:cs typeface="Arial"/>
              </a:rPr>
              <a:t>sehr</a:t>
            </a:r>
            <a:r>
              <a:rPr sz="1350" spc="-45" dirty="0">
                <a:latin typeface="Arial"/>
                <a:cs typeface="Arial"/>
              </a:rPr>
              <a:t> </a:t>
            </a:r>
            <a:r>
              <a:rPr sz="1350" spc="-50" dirty="0">
                <a:latin typeface="Arial"/>
                <a:cs typeface="Arial"/>
              </a:rPr>
              <a:t>gute </a:t>
            </a:r>
            <a:r>
              <a:rPr sz="1350" spc="-90" dirty="0">
                <a:latin typeface="Arial"/>
                <a:cs typeface="Arial"/>
              </a:rPr>
              <a:t>Werkzeuge</a:t>
            </a:r>
            <a:r>
              <a:rPr sz="1350" spc="-25" dirty="0">
                <a:latin typeface="Arial"/>
                <a:cs typeface="Arial"/>
              </a:rPr>
              <a:t> </a:t>
            </a:r>
            <a:r>
              <a:rPr sz="1350" spc="-65" dirty="0">
                <a:latin typeface="Arial"/>
                <a:cs typeface="Arial"/>
              </a:rPr>
              <a:t>zur</a:t>
            </a:r>
            <a:r>
              <a:rPr sz="1350" spc="-30" dirty="0">
                <a:latin typeface="Arial"/>
                <a:cs typeface="Arial"/>
              </a:rPr>
              <a:t> </a:t>
            </a:r>
            <a:r>
              <a:rPr sz="1350" spc="-65" dirty="0">
                <a:latin typeface="Arial"/>
                <a:cs typeface="Arial"/>
              </a:rPr>
              <a:t>nachvollziehbaren</a:t>
            </a:r>
            <a:r>
              <a:rPr sz="1350" spc="-30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Entwicklung</a:t>
            </a:r>
            <a:r>
              <a:rPr sz="1350" spc="-55" dirty="0">
                <a:latin typeface="Arial"/>
                <a:cs typeface="Arial"/>
              </a:rPr>
              <a:t> </a:t>
            </a:r>
            <a:r>
              <a:rPr sz="1350" spc="-95" dirty="0">
                <a:latin typeface="Arial"/>
                <a:cs typeface="Arial"/>
              </a:rPr>
              <a:t>des</a:t>
            </a:r>
            <a:r>
              <a:rPr sz="1350" spc="-55" dirty="0">
                <a:latin typeface="Arial"/>
                <a:cs typeface="Arial"/>
              </a:rPr>
              <a:t> Entwurfs</a:t>
            </a:r>
            <a:r>
              <a:rPr sz="1350" spc="-50" dirty="0">
                <a:latin typeface="Arial"/>
                <a:cs typeface="Arial"/>
              </a:rPr>
              <a:t> </a:t>
            </a:r>
            <a:r>
              <a:rPr sz="1350" spc="-20" dirty="0">
                <a:latin typeface="Arial"/>
                <a:cs typeface="Arial"/>
              </a:rPr>
              <a:t>vorhanden. </a:t>
            </a:r>
            <a:r>
              <a:rPr sz="1350" spc="-95" dirty="0">
                <a:latin typeface="Arial"/>
                <a:cs typeface="Arial"/>
              </a:rPr>
              <a:t>Kunde</a:t>
            </a:r>
            <a:r>
              <a:rPr sz="1350" spc="-35" dirty="0">
                <a:latin typeface="Arial"/>
                <a:cs typeface="Arial"/>
              </a:rPr>
              <a:t> </a:t>
            </a:r>
            <a:r>
              <a:rPr sz="1350" spc="-50" dirty="0">
                <a:latin typeface="Arial"/>
                <a:cs typeface="Arial"/>
              </a:rPr>
              <a:t>verlangt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belastbare</a:t>
            </a:r>
            <a:r>
              <a:rPr sz="1350" spc="-25" dirty="0">
                <a:latin typeface="Arial"/>
                <a:cs typeface="Arial"/>
              </a:rPr>
              <a:t> </a:t>
            </a:r>
            <a:r>
              <a:rPr sz="1350" spc="-65" dirty="0">
                <a:latin typeface="Arial"/>
                <a:cs typeface="Arial"/>
              </a:rPr>
              <a:t>Spezifikation</a:t>
            </a:r>
            <a:r>
              <a:rPr sz="1350" spc="-35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vorab</a:t>
            </a:r>
            <a:r>
              <a:rPr sz="1350" spc="-3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(Pflichtenheft).</a:t>
            </a:r>
            <a:endParaRPr sz="135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  <a:spcBef>
                <a:spcPts val="720"/>
              </a:spcBef>
            </a:pPr>
            <a:r>
              <a:rPr sz="1350" spc="-145" dirty="0">
                <a:latin typeface="Arial"/>
                <a:cs typeface="Arial"/>
              </a:rPr>
              <a:t>Das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135" dirty="0">
                <a:latin typeface="Arial"/>
                <a:cs typeface="Arial"/>
              </a:rPr>
              <a:t>Team</a:t>
            </a:r>
            <a:r>
              <a:rPr sz="1350" spc="-50" dirty="0">
                <a:latin typeface="Arial"/>
                <a:cs typeface="Arial"/>
              </a:rPr>
              <a:t> </a:t>
            </a:r>
            <a:r>
              <a:rPr sz="1350" spc="-35" dirty="0">
                <a:latin typeface="Arial"/>
                <a:cs typeface="Arial"/>
              </a:rPr>
              <a:t>ist</a:t>
            </a:r>
            <a:r>
              <a:rPr sz="1350" spc="-55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dezentral</a:t>
            </a:r>
            <a:r>
              <a:rPr sz="1350" spc="-25" dirty="0">
                <a:latin typeface="Arial"/>
                <a:cs typeface="Arial"/>
              </a:rPr>
              <a:t> </a:t>
            </a:r>
            <a:r>
              <a:rPr sz="1350" spc="-45" dirty="0">
                <a:latin typeface="Arial"/>
                <a:cs typeface="Arial"/>
              </a:rPr>
              <a:t>organisiert,</a:t>
            </a:r>
            <a:r>
              <a:rPr sz="1350" spc="-15" dirty="0">
                <a:latin typeface="Arial"/>
                <a:cs typeface="Arial"/>
              </a:rPr>
              <a:t> </a:t>
            </a:r>
            <a:r>
              <a:rPr sz="1350" spc="-50" dirty="0">
                <a:latin typeface="Arial"/>
                <a:cs typeface="Arial"/>
              </a:rPr>
              <a:t>Schnittstellen </a:t>
            </a:r>
            <a:r>
              <a:rPr sz="1350" spc="-95" dirty="0">
                <a:latin typeface="Arial"/>
                <a:cs typeface="Arial"/>
              </a:rPr>
              <a:t>müssen</a:t>
            </a:r>
            <a:r>
              <a:rPr sz="1350" spc="-50" dirty="0">
                <a:latin typeface="Arial"/>
                <a:cs typeface="Arial"/>
              </a:rPr>
              <a:t> </a:t>
            </a:r>
            <a:r>
              <a:rPr sz="1350" spc="-45" dirty="0">
                <a:latin typeface="Arial"/>
                <a:cs typeface="Arial"/>
              </a:rPr>
              <a:t>gründlich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entworfen</a:t>
            </a:r>
            <a:r>
              <a:rPr sz="1350" spc="-5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werden.</a:t>
            </a:r>
            <a:endParaRPr sz="135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  <a:spcBef>
                <a:spcPts val="1375"/>
              </a:spcBef>
            </a:pPr>
            <a:r>
              <a:rPr sz="1350" spc="-145" dirty="0">
                <a:latin typeface="Arial"/>
                <a:cs typeface="Arial"/>
              </a:rPr>
              <a:t>Das</a:t>
            </a:r>
            <a:r>
              <a:rPr sz="1350" spc="-65" dirty="0">
                <a:latin typeface="Arial"/>
                <a:cs typeface="Arial"/>
              </a:rPr>
              <a:t> </a:t>
            </a:r>
            <a:r>
              <a:rPr sz="1350" spc="-135" dirty="0">
                <a:latin typeface="Arial"/>
                <a:cs typeface="Arial"/>
              </a:rPr>
              <a:t>Team</a:t>
            </a:r>
            <a:r>
              <a:rPr sz="1350" spc="-50" dirty="0">
                <a:latin typeface="Arial"/>
                <a:cs typeface="Arial"/>
              </a:rPr>
              <a:t> </a:t>
            </a:r>
            <a:r>
              <a:rPr sz="1350" spc="-35" dirty="0">
                <a:latin typeface="Arial"/>
                <a:cs typeface="Arial"/>
              </a:rPr>
              <a:t>verfügt</a:t>
            </a:r>
            <a:r>
              <a:rPr sz="1350" spc="-30" dirty="0">
                <a:latin typeface="Arial"/>
                <a:cs typeface="Arial"/>
              </a:rPr>
              <a:t> </a:t>
            </a:r>
            <a:r>
              <a:rPr sz="1350" spc="-45" dirty="0">
                <a:latin typeface="Arial"/>
                <a:cs typeface="Arial"/>
              </a:rPr>
              <a:t>über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spc="-45" dirty="0">
                <a:latin typeface="Arial"/>
                <a:cs typeface="Arial"/>
              </a:rPr>
              <a:t>viele</a:t>
            </a:r>
            <a:r>
              <a:rPr sz="1350" spc="-35" dirty="0">
                <a:latin typeface="Arial"/>
                <a:cs typeface="Arial"/>
              </a:rPr>
              <a:t> </a:t>
            </a:r>
            <a:r>
              <a:rPr sz="1350" spc="-50" dirty="0">
                <a:latin typeface="Arial"/>
                <a:cs typeface="Arial"/>
              </a:rPr>
              <a:t>erfahrene</a:t>
            </a:r>
            <a:r>
              <a:rPr sz="1350" spc="-25" dirty="0">
                <a:latin typeface="Arial"/>
                <a:cs typeface="Arial"/>
              </a:rPr>
              <a:t> </a:t>
            </a:r>
            <a:r>
              <a:rPr sz="1350" spc="-60" dirty="0">
                <a:latin typeface="Arial"/>
                <a:cs typeface="Arial"/>
              </a:rPr>
              <a:t>Programmierer</a:t>
            </a:r>
            <a:r>
              <a:rPr sz="1350" spc="-30" dirty="0">
                <a:latin typeface="Arial"/>
                <a:cs typeface="Arial"/>
              </a:rPr>
              <a:t> </a:t>
            </a:r>
            <a:r>
              <a:rPr sz="1350" spc="-45" dirty="0">
                <a:latin typeface="Arial"/>
                <a:cs typeface="Arial"/>
              </a:rPr>
              <a:t>die</a:t>
            </a:r>
            <a:r>
              <a:rPr sz="1350" spc="-35" dirty="0">
                <a:latin typeface="Arial"/>
                <a:cs typeface="Arial"/>
              </a:rPr>
              <a:t> </a:t>
            </a:r>
            <a:r>
              <a:rPr sz="1350" spc="-70" dirty="0">
                <a:latin typeface="Arial"/>
                <a:cs typeface="Arial"/>
              </a:rPr>
              <a:t>selbstständig</a:t>
            </a:r>
            <a:r>
              <a:rPr sz="1350" spc="-45" dirty="0">
                <a:latin typeface="Arial"/>
                <a:cs typeface="Arial"/>
              </a:rPr>
              <a:t> </a:t>
            </a:r>
            <a:r>
              <a:rPr sz="1350" spc="-40" dirty="0">
                <a:latin typeface="Arial"/>
                <a:cs typeface="Arial"/>
              </a:rPr>
              <a:t>arbeiten</a:t>
            </a:r>
            <a:r>
              <a:rPr sz="1350" spc="-3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können.</a:t>
            </a:r>
            <a:endParaRPr sz="135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  <a:spcBef>
                <a:spcPts val="1380"/>
              </a:spcBef>
            </a:pPr>
            <a:r>
              <a:rPr sz="1350" spc="-145" dirty="0">
                <a:latin typeface="Arial"/>
                <a:cs typeface="Arial"/>
              </a:rPr>
              <a:t>Das</a:t>
            </a:r>
            <a:r>
              <a:rPr sz="1350" spc="-55" dirty="0">
                <a:latin typeface="Arial"/>
                <a:cs typeface="Arial"/>
              </a:rPr>
              <a:t> </a:t>
            </a:r>
            <a:r>
              <a:rPr sz="1350" spc="-110" dirty="0">
                <a:latin typeface="Arial"/>
                <a:cs typeface="Arial"/>
              </a:rPr>
              <a:t>System</a:t>
            </a:r>
            <a:r>
              <a:rPr sz="1350" spc="-60" dirty="0">
                <a:latin typeface="Arial"/>
                <a:cs typeface="Arial"/>
              </a:rPr>
              <a:t> </a:t>
            </a:r>
            <a:r>
              <a:rPr sz="1350" spc="-30" dirty="0">
                <a:latin typeface="Arial"/>
                <a:cs typeface="Arial"/>
              </a:rPr>
              <a:t>unterliegt</a:t>
            </a:r>
            <a:r>
              <a:rPr sz="1350" spc="-5" dirty="0">
                <a:latin typeface="Arial"/>
                <a:cs typeface="Arial"/>
              </a:rPr>
              <a:t> </a:t>
            </a:r>
            <a:r>
              <a:rPr sz="1350" spc="-50" dirty="0">
                <a:latin typeface="Arial"/>
                <a:cs typeface="Arial"/>
              </a:rPr>
              <a:t>externen</a:t>
            </a:r>
            <a:r>
              <a:rPr sz="1350" spc="-10" dirty="0">
                <a:latin typeface="Arial"/>
                <a:cs typeface="Arial"/>
              </a:rPr>
              <a:t> </a:t>
            </a:r>
            <a:r>
              <a:rPr sz="1350" spc="-55" dirty="0">
                <a:latin typeface="Arial"/>
                <a:cs typeface="Arial"/>
              </a:rPr>
              <a:t>Vorschriften</a:t>
            </a:r>
            <a:r>
              <a:rPr sz="1350" spc="-30" dirty="0">
                <a:latin typeface="Arial"/>
                <a:cs typeface="Arial"/>
              </a:rPr>
              <a:t> </a:t>
            </a:r>
            <a:r>
              <a:rPr sz="1350" spc="-80" dirty="0">
                <a:latin typeface="Arial"/>
                <a:cs typeface="Arial"/>
              </a:rPr>
              <a:t>(Genehmigung</a:t>
            </a:r>
            <a:r>
              <a:rPr sz="1350" spc="-5" dirty="0">
                <a:latin typeface="Arial"/>
                <a:cs typeface="Arial"/>
              </a:rPr>
              <a:t> </a:t>
            </a:r>
            <a:r>
              <a:rPr sz="1350" spc="-80" dirty="0">
                <a:latin typeface="Arial"/>
                <a:cs typeface="Arial"/>
              </a:rPr>
              <a:t>nach</a:t>
            </a:r>
            <a:r>
              <a:rPr sz="1350" spc="-2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Standard).</a:t>
            </a:r>
            <a:endParaRPr sz="135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5633"/>
            <a:ext cx="50215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Plangesteuert</a:t>
            </a:r>
            <a:r>
              <a:rPr spc="-200" dirty="0"/>
              <a:t> </a:t>
            </a:r>
            <a:r>
              <a:rPr spc="-130" dirty="0"/>
              <a:t>oder</a:t>
            </a:r>
            <a:r>
              <a:rPr spc="-185" dirty="0"/>
              <a:t> </a:t>
            </a:r>
            <a:r>
              <a:rPr spc="-145" dirty="0"/>
              <a:t>agil?</a:t>
            </a:r>
          </a:p>
        </p:txBody>
      </p:sp>
      <p:sp>
        <p:nvSpPr>
          <p:cNvPr id="3" name="object 3"/>
          <p:cNvSpPr/>
          <p:nvPr/>
        </p:nvSpPr>
        <p:spPr>
          <a:xfrm>
            <a:off x="629412" y="5908547"/>
            <a:ext cx="7886700" cy="429895"/>
          </a:xfrm>
          <a:custGeom>
            <a:avLst/>
            <a:gdLst/>
            <a:ahLst/>
            <a:cxnLst/>
            <a:rect l="l" t="t" r="r" b="b"/>
            <a:pathLst>
              <a:path w="7886700" h="429895">
                <a:moveTo>
                  <a:pt x="0" y="71627"/>
                </a:moveTo>
                <a:lnTo>
                  <a:pt x="5628" y="43746"/>
                </a:lnTo>
                <a:lnTo>
                  <a:pt x="20978" y="20978"/>
                </a:lnTo>
                <a:lnTo>
                  <a:pt x="43746" y="5628"/>
                </a:lnTo>
                <a:lnTo>
                  <a:pt x="71628" y="0"/>
                </a:lnTo>
                <a:lnTo>
                  <a:pt x="7815071" y="0"/>
                </a:lnTo>
                <a:lnTo>
                  <a:pt x="7842926" y="5628"/>
                </a:lnTo>
                <a:lnTo>
                  <a:pt x="7865697" y="20978"/>
                </a:lnTo>
                <a:lnTo>
                  <a:pt x="7881062" y="43746"/>
                </a:lnTo>
                <a:lnTo>
                  <a:pt x="7886700" y="71627"/>
                </a:lnTo>
                <a:lnTo>
                  <a:pt x="7886700" y="358139"/>
                </a:lnTo>
                <a:lnTo>
                  <a:pt x="7881062" y="386021"/>
                </a:lnTo>
                <a:lnTo>
                  <a:pt x="7865697" y="408789"/>
                </a:lnTo>
                <a:lnTo>
                  <a:pt x="7842926" y="424139"/>
                </a:lnTo>
                <a:lnTo>
                  <a:pt x="7815071" y="429767"/>
                </a:lnTo>
                <a:lnTo>
                  <a:pt x="71628" y="429767"/>
                </a:lnTo>
                <a:lnTo>
                  <a:pt x="43746" y="424139"/>
                </a:lnTo>
                <a:lnTo>
                  <a:pt x="20978" y="408789"/>
                </a:lnTo>
                <a:lnTo>
                  <a:pt x="5628" y="386021"/>
                </a:lnTo>
                <a:lnTo>
                  <a:pt x="0" y="358139"/>
                </a:lnTo>
                <a:lnTo>
                  <a:pt x="0" y="71627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6518" y="5945835"/>
            <a:ext cx="7351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latin typeface="Arial"/>
                <a:cs typeface="Arial"/>
              </a:rPr>
              <a:t>Für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eingebettete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35" dirty="0">
                <a:latin typeface="Arial"/>
                <a:cs typeface="Arial"/>
              </a:rPr>
              <a:t>Systeme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sind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generell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b="1" spc="-130" dirty="0">
                <a:latin typeface="Arial"/>
                <a:cs typeface="Arial"/>
              </a:rPr>
              <a:t>plangesteuerte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190" dirty="0">
                <a:latin typeface="Arial"/>
                <a:cs typeface="Arial"/>
              </a:rPr>
              <a:t>Prozesse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zu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empfehlen.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8650" y="1806320"/>
          <a:ext cx="7886700" cy="3846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9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5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Aussage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Empfehlung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spc="-75" dirty="0">
                          <a:latin typeface="Arial"/>
                          <a:cs typeface="Arial"/>
                        </a:rPr>
                        <a:t>Die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Entwicklung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 benötigt</a:t>
                      </a:r>
                      <a:r>
                        <a:rPr sz="13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0" dirty="0">
                          <a:latin typeface="Arial"/>
                          <a:cs typeface="Arial"/>
                        </a:rPr>
                        <a:t>eine</a:t>
                      </a:r>
                      <a:r>
                        <a:rPr sz="13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75" dirty="0">
                          <a:latin typeface="Arial"/>
                          <a:cs typeface="Arial"/>
                        </a:rPr>
                        <a:t>sehr</a:t>
                      </a:r>
                      <a:r>
                        <a:rPr sz="13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detaillierte</a:t>
                      </a:r>
                      <a:r>
                        <a:rPr sz="13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Spezifikation.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spc="-10" dirty="0">
                          <a:solidFill>
                            <a:srgbClr val="4471C4"/>
                          </a:solidFill>
                          <a:latin typeface="Arial"/>
                          <a:cs typeface="Arial"/>
                        </a:rPr>
                        <a:t>Plangesteuert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45" dirty="0">
                          <a:latin typeface="Arial"/>
                          <a:cs typeface="Arial"/>
                        </a:rPr>
                        <a:t>Inkrementelle </a:t>
                      </a:r>
                      <a:r>
                        <a:rPr sz="1350" spc="-60" dirty="0">
                          <a:latin typeface="Arial"/>
                          <a:cs typeface="Arial"/>
                        </a:rPr>
                        <a:t>Auslieferung</a:t>
                      </a:r>
                      <a:r>
                        <a:rPr sz="13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ist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realistisch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und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80" dirty="0">
                          <a:latin typeface="Arial"/>
                          <a:cs typeface="Arial"/>
                        </a:rPr>
                        <a:t>schnelles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80" dirty="0">
                          <a:latin typeface="Arial"/>
                          <a:cs typeface="Arial"/>
                        </a:rPr>
                        <a:t>Kundenfeedback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gewünscht.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20" dirty="0">
                          <a:solidFill>
                            <a:srgbClr val="4471C4"/>
                          </a:solidFill>
                          <a:latin typeface="Arial"/>
                          <a:cs typeface="Arial"/>
                        </a:rPr>
                        <a:t>Agil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145" dirty="0">
                          <a:latin typeface="Arial"/>
                          <a:cs typeface="Arial"/>
                        </a:rPr>
                        <a:t>Das</a:t>
                      </a:r>
                      <a:r>
                        <a:rPr sz="135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Entwicklerteam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ist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5" dirty="0">
                          <a:latin typeface="Arial"/>
                          <a:cs typeface="Arial"/>
                        </a:rPr>
                        <a:t>zu</a:t>
                      </a:r>
                      <a:r>
                        <a:rPr sz="13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75" dirty="0">
                          <a:latin typeface="Arial"/>
                          <a:cs typeface="Arial"/>
                        </a:rPr>
                        <a:t>groß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für</a:t>
                      </a:r>
                      <a:r>
                        <a:rPr sz="13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informellen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Austausch.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10" dirty="0">
                          <a:solidFill>
                            <a:srgbClr val="4471C4"/>
                          </a:solidFill>
                          <a:latin typeface="Arial"/>
                          <a:cs typeface="Arial"/>
                        </a:rPr>
                        <a:t>Plangesteuert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80" dirty="0">
                          <a:latin typeface="Arial"/>
                          <a:cs typeface="Arial"/>
                        </a:rPr>
                        <a:t>Die</a:t>
                      </a:r>
                      <a:r>
                        <a:rPr sz="135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Anforderungen</a:t>
                      </a:r>
                      <a:r>
                        <a:rPr sz="13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0" dirty="0">
                          <a:latin typeface="Arial"/>
                          <a:cs typeface="Arial"/>
                        </a:rPr>
                        <a:t>sind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70" dirty="0">
                          <a:latin typeface="Arial"/>
                          <a:cs typeface="Arial"/>
                        </a:rPr>
                        <a:t>komplex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und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haben</a:t>
                      </a:r>
                      <a:r>
                        <a:rPr sz="135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hohen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70" dirty="0">
                          <a:latin typeface="Arial"/>
                          <a:cs typeface="Arial"/>
                        </a:rPr>
                        <a:t>Analysebedarf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95" dirty="0">
                          <a:latin typeface="Arial"/>
                          <a:cs typeface="Arial"/>
                        </a:rPr>
                        <a:t>(z.B.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Echtzeitsystem).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10" dirty="0">
                          <a:solidFill>
                            <a:srgbClr val="4471C4"/>
                          </a:solidFill>
                          <a:latin typeface="Arial"/>
                          <a:cs typeface="Arial"/>
                        </a:rPr>
                        <a:t>Plangesteuert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140" dirty="0">
                          <a:latin typeface="Arial"/>
                          <a:cs typeface="Arial"/>
                        </a:rPr>
                        <a:t>Das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10" dirty="0">
                          <a:latin typeface="Arial"/>
                          <a:cs typeface="Arial"/>
                        </a:rPr>
                        <a:t>System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ist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sehr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langlebig,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umfangreiche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Dokumentation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erwünscht.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10" dirty="0">
                          <a:solidFill>
                            <a:srgbClr val="4471C4"/>
                          </a:solidFill>
                          <a:latin typeface="Arial"/>
                          <a:cs typeface="Arial"/>
                        </a:rPr>
                        <a:t>Plangesteuert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200" dirty="0">
                          <a:latin typeface="Arial"/>
                          <a:cs typeface="Arial"/>
                        </a:rPr>
                        <a:t>Es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sind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sehr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gute </a:t>
                      </a:r>
                      <a:r>
                        <a:rPr sz="1350" spc="-90" dirty="0">
                          <a:latin typeface="Arial"/>
                          <a:cs typeface="Arial"/>
                        </a:rPr>
                        <a:t>Werkzeuge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zur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nachvollziehbaren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0" dirty="0">
                          <a:latin typeface="Arial"/>
                          <a:cs typeface="Arial"/>
                        </a:rPr>
                        <a:t>Entwicklung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95" dirty="0">
                          <a:latin typeface="Arial"/>
                          <a:cs typeface="Arial"/>
                        </a:rPr>
                        <a:t>des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 Entwurfs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vorhanden.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20" dirty="0">
                          <a:solidFill>
                            <a:srgbClr val="4471C4"/>
                          </a:solidFill>
                          <a:latin typeface="Arial"/>
                          <a:cs typeface="Arial"/>
                        </a:rPr>
                        <a:t>Agil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95" dirty="0">
                          <a:latin typeface="Arial"/>
                          <a:cs typeface="Arial"/>
                        </a:rPr>
                        <a:t>Kunde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verlangt</a:t>
                      </a:r>
                      <a:r>
                        <a:rPr sz="13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0" dirty="0">
                          <a:latin typeface="Arial"/>
                          <a:cs typeface="Arial"/>
                        </a:rPr>
                        <a:t>belastbare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Spezifikation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0" dirty="0">
                          <a:latin typeface="Arial"/>
                          <a:cs typeface="Arial"/>
                        </a:rPr>
                        <a:t>vorab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(Pflichtenheft).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10" dirty="0">
                          <a:solidFill>
                            <a:srgbClr val="4471C4"/>
                          </a:solidFill>
                          <a:latin typeface="Arial"/>
                          <a:cs typeface="Arial"/>
                        </a:rPr>
                        <a:t>Plangesteuert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145" dirty="0">
                          <a:latin typeface="Arial"/>
                          <a:cs typeface="Arial"/>
                        </a:rPr>
                        <a:t>Das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35" dirty="0">
                          <a:latin typeface="Arial"/>
                          <a:cs typeface="Arial"/>
                        </a:rPr>
                        <a:t>Team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ist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0" dirty="0">
                          <a:latin typeface="Arial"/>
                          <a:cs typeface="Arial"/>
                        </a:rPr>
                        <a:t>dezentral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organisiert,</a:t>
                      </a:r>
                      <a:r>
                        <a:rPr sz="13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Schnittstellen </a:t>
                      </a:r>
                      <a:r>
                        <a:rPr sz="1350" spc="-95" dirty="0">
                          <a:latin typeface="Arial"/>
                          <a:cs typeface="Arial"/>
                        </a:rPr>
                        <a:t>müssen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gründlich</a:t>
                      </a:r>
                      <a:r>
                        <a:rPr sz="13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entworfen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werden.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10" dirty="0">
                          <a:solidFill>
                            <a:srgbClr val="4471C4"/>
                          </a:solidFill>
                          <a:latin typeface="Arial"/>
                          <a:cs typeface="Arial"/>
                        </a:rPr>
                        <a:t>Plangesteuert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145" dirty="0">
                          <a:latin typeface="Arial"/>
                          <a:cs typeface="Arial"/>
                        </a:rPr>
                        <a:t>Das</a:t>
                      </a:r>
                      <a:r>
                        <a:rPr sz="135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35" dirty="0">
                          <a:latin typeface="Arial"/>
                          <a:cs typeface="Arial"/>
                        </a:rPr>
                        <a:t>Team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verfügt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über</a:t>
                      </a:r>
                      <a:r>
                        <a:rPr sz="13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viele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erfahrene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60" dirty="0">
                          <a:latin typeface="Arial"/>
                          <a:cs typeface="Arial"/>
                        </a:rPr>
                        <a:t>Programmierer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die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70" dirty="0">
                          <a:latin typeface="Arial"/>
                          <a:cs typeface="Arial"/>
                        </a:rPr>
                        <a:t>selbstständig</a:t>
                      </a:r>
                      <a:r>
                        <a:rPr sz="135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40" dirty="0">
                          <a:latin typeface="Arial"/>
                          <a:cs typeface="Arial"/>
                        </a:rPr>
                        <a:t>arbeiten</a:t>
                      </a:r>
                      <a:r>
                        <a:rPr sz="135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können.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20" dirty="0">
                          <a:solidFill>
                            <a:srgbClr val="4471C4"/>
                          </a:solidFill>
                          <a:latin typeface="Arial"/>
                          <a:cs typeface="Arial"/>
                        </a:rPr>
                        <a:t>Agil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50" spc="-145" dirty="0">
                          <a:latin typeface="Arial"/>
                          <a:cs typeface="Arial"/>
                        </a:rPr>
                        <a:t>Das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10" dirty="0">
                          <a:latin typeface="Arial"/>
                          <a:cs typeface="Arial"/>
                        </a:rPr>
                        <a:t>System</a:t>
                      </a:r>
                      <a:r>
                        <a:rPr sz="135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unterliegt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0" dirty="0">
                          <a:latin typeface="Arial"/>
                          <a:cs typeface="Arial"/>
                        </a:rPr>
                        <a:t>externen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55" dirty="0">
                          <a:latin typeface="Arial"/>
                          <a:cs typeface="Arial"/>
                        </a:rPr>
                        <a:t>Vorschriften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80" dirty="0">
                          <a:latin typeface="Arial"/>
                          <a:cs typeface="Arial"/>
                        </a:rPr>
                        <a:t>(Genehmigung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80" dirty="0">
                          <a:latin typeface="Arial"/>
                          <a:cs typeface="Arial"/>
                        </a:rPr>
                        <a:t>nach</a:t>
                      </a:r>
                      <a:r>
                        <a:rPr sz="13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latin typeface="Arial"/>
                          <a:cs typeface="Arial"/>
                        </a:rPr>
                        <a:t>Standard).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350" spc="-10" dirty="0">
                          <a:solidFill>
                            <a:srgbClr val="4471C4"/>
                          </a:solidFill>
                          <a:latin typeface="Arial"/>
                          <a:cs typeface="Arial"/>
                        </a:rPr>
                        <a:t>Plangesteuert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63346" y="1268348"/>
            <a:ext cx="71069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90" dirty="0">
                <a:solidFill>
                  <a:srgbClr val="EC7C30"/>
                </a:solidFill>
                <a:latin typeface="Arial"/>
                <a:cs typeface="Arial"/>
              </a:rPr>
              <a:t>Wo</a:t>
            </a:r>
            <a:r>
              <a:rPr sz="2200" b="1" spc="-8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110" dirty="0">
                <a:solidFill>
                  <a:srgbClr val="EC7C30"/>
                </a:solidFill>
                <a:latin typeface="Arial"/>
                <a:cs typeface="Arial"/>
              </a:rPr>
              <a:t>empfiehlt</a:t>
            </a:r>
            <a:r>
              <a:rPr sz="2200" b="1" spc="-9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240" dirty="0">
                <a:solidFill>
                  <a:srgbClr val="EC7C30"/>
                </a:solidFill>
                <a:latin typeface="Arial"/>
                <a:cs typeface="Arial"/>
              </a:rPr>
              <a:t>sich</a:t>
            </a:r>
            <a:r>
              <a:rPr sz="2200" b="1" spc="-8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135" dirty="0">
                <a:solidFill>
                  <a:srgbClr val="EC7C30"/>
                </a:solidFill>
                <a:latin typeface="Arial"/>
                <a:cs typeface="Arial"/>
              </a:rPr>
              <a:t>ein</a:t>
            </a:r>
            <a:r>
              <a:rPr sz="2200" b="1" spc="-9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150" dirty="0">
                <a:solidFill>
                  <a:srgbClr val="EC7C30"/>
                </a:solidFill>
                <a:latin typeface="Arial"/>
                <a:cs typeface="Arial"/>
              </a:rPr>
              <a:t>plangesteuerter,</a:t>
            </a:r>
            <a:r>
              <a:rPr sz="2200" b="1" spc="-5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155" dirty="0">
                <a:solidFill>
                  <a:srgbClr val="EC7C30"/>
                </a:solidFill>
                <a:latin typeface="Arial"/>
                <a:cs typeface="Arial"/>
              </a:rPr>
              <a:t>wo</a:t>
            </a:r>
            <a:r>
              <a:rPr sz="2200" b="1" spc="-7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135" dirty="0">
                <a:solidFill>
                  <a:srgbClr val="EC7C30"/>
                </a:solidFill>
                <a:latin typeface="Arial"/>
                <a:cs typeface="Arial"/>
              </a:rPr>
              <a:t>ein</a:t>
            </a:r>
            <a:r>
              <a:rPr sz="2200" b="1" spc="-9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150" dirty="0">
                <a:solidFill>
                  <a:srgbClr val="EC7C30"/>
                </a:solidFill>
                <a:latin typeface="Arial"/>
                <a:cs typeface="Arial"/>
              </a:rPr>
              <a:t>agiler</a:t>
            </a:r>
            <a:r>
              <a:rPr sz="2200" b="1" spc="-7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200" b="1" spc="-270" dirty="0">
                <a:solidFill>
                  <a:srgbClr val="EC7C30"/>
                </a:solidFill>
                <a:latin typeface="Arial"/>
                <a:cs typeface="Arial"/>
              </a:rPr>
              <a:t>Prozess?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62618"/>
            <a:ext cx="7239000" cy="579773"/>
          </a:xfrm>
          <a:prstGeom prst="rect">
            <a:avLst/>
          </a:prstGeom>
        </p:spPr>
        <p:txBody>
          <a:bodyPr vert="horz" wrap="square" lIns="0" tIns="864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0" dirty="0"/>
              <a:t>Wiederverwendungsorientierte</a:t>
            </a:r>
            <a:r>
              <a:rPr sz="3200" spc="5" dirty="0"/>
              <a:t> </a:t>
            </a:r>
            <a:r>
              <a:rPr sz="3200" spc="-285" dirty="0"/>
              <a:t>Prozesse</a:t>
            </a:r>
            <a:endParaRPr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542" y="1405889"/>
            <a:ext cx="7406005" cy="4611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90"/>
              </a:lnSpc>
              <a:spcBef>
                <a:spcPts val="105"/>
              </a:spcBef>
            </a:pPr>
            <a:r>
              <a:rPr sz="2000" spc="-105" dirty="0">
                <a:latin typeface="Arial"/>
                <a:cs typeface="Arial"/>
              </a:rPr>
              <a:t>Während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der</a:t>
            </a:r>
            <a:r>
              <a:rPr sz="2000" spc="-90" dirty="0">
                <a:latin typeface="Arial"/>
                <a:cs typeface="Arial"/>
              </a:rPr>
              <a:t> Entwicklung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entstehen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zunächst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b="1" spc="-165" dirty="0">
                <a:latin typeface="Arial"/>
                <a:cs typeface="Arial"/>
              </a:rPr>
              <a:t>versunkene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Kosten</a:t>
            </a:r>
            <a:endParaRPr sz="2000">
              <a:latin typeface="Arial"/>
              <a:cs typeface="Arial"/>
            </a:endParaRPr>
          </a:p>
          <a:p>
            <a:pPr marL="697865" indent="-227965">
              <a:lnSpc>
                <a:spcPts val="2290"/>
              </a:lnSpc>
              <a:buClr>
                <a:srgbClr val="2D75B6"/>
              </a:buClr>
              <a:buSzPct val="110000"/>
              <a:buFont typeface="Wingdings"/>
              <a:buChar char=""/>
              <a:tabLst>
                <a:tab pos="697865" algn="l"/>
              </a:tabLst>
            </a:pPr>
            <a:r>
              <a:rPr sz="2000" spc="-170" dirty="0">
                <a:latin typeface="Arial"/>
                <a:cs typeface="Arial"/>
              </a:rPr>
              <a:t>Bis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zur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b="1" spc="-150" dirty="0">
                <a:latin typeface="Arial"/>
                <a:cs typeface="Arial"/>
              </a:rPr>
              <a:t>Fertigstellung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ist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die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Software</a:t>
            </a:r>
            <a:r>
              <a:rPr sz="2000" spc="-70" dirty="0">
                <a:latin typeface="Arial"/>
                <a:cs typeface="Arial"/>
              </a:rPr>
              <a:t> größtenteils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wertlos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70"/>
              </a:spcBef>
              <a:buClr>
                <a:srgbClr val="2D75B6"/>
              </a:buClr>
              <a:buFont typeface="Wingdings"/>
              <a:buChar char=""/>
            </a:pPr>
            <a:endParaRPr sz="2000">
              <a:latin typeface="Arial"/>
              <a:cs typeface="Arial"/>
            </a:endParaRPr>
          </a:p>
          <a:p>
            <a:pPr marL="12700" marR="24130">
              <a:lnSpc>
                <a:spcPct val="70000"/>
              </a:lnSpc>
            </a:pPr>
            <a:r>
              <a:rPr sz="2000" spc="-120" dirty="0">
                <a:latin typeface="Arial"/>
                <a:cs typeface="Arial"/>
              </a:rPr>
              <a:t>Die</a:t>
            </a:r>
            <a:r>
              <a:rPr sz="2000" spc="-90" dirty="0">
                <a:latin typeface="Arial"/>
                <a:cs typeface="Arial"/>
              </a:rPr>
              <a:t> Entwicklung </a:t>
            </a:r>
            <a:r>
              <a:rPr sz="2000" spc="-110" dirty="0">
                <a:latin typeface="Arial"/>
                <a:cs typeface="Arial"/>
              </a:rPr>
              <a:t>eines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65" dirty="0">
                <a:latin typeface="Arial"/>
                <a:cs typeface="Arial"/>
              </a:rPr>
              <a:t>Systems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kann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beschleunigt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(und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damit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günstiger) </a:t>
            </a:r>
            <a:r>
              <a:rPr sz="2000" spc="-75" dirty="0">
                <a:latin typeface="Arial"/>
                <a:cs typeface="Arial"/>
              </a:rPr>
              <a:t>werden,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indem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Komponenten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b="1" spc="-110" dirty="0">
                <a:latin typeface="Arial"/>
                <a:cs typeface="Arial"/>
              </a:rPr>
              <a:t>wiederverwendet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werden.</a:t>
            </a:r>
            <a:endParaRPr sz="2000">
              <a:latin typeface="Arial"/>
              <a:cs typeface="Arial"/>
            </a:endParaRPr>
          </a:p>
          <a:p>
            <a:pPr marL="697865" indent="-227965">
              <a:lnSpc>
                <a:spcPts val="2185"/>
              </a:lnSpc>
              <a:buClr>
                <a:srgbClr val="2D75B6"/>
              </a:buClr>
              <a:buSzPct val="110000"/>
              <a:buFont typeface="Wingdings"/>
              <a:buChar char=""/>
              <a:tabLst>
                <a:tab pos="697865" algn="l"/>
              </a:tabLst>
            </a:pPr>
            <a:r>
              <a:rPr sz="2000" spc="-105" dirty="0">
                <a:latin typeface="Arial"/>
                <a:cs typeface="Arial"/>
              </a:rPr>
              <a:t>„Time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Market“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verkürzt,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Entwicklungskosten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reduziert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ts val="2285"/>
              </a:lnSpc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i="1" spc="-130" dirty="0">
                <a:latin typeface="Arial"/>
                <a:cs typeface="Arial"/>
              </a:rPr>
              <a:t>Analyse</a:t>
            </a:r>
            <a:r>
              <a:rPr sz="2000" i="1" spc="-100" dirty="0">
                <a:latin typeface="Arial"/>
                <a:cs typeface="Arial"/>
              </a:rPr>
              <a:t> </a:t>
            </a:r>
            <a:r>
              <a:rPr sz="2000" i="1" spc="-85" dirty="0">
                <a:latin typeface="Arial"/>
                <a:cs typeface="Arial"/>
              </a:rPr>
              <a:t>der</a:t>
            </a:r>
            <a:r>
              <a:rPr sz="2000" i="1" spc="-75" dirty="0">
                <a:latin typeface="Arial"/>
                <a:cs typeface="Arial"/>
              </a:rPr>
              <a:t> </a:t>
            </a:r>
            <a:r>
              <a:rPr sz="2000" i="1" spc="-20" dirty="0">
                <a:latin typeface="Arial"/>
                <a:cs typeface="Arial"/>
              </a:rPr>
              <a:t>Komponenten</a:t>
            </a:r>
            <a:endParaRPr sz="2000">
              <a:latin typeface="Arial"/>
              <a:cs typeface="Arial"/>
            </a:endParaRPr>
          </a:p>
          <a:p>
            <a:pPr marL="355600" marR="2058035">
              <a:lnSpc>
                <a:spcPct val="70000"/>
              </a:lnSpc>
              <a:spcBef>
                <a:spcPts val="610"/>
              </a:spcBef>
            </a:pPr>
            <a:r>
              <a:rPr sz="2000" spc="-155" dirty="0">
                <a:latin typeface="Arial"/>
                <a:cs typeface="Arial"/>
              </a:rPr>
              <a:t>Aus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den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bestehenden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Komponenten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werden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zur </a:t>
            </a:r>
            <a:r>
              <a:rPr sz="2000" spc="-85" dirty="0">
                <a:latin typeface="Arial"/>
                <a:cs typeface="Arial"/>
              </a:rPr>
              <a:t>Anforderungsspezifikation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passende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ausgesucht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ts val="2285"/>
              </a:lnSpc>
              <a:spcBef>
                <a:spcPts val="28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i="1" spc="-135" dirty="0">
                <a:latin typeface="Arial"/>
                <a:cs typeface="Arial"/>
              </a:rPr>
              <a:t>Anpassung</a:t>
            </a:r>
            <a:r>
              <a:rPr sz="2000" i="1" spc="-125" dirty="0">
                <a:latin typeface="Arial"/>
                <a:cs typeface="Arial"/>
              </a:rPr>
              <a:t> </a:t>
            </a:r>
            <a:r>
              <a:rPr sz="2000" i="1" spc="-80" dirty="0">
                <a:latin typeface="Arial"/>
                <a:cs typeface="Arial"/>
              </a:rPr>
              <a:t>der</a:t>
            </a:r>
            <a:r>
              <a:rPr sz="2000" i="1" spc="-9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Anforderungen</a:t>
            </a:r>
            <a:endParaRPr sz="2000">
              <a:latin typeface="Arial"/>
              <a:cs typeface="Arial"/>
            </a:endParaRPr>
          </a:p>
          <a:p>
            <a:pPr marL="355600" marR="361950">
              <a:lnSpc>
                <a:spcPct val="70000"/>
              </a:lnSpc>
              <a:spcBef>
                <a:spcPts val="605"/>
              </a:spcBef>
            </a:pPr>
            <a:r>
              <a:rPr sz="2000" spc="-90" dirty="0">
                <a:latin typeface="Arial"/>
                <a:cs typeface="Arial"/>
              </a:rPr>
              <a:t>Eventuell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werden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die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Anforderungen </a:t>
            </a:r>
            <a:r>
              <a:rPr sz="2000" spc="-90" dirty="0">
                <a:latin typeface="Arial"/>
                <a:cs typeface="Arial"/>
              </a:rPr>
              <a:t>bestehender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Komponenten </a:t>
            </a:r>
            <a:r>
              <a:rPr sz="2000" spc="-25" dirty="0">
                <a:latin typeface="Arial"/>
                <a:cs typeface="Arial"/>
              </a:rPr>
              <a:t>angepasst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ts val="2285"/>
              </a:lnSpc>
              <a:spcBef>
                <a:spcPts val="29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i="1" spc="-135" dirty="0">
                <a:latin typeface="Arial"/>
                <a:cs typeface="Arial"/>
              </a:rPr>
              <a:t>Ergänzung</a:t>
            </a:r>
            <a:r>
              <a:rPr sz="2000" i="1" spc="-105" dirty="0">
                <a:latin typeface="Arial"/>
                <a:cs typeface="Arial"/>
              </a:rPr>
              <a:t> </a:t>
            </a:r>
            <a:r>
              <a:rPr sz="2000" i="1" spc="-95" dirty="0">
                <a:latin typeface="Arial"/>
                <a:cs typeface="Arial"/>
              </a:rPr>
              <a:t>und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spc="-50" dirty="0">
                <a:latin typeface="Arial"/>
                <a:cs typeface="Arial"/>
              </a:rPr>
              <a:t>Integration</a:t>
            </a:r>
            <a:r>
              <a:rPr sz="2000" i="1" spc="-85" dirty="0">
                <a:latin typeface="Arial"/>
                <a:cs typeface="Arial"/>
              </a:rPr>
              <a:t> der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Komponenten</a:t>
            </a:r>
            <a:endParaRPr sz="2000">
              <a:latin typeface="Arial"/>
              <a:cs typeface="Arial"/>
            </a:endParaRPr>
          </a:p>
          <a:p>
            <a:pPr marL="355600" marR="5080">
              <a:lnSpc>
                <a:spcPct val="70000"/>
              </a:lnSpc>
              <a:spcBef>
                <a:spcPts val="605"/>
              </a:spcBef>
            </a:pPr>
            <a:r>
              <a:rPr sz="2000" spc="-114" dirty="0">
                <a:latin typeface="Arial"/>
                <a:cs typeface="Arial"/>
              </a:rPr>
              <a:t>Fehlende</a:t>
            </a:r>
            <a:r>
              <a:rPr sz="2000" spc="-95" dirty="0">
                <a:latin typeface="Arial"/>
                <a:cs typeface="Arial"/>
              </a:rPr>
              <a:t> Komponenten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werden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neu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erstellt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und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zusammen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den </a:t>
            </a:r>
            <a:r>
              <a:rPr sz="2000" spc="-130" dirty="0">
                <a:latin typeface="Arial"/>
                <a:cs typeface="Arial"/>
              </a:rPr>
              <a:t>angepassten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Komponenten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zum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Gesamtsystem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integriert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62618"/>
            <a:ext cx="7010400" cy="579773"/>
          </a:xfrm>
          <a:prstGeom prst="rect">
            <a:avLst/>
          </a:prstGeom>
        </p:spPr>
        <p:txBody>
          <a:bodyPr vert="horz" wrap="square" lIns="0" tIns="864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0" dirty="0"/>
              <a:t>Wiederverwendungsorientierte</a:t>
            </a:r>
            <a:r>
              <a:rPr sz="3200" spc="5" dirty="0"/>
              <a:t> </a:t>
            </a:r>
            <a:r>
              <a:rPr sz="3200" spc="-285" dirty="0"/>
              <a:t>Prozesse</a:t>
            </a:r>
            <a:endParaRPr sz="3200" dirty="0"/>
          </a:p>
        </p:txBody>
      </p:sp>
      <p:grpSp>
        <p:nvGrpSpPr>
          <p:cNvPr id="3" name="object 3"/>
          <p:cNvGrpSpPr/>
          <p:nvPr/>
        </p:nvGrpSpPr>
        <p:grpSpPr>
          <a:xfrm>
            <a:off x="629410" y="2650879"/>
            <a:ext cx="8066405" cy="1820545"/>
            <a:chOff x="629410" y="2650879"/>
            <a:chExt cx="8066405" cy="1820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410" y="2654174"/>
              <a:ext cx="4115416" cy="14709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7606" y="3980170"/>
              <a:ext cx="1060997" cy="4910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1553" y="2764145"/>
              <a:ext cx="1060997" cy="5206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7606" y="3351803"/>
              <a:ext cx="1060997" cy="48225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34660" y="3614346"/>
              <a:ext cx="1060851" cy="4811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601" y="3187051"/>
              <a:ext cx="0" cy="500380"/>
            </a:xfrm>
            <a:custGeom>
              <a:avLst/>
              <a:gdLst/>
              <a:ahLst/>
              <a:cxnLst/>
              <a:rect l="l" t="t" r="r" b="b"/>
              <a:pathLst>
                <a:path h="500379">
                  <a:moveTo>
                    <a:pt x="0" y="0"/>
                  </a:moveTo>
                  <a:lnTo>
                    <a:pt x="0" y="0"/>
                  </a:lnTo>
                  <a:lnTo>
                    <a:pt x="0" y="499796"/>
                  </a:lnTo>
                </a:path>
              </a:pathLst>
            </a:custGeom>
            <a:ln w="65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55515" y="2654174"/>
              <a:ext cx="3032760" cy="551815"/>
            </a:xfrm>
            <a:custGeom>
              <a:avLst/>
              <a:gdLst/>
              <a:ahLst/>
              <a:cxnLst/>
              <a:rect l="l" t="t" r="r" b="b"/>
              <a:pathLst>
                <a:path w="3032760" h="551814">
                  <a:moveTo>
                    <a:pt x="3032455" y="0"/>
                  </a:moveTo>
                  <a:lnTo>
                    <a:pt x="3032455" y="0"/>
                  </a:lnTo>
                  <a:lnTo>
                    <a:pt x="0" y="0"/>
                  </a:lnTo>
                </a:path>
                <a:path w="3032760" h="551814">
                  <a:moveTo>
                    <a:pt x="0" y="0"/>
                  </a:moveTo>
                  <a:lnTo>
                    <a:pt x="0" y="0"/>
                  </a:lnTo>
                  <a:lnTo>
                    <a:pt x="0" y="551517"/>
                  </a:lnTo>
                </a:path>
              </a:pathLst>
            </a:custGeom>
            <a:ln w="6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374" y="3188076"/>
              <a:ext cx="69215" cy="62865"/>
            </a:xfrm>
            <a:custGeom>
              <a:avLst/>
              <a:gdLst/>
              <a:ahLst/>
              <a:cxnLst/>
              <a:rect l="l" t="t" r="r" b="b"/>
              <a:pathLst>
                <a:path w="69215" h="62864">
                  <a:moveTo>
                    <a:pt x="69185" y="0"/>
                  </a:moveTo>
                  <a:lnTo>
                    <a:pt x="35141" y="12124"/>
                  </a:lnTo>
                  <a:lnTo>
                    <a:pt x="0" y="0"/>
                  </a:lnTo>
                  <a:lnTo>
                    <a:pt x="10432" y="13359"/>
                  </a:lnTo>
                  <a:lnTo>
                    <a:pt x="20041" y="29281"/>
                  </a:lnTo>
                  <a:lnTo>
                    <a:pt x="28415" y="46227"/>
                  </a:lnTo>
                  <a:lnTo>
                    <a:pt x="35141" y="62659"/>
                  </a:lnTo>
                  <a:lnTo>
                    <a:pt x="41851" y="46227"/>
                  </a:lnTo>
                  <a:lnTo>
                    <a:pt x="50104" y="29281"/>
                  </a:lnTo>
                  <a:lnTo>
                    <a:pt x="59387" y="13359"/>
                  </a:lnTo>
                  <a:lnTo>
                    <a:pt x="69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6694" y="3333119"/>
              <a:ext cx="392053" cy="21422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69114" y="2755214"/>
              <a:ext cx="1040201" cy="5493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075451" y="3440778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39">
                  <a:moveTo>
                    <a:pt x="0" y="0"/>
                  </a:moveTo>
                  <a:lnTo>
                    <a:pt x="0" y="0"/>
                  </a:lnTo>
                  <a:lnTo>
                    <a:pt x="91222" y="0"/>
                  </a:lnTo>
                </a:path>
              </a:pathLst>
            </a:custGeom>
            <a:ln w="6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47931" y="3405619"/>
              <a:ext cx="62865" cy="69215"/>
            </a:xfrm>
            <a:custGeom>
              <a:avLst/>
              <a:gdLst/>
              <a:ahLst/>
              <a:cxnLst/>
              <a:rect l="l" t="t" r="r" b="b"/>
              <a:pathLst>
                <a:path w="62864" h="69214">
                  <a:moveTo>
                    <a:pt x="0" y="0"/>
                  </a:moveTo>
                  <a:lnTo>
                    <a:pt x="12153" y="35159"/>
                  </a:lnTo>
                  <a:lnTo>
                    <a:pt x="0" y="69219"/>
                  </a:lnTo>
                  <a:lnTo>
                    <a:pt x="13827" y="59412"/>
                  </a:lnTo>
                  <a:lnTo>
                    <a:pt x="29687" y="50124"/>
                  </a:lnTo>
                  <a:lnTo>
                    <a:pt x="46370" y="41868"/>
                  </a:lnTo>
                  <a:lnTo>
                    <a:pt x="62669" y="35159"/>
                  </a:lnTo>
                  <a:lnTo>
                    <a:pt x="46370" y="28431"/>
                  </a:lnTo>
                  <a:lnTo>
                    <a:pt x="29687" y="20056"/>
                  </a:lnTo>
                  <a:lnTo>
                    <a:pt x="13827" y="10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40324" y="3480331"/>
              <a:ext cx="314325" cy="806450"/>
            </a:xfrm>
            <a:custGeom>
              <a:avLst/>
              <a:gdLst/>
              <a:ahLst/>
              <a:cxnLst/>
              <a:rect l="l" t="t" r="r" b="b"/>
              <a:pathLst>
                <a:path w="314325" h="806450">
                  <a:moveTo>
                    <a:pt x="314227" y="0"/>
                  </a:moveTo>
                  <a:lnTo>
                    <a:pt x="314227" y="0"/>
                  </a:lnTo>
                  <a:lnTo>
                    <a:pt x="314227" y="806328"/>
                  </a:lnTo>
                </a:path>
                <a:path w="314325" h="806450">
                  <a:moveTo>
                    <a:pt x="0" y="92268"/>
                  </a:moveTo>
                  <a:lnTo>
                    <a:pt x="0" y="92268"/>
                  </a:lnTo>
                  <a:lnTo>
                    <a:pt x="270299" y="92268"/>
                  </a:lnTo>
                </a:path>
              </a:pathLst>
            </a:custGeom>
            <a:ln w="6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45995" y="3544044"/>
              <a:ext cx="1294980" cy="74261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91882" y="3537455"/>
              <a:ext cx="62865" cy="70485"/>
            </a:xfrm>
            <a:custGeom>
              <a:avLst/>
              <a:gdLst/>
              <a:ahLst/>
              <a:cxnLst/>
              <a:rect l="l" t="t" r="r" b="b"/>
              <a:pathLst>
                <a:path w="62865" h="70485">
                  <a:moveTo>
                    <a:pt x="0" y="0"/>
                  </a:moveTo>
                  <a:lnTo>
                    <a:pt x="13178" y="35144"/>
                  </a:lnTo>
                  <a:lnTo>
                    <a:pt x="0" y="70303"/>
                  </a:lnTo>
                  <a:lnTo>
                    <a:pt x="13827" y="59869"/>
                  </a:lnTo>
                  <a:lnTo>
                    <a:pt x="29687" y="50258"/>
                  </a:lnTo>
                  <a:lnTo>
                    <a:pt x="46370" y="41879"/>
                  </a:lnTo>
                  <a:lnTo>
                    <a:pt x="62669" y="35144"/>
                  </a:lnTo>
                  <a:lnTo>
                    <a:pt x="46370" y="28417"/>
                  </a:lnTo>
                  <a:lnTo>
                    <a:pt x="29687" y="20043"/>
                  </a:lnTo>
                  <a:lnTo>
                    <a:pt x="13827" y="104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40324" y="4200980"/>
              <a:ext cx="270510" cy="0"/>
            </a:xfrm>
            <a:custGeom>
              <a:avLst/>
              <a:gdLst/>
              <a:ahLst/>
              <a:cxnLst/>
              <a:rect l="l" t="t" r="r" b="b"/>
              <a:pathLst>
                <a:path w="270509">
                  <a:moveTo>
                    <a:pt x="0" y="0"/>
                  </a:moveTo>
                  <a:lnTo>
                    <a:pt x="0" y="0"/>
                  </a:lnTo>
                  <a:lnTo>
                    <a:pt x="270299" y="0"/>
                  </a:lnTo>
                </a:path>
              </a:pathLst>
            </a:custGeom>
            <a:ln w="6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91882" y="4166920"/>
              <a:ext cx="62865" cy="69215"/>
            </a:xfrm>
            <a:custGeom>
              <a:avLst/>
              <a:gdLst/>
              <a:ahLst/>
              <a:cxnLst/>
              <a:rect l="l" t="t" r="r" b="b"/>
              <a:pathLst>
                <a:path w="62865" h="69214">
                  <a:moveTo>
                    <a:pt x="0" y="0"/>
                  </a:moveTo>
                  <a:lnTo>
                    <a:pt x="13178" y="34060"/>
                  </a:lnTo>
                  <a:lnTo>
                    <a:pt x="0" y="69205"/>
                  </a:lnTo>
                  <a:lnTo>
                    <a:pt x="13827" y="58771"/>
                  </a:lnTo>
                  <a:lnTo>
                    <a:pt x="29687" y="49161"/>
                  </a:lnTo>
                  <a:lnTo>
                    <a:pt x="46370" y="40787"/>
                  </a:lnTo>
                  <a:lnTo>
                    <a:pt x="62669" y="34060"/>
                  </a:lnTo>
                  <a:lnTo>
                    <a:pt x="46370" y="27342"/>
                  </a:lnTo>
                  <a:lnTo>
                    <a:pt x="29687" y="19084"/>
                  </a:lnTo>
                  <a:lnTo>
                    <a:pt x="13827" y="97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54552" y="3835157"/>
              <a:ext cx="243204" cy="0"/>
            </a:xfrm>
            <a:custGeom>
              <a:avLst/>
              <a:gdLst/>
              <a:ahLst/>
              <a:cxnLst/>
              <a:rect l="l" t="t" r="r" b="b"/>
              <a:pathLst>
                <a:path w="243204">
                  <a:moveTo>
                    <a:pt x="0" y="0"/>
                  </a:moveTo>
                  <a:lnTo>
                    <a:pt x="0" y="0"/>
                  </a:lnTo>
                  <a:lnTo>
                    <a:pt x="242625" y="0"/>
                  </a:lnTo>
                </a:path>
              </a:pathLst>
            </a:custGeom>
            <a:ln w="6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78581" y="3799998"/>
              <a:ext cx="62865" cy="70485"/>
            </a:xfrm>
            <a:custGeom>
              <a:avLst/>
              <a:gdLst/>
              <a:ahLst/>
              <a:cxnLst/>
              <a:rect l="l" t="t" r="r" b="b"/>
              <a:pathLst>
                <a:path w="62865" h="70485">
                  <a:moveTo>
                    <a:pt x="0" y="0"/>
                  </a:moveTo>
                  <a:lnTo>
                    <a:pt x="12006" y="35159"/>
                  </a:lnTo>
                  <a:lnTo>
                    <a:pt x="0" y="70318"/>
                  </a:lnTo>
                  <a:lnTo>
                    <a:pt x="13766" y="59876"/>
                  </a:lnTo>
                  <a:lnTo>
                    <a:pt x="29632" y="50261"/>
                  </a:lnTo>
                  <a:lnTo>
                    <a:pt x="46350" y="41886"/>
                  </a:lnTo>
                  <a:lnTo>
                    <a:pt x="62669" y="35159"/>
                  </a:lnTo>
                  <a:lnTo>
                    <a:pt x="46350" y="28431"/>
                  </a:lnTo>
                  <a:lnTo>
                    <a:pt x="29632" y="20056"/>
                  </a:lnTo>
                  <a:lnTo>
                    <a:pt x="13766" y="10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07542" y="5975400"/>
            <a:ext cx="20878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0"/>
              </a:rPr>
              <a:t>Ian</a:t>
            </a:r>
            <a:r>
              <a:rPr sz="800" u="sng" spc="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sz="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0"/>
              </a:rPr>
              <a:t>Sommerville,</a:t>
            </a:r>
            <a:r>
              <a:rPr sz="800" u="sng" spc="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sz="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0"/>
              </a:rPr>
              <a:t>Software-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0"/>
              </a:rPr>
              <a:t>Engineering,</a:t>
            </a:r>
            <a:r>
              <a:rPr sz="800" u="sng" spc="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0"/>
              </a:rPr>
              <a:t>Chapter</a:t>
            </a:r>
            <a:r>
              <a:rPr sz="800" u="sng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0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62618"/>
            <a:ext cx="7239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/>
              <a:t>Evolution</a:t>
            </a:r>
            <a:r>
              <a:rPr spc="-165" dirty="0"/>
              <a:t> </a:t>
            </a:r>
            <a:r>
              <a:rPr spc="-145" dirty="0"/>
              <a:t>und</a:t>
            </a:r>
            <a:r>
              <a:rPr spc="-165" dirty="0"/>
              <a:t> </a:t>
            </a:r>
            <a:r>
              <a:rPr spc="-135" dirty="0"/>
              <a:t>Wiederverwendung</a:t>
            </a:r>
          </a:p>
        </p:txBody>
      </p:sp>
      <p:pic>
        <p:nvPicPr>
          <p:cNvPr id="3" name="object 3" descr="Fixing Problem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1967" y="2109216"/>
            <a:ext cx="3560063" cy="35036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62618"/>
            <a:ext cx="7780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5" dirty="0"/>
              <a:t>Evolution</a:t>
            </a:r>
            <a:r>
              <a:rPr spc="-165" dirty="0"/>
              <a:t> </a:t>
            </a:r>
            <a:r>
              <a:rPr spc="-145" dirty="0"/>
              <a:t>und</a:t>
            </a:r>
            <a:r>
              <a:rPr spc="-165" dirty="0"/>
              <a:t> </a:t>
            </a:r>
            <a:r>
              <a:rPr spc="-135" dirty="0"/>
              <a:t>Wiederverwendung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281429"/>
            <a:ext cx="7165340" cy="215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spc="-185" dirty="0">
                <a:latin typeface="Arial"/>
                <a:cs typeface="Arial"/>
              </a:rPr>
              <a:t>Ein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Großteil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Softwarekosten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werden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bei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b="1" spc="-125" dirty="0">
                <a:latin typeface="Arial"/>
                <a:cs typeface="Arial"/>
              </a:rPr>
              <a:t>Evolution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35"/>
              </a:lnSpc>
            </a:pPr>
            <a:r>
              <a:rPr sz="2400" spc="-10" dirty="0">
                <a:latin typeface="Arial"/>
                <a:cs typeface="Arial"/>
              </a:rPr>
              <a:t>verursacht:</a:t>
            </a:r>
            <a:endParaRPr sz="2400">
              <a:latin typeface="Arial"/>
              <a:cs typeface="Arial"/>
            </a:endParaRPr>
          </a:p>
          <a:p>
            <a:pPr marL="12700" marR="193040">
              <a:lnSpc>
                <a:spcPts val="2160"/>
              </a:lnSpc>
              <a:spcBef>
                <a:spcPts val="2655"/>
              </a:spcBef>
            </a:pPr>
            <a:r>
              <a:rPr sz="2000" i="1" spc="-105" dirty="0">
                <a:latin typeface="Arial"/>
                <a:cs typeface="Arial"/>
              </a:rPr>
              <a:t>Änderung</a:t>
            </a:r>
            <a:r>
              <a:rPr sz="2000" i="1" spc="-85" dirty="0">
                <a:latin typeface="Arial"/>
                <a:cs typeface="Arial"/>
              </a:rPr>
              <a:t> </a:t>
            </a:r>
            <a:r>
              <a:rPr sz="2000" i="1" spc="-50" dirty="0">
                <a:latin typeface="Arial"/>
                <a:cs typeface="Arial"/>
              </a:rPr>
              <a:t>im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spc="-75" dirty="0">
                <a:latin typeface="Arial"/>
                <a:cs typeface="Arial"/>
              </a:rPr>
              <a:t>Anforderungsprofil,</a:t>
            </a:r>
            <a:r>
              <a:rPr sz="2000" i="1" spc="-70" dirty="0">
                <a:latin typeface="Arial"/>
                <a:cs typeface="Arial"/>
              </a:rPr>
              <a:t> aufgetretene</a:t>
            </a:r>
            <a:r>
              <a:rPr sz="2000" i="1" spc="-95" dirty="0">
                <a:latin typeface="Arial"/>
                <a:cs typeface="Arial"/>
              </a:rPr>
              <a:t> </a:t>
            </a:r>
            <a:r>
              <a:rPr sz="2000" i="1" spc="-140" dirty="0">
                <a:latin typeface="Arial"/>
                <a:cs typeface="Arial"/>
              </a:rPr>
              <a:t>Fehler,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spc="-90" dirty="0">
                <a:latin typeface="Arial"/>
                <a:cs typeface="Arial"/>
              </a:rPr>
              <a:t>nachlassende </a:t>
            </a:r>
            <a:r>
              <a:rPr sz="2000" i="1" spc="-110" dirty="0">
                <a:latin typeface="Arial"/>
                <a:cs typeface="Arial"/>
              </a:rPr>
              <a:t>Leistung,</a:t>
            </a:r>
            <a:r>
              <a:rPr sz="2000" i="1" spc="-75" dirty="0">
                <a:latin typeface="Arial"/>
                <a:cs typeface="Arial"/>
              </a:rPr>
              <a:t> </a:t>
            </a:r>
            <a:r>
              <a:rPr sz="2000" i="1" spc="-130" dirty="0">
                <a:latin typeface="Arial"/>
                <a:cs typeface="Arial"/>
              </a:rPr>
              <a:t>neue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i="1" spc="-100" dirty="0">
                <a:latin typeface="Arial"/>
                <a:cs typeface="Arial"/>
              </a:rPr>
              <a:t>Hardwarebedingungen</a:t>
            </a:r>
            <a:r>
              <a:rPr sz="2000" i="1" spc="-85" dirty="0">
                <a:latin typeface="Arial"/>
                <a:cs typeface="Arial"/>
              </a:rPr>
              <a:t> </a:t>
            </a:r>
            <a:r>
              <a:rPr sz="2000" i="1" spc="-75" dirty="0">
                <a:latin typeface="Arial"/>
                <a:cs typeface="Arial"/>
              </a:rPr>
              <a:t>etc.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spc="-100" dirty="0">
                <a:latin typeface="Arial"/>
                <a:cs typeface="Arial"/>
              </a:rPr>
              <a:t>erzwingen</a:t>
            </a:r>
            <a:r>
              <a:rPr sz="2000" i="1" spc="-80" dirty="0">
                <a:latin typeface="Arial"/>
                <a:cs typeface="Arial"/>
              </a:rPr>
              <a:t> </a:t>
            </a:r>
            <a:r>
              <a:rPr sz="2000" i="1" spc="-20" dirty="0">
                <a:latin typeface="Arial"/>
                <a:cs typeface="Arial"/>
              </a:rPr>
              <a:t>nachträgliche </a:t>
            </a:r>
            <a:r>
              <a:rPr sz="2000" b="1" i="1" spc="-204" dirty="0">
                <a:latin typeface="Arial"/>
                <a:cs typeface="Arial"/>
              </a:rPr>
              <a:t>Anpassungen</a:t>
            </a:r>
            <a:r>
              <a:rPr sz="2000" b="1" i="1" spc="-100" dirty="0">
                <a:latin typeface="Arial"/>
                <a:cs typeface="Arial"/>
              </a:rPr>
              <a:t> </a:t>
            </a:r>
            <a:r>
              <a:rPr sz="2000" i="1" spc="-95" dirty="0">
                <a:latin typeface="Arial"/>
                <a:cs typeface="Arial"/>
              </a:rPr>
              <a:t>und</a:t>
            </a:r>
            <a:r>
              <a:rPr sz="2000" i="1" spc="-90" dirty="0">
                <a:latin typeface="Arial"/>
                <a:cs typeface="Arial"/>
              </a:rPr>
              <a:t> </a:t>
            </a:r>
            <a:r>
              <a:rPr sz="2000" b="1" i="1" spc="-185" dirty="0">
                <a:latin typeface="Arial"/>
                <a:cs typeface="Arial"/>
              </a:rPr>
              <a:t>Verbesserungen</a:t>
            </a:r>
            <a:r>
              <a:rPr sz="2000" b="1" i="1" spc="-90" dirty="0">
                <a:latin typeface="Arial"/>
                <a:cs typeface="Arial"/>
              </a:rPr>
              <a:t> </a:t>
            </a:r>
            <a:r>
              <a:rPr sz="2000" i="1" spc="-80" dirty="0">
                <a:latin typeface="Arial"/>
                <a:cs typeface="Arial"/>
              </a:rPr>
              <a:t>der </a:t>
            </a:r>
            <a:r>
              <a:rPr sz="2000" i="1" spc="-85" dirty="0">
                <a:latin typeface="Arial"/>
                <a:cs typeface="Arial"/>
              </a:rPr>
              <a:t>Software</a:t>
            </a:r>
            <a:r>
              <a:rPr sz="2000" i="1" spc="-90" dirty="0">
                <a:latin typeface="Arial"/>
                <a:cs typeface="Arial"/>
              </a:rPr>
              <a:t> </a:t>
            </a:r>
            <a:r>
              <a:rPr sz="2000" i="1" spc="-85" dirty="0">
                <a:latin typeface="Arial"/>
                <a:cs typeface="Arial"/>
              </a:rPr>
              <a:t>oder </a:t>
            </a:r>
            <a:r>
              <a:rPr sz="2000" i="1" spc="-10" dirty="0">
                <a:latin typeface="Arial"/>
                <a:cs typeface="Arial"/>
              </a:rPr>
              <a:t>einzelner </a:t>
            </a:r>
            <a:r>
              <a:rPr sz="2000" i="1" spc="-30" dirty="0">
                <a:latin typeface="Arial"/>
                <a:cs typeface="Arial"/>
              </a:rPr>
              <a:t>Komponenten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9416" y="3732024"/>
            <a:ext cx="6813550" cy="1008380"/>
            <a:chOff x="629416" y="3732024"/>
            <a:chExt cx="6813550" cy="1008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416" y="3732024"/>
              <a:ext cx="1497515" cy="5748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02226" y="3851381"/>
              <a:ext cx="2548890" cy="557530"/>
            </a:xfrm>
            <a:custGeom>
              <a:avLst/>
              <a:gdLst/>
              <a:ahLst/>
              <a:cxnLst/>
              <a:rect l="l" t="t" r="r" b="b"/>
              <a:pathLst>
                <a:path w="2548890" h="557529">
                  <a:moveTo>
                    <a:pt x="2548707" y="0"/>
                  </a:moveTo>
                  <a:lnTo>
                    <a:pt x="0" y="0"/>
                  </a:lnTo>
                  <a:lnTo>
                    <a:pt x="0" y="557531"/>
                  </a:lnTo>
                  <a:lnTo>
                    <a:pt x="2548707" y="557531"/>
                  </a:lnTo>
                  <a:lnTo>
                    <a:pt x="2548707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02226" y="3851381"/>
              <a:ext cx="2548890" cy="557530"/>
            </a:xfrm>
            <a:custGeom>
              <a:avLst/>
              <a:gdLst/>
              <a:ahLst/>
              <a:cxnLst/>
              <a:rect l="l" t="t" r="r" b="b"/>
              <a:pathLst>
                <a:path w="2548890" h="557529">
                  <a:moveTo>
                    <a:pt x="0" y="0"/>
                  </a:moveTo>
                  <a:lnTo>
                    <a:pt x="2548707" y="0"/>
                  </a:lnTo>
                  <a:lnTo>
                    <a:pt x="2548707" y="557531"/>
                  </a:lnTo>
                  <a:lnTo>
                    <a:pt x="0" y="557531"/>
                  </a:lnTo>
                  <a:lnTo>
                    <a:pt x="0" y="0"/>
                  </a:lnTo>
                  <a:close/>
                </a:path>
              </a:pathLst>
            </a:custGeom>
            <a:ln w="18846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5663" y="3958174"/>
              <a:ext cx="491856" cy="1334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8048" y="3999004"/>
              <a:ext cx="130505" cy="910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96810" y="4156065"/>
              <a:ext cx="287614" cy="13504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06419" y="4160774"/>
              <a:ext cx="366168" cy="1303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58160" y="4017859"/>
              <a:ext cx="2548890" cy="559435"/>
            </a:xfrm>
            <a:custGeom>
              <a:avLst/>
              <a:gdLst/>
              <a:ahLst/>
              <a:cxnLst/>
              <a:rect l="l" t="t" r="r" b="b"/>
              <a:pathLst>
                <a:path w="2548890" h="559435">
                  <a:moveTo>
                    <a:pt x="2548728" y="0"/>
                  </a:moveTo>
                  <a:lnTo>
                    <a:pt x="0" y="0"/>
                  </a:lnTo>
                  <a:lnTo>
                    <a:pt x="0" y="559079"/>
                  </a:lnTo>
                  <a:lnTo>
                    <a:pt x="2548728" y="559079"/>
                  </a:lnTo>
                  <a:lnTo>
                    <a:pt x="2548728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58160" y="4017859"/>
              <a:ext cx="2548890" cy="559435"/>
            </a:xfrm>
            <a:custGeom>
              <a:avLst/>
              <a:gdLst/>
              <a:ahLst/>
              <a:cxnLst/>
              <a:rect l="l" t="t" r="r" b="b"/>
              <a:pathLst>
                <a:path w="2548890" h="559435">
                  <a:moveTo>
                    <a:pt x="0" y="0"/>
                  </a:moveTo>
                  <a:lnTo>
                    <a:pt x="2548728" y="0"/>
                  </a:lnTo>
                  <a:lnTo>
                    <a:pt x="2548728" y="559079"/>
                  </a:lnTo>
                  <a:lnTo>
                    <a:pt x="0" y="559079"/>
                  </a:lnTo>
                  <a:lnTo>
                    <a:pt x="0" y="0"/>
                  </a:lnTo>
                  <a:close/>
                </a:path>
              </a:pathLst>
            </a:custGeom>
            <a:ln w="18846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11917" y="4112075"/>
              <a:ext cx="491856" cy="13192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5768" y="4152905"/>
              <a:ext cx="128829" cy="9109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8202" y="4314675"/>
              <a:ext cx="440114" cy="1303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80312" y="4355504"/>
              <a:ext cx="171144" cy="12878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15584" y="4162336"/>
              <a:ext cx="1227332" cy="577949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65553" y="5008842"/>
            <a:ext cx="6802755" cy="99060"/>
            <a:chOff x="665553" y="5008842"/>
            <a:chExt cx="6802755" cy="99060"/>
          </a:xfrm>
        </p:grpSpPr>
        <p:sp>
          <p:nvSpPr>
            <p:cNvPr id="20" name="object 20"/>
            <p:cNvSpPr/>
            <p:nvPr/>
          </p:nvSpPr>
          <p:spPr>
            <a:xfrm>
              <a:off x="665553" y="5059089"/>
              <a:ext cx="6739890" cy="0"/>
            </a:xfrm>
            <a:custGeom>
              <a:avLst/>
              <a:gdLst/>
              <a:ahLst/>
              <a:cxnLst/>
              <a:rect l="l" t="t" r="r" b="b"/>
              <a:pathLst>
                <a:path w="6739890">
                  <a:moveTo>
                    <a:pt x="0" y="0"/>
                  </a:moveTo>
                  <a:lnTo>
                    <a:pt x="0" y="0"/>
                  </a:lnTo>
                  <a:lnTo>
                    <a:pt x="6739659" y="0"/>
                  </a:lnTo>
                </a:path>
              </a:pathLst>
            </a:custGeom>
            <a:ln w="9423">
              <a:solidFill>
                <a:srgbClr val="00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78399" y="5008842"/>
              <a:ext cx="89656" cy="98924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7251245" y="5167452"/>
            <a:ext cx="358775" cy="130810"/>
            <a:chOff x="7251245" y="5167452"/>
            <a:chExt cx="358775" cy="13081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51245" y="5167452"/>
              <a:ext cx="113118" cy="12878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84683" y="5206714"/>
              <a:ext cx="127363" cy="8951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32366" y="5206714"/>
              <a:ext cx="77088" cy="9108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51763" y="6175044"/>
            <a:ext cx="20878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6"/>
              </a:rPr>
              <a:t>Ian</a:t>
            </a:r>
            <a:r>
              <a:rPr sz="800" u="sng" spc="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6"/>
              </a:rPr>
              <a:t> </a:t>
            </a:r>
            <a:r>
              <a:rPr sz="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6"/>
              </a:rPr>
              <a:t>Sommerville,</a:t>
            </a:r>
            <a:r>
              <a:rPr sz="800" u="sng" spc="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6"/>
              </a:rPr>
              <a:t> </a:t>
            </a:r>
            <a:r>
              <a:rPr sz="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6"/>
              </a:rPr>
              <a:t>Software-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6"/>
              </a:rPr>
              <a:t>Engineering,</a:t>
            </a:r>
            <a:r>
              <a:rPr sz="800" u="sng" spc="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6"/>
              </a:rPr>
              <a:t> 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6"/>
              </a:rPr>
              <a:t>Chapter</a:t>
            </a:r>
            <a:r>
              <a:rPr sz="800" u="sng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6"/>
              </a:rPr>
              <a:t> </a:t>
            </a:r>
            <a:r>
              <a:rPr sz="8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16"/>
              </a:rPr>
              <a:t>9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27" name="object 27"/>
          <p:cNvSpPr txBox="1"/>
          <p:nvPr/>
        </p:nvSpPr>
        <p:spPr>
          <a:xfrm>
            <a:off x="651763" y="5310378"/>
            <a:ext cx="7780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Arial"/>
                <a:cs typeface="Arial"/>
              </a:rPr>
              <a:t>Während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der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späteren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Instandhaltungsphase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werden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nur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noch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kleine,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unerlässliche </a:t>
            </a:r>
            <a:r>
              <a:rPr sz="1800" spc="-90" dirty="0">
                <a:latin typeface="Arial"/>
                <a:cs typeface="Arial"/>
              </a:rPr>
              <a:t>Änderungen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vorgenommen.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0584" y="265633"/>
            <a:ext cx="9753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35" dirty="0"/>
              <a:t>Fazit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542" y="1116872"/>
            <a:ext cx="7682230" cy="47009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4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55" dirty="0">
                <a:latin typeface="Arial"/>
                <a:cs typeface="Arial"/>
              </a:rPr>
              <a:t>Moderne</a:t>
            </a:r>
            <a:r>
              <a:rPr sz="2000" spc="-85" dirty="0">
                <a:latin typeface="Arial"/>
                <a:cs typeface="Arial"/>
              </a:rPr>
              <a:t> Software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muss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systematisch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entwickelt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werden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ts val="2160"/>
              </a:lnSpc>
              <a:spcBef>
                <a:spcPts val="111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145" dirty="0">
                <a:latin typeface="Arial"/>
                <a:cs typeface="Arial"/>
              </a:rPr>
              <a:t>Ein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b="1" spc="-165" dirty="0">
                <a:latin typeface="Arial"/>
                <a:cs typeface="Arial"/>
              </a:rPr>
              <a:t>Softwareentwicklungsprozess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definiert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und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strukturiert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die</a:t>
            </a:r>
            <a:endParaRPr sz="2000">
              <a:latin typeface="Arial"/>
              <a:cs typeface="Arial"/>
            </a:endParaRPr>
          </a:p>
          <a:p>
            <a:pPr marL="241300">
              <a:lnSpc>
                <a:spcPts val="2160"/>
              </a:lnSpc>
            </a:pPr>
            <a:r>
              <a:rPr sz="2000" spc="-95" dirty="0">
                <a:latin typeface="Arial"/>
                <a:cs typeface="Arial"/>
              </a:rPr>
              <a:t>grundlegenden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Aktivitäten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der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Softwareentwicklung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ts val="2160"/>
              </a:lnSpc>
              <a:spcBef>
                <a:spcPts val="112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295" dirty="0">
                <a:latin typeface="Arial"/>
                <a:cs typeface="Arial"/>
              </a:rPr>
              <a:t>Es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gibt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b="1" spc="-105" dirty="0">
                <a:latin typeface="Arial"/>
                <a:cs typeface="Arial"/>
              </a:rPr>
              <a:t>viele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verschiedene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75" dirty="0">
                <a:latin typeface="Arial"/>
                <a:cs typeface="Arial"/>
              </a:rPr>
              <a:t>Prozesse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unterschiedlichen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b="1" spc="-155" dirty="0">
                <a:latin typeface="Arial"/>
                <a:cs typeface="Arial"/>
              </a:rPr>
              <a:t>Stärken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und</a:t>
            </a:r>
            <a:endParaRPr sz="2000">
              <a:latin typeface="Arial"/>
              <a:cs typeface="Arial"/>
            </a:endParaRPr>
          </a:p>
          <a:p>
            <a:pPr marL="241300">
              <a:lnSpc>
                <a:spcPts val="2160"/>
              </a:lnSpc>
            </a:pPr>
            <a:r>
              <a:rPr sz="2000" b="1" spc="-85" dirty="0">
                <a:latin typeface="Arial"/>
                <a:cs typeface="Arial"/>
              </a:rPr>
              <a:t>Schwächen</a:t>
            </a:r>
            <a:r>
              <a:rPr sz="2000" spc="-8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227965" marR="59690" lvl="1" indent="-227965" algn="r">
              <a:lnSpc>
                <a:spcPts val="2160"/>
              </a:lnSpc>
              <a:spcBef>
                <a:spcPts val="61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27965" algn="l"/>
              </a:tabLst>
            </a:pPr>
            <a:r>
              <a:rPr sz="2000" b="1" spc="-155" dirty="0">
                <a:latin typeface="Arial"/>
                <a:cs typeface="Arial"/>
              </a:rPr>
              <a:t>Agile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210" dirty="0">
                <a:latin typeface="Arial"/>
                <a:cs typeface="Arial"/>
              </a:rPr>
              <a:t>Prozesse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nutzen </a:t>
            </a:r>
            <a:r>
              <a:rPr sz="2000" spc="-70" dirty="0">
                <a:latin typeface="Arial"/>
                <a:cs typeface="Arial"/>
              </a:rPr>
              <a:t>kleine</a:t>
            </a:r>
            <a:r>
              <a:rPr sz="2000" spc="-65" dirty="0">
                <a:latin typeface="Arial"/>
                <a:cs typeface="Arial"/>
              </a:rPr>
              <a:t> Inkremente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vielen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Prototypen.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Sie</a:t>
            </a:r>
            <a:endParaRPr sz="2000">
              <a:latin typeface="Arial"/>
              <a:cs typeface="Arial"/>
            </a:endParaRPr>
          </a:p>
          <a:p>
            <a:pPr marL="697865">
              <a:lnSpc>
                <a:spcPts val="2160"/>
              </a:lnSpc>
            </a:pPr>
            <a:r>
              <a:rPr sz="2000" spc="-90" dirty="0">
                <a:latin typeface="Arial"/>
                <a:cs typeface="Arial"/>
              </a:rPr>
              <a:t>eignen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sich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gut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für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Umgebungen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wechselnden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Anforderungen.</a:t>
            </a:r>
            <a:endParaRPr sz="2000">
              <a:latin typeface="Arial"/>
              <a:cs typeface="Arial"/>
            </a:endParaRPr>
          </a:p>
          <a:p>
            <a:pPr marL="697865" marR="803275" lvl="1" indent="-228600">
              <a:lnSpc>
                <a:spcPct val="80000"/>
              </a:lnSpc>
              <a:spcBef>
                <a:spcPts val="110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697865" algn="l"/>
              </a:tabLst>
            </a:pPr>
            <a:r>
              <a:rPr sz="2000" spc="-114" dirty="0">
                <a:latin typeface="Arial"/>
                <a:cs typeface="Arial"/>
              </a:rPr>
              <a:t>Für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eingebettete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Systeme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sind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b="1" spc="-135" dirty="0">
                <a:latin typeface="Arial"/>
                <a:cs typeface="Arial"/>
              </a:rPr>
              <a:t>plangesteuerte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210" dirty="0">
                <a:latin typeface="Arial"/>
                <a:cs typeface="Arial"/>
              </a:rPr>
              <a:t>Prozesse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zu </a:t>
            </a:r>
            <a:r>
              <a:rPr sz="2000" spc="-80" dirty="0">
                <a:latin typeface="Arial"/>
                <a:cs typeface="Arial"/>
              </a:rPr>
              <a:t>empfehlen.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90" dirty="0">
                <a:latin typeface="Arial"/>
                <a:cs typeface="Arial"/>
              </a:rPr>
              <a:t>Sie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eignen </a:t>
            </a:r>
            <a:r>
              <a:rPr sz="2000" spc="-125" dirty="0">
                <a:latin typeface="Arial"/>
                <a:cs typeface="Arial"/>
              </a:rPr>
              <a:t>sich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gut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für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große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Projekte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festen Anforderungen.</a:t>
            </a:r>
            <a:endParaRPr sz="2000">
              <a:latin typeface="Arial"/>
              <a:cs typeface="Arial"/>
            </a:endParaRPr>
          </a:p>
          <a:p>
            <a:pPr marL="227965" marR="5080" indent="-227965" algn="r">
              <a:lnSpc>
                <a:spcPts val="2160"/>
              </a:lnSpc>
              <a:spcBef>
                <a:spcPts val="111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27965" algn="l"/>
              </a:tabLst>
            </a:pPr>
            <a:r>
              <a:rPr sz="2000" b="1" spc="-140" dirty="0">
                <a:latin typeface="Arial"/>
                <a:cs typeface="Arial"/>
              </a:rPr>
              <a:t>Validierung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160" dirty="0">
                <a:latin typeface="Arial"/>
                <a:cs typeface="Arial"/>
              </a:rPr>
              <a:t>und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10" dirty="0">
                <a:latin typeface="Arial"/>
                <a:cs typeface="Arial"/>
              </a:rPr>
              <a:t>Verifikation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stellen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sicher,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75" dirty="0">
                <a:latin typeface="Arial"/>
                <a:cs typeface="Arial"/>
              </a:rPr>
              <a:t>dass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das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richtige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Produkt</a:t>
            </a:r>
            <a:endParaRPr sz="2000">
              <a:latin typeface="Arial"/>
              <a:cs typeface="Arial"/>
            </a:endParaRPr>
          </a:p>
          <a:p>
            <a:pPr marL="241300">
              <a:lnSpc>
                <a:spcPts val="2160"/>
              </a:lnSpc>
            </a:pPr>
            <a:r>
              <a:rPr sz="2000" spc="-40" dirty="0">
                <a:latin typeface="Arial"/>
                <a:cs typeface="Arial"/>
              </a:rPr>
              <a:t>richtig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entwickeln</a:t>
            </a:r>
            <a:endParaRPr sz="2000">
              <a:latin typeface="Arial"/>
              <a:cs typeface="Arial"/>
            </a:endParaRPr>
          </a:p>
          <a:p>
            <a:pPr marL="241300" marR="332740" indent="-228600">
              <a:lnSpc>
                <a:spcPct val="80000"/>
              </a:lnSpc>
              <a:spcBef>
                <a:spcPts val="161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1300" algn="l"/>
              </a:tabLst>
            </a:pPr>
            <a:r>
              <a:rPr sz="2000" b="1" spc="-135" dirty="0">
                <a:latin typeface="Arial"/>
                <a:cs typeface="Arial"/>
              </a:rPr>
              <a:t>Wiederverwendung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kann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die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Entwicklung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beschleunigen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und </a:t>
            </a:r>
            <a:r>
              <a:rPr sz="2000" spc="-50" dirty="0">
                <a:latin typeface="Arial"/>
                <a:cs typeface="Arial"/>
              </a:rPr>
              <a:t>Kosten </a:t>
            </a:r>
            <a:r>
              <a:rPr sz="2000" spc="-10" dirty="0">
                <a:latin typeface="Arial"/>
                <a:cs typeface="Arial"/>
              </a:rPr>
              <a:t>senken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0" dirty="0"/>
              <a:t>Literatur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542" y="1272286"/>
            <a:ext cx="7218680" cy="19094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14300" indent="-228600">
              <a:lnSpc>
                <a:spcPts val="3020"/>
              </a:lnSpc>
              <a:spcBef>
                <a:spcPts val="480"/>
              </a:spcBef>
              <a:buClr>
                <a:srgbClr val="2D75B6"/>
              </a:buClr>
              <a:buSzPct val="108928"/>
              <a:buFont typeface="Wingdings"/>
              <a:buChar char=""/>
              <a:tabLst>
                <a:tab pos="241300" algn="l"/>
              </a:tabLst>
            </a:pPr>
            <a:r>
              <a:rPr sz="2800" spc="-434" dirty="0">
                <a:latin typeface="Arial"/>
                <a:cs typeface="Arial"/>
              </a:rPr>
              <a:t>P.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340" dirty="0">
                <a:latin typeface="Arial"/>
                <a:cs typeface="Arial"/>
              </a:rPr>
              <a:t>L</a:t>
            </a:r>
            <a:r>
              <a:rPr sz="2250" spc="-340" dirty="0">
                <a:latin typeface="Arial"/>
                <a:cs typeface="Arial"/>
              </a:rPr>
              <a:t>IGGESMEYER</a:t>
            </a:r>
            <a:r>
              <a:rPr sz="2250" spc="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&amp;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35" dirty="0">
                <a:latin typeface="Arial"/>
                <a:cs typeface="Arial"/>
              </a:rPr>
              <a:t>D.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R</a:t>
            </a:r>
            <a:r>
              <a:rPr sz="2250" spc="-254" dirty="0">
                <a:latin typeface="Arial"/>
                <a:cs typeface="Arial"/>
              </a:rPr>
              <a:t>OMBACH</a:t>
            </a:r>
            <a:r>
              <a:rPr sz="2800" spc="-254" dirty="0">
                <a:latin typeface="Arial"/>
                <a:cs typeface="Arial"/>
              </a:rPr>
              <a:t>: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400" i="1" spc="-105" dirty="0">
                <a:latin typeface="Arial"/>
                <a:cs typeface="Arial"/>
              </a:rPr>
              <a:t>Software</a:t>
            </a:r>
            <a:r>
              <a:rPr sz="2400" i="1" spc="-85" dirty="0">
                <a:latin typeface="Arial"/>
                <a:cs typeface="Arial"/>
              </a:rPr>
              <a:t> </a:t>
            </a:r>
            <a:r>
              <a:rPr sz="2400" i="1" spc="-95" dirty="0">
                <a:latin typeface="Arial"/>
                <a:cs typeface="Arial"/>
              </a:rPr>
              <a:t>Engineering </a:t>
            </a:r>
            <a:r>
              <a:rPr sz="2400" i="1" spc="-80" dirty="0">
                <a:latin typeface="Arial"/>
                <a:cs typeface="Arial"/>
              </a:rPr>
              <a:t>eingebetteter</a:t>
            </a:r>
            <a:r>
              <a:rPr sz="2400" i="1" spc="-105" dirty="0">
                <a:latin typeface="Arial"/>
                <a:cs typeface="Arial"/>
              </a:rPr>
              <a:t> </a:t>
            </a:r>
            <a:r>
              <a:rPr sz="2400" i="1" spc="-185" dirty="0">
                <a:latin typeface="Arial"/>
                <a:cs typeface="Arial"/>
              </a:rPr>
              <a:t>Systeme</a:t>
            </a:r>
            <a:r>
              <a:rPr sz="2800" spc="-185" dirty="0">
                <a:latin typeface="Arial"/>
                <a:cs typeface="Arial"/>
              </a:rPr>
              <a:t>.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Spektrum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2005.</a:t>
            </a:r>
            <a:endParaRPr sz="2400">
              <a:latin typeface="Arial"/>
              <a:cs typeface="Arial"/>
            </a:endParaRPr>
          </a:p>
          <a:p>
            <a:pPr marL="241300" marR="5080" indent="-228600">
              <a:lnSpc>
                <a:spcPts val="3020"/>
              </a:lnSpc>
              <a:spcBef>
                <a:spcPts val="2410"/>
              </a:spcBef>
              <a:buClr>
                <a:srgbClr val="2D75B6"/>
              </a:buClr>
              <a:buSzPct val="108928"/>
              <a:buFont typeface="Wingdings"/>
              <a:buChar char=""/>
              <a:tabLst>
                <a:tab pos="241300" algn="l"/>
              </a:tabLst>
            </a:pPr>
            <a:r>
              <a:rPr sz="2800" spc="-170" dirty="0">
                <a:latin typeface="Arial"/>
                <a:cs typeface="Arial"/>
              </a:rPr>
              <a:t>I</a:t>
            </a:r>
            <a:r>
              <a:rPr sz="2250" spc="-170" dirty="0">
                <a:latin typeface="Arial"/>
                <a:cs typeface="Arial"/>
              </a:rPr>
              <a:t>AN</a:t>
            </a:r>
            <a:r>
              <a:rPr sz="2250" spc="50" dirty="0">
                <a:latin typeface="Arial"/>
                <a:cs typeface="Arial"/>
              </a:rPr>
              <a:t> </a:t>
            </a:r>
            <a:r>
              <a:rPr sz="2800" spc="-254" dirty="0">
                <a:latin typeface="Arial"/>
                <a:cs typeface="Arial"/>
              </a:rPr>
              <a:t>S</a:t>
            </a:r>
            <a:r>
              <a:rPr sz="2250" spc="-254" dirty="0">
                <a:latin typeface="Arial"/>
                <a:cs typeface="Arial"/>
              </a:rPr>
              <a:t>OMMERVILLE</a:t>
            </a:r>
            <a:r>
              <a:rPr sz="2800" spc="-254" dirty="0">
                <a:latin typeface="Arial"/>
                <a:cs typeface="Arial"/>
              </a:rPr>
              <a:t>: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i="1" spc="-114" dirty="0">
                <a:latin typeface="Arial"/>
                <a:cs typeface="Arial"/>
              </a:rPr>
              <a:t>Software-</a:t>
            </a:r>
            <a:r>
              <a:rPr sz="2800" i="1" spc="-145" dirty="0">
                <a:latin typeface="Arial"/>
                <a:cs typeface="Arial"/>
              </a:rPr>
              <a:t>Engineering.</a:t>
            </a:r>
            <a:r>
              <a:rPr sz="2800" i="1" spc="-7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Pearson, 2012,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9.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Aufl.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1509</Words>
  <Application>Microsoft Macintosh PowerPoint</Application>
  <PresentationFormat>On-screen Show (4:3)</PresentationFormat>
  <Paragraphs>380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Arial</vt:lpstr>
      <vt:lpstr>Wingdings</vt:lpstr>
      <vt:lpstr>Office Theme</vt:lpstr>
      <vt:lpstr>Embedded Systems Engineering   Software Engineering</vt:lpstr>
      <vt:lpstr>Diese Vorlesung</vt:lpstr>
      <vt:lpstr>Inhalt</vt:lpstr>
      <vt:lpstr>Motivation</vt:lpstr>
      <vt:lpstr>Phasen des Software Engineering</vt:lpstr>
      <vt:lpstr>Software Engineering</vt:lpstr>
      <vt:lpstr>Inhalt</vt:lpstr>
      <vt:lpstr>Softwareentwicklungsprozesse</vt:lpstr>
      <vt:lpstr>Beispiel</vt:lpstr>
      <vt:lpstr>Das Wasserfallmodell</vt:lpstr>
      <vt:lpstr>Das Wasserfallmodell</vt:lpstr>
      <vt:lpstr>Validierung</vt:lpstr>
      <vt:lpstr>Das V-Modell</vt:lpstr>
      <vt:lpstr>Das V-Modell</vt:lpstr>
      <vt:lpstr>Das V-Modell ohne Verifikation</vt:lpstr>
      <vt:lpstr>… und mit Verifikation</vt:lpstr>
      <vt:lpstr>Verifikation und Validierung</vt:lpstr>
      <vt:lpstr>Dynamische Anforderungen</vt:lpstr>
      <vt:lpstr>Inkrementelle Entwicklung</vt:lpstr>
      <vt:lpstr>Spiralmodell nach Boehm</vt:lpstr>
      <vt:lpstr>Inkrementelle Entwicklung</vt:lpstr>
      <vt:lpstr>Inkrementelle Entwicklung</vt:lpstr>
      <vt:lpstr>Wozu agile Entwicklungsprozesse?</vt:lpstr>
      <vt:lpstr>Agile Entwicklungsprozesse</vt:lpstr>
      <vt:lpstr>Direktes Feedback</vt:lpstr>
      <vt:lpstr>Entwicklungsstile</vt:lpstr>
      <vt:lpstr>Plangesteuert oder agil?</vt:lpstr>
      <vt:lpstr>Plangesteuert oder agil?</vt:lpstr>
      <vt:lpstr>Wiederverwendungsorientierte Prozesse</vt:lpstr>
      <vt:lpstr>Wiederverwendungsorientierte Prozesse</vt:lpstr>
      <vt:lpstr>Evolution und Wiederverwendung</vt:lpstr>
      <vt:lpstr>Evolution und Wiederverwendung</vt:lpstr>
      <vt:lpstr>Fazit</vt:lpstr>
      <vt:lpstr>Literatur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 ? Systeme</dc:title>
  <dc:creator>TU-Pseudonym 1602087970080298</dc:creator>
  <cp:lastModifiedBy>Schlesinger, Sebastian</cp:lastModifiedBy>
  <cp:revision>1</cp:revision>
  <dcterms:created xsi:type="dcterms:W3CDTF">2026-02-07T10:43:18Z</dcterms:created>
  <dcterms:modified xsi:type="dcterms:W3CDTF">2026-02-09T15:14:14Z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2023-10-16T00:00:00Z</vt:filetime>
  </property>
  <property fmtid="{D5CDD505-2E9C-101B-9397-08002B2CF9AE}" pid="3" name="Creator">
    <vt:lpwstr>Microsoft® PowerPoint® für Microsoft 365</vt:lpwstr>
  </property>
  <property fmtid="{D5CDD505-2E9C-101B-9397-08002B2CF9AE}" pid="4" name="LastSaved">
    <vt:filetime>2026-02-07T00:00:00Z</vt:filetime>
  </property>
  <property fmtid="{D5CDD505-2E9C-101B-9397-08002B2CF9AE}" pid="5" name="Producer">
    <vt:lpwstr>Microsoft® PowerPoint® für Microsoft 365</vt:lpwstr>
  </property>
</Properties>
</file>