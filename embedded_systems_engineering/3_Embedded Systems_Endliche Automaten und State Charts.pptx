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3.jpg" ContentType="image/jpg"/>
  <Override PartName="/ppt/media/image48.jpg" ContentType="image/jpg"/>
  <Override PartName="/ppt/media/image53.jpg" ContentType="image/jpg"/>
  <Override PartName="/ppt/media/image55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8"/>
  </p:notesMasterIdLst>
  <p:sldIdLst>
    <p:sldId id="785" r:id="rId2"/>
    <p:sldId id="504" r:id="rId3"/>
    <p:sldId id="791" r:id="rId4"/>
    <p:sldId id="443" r:id="rId5"/>
    <p:sldId id="797" r:id="rId6"/>
    <p:sldId id="431" r:id="rId7"/>
    <p:sldId id="432" r:id="rId8"/>
    <p:sldId id="433" r:id="rId9"/>
    <p:sldId id="434" r:id="rId10"/>
    <p:sldId id="435" r:id="rId11"/>
    <p:sldId id="260" r:id="rId12"/>
    <p:sldId id="261" r:id="rId13"/>
    <p:sldId id="802" r:id="rId14"/>
    <p:sldId id="803" r:id="rId15"/>
    <p:sldId id="265" r:id="rId16"/>
    <p:sldId id="281" r:id="rId17"/>
    <p:sldId id="282" r:id="rId18"/>
    <p:sldId id="284" r:id="rId19"/>
    <p:sldId id="285" r:id="rId20"/>
    <p:sldId id="804" r:id="rId21"/>
    <p:sldId id="287" r:id="rId22"/>
    <p:sldId id="805" r:id="rId23"/>
    <p:sldId id="806" r:id="rId24"/>
    <p:sldId id="436" r:id="rId25"/>
    <p:sldId id="437" r:id="rId26"/>
    <p:sldId id="800" r:id="rId27"/>
    <p:sldId id="438" r:id="rId28"/>
    <p:sldId id="439" r:id="rId29"/>
    <p:sldId id="440" r:id="rId30"/>
    <p:sldId id="798" r:id="rId31"/>
    <p:sldId id="789" r:id="rId32"/>
    <p:sldId id="790" r:id="rId33"/>
    <p:sldId id="263" r:id="rId34"/>
    <p:sldId id="264" r:id="rId35"/>
    <p:sldId id="309" r:id="rId36"/>
    <p:sldId id="315" r:id="rId37"/>
    <p:sldId id="311" r:id="rId38"/>
    <p:sldId id="316" r:id="rId39"/>
    <p:sldId id="310" r:id="rId40"/>
    <p:sldId id="317" r:id="rId41"/>
    <p:sldId id="450" r:id="rId42"/>
    <p:sldId id="449" r:id="rId43"/>
    <p:sldId id="318" r:id="rId44"/>
    <p:sldId id="319" r:id="rId45"/>
    <p:sldId id="272" r:id="rId46"/>
    <p:sldId id="273" r:id="rId47"/>
    <p:sldId id="274" r:id="rId48"/>
    <p:sldId id="320" r:id="rId49"/>
    <p:sldId id="276" r:id="rId50"/>
    <p:sldId id="277" r:id="rId51"/>
    <p:sldId id="278" r:id="rId52"/>
    <p:sldId id="279" r:id="rId53"/>
    <p:sldId id="280" r:id="rId54"/>
    <p:sldId id="322" r:id="rId55"/>
    <p:sldId id="425" r:id="rId56"/>
    <p:sldId id="426" r:id="rId57"/>
    <p:sldId id="427" r:id="rId58"/>
    <p:sldId id="428" r:id="rId59"/>
    <p:sldId id="429" r:id="rId60"/>
    <p:sldId id="446" r:id="rId61"/>
    <p:sldId id="388" r:id="rId62"/>
    <p:sldId id="376" r:id="rId63"/>
    <p:sldId id="283" r:id="rId64"/>
    <p:sldId id="799" r:id="rId65"/>
    <p:sldId id="377" r:id="rId66"/>
    <p:sldId id="792" r:id="rId67"/>
    <p:sldId id="793" r:id="rId68"/>
    <p:sldId id="807" r:id="rId69"/>
    <p:sldId id="369" r:id="rId70"/>
    <p:sldId id="417" r:id="rId71"/>
    <p:sldId id="368" r:id="rId72"/>
    <p:sldId id="430" r:id="rId73"/>
    <p:sldId id="321" r:id="rId74"/>
    <p:sldId id="286" r:id="rId75"/>
    <p:sldId id="288" r:id="rId76"/>
    <p:sldId id="289" r:id="rId77"/>
    <p:sldId id="290" r:id="rId78"/>
    <p:sldId id="291" r:id="rId79"/>
    <p:sldId id="292" r:id="rId80"/>
    <p:sldId id="296" r:id="rId81"/>
    <p:sldId id="297" r:id="rId82"/>
    <p:sldId id="298" r:id="rId83"/>
    <p:sldId id="313" r:id="rId84"/>
    <p:sldId id="808" r:id="rId85"/>
    <p:sldId id="794" r:id="rId86"/>
    <p:sldId id="389" r:id="rId87"/>
  </p:sldIdLst>
  <p:sldSz cx="12204700" cy="6858000"/>
  <p:notesSz cx="122047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F5440A-94DB-FC47-84F3-99105CA2EC83}" v="460" dt="2026-02-09T21:07:48.80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23"/>
    <p:restoredTop sz="94506"/>
  </p:normalViewPr>
  <p:slideViewPr>
    <p:cSldViewPr snapToGrid="0">
      <p:cViewPr varScale="1">
        <p:scale>
          <a:sx n="110" d="100"/>
          <a:sy n="110" d="100"/>
        </p:scale>
        <p:origin x="192" y="34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lesinger, Sebastian" userId="d814e6c9-e9fb-4b77-84f7-ccd8aa3529bb" providerId="ADAL" clId="{814D90CD-D400-5612-B49E-CD4DF6BF7C8B}"/>
    <pc:docChg chg="undo custSel addSld delSld modSld sldOrd">
      <pc:chgData name="Schlesinger, Sebastian" userId="d814e6c9-e9fb-4b77-84f7-ccd8aa3529bb" providerId="ADAL" clId="{814D90CD-D400-5612-B49E-CD4DF6BF7C8B}" dt="2026-02-11T18:20:18.712" v="6874" actId="20577"/>
      <pc:docMkLst>
        <pc:docMk/>
      </pc:docMkLst>
      <pc:sldChg chg="delSp modSp add mod">
        <pc:chgData name="Schlesinger, Sebastian" userId="d814e6c9-e9fb-4b77-84f7-ccd8aa3529bb" providerId="ADAL" clId="{814D90CD-D400-5612-B49E-CD4DF6BF7C8B}" dt="2026-02-09T20:29:50.589" v="5915" actId="403"/>
        <pc:sldMkLst>
          <pc:docMk/>
          <pc:sldMk cId="0" sldId="260"/>
        </pc:sldMkLst>
        <pc:spChg chg="mod">
          <ac:chgData name="Schlesinger, Sebastian" userId="d814e6c9-e9fb-4b77-84f7-ccd8aa3529bb" providerId="ADAL" clId="{814D90CD-D400-5612-B49E-CD4DF6BF7C8B}" dt="2026-02-09T20:28:00.908" v="5907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29:50.589" v="5915" actId="403"/>
          <ac:spMkLst>
            <pc:docMk/>
            <pc:sldMk cId="0" sldId="26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29:42.741" v="5912" actId="1076"/>
          <ac:spMkLst>
            <pc:docMk/>
            <pc:sldMk cId="0" sldId="260"/>
            <ac:spMk id="5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9T20:29:42.741" v="5912" actId="1076"/>
          <ac:picMkLst>
            <pc:docMk/>
            <pc:sldMk cId="0" sldId="260"/>
            <ac:picMk id="4" creationId="{00000000-0000-0000-0000-000000000000}"/>
          </ac:picMkLst>
        </pc:picChg>
      </pc:sldChg>
      <pc:sldChg chg="delSp modSp add mod">
        <pc:chgData name="Schlesinger, Sebastian" userId="d814e6c9-e9fb-4b77-84f7-ccd8aa3529bb" providerId="ADAL" clId="{814D90CD-D400-5612-B49E-CD4DF6BF7C8B}" dt="2026-02-09T20:31:18.944" v="5930" actId="2711"/>
        <pc:sldMkLst>
          <pc:docMk/>
          <pc:sldMk cId="0" sldId="261"/>
        </pc:sldMkLst>
        <pc:spChg chg="mod">
          <ac:chgData name="Schlesinger, Sebastian" userId="d814e6c9-e9fb-4b77-84f7-ccd8aa3529bb" providerId="ADAL" clId="{814D90CD-D400-5612-B49E-CD4DF6BF7C8B}" dt="2026-02-09T20:30:36.823" v="5921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0:58.241" v="5928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1:18.944" v="5930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0:36.823" v="5921" actId="1076"/>
          <ac:spMkLst>
            <pc:docMk/>
            <pc:sldMk cId="0" sldId="261"/>
            <ac:spMk id="5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9T20:30:39.040" v="5922" actId="1076"/>
          <ac:grpSpMkLst>
            <pc:docMk/>
            <pc:sldMk cId="0" sldId="261"/>
            <ac:grpSpMk id="6" creationId="{00000000-0000-0000-0000-000000000000}"/>
          </ac:grpSpMkLst>
        </pc:grpChg>
        <pc:graphicFrameChg chg="mod">
          <ac:chgData name="Schlesinger, Sebastian" userId="d814e6c9-e9fb-4b77-84f7-ccd8aa3529bb" providerId="ADAL" clId="{814D90CD-D400-5612-B49E-CD4DF6BF7C8B}" dt="2026-02-09T20:30:36.823" v="5921" actId="1076"/>
          <ac:graphicFrameMkLst>
            <pc:docMk/>
            <pc:sldMk cId="0" sldId="261"/>
            <ac:graphicFrameMk id="9" creationId="{00000000-0000-0000-0000-000000000000}"/>
          </ac:graphicFrameMkLst>
        </pc:graphicFrameChg>
      </pc:sldChg>
      <pc:sldChg chg="delSp modSp add mod">
        <pc:chgData name="Schlesinger, Sebastian" userId="d814e6c9-e9fb-4b77-84f7-ccd8aa3529bb" providerId="ADAL" clId="{814D90CD-D400-5612-B49E-CD4DF6BF7C8B}" dt="2026-02-07T13:02:41.305" v="5535" actId="478"/>
        <pc:sldMkLst>
          <pc:docMk/>
          <pc:sldMk cId="0" sldId="263"/>
        </pc:sldMkLst>
        <pc:spChg chg="mod">
          <ac:chgData name="Schlesinger, Sebastian" userId="d814e6c9-e9fb-4b77-84f7-ccd8aa3529bb" providerId="ADAL" clId="{814D90CD-D400-5612-B49E-CD4DF6BF7C8B}" dt="2026-02-07T13:02:32.807" v="5534" actId="12"/>
          <ac:spMkLst>
            <pc:docMk/>
            <pc:sldMk cId="0" sldId="263"/>
            <ac:spMk id="7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7T13:01:35.916" v="5528" actId="1076"/>
          <ac:grpSpMkLst>
            <pc:docMk/>
            <pc:sldMk cId="0" sldId="263"/>
            <ac:grpSpMk id="3" creationId="{00000000-0000-0000-0000-000000000000}"/>
          </ac:grpSpMkLst>
        </pc:grpChg>
      </pc:sldChg>
      <pc:sldChg chg="delSp modSp add mod">
        <pc:chgData name="Schlesinger, Sebastian" userId="d814e6c9-e9fb-4b77-84f7-ccd8aa3529bb" providerId="ADAL" clId="{814D90CD-D400-5612-B49E-CD4DF6BF7C8B}" dt="2026-02-07T13:03:28.952" v="5542" actId="14100"/>
        <pc:sldMkLst>
          <pc:docMk/>
          <pc:sldMk cId="0" sldId="264"/>
        </pc:sldMkLst>
        <pc:spChg chg="mod">
          <ac:chgData name="Schlesinger, Sebastian" userId="d814e6c9-e9fb-4b77-84f7-ccd8aa3529bb" providerId="ADAL" clId="{814D90CD-D400-5612-B49E-CD4DF6BF7C8B}" dt="2026-02-07T13:03:26.718" v="5541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03:28.952" v="5542" actId="14100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add mod">
        <pc:chgData name="Schlesinger, Sebastian" userId="d814e6c9-e9fb-4b77-84f7-ccd8aa3529bb" providerId="ADAL" clId="{814D90CD-D400-5612-B49E-CD4DF6BF7C8B}" dt="2026-02-09T20:34:26.827" v="5972" actId="403"/>
        <pc:sldMkLst>
          <pc:docMk/>
          <pc:sldMk cId="0" sldId="265"/>
        </pc:sldMkLst>
        <pc:spChg chg="mod">
          <ac:chgData name="Schlesinger, Sebastian" userId="d814e6c9-e9fb-4b77-84f7-ccd8aa3529bb" providerId="ADAL" clId="{814D90CD-D400-5612-B49E-CD4DF6BF7C8B}" dt="2026-02-09T20:33:41.393" v="5951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3:41.393" v="5951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3:41.393" v="5951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3:14.724" v="5945" actId="1076"/>
          <ac:spMkLst>
            <pc:docMk/>
            <pc:sldMk cId="0" sldId="265"/>
            <ac:spMk id="3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3:41.393" v="5951" actId="1076"/>
          <ac:spMkLst>
            <pc:docMk/>
            <pc:sldMk cId="0" sldId="265"/>
            <ac:spMk id="3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3:41.393" v="5951" actId="1076"/>
          <ac:spMkLst>
            <pc:docMk/>
            <pc:sldMk cId="0" sldId="265"/>
            <ac:spMk id="4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3:41.393" v="5951" actId="1076"/>
          <ac:spMkLst>
            <pc:docMk/>
            <pc:sldMk cId="0" sldId="265"/>
            <ac:spMk id="4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3:41.393" v="5951" actId="1076"/>
          <ac:spMkLst>
            <pc:docMk/>
            <pc:sldMk cId="0" sldId="265"/>
            <ac:spMk id="5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3:41.393" v="5951" actId="1076"/>
          <ac:spMkLst>
            <pc:docMk/>
            <pc:sldMk cId="0" sldId="265"/>
            <ac:spMk id="5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3:41.393" v="5951" actId="1076"/>
          <ac:spMkLst>
            <pc:docMk/>
            <pc:sldMk cId="0" sldId="265"/>
            <ac:spMk id="5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3:41.393" v="5951" actId="1076"/>
          <ac:spMkLst>
            <pc:docMk/>
            <pc:sldMk cId="0" sldId="265"/>
            <ac:spMk id="5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3:56.581" v="5959"/>
          <ac:spMkLst>
            <pc:docMk/>
            <pc:sldMk cId="0" sldId="265"/>
            <ac:spMk id="59" creationId="{00000000-0000-0000-0000-000000000000}"/>
          </ac:spMkLst>
        </pc:spChg>
        <pc:spChg chg="add mod">
          <ac:chgData name="Schlesinger, Sebastian" userId="d814e6c9-e9fb-4b77-84f7-ccd8aa3529bb" providerId="ADAL" clId="{814D90CD-D400-5612-B49E-CD4DF6BF7C8B}" dt="2026-02-09T20:34:26.827" v="5972" actId="403"/>
          <ac:spMkLst>
            <pc:docMk/>
            <pc:sldMk cId="0" sldId="265"/>
            <ac:spMk id="65" creationId="{1D8E19C8-0DE7-F4BD-22E8-9A1AA51845E1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04:53.874" v="5547" actId="478"/>
        <pc:sldMkLst>
          <pc:docMk/>
          <pc:sldMk cId="0" sldId="272"/>
        </pc:sldMkLst>
        <pc:spChg chg="mod">
          <ac:chgData name="Schlesinger, Sebastian" userId="d814e6c9-e9fb-4b77-84f7-ccd8aa3529bb" providerId="ADAL" clId="{814D90CD-D400-5612-B49E-CD4DF6BF7C8B}" dt="2026-02-07T13:04:46.169" v="5544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04:48.888" v="5545" actId="14100"/>
          <ac:spMkLst>
            <pc:docMk/>
            <pc:sldMk cId="0" sldId="27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04:52.039" v="5546" actId="14100"/>
          <ac:spMkLst>
            <pc:docMk/>
            <pc:sldMk cId="0" sldId="272"/>
            <ac:spMk id="4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05:38.771" v="5554" actId="478"/>
        <pc:sldMkLst>
          <pc:docMk/>
          <pc:sldMk cId="0" sldId="273"/>
        </pc:sldMkLst>
        <pc:spChg chg="mod">
          <ac:chgData name="Schlesinger, Sebastian" userId="d814e6c9-e9fb-4b77-84f7-ccd8aa3529bb" providerId="ADAL" clId="{814D90CD-D400-5612-B49E-CD4DF6BF7C8B}" dt="2026-02-07T13:05:26.654" v="5551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05:30.704" v="5552" actId="14100"/>
          <ac:spMkLst>
            <pc:docMk/>
            <pc:sldMk cId="0" sldId="27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05:34.372" v="5553" actId="14100"/>
          <ac:spMkLst>
            <pc:docMk/>
            <pc:sldMk cId="0" sldId="273"/>
            <ac:spMk id="47" creationId="{00000000-0000-0000-0000-000000000000}"/>
          </ac:spMkLst>
        </pc:spChg>
      </pc:sldChg>
      <pc:sldChg chg="addSp delSp modSp add mod">
        <pc:chgData name="Schlesinger, Sebastian" userId="d814e6c9-e9fb-4b77-84f7-ccd8aa3529bb" providerId="ADAL" clId="{814D90CD-D400-5612-B49E-CD4DF6BF7C8B}" dt="2026-02-07T13:08:22.066" v="5575" actId="20577"/>
        <pc:sldMkLst>
          <pc:docMk/>
          <pc:sldMk cId="0" sldId="274"/>
        </pc:sldMkLst>
        <pc:spChg chg="mod">
          <ac:chgData name="Schlesinger, Sebastian" userId="d814e6c9-e9fb-4b77-84f7-ccd8aa3529bb" providerId="ADAL" clId="{814D90CD-D400-5612-B49E-CD4DF6BF7C8B}" dt="2026-02-07T13:06:05.187" v="5557" actId="14100"/>
          <ac:spMkLst>
            <pc:docMk/>
            <pc:sldMk cId="0" sldId="274"/>
            <ac:spMk id="3" creationId="{00000000-0000-0000-0000-000000000000}"/>
          </ac:spMkLst>
        </pc:spChg>
        <pc:spChg chg="add del mod">
          <ac:chgData name="Schlesinger, Sebastian" userId="d814e6c9-e9fb-4b77-84f7-ccd8aa3529bb" providerId="ADAL" clId="{814D90CD-D400-5612-B49E-CD4DF6BF7C8B}" dt="2026-02-07T13:07:35.037" v="5567" actId="20577"/>
          <ac:spMkLst>
            <pc:docMk/>
            <pc:sldMk cId="0" sldId="274"/>
            <ac:spMk id="49" creationId="{0D7A704D-7A2E-E053-91A1-41C4242C899C}"/>
          </ac:spMkLst>
        </pc:spChg>
        <pc:spChg chg="add mod">
          <ac:chgData name="Schlesinger, Sebastian" userId="d814e6c9-e9fb-4b77-84f7-ccd8aa3529bb" providerId="ADAL" clId="{814D90CD-D400-5612-B49E-CD4DF6BF7C8B}" dt="2026-02-07T13:08:22.066" v="5575" actId="20577"/>
          <ac:spMkLst>
            <pc:docMk/>
            <pc:sldMk cId="0" sldId="274"/>
            <ac:spMk id="50" creationId="{581B0B60-45AE-B244-9937-B920CA0A8401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08:58.888" v="5578" actId="14100"/>
        <pc:sldMkLst>
          <pc:docMk/>
          <pc:sldMk cId="0" sldId="276"/>
        </pc:sldMkLst>
        <pc:spChg chg="mod">
          <ac:chgData name="Schlesinger, Sebastian" userId="d814e6c9-e9fb-4b77-84f7-ccd8aa3529bb" providerId="ADAL" clId="{814D90CD-D400-5612-B49E-CD4DF6BF7C8B}" dt="2026-02-07T13:08:58.888" v="5578" actId="14100"/>
          <ac:spMkLst>
            <pc:docMk/>
            <pc:sldMk cId="0" sldId="276"/>
            <ac:spMk id="2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09:22.601" v="5582" actId="478"/>
        <pc:sldMkLst>
          <pc:docMk/>
          <pc:sldMk cId="0" sldId="277"/>
        </pc:sldMkLst>
        <pc:spChg chg="mod">
          <ac:chgData name="Schlesinger, Sebastian" userId="d814e6c9-e9fb-4b77-84f7-ccd8aa3529bb" providerId="ADAL" clId="{814D90CD-D400-5612-B49E-CD4DF6BF7C8B}" dt="2026-02-07T13:09:18.201" v="5581" actId="1076"/>
          <ac:spMkLst>
            <pc:docMk/>
            <pc:sldMk cId="0" sldId="277"/>
            <ac:spMk id="2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10:41.100" v="5596" actId="478"/>
        <pc:sldMkLst>
          <pc:docMk/>
          <pc:sldMk cId="0" sldId="278"/>
        </pc:sldMkLst>
        <pc:spChg chg="mod">
          <ac:chgData name="Schlesinger, Sebastian" userId="d814e6c9-e9fb-4b77-84f7-ccd8aa3529bb" providerId="ADAL" clId="{814D90CD-D400-5612-B49E-CD4DF6BF7C8B}" dt="2026-02-07T13:09:36.705" v="5584" actId="1076"/>
          <ac:spMkLst>
            <pc:docMk/>
            <pc:sldMk cId="0" sldId="278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09:54.105" v="5588" actId="14100"/>
          <ac:spMkLst>
            <pc:docMk/>
            <pc:sldMk cId="0" sldId="278"/>
            <ac:spMk id="3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10:53.070" v="5598" actId="2085"/>
        <pc:sldMkLst>
          <pc:docMk/>
          <pc:sldMk cId="0" sldId="279"/>
        </pc:sldMkLst>
        <pc:spChg chg="mod">
          <ac:chgData name="Schlesinger, Sebastian" userId="d814e6c9-e9fb-4b77-84f7-ccd8aa3529bb" providerId="ADAL" clId="{814D90CD-D400-5612-B49E-CD4DF6BF7C8B}" dt="2026-02-07T13:10:47.069" v="5597" actId="1076"/>
          <ac:spMkLst>
            <pc:docMk/>
            <pc:sldMk cId="0" sldId="27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10:23.819" v="5594" actId="5793"/>
          <ac:spMkLst>
            <pc:docMk/>
            <pc:sldMk cId="0" sldId="27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10:53.070" v="5598" actId="2085"/>
          <ac:spMkLst>
            <pc:docMk/>
            <pc:sldMk cId="0" sldId="279"/>
            <ac:spMk id="22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11:35.783" v="5605" actId="478"/>
        <pc:sldMkLst>
          <pc:docMk/>
          <pc:sldMk cId="0" sldId="280"/>
        </pc:sldMkLst>
        <pc:spChg chg="mod">
          <ac:chgData name="Schlesinger, Sebastian" userId="d814e6c9-e9fb-4b77-84f7-ccd8aa3529bb" providerId="ADAL" clId="{814D90CD-D400-5612-B49E-CD4DF6BF7C8B}" dt="2026-02-07T13:11:17.256" v="5600" actId="1076"/>
          <ac:spMkLst>
            <pc:docMk/>
            <pc:sldMk cId="0" sldId="28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11:30.790" v="5604" actId="20577"/>
          <ac:spMkLst>
            <pc:docMk/>
            <pc:sldMk cId="0" sldId="280"/>
            <ac:spMk id="4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9T20:41:47.248" v="5984" actId="12"/>
        <pc:sldMkLst>
          <pc:docMk/>
          <pc:sldMk cId="0" sldId="281"/>
        </pc:sldMkLst>
        <pc:spChg chg="mod">
          <ac:chgData name="Schlesinger, Sebastian" userId="d814e6c9-e9fb-4b77-84f7-ccd8aa3529bb" providerId="ADAL" clId="{814D90CD-D400-5612-B49E-CD4DF6BF7C8B}" dt="2026-02-09T20:41:13.010" v="5975" actId="1076"/>
          <ac:spMkLst>
            <pc:docMk/>
            <pc:sldMk cId="0" sldId="281"/>
            <ac:spMk id="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1:16.217" v="5976" actId="1076"/>
          <ac:spMkLst>
            <pc:docMk/>
            <pc:sldMk cId="0" sldId="281"/>
            <ac:spMk id="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1:47.248" v="5984" actId="12"/>
          <ac:spMkLst>
            <pc:docMk/>
            <pc:sldMk cId="0" sldId="281"/>
            <ac:spMk id="20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9T20:42:16.588" v="5991" actId="478"/>
        <pc:sldMkLst>
          <pc:docMk/>
          <pc:sldMk cId="0" sldId="282"/>
        </pc:sldMkLst>
        <pc:spChg chg="mod">
          <ac:chgData name="Schlesinger, Sebastian" userId="d814e6c9-e9fb-4b77-84f7-ccd8aa3529bb" providerId="ADAL" clId="{814D90CD-D400-5612-B49E-CD4DF6BF7C8B}" dt="2026-02-09T20:41:55.225" v="5985" actId="1076"/>
          <ac:spMkLst>
            <pc:docMk/>
            <pc:sldMk cId="0" sldId="282"/>
            <ac:spMk id="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1:57.842" v="5986" actId="1076"/>
          <ac:spMkLst>
            <pc:docMk/>
            <pc:sldMk cId="0" sldId="282"/>
            <ac:spMk id="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2:13.963" v="5990" actId="12"/>
          <ac:spMkLst>
            <pc:docMk/>
            <pc:sldMk cId="0" sldId="282"/>
            <ac:spMk id="20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14:06.452" v="5667" actId="20577"/>
        <pc:sldMkLst>
          <pc:docMk/>
          <pc:sldMk cId="0" sldId="283"/>
        </pc:sldMkLst>
        <pc:spChg chg="mod">
          <ac:chgData name="Schlesinger, Sebastian" userId="d814e6c9-e9fb-4b77-84f7-ccd8aa3529bb" providerId="ADAL" clId="{814D90CD-D400-5612-B49E-CD4DF6BF7C8B}" dt="2026-02-07T13:13:29.620" v="5643" actId="1076"/>
          <ac:spMkLst>
            <pc:docMk/>
            <pc:sldMk cId="0" sldId="28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13:58.617" v="5664" actId="20577"/>
          <ac:spMkLst>
            <pc:docMk/>
            <pc:sldMk cId="0" sldId="283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14:06.452" v="5667" actId="20577"/>
          <ac:spMkLst>
            <pc:docMk/>
            <pc:sldMk cId="0" sldId="283"/>
            <ac:spMk id="5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7T13:13:41.649" v="5661" actId="1036"/>
          <ac:picMkLst>
            <pc:docMk/>
            <pc:sldMk cId="0" sldId="283"/>
            <ac:picMk id="2" creationId="{00000000-0000-0000-0000-000000000000}"/>
          </ac:picMkLst>
        </pc:picChg>
      </pc:sldChg>
      <pc:sldChg chg="delSp modSp add mod">
        <pc:chgData name="Schlesinger, Sebastian" userId="d814e6c9-e9fb-4b77-84f7-ccd8aa3529bb" providerId="ADAL" clId="{814D90CD-D400-5612-B49E-CD4DF6BF7C8B}" dt="2026-02-09T20:42:46.326" v="5996" actId="478"/>
        <pc:sldMkLst>
          <pc:docMk/>
          <pc:sldMk cId="0" sldId="284"/>
        </pc:sldMkLst>
        <pc:spChg chg="mod">
          <ac:chgData name="Schlesinger, Sebastian" userId="d814e6c9-e9fb-4b77-84f7-ccd8aa3529bb" providerId="ADAL" clId="{814D90CD-D400-5612-B49E-CD4DF6BF7C8B}" dt="2026-02-09T20:42:39.315" v="5993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2:44.076" v="5995" actId="14100"/>
          <ac:spMkLst>
            <pc:docMk/>
            <pc:sldMk cId="0" sldId="284"/>
            <ac:spMk id="3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9T20:43:04.930" v="6000" actId="1076"/>
        <pc:sldMkLst>
          <pc:docMk/>
          <pc:sldMk cId="0" sldId="285"/>
        </pc:sldMkLst>
        <pc:spChg chg="mod">
          <ac:chgData name="Schlesinger, Sebastian" userId="d814e6c9-e9fb-4b77-84f7-ccd8aa3529bb" providerId="ADAL" clId="{814D90CD-D400-5612-B49E-CD4DF6BF7C8B}" dt="2026-02-09T20:43:01.262" v="5999" actId="1076"/>
          <ac:spMkLst>
            <pc:docMk/>
            <pc:sldMk cId="0" sldId="285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01.262" v="5999" actId="1076"/>
          <ac:spMkLst>
            <pc:docMk/>
            <pc:sldMk cId="0" sldId="285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2:50.524" v="5997" actId="1076"/>
          <ac:spMkLst>
            <pc:docMk/>
            <pc:sldMk cId="0" sldId="285"/>
            <ac:spMk id="1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04.930" v="6000" actId="1076"/>
          <ac:spMkLst>
            <pc:docMk/>
            <pc:sldMk cId="0" sldId="285"/>
            <ac:spMk id="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01.262" v="5999" actId="1076"/>
          <ac:spMkLst>
            <pc:docMk/>
            <pc:sldMk cId="0" sldId="285"/>
            <ac:spMk id="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01.262" v="5999" actId="1076"/>
          <ac:spMkLst>
            <pc:docMk/>
            <pc:sldMk cId="0" sldId="285"/>
            <ac:spMk id="3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01.262" v="5999" actId="1076"/>
          <ac:spMkLst>
            <pc:docMk/>
            <pc:sldMk cId="0" sldId="285"/>
            <ac:spMk id="3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01.262" v="5999" actId="1076"/>
          <ac:spMkLst>
            <pc:docMk/>
            <pc:sldMk cId="0" sldId="285"/>
            <ac:spMk id="3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01.262" v="5999" actId="1076"/>
          <ac:spMkLst>
            <pc:docMk/>
            <pc:sldMk cId="0" sldId="285"/>
            <ac:spMk id="3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01.262" v="5999" actId="1076"/>
          <ac:spMkLst>
            <pc:docMk/>
            <pc:sldMk cId="0" sldId="285"/>
            <ac:spMk id="3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01.262" v="5999" actId="1076"/>
          <ac:spMkLst>
            <pc:docMk/>
            <pc:sldMk cId="0" sldId="285"/>
            <ac:spMk id="3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01.262" v="5999" actId="1076"/>
          <ac:spMkLst>
            <pc:docMk/>
            <pc:sldMk cId="0" sldId="285"/>
            <ac:spMk id="40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27:51.174" v="5784" actId="20577"/>
        <pc:sldMkLst>
          <pc:docMk/>
          <pc:sldMk cId="0" sldId="286"/>
        </pc:sldMkLst>
        <pc:spChg chg="mod">
          <ac:chgData name="Schlesinger, Sebastian" userId="d814e6c9-e9fb-4b77-84f7-ccd8aa3529bb" providerId="ADAL" clId="{814D90CD-D400-5612-B49E-CD4DF6BF7C8B}" dt="2026-02-07T13:26:00.443" v="5705" actId="1076"/>
          <ac:spMkLst>
            <pc:docMk/>
            <pc:sldMk cId="0" sldId="28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27:51.174" v="5784" actId="20577"/>
          <ac:spMkLst>
            <pc:docMk/>
            <pc:sldMk cId="0" sldId="286"/>
            <ac:spMk id="3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9T20:43:45.476" v="6006" actId="1076"/>
        <pc:sldMkLst>
          <pc:docMk/>
          <pc:sldMk cId="0" sldId="287"/>
        </pc:sldMkLst>
        <pc:spChg chg="mod">
          <ac:chgData name="Schlesinger, Sebastian" userId="d814e6c9-e9fb-4b77-84f7-ccd8aa3529bb" providerId="ADAL" clId="{814D90CD-D400-5612-B49E-CD4DF6BF7C8B}" dt="2026-02-09T20:43:42.975" v="6005" actId="1076"/>
          <ac:spMkLst>
            <pc:docMk/>
            <pc:sldMk cId="0" sldId="287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45.476" v="6006" actId="1076"/>
          <ac:spMkLst>
            <pc:docMk/>
            <pc:sldMk cId="0" sldId="287"/>
            <ac:spMk id="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42.975" v="6005" actId="1076"/>
          <ac:spMkLst>
            <pc:docMk/>
            <pc:sldMk cId="0" sldId="287"/>
            <ac:spMk id="2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42.975" v="6005" actId="1076"/>
          <ac:spMkLst>
            <pc:docMk/>
            <pc:sldMk cId="0" sldId="287"/>
            <ac:spMk id="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42.975" v="6005" actId="1076"/>
          <ac:spMkLst>
            <pc:docMk/>
            <pc:sldMk cId="0" sldId="287"/>
            <ac:spMk id="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42.975" v="6005" actId="1076"/>
          <ac:spMkLst>
            <pc:docMk/>
            <pc:sldMk cId="0" sldId="287"/>
            <ac:spMk id="3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42.975" v="6005" actId="1076"/>
          <ac:spMkLst>
            <pc:docMk/>
            <pc:sldMk cId="0" sldId="287"/>
            <ac:spMk id="3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42.975" v="6005" actId="1076"/>
          <ac:spMkLst>
            <pc:docMk/>
            <pc:sldMk cId="0" sldId="287"/>
            <ac:spMk id="3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42.975" v="6005" actId="1076"/>
          <ac:spMkLst>
            <pc:docMk/>
            <pc:sldMk cId="0" sldId="287"/>
            <ac:spMk id="4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42.975" v="6005" actId="1076"/>
          <ac:spMkLst>
            <pc:docMk/>
            <pc:sldMk cId="0" sldId="287"/>
            <ac:spMk id="4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42.975" v="6005" actId="1076"/>
          <ac:spMkLst>
            <pc:docMk/>
            <pc:sldMk cId="0" sldId="287"/>
            <ac:spMk id="50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28:55.996" v="5802" actId="12"/>
        <pc:sldMkLst>
          <pc:docMk/>
          <pc:sldMk cId="0" sldId="288"/>
        </pc:sldMkLst>
        <pc:spChg chg="mod">
          <ac:chgData name="Schlesinger, Sebastian" userId="d814e6c9-e9fb-4b77-84f7-ccd8aa3529bb" providerId="ADAL" clId="{814D90CD-D400-5612-B49E-CD4DF6BF7C8B}" dt="2026-02-07T13:28:06.974" v="5787" actId="1076"/>
          <ac:spMkLst>
            <pc:docMk/>
            <pc:sldMk cId="0" sldId="288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28:36.483" v="5798" actId="14100"/>
          <ac:spMkLst>
            <pc:docMk/>
            <pc:sldMk cId="0" sldId="28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28:55.996" v="5802" actId="12"/>
          <ac:spMkLst>
            <pc:docMk/>
            <pc:sldMk cId="0" sldId="288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28:17.872" v="5794" actId="1036"/>
          <ac:spMkLst>
            <pc:docMk/>
            <pc:sldMk cId="0" sldId="288"/>
            <ac:spMk id="5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7T13:28:17.872" v="5794" actId="1036"/>
          <ac:grpSpMkLst>
            <pc:docMk/>
            <pc:sldMk cId="0" sldId="288"/>
            <ac:grpSpMk id="7" creationId="{00000000-0000-0000-0000-000000000000}"/>
          </ac:grpSpMkLst>
        </pc:grpChg>
        <pc:picChg chg="mod">
          <ac:chgData name="Schlesinger, Sebastian" userId="d814e6c9-e9fb-4b77-84f7-ccd8aa3529bb" providerId="ADAL" clId="{814D90CD-D400-5612-B49E-CD4DF6BF7C8B}" dt="2026-02-07T13:28:23.259" v="5795" actId="1076"/>
          <ac:picMkLst>
            <pc:docMk/>
            <pc:sldMk cId="0" sldId="288"/>
            <ac:picMk id="6" creationId="{00000000-0000-0000-0000-000000000000}"/>
          </ac:picMkLst>
        </pc:picChg>
      </pc:sldChg>
      <pc:sldChg chg="delSp modSp add mod">
        <pc:chgData name="Schlesinger, Sebastian" userId="d814e6c9-e9fb-4b77-84f7-ccd8aa3529bb" providerId="ADAL" clId="{814D90CD-D400-5612-B49E-CD4DF6BF7C8B}" dt="2026-02-07T13:29:27.124" v="5810" actId="478"/>
        <pc:sldMkLst>
          <pc:docMk/>
          <pc:sldMk cId="0" sldId="289"/>
        </pc:sldMkLst>
        <pc:spChg chg="mod">
          <ac:chgData name="Schlesinger, Sebastian" userId="d814e6c9-e9fb-4b77-84f7-ccd8aa3529bb" providerId="ADAL" clId="{814D90CD-D400-5612-B49E-CD4DF6BF7C8B}" dt="2026-02-07T13:29:08.430" v="5805" actId="1076"/>
          <ac:spMkLst>
            <pc:docMk/>
            <pc:sldMk cId="0" sldId="28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29:22.445" v="5808" actId="14100"/>
          <ac:spMkLst>
            <pc:docMk/>
            <pc:sldMk cId="0" sldId="289"/>
            <ac:spMk id="3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7T13:29:24.392" v="5809" actId="1076"/>
          <ac:picMkLst>
            <pc:docMk/>
            <pc:sldMk cId="0" sldId="289"/>
            <ac:picMk id="4" creationId="{00000000-0000-0000-0000-000000000000}"/>
          </ac:picMkLst>
        </pc:picChg>
      </pc:sldChg>
      <pc:sldChg chg="delSp modSp add mod">
        <pc:chgData name="Schlesinger, Sebastian" userId="d814e6c9-e9fb-4b77-84f7-ccd8aa3529bb" providerId="ADAL" clId="{814D90CD-D400-5612-B49E-CD4DF6BF7C8B}" dt="2026-02-07T13:29:54.793" v="5816" actId="1076"/>
        <pc:sldMkLst>
          <pc:docMk/>
          <pc:sldMk cId="0" sldId="290"/>
        </pc:sldMkLst>
        <pc:spChg chg="mod">
          <ac:chgData name="Schlesinger, Sebastian" userId="d814e6c9-e9fb-4b77-84f7-ccd8aa3529bb" providerId="ADAL" clId="{814D90CD-D400-5612-B49E-CD4DF6BF7C8B}" dt="2026-02-07T13:29:54.793" v="5816" actId="1076"/>
          <ac:spMkLst>
            <pc:docMk/>
            <pc:sldMk cId="0" sldId="29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29:49.165" v="5814" actId="14100"/>
          <ac:spMkLst>
            <pc:docMk/>
            <pc:sldMk cId="0" sldId="290"/>
            <ac:spMk id="3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31:23.443" v="5845" actId="1076"/>
        <pc:sldMkLst>
          <pc:docMk/>
          <pc:sldMk cId="0" sldId="291"/>
        </pc:sldMkLst>
        <pc:spChg chg="mod">
          <ac:chgData name="Schlesinger, Sebastian" userId="d814e6c9-e9fb-4b77-84f7-ccd8aa3529bb" providerId="ADAL" clId="{814D90CD-D400-5612-B49E-CD4DF6BF7C8B}" dt="2026-02-07T13:30:02.743" v="5818" actId="14100"/>
          <ac:spMkLst>
            <pc:docMk/>
            <pc:sldMk cId="0" sldId="291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0:50.451" v="5840" actId="20577"/>
          <ac:spMkLst>
            <pc:docMk/>
            <pc:sldMk cId="0" sldId="29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0:15.121" v="5833" actId="1036"/>
          <ac:spMkLst>
            <pc:docMk/>
            <pc:sldMk cId="0" sldId="291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0:15.121" v="5833" actId="1036"/>
          <ac:spMkLst>
            <pc:docMk/>
            <pc:sldMk cId="0" sldId="291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0:15.121" v="5833" actId="1036"/>
          <ac:spMkLst>
            <pc:docMk/>
            <pc:sldMk cId="0" sldId="291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0:15.121" v="5833" actId="1036"/>
          <ac:spMkLst>
            <pc:docMk/>
            <pc:sldMk cId="0" sldId="291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0:15.121" v="5833" actId="1036"/>
          <ac:spMkLst>
            <pc:docMk/>
            <pc:sldMk cId="0" sldId="291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0:15.121" v="5833" actId="1036"/>
          <ac:spMkLst>
            <pc:docMk/>
            <pc:sldMk cId="0" sldId="291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0:15.121" v="5833" actId="1036"/>
          <ac:spMkLst>
            <pc:docMk/>
            <pc:sldMk cId="0" sldId="291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1:23.443" v="5845" actId="1076"/>
          <ac:spMkLst>
            <pc:docMk/>
            <pc:sldMk cId="0" sldId="291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0:33.576" v="5835" actId="1076"/>
          <ac:spMkLst>
            <pc:docMk/>
            <pc:sldMk cId="0" sldId="291"/>
            <ac:spMk id="14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7T13:30:10.672" v="5820" actId="1036"/>
          <ac:picMkLst>
            <pc:docMk/>
            <pc:sldMk cId="0" sldId="291"/>
            <ac:picMk id="4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7T13:30:30.743" v="5834" actId="1076"/>
          <ac:picMkLst>
            <pc:docMk/>
            <pc:sldMk cId="0" sldId="291"/>
            <ac:picMk id="13" creationId="{00000000-0000-0000-0000-000000000000}"/>
          </ac:picMkLst>
        </pc:picChg>
      </pc:sldChg>
      <pc:sldChg chg="delSp modSp add mod">
        <pc:chgData name="Schlesinger, Sebastian" userId="d814e6c9-e9fb-4b77-84f7-ccd8aa3529bb" providerId="ADAL" clId="{814D90CD-D400-5612-B49E-CD4DF6BF7C8B}" dt="2026-02-07T13:31:51.091" v="5853" actId="478"/>
        <pc:sldMkLst>
          <pc:docMk/>
          <pc:sldMk cId="0" sldId="292"/>
        </pc:sldMkLst>
        <pc:spChg chg="mod">
          <ac:chgData name="Schlesinger, Sebastian" userId="d814e6c9-e9fb-4b77-84f7-ccd8aa3529bb" providerId="ADAL" clId="{814D90CD-D400-5612-B49E-CD4DF6BF7C8B}" dt="2026-02-07T13:31:29.893" v="5847" actId="1076"/>
          <ac:spMkLst>
            <pc:docMk/>
            <pc:sldMk cId="0" sldId="29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1:47.615" v="5852" actId="20577"/>
          <ac:spMkLst>
            <pc:docMk/>
            <pc:sldMk cId="0" sldId="292"/>
            <ac:spMk id="3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35:57.862" v="5856" actId="14100"/>
        <pc:sldMkLst>
          <pc:docMk/>
          <pc:sldMk cId="0" sldId="296"/>
        </pc:sldMkLst>
        <pc:spChg chg="mod">
          <ac:chgData name="Schlesinger, Sebastian" userId="d814e6c9-e9fb-4b77-84f7-ccd8aa3529bb" providerId="ADAL" clId="{814D90CD-D400-5612-B49E-CD4DF6BF7C8B}" dt="2026-02-07T13:35:57.862" v="5856" actId="14100"/>
          <ac:spMkLst>
            <pc:docMk/>
            <pc:sldMk cId="0" sldId="296"/>
            <ac:spMk id="2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38:52.665" v="5871" actId="14100"/>
        <pc:sldMkLst>
          <pc:docMk/>
          <pc:sldMk cId="0" sldId="297"/>
        </pc:sldMkLst>
        <pc:spChg chg="mod">
          <ac:chgData name="Schlesinger, Sebastian" userId="d814e6c9-e9fb-4b77-84f7-ccd8aa3529bb" providerId="ADAL" clId="{814D90CD-D400-5612-B49E-CD4DF6BF7C8B}" dt="2026-02-07T13:38:23.696" v="5857" actId="1076"/>
          <ac:spMkLst>
            <pc:docMk/>
            <pc:sldMk cId="0" sldId="297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8:52.665" v="5871" actId="14100"/>
          <ac:spMkLst>
            <pc:docMk/>
            <pc:sldMk cId="0" sldId="29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8:33.524" v="5868" actId="1036"/>
          <ac:spMkLst>
            <pc:docMk/>
            <pc:sldMk cId="0" sldId="297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8:33.524" v="5868" actId="1036"/>
          <ac:spMkLst>
            <pc:docMk/>
            <pc:sldMk cId="0" sldId="297"/>
            <ac:spMk id="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8:33.524" v="5868" actId="1036"/>
          <ac:spMkLst>
            <pc:docMk/>
            <pc:sldMk cId="0" sldId="297"/>
            <ac:spMk id="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8:33.524" v="5868" actId="1036"/>
          <ac:spMkLst>
            <pc:docMk/>
            <pc:sldMk cId="0" sldId="297"/>
            <ac:spMk id="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8:33.524" v="5868" actId="1036"/>
          <ac:spMkLst>
            <pc:docMk/>
            <pc:sldMk cId="0" sldId="297"/>
            <ac:spMk id="2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8:33.524" v="5868" actId="1036"/>
          <ac:spMkLst>
            <pc:docMk/>
            <pc:sldMk cId="0" sldId="297"/>
            <ac:spMk id="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8:33.524" v="5868" actId="1036"/>
          <ac:spMkLst>
            <pc:docMk/>
            <pc:sldMk cId="0" sldId="297"/>
            <ac:spMk id="2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8:33.524" v="5868" actId="1036"/>
          <ac:spMkLst>
            <pc:docMk/>
            <pc:sldMk cId="0" sldId="297"/>
            <ac:spMk id="3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8:33.524" v="5868" actId="1036"/>
          <ac:spMkLst>
            <pc:docMk/>
            <pc:sldMk cId="0" sldId="297"/>
            <ac:spMk id="31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39:59.780" v="5885" actId="1076"/>
        <pc:sldMkLst>
          <pc:docMk/>
          <pc:sldMk cId="0" sldId="298"/>
        </pc:sldMkLst>
        <pc:spChg chg="mod">
          <ac:chgData name="Schlesinger, Sebastian" userId="d814e6c9-e9fb-4b77-84f7-ccd8aa3529bb" providerId="ADAL" clId="{814D90CD-D400-5612-B49E-CD4DF6BF7C8B}" dt="2026-02-07T13:39:54.238" v="5884" actId="20577"/>
          <ac:spMkLst>
            <pc:docMk/>
            <pc:sldMk cId="0" sldId="298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9:59.780" v="5885" actId="1076"/>
          <ac:spMkLst>
            <pc:docMk/>
            <pc:sldMk cId="0" sldId="298"/>
            <ac:spMk id="3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20:39.857" v="4135" actId="404"/>
        <pc:sldMkLst>
          <pc:docMk/>
          <pc:sldMk cId="0" sldId="309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0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0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0:39.857" v="4135" actId="404"/>
          <ac:spMkLst>
            <pc:docMk/>
            <pc:sldMk cId="0" sldId="309"/>
            <ac:spMk id="236547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1-29T18:28:37.812" v="4155" actId="12"/>
        <pc:sldMkLst>
          <pc:docMk/>
          <pc:sldMk cId="0" sldId="310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37.812" v="4155" actId="12"/>
          <ac:spMkLst>
            <pc:docMk/>
            <pc:sldMk cId="0" sldId="310"/>
            <ac:spMk id="237571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1-29T18:27:49.507" v="4145" actId="1076"/>
        <pc:sldMkLst>
          <pc:docMk/>
          <pc:sldMk cId="0" sldId="311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1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7:42.823" v="4144" actId="14100"/>
          <ac:spMkLst>
            <pc:docMk/>
            <pc:sldMk cId="0" sldId="311"/>
            <ac:spMk id="23859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7:49.507" v="4145" actId="1076"/>
          <ac:spMkLst>
            <pc:docMk/>
            <pc:sldMk cId="0" sldId="311"/>
            <ac:spMk id="23859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7:49.507" v="4145" actId="1076"/>
          <ac:spMkLst>
            <pc:docMk/>
            <pc:sldMk cId="0" sldId="311"/>
            <ac:spMk id="23859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7:49.507" v="4145" actId="1076"/>
          <ac:spMkLst>
            <pc:docMk/>
            <pc:sldMk cId="0" sldId="311"/>
            <ac:spMk id="23860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7:49.507" v="4145" actId="1076"/>
          <ac:spMkLst>
            <pc:docMk/>
            <pc:sldMk cId="0" sldId="311"/>
            <ac:spMk id="23860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7:49.507" v="4145" actId="1076"/>
          <ac:spMkLst>
            <pc:docMk/>
            <pc:sldMk cId="0" sldId="311"/>
            <ac:spMk id="2386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7:49.507" v="4145" actId="1076"/>
          <ac:spMkLst>
            <pc:docMk/>
            <pc:sldMk cId="0" sldId="311"/>
            <ac:spMk id="23861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7:49.507" v="4145" actId="1076"/>
          <ac:spMkLst>
            <pc:docMk/>
            <pc:sldMk cId="0" sldId="311"/>
            <ac:spMk id="2386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7:49.507" v="4145" actId="1076"/>
          <ac:spMkLst>
            <pc:docMk/>
            <pc:sldMk cId="0" sldId="311"/>
            <ac:spMk id="2386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7:49.507" v="4145" actId="1076"/>
          <ac:spMkLst>
            <pc:docMk/>
            <pc:sldMk cId="0" sldId="311"/>
            <ac:spMk id="23862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7:49.507" v="4145" actId="1076"/>
          <ac:spMkLst>
            <pc:docMk/>
            <pc:sldMk cId="0" sldId="311"/>
            <ac:spMk id="238623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1-29T18:37:03.721" v="4308" actId="404"/>
        <pc:sldMkLst>
          <pc:docMk/>
          <pc:sldMk cId="0" sldId="313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7:03.721" v="4308" actId="404"/>
          <ac:spMkLst>
            <pc:docMk/>
            <pc:sldMk cId="0" sldId="313"/>
            <ac:spMk id="240643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1-29T18:21:10.803" v="4143" actId="1076"/>
        <pc:sldMkLst>
          <pc:docMk/>
          <pc:sldMk cId="0" sldId="315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0:52.434" v="4140" actId="14100"/>
          <ac:spMkLst>
            <pc:docMk/>
            <pc:sldMk cId="0" sldId="315"/>
            <ac:spMk id="24371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1:10.803" v="4143" actId="1076"/>
          <ac:spMkLst>
            <pc:docMk/>
            <pc:sldMk cId="0" sldId="315"/>
            <ac:spMk id="243715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1-29T18:28:57.641" v="4157" actId="403"/>
        <pc:sldMkLst>
          <pc:docMk/>
          <pc:sldMk cId="0" sldId="316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11.089" v="4148" actId="1076"/>
          <ac:spMkLst>
            <pc:docMk/>
            <pc:sldMk cId="0" sldId="316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07.657" v="4146" actId="14100"/>
          <ac:spMkLst>
            <pc:docMk/>
            <pc:sldMk cId="0" sldId="316"/>
            <ac:spMk id="24473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17.074" v="4149" actId="1076"/>
          <ac:spMkLst>
            <pc:docMk/>
            <pc:sldMk cId="0" sldId="316"/>
            <ac:spMk id="24474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17.074" v="4149" actId="1076"/>
          <ac:spMkLst>
            <pc:docMk/>
            <pc:sldMk cId="0" sldId="316"/>
            <ac:spMk id="24474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17.074" v="4149" actId="1076"/>
          <ac:spMkLst>
            <pc:docMk/>
            <pc:sldMk cId="0" sldId="316"/>
            <ac:spMk id="24474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17.074" v="4149" actId="1076"/>
          <ac:spMkLst>
            <pc:docMk/>
            <pc:sldMk cId="0" sldId="316"/>
            <ac:spMk id="24474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57.641" v="4157" actId="403"/>
          <ac:spMkLst>
            <pc:docMk/>
            <pc:sldMk cId="0" sldId="316"/>
            <ac:spMk id="24474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57.641" v="4157" actId="403"/>
          <ac:spMkLst>
            <pc:docMk/>
            <pc:sldMk cId="0" sldId="316"/>
            <ac:spMk id="24474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17.074" v="4149" actId="1076"/>
          <ac:spMkLst>
            <pc:docMk/>
            <pc:sldMk cId="0" sldId="316"/>
            <ac:spMk id="24474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17.074" v="4149" actId="1076"/>
          <ac:spMkLst>
            <pc:docMk/>
            <pc:sldMk cId="0" sldId="316"/>
            <ac:spMk id="24474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17.074" v="4149" actId="1076"/>
          <ac:spMkLst>
            <pc:docMk/>
            <pc:sldMk cId="0" sldId="316"/>
            <ac:spMk id="24475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17.074" v="4149" actId="1076"/>
          <ac:spMkLst>
            <pc:docMk/>
            <pc:sldMk cId="0" sldId="316"/>
            <ac:spMk id="244751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29:07.823" v="4158" actId="403"/>
        <pc:sldMkLst>
          <pc:docMk/>
          <pc:sldMk cId="0" sldId="317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7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8:44.389" v="4156" actId="14100"/>
          <ac:spMkLst>
            <pc:docMk/>
            <pc:sldMk cId="0" sldId="317"/>
            <ac:spMk id="24678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07.823" v="4158" actId="403"/>
          <ac:spMkLst>
            <pc:docMk/>
            <pc:sldMk cId="0" sldId="317"/>
            <ac:spMk id="246793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30:36.338" v="4202" actId="14100"/>
        <pc:sldMkLst>
          <pc:docMk/>
          <pc:sldMk cId="0" sldId="318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8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36.338" v="4202" actId="14100"/>
          <ac:spMkLst>
            <pc:docMk/>
            <pc:sldMk cId="0" sldId="318"/>
            <ac:spMk id="24883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31.105" v="4201" actId="12"/>
          <ac:spMkLst>
            <pc:docMk/>
            <pc:sldMk cId="0" sldId="318"/>
            <ac:spMk id="248835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30:48.243" v="4206" actId="12"/>
        <pc:sldMkLst>
          <pc:docMk/>
          <pc:sldMk cId="0" sldId="319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1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40.677" v="4203" actId="14100"/>
          <ac:spMkLst>
            <pc:docMk/>
            <pc:sldMk cId="0" sldId="319"/>
            <ac:spMk id="25088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48.243" v="4206" actId="12"/>
          <ac:spMkLst>
            <pc:docMk/>
            <pc:sldMk cId="0" sldId="319"/>
            <ac:spMk id="250883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4T17:27:46.394" v="4342" actId="20577"/>
        <pc:sldMkLst>
          <pc:docMk/>
          <pc:sldMk cId="0" sldId="320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2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2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7:27:46.394" v="4342" actId="20577"/>
          <ac:spMkLst>
            <pc:docMk/>
            <pc:sldMk cId="0" sldId="320"/>
            <ac:spMk id="25190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2:21.350" v="4223" actId="1038"/>
          <ac:spMkLst>
            <pc:docMk/>
            <pc:sldMk cId="0" sldId="320"/>
            <ac:spMk id="25190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2:12.607" v="4220" actId="1076"/>
          <ac:spMkLst>
            <pc:docMk/>
            <pc:sldMk cId="0" sldId="320"/>
            <ac:spMk id="251909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1-29T18:36:44.460" v="4303" actId="12"/>
        <pc:sldMkLst>
          <pc:docMk/>
          <pc:sldMk cId="0" sldId="321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21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2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6:23.240" v="4293" actId="1076"/>
          <ac:spMkLst>
            <pc:docMk/>
            <pc:sldMk cId="0" sldId="321"/>
            <ac:spMk id="25293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6:44.460" v="4303" actId="12"/>
          <ac:spMkLst>
            <pc:docMk/>
            <pc:sldMk cId="0" sldId="321"/>
            <ac:spMk id="252931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7T13:12:02.089" v="5638" actId="14100"/>
        <pc:sldMkLst>
          <pc:docMk/>
          <pc:sldMk cId="0" sldId="322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2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22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2:43.206" v="4231" actId="1076"/>
          <ac:spMkLst>
            <pc:docMk/>
            <pc:sldMk cId="0" sldId="322"/>
            <ac:spMk id="25395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12:02.089" v="5638" actId="14100"/>
          <ac:spMkLst>
            <pc:docMk/>
            <pc:sldMk cId="0" sldId="322"/>
            <ac:spMk id="253956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36:05.500" v="4287" actId="403"/>
        <pc:sldMkLst>
          <pc:docMk/>
          <pc:sldMk cId="0" sldId="368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68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6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58.158" v="4282" actId="14100"/>
          <ac:spMkLst>
            <pc:docMk/>
            <pc:sldMk cId="0" sldId="368"/>
            <ac:spMk id="25293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6:05.500" v="4287" actId="403"/>
          <ac:spMkLst>
            <pc:docMk/>
            <pc:sldMk cId="0" sldId="368"/>
            <ac:spMk id="252931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1-29T18:35:43.374" v="4275" actId="1076"/>
        <pc:sldMkLst>
          <pc:docMk/>
          <pc:sldMk cId="0" sldId="369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6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6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33.340" v="4269" actId="14100"/>
          <ac:spMkLst>
            <pc:docMk/>
            <pc:sldMk cId="0" sldId="369"/>
            <ac:spMk id="25293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43.374" v="4275" actId="1076"/>
          <ac:spMkLst>
            <pc:docMk/>
            <pc:sldMk cId="0" sldId="369"/>
            <ac:spMk id="252931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35:00.824" v="4264" actId="1076"/>
        <pc:sldMkLst>
          <pc:docMk/>
          <pc:sldMk cId="0" sldId="376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7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7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47.513" v="4262" actId="1076"/>
          <ac:spMkLst>
            <pc:docMk/>
            <pc:sldMk cId="0" sldId="376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47.513" v="4262" actId="1076"/>
          <ac:spMkLst>
            <pc:docMk/>
            <pc:sldMk cId="0" sldId="376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00.824" v="4264" actId="1076"/>
          <ac:spMkLst>
            <pc:docMk/>
            <pc:sldMk cId="0" sldId="376"/>
            <ac:spMk id="1229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58.393" v="4263" actId="1076"/>
          <ac:spMkLst>
            <pc:docMk/>
            <pc:sldMk cId="0" sldId="376"/>
            <ac:spMk id="1229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58.393" v="4263" actId="1076"/>
          <ac:spMkLst>
            <pc:docMk/>
            <pc:sldMk cId="0" sldId="376"/>
            <ac:spMk id="1229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58.393" v="4263" actId="1076"/>
          <ac:spMkLst>
            <pc:docMk/>
            <pc:sldMk cId="0" sldId="376"/>
            <ac:spMk id="1229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47.513" v="4262" actId="1076"/>
          <ac:spMkLst>
            <pc:docMk/>
            <pc:sldMk cId="0" sldId="376"/>
            <ac:spMk id="12312" creationId="{00000000-0000-0000-0000-000000000000}"/>
          </ac:spMkLst>
        </pc:spChg>
        <pc:graphicFrameChg chg="mod">
          <ac:chgData name="Schlesinger, Sebastian" userId="d814e6c9-e9fb-4b77-84f7-ccd8aa3529bb" providerId="ADAL" clId="{814D90CD-D400-5612-B49E-CD4DF6BF7C8B}" dt="2026-01-29T18:34:58.393" v="4263" actId="1076"/>
          <ac:graphicFrameMkLst>
            <pc:docMk/>
            <pc:sldMk cId="0" sldId="376"/>
            <ac:graphicFrameMk id="9" creationId="{00000000-0000-0000-0000-000000000000}"/>
          </ac:graphicFrameMkLst>
        </pc:graphicFrameChg>
      </pc:sldChg>
      <pc:sldChg chg="modSp add mod">
        <pc:chgData name="Schlesinger, Sebastian" userId="d814e6c9-e9fb-4b77-84f7-ccd8aa3529bb" providerId="ADAL" clId="{814D90CD-D400-5612-B49E-CD4DF6BF7C8B}" dt="2026-02-07T13:15:42.403" v="5702" actId="20577"/>
        <pc:sldMkLst>
          <pc:docMk/>
          <pc:sldMk cId="0" sldId="377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77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77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15:42.403" v="5702" actId="20577"/>
          <ac:spMkLst>
            <pc:docMk/>
            <pc:sldMk cId="0" sldId="377"/>
            <ac:spMk id="1331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14.460" v="4265" actId="1076"/>
          <ac:spMkLst>
            <pc:docMk/>
            <pc:sldMk cId="0" sldId="377"/>
            <ac:spMk id="133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14.460" v="4265" actId="1076"/>
          <ac:spMkLst>
            <pc:docMk/>
            <pc:sldMk cId="0" sldId="377"/>
            <ac:spMk id="133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14.460" v="4265" actId="1076"/>
          <ac:spMkLst>
            <pc:docMk/>
            <pc:sldMk cId="0" sldId="377"/>
            <ac:spMk id="133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14.460" v="4265" actId="1076"/>
          <ac:spMkLst>
            <pc:docMk/>
            <pc:sldMk cId="0" sldId="377"/>
            <ac:spMk id="133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14.460" v="4265" actId="1076"/>
          <ac:spMkLst>
            <pc:docMk/>
            <pc:sldMk cId="0" sldId="377"/>
            <ac:spMk id="1331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14.460" v="4265" actId="1076"/>
          <ac:spMkLst>
            <pc:docMk/>
            <pc:sldMk cId="0" sldId="377"/>
            <ac:spMk id="1332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14.460" v="4265" actId="1076"/>
          <ac:spMkLst>
            <pc:docMk/>
            <pc:sldMk cId="0" sldId="377"/>
            <ac:spMk id="1332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14.460" v="4265" actId="1076"/>
          <ac:spMkLst>
            <pc:docMk/>
            <pc:sldMk cId="0" sldId="377"/>
            <ac:spMk id="133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14.460" v="4265" actId="1076"/>
          <ac:spMkLst>
            <pc:docMk/>
            <pc:sldMk cId="0" sldId="377"/>
            <ac:spMk id="1332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14.460" v="4265" actId="1076"/>
          <ac:spMkLst>
            <pc:docMk/>
            <pc:sldMk cId="0" sldId="377"/>
            <ac:spMk id="13330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34:39.913" v="4261" actId="12"/>
        <pc:sldMkLst>
          <pc:docMk/>
          <pc:sldMk cId="0" sldId="388"/>
        </pc:sldMkLst>
        <pc:spChg chg="mod">
          <ac:chgData name="Schlesinger, Sebastian" userId="d814e6c9-e9fb-4b77-84f7-ccd8aa3529bb" providerId="ADAL" clId="{814D90CD-D400-5612-B49E-CD4DF6BF7C8B}" dt="2026-01-29T18:34:39.913" v="4261" actId="12"/>
          <ac:spMkLst>
            <pc:docMk/>
            <pc:sldMk cId="0" sldId="38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88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0" sldId="388"/>
            <ac:spMk id="5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37:14.195" v="4312" actId="12"/>
        <pc:sldMkLst>
          <pc:docMk/>
          <pc:sldMk cId="635529319" sldId="389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635529319" sldId="38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635529319" sldId="38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7:14.195" v="4312" actId="12"/>
          <ac:spMkLst>
            <pc:docMk/>
            <pc:sldMk cId="635529319" sldId="389"/>
            <ac:spMk id="239619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35:53.226" v="4281" actId="14100"/>
        <pc:sldMkLst>
          <pc:docMk/>
          <pc:sldMk cId="954819880" sldId="417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954819880" sldId="417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954819880" sldId="41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47.295" v="4276" actId="14100"/>
          <ac:spMkLst>
            <pc:docMk/>
            <pc:sldMk cId="954819880" sldId="417"/>
            <ac:spMk id="25293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5:53.226" v="4281" actId="14100"/>
          <ac:spMkLst>
            <pc:docMk/>
            <pc:sldMk cId="954819880" sldId="417"/>
            <ac:spMk id="252931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33:03.925" v="4236" actId="14100"/>
        <pc:sldMkLst>
          <pc:docMk/>
          <pc:sldMk cId="3227489081" sldId="425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3227489081" sldId="42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3227489081" sldId="42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3:03.925" v="4236" actId="14100"/>
          <ac:spMkLst>
            <pc:docMk/>
            <pc:sldMk cId="3227489081" sldId="425"/>
            <ac:spMk id="24064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3:01.790" v="4235" actId="14100"/>
          <ac:spMkLst>
            <pc:docMk/>
            <pc:sldMk cId="3227489081" sldId="425"/>
            <ac:spMk id="240643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33:15.123" v="4238" actId="1076"/>
        <pc:sldMkLst>
          <pc:docMk/>
          <pc:sldMk cId="131595572" sldId="426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31595572" sldId="42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31595572" sldId="42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3:12.738" v="4237" actId="14100"/>
          <ac:spMkLst>
            <pc:docMk/>
            <pc:sldMk cId="131595572" sldId="426"/>
            <ac:spMk id="240642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1-29T18:33:15.123" v="4238" actId="1076"/>
          <ac:picMkLst>
            <pc:docMk/>
            <pc:sldMk cId="131595572" sldId="426"/>
            <ac:picMk id="2050" creationId="{00000000-0000-0000-0000-000000000000}"/>
          </ac:picMkLst>
        </pc:picChg>
      </pc:sldChg>
      <pc:sldChg chg="modSp add mod">
        <pc:chgData name="Schlesinger, Sebastian" userId="d814e6c9-e9fb-4b77-84f7-ccd8aa3529bb" providerId="ADAL" clId="{814D90CD-D400-5612-B49E-CD4DF6BF7C8B}" dt="2026-01-29T18:33:34.523" v="4242" actId="1076"/>
        <pc:sldMkLst>
          <pc:docMk/>
          <pc:sldMk cId="1609162793" sldId="427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609162793" sldId="427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609162793" sldId="42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3:34.523" v="4242" actId="1076"/>
          <ac:spMkLst>
            <pc:docMk/>
            <pc:sldMk cId="1609162793" sldId="427"/>
            <ac:spMk id="240642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1-29T18:33:19.707" v="4239" actId="1076"/>
          <ac:picMkLst>
            <pc:docMk/>
            <pc:sldMk cId="1609162793" sldId="427"/>
            <ac:picMk id="3074" creationId="{00000000-0000-0000-0000-000000000000}"/>
          </ac:picMkLst>
        </pc:picChg>
      </pc:sldChg>
      <pc:sldChg chg="modSp add mod">
        <pc:chgData name="Schlesinger, Sebastian" userId="d814e6c9-e9fb-4b77-84f7-ccd8aa3529bb" providerId="ADAL" clId="{814D90CD-D400-5612-B49E-CD4DF6BF7C8B}" dt="2026-01-29T18:33:28.407" v="4241" actId="1076"/>
        <pc:sldMkLst>
          <pc:docMk/>
          <pc:sldMk cId="143033172" sldId="428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43033172" sldId="428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43033172" sldId="42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3:28.407" v="4241" actId="1076"/>
          <ac:spMkLst>
            <pc:docMk/>
            <pc:sldMk cId="143033172" sldId="428"/>
            <ac:spMk id="240642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1-29T18:33:23.690" v="4240" actId="1076"/>
          <ac:picMkLst>
            <pc:docMk/>
            <pc:sldMk cId="143033172" sldId="428"/>
            <ac:picMk id="4098" creationId="{00000000-0000-0000-0000-000000000000}"/>
          </ac:picMkLst>
        </pc:picChg>
      </pc:sldChg>
      <pc:sldChg chg="modSp add mod">
        <pc:chgData name="Schlesinger, Sebastian" userId="d814e6c9-e9fb-4b77-84f7-ccd8aa3529bb" providerId="ADAL" clId="{814D90CD-D400-5612-B49E-CD4DF6BF7C8B}" dt="2026-01-29T18:33:43.176" v="4244" actId="1076"/>
        <pc:sldMkLst>
          <pc:docMk/>
          <pc:sldMk cId="2178715599" sldId="429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2178715599" sldId="42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2178715599" sldId="42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3:41.058" v="4243" actId="1076"/>
          <ac:spMkLst>
            <pc:docMk/>
            <pc:sldMk cId="2178715599" sldId="429"/>
            <ac:spMk id="240642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1-29T18:33:43.176" v="4244" actId="1076"/>
          <ac:picMkLst>
            <pc:docMk/>
            <pc:sldMk cId="2178715599" sldId="429"/>
            <ac:picMk id="5122" creationId="{00000000-0000-0000-0000-000000000000}"/>
          </ac:picMkLst>
        </pc:picChg>
      </pc:sldChg>
      <pc:sldChg chg="modSp add mod">
        <pc:chgData name="Schlesinger, Sebastian" userId="d814e6c9-e9fb-4b77-84f7-ccd8aa3529bb" providerId="ADAL" clId="{814D90CD-D400-5612-B49E-CD4DF6BF7C8B}" dt="2026-01-29T18:36:19.259" v="4292" actId="1076"/>
        <pc:sldMkLst>
          <pc:docMk/>
          <pc:sldMk cId="1954699769" sldId="430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954699769" sldId="43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954699769" sldId="43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6:19.259" v="4292" actId="1076"/>
          <ac:spMkLst>
            <pc:docMk/>
            <pc:sldMk cId="1954699769" sldId="430"/>
            <ac:spMk id="25293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6:15.129" v="4291" actId="403"/>
          <ac:spMkLst>
            <pc:docMk/>
            <pc:sldMk cId="1954699769" sldId="430"/>
            <ac:spMk id="252931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7:54:48.478" v="3918" actId="1076"/>
        <pc:sldMkLst>
          <pc:docMk/>
          <pc:sldMk cId="1178689329" sldId="431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178689329" sldId="431"/>
            <ac:spMk id="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178689329" sldId="431"/>
            <ac:spMk id="1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3:52.895" v="3909" actId="14100"/>
          <ac:spMkLst>
            <pc:docMk/>
            <pc:sldMk cId="1178689329" sldId="431"/>
            <ac:spMk id="22937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4:48.478" v="3918" actId="1076"/>
          <ac:spMkLst>
            <pc:docMk/>
            <pc:sldMk cId="1178689329" sldId="431"/>
            <ac:spMk id="22938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4:48.478" v="3918" actId="1076"/>
          <ac:spMkLst>
            <pc:docMk/>
            <pc:sldMk cId="1178689329" sldId="431"/>
            <ac:spMk id="22938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4:22.205" v="3917" actId="12"/>
          <ac:spMkLst>
            <pc:docMk/>
            <pc:sldMk cId="1178689329" sldId="431"/>
            <ac:spMk id="22938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4:48.478" v="3918" actId="1076"/>
          <ac:spMkLst>
            <pc:docMk/>
            <pc:sldMk cId="1178689329" sldId="431"/>
            <ac:spMk id="22938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4:48.478" v="3918" actId="1076"/>
          <ac:spMkLst>
            <pc:docMk/>
            <pc:sldMk cId="1178689329" sldId="431"/>
            <ac:spMk id="22938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4:48.478" v="3918" actId="1076"/>
          <ac:spMkLst>
            <pc:docMk/>
            <pc:sldMk cId="1178689329" sldId="431"/>
            <ac:spMk id="22938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4:48.478" v="3918" actId="1076"/>
          <ac:spMkLst>
            <pc:docMk/>
            <pc:sldMk cId="1178689329" sldId="431"/>
            <ac:spMk id="22939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4:48.478" v="3918" actId="1076"/>
          <ac:spMkLst>
            <pc:docMk/>
            <pc:sldMk cId="1178689329" sldId="431"/>
            <ac:spMk id="22939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4:48.478" v="3918" actId="1076"/>
          <ac:spMkLst>
            <pc:docMk/>
            <pc:sldMk cId="1178689329" sldId="431"/>
            <ac:spMk id="22939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4:48.478" v="3918" actId="1076"/>
          <ac:spMkLst>
            <pc:docMk/>
            <pc:sldMk cId="1178689329" sldId="431"/>
            <ac:spMk id="22939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4:48.478" v="3918" actId="1076"/>
          <ac:spMkLst>
            <pc:docMk/>
            <pc:sldMk cId="1178689329" sldId="431"/>
            <ac:spMk id="229395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7:55:40.201" v="3924" actId="12"/>
        <pc:sldMkLst>
          <pc:docMk/>
          <pc:sldMk cId="2208827932" sldId="432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2208827932" sldId="432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2208827932" sldId="432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5:40.201" v="3924" actId="12"/>
          <ac:spMkLst>
            <pc:docMk/>
            <pc:sldMk cId="2208827932" sldId="432"/>
            <ac:spMk id="9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7:56:16.313" v="3933" actId="1076"/>
        <pc:sldMkLst>
          <pc:docMk/>
          <pc:sldMk cId="2603084995" sldId="433"/>
        </pc:sldMkLst>
        <pc:spChg chg="mod">
          <ac:chgData name="Schlesinger, Sebastian" userId="d814e6c9-e9fb-4b77-84f7-ccd8aa3529bb" providerId="ADAL" clId="{814D90CD-D400-5612-B49E-CD4DF6BF7C8B}" dt="2026-01-29T17:56:01.619" v="3932" actId="12"/>
          <ac:spMkLst>
            <pc:docMk/>
            <pc:sldMk cId="2603084995" sldId="433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2603084995" sldId="433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2603084995" sldId="433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16.313" v="3933" actId="1076"/>
          <ac:spMkLst>
            <pc:docMk/>
            <pc:sldMk cId="2603084995" sldId="433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16.313" v="3933" actId="1076"/>
          <ac:spMkLst>
            <pc:docMk/>
            <pc:sldMk cId="2603084995" sldId="433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16.313" v="3933" actId="1076"/>
          <ac:spMkLst>
            <pc:docMk/>
            <pc:sldMk cId="2603084995" sldId="433"/>
            <ac:spMk id="1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16.313" v="3933" actId="1076"/>
          <ac:spMkLst>
            <pc:docMk/>
            <pc:sldMk cId="2603084995" sldId="433"/>
            <ac:spMk id="1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16.313" v="3933" actId="1076"/>
          <ac:spMkLst>
            <pc:docMk/>
            <pc:sldMk cId="2603084995" sldId="433"/>
            <ac:spMk id="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16.313" v="3933" actId="1076"/>
          <ac:spMkLst>
            <pc:docMk/>
            <pc:sldMk cId="2603084995" sldId="433"/>
            <ac:spMk id="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16.313" v="3933" actId="1076"/>
          <ac:spMkLst>
            <pc:docMk/>
            <pc:sldMk cId="2603084995" sldId="433"/>
            <ac:spMk id="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16.313" v="3933" actId="1076"/>
          <ac:spMkLst>
            <pc:docMk/>
            <pc:sldMk cId="2603084995" sldId="433"/>
            <ac:spMk id="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16.313" v="3933" actId="1076"/>
          <ac:spMkLst>
            <pc:docMk/>
            <pc:sldMk cId="2603084995" sldId="433"/>
            <ac:spMk id="1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16.313" v="3933" actId="1076"/>
          <ac:spMkLst>
            <pc:docMk/>
            <pc:sldMk cId="2603084995" sldId="433"/>
            <ac:spMk id="20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7:56:55.495" v="3940" actId="14100"/>
        <pc:sldMkLst>
          <pc:docMk/>
          <pc:sldMk cId="2634275297" sldId="434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2634275297" sldId="434"/>
            <ac:spMk id="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2634275297" sldId="434"/>
            <ac:spMk id="1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52.863" v="3939" actId="1076"/>
          <ac:spMkLst>
            <pc:docMk/>
            <pc:sldMk cId="2634275297" sldId="434"/>
            <ac:spMk id="22938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52.863" v="3939" actId="1076"/>
          <ac:spMkLst>
            <pc:docMk/>
            <pc:sldMk cId="2634275297" sldId="434"/>
            <ac:spMk id="22938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52.863" v="3939" actId="1076"/>
          <ac:spMkLst>
            <pc:docMk/>
            <pc:sldMk cId="2634275297" sldId="434"/>
            <ac:spMk id="22938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55.495" v="3940" actId="14100"/>
          <ac:spMkLst>
            <pc:docMk/>
            <pc:sldMk cId="2634275297" sldId="434"/>
            <ac:spMk id="22938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52.863" v="3939" actId="1076"/>
          <ac:spMkLst>
            <pc:docMk/>
            <pc:sldMk cId="2634275297" sldId="434"/>
            <ac:spMk id="22938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52.863" v="3939" actId="1076"/>
          <ac:spMkLst>
            <pc:docMk/>
            <pc:sldMk cId="2634275297" sldId="434"/>
            <ac:spMk id="22938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52.863" v="3939" actId="1076"/>
          <ac:spMkLst>
            <pc:docMk/>
            <pc:sldMk cId="2634275297" sldId="434"/>
            <ac:spMk id="22938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52.863" v="3939" actId="1076"/>
          <ac:spMkLst>
            <pc:docMk/>
            <pc:sldMk cId="2634275297" sldId="434"/>
            <ac:spMk id="22939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52.863" v="3939" actId="1076"/>
          <ac:spMkLst>
            <pc:docMk/>
            <pc:sldMk cId="2634275297" sldId="434"/>
            <ac:spMk id="22939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52.863" v="3939" actId="1076"/>
          <ac:spMkLst>
            <pc:docMk/>
            <pc:sldMk cId="2634275297" sldId="434"/>
            <ac:spMk id="22939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6:52.863" v="3939" actId="1076"/>
          <ac:spMkLst>
            <pc:docMk/>
            <pc:sldMk cId="2634275297" sldId="434"/>
            <ac:spMk id="229397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7T12:54:32.134" v="5502" actId="20577"/>
        <pc:sldMkLst>
          <pc:docMk/>
          <pc:sldMk cId="791013356" sldId="435"/>
        </pc:sldMkLst>
        <pc:spChg chg="mod">
          <ac:chgData name="Schlesinger, Sebastian" userId="d814e6c9-e9fb-4b77-84f7-ccd8aa3529bb" providerId="ADAL" clId="{814D90CD-D400-5612-B49E-CD4DF6BF7C8B}" dt="2026-01-29T17:57:16.812" v="3943" actId="14100"/>
          <ac:spMkLst>
            <pc:docMk/>
            <pc:sldMk cId="791013356" sldId="43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791013356" sldId="435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791013356" sldId="435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54:32.134" v="5502" actId="20577"/>
          <ac:spMkLst>
            <pc:docMk/>
            <pc:sldMk cId="791013356" sldId="435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7:39.082" v="3973" actId="1035"/>
          <ac:spMkLst>
            <pc:docMk/>
            <pc:sldMk cId="791013356" sldId="435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8:04.181" v="3984" actId="1076"/>
          <ac:spMkLst>
            <pc:docMk/>
            <pc:sldMk cId="791013356" sldId="435"/>
            <ac:spMk id="12" creationId="{00000000-0000-0000-0000-000000000000}"/>
          </ac:spMkLst>
        </pc:spChg>
        <pc:cxnChg chg="mod">
          <ac:chgData name="Schlesinger, Sebastian" userId="d814e6c9-e9fb-4b77-84f7-ccd8aa3529bb" providerId="ADAL" clId="{814D90CD-D400-5612-B49E-CD4DF6BF7C8B}" dt="2026-01-29T17:57:39.082" v="3973" actId="1035"/>
          <ac:cxnSpMkLst>
            <pc:docMk/>
            <pc:sldMk cId="791013356" sldId="435"/>
            <ac:cxnSpMk id="11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1-29T17:58:04.181" v="3984" actId="1076"/>
          <ac:cxnSpMkLst>
            <pc:docMk/>
            <pc:sldMk cId="791013356" sldId="435"/>
            <ac:cxnSpMk id="15" creationId="{00000000-0000-0000-0000-000000000000}"/>
          </ac:cxnSpMkLst>
        </pc:cxnChg>
      </pc:sldChg>
      <pc:sldChg chg="modSp add mod">
        <pc:chgData name="Schlesinger, Sebastian" userId="d814e6c9-e9fb-4b77-84f7-ccd8aa3529bb" providerId="ADAL" clId="{814D90CD-D400-5612-B49E-CD4DF6BF7C8B}" dt="2026-01-29T17:58:13.945" v="3986" actId="14100"/>
        <pc:sldMkLst>
          <pc:docMk/>
          <pc:sldMk cId="891368310" sldId="436"/>
        </pc:sldMkLst>
        <pc:spChg chg="mod">
          <ac:chgData name="Schlesinger, Sebastian" userId="d814e6c9-e9fb-4b77-84f7-ccd8aa3529bb" providerId="ADAL" clId="{814D90CD-D400-5612-B49E-CD4DF6BF7C8B}" dt="2026-01-29T17:58:11.046" v="3985" actId="1076"/>
          <ac:spMkLst>
            <pc:docMk/>
            <pc:sldMk cId="891368310" sldId="43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891368310" sldId="436"/>
            <ac:spMk id="1945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891368310" sldId="436"/>
            <ac:spMk id="1946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8:13.945" v="3986" actId="14100"/>
          <ac:spMkLst>
            <pc:docMk/>
            <pc:sldMk cId="891368310" sldId="436"/>
            <ac:spMk id="19461" creationId="{00000000-0000-0000-0000-000000000000}"/>
          </ac:spMkLst>
        </pc:spChg>
      </pc:sldChg>
      <pc:sldChg chg="modSp add mod modAnim">
        <pc:chgData name="Schlesinger, Sebastian" userId="d814e6c9-e9fb-4b77-84f7-ccd8aa3529bb" providerId="ADAL" clId="{814D90CD-D400-5612-B49E-CD4DF6BF7C8B}" dt="2026-01-29T17:59:13.273" v="4000" actId="404"/>
        <pc:sldMkLst>
          <pc:docMk/>
          <pc:sldMk cId="361405261" sldId="437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361405261" sldId="437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361405261" sldId="437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8:21.478" v="3988" actId="14100"/>
          <ac:spMkLst>
            <pc:docMk/>
            <pc:sldMk cId="361405261" sldId="437"/>
            <ac:spMk id="24166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9:13.273" v="4000" actId="404"/>
          <ac:spMkLst>
            <pc:docMk/>
            <pc:sldMk cId="361405261" sldId="437"/>
            <ac:spMk id="241667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7:59:02.021" v="3994" actId="403"/>
        <pc:sldMkLst>
          <pc:docMk/>
          <pc:sldMk cId="2793182041" sldId="438"/>
        </pc:sldMkLst>
        <pc:spChg chg="mod">
          <ac:chgData name="Schlesinger, Sebastian" userId="d814e6c9-e9fb-4b77-84f7-ccd8aa3529bb" providerId="ADAL" clId="{814D90CD-D400-5612-B49E-CD4DF6BF7C8B}" dt="2026-01-29T17:59:02.021" v="3994" actId="403"/>
          <ac:spMkLst>
            <pc:docMk/>
            <pc:sldMk cId="2793182041" sldId="43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2793182041" sldId="438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2793182041" sldId="438"/>
            <ac:spMk id="6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03:54.979" v="4005" actId="12"/>
        <pc:sldMkLst>
          <pc:docMk/>
          <pc:sldMk cId="3185633987" sldId="439"/>
        </pc:sldMkLst>
        <pc:spChg chg="mod">
          <ac:chgData name="Schlesinger, Sebastian" userId="d814e6c9-e9fb-4b77-84f7-ccd8aa3529bb" providerId="ADAL" clId="{814D90CD-D400-5612-B49E-CD4DF6BF7C8B}" dt="2026-01-29T18:03:54.979" v="4005" actId="12"/>
          <ac:spMkLst>
            <pc:docMk/>
            <pc:sldMk cId="3185633987" sldId="43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3185633987" sldId="439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3185633987" sldId="439"/>
            <ac:spMk id="6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06:35.236" v="4015" actId="1076"/>
        <pc:sldMkLst>
          <pc:docMk/>
          <pc:sldMk cId="1285656608" sldId="440"/>
        </pc:sldMkLst>
        <pc:spChg chg="mod">
          <ac:chgData name="Schlesinger, Sebastian" userId="d814e6c9-e9fb-4b77-84f7-ccd8aa3529bb" providerId="ADAL" clId="{814D90CD-D400-5612-B49E-CD4DF6BF7C8B}" dt="2026-01-29T18:04:35.912" v="4009" actId="1076"/>
          <ac:spMkLst>
            <pc:docMk/>
            <pc:sldMk cId="1285656608" sldId="44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285656608" sldId="440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285656608" sldId="440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6:35.236" v="4015" actId="1076"/>
          <ac:spMkLst>
            <pc:docMk/>
            <pc:sldMk cId="1285656608" sldId="440"/>
            <ac:spMk id="4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6:35.236" v="4015" actId="1076"/>
          <ac:spMkLst>
            <pc:docMk/>
            <pc:sldMk cId="1285656608" sldId="440"/>
            <ac:spMk id="4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4:42.048" v="4010" actId="14100"/>
          <ac:spMkLst>
            <pc:docMk/>
            <pc:sldMk cId="1285656608" sldId="440"/>
            <ac:spMk id="5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6:35.236" v="4015" actId="1076"/>
          <ac:spMkLst>
            <pc:docMk/>
            <pc:sldMk cId="1285656608" sldId="440"/>
            <ac:spMk id="5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4:54.764" v="4011" actId="1076"/>
          <ac:spMkLst>
            <pc:docMk/>
            <pc:sldMk cId="1285656608" sldId="440"/>
            <ac:spMk id="5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4:54.764" v="4011" actId="1076"/>
          <ac:spMkLst>
            <pc:docMk/>
            <pc:sldMk cId="1285656608" sldId="440"/>
            <ac:spMk id="5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4:54.764" v="4011" actId="1076"/>
          <ac:spMkLst>
            <pc:docMk/>
            <pc:sldMk cId="1285656608" sldId="440"/>
            <ac:spMk id="5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4:54.764" v="4011" actId="1076"/>
          <ac:spMkLst>
            <pc:docMk/>
            <pc:sldMk cId="1285656608" sldId="440"/>
            <ac:spMk id="5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6:35.236" v="4015" actId="1076"/>
          <ac:spMkLst>
            <pc:docMk/>
            <pc:sldMk cId="1285656608" sldId="440"/>
            <ac:spMk id="6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6:35.236" v="4015" actId="1076"/>
          <ac:spMkLst>
            <pc:docMk/>
            <pc:sldMk cId="1285656608" sldId="440"/>
            <ac:spMk id="6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6:35.236" v="4015" actId="1076"/>
          <ac:spMkLst>
            <pc:docMk/>
            <pc:sldMk cId="1285656608" sldId="440"/>
            <ac:spMk id="8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6:35.236" v="4015" actId="1076"/>
          <ac:spMkLst>
            <pc:docMk/>
            <pc:sldMk cId="1285656608" sldId="440"/>
            <ac:spMk id="8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6:35.236" v="4015" actId="1076"/>
          <ac:spMkLst>
            <pc:docMk/>
            <pc:sldMk cId="1285656608" sldId="440"/>
            <ac:spMk id="9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6:35.236" v="4015" actId="1076"/>
          <ac:spMkLst>
            <pc:docMk/>
            <pc:sldMk cId="1285656608" sldId="440"/>
            <ac:spMk id="10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06:35.236" v="4015" actId="1076"/>
          <ac:spMkLst>
            <pc:docMk/>
            <pc:sldMk cId="1285656608" sldId="440"/>
            <ac:spMk id="104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1-29T18:04:30.849" v="4008" actId="1076"/>
          <ac:grpSpMkLst>
            <pc:docMk/>
            <pc:sldMk cId="1285656608" sldId="440"/>
            <ac:grpSpMk id="3" creationId="{00000000-0000-0000-0000-000000000000}"/>
          </ac:grpSpMkLst>
        </pc:grpChg>
        <pc:cxnChg chg="mod">
          <ac:chgData name="Schlesinger, Sebastian" userId="d814e6c9-e9fb-4b77-84f7-ccd8aa3529bb" providerId="ADAL" clId="{814D90CD-D400-5612-B49E-CD4DF6BF7C8B}" dt="2026-01-29T18:04:54.764" v="4011" actId="1076"/>
          <ac:cxnSpMkLst>
            <pc:docMk/>
            <pc:sldMk cId="1285656608" sldId="440"/>
            <ac:cxnSpMk id="61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1-29T18:05:48.816" v="4012" actId="14100"/>
          <ac:cxnSpMkLst>
            <pc:docMk/>
            <pc:sldMk cId="1285656608" sldId="440"/>
            <ac:cxnSpMk id="63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1-29T18:05:51.066" v="4013" actId="14100"/>
          <ac:cxnSpMkLst>
            <pc:docMk/>
            <pc:sldMk cId="1285656608" sldId="440"/>
            <ac:cxnSpMk id="65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1-29T18:05:53.515" v="4014" actId="14100"/>
          <ac:cxnSpMkLst>
            <pc:docMk/>
            <pc:sldMk cId="1285656608" sldId="440"/>
            <ac:cxnSpMk id="68" creationId="{00000000-0000-0000-0000-000000000000}"/>
          </ac:cxnSpMkLst>
        </pc:cxnChg>
      </pc:sldChg>
      <pc:sldChg chg="addSp delSp modSp add mod">
        <pc:chgData name="Schlesinger, Sebastian" userId="d814e6c9-e9fb-4b77-84f7-ccd8aa3529bb" providerId="ADAL" clId="{814D90CD-D400-5612-B49E-CD4DF6BF7C8B}" dt="2026-02-07T12:57:56.252" v="5516" actId="20577"/>
        <pc:sldMkLst>
          <pc:docMk/>
          <pc:sldMk cId="2840759115" sldId="443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2840759115" sldId="44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2840759115" sldId="443"/>
            <ac:spMk id="3" creationId="{00000000-0000-0000-0000-000000000000}"/>
          </ac:spMkLst>
        </pc:spChg>
        <pc:spChg chg="add mod">
          <ac:chgData name="Schlesinger, Sebastian" userId="d814e6c9-e9fb-4b77-84f7-ccd8aa3529bb" providerId="ADAL" clId="{814D90CD-D400-5612-B49E-CD4DF6BF7C8B}" dt="2026-02-07T12:57:56.252" v="5516" actId="20577"/>
          <ac:spMkLst>
            <pc:docMk/>
            <pc:sldMk cId="2840759115" sldId="443"/>
            <ac:spMk id="6" creationId="{49A42F2D-C54B-8F0C-74F3-3C1F97317E53}"/>
          </ac:spMkLst>
        </pc:spChg>
        <pc:spChg chg="mod">
          <ac:chgData name="Schlesinger, Sebastian" userId="d814e6c9-e9fb-4b77-84f7-ccd8aa3529bb" providerId="ADAL" clId="{814D90CD-D400-5612-B49E-CD4DF6BF7C8B}" dt="2026-01-29T17:53:32.044" v="3905" actId="14100"/>
          <ac:spMkLst>
            <pc:docMk/>
            <pc:sldMk cId="2840759115" sldId="443"/>
            <ac:spMk id="282626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34:15.541" v="4253" actId="1076"/>
        <pc:sldMkLst>
          <pc:docMk/>
          <pc:sldMk cId="1796004096" sldId="446"/>
        </pc:sldMkLst>
        <pc:spChg chg="mod">
          <ac:chgData name="Schlesinger, Sebastian" userId="d814e6c9-e9fb-4b77-84f7-ccd8aa3529bb" providerId="ADAL" clId="{814D90CD-D400-5612-B49E-CD4DF6BF7C8B}" dt="2026-01-29T18:33:47.858" v="4245" actId="1076"/>
          <ac:spMkLst>
            <pc:docMk/>
            <pc:sldMk cId="1796004096" sldId="44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05.760" v="4252" actId="12"/>
          <ac:spMkLst>
            <pc:docMk/>
            <pc:sldMk cId="1796004096" sldId="44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796004096" sldId="446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796004096" sldId="446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15.541" v="4253" actId="1076"/>
          <ac:spMkLst>
            <pc:docMk/>
            <pc:sldMk cId="1796004096" sldId="446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15.541" v="4253" actId="1076"/>
          <ac:spMkLst>
            <pc:docMk/>
            <pc:sldMk cId="1796004096" sldId="446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15.541" v="4253" actId="1076"/>
          <ac:spMkLst>
            <pc:docMk/>
            <pc:sldMk cId="1796004096" sldId="446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15.541" v="4253" actId="1076"/>
          <ac:spMkLst>
            <pc:docMk/>
            <pc:sldMk cId="1796004096" sldId="446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15.541" v="4253" actId="1076"/>
          <ac:spMkLst>
            <pc:docMk/>
            <pc:sldMk cId="1796004096" sldId="446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15.541" v="4253" actId="1076"/>
          <ac:spMkLst>
            <pc:docMk/>
            <pc:sldMk cId="1796004096" sldId="446"/>
            <ac:spMk id="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15.541" v="4253" actId="1076"/>
          <ac:spMkLst>
            <pc:docMk/>
            <pc:sldMk cId="1796004096" sldId="446"/>
            <ac:spMk id="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15.541" v="4253" actId="1076"/>
          <ac:spMkLst>
            <pc:docMk/>
            <pc:sldMk cId="1796004096" sldId="446"/>
            <ac:spMk id="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15.541" v="4253" actId="1076"/>
          <ac:spMkLst>
            <pc:docMk/>
            <pc:sldMk cId="1796004096" sldId="446"/>
            <ac:spMk id="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4:15.541" v="4253" actId="1076"/>
          <ac:spMkLst>
            <pc:docMk/>
            <pc:sldMk cId="1796004096" sldId="446"/>
            <ac:spMk id="19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30:16.606" v="4195" actId="1076"/>
        <pc:sldMkLst>
          <pc:docMk/>
          <pc:sldMk cId="3382537529" sldId="449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3382537529" sldId="44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3382537529" sldId="44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09.610" v="4194" actId="1038"/>
          <ac:spMkLst>
            <pc:docMk/>
            <pc:sldMk cId="3382537529" sldId="449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09.610" v="4194" actId="1038"/>
          <ac:spMkLst>
            <pc:docMk/>
            <pc:sldMk cId="3382537529" sldId="449"/>
            <ac:spMk id="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09.610" v="4194" actId="1038"/>
          <ac:spMkLst>
            <pc:docMk/>
            <pc:sldMk cId="3382537529" sldId="449"/>
            <ac:spMk id="2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09.610" v="4194" actId="1038"/>
          <ac:spMkLst>
            <pc:docMk/>
            <pc:sldMk cId="3382537529" sldId="449"/>
            <ac:spMk id="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09.610" v="4194" actId="1038"/>
          <ac:spMkLst>
            <pc:docMk/>
            <pc:sldMk cId="3382537529" sldId="449"/>
            <ac:spMk id="2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09.610" v="4194" actId="1038"/>
          <ac:spMkLst>
            <pc:docMk/>
            <pc:sldMk cId="3382537529" sldId="449"/>
            <ac:spMk id="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09.610" v="4194" actId="1038"/>
          <ac:spMkLst>
            <pc:docMk/>
            <pc:sldMk cId="3382537529" sldId="449"/>
            <ac:spMk id="3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09.610" v="4194" actId="1038"/>
          <ac:spMkLst>
            <pc:docMk/>
            <pc:sldMk cId="3382537529" sldId="449"/>
            <ac:spMk id="3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16.606" v="4195" actId="1076"/>
          <ac:spMkLst>
            <pc:docMk/>
            <pc:sldMk cId="3382537529" sldId="449"/>
            <ac:spMk id="3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09.610" v="4194" actId="1038"/>
          <ac:spMkLst>
            <pc:docMk/>
            <pc:sldMk cId="3382537529" sldId="449"/>
            <ac:spMk id="4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30:09.610" v="4194" actId="1038"/>
          <ac:spMkLst>
            <pc:docMk/>
            <pc:sldMk cId="3382537529" sldId="449"/>
            <ac:spMk id="4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58.273" v="4169" actId="1076"/>
          <ac:spMkLst>
            <pc:docMk/>
            <pc:sldMk cId="3382537529" sldId="449"/>
            <ac:spMk id="251906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9T18:29:48.808" v="4167" actId="20577"/>
        <pc:sldMkLst>
          <pc:docMk/>
          <pc:sldMk cId="1409814674" sldId="450"/>
        </pc:sldMkLst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409814674" sldId="45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7:51:24.140" v="3890"/>
          <ac:spMkLst>
            <pc:docMk/>
            <pc:sldMk cId="1409814674" sldId="45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39.540" v="4165" actId="1076"/>
          <ac:spMkLst>
            <pc:docMk/>
            <pc:sldMk cId="1409814674" sldId="450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39.540" v="4165" actId="1076"/>
          <ac:spMkLst>
            <pc:docMk/>
            <pc:sldMk cId="1409814674" sldId="450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39.540" v="4165" actId="1076"/>
          <ac:spMkLst>
            <pc:docMk/>
            <pc:sldMk cId="1409814674" sldId="450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39.540" v="4165" actId="1076"/>
          <ac:spMkLst>
            <pc:docMk/>
            <pc:sldMk cId="1409814674" sldId="450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39.540" v="4165" actId="1076"/>
          <ac:spMkLst>
            <pc:docMk/>
            <pc:sldMk cId="1409814674" sldId="450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39.540" v="4165" actId="1076"/>
          <ac:spMkLst>
            <pc:docMk/>
            <pc:sldMk cId="1409814674" sldId="450"/>
            <ac:spMk id="1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39.540" v="4165" actId="1076"/>
          <ac:spMkLst>
            <pc:docMk/>
            <pc:sldMk cId="1409814674" sldId="450"/>
            <ac:spMk id="1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39.540" v="4165" actId="1076"/>
          <ac:spMkLst>
            <pc:docMk/>
            <pc:sldMk cId="1409814674" sldId="450"/>
            <ac:spMk id="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39.540" v="4165" actId="1076"/>
          <ac:spMkLst>
            <pc:docMk/>
            <pc:sldMk cId="1409814674" sldId="450"/>
            <ac:spMk id="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39.540" v="4165" actId="1076"/>
          <ac:spMkLst>
            <pc:docMk/>
            <pc:sldMk cId="1409814674" sldId="450"/>
            <ac:spMk id="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16.257" v="4159" actId="14100"/>
          <ac:spMkLst>
            <pc:docMk/>
            <pc:sldMk cId="1409814674" sldId="450"/>
            <ac:spMk id="24883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9T18:29:48.808" v="4167" actId="20577"/>
          <ac:spMkLst>
            <pc:docMk/>
            <pc:sldMk cId="1409814674" sldId="450"/>
            <ac:spMk id="248835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11T18:20:18.712" v="6874" actId="20577"/>
        <pc:sldMkLst>
          <pc:docMk/>
          <pc:sldMk cId="4022119539" sldId="504"/>
        </pc:sldMkLst>
        <pc:spChg chg="mod">
          <ac:chgData name="Schlesinger, Sebastian" userId="d814e6c9-e9fb-4b77-84f7-ccd8aa3529bb" providerId="ADAL" clId="{814D90CD-D400-5612-B49E-CD4DF6BF7C8B}" dt="2026-02-11T18:20:18.712" v="6874" actId="20577"/>
          <ac:spMkLst>
            <pc:docMk/>
            <pc:sldMk cId="4022119539" sldId="504"/>
            <ac:spMk id="51" creationId="{C363D55D-7964-4018-B9C4-EF223437A6CA}"/>
          </ac:spMkLst>
        </pc:spChg>
      </pc:sldChg>
      <pc:sldChg chg="addSp modSp mod">
        <pc:chgData name="Schlesinger, Sebastian" userId="d814e6c9-e9fb-4b77-84f7-ccd8aa3529bb" providerId="ADAL" clId="{814D90CD-D400-5612-B49E-CD4DF6BF7C8B}" dt="2026-02-02T12:56:22.689" v="4324" actId="20577"/>
        <pc:sldMkLst>
          <pc:docMk/>
          <pc:sldMk cId="2039478384" sldId="785"/>
        </pc:sldMkLst>
        <pc:spChg chg="add mod">
          <ac:chgData name="Schlesinger, Sebastian" userId="d814e6c9-e9fb-4b77-84f7-ccd8aa3529bb" providerId="ADAL" clId="{814D90CD-D400-5612-B49E-CD4DF6BF7C8B}" dt="2026-01-22T18:13:24.320" v="1715"/>
          <ac:spMkLst>
            <pc:docMk/>
            <pc:sldMk cId="2039478384" sldId="785"/>
            <ac:spMk id="2" creationId="{F16F884C-11E3-EEBA-FB5D-886B3FF7FAE6}"/>
          </ac:spMkLst>
        </pc:spChg>
        <pc:spChg chg="mod">
          <ac:chgData name="Schlesinger, Sebastian" userId="d814e6c9-e9fb-4b77-84f7-ccd8aa3529bb" providerId="ADAL" clId="{814D90CD-D400-5612-B49E-CD4DF6BF7C8B}" dt="2026-02-02T12:56:22.689" v="4324" actId="20577"/>
          <ac:spMkLst>
            <pc:docMk/>
            <pc:sldMk cId="2039478384" sldId="785"/>
            <ac:spMk id="4" creationId="{1E39F0E3-8C0D-B9FB-C5FC-26F66EBAD397}"/>
          </ac:spMkLst>
        </pc:spChg>
        <pc:spChg chg="add mod">
          <ac:chgData name="Schlesinger, Sebastian" userId="d814e6c9-e9fb-4b77-84f7-ccd8aa3529bb" providerId="ADAL" clId="{814D90CD-D400-5612-B49E-CD4DF6BF7C8B}" dt="2026-01-22T18:13:24.320" v="1715"/>
          <ac:spMkLst>
            <pc:docMk/>
            <pc:sldMk cId="2039478384" sldId="785"/>
            <ac:spMk id="6" creationId="{544A7715-BA0F-DB10-A552-EBA003592AE6}"/>
          </ac:spMkLst>
        </pc:spChg>
      </pc:sldChg>
      <pc:sldChg chg="addSp delSp modSp add mod delAnim modAnim">
        <pc:chgData name="Schlesinger, Sebastian" userId="d814e6c9-e9fb-4b77-84f7-ccd8aa3529bb" providerId="ADAL" clId="{814D90CD-D400-5612-B49E-CD4DF6BF7C8B}" dt="2026-02-07T13:00:36.050" v="5524" actId="14100"/>
        <pc:sldMkLst>
          <pc:docMk/>
          <pc:sldMk cId="4045331320" sldId="789"/>
        </pc:sldMkLst>
        <pc:spChg chg="mod">
          <ac:chgData name="Schlesinger, Sebastian" userId="d814e6c9-e9fb-4b77-84f7-ccd8aa3529bb" providerId="ADAL" clId="{814D90CD-D400-5612-B49E-CD4DF6BF7C8B}" dt="2026-02-07T13:00:36.050" v="5524" actId="14100"/>
          <ac:spMkLst>
            <pc:docMk/>
            <pc:sldMk cId="4045331320" sldId="789"/>
            <ac:spMk id="233475" creationId="{20DBBAE8-3A47-BCFC-F5EB-1D9C977D6A63}"/>
          </ac:spMkLst>
        </pc:spChg>
      </pc:sldChg>
      <pc:sldChg chg="add">
        <pc:chgData name="Schlesinger, Sebastian" userId="d814e6c9-e9fb-4b77-84f7-ccd8aa3529bb" providerId="ADAL" clId="{814D90CD-D400-5612-B49E-CD4DF6BF7C8B}" dt="2026-01-29T18:19:09.778" v="4118"/>
        <pc:sldMkLst>
          <pc:docMk/>
          <pc:sldMk cId="1613588326" sldId="790"/>
        </pc:sldMkLst>
      </pc:sldChg>
      <pc:sldChg chg="addSp modSp add mod">
        <pc:chgData name="Schlesinger, Sebastian" userId="d814e6c9-e9fb-4b77-84f7-ccd8aa3529bb" providerId="ADAL" clId="{814D90CD-D400-5612-B49E-CD4DF6BF7C8B}" dt="2026-02-04T16:42:25.894" v="4333" actId="1076"/>
        <pc:sldMkLst>
          <pc:docMk/>
          <pc:sldMk cId="1579203280" sldId="791"/>
        </pc:sldMkLst>
        <pc:spChg chg="mod">
          <ac:chgData name="Schlesinger, Sebastian" userId="d814e6c9-e9fb-4b77-84f7-ccd8aa3529bb" providerId="ADAL" clId="{814D90CD-D400-5612-B49E-CD4DF6BF7C8B}" dt="2026-02-04T16:42:18.130" v="4330"/>
          <ac:spMkLst>
            <pc:docMk/>
            <pc:sldMk cId="1579203280" sldId="791"/>
            <ac:spMk id="4" creationId="{8919164D-063A-E6BC-2B5E-75CF7BDBF087}"/>
          </ac:spMkLst>
        </pc:spChg>
        <pc:spChg chg="mod">
          <ac:chgData name="Schlesinger, Sebastian" userId="d814e6c9-e9fb-4b77-84f7-ccd8aa3529bb" providerId="ADAL" clId="{814D90CD-D400-5612-B49E-CD4DF6BF7C8B}" dt="2026-02-04T16:42:18.130" v="4330"/>
          <ac:spMkLst>
            <pc:docMk/>
            <pc:sldMk cId="1579203280" sldId="791"/>
            <ac:spMk id="8" creationId="{4361993B-1B36-8629-581C-171D5E549A6E}"/>
          </ac:spMkLst>
        </pc:spChg>
        <pc:grpChg chg="add mod">
          <ac:chgData name="Schlesinger, Sebastian" userId="d814e6c9-e9fb-4b77-84f7-ccd8aa3529bb" providerId="ADAL" clId="{814D90CD-D400-5612-B49E-CD4DF6BF7C8B}" dt="2026-02-04T16:42:25.894" v="4333" actId="1076"/>
          <ac:grpSpMkLst>
            <pc:docMk/>
            <pc:sldMk cId="1579203280" sldId="791"/>
            <ac:grpSpMk id="3" creationId="{E8660541-5250-3634-DC71-73E04C6B61C1}"/>
          </ac:grpSpMkLst>
        </pc:grpChg>
        <pc:grpChg chg="mod">
          <ac:chgData name="Schlesinger, Sebastian" userId="d814e6c9-e9fb-4b77-84f7-ccd8aa3529bb" providerId="ADAL" clId="{814D90CD-D400-5612-B49E-CD4DF6BF7C8B}" dt="2026-02-02T17:20:39.305" v="4328" actId="167"/>
          <ac:grpSpMkLst>
            <pc:docMk/>
            <pc:sldMk cId="1579203280" sldId="791"/>
            <ac:grpSpMk id="22" creationId="{0B3C64BD-2C6B-414D-B767-41BB64776A72}"/>
          </ac:grpSpMkLst>
        </pc:grpChg>
        <pc:grpChg chg="mod">
          <ac:chgData name="Schlesinger, Sebastian" userId="d814e6c9-e9fb-4b77-84f7-ccd8aa3529bb" providerId="ADAL" clId="{814D90CD-D400-5612-B49E-CD4DF6BF7C8B}" dt="2026-02-02T17:20:39.305" v="4328" actId="167"/>
          <ac:grpSpMkLst>
            <pc:docMk/>
            <pc:sldMk cId="1579203280" sldId="791"/>
            <ac:grpSpMk id="33" creationId="{596A5EA6-9714-4E5B-AAC8-8E4A3A51DEDE}"/>
          </ac:grpSpMkLst>
        </pc:grpChg>
        <pc:grpChg chg="mod">
          <ac:chgData name="Schlesinger, Sebastian" userId="d814e6c9-e9fb-4b77-84f7-ccd8aa3529bb" providerId="ADAL" clId="{814D90CD-D400-5612-B49E-CD4DF6BF7C8B}" dt="2026-02-02T17:20:39.305" v="4328" actId="167"/>
          <ac:grpSpMkLst>
            <pc:docMk/>
            <pc:sldMk cId="1579203280" sldId="791"/>
            <ac:grpSpMk id="36" creationId="{2ED6C177-B9DA-484B-96E0-913E073C3876}"/>
          </ac:grpSpMkLst>
        </pc:grpChg>
        <pc:grpChg chg="mod">
          <ac:chgData name="Schlesinger, Sebastian" userId="d814e6c9-e9fb-4b77-84f7-ccd8aa3529bb" providerId="ADAL" clId="{814D90CD-D400-5612-B49E-CD4DF6BF7C8B}" dt="2026-02-02T17:20:39.305" v="4328" actId="167"/>
          <ac:grpSpMkLst>
            <pc:docMk/>
            <pc:sldMk cId="1579203280" sldId="791"/>
            <ac:grpSpMk id="40" creationId="{8CA8C6EC-116A-46FE-885D-2EE71C50FE6D}"/>
          </ac:grpSpMkLst>
        </pc:grpChg>
        <pc:grpChg chg="mod">
          <ac:chgData name="Schlesinger, Sebastian" userId="d814e6c9-e9fb-4b77-84f7-ccd8aa3529bb" providerId="ADAL" clId="{814D90CD-D400-5612-B49E-CD4DF6BF7C8B}" dt="2026-02-02T17:20:45.802" v="4329" actId="167"/>
          <ac:grpSpMkLst>
            <pc:docMk/>
            <pc:sldMk cId="1579203280" sldId="791"/>
            <ac:grpSpMk id="49" creationId="{933563F5-F378-428C-81A2-34D1FE930F03}"/>
          </ac:grpSpMkLst>
        </pc:grpChg>
        <pc:grpChg chg="mod">
          <ac:chgData name="Schlesinger, Sebastian" userId="d814e6c9-e9fb-4b77-84f7-ccd8aa3529bb" providerId="ADAL" clId="{814D90CD-D400-5612-B49E-CD4DF6BF7C8B}" dt="2026-02-02T17:20:45.802" v="4329" actId="167"/>
          <ac:grpSpMkLst>
            <pc:docMk/>
            <pc:sldMk cId="1579203280" sldId="791"/>
            <ac:grpSpMk id="76" creationId="{58CB1ADC-AE65-405F-BB06-069BFAB7A68C}"/>
          </ac:grpSpMkLst>
        </pc:grpChg>
        <pc:grpChg chg="mod">
          <ac:chgData name="Schlesinger, Sebastian" userId="d814e6c9-e9fb-4b77-84f7-ccd8aa3529bb" providerId="ADAL" clId="{814D90CD-D400-5612-B49E-CD4DF6BF7C8B}" dt="2026-02-02T17:20:45.802" v="4329" actId="167"/>
          <ac:grpSpMkLst>
            <pc:docMk/>
            <pc:sldMk cId="1579203280" sldId="791"/>
            <ac:grpSpMk id="82" creationId="{7B19A32B-1F54-4FC2-A501-CD345C0C92BB}"/>
          </ac:grpSpMkLst>
        </pc:grpChg>
        <pc:grpChg chg="mod">
          <ac:chgData name="Schlesinger, Sebastian" userId="d814e6c9-e9fb-4b77-84f7-ccd8aa3529bb" providerId="ADAL" clId="{814D90CD-D400-5612-B49E-CD4DF6BF7C8B}" dt="2026-02-02T17:20:45.802" v="4329" actId="167"/>
          <ac:grpSpMkLst>
            <pc:docMk/>
            <pc:sldMk cId="1579203280" sldId="791"/>
            <ac:grpSpMk id="88" creationId="{C24C9434-09C9-47A7-8531-EA4AF01529AD}"/>
          </ac:grpSpMkLst>
        </pc:grpChg>
        <pc:grpChg chg="mod">
          <ac:chgData name="Schlesinger, Sebastian" userId="d814e6c9-e9fb-4b77-84f7-ccd8aa3529bb" providerId="ADAL" clId="{814D90CD-D400-5612-B49E-CD4DF6BF7C8B}" dt="2026-02-02T17:20:45.802" v="4329" actId="167"/>
          <ac:grpSpMkLst>
            <pc:docMk/>
            <pc:sldMk cId="1579203280" sldId="791"/>
            <ac:grpSpMk id="91" creationId="{E5203C6F-8288-475C-B7CD-4072E3D6F0A8}"/>
          </ac:grpSpMkLst>
        </pc:grpChg>
        <pc:grpChg chg="mod">
          <ac:chgData name="Schlesinger, Sebastian" userId="d814e6c9-e9fb-4b77-84f7-ccd8aa3529bb" providerId="ADAL" clId="{814D90CD-D400-5612-B49E-CD4DF6BF7C8B}" dt="2026-02-02T17:20:45.802" v="4329" actId="167"/>
          <ac:grpSpMkLst>
            <pc:docMk/>
            <pc:sldMk cId="1579203280" sldId="791"/>
            <ac:grpSpMk id="94" creationId="{CAC052B4-6720-41BC-8662-71F2EDF5D888}"/>
          </ac:grpSpMkLst>
        </pc:grpChg>
        <pc:grpChg chg="mod">
          <ac:chgData name="Schlesinger, Sebastian" userId="d814e6c9-e9fb-4b77-84f7-ccd8aa3529bb" providerId="ADAL" clId="{814D90CD-D400-5612-B49E-CD4DF6BF7C8B}" dt="2026-02-02T17:20:26.696" v="4327" actId="167"/>
          <ac:grpSpMkLst>
            <pc:docMk/>
            <pc:sldMk cId="1579203280" sldId="791"/>
            <ac:grpSpMk id="97" creationId="{C24C9434-09C9-47A7-8531-EA4AF01529AD}"/>
          </ac:grpSpMkLst>
        </pc:grpChg>
        <pc:grpChg chg="mod">
          <ac:chgData name="Schlesinger, Sebastian" userId="d814e6c9-e9fb-4b77-84f7-ccd8aa3529bb" providerId="ADAL" clId="{814D90CD-D400-5612-B49E-CD4DF6BF7C8B}" dt="2026-02-02T17:20:39.305" v="4328" actId="167"/>
          <ac:grpSpMkLst>
            <pc:docMk/>
            <pc:sldMk cId="1579203280" sldId="791"/>
            <ac:grpSpMk id="107" creationId="{788230CF-2D9C-4CE8-842B-1319003DE1FE}"/>
          </ac:grpSpMkLst>
        </pc:grpChg>
        <pc:grpChg chg="mod">
          <ac:chgData name="Schlesinger, Sebastian" userId="d814e6c9-e9fb-4b77-84f7-ccd8aa3529bb" providerId="ADAL" clId="{814D90CD-D400-5612-B49E-CD4DF6BF7C8B}" dt="2026-02-02T17:20:26.696" v="4327" actId="167"/>
          <ac:grpSpMkLst>
            <pc:docMk/>
            <pc:sldMk cId="1579203280" sldId="791"/>
            <ac:grpSpMk id="110" creationId="{E5203C6F-8288-475C-B7CD-4072E3D6F0A8}"/>
          </ac:grpSpMkLst>
        </pc:grpChg>
        <pc:grpChg chg="mod">
          <ac:chgData name="Schlesinger, Sebastian" userId="d814e6c9-e9fb-4b77-84f7-ccd8aa3529bb" providerId="ADAL" clId="{814D90CD-D400-5612-B49E-CD4DF6BF7C8B}" dt="2026-02-02T17:20:26.696" v="4327" actId="167"/>
          <ac:grpSpMkLst>
            <pc:docMk/>
            <pc:sldMk cId="1579203280" sldId="791"/>
            <ac:grpSpMk id="113" creationId="{CAC052B4-6720-41BC-8662-71F2EDF5D888}"/>
          </ac:grpSpMkLst>
        </pc:grpChg>
        <pc:grpChg chg="mod">
          <ac:chgData name="Schlesinger, Sebastian" userId="d814e6c9-e9fb-4b77-84f7-ccd8aa3529bb" providerId="ADAL" clId="{814D90CD-D400-5612-B49E-CD4DF6BF7C8B}" dt="2026-02-04T16:42:21.599" v="4332" actId="1076"/>
          <ac:grpSpMkLst>
            <pc:docMk/>
            <pc:sldMk cId="1579203280" sldId="791"/>
            <ac:grpSpMk id="121" creationId="{9497BCE8-A6C1-4F47-A712-40D0658E0DFA}"/>
          </ac:grpSpMkLst>
        </pc:grpChg>
      </pc:sldChg>
      <pc:sldChg chg="addSp delSp modSp new mod">
        <pc:chgData name="Schlesinger, Sebastian" userId="d814e6c9-e9fb-4b77-84f7-ccd8aa3529bb" providerId="ADAL" clId="{814D90CD-D400-5612-B49E-CD4DF6BF7C8B}" dt="2026-02-04T17:35:17.681" v="4381" actId="22"/>
        <pc:sldMkLst>
          <pc:docMk/>
          <pc:sldMk cId="3743886929" sldId="792"/>
        </pc:sldMkLst>
        <pc:spChg chg="mod">
          <ac:chgData name="Schlesinger, Sebastian" userId="d814e6c9-e9fb-4b77-84f7-ccd8aa3529bb" providerId="ADAL" clId="{814D90CD-D400-5612-B49E-CD4DF6BF7C8B}" dt="2026-02-04T17:34:59.522" v="4351" actId="14100"/>
          <ac:spMkLst>
            <pc:docMk/>
            <pc:sldMk cId="3743886929" sldId="792"/>
            <ac:spMk id="2" creationId="{971A117C-FD32-776D-FF93-9E0F502DD4D7}"/>
          </ac:spMkLst>
        </pc:spChg>
        <pc:spChg chg="mod">
          <ac:chgData name="Schlesinger, Sebastian" userId="d814e6c9-e9fb-4b77-84f7-ccd8aa3529bb" providerId="ADAL" clId="{814D90CD-D400-5612-B49E-CD4DF6BF7C8B}" dt="2026-02-04T17:35:13.823" v="4379" actId="14100"/>
          <ac:spMkLst>
            <pc:docMk/>
            <pc:sldMk cId="3743886929" sldId="792"/>
            <ac:spMk id="3" creationId="{716B330B-6A9F-14C2-EEE8-259C8913044D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9T20:50:20.662" v="6102" actId="5793"/>
        <pc:sldMkLst>
          <pc:docMk/>
          <pc:sldMk cId="897295789" sldId="793"/>
        </pc:sldMkLst>
        <pc:spChg chg="mod">
          <ac:chgData name="Schlesinger, Sebastian" userId="d814e6c9-e9fb-4b77-84f7-ccd8aa3529bb" providerId="ADAL" clId="{814D90CD-D400-5612-B49E-CD4DF6BF7C8B}" dt="2026-02-09T20:50:20.662" v="6102" actId="5793"/>
          <ac:spMkLst>
            <pc:docMk/>
            <pc:sldMk cId="897295789" sldId="793"/>
            <ac:spMk id="3" creationId="{EA9B81AC-574F-9FDB-41D8-6C440A57E53E}"/>
          </ac:spMkLst>
        </pc:spChg>
      </pc:sldChg>
      <pc:sldChg chg="addSp delSp modSp new mod">
        <pc:chgData name="Schlesinger, Sebastian" userId="d814e6c9-e9fb-4b77-84f7-ccd8aa3529bb" providerId="ADAL" clId="{814D90CD-D400-5612-B49E-CD4DF6BF7C8B}" dt="2026-02-04T17:52:39.903" v="5292" actId="478"/>
        <pc:sldMkLst>
          <pc:docMk/>
          <pc:sldMk cId="4006927403" sldId="794"/>
        </pc:sldMkLst>
        <pc:spChg chg="mod">
          <ac:chgData name="Schlesinger, Sebastian" userId="d814e6c9-e9fb-4b77-84f7-ccd8aa3529bb" providerId="ADAL" clId="{814D90CD-D400-5612-B49E-CD4DF6BF7C8B}" dt="2026-02-04T17:45:26.437" v="5163" actId="20577"/>
          <ac:spMkLst>
            <pc:docMk/>
            <pc:sldMk cId="4006927403" sldId="794"/>
            <ac:spMk id="2" creationId="{232E9DE7-1DE4-CDCC-A658-84B11D544FCD}"/>
          </ac:spMkLst>
        </pc:spChg>
        <pc:spChg chg="mod">
          <ac:chgData name="Schlesinger, Sebastian" userId="d814e6c9-e9fb-4b77-84f7-ccd8aa3529bb" providerId="ADAL" clId="{814D90CD-D400-5612-B49E-CD4DF6BF7C8B}" dt="2026-02-04T17:52:35.234" v="5291" actId="114"/>
          <ac:spMkLst>
            <pc:docMk/>
            <pc:sldMk cId="4006927403" sldId="794"/>
            <ac:spMk id="3" creationId="{512E977B-8FD1-62F1-228E-EB038ACE9359}"/>
          </ac:spMkLst>
        </pc:spChg>
        <pc:picChg chg="add mod">
          <ac:chgData name="Schlesinger, Sebastian" userId="d814e6c9-e9fb-4b77-84f7-ccd8aa3529bb" providerId="ADAL" clId="{814D90CD-D400-5612-B49E-CD4DF6BF7C8B}" dt="2026-02-04T17:50:56.664" v="5231" actId="1076"/>
          <ac:picMkLst>
            <pc:docMk/>
            <pc:sldMk cId="4006927403" sldId="794"/>
            <ac:picMk id="7" creationId="{A15CC832-E3A6-84EA-D7DB-65EFBD7E6024}"/>
          </ac:picMkLst>
        </pc:picChg>
      </pc:sldChg>
      <pc:sldChg chg="modSp add mod">
        <pc:chgData name="Schlesinger, Sebastian" userId="d814e6c9-e9fb-4b77-84f7-ccd8aa3529bb" providerId="ADAL" clId="{814D90CD-D400-5612-B49E-CD4DF6BF7C8B}" dt="2026-02-07T12:58:08.269" v="5519" actId="207"/>
        <pc:sldMkLst>
          <pc:docMk/>
          <pc:sldMk cId="2328506045" sldId="797"/>
        </pc:sldMkLst>
        <pc:spChg chg="mod">
          <ac:chgData name="Schlesinger, Sebastian" userId="d814e6c9-e9fb-4b77-84f7-ccd8aa3529bb" providerId="ADAL" clId="{814D90CD-D400-5612-B49E-CD4DF6BF7C8B}" dt="2026-02-07T12:58:08.269" v="5519" actId="207"/>
          <ac:spMkLst>
            <pc:docMk/>
            <pc:sldMk cId="2328506045" sldId="797"/>
            <ac:spMk id="6" creationId="{1E2A7725-57CF-36D2-0F19-FE80475E9DF2}"/>
          </ac:spMkLst>
        </pc:spChg>
      </pc:sldChg>
      <pc:sldChg chg="modSp add mod">
        <pc:chgData name="Schlesinger, Sebastian" userId="d814e6c9-e9fb-4b77-84f7-ccd8aa3529bb" providerId="ADAL" clId="{814D90CD-D400-5612-B49E-CD4DF6BF7C8B}" dt="2026-02-07T12:58:19.741" v="5523" actId="207"/>
        <pc:sldMkLst>
          <pc:docMk/>
          <pc:sldMk cId="2197845945" sldId="798"/>
        </pc:sldMkLst>
        <pc:spChg chg="mod">
          <ac:chgData name="Schlesinger, Sebastian" userId="d814e6c9-e9fb-4b77-84f7-ccd8aa3529bb" providerId="ADAL" clId="{814D90CD-D400-5612-B49E-CD4DF6BF7C8B}" dt="2026-02-07T12:58:19.741" v="5523" actId="207"/>
          <ac:spMkLst>
            <pc:docMk/>
            <pc:sldMk cId="2197845945" sldId="798"/>
            <ac:spMk id="6" creationId="{3D1AED54-2951-E2BC-6720-45FDA9FA6C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14:37.952" v="5686" actId="1076"/>
        <pc:sldMkLst>
          <pc:docMk/>
          <pc:sldMk cId="0" sldId="799"/>
        </pc:sldMkLst>
        <pc:spChg chg="mod">
          <ac:chgData name="Schlesinger, Sebastian" userId="d814e6c9-e9fb-4b77-84f7-ccd8aa3529bb" providerId="ADAL" clId="{814D90CD-D400-5612-B49E-CD4DF6BF7C8B}" dt="2026-02-07T13:14:22.323" v="5670" actId="14100"/>
          <ac:spMkLst>
            <pc:docMk/>
            <pc:sldMk cId="0" sldId="79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14:37.952" v="5686" actId="1076"/>
          <ac:spMkLst>
            <pc:docMk/>
            <pc:sldMk cId="0" sldId="799"/>
            <ac:spMk id="4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7T13:14:30.953" v="5684" actId="1036"/>
          <ac:picMkLst>
            <pc:docMk/>
            <pc:sldMk cId="0" sldId="799"/>
            <ac:picMk id="2" creationId="{00000000-0000-0000-0000-000000000000}"/>
          </ac:picMkLst>
        </pc:picChg>
      </pc:sldChg>
      <pc:sldChg chg="addSp delSp modSp new mod">
        <pc:chgData name="Schlesinger, Sebastian" userId="d814e6c9-e9fb-4b77-84f7-ccd8aa3529bb" providerId="ADAL" clId="{814D90CD-D400-5612-B49E-CD4DF6BF7C8B}" dt="2026-02-09T20:25:57.875" v="5902" actId="478"/>
        <pc:sldMkLst>
          <pc:docMk/>
          <pc:sldMk cId="2478343449" sldId="800"/>
        </pc:sldMkLst>
        <pc:spChg chg="mod">
          <ac:chgData name="Schlesinger, Sebastian" userId="d814e6c9-e9fb-4b77-84f7-ccd8aa3529bb" providerId="ADAL" clId="{814D90CD-D400-5612-B49E-CD4DF6BF7C8B}" dt="2026-02-09T20:25:35.282" v="5893" actId="20577"/>
          <ac:spMkLst>
            <pc:docMk/>
            <pc:sldMk cId="2478343449" sldId="800"/>
            <ac:spMk id="2" creationId="{32649988-7EE5-08C3-C0B1-99A84AC48A7D}"/>
          </ac:spMkLst>
        </pc:spChg>
        <pc:spChg chg="mod">
          <ac:chgData name="Schlesinger, Sebastian" userId="d814e6c9-e9fb-4b77-84f7-ccd8aa3529bb" providerId="ADAL" clId="{814D90CD-D400-5612-B49E-CD4DF6BF7C8B}" dt="2026-02-09T20:25:55.570" v="5901" actId="20577"/>
          <ac:spMkLst>
            <pc:docMk/>
            <pc:sldMk cId="2478343449" sldId="800"/>
            <ac:spMk id="3" creationId="{A183B63A-D2A0-B3DC-5251-CFF864EF702C}"/>
          </ac:spMkLst>
        </pc:spChg>
        <pc:picChg chg="add mod">
          <ac:chgData name="Schlesinger, Sebastian" userId="d814e6c9-e9fb-4b77-84f7-ccd8aa3529bb" providerId="ADAL" clId="{814D90CD-D400-5612-B49E-CD4DF6BF7C8B}" dt="2026-02-09T20:25:46.341" v="5895" actId="1076"/>
          <ac:picMkLst>
            <pc:docMk/>
            <pc:sldMk cId="2478343449" sldId="800"/>
            <ac:picMk id="6" creationId="{4BBE9509-27B1-2385-B7D0-FE2812D4AEAB}"/>
          </ac:picMkLst>
        </pc:picChg>
      </pc:sldChg>
      <pc:sldChg chg="delSp modSp add mod">
        <pc:chgData name="Schlesinger, Sebastian" userId="d814e6c9-e9fb-4b77-84f7-ccd8aa3529bb" providerId="ADAL" clId="{814D90CD-D400-5612-B49E-CD4DF6BF7C8B}" dt="2026-02-09T20:41:08.892" v="5974" actId="1076"/>
        <pc:sldMkLst>
          <pc:docMk/>
          <pc:sldMk cId="0" sldId="802"/>
        </pc:sldMkLst>
        <pc:spChg chg="mod">
          <ac:chgData name="Schlesinger, Sebastian" userId="d814e6c9-e9fb-4b77-84f7-ccd8aa3529bb" providerId="ADAL" clId="{814D90CD-D400-5612-B49E-CD4DF6BF7C8B}" dt="2026-02-09T20:31:56.210" v="5933" actId="1076"/>
          <ac:spMkLst>
            <pc:docMk/>
            <pc:sldMk cId="0" sldId="80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1:08.892" v="5974" actId="1076"/>
          <ac:spMkLst>
            <pc:docMk/>
            <pc:sldMk cId="0" sldId="802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1:56.210" v="5933" actId="1076"/>
          <ac:spMkLst>
            <pc:docMk/>
            <pc:sldMk cId="0" sldId="802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1:56.210" v="5933" actId="1076"/>
          <ac:spMkLst>
            <pc:docMk/>
            <pc:sldMk cId="0" sldId="802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1:56.210" v="5933" actId="1076"/>
          <ac:spMkLst>
            <pc:docMk/>
            <pc:sldMk cId="0" sldId="802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1:56.210" v="5933" actId="1076"/>
          <ac:spMkLst>
            <pc:docMk/>
            <pc:sldMk cId="0" sldId="802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1:56.210" v="5933" actId="1076"/>
          <ac:spMkLst>
            <pc:docMk/>
            <pc:sldMk cId="0" sldId="802"/>
            <ac:spMk id="1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1:56.210" v="5933" actId="1076"/>
          <ac:spMkLst>
            <pc:docMk/>
            <pc:sldMk cId="0" sldId="802"/>
            <ac:spMk id="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1:56.210" v="5933" actId="1076"/>
          <ac:spMkLst>
            <pc:docMk/>
            <pc:sldMk cId="0" sldId="802"/>
            <ac:spMk id="2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1:56.210" v="5933" actId="1076"/>
          <ac:spMkLst>
            <pc:docMk/>
            <pc:sldMk cId="0" sldId="802"/>
            <ac:spMk id="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1:56.210" v="5933" actId="1076"/>
          <ac:spMkLst>
            <pc:docMk/>
            <pc:sldMk cId="0" sldId="802"/>
            <ac:spMk id="29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9T20:33:06.452" v="5944" actId="404"/>
        <pc:sldMkLst>
          <pc:docMk/>
          <pc:sldMk cId="0" sldId="803"/>
        </pc:sldMkLst>
        <pc:spChg chg="mod">
          <ac:chgData name="Schlesinger, Sebastian" userId="d814e6c9-e9fb-4b77-84f7-ccd8aa3529bb" providerId="ADAL" clId="{814D90CD-D400-5612-B49E-CD4DF6BF7C8B}" dt="2026-02-09T20:32:15.959" v="5936" actId="14100"/>
          <ac:spMkLst>
            <pc:docMk/>
            <pc:sldMk cId="0" sldId="80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3:06.452" v="5944" actId="404"/>
          <ac:spMkLst>
            <pc:docMk/>
            <pc:sldMk cId="0" sldId="80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2:56.874" v="5941" actId="1076"/>
          <ac:spMkLst>
            <pc:docMk/>
            <pc:sldMk cId="0" sldId="803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2:51.430" v="5940" actId="14100"/>
          <ac:spMkLst>
            <pc:docMk/>
            <pc:sldMk cId="0" sldId="803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32:59.975" v="5942" actId="1076"/>
          <ac:spMkLst>
            <pc:docMk/>
            <pc:sldMk cId="0" sldId="803"/>
            <ac:spMk id="6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9T20:43:21.263" v="6003" actId="1076"/>
        <pc:sldMkLst>
          <pc:docMk/>
          <pc:sldMk cId="0" sldId="804"/>
        </pc:sldMkLst>
        <pc:spChg chg="mod">
          <ac:chgData name="Schlesinger, Sebastian" userId="d814e6c9-e9fb-4b77-84f7-ccd8aa3529bb" providerId="ADAL" clId="{814D90CD-D400-5612-B49E-CD4DF6BF7C8B}" dt="2026-02-09T20:43:21.263" v="6003" actId="1076"/>
          <ac:spMkLst>
            <pc:docMk/>
            <pc:sldMk cId="0" sldId="804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21.263" v="6003" actId="1076"/>
          <ac:spMkLst>
            <pc:docMk/>
            <pc:sldMk cId="0" sldId="804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21.263" v="6003" actId="1076"/>
          <ac:spMkLst>
            <pc:docMk/>
            <pc:sldMk cId="0" sldId="804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10.825" v="6001" actId="1076"/>
          <ac:spMkLst>
            <pc:docMk/>
            <pc:sldMk cId="0" sldId="804"/>
            <ac:spMk id="1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21.263" v="6003" actId="1076"/>
          <ac:spMkLst>
            <pc:docMk/>
            <pc:sldMk cId="0" sldId="804"/>
            <ac:spMk id="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21.263" v="6003" actId="1076"/>
          <ac:spMkLst>
            <pc:docMk/>
            <pc:sldMk cId="0" sldId="804"/>
            <ac:spMk id="2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21.263" v="6003" actId="1076"/>
          <ac:spMkLst>
            <pc:docMk/>
            <pc:sldMk cId="0" sldId="804"/>
            <ac:spMk id="2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21.263" v="6003" actId="1076"/>
          <ac:spMkLst>
            <pc:docMk/>
            <pc:sldMk cId="0" sldId="804"/>
            <ac:spMk id="3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21.263" v="6003" actId="1076"/>
          <ac:spMkLst>
            <pc:docMk/>
            <pc:sldMk cId="0" sldId="804"/>
            <ac:spMk id="3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21.263" v="6003" actId="1076"/>
          <ac:spMkLst>
            <pc:docMk/>
            <pc:sldMk cId="0" sldId="804"/>
            <ac:spMk id="3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3:21.263" v="6003" actId="1076"/>
          <ac:spMkLst>
            <pc:docMk/>
            <pc:sldMk cId="0" sldId="804"/>
            <ac:spMk id="40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9T20:44:20.775" v="6009" actId="1076"/>
        <pc:sldMkLst>
          <pc:docMk/>
          <pc:sldMk cId="0" sldId="805"/>
        </pc:sldMkLst>
        <pc:spChg chg="mod">
          <ac:chgData name="Schlesinger, Sebastian" userId="d814e6c9-e9fb-4b77-84f7-ccd8aa3529bb" providerId="ADAL" clId="{814D90CD-D400-5612-B49E-CD4DF6BF7C8B}" dt="2026-02-09T20:44:18.312" v="6008" actId="1076"/>
          <ac:spMkLst>
            <pc:docMk/>
            <pc:sldMk cId="0" sldId="805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18.312" v="6008" actId="1076"/>
          <ac:spMkLst>
            <pc:docMk/>
            <pc:sldMk cId="0" sldId="805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18.312" v="6008" actId="1076"/>
          <ac:spMkLst>
            <pc:docMk/>
            <pc:sldMk cId="0" sldId="805"/>
            <ac:spMk id="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20.775" v="6009" actId="1076"/>
          <ac:spMkLst>
            <pc:docMk/>
            <pc:sldMk cId="0" sldId="805"/>
            <ac:spMk id="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18.312" v="6008" actId="1076"/>
          <ac:spMkLst>
            <pc:docMk/>
            <pc:sldMk cId="0" sldId="805"/>
            <ac:spMk id="4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18.312" v="6008" actId="1076"/>
          <ac:spMkLst>
            <pc:docMk/>
            <pc:sldMk cId="0" sldId="805"/>
            <ac:spMk id="4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18.312" v="6008" actId="1076"/>
          <ac:spMkLst>
            <pc:docMk/>
            <pc:sldMk cId="0" sldId="805"/>
            <ac:spMk id="4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18.312" v="6008" actId="1076"/>
          <ac:spMkLst>
            <pc:docMk/>
            <pc:sldMk cId="0" sldId="805"/>
            <ac:spMk id="5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18.312" v="6008" actId="1076"/>
          <ac:spMkLst>
            <pc:docMk/>
            <pc:sldMk cId="0" sldId="805"/>
            <ac:spMk id="5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18.312" v="6008" actId="1076"/>
          <ac:spMkLst>
            <pc:docMk/>
            <pc:sldMk cId="0" sldId="805"/>
            <ac:spMk id="6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18.312" v="6008" actId="1076"/>
          <ac:spMkLst>
            <pc:docMk/>
            <pc:sldMk cId="0" sldId="805"/>
            <ac:spMk id="67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9T20:44:41.729" v="6013" actId="1076"/>
        <pc:sldMkLst>
          <pc:docMk/>
          <pc:sldMk cId="0" sldId="806"/>
        </pc:sldMkLst>
        <pc:spChg chg="mod">
          <ac:chgData name="Schlesinger, Sebastian" userId="d814e6c9-e9fb-4b77-84f7-ccd8aa3529bb" providerId="ADAL" clId="{814D90CD-D400-5612-B49E-CD4DF6BF7C8B}" dt="2026-02-09T20:44:41.729" v="6013" actId="1076"/>
          <ac:spMkLst>
            <pc:docMk/>
            <pc:sldMk cId="0" sldId="806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41.729" v="6013" actId="1076"/>
          <ac:spMkLst>
            <pc:docMk/>
            <pc:sldMk cId="0" sldId="806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41.729" v="6013" actId="1076"/>
          <ac:spMkLst>
            <pc:docMk/>
            <pc:sldMk cId="0" sldId="806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31.462" v="6011" actId="14100"/>
          <ac:spMkLst>
            <pc:docMk/>
            <pc:sldMk cId="0" sldId="806"/>
            <ac:spMk id="1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41.729" v="6013" actId="1076"/>
          <ac:spMkLst>
            <pc:docMk/>
            <pc:sldMk cId="0" sldId="806"/>
            <ac:spMk id="2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41.729" v="6013" actId="1076"/>
          <ac:spMkLst>
            <pc:docMk/>
            <pc:sldMk cId="0" sldId="806"/>
            <ac:spMk id="2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41.729" v="6013" actId="1076"/>
          <ac:spMkLst>
            <pc:docMk/>
            <pc:sldMk cId="0" sldId="806"/>
            <ac:spMk id="3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41.729" v="6013" actId="1076"/>
          <ac:spMkLst>
            <pc:docMk/>
            <pc:sldMk cId="0" sldId="806"/>
            <ac:spMk id="3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41.729" v="6013" actId="1076"/>
          <ac:spMkLst>
            <pc:docMk/>
            <pc:sldMk cId="0" sldId="806"/>
            <ac:spMk id="3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41.729" v="6013" actId="1076"/>
          <ac:spMkLst>
            <pc:docMk/>
            <pc:sldMk cId="0" sldId="806"/>
            <ac:spMk id="3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20:44:41.729" v="6013" actId="1076"/>
          <ac:spMkLst>
            <pc:docMk/>
            <pc:sldMk cId="0" sldId="806"/>
            <ac:spMk id="40" creationId="{00000000-0000-0000-0000-000000000000}"/>
          </ac:spMkLst>
        </pc:spChg>
      </pc:sldChg>
      <pc:sldChg chg="delSp modSp new mod">
        <pc:chgData name="Schlesinger, Sebastian" userId="d814e6c9-e9fb-4b77-84f7-ccd8aa3529bb" providerId="ADAL" clId="{814D90CD-D400-5612-B49E-CD4DF6BF7C8B}" dt="2026-02-09T21:06:50.108" v="6515" actId="20577"/>
        <pc:sldMkLst>
          <pc:docMk/>
          <pc:sldMk cId="3682453236" sldId="807"/>
        </pc:sldMkLst>
        <pc:spChg chg="mod">
          <ac:chgData name="Schlesinger, Sebastian" userId="d814e6c9-e9fb-4b77-84f7-ccd8aa3529bb" providerId="ADAL" clId="{814D90CD-D400-5612-B49E-CD4DF6BF7C8B}" dt="2026-02-09T21:05:40.483" v="6505" actId="14100"/>
          <ac:spMkLst>
            <pc:docMk/>
            <pc:sldMk cId="3682453236" sldId="807"/>
            <ac:spMk id="2" creationId="{A6B1FABF-9321-D241-A76A-C18A50FF2E72}"/>
          </ac:spMkLst>
        </pc:spChg>
        <pc:spChg chg="mod">
          <ac:chgData name="Schlesinger, Sebastian" userId="d814e6c9-e9fb-4b77-84f7-ccd8aa3529bb" providerId="ADAL" clId="{814D90CD-D400-5612-B49E-CD4DF6BF7C8B}" dt="2026-02-09T21:06:50.108" v="6515" actId="20577"/>
          <ac:spMkLst>
            <pc:docMk/>
            <pc:sldMk cId="3682453236" sldId="807"/>
            <ac:spMk id="3" creationId="{32AB2DA4-94A6-B5E2-0AED-210877ACFDDA}"/>
          </ac:spMkLst>
        </pc:spChg>
      </pc:sldChg>
      <pc:sldChg chg="addSp delSp modSp new mod">
        <pc:chgData name="Schlesinger, Sebastian" userId="d814e6c9-e9fb-4b77-84f7-ccd8aa3529bb" providerId="ADAL" clId="{814D90CD-D400-5612-B49E-CD4DF6BF7C8B}" dt="2026-02-09T21:11:22.102" v="6871" actId="478"/>
        <pc:sldMkLst>
          <pc:docMk/>
          <pc:sldMk cId="2770174562" sldId="808"/>
        </pc:sldMkLst>
        <pc:spChg chg="mod">
          <ac:chgData name="Schlesinger, Sebastian" userId="d814e6c9-e9fb-4b77-84f7-ccd8aa3529bb" providerId="ADAL" clId="{814D90CD-D400-5612-B49E-CD4DF6BF7C8B}" dt="2026-02-09T21:07:47.007" v="6532" actId="20577"/>
          <ac:spMkLst>
            <pc:docMk/>
            <pc:sldMk cId="2770174562" sldId="808"/>
            <ac:spMk id="2" creationId="{15754A0B-BA15-C147-CE28-E528A37AB24A}"/>
          </ac:spMkLst>
        </pc:spChg>
        <pc:spChg chg="mod">
          <ac:chgData name="Schlesinger, Sebastian" userId="d814e6c9-e9fb-4b77-84f7-ccd8aa3529bb" providerId="ADAL" clId="{814D90CD-D400-5612-B49E-CD4DF6BF7C8B}" dt="2026-02-09T21:10:32.140" v="6863" actId="403"/>
          <ac:spMkLst>
            <pc:docMk/>
            <pc:sldMk cId="2770174562" sldId="808"/>
            <ac:spMk id="3" creationId="{450C4F48-4E69-DE05-B460-8F08555435AD}"/>
          </ac:spMkLst>
        </pc:spChg>
        <pc:spChg chg="add mod">
          <ac:chgData name="Schlesinger, Sebastian" userId="d814e6c9-e9fb-4b77-84f7-ccd8aa3529bb" providerId="ADAL" clId="{814D90CD-D400-5612-B49E-CD4DF6BF7C8B}" dt="2026-02-09T21:10:37.758" v="6865" actId="403"/>
          <ac:spMkLst>
            <pc:docMk/>
            <pc:sldMk cId="2770174562" sldId="808"/>
            <ac:spMk id="7" creationId="{85914B21-A45A-C65E-82D8-7979E33941B9}"/>
          </ac:spMkLst>
        </pc:spChg>
        <pc:spChg chg="add mod">
          <ac:chgData name="Schlesinger, Sebastian" userId="d814e6c9-e9fb-4b77-84f7-ccd8aa3529bb" providerId="ADAL" clId="{814D90CD-D400-5612-B49E-CD4DF6BF7C8B}" dt="2026-02-09T21:10:43.266" v="6866" actId="1076"/>
          <ac:spMkLst>
            <pc:docMk/>
            <pc:sldMk cId="2770174562" sldId="808"/>
            <ac:spMk id="9" creationId="{25984100-BE5A-26E8-EB91-526D28390219}"/>
          </ac:spMkLst>
        </pc:spChg>
        <pc:spChg chg="add mod">
          <ac:chgData name="Schlesinger, Sebastian" userId="d814e6c9-e9fb-4b77-84f7-ccd8aa3529bb" providerId="ADAL" clId="{814D90CD-D400-5612-B49E-CD4DF6BF7C8B}" dt="2026-02-09T21:11:13.816" v="6870" actId="2085"/>
          <ac:spMkLst>
            <pc:docMk/>
            <pc:sldMk cId="2770174562" sldId="808"/>
            <ac:spMk id="10" creationId="{8DBF0898-4740-D992-7345-E59E09BD824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796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13563" y="0"/>
            <a:ext cx="5287962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45AE8-00EA-A144-98E2-750A331B48B7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3363" y="857250"/>
            <a:ext cx="41179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20788" y="3300413"/>
            <a:ext cx="9763125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7963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13563" y="6513513"/>
            <a:ext cx="5287962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A5A92-C89D-CC45-A26D-4CE9A4E8794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1762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3912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7355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68" y="2427223"/>
            <a:ext cx="576961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66033" y="5197736"/>
            <a:ext cx="6805295" cy="1311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ADC73-C553-8A4C-AF99-13AE48FCD9CA}" type="datetime1">
              <a:rPr lang="de-DE" smtClean="0"/>
              <a:t>11.02.26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803FE-B66A-E2D2-240B-5C71AF3007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60883-341D-5A4F-9A26-3A0625CD51F2}" type="datetime1">
              <a:rPr lang="de-DE" smtClean="0"/>
              <a:t>11.02.26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7573" y="1475240"/>
            <a:ext cx="4175125" cy="3618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2F878-ABE5-7547-87EA-3333F76E5835}" type="datetime1">
              <a:rPr lang="de-DE" smtClean="0"/>
              <a:t>11.02.26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8FF43-426F-4D4A-B357-AE8D1A37FB34}" type="datetime1">
              <a:rPr lang="de-DE" smtClean="0"/>
              <a:t>11.02.26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597395"/>
            <a:ext cx="12204700" cy="17145"/>
          </a:xfrm>
          <a:custGeom>
            <a:avLst/>
            <a:gdLst/>
            <a:ahLst/>
            <a:cxnLst/>
            <a:rect l="l" t="t" r="r" b="b"/>
            <a:pathLst>
              <a:path w="12204700" h="17145">
                <a:moveTo>
                  <a:pt x="12204192" y="0"/>
                </a:moveTo>
                <a:lnTo>
                  <a:pt x="0" y="0"/>
                </a:lnTo>
                <a:lnTo>
                  <a:pt x="0" y="16763"/>
                </a:lnTo>
                <a:lnTo>
                  <a:pt x="12204192" y="16763"/>
                </a:lnTo>
                <a:lnTo>
                  <a:pt x="1220419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539239"/>
            <a:ext cx="12197080" cy="18415"/>
          </a:xfrm>
          <a:custGeom>
            <a:avLst/>
            <a:gdLst/>
            <a:ahLst/>
            <a:cxnLst/>
            <a:rect l="l" t="t" r="r" b="b"/>
            <a:pathLst>
              <a:path w="12197080" h="18415">
                <a:moveTo>
                  <a:pt x="12196572" y="0"/>
                </a:moveTo>
                <a:lnTo>
                  <a:pt x="0" y="0"/>
                </a:lnTo>
                <a:lnTo>
                  <a:pt x="0" y="18287"/>
                </a:lnTo>
                <a:lnTo>
                  <a:pt x="12196572" y="18287"/>
                </a:lnTo>
                <a:lnTo>
                  <a:pt x="1219657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 userDrawn="1"/>
        </p:nvSpPr>
        <p:spPr>
          <a:xfrm>
            <a:off x="965267" y="3361274"/>
            <a:ext cx="1317625" cy="1075055"/>
          </a:xfrm>
          <a:custGeom>
            <a:avLst/>
            <a:gdLst/>
            <a:ahLst/>
            <a:cxnLst/>
            <a:rect l="l" t="t" r="r" b="b"/>
            <a:pathLst>
              <a:path w="1317625" h="1075054">
                <a:moveTo>
                  <a:pt x="1204250" y="745778"/>
                </a:moveTo>
                <a:lnTo>
                  <a:pt x="106192" y="745778"/>
                </a:lnTo>
                <a:lnTo>
                  <a:pt x="0" y="936733"/>
                </a:lnTo>
                <a:lnTo>
                  <a:pt x="0" y="1075005"/>
                </a:lnTo>
                <a:lnTo>
                  <a:pt x="1317022" y="1075005"/>
                </a:lnTo>
                <a:lnTo>
                  <a:pt x="1317022" y="936733"/>
                </a:lnTo>
                <a:lnTo>
                  <a:pt x="1204250" y="745778"/>
                </a:lnTo>
                <a:close/>
              </a:path>
              <a:path w="1317625" h="1075054">
                <a:moveTo>
                  <a:pt x="1097630" y="0"/>
                </a:moveTo>
                <a:lnTo>
                  <a:pt x="216307" y="0"/>
                </a:lnTo>
                <a:lnTo>
                  <a:pt x="173425" y="8670"/>
                </a:lnTo>
                <a:lnTo>
                  <a:pt x="138407" y="32316"/>
                </a:lnTo>
                <a:lnTo>
                  <a:pt x="114796" y="67395"/>
                </a:lnTo>
                <a:lnTo>
                  <a:pt x="106139" y="110361"/>
                </a:lnTo>
                <a:lnTo>
                  <a:pt x="106139" y="714316"/>
                </a:lnTo>
                <a:lnTo>
                  <a:pt x="1207819" y="714316"/>
                </a:lnTo>
                <a:lnTo>
                  <a:pt x="1207819" y="110361"/>
                </a:lnTo>
                <a:lnTo>
                  <a:pt x="1199161" y="67395"/>
                </a:lnTo>
                <a:lnTo>
                  <a:pt x="1175549" y="32316"/>
                </a:lnTo>
                <a:lnTo>
                  <a:pt x="1140524" y="8670"/>
                </a:lnTo>
                <a:lnTo>
                  <a:pt x="109763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5267" y="3361274"/>
            <a:ext cx="1317625" cy="1075055"/>
          </a:xfrm>
          <a:custGeom>
            <a:avLst/>
            <a:gdLst/>
            <a:ahLst/>
            <a:cxnLst/>
            <a:rect l="l" t="t" r="r" b="b"/>
            <a:pathLst>
              <a:path w="1317625" h="1075054">
                <a:moveTo>
                  <a:pt x="0" y="1075005"/>
                </a:moveTo>
                <a:lnTo>
                  <a:pt x="1317022" y="1075005"/>
                </a:lnTo>
                <a:lnTo>
                  <a:pt x="1317022" y="936733"/>
                </a:lnTo>
                <a:lnTo>
                  <a:pt x="1204251" y="745778"/>
                </a:lnTo>
                <a:lnTo>
                  <a:pt x="106192" y="745778"/>
                </a:lnTo>
                <a:lnTo>
                  <a:pt x="0" y="936733"/>
                </a:lnTo>
                <a:lnTo>
                  <a:pt x="0" y="1075005"/>
                </a:lnTo>
                <a:close/>
              </a:path>
              <a:path w="1317625" h="1075054">
                <a:moveTo>
                  <a:pt x="1207819" y="714316"/>
                </a:moveTo>
                <a:lnTo>
                  <a:pt x="1207819" y="110361"/>
                </a:lnTo>
                <a:lnTo>
                  <a:pt x="1199161" y="67395"/>
                </a:lnTo>
                <a:lnTo>
                  <a:pt x="1175549" y="32316"/>
                </a:lnTo>
                <a:lnTo>
                  <a:pt x="1140524" y="8670"/>
                </a:lnTo>
                <a:lnTo>
                  <a:pt x="1097630" y="0"/>
                </a:lnTo>
                <a:lnTo>
                  <a:pt x="216307" y="0"/>
                </a:lnTo>
                <a:lnTo>
                  <a:pt x="173425" y="8670"/>
                </a:lnTo>
                <a:lnTo>
                  <a:pt x="138407" y="32316"/>
                </a:lnTo>
                <a:lnTo>
                  <a:pt x="114796" y="67395"/>
                </a:lnTo>
                <a:lnTo>
                  <a:pt x="106139" y="110361"/>
                </a:lnTo>
                <a:lnTo>
                  <a:pt x="106139" y="714316"/>
                </a:lnTo>
                <a:lnTo>
                  <a:pt x="1207819" y="714316"/>
                </a:lnTo>
                <a:close/>
              </a:path>
            </a:pathLst>
          </a:custGeom>
          <a:ln w="1117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848" y="4187143"/>
            <a:ext cx="1056005" cy="95885"/>
          </a:xfrm>
          <a:custGeom>
            <a:avLst/>
            <a:gdLst/>
            <a:ahLst/>
            <a:cxnLst/>
            <a:rect l="l" t="t" r="r" b="b"/>
            <a:pathLst>
              <a:path w="1056005" h="95885">
                <a:moveTo>
                  <a:pt x="1002337" y="0"/>
                </a:moveTo>
                <a:lnTo>
                  <a:pt x="53198" y="0"/>
                </a:lnTo>
                <a:lnTo>
                  <a:pt x="0" y="95281"/>
                </a:lnTo>
                <a:lnTo>
                  <a:pt x="1055526" y="95281"/>
                </a:lnTo>
                <a:lnTo>
                  <a:pt x="1002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77615" y="3464561"/>
            <a:ext cx="892810" cy="496570"/>
          </a:xfrm>
          <a:custGeom>
            <a:avLst/>
            <a:gdLst/>
            <a:ahLst/>
            <a:cxnLst/>
            <a:rect l="l" t="t" r="r" b="b"/>
            <a:pathLst>
              <a:path w="892810" h="496570">
                <a:moveTo>
                  <a:pt x="892344" y="0"/>
                </a:moveTo>
                <a:lnTo>
                  <a:pt x="0" y="0"/>
                </a:lnTo>
                <a:lnTo>
                  <a:pt x="0" y="496162"/>
                </a:lnTo>
                <a:lnTo>
                  <a:pt x="892344" y="496162"/>
                </a:lnTo>
                <a:lnTo>
                  <a:pt x="89234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77615" y="3464561"/>
            <a:ext cx="892810" cy="496570"/>
          </a:xfrm>
          <a:custGeom>
            <a:avLst/>
            <a:gdLst/>
            <a:ahLst/>
            <a:cxnLst/>
            <a:rect l="l" t="t" r="r" b="b"/>
            <a:pathLst>
              <a:path w="892810" h="496570">
                <a:moveTo>
                  <a:pt x="0" y="496162"/>
                </a:moveTo>
                <a:lnTo>
                  <a:pt x="892344" y="496162"/>
                </a:lnTo>
                <a:lnTo>
                  <a:pt x="892344" y="0"/>
                </a:lnTo>
                <a:lnTo>
                  <a:pt x="0" y="0"/>
                </a:lnTo>
                <a:lnTo>
                  <a:pt x="0" y="496162"/>
                </a:lnTo>
                <a:close/>
              </a:path>
            </a:pathLst>
          </a:custGeom>
          <a:ln w="1117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931844" y="3316295"/>
            <a:ext cx="1316355" cy="1165225"/>
          </a:xfrm>
          <a:custGeom>
            <a:avLst/>
            <a:gdLst/>
            <a:ahLst/>
            <a:cxnLst/>
            <a:rect l="l" t="t" r="r" b="b"/>
            <a:pathLst>
              <a:path w="1316354" h="1165225">
                <a:moveTo>
                  <a:pt x="1118738" y="916850"/>
                </a:moveTo>
                <a:lnTo>
                  <a:pt x="197417" y="916850"/>
                </a:lnTo>
                <a:lnTo>
                  <a:pt x="0" y="1164961"/>
                </a:lnTo>
                <a:lnTo>
                  <a:pt x="1316163" y="1164961"/>
                </a:lnTo>
                <a:lnTo>
                  <a:pt x="1118738" y="916850"/>
                </a:lnTo>
                <a:close/>
              </a:path>
              <a:path w="1316354" h="1165225">
                <a:moveTo>
                  <a:pt x="761479" y="786903"/>
                </a:moveTo>
                <a:lnTo>
                  <a:pt x="554675" y="786903"/>
                </a:lnTo>
                <a:lnTo>
                  <a:pt x="554675" y="916850"/>
                </a:lnTo>
                <a:lnTo>
                  <a:pt x="761479" y="916850"/>
                </a:lnTo>
                <a:lnTo>
                  <a:pt x="761479" y="786903"/>
                </a:lnTo>
                <a:close/>
              </a:path>
              <a:path w="1316354" h="1165225">
                <a:moveTo>
                  <a:pt x="1252831" y="0"/>
                </a:moveTo>
                <a:lnTo>
                  <a:pt x="76577" y="0"/>
                </a:lnTo>
                <a:lnTo>
                  <a:pt x="76577" y="786903"/>
                </a:lnTo>
                <a:lnTo>
                  <a:pt x="1252831" y="786903"/>
                </a:lnTo>
                <a:lnTo>
                  <a:pt x="125283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9931844" y="3316295"/>
            <a:ext cx="1316355" cy="1165225"/>
          </a:xfrm>
          <a:custGeom>
            <a:avLst/>
            <a:gdLst/>
            <a:ahLst/>
            <a:cxnLst/>
            <a:rect l="l" t="t" r="r" b="b"/>
            <a:pathLst>
              <a:path w="1316354" h="1165225">
                <a:moveTo>
                  <a:pt x="1252831" y="0"/>
                </a:moveTo>
                <a:lnTo>
                  <a:pt x="76577" y="0"/>
                </a:lnTo>
                <a:lnTo>
                  <a:pt x="76577" y="786903"/>
                </a:lnTo>
                <a:lnTo>
                  <a:pt x="1252831" y="786903"/>
                </a:lnTo>
                <a:lnTo>
                  <a:pt x="1252831" y="0"/>
                </a:lnTo>
                <a:close/>
              </a:path>
              <a:path w="1316354" h="1165225">
                <a:moveTo>
                  <a:pt x="1316163" y="1164961"/>
                </a:moveTo>
                <a:lnTo>
                  <a:pt x="1118738" y="916850"/>
                </a:lnTo>
                <a:lnTo>
                  <a:pt x="197417" y="916850"/>
                </a:lnTo>
                <a:lnTo>
                  <a:pt x="0" y="1164961"/>
                </a:lnTo>
                <a:lnTo>
                  <a:pt x="1316163" y="1164961"/>
                </a:lnTo>
                <a:close/>
              </a:path>
              <a:path w="1316354" h="1165225">
                <a:moveTo>
                  <a:pt x="761479" y="786903"/>
                </a:moveTo>
                <a:lnTo>
                  <a:pt x="554675" y="786903"/>
                </a:lnTo>
                <a:lnTo>
                  <a:pt x="554675" y="916850"/>
                </a:lnTo>
                <a:lnTo>
                  <a:pt x="761479" y="916850"/>
                </a:lnTo>
                <a:lnTo>
                  <a:pt x="761479" y="786903"/>
                </a:lnTo>
                <a:close/>
              </a:path>
            </a:pathLst>
          </a:custGeom>
          <a:ln w="111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084688" y="3394338"/>
            <a:ext cx="1025525" cy="638175"/>
          </a:xfrm>
          <a:custGeom>
            <a:avLst/>
            <a:gdLst/>
            <a:ahLst/>
            <a:cxnLst/>
            <a:rect l="l" t="t" r="r" b="b"/>
            <a:pathLst>
              <a:path w="1025525" h="638175">
                <a:moveTo>
                  <a:pt x="1025382" y="0"/>
                </a:moveTo>
                <a:lnTo>
                  <a:pt x="0" y="0"/>
                </a:lnTo>
                <a:lnTo>
                  <a:pt x="0" y="637967"/>
                </a:lnTo>
                <a:lnTo>
                  <a:pt x="1025382" y="637967"/>
                </a:lnTo>
                <a:lnTo>
                  <a:pt x="1025382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0084688" y="3394338"/>
            <a:ext cx="1025525" cy="638175"/>
          </a:xfrm>
          <a:custGeom>
            <a:avLst/>
            <a:gdLst/>
            <a:ahLst/>
            <a:cxnLst/>
            <a:rect l="l" t="t" r="r" b="b"/>
            <a:pathLst>
              <a:path w="1025525" h="638175">
                <a:moveTo>
                  <a:pt x="0" y="637967"/>
                </a:moveTo>
                <a:lnTo>
                  <a:pt x="1025382" y="637967"/>
                </a:lnTo>
                <a:lnTo>
                  <a:pt x="1025382" y="0"/>
                </a:lnTo>
                <a:lnTo>
                  <a:pt x="0" y="0"/>
                </a:lnTo>
                <a:lnTo>
                  <a:pt x="0" y="637967"/>
                </a:lnTo>
                <a:close/>
              </a:path>
            </a:pathLst>
          </a:custGeom>
          <a:ln w="1117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0110968" y="4269096"/>
            <a:ext cx="936625" cy="161290"/>
          </a:xfrm>
          <a:custGeom>
            <a:avLst/>
            <a:gdLst/>
            <a:ahLst/>
            <a:cxnLst/>
            <a:rect l="l" t="t" r="r" b="b"/>
            <a:pathLst>
              <a:path w="936625" h="161289">
                <a:moveTo>
                  <a:pt x="898737" y="64731"/>
                </a:moveTo>
                <a:lnTo>
                  <a:pt x="840271" y="64731"/>
                </a:lnTo>
                <a:lnTo>
                  <a:pt x="872995" y="101183"/>
                </a:lnTo>
                <a:lnTo>
                  <a:pt x="936030" y="101183"/>
                </a:lnTo>
                <a:lnTo>
                  <a:pt x="898737" y="64731"/>
                </a:lnTo>
                <a:close/>
              </a:path>
              <a:path w="936625" h="161289">
                <a:moveTo>
                  <a:pt x="755098" y="0"/>
                </a:moveTo>
                <a:lnTo>
                  <a:pt x="704711" y="0"/>
                </a:lnTo>
                <a:lnTo>
                  <a:pt x="732309" y="39207"/>
                </a:lnTo>
                <a:lnTo>
                  <a:pt x="787637" y="39207"/>
                </a:lnTo>
                <a:lnTo>
                  <a:pt x="755098" y="0"/>
                </a:lnTo>
                <a:close/>
              </a:path>
              <a:path w="936625" h="161289">
                <a:moveTo>
                  <a:pt x="832582" y="0"/>
                </a:moveTo>
                <a:lnTo>
                  <a:pt x="782213" y="0"/>
                </a:lnTo>
                <a:lnTo>
                  <a:pt x="817408" y="39207"/>
                </a:lnTo>
                <a:lnTo>
                  <a:pt x="872698" y="39207"/>
                </a:lnTo>
                <a:lnTo>
                  <a:pt x="832582" y="0"/>
                </a:lnTo>
                <a:close/>
              </a:path>
              <a:path w="936625" h="161289">
                <a:moveTo>
                  <a:pt x="808791" y="64731"/>
                </a:moveTo>
                <a:lnTo>
                  <a:pt x="750269" y="64731"/>
                </a:lnTo>
                <a:lnTo>
                  <a:pt x="775973" y="101183"/>
                </a:lnTo>
                <a:lnTo>
                  <a:pt x="839026" y="101183"/>
                </a:lnTo>
                <a:lnTo>
                  <a:pt x="808791" y="64731"/>
                </a:lnTo>
                <a:close/>
              </a:path>
              <a:path w="936625" h="161289">
                <a:moveTo>
                  <a:pt x="718807" y="64731"/>
                </a:moveTo>
                <a:lnTo>
                  <a:pt x="660286" y="64731"/>
                </a:lnTo>
                <a:lnTo>
                  <a:pt x="678969" y="101183"/>
                </a:lnTo>
                <a:lnTo>
                  <a:pt x="742060" y="101183"/>
                </a:lnTo>
                <a:lnTo>
                  <a:pt x="718807" y="64731"/>
                </a:lnTo>
                <a:close/>
              </a:path>
              <a:path w="936625" h="161289">
                <a:moveTo>
                  <a:pt x="677744" y="0"/>
                </a:moveTo>
                <a:lnTo>
                  <a:pt x="627320" y="0"/>
                </a:lnTo>
                <a:lnTo>
                  <a:pt x="647508" y="40026"/>
                </a:lnTo>
                <a:lnTo>
                  <a:pt x="702909" y="40026"/>
                </a:lnTo>
                <a:lnTo>
                  <a:pt x="677744" y="0"/>
                </a:lnTo>
                <a:close/>
              </a:path>
              <a:path w="936625" h="161289">
                <a:moveTo>
                  <a:pt x="628843" y="64731"/>
                </a:moveTo>
                <a:lnTo>
                  <a:pt x="570321" y="64731"/>
                </a:lnTo>
                <a:lnTo>
                  <a:pt x="581966" y="101183"/>
                </a:lnTo>
                <a:lnTo>
                  <a:pt x="645075" y="101183"/>
                </a:lnTo>
                <a:lnTo>
                  <a:pt x="628843" y="64731"/>
                </a:lnTo>
                <a:close/>
              </a:path>
              <a:path w="936625" h="161289">
                <a:moveTo>
                  <a:pt x="601300" y="2755"/>
                </a:moveTo>
                <a:lnTo>
                  <a:pt x="550541" y="2755"/>
                </a:lnTo>
                <a:lnTo>
                  <a:pt x="562446" y="40026"/>
                </a:lnTo>
                <a:lnTo>
                  <a:pt x="617866" y="40026"/>
                </a:lnTo>
                <a:lnTo>
                  <a:pt x="601300" y="2755"/>
                </a:lnTo>
                <a:close/>
              </a:path>
              <a:path w="936625" h="161289">
                <a:moveTo>
                  <a:pt x="538859" y="64731"/>
                </a:moveTo>
                <a:lnTo>
                  <a:pt x="480356" y="64731"/>
                </a:lnTo>
                <a:lnTo>
                  <a:pt x="484981" y="101183"/>
                </a:lnTo>
                <a:lnTo>
                  <a:pt x="548053" y="101183"/>
                </a:lnTo>
                <a:lnTo>
                  <a:pt x="538859" y="64731"/>
                </a:lnTo>
                <a:close/>
              </a:path>
              <a:path w="936625" h="161289">
                <a:moveTo>
                  <a:pt x="524057" y="5827"/>
                </a:moveTo>
                <a:lnTo>
                  <a:pt x="472909" y="5827"/>
                </a:lnTo>
                <a:lnTo>
                  <a:pt x="477533" y="42335"/>
                </a:lnTo>
                <a:lnTo>
                  <a:pt x="533232" y="42335"/>
                </a:lnTo>
                <a:lnTo>
                  <a:pt x="524057" y="5827"/>
                </a:lnTo>
                <a:close/>
              </a:path>
              <a:path w="936625" h="161289">
                <a:moveTo>
                  <a:pt x="445403" y="5827"/>
                </a:moveTo>
                <a:lnTo>
                  <a:pt x="394273" y="5827"/>
                </a:lnTo>
                <a:lnTo>
                  <a:pt x="391859" y="42335"/>
                </a:lnTo>
                <a:lnTo>
                  <a:pt x="447557" y="42335"/>
                </a:lnTo>
                <a:lnTo>
                  <a:pt x="445403" y="5827"/>
                </a:lnTo>
                <a:close/>
              </a:path>
              <a:path w="936625" h="161289">
                <a:moveTo>
                  <a:pt x="448876" y="64731"/>
                </a:moveTo>
                <a:lnTo>
                  <a:pt x="390391" y="64731"/>
                </a:lnTo>
                <a:lnTo>
                  <a:pt x="387977" y="101183"/>
                </a:lnTo>
                <a:lnTo>
                  <a:pt x="451049" y="101183"/>
                </a:lnTo>
                <a:lnTo>
                  <a:pt x="448876" y="64731"/>
                </a:lnTo>
                <a:close/>
              </a:path>
              <a:path w="936625" h="161289">
                <a:moveTo>
                  <a:pt x="366767" y="5827"/>
                </a:moveTo>
                <a:lnTo>
                  <a:pt x="315637" y="5827"/>
                </a:lnTo>
                <a:lnTo>
                  <a:pt x="306203" y="42335"/>
                </a:lnTo>
                <a:lnTo>
                  <a:pt x="361901" y="42335"/>
                </a:lnTo>
                <a:lnTo>
                  <a:pt x="366767" y="5827"/>
                </a:lnTo>
                <a:close/>
              </a:path>
              <a:path w="936625" h="161289">
                <a:moveTo>
                  <a:pt x="358911" y="64731"/>
                </a:moveTo>
                <a:lnTo>
                  <a:pt x="300408" y="64731"/>
                </a:lnTo>
                <a:lnTo>
                  <a:pt x="290992" y="101183"/>
                </a:lnTo>
                <a:lnTo>
                  <a:pt x="354064" y="101183"/>
                </a:lnTo>
                <a:lnTo>
                  <a:pt x="358911" y="64731"/>
                </a:lnTo>
                <a:close/>
              </a:path>
              <a:path w="936625" h="161289">
                <a:moveTo>
                  <a:pt x="679787" y="124482"/>
                </a:moveTo>
                <a:lnTo>
                  <a:pt x="267052" y="124482"/>
                </a:lnTo>
                <a:lnTo>
                  <a:pt x="256354" y="160949"/>
                </a:lnTo>
                <a:lnTo>
                  <a:pt x="697672" y="160949"/>
                </a:lnTo>
                <a:lnTo>
                  <a:pt x="679787" y="124482"/>
                </a:lnTo>
                <a:close/>
              </a:path>
              <a:path w="936625" h="161289">
                <a:moveTo>
                  <a:pt x="288132" y="5827"/>
                </a:moveTo>
                <a:lnTo>
                  <a:pt x="237002" y="5827"/>
                </a:lnTo>
                <a:lnTo>
                  <a:pt x="220547" y="42335"/>
                </a:lnTo>
                <a:lnTo>
                  <a:pt x="276245" y="42335"/>
                </a:lnTo>
                <a:lnTo>
                  <a:pt x="288132" y="5827"/>
                </a:lnTo>
                <a:close/>
              </a:path>
              <a:path w="936625" h="161289">
                <a:moveTo>
                  <a:pt x="268946" y="64731"/>
                </a:moveTo>
                <a:lnTo>
                  <a:pt x="210425" y="64731"/>
                </a:lnTo>
                <a:lnTo>
                  <a:pt x="193970" y="101183"/>
                </a:lnTo>
                <a:lnTo>
                  <a:pt x="257060" y="101183"/>
                </a:lnTo>
                <a:lnTo>
                  <a:pt x="268946" y="64731"/>
                </a:lnTo>
                <a:close/>
              </a:path>
              <a:path w="936625" h="161289">
                <a:moveTo>
                  <a:pt x="209496" y="5827"/>
                </a:moveTo>
                <a:lnTo>
                  <a:pt x="158385" y="5827"/>
                </a:lnTo>
                <a:lnTo>
                  <a:pt x="134891" y="42335"/>
                </a:lnTo>
                <a:lnTo>
                  <a:pt x="190590" y="42335"/>
                </a:lnTo>
                <a:lnTo>
                  <a:pt x="209496" y="5827"/>
                </a:lnTo>
                <a:close/>
              </a:path>
              <a:path w="936625" h="161289">
                <a:moveTo>
                  <a:pt x="178982" y="64731"/>
                </a:moveTo>
                <a:lnTo>
                  <a:pt x="120479" y="64731"/>
                </a:lnTo>
                <a:lnTo>
                  <a:pt x="96985" y="101183"/>
                </a:lnTo>
                <a:lnTo>
                  <a:pt x="160056" y="101183"/>
                </a:lnTo>
                <a:lnTo>
                  <a:pt x="178982" y="64731"/>
                </a:lnTo>
                <a:close/>
              </a:path>
              <a:path w="936625" h="161289">
                <a:moveTo>
                  <a:pt x="130861" y="5827"/>
                </a:moveTo>
                <a:lnTo>
                  <a:pt x="79768" y="5827"/>
                </a:lnTo>
                <a:lnTo>
                  <a:pt x="49235" y="42335"/>
                </a:lnTo>
                <a:lnTo>
                  <a:pt x="104915" y="42335"/>
                </a:lnTo>
                <a:lnTo>
                  <a:pt x="130861" y="5827"/>
                </a:lnTo>
                <a:close/>
              </a:path>
              <a:path w="936625" h="161289">
                <a:moveTo>
                  <a:pt x="88998" y="64731"/>
                </a:moveTo>
                <a:lnTo>
                  <a:pt x="30514" y="64731"/>
                </a:lnTo>
                <a:lnTo>
                  <a:pt x="0" y="101183"/>
                </a:lnTo>
                <a:lnTo>
                  <a:pt x="63053" y="101183"/>
                </a:lnTo>
                <a:lnTo>
                  <a:pt x="88998" y="647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D3D94-7969-3E4B-8B13-3A014DD4B928}" type="datetime1">
              <a:rPr lang="de-DE" smtClean="0"/>
              <a:t>11.02.26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31E49-7C99-6D0E-6303-7FCFA8AB68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62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597395"/>
            <a:ext cx="12204700" cy="17145"/>
          </a:xfrm>
          <a:custGeom>
            <a:avLst/>
            <a:gdLst/>
            <a:ahLst/>
            <a:cxnLst/>
            <a:rect l="l" t="t" r="r" b="b"/>
            <a:pathLst>
              <a:path w="12204700" h="17145">
                <a:moveTo>
                  <a:pt x="12204192" y="0"/>
                </a:moveTo>
                <a:lnTo>
                  <a:pt x="0" y="0"/>
                </a:lnTo>
                <a:lnTo>
                  <a:pt x="0" y="16763"/>
                </a:lnTo>
                <a:lnTo>
                  <a:pt x="12204192" y="16763"/>
                </a:lnTo>
                <a:lnTo>
                  <a:pt x="1220419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539239"/>
            <a:ext cx="12197080" cy="18415"/>
          </a:xfrm>
          <a:custGeom>
            <a:avLst/>
            <a:gdLst/>
            <a:ahLst/>
            <a:cxnLst/>
            <a:rect l="l" t="t" r="r" b="b"/>
            <a:pathLst>
              <a:path w="12197080" h="18415">
                <a:moveTo>
                  <a:pt x="12196572" y="0"/>
                </a:moveTo>
                <a:lnTo>
                  <a:pt x="0" y="0"/>
                </a:lnTo>
                <a:lnTo>
                  <a:pt x="0" y="18287"/>
                </a:lnTo>
                <a:lnTo>
                  <a:pt x="12196572" y="18287"/>
                </a:lnTo>
                <a:lnTo>
                  <a:pt x="1219657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6430" y="2558542"/>
            <a:ext cx="5323205" cy="2963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77940"/>
            <a:ext cx="39055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39FFD-C5B9-8B49-9EEC-354574547243}" type="datetime1">
              <a:rPr lang="de-DE" smtClean="0"/>
              <a:t>11.02.26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33558" y="6396232"/>
            <a:ext cx="1962150" cy="466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B8B5FF-3B72-6772-0604-593DCE3E6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 sz="14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jflap.org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17.png"/><Relationship Id="rId9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0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emis.com/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3" y="0"/>
            <a:ext cx="6858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E39F0E3-8C0D-B9FB-C5FC-26F66EBAD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8860" y="2744389"/>
            <a:ext cx="4840224" cy="147732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Embedded Systems Engineering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State Charts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D07C4BB-AF59-5A16-7633-E602C040004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178860" y="5143000"/>
            <a:ext cx="4745140" cy="830997"/>
          </a:xfrm>
        </p:spPr>
        <p:txBody>
          <a:bodyPr/>
          <a:lstStyle/>
          <a:p>
            <a:r>
              <a:rPr lang="en-US" dirty="0"/>
              <a:t>Prof. Dr.-Ing. Sebastian Schlesinger</a:t>
            </a:r>
          </a:p>
          <a:p>
            <a:r>
              <a:rPr lang="en-US" dirty="0"/>
              <a:t>Professor of Business Computer Science </a:t>
            </a:r>
          </a:p>
          <a:p>
            <a:r>
              <a:rPr lang="en-US" dirty="0"/>
              <a:t>Cybersecurity and Embedded Systems Engineering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6F884C-11E3-EEBA-FB5D-886B3FF7FAE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GB"/>
              <a:t>Prof. Dr. Sebastian Schlesinger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A7715-BA0F-DB10-A552-EBA003592A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1</a:t>
            </a:fld>
            <a:endParaRPr lang="en-DE" spc="-20"/>
          </a:p>
        </p:txBody>
      </p:sp>
    </p:spTree>
    <p:extLst>
      <p:ext uri="{BB962C8B-B14F-4D97-AF65-F5344CB8AC3E}">
        <p14:creationId xmlns:p14="http://schemas.microsoft.com/office/powerpoint/2010/main" val="203947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46049" y="1031239"/>
            <a:ext cx="7482498" cy="984885"/>
          </a:xfrm>
        </p:spPr>
        <p:txBody>
          <a:bodyPr/>
          <a:lstStyle/>
          <a:p>
            <a:r>
              <a:rPr lang="de-DE" dirty="0"/>
              <a:t>Überblick über die gesamte Vorlesung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1754658" y="1430346"/>
            <a:ext cx="1147202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</a:t>
            </a:fld>
            <a:r>
              <a:rPr lang="de-DE"/>
              <a:t> </a:t>
            </a:r>
          </a:p>
        </p:txBody>
      </p: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9497BCE8-A6C1-4F47-A712-40D0658E0DFA}"/>
              </a:ext>
            </a:extLst>
          </p:cNvPr>
          <p:cNvGrpSpPr/>
          <p:nvPr/>
        </p:nvGrpSpPr>
        <p:grpSpPr>
          <a:xfrm>
            <a:off x="2645966" y="1797422"/>
            <a:ext cx="4392488" cy="4224892"/>
            <a:chOff x="1908976" y="2085741"/>
            <a:chExt cx="2946423" cy="4224892"/>
          </a:xfrm>
        </p:grpSpPr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084F7617-9B92-4C78-B5EF-0AFE9F08C561}"/>
                </a:ext>
              </a:extLst>
            </p:cNvPr>
            <p:cNvSpPr/>
            <p:nvPr/>
          </p:nvSpPr>
          <p:spPr>
            <a:xfrm>
              <a:off x="1908976" y="2085741"/>
              <a:ext cx="2946423" cy="4224892"/>
            </a:xfrm>
            <a:prstGeom prst="roundRect">
              <a:avLst>
                <a:gd name="adj" fmla="val 349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DE" dirty="0"/>
            </a:p>
          </p:txBody>
        </p:sp>
        <p:sp>
          <p:nvSpPr>
            <p:cNvPr id="32" name="Rechteck: abgerundete Ecken 4">
              <a:extLst>
                <a:ext uri="{FF2B5EF4-FFF2-40B4-BE49-F238E27FC236}">
                  <a16:creationId xmlns:a16="http://schemas.microsoft.com/office/drawing/2014/main" id="{9484AC72-FE82-437E-940B-CDB00313CF51}"/>
                </a:ext>
              </a:extLst>
            </p:cNvPr>
            <p:cNvSpPr txBox="1"/>
            <p:nvPr/>
          </p:nvSpPr>
          <p:spPr>
            <a:xfrm>
              <a:off x="1908976" y="2085741"/>
              <a:ext cx="2946423" cy="9306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000" dirty="0"/>
                <a:t>Entwurf Eingebetteter Systeme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B3C64BD-2C6B-414D-B767-41BB64776A72}"/>
              </a:ext>
            </a:extLst>
          </p:cNvPr>
          <p:cNvGrpSpPr/>
          <p:nvPr/>
        </p:nvGrpSpPr>
        <p:grpSpPr>
          <a:xfrm>
            <a:off x="3303190" y="3381598"/>
            <a:ext cx="1534006" cy="571450"/>
            <a:chOff x="210683" y="1106443"/>
            <a:chExt cx="1390377" cy="744663"/>
          </a:xfrm>
        </p:grpSpPr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EBC24C3A-79A1-48B5-97A3-6FEB59C7259B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0" name="Rechteck: abgerundete Ecken 4">
              <a:extLst>
                <a:ext uri="{FF2B5EF4-FFF2-40B4-BE49-F238E27FC236}">
                  <a16:creationId xmlns:a16="http://schemas.microsoft.com/office/drawing/2014/main" id="{B1752A0A-6052-4C0D-913E-268F1A88ECC6}"/>
                </a:ext>
              </a:extLst>
            </p:cNvPr>
            <p:cNvSpPr txBox="1"/>
            <p:nvPr/>
          </p:nvSpPr>
          <p:spPr>
            <a:xfrm>
              <a:off x="231898" y="1169172"/>
              <a:ext cx="1347945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Endliche Automaten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F0844AB-1A6E-472A-846D-04CA09F9C2C0}"/>
              </a:ext>
            </a:extLst>
          </p:cNvPr>
          <p:cNvGrpSpPr/>
          <p:nvPr/>
        </p:nvGrpSpPr>
        <p:grpSpPr>
          <a:xfrm>
            <a:off x="3303190" y="4265884"/>
            <a:ext cx="1535480" cy="555874"/>
            <a:chOff x="183157" y="1942250"/>
            <a:chExt cx="1445429" cy="724366"/>
          </a:xfrm>
        </p:grpSpPr>
        <p:sp>
          <p:nvSpPr>
            <p:cNvPr id="27" name="Rechteck: abgerundete Ecken 26">
              <a:extLst>
                <a:ext uri="{FF2B5EF4-FFF2-40B4-BE49-F238E27FC236}">
                  <a16:creationId xmlns:a16="http://schemas.microsoft.com/office/drawing/2014/main" id="{EECA115F-E83B-46E2-8E15-07573E3D9005}"/>
                </a:ext>
              </a:extLst>
            </p:cNvPr>
            <p:cNvSpPr/>
            <p:nvPr/>
          </p:nvSpPr>
          <p:spPr>
            <a:xfrm>
              <a:off x="183157" y="1942250"/>
              <a:ext cx="1445429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28" name="Rechteck: abgerundete Ecken 6">
              <a:extLst>
                <a:ext uri="{FF2B5EF4-FFF2-40B4-BE49-F238E27FC236}">
                  <a16:creationId xmlns:a16="http://schemas.microsoft.com/office/drawing/2014/main" id="{46560B74-A999-4CD8-A71B-9CDE4ACC5F14}"/>
                </a:ext>
              </a:extLst>
            </p:cNvPr>
            <p:cNvSpPr txBox="1"/>
            <p:nvPr/>
          </p:nvSpPr>
          <p:spPr>
            <a:xfrm>
              <a:off x="204373" y="1963466"/>
              <a:ext cx="1402997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Statecharts</a:t>
              </a:r>
              <a:endParaRPr lang="de-DE" sz="1600" dirty="0"/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96A5EA6-9714-4E5B-AAC8-8E4A3A51DEDE}"/>
              </a:ext>
            </a:extLst>
          </p:cNvPr>
          <p:cNvGrpSpPr/>
          <p:nvPr/>
        </p:nvGrpSpPr>
        <p:grpSpPr>
          <a:xfrm>
            <a:off x="3303190" y="5177989"/>
            <a:ext cx="1534006" cy="555874"/>
            <a:chOff x="385630" y="2778057"/>
            <a:chExt cx="1040483" cy="724366"/>
          </a:xfrm>
        </p:grpSpPr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F5B8AB94-7852-404D-98CD-90BE21AA9961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5" name="Rechteck: abgerundete Ecken 8">
              <a:extLst>
                <a:ext uri="{FF2B5EF4-FFF2-40B4-BE49-F238E27FC236}">
                  <a16:creationId xmlns:a16="http://schemas.microsoft.com/office/drawing/2014/main" id="{B54744FE-2811-46B0-A2E7-1809DCEABF78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Timed</a:t>
              </a:r>
              <a:r>
                <a:rPr lang="de-DE" sz="1600" dirty="0"/>
                <a:t> </a:t>
              </a:r>
              <a:r>
                <a:rPr lang="de-DE" sz="1600" dirty="0" err="1"/>
                <a:t>Automata</a:t>
              </a:r>
              <a:endParaRPr lang="de-DE" sz="1600" dirty="0"/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2ED6C177-B9DA-484B-96E0-913E073C3876}"/>
              </a:ext>
            </a:extLst>
          </p:cNvPr>
          <p:cNvGrpSpPr/>
          <p:nvPr/>
        </p:nvGrpSpPr>
        <p:grpSpPr>
          <a:xfrm>
            <a:off x="5142934" y="5177989"/>
            <a:ext cx="1535480" cy="555874"/>
            <a:chOff x="385630" y="2778057"/>
            <a:chExt cx="1040483" cy="724366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B2A9AA39-1C81-4110-80A0-DBC8CCB465D4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8" name="Rechteck: abgerundete Ecken 8">
              <a:extLst>
                <a:ext uri="{FF2B5EF4-FFF2-40B4-BE49-F238E27FC236}">
                  <a16:creationId xmlns:a16="http://schemas.microsoft.com/office/drawing/2014/main" id="{D90D5724-31FC-4B34-BC6E-91FC6190CF49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SystemC</a:t>
              </a:r>
              <a:endParaRPr lang="de-DE" sz="1600" dirty="0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8CA8C6EC-116A-46FE-885D-2EE71C50FE6D}"/>
              </a:ext>
            </a:extLst>
          </p:cNvPr>
          <p:cNvGrpSpPr/>
          <p:nvPr/>
        </p:nvGrpSpPr>
        <p:grpSpPr>
          <a:xfrm>
            <a:off x="5142934" y="3363924"/>
            <a:ext cx="1535480" cy="1457835"/>
            <a:chOff x="385630" y="2778057"/>
            <a:chExt cx="1040483" cy="724366"/>
          </a:xfrm>
        </p:grpSpPr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7B45D3FD-86AC-4420-82B7-2C0F60A44659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42" name="Rechteck: abgerundete Ecken 8">
              <a:extLst>
                <a:ext uri="{FF2B5EF4-FFF2-40B4-BE49-F238E27FC236}">
                  <a16:creationId xmlns:a16="http://schemas.microsoft.com/office/drawing/2014/main" id="{F439E73B-B4B3-4F0A-90CA-D7091CBBF528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Signalfluss-orientierte Sprachen (Simulink)</a:t>
              </a:r>
            </a:p>
          </p:txBody>
        </p:sp>
      </p:grpSp>
      <p:sp>
        <p:nvSpPr>
          <p:cNvPr id="44" name="Rechteck: abgerundete Ecken 4">
            <a:extLst>
              <a:ext uri="{FF2B5EF4-FFF2-40B4-BE49-F238E27FC236}">
                <a16:creationId xmlns:a16="http://schemas.microsoft.com/office/drawing/2014/main" id="{B10D7751-1864-4357-9923-078D41D35CD7}"/>
              </a:ext>
            </a:extLst>
          </p:cNvPr>
          <p:cNvSpPr txBox="1"/>
          <p:nvPr/>
        </p:nvSpPr>
        <p:spPr>
          <a:xfrm rot="16200000">
            <a:off x="1255116" y="3908353"/>
            <a:ext cx="3253718" cy="76004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sz="2000" dirty="0">
                <a:solidFill>
                  <a:schemeClr val="accent1">
                    <a:lumMod val="50000"/>
                  </a:schemeClr>
                </a:solidFill>
              </a:rPr>
              <a:t>Modellierungssprachen</a:t>
            </a:r>
          </a:p>
        </p:txBody>
      </p: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3BDB3584-7D0D-4D05-B293-933263612419}"/>
              </a:ext>
            </a:extLst>
          </p:cNvPr>
          <p:cNvGrpSpPr/>
          <p:nvPr/>
        </p:nvGrpSpPr>
        <p:grpSpPr>
          <a:xfrm>
            <a:off x="7235992" y="1797422"/>
            <a:ext cx="2520801" cy="4224892"/>
            <a:chOff x="5036885" y="2085741"/>
            <a:chExt cx="2390460" cy="4224892"/>
          </a:xfrm>
        </p:grpSpPr>
        <p:sp>
          <p:nvSpPr>
            <p:cNvPr id="45" name="Rechteck: abgerundete Ecken 44">
              <a:extLst>
                <a:ext uri="{FF2B5EF4-FFF2-40B4-BE49-F238E27FC236}">
                  <a16:creationId xmlns:a16="http://schemas.microsoft.com/office/drawing/2014/main" id="{DD108E85-58AA-4871-9AD6-19677ACE0E86}"/>
                </a:ext>
              </a:extLst>
            </p:cNvPr>
            <p:cNvSpPr/>
            <p:nvPr/>
          </p:nvSpPr>
          <p:spPr>
            <a:xfrm>
              <a:off x="5036885" y="2085741"/>
              <a:ext cx="2390460" cy="4224892"/>
            </a:xfrm>
            <a:prstGeom prst="roundRect">
              <a:avLst>
                <a:gd name="adj" fmla="val 5047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46" name="Rechteck: abgerundete Ecken 4">
              <a:extLst>
                <a:ext uri="{FF2B5EF4-FFF2-40B4-BE49-F238E27FC236}">
                  <a16:creationId xmlns:a16="http://schemas.microsoft.com/office/drawing/2014/main" id="{09D63075-F05B-4F70-91D5-E0F0834020BE}"/>
                </a:ext>
              </a:extLst>
            </p:cNvPr>
            <p:cNvSpPr txBox="1"/>
            <p:nvPr/>
          </p:nvSpPr>
          <p:spPr>
            <a:xfrm>
              <a:off x="5036885" y="2085741"/>
              <a:ext cx="2390459" cy="8927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000" dirty="0"/>
                <a:t>Implementierung</a:t>
              </a:r>
            </a:p>
          </p:txBody>
        </p: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933563F5-F378-428C-81A2-34D1FE930F03}"/>
              </a:ext>
            </a:extLst>
          </p:cNvPr>
          <p:cNvGrpSpPr/>
          <p:nvPr/>
        </p:nvGrpSpPr>
        <p:grpSpPr>
          <a:xfrm>
            <a:off x="7326425" y="3093566"/>
            <a:ext cx="2254268" cy="825682"/>
            <a:chOff x="210683" y="1106443"/>
            <a:chExt cx="1390377" cy="724366"/>
          </a:xfrm>
        </p:grpSpPr>
        <p:sp>
          <p:nvSpPr>
            <p:cNvPr id="50" name="Rechteck: abgerundete Ecken 49">
              <a:extLst>
                <a:ext uri="{FF2B5EF4-FFF2-40B4-BE49-F238E27FC236}">
                  <a16:creationId xmlns:a16="http://schemas.microsoft.com/office/drawing/2014/main" id="{3D42C221-AA1F-4F82-B6BB-73EF16A40D39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51" name="Rechteck: abgerundete Ecken 4">
              <a:extLst>
                <a:ext uri="{FF2B5EF4-FFF2-40B4-BE49-F238E27FC236}">
                  <a16:creationId xmlns:a16="http://schemas.microsoft.com/office/drawing/2014/main" id="{C363D55D-7964-4018-B9C4-EF223437A6CA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Programmiersprachen</a:t>
              </a: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58CB1ADC-AE65-405F-BB06-069BFAB7A68C}"/>
              </a:ext>
            </a:extLst>
          </p:cNvPr>
          <p:cNvGrpSpPr/>
          <p:nvPr/>
        </p:nvGrpSpPr>
        <p:grpSpPr>
          <a:xfrm>
            <a:off x="7326425" y="4101678"/>
            <a:ext cx="2254270" cy="877646"/>
            <a:chOff x="183157" y="1942250"/>
            <a:chExt cx="1445429" cy="724366"/>
          </a:xfrm>
        </p:grpSpPr>
        <p:sp>
          <p:nvSpPr>
            <p:cNvPr id="77" name="Rechteck: abgerundete Ecken 76">
              <a:extLst>
                <a:ext uri="{FF2B5EF4-FFF2-40B4-BE49-F238E27FC236}">
                  <a16:creationId xmlns:a16="http://schemas.microsoft.com/office/drawing/2014/main" id="{78AABC99-D9FC-4B3A-842C-D147DC2C4307}"/>
                </a:ext>
              </a:extLst>
            </p:cNvPr>
            <p:cNvSpPr/>
            <p:nvPr/>
          </p:nvSpPr>
          <p:spPr>
            <a:xfrm>
              <a:off x="183157" y="1942250"/>
              <a:ext cx="1445429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78" name="Rechteck: abgerundete Ecken 6">
              <a:extLst>
                <a:ext uri="{FF2B5EF4-FFF2-40B4-BE49-F238E27FC236}">
                  <a16:creationId xmlns:a16="http://schemas.microsoft.com/office/drawing/2014/main" id="{EC3BEED4-2D8C-4613-A1BC-1A1F316E8375}"/>
                </a:ext>
              </a:extLst>
            </p:cNvPr>
            <p:cNvSpPr txBox="1"/>
            <p:nvPr/>
          </p:nvSpPr>
          <p:spPr>
            <a:xfrm>
              <a:off x="204372" y="1963467"/>
              <a:ext cx="1402997" cy="681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Betriebssysteme</a:t>
              </a:r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7B19A32B-1F54-4FC2-A501-CD345C0C92BB}"/>
              </a:ext>
            </a:extLst>
          </p:cNvPr>
          <p:cNvGrpSpPr/>
          <p:nvPr/>
        </p:nvGrpSpPr>
        <p:grpSpPr>
          <a:xfrm>
            <a:off x="7326423" y="5181799"/>
            <a:ext cx="2254271" cy="592273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83" name="Rechteck: abgerundete Ecken 82">
              <a:extLst>
                <a:ext uri="{FF2B5EF4-FFF2-40B4-BE49-F238E27FC236}">
                  <a16:creationId xmlns:a16="http://schemas.microsoft.com/office/drawing/2014/main" id="{8955F7D8-2906-47F7-A5A7-ED28DEA564CC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4" name="Rechteck: abgerundete Ecken 4">
              <a:extLst>
                <a:ext uri="{FF2B5EF4-FFF2-40B4-BE49-F238E27FC236}">
                  <a16:creationId xmlns:a16="http://schemas.microsoft.com/office/drawing/2014/main" id="{69ADDB19-EF4B-4851-87A2-2750CE920D5A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Synthese</a:t>
              </a:r>
            </a:p>
          </p:txBody>
        </p:sp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761CD052-01B5-4C79-8808-DA4A21B254BC}"/>
              </a:ext>
            </a:extLst>
          </p:cNvPr>
          <p:cNvGrpSpPr/>
          <p:nvPr/>
        </p:nvGrpSpPr>
        <p:grpSpPr>
          <a:xfrm>
            <a:off x="9963569" y="1797423"/>
            <a:ext cx="1866150" cy="4224891"/>
            <a:chOff x="7529312" y="2085740"/>
            <a:chExt cx="1403547" cy="4224891"/>
          </a:xfrm>
        </p:grpSpPr>
        <p:sp>
          <p:nvSpPr>
            <p:cNvPr id="86" name="Rechteck: abgerundete Ecken 85">
              <a:extLst>
                <a:ext uri="{FF2B5EF4-FFF2-40B4-BE49-F238E27FC236}">
                  <a16:creationId xmlns:a16="http://schemas.microsoft.com/office/drawing/2014/main" id="{B5B54273-9C16-4B78-86D4-138C448292D7}"/>
                </a:ext>
              </a:extLst>
            </p:cNvPr>
            <p:cNvSpPr/>
            <p:nvPr/>
          </p:nvSpPr>
          <p:spPr>
            <a:xfrm>
              <a:off x="7529312" y="2085740"/>
              <a:ext cx="1403547" cy="422489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7" name="Rechteck: abgerundete Ecken 4">
              <a:extLst>
                <a:ext uri="{FF2B5EF4-FFF2-40B4-BE49-F238E27FC236}">
                  <a16:creationId xmlns:a16="http://schemas.microsoft.com/office/drawing/2014/main" id="{E2777FE9-77B8-46E9-BE4D-24A16A7CC20B}"/>
                </a:ext>
              </a:extLst>
            </p:cNvPr>
            <p:cNvSpPr txBox="1"/>
            <p:nvPr/>
          </p:nvSpPr>
          <p:spPr>
            <a:xfrm>
              <a:off x="7529312" y="2085742"/>
              <a:ext cx="1403547" cy="89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dirty="0"/>
                <a:t>Validierung und Verifikation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C24C9434-09C9-47A7-8531-EA4AF01529AD}"/>
              </a:ext>
            </a:extLst>
          </p:cNvPr>
          <p:cNvGrpSpPr/>
          <p:nvPr/>
        </p:nvGrpSpPr>
        <p:grpSpPr>
          <a:xfrm>
            <a:off x="10087792" y="3021558"/>
            <a:ext cx="1534686" cy="767138"/>
            <a:chOff x="210066" y="1106443"/>
            <a:chExt cx="1390994" cy="724366"/>
          </a:xfrm>
          <a:solidFill>
            <a:schemeClr val="bg2"/>
          </a:solidFill>
        </p:grpSpPr>
        <p:sp>
          <p:nvSpPr>
            <p:cNvPr id="89" name="Rechteck: abgerundete Ecken 88">
              <a:extLst>
                <a:ext uri="{FF2B5EF4-FFF2-40B4-BE49-F238E27FC236}">
                  <a16:creationId xmlns:a16="http://schemas.microsoft.com/office/drawing/2014/main" id="{FC7B26B3-1B00-42EB-AC1E-A928D65314F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0" name="Rechteck: abgerundete Ecken 4">
              <a:extLst>
                <a:ext uri="{FF2B5EF4-FFF2-40B4-BE49-F238E27FC236}">
                  <a16:creationId xmlns:a16="http://schemas.microsoft.com/office/drawing/2014/main" id="{F3CD9FAB-11A0-47EF-95F5-26A09B7D6D87}"/>
                </a:ext>
              </a:extLst>
            </p:cNvPr>
            <p:cNvSpPr txBox="1"/>
            <p:nvPr/>
          </p:nvSpPr>
          <p:spPr>
            <a:xfrm>
              <a:off x="210066" y="1143531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Testen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E5203C6F-8288-475C-B7CD-4072E3D6F0A8}"/>
              </a:ext>
            </a:extLst>
          </p:cNvPr>
          <p:cNvGrpSpPr/>
          <p:nvPr/>
        </p:nvGrpSpPr>
        <p:grpSpPr>
          <a:xfrm>
            <a:off x="10087792" y="3957663"/>
            <a:ext cx="1534686" cy="807909"/>
            <a:chOff x="210066" y="1106443"/>
            <a:chExt cx="1390994" cy="724366"/>
          </a:xfrm>
          <a:solidFill>
            <a:schemeClr val="bg2"/>
          </a:solidFill>
        </p:grpSpPr>
        <p:sp>
          <p:nvSpPr>
            <p:cNvPr id="92" name="Rechteck: abgerundete Ecken 91">
              <a:extLst>
                <a:ext uri="{FF2B5EF4-FFF2-40B4-BE49-F238E27FC236}">
                  <a16:creationId xmlns:a16="http://schemas.microsoft.com/office/drawing/2014/main" id="{1C3640FB-1F1F-459F-8ADB-1DDBD8F242A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3" name="Rechteck: abgerundete Ecken 4">
              <a:extLst>
                <a:ext uri="{FF2B5EF4-FFF2-40B4-BE49-F238E27FC236}">
                  <a16:creationId xmlns:a16="http://schemas.microsoft.com/office/drawing/2014/main" id="{158ADFE3-89CE-4E55-AB26-92BB9976A8F5}"/>
                </a:ext>
              </a:extLst>
            </p:cNvPr>
            <p:cNvSpPr txBox="1"/>
            <p:nvPr/>
          </p:nvSpPr>
          <p:spPr>
            <a:xfrm>
              <a:off x="210066" y="1126481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Simulation</a:t>
              </a:r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CAC052B4-6720-41BC-8662-71F2EDF5D888}"/>
              </a:ext>
            </a:extLst>
          </p:cNvPr>
          <p:cNvGrpSpPr/>
          <p:nvPr/>
        </p:nvGrpSpPr>
        <p:grpSpPr>
          <a:xfrm>
            <a:off x="10088473" y="4900021"/>
            <a:ext cx="1534006" cy="891876"/>
            <a:chOff x="210683" y="1106443"/>
            <a:chExt cx="1390377" cy="724366"/>
          </a:xfrm>
          <a:solidFill>
            <a:schemeClr val="bg2"/>
          </a:solidFill>
        </p:grpSpPr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652D04FB-971C-4EAA-B70F-2A4CA2CEBFCF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6" name="Rechteck: abgerundete Ecken 4">
              <a:extLst>
                <a:ext uri="{FF2B5EF4-FFF2-40B4-BE49-F238E27FC236}">
                  <a16:creationId xmlns:a16="http://schemas.microsoft.com/office/drawing/2014/main" id="{B3D44CD9-8C16-4242-84A3-72701B4109D0}"/>
                </a:ext>
              </a:extLst>
            </p:cNvPr>
            <p:cNvSpPr txBox="1"/>
            <p:nvPr/>
          </p:nvSpPr>
          <p:spPr>
            <a:xfrm>
              <a:off x="231897" y="1123509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Model </a:t>
              </a:r>
              <a:r>
                <a:rPr lang="de-DE" sz="1600" dirty="0" err="1"/>
                <a:t>Checking</a:t>
              </a:r>
              <a:endParaRPr lang="de-DE" sz="1600" dirty="0"/>
            </a:p>
          </p:txBody>
        </p:sp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788230CF-2D9C-4CE8-842B-1319003DE1FE}"/>
              </a:ext>
            </a:extLst>
          </p:cNvPr>
          <p:cNvGrpSpPr/>
          <p:nvPr/>
        </p:nvGrpSpPr>
        <p:grpSpPr>
          <a:xfrm>
            <a:off x="3262000" y="2542969"/>
            <a:ext cx="3416414" cy="435257"/>
            <a:chOff x="197521" y="1106443"/>
            <a:chExt cx="1403539" cy="724366"/>
          </a:xfrm>
          <a:solidFill>
            <a:schemeClr val="bg2"/>
          </a:solidFill>
        </p:grpSpPr>
        <p:sp>
          <p:nvSpPr>
            <p:cNvPr id="108" name="Rechteck: abgerundete Ecken 107">
              <a:extLst>
                <a:ext uri="{FF2B5EF4-FFF2-40B4-BE49-F238E27FC236}">
                  <a16:creationId xmlns:a16="http://schemas.microsoft.com/office/drawing/2014/main" id="{3A1865B3-C696-4FF9-9911-789BEFAD7112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09" name="Rechteck: abgerundete Ecken 4">
              <a:extLst>
                <a:ext uri="{FF2B5EF4-FFF2-40B4-BE49-F238E27FC236}">
                  <a16:creationId xmlns:a16="http://schemas.microsoft.com/office/drawing/2014/main" id="{B8C8E85E-3030-4230-B061-28DA14BED68F}"/>
                </a:ext>
              </a:extLst>
            </p:cNvPr>
            <p:cNvSpPr txBox="1"/>
            <p:nvPr/>
          </p:nvSpPr>
          <p:spPr>
            <a:xfrm>
              <a:off x="197521" y="1127597"/>
              <a:ext cx="1373754" cy="681933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Modell-basierte Entwicklung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761CD052-01B5-4C79-8808-DA4A21B254BC}"/>
              </a:ext>
            </a:extLst>
          </p:cNvPr>
          <p:cNvGrpSpPr/>
          <p:nvPr/>
        </p:nvGrpSpPr>
        <p:grpSpPr>
          <a:xfrm>
            <a:off x="386504" y="1797423"/>
            <a:ext cx="2052222" cy="4224891"/>
            <a:chOff x="7529312" y="2085740"/>
            <a:chExt cx="1403547" cy="4224891"/>
          </a:xfrm>
        </p:grpSpPr>
        <p:sp>
          <p:nvSpPr>
            <p:cNvPr id="81" name="Rechteck: abgerundete Ecken 85">
              <a:extLst>
                <a:ext uri="{FF2B5EF4-FFF2-40B4-BE49-F238E27FC236}">
                  <a16:creationId xmlns:a16="http://schemas.microsoft.com/office/drawing/2014/main" id="{B5B54273-9C16-4B78-86D4-138C448292D7}"/>
                </a:ext>
              </a:extLst>
            </p:cNvPr>
            <p:cNvSpPr/>
            <p:nvPr/>
          </p:nvSpPr>
          <p:spPr>
            <a:xfrm>
              <a:off x="7529312" y="2085740"/>
              <a:ext cx="1403547" cy="422489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5" name="Rechteck: abgerundete Ecken 4">
              <a:extLst>
                <a:ext uri="{FF2B5EF4-FFF2-40B4-BE49-F238E27FC236}">
                  <a16:creationId xmlns:a16="http://schemas.microsoft.com/office/drawing/2014/main" id="{E2777FE9-77B8-46E9-BE4D-24A16A7CC20B}"/>
                </a:ext>
              </a:extLst>
            </p:cNvPr>
            <p:cNvSpPr txBox="1"/>
            <p:nvPr/>
          </p:nvSpPr>
          <p:spPr>
            <a:xfrm>
              <a:off x="7529312" y="2085742"/>
              <a:ext cx="1403547" cy="89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dirty="0"/>
                <a:t>Eingebettete </a:t>
              </a:r>
              <a:br>
                <a:rPr lang="de-DE" dirty="0"/>
              </a:br>
              <a:r>
                <a:rPr lang="de-DE" dirty="0"/>
                <a:t>Systeme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C24C9434-09C9-47A7-8531-EA4AF01529AD}"/>
              </a:ext>
            </a:extLst>
          </p:cNvPr>
          <p:cNvGrpSpPr/>
          <p:nvPr/>
        </p:nvGrpSpPr>
        <p:grpSpPr>
          <a:xfrm>
            <a:off x="511408" y="3021558"/>
            <a:ext cx="1686960" cy="767138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98" name="Rechteck: abgerundete Ecken 88">
              <a:extLst>
                <a:ext uri="{FF2B5EF4-FFF2-40B4-BE49-F238E27FC236}">
                  <a16:creationId xmlns:a16="http://schemas.microsoft.com/office/drawing/2014/main" id="{FC7B26B3-1B00-42EB-AC1E-A928D65314F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9" name="Rechteck: abgerundete Ecken 4">
              <a:extLst>
                <a:ext uri="{FF2B5EF4-FFF2-40B4-BE49-F238E27FC236}">
                  <a16:creationId xmlns:a16="http://schemas.microsoft.com/office/drawing/2014/main" id="{F3CD9FAB-11A0-47EF-95F5-26A09B7D6D87}"/>
                </a:ext>
              </a:extLst>
            </p:cNvPr>
            <p:cNvSpPr txBox="1"/>
            <p:nvPr/>
          </p:nvSpPr>
          <p:spPr>
            <a:xfrm>
              <a:off x="231899" y="1127660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Definition</a:t>
              </a:r>
            </a:p>
          </p:txBody>
        </p:sp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E5203C6F-8288-475C-B7CD-4072E3D6F0A8}"/>
              </a:ext>
            </a:extLst>
          </p:cNvPr>
          <p:cNvGrpSpPr/>
          <p:nvPr/>
        </p:nvGrpSpPr>
        <p:grpSpPr>
          <a:xfrm>
            <a:off x="511408" y="3957663"/>
            <a:ext cx="1686960" cy="807909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111" name="Rechteck: abgerundete Ecken 91">
              <a:extLst>
                <a:ext uri="{FF2B5EF4-FFF2-40B4-BE49-F238E27FC236}">
                  <a16:creationId xmlns:a16="http://schemas.microsoft.com/office/drawing/2014/main" id="{1C3640FB-1F1F-459F-8ADB-1DDBD8F242A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12" name="Rechteck: abgerundete Ecken 4">
              <a:extLst>
                <a:ext uri="{FF2B5EF4-FFF2-40B4-BE49-F238E27FC236}">
                  <a16:creationId xmlns:a16="http://schemas.microsoft.com/office/drawing/2014/main" id="{158ADFE3-89CE-4E55-AB26-92BB9976A8F5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Eigenschaften</a:t>
              </a:r>
            </a:p>
          </p:txBody>
        </p:sp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CAC052B4-6720-41BC-8662-71F2EDF5D888}"/>
              </a:ext>
            </a:extLst>
          </p:cNvPr>
          <p:cNvGrpSpPr/>
          <p:nvPr/>
        </p:nvGrpSpPr>
        <p:grpSpPr>
          <a:xfrm>
            <a:off x="511408" y="4900021"/>
            <a:ext cx="1686960" cy="891876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114" name="Rechteck: abgerundete Ecken 94">
              <a:extLst>
                <a:ext uri="{FF2B5EF4-FFF2-40B4-BE49-F238E27FC236}">
                  <a16:creationId xmlns:a16="http://schemas.microsoft.com/office/drawing/2014/main" id="{652D04FB-971C-4EAA-B70F-2A4CA2CEBFCF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15" name="Rechteck: abgerundete Ecken 4">
              <a:extLst>
                <a:ext uri="{FF2B5EF4-FFF2-40B4-BE49-F238E27FC236}">
                  <a16:creationId xmlns:a16="http://schemas.microsoft.com/office/drawing/2014/main" id="{B3D44CD9-8C16-4242-84A3-72701B4109D0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Anforderungen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211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933563F5-F378-428C-81A2-34D1FE930F03}"/>
              </a:ext>
            </a:extLst>
          </p:cNvPr>
          <p:cNvGrpSpPr/>
          <p:nvPr/>
        </p:nvGrpSpPr>
        <p:grpSpPr>
          <a:xfrm>
            <a:off x="7326425" y="3093566"/>
            <a:ext cx="2254268" cy="825682"/>
            <a:chOff x="210683" y="1106443"/>
            <a:chExt cx="1390377" cy="724366"/>
          </a:xfrm>
        </p:grpSpPr>
        <p:sp>
          <p:nvSpPr>
            <p:cNvPr id="50" name="Rechteck: abgerundete Ecken 49">
              <a:extLst>
                <a:ext uri="{FF2B5EF4-FFF2-40B4-BE49-F238E27FC236}">
                  <a16:creationId xmlns:a16="http://schemas.microsoft.com/office/drawing/2014/main" id="{3D42C221-AA1F-4F82-B6BB-73EF16A40D39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51" name="Rechteck: abgerundete Ecken 4">
              <a:extLst>
                <a:ext uri="{FF2B5EF4-FFF2-40B4-BE49-F238E27FC236}">
                  <a16:creationId xmlns:a16="http://schemas.microsoft.com/office/drawing/2014/main" id="{C363D55D-7964-4018-B9C4-EF223437A6CA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Programmier-sprachen</a:t>
              </a: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58CB1ADC-AE65-405F-BB06-069BFAB7A68C}"/>
              </a:ext>
            </a:extLst>
          </p:cNvPr>
          <p:cNvGrpSpPr/>
          <p:nvPr/>
        </p:nvGrpSpPr>
        <p:grpSpPr>
          <a:xfrm>
            <a:off x="7326425" y="4101678"/>
            <a:ext cx="2254270" cy="877646"/>
            <a:chOff x="183157" y="1942250"/>
            <a:chExt cx="1445429" cy="724366"/>
          </a:xfrm>
        </p:grpSpPr>
        <p:sp>
          <p:nvSpPr>
            <p:cNvPr id="77" name="Rechteck: abgerundete Ecken 76">
              <a:extLst>
                <a:ext uri="{FF2B5EF4-FFF2-40B4-BE49-F238E27FC236}">
                  <a16:creationId xmlns:a16="http://schemas.microsoft.com/office/drawing/2014/main" id="{78AABC99-D9FC-4B3A-842C-D147DC2C4307}"/>
                </a:ext>
              </a:extLst>
            </p:cNvPr>
            <p:cNvSpPr/>
            <p:nvPr/>
          </p:nvSpPr>
          <p:spPr>
            <a:xfrm>
              <a:off x="183157" y="1942250"/>
              <a:ext cx="1445429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78" name="Rechteck: abgerundete Ecken 6">
              <a:extLst>
                <a:ext uri="{FF2B5EF4-FFF2-40B4-BE49-F238E27FC236}">
                  <a16:creationId xmlns:a16="http://schemas.microsoft.com/office/drawing/2014/main" id="{EC3BEED4-2D8C-4613-A1BC-1A1F316E8375}"/>
                </a:ext>
              </a:extLst>
            </p:cNvPr>
            <p:cNvSpPr txBox="1"/>
            <p:nvPr/>
          </p:nvSpPr>
          <p:spPr>
            <a:xfrm>
              <a:off x="204372" y="1963467"/>
              <a:ext cx="1402997" cy="681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Betriebssysteme</a:t>
              </a:r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7B19A32B-1F54-4FC2-A501-CD345C0C92BB}"/>
              </a:ext>
            </a:extLst>
          </p:cNvPr>
          <p:cNvGrpSpPr/>
          <p:nvPr/>
        </p:nvGrpSpPr>
        <p:grpSpPr>
          <a:xfrm>
            <a:off x="7326423" y="5181799"/>
            <a:ext cx="2254271" cy="592273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83" name="Rechteck: abgerundete Ecken 82">
              <a:extLst>
                <a:ext uri="{FF2B5EF4-FFF2-40B4-BE49-F238E27FC236}">
                  <a16:creationId xmlns:a16="http://schemas.microsoft.com/office/drawing/2014/main" id="{8955F7D8-2906-47F7-A5A7-ED28DEA564CC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4" name="Rechteck: abgerundete Ecken 4">
              <a:extLst>
                <a:ext uri="{FF2B5EF4-FFF2-40B4-BE49-F238E27FC236}">
                  <a16:creationId xmlns:a16="http://schemas.microsoft.com/office/drawing/2014/main" id="{69ADDB19-EF4B-4851-87A2-2750CE920D5A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Synthese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C24C9434-09C9-47A7-8531-EA4AF01529AD}"/>
              </a:ext>
            </a:extLst>
          </p:cNvPr>
          <p:cNvGrpSpPr/>
          <p:nvPr/>
        </p:nvGrpSpPr>
        <p:grpSpPr>
          <a:xfrm>
            <a:off x="10087792" y="3021558"/>
            <a:ext cx="1534686" cy="767138"/>
            <a:chOff x="210066" y="1106443"/>
            <a:chExt cx="1390994" cy="724366"/>
          </a:xfrm>
          <a:solidFill>
            <a:schemeClr val="bg2"/>
          </a:solidFill>
        </p:grpSpPr>
        <p:sp>
          <p:nvSpPr>
            <p:cNvPr id="89" name="Rechteck: abgerundete Ecken 88">
              <a:extLst>
                <a:ext uri="{FF2B5EF4-FFF2-40B4-BE49-F238E27FC236}">
                  <a16:creationId xmlns:a16="http://schemas.microsoft.com/office/drawing/2014/main" id="{FC7B26B3-1B00-42EB-AC1E-A928D65314F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0" name="Rechteck: abgerundete Ecken 4">
              <a:extLst>
                <a:ext uri="{FF2B5EF4-FFF2-40B4-BE49-F238E27FC236}">
                  <a16:creationId xmlns:a16="http://schemas.microsoft.com/office/drawing/2014/main" id="{F3CD9FAB-11A0-47EF-95F5-26A09B7D6D87}"/>
                </a:ext>
              </a:extLst>
            </p:cNvPr>
            <p:cNvSpPr txBox="1"/>
            <p:nvPr/>
          </p:nvSpPr>
          <p:spPr>
            <a:xfrm>
              <a:off x="210066" y="1143531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Testen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E5203C6F-8288-475C-B7CD-4072E3D6F0A8}"/>
              </a:ext>
            </a:extLst>
          </p:cNvPr>
          <p:cNvGrpSpPr/>
          <p:nvPr/>
        </p:nvGrpSpPr>
        <p:grpSpPr>
          <a:xfrm>
            <a:off x="10087792" y="3957663"/>
            <a:ext cx="1534686" cy="807909"/>
            <a:chOff x="210066" y="1106443"/>
            <a:chExt cx="1390994" cy="724366"/>
          </a:xfrm>
          <a:solidFill>
            <a:schemeClr val="bg2"/>
          </a:solidFill>
        </p:grpSpPr>
        <p:sp>
          <p:nvSpPr>
            <p:cNvPr id="92" name="Rechteck: abgerundete Ecken 91">
              <a:extLst>
                <a:ext uri="{FF2B5EF4-FFF2-40B4-BE49-F238E27FC236}">
                  <a16:creationId xmlns:a16="http://schemas.microsoft.com/office/drawing/2014/main" id="{1C3640FB-1F1F-459F-8ADB-1DDBD8F242A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3" name="Rechteck: abgerundete Ecken 4">
              <a:extLst>
                <a:ext uri="{FF2B5EF4-FFF2-40B4-BE49-F238E27FC236}">
                  <a16:creationId xmlns:a16="http://schemas.microsoft.com/office/drawing/2014/main" id="{158ADFE3-89CE-4E55-AB26-92BB9976A8F5}"/>
                </a:ext>
              </a:extLst>
            </p:cNvPr>
            <p:cNvSpPr txBox="1"/>
            <p:nvPr/>
          </p:nvSpPr>
          <p:spPr>
            <a:xfrm>
              <a:off x="210066" y="1126481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Simulation</a:t>
              </a:r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CAC052B4-6720-41BC-8662-71F2EDF5D888}"/>
              </a:ext>
            </a:extLst>
          </p:cNvPr>
          <p:cNvGrpSpPr/>
          <p:nvPr/>
        </p:nvGrpSpPr>
        <p:grpSpPr>
          <a:xfrm>
            <a:off x="10088473" y="4900021"/>
            <a:ext cx="1534006" cy="891876"/>
            <a:chOff x="210683" y="1106443"/>
            <a:chExt cx="1390377" cy="724366"/>
          </a:xfrm>
          <a:solidFill>
            <a:schemeClr val="bg2"/>
          </a:solidFill>
        </p:grpSpPr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652D04FB-971C-4EAA-B70F-2A4CA2CEBFCF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6" name="Rechteck: abgerundete Ecken 4">
              <a:extLst>
                <a:ext uri="{FF2B5EF4-FFF2-40B4-BE49-F238E27FC236}">
                  <a16:creationId xmlns:a16="http://schemas.microsoft.com/office/drawing/2014/main" id="{B3D44CD9-8C16-4242-84A3-72701B4109D0}"/>
                </a:ext>
              </a:extLst>
            </p:cNvPr>
            <p:cNvSpPr txBox="1"/>
            <p:nvPr/>
          </p:nvSpPr>
          <p:spPr>
            <a:xfrm>
              <a:off x="231897" y="1123509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Model </a:t>
              </a:r>
              <a:r>
                <a:rPr lang="de-DE" sz="1600" dirty="0" err="1"/>
                <a:t>Checking</a:t>
              </a:r>
              <a:endParaRPr lang="de-DE" sz="1600" dirty="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B3C64BD-2C6B-414D-B767-41BB64776A72}"/>
              </a:ext>
            </a:extLst>
          </p:cNvPr>
          <p:cNvGrpSpPr/>
          <p:nvPr/>
        </p:nvGrpSpPr>
        <p:grpSpPr>
          <a:xfrm>
            <a:off x="3303190" y="3381598"/>
            <a:ext cx="1534006" cy="571450"/>
            <a:chOff x="210683" y="1106443"/>
            <a:chExt cx="1390377" cy="744663"/>
          </a:xfrm>
        </p:grpSpPr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EBC24C3A-79A1-48B5-97A3-6FEB59C7259B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0" name="Rechteck: abgerundete Ecken 4">
              <a:extLst>
                <a:ext uri="{FF2B5EF4-FFF2-40B4-BE49-F238E27FC236}">
                  <a16:creationId xmlns:a16="http://schemas.microsoft.com/office/drawing/2014/main" id="{B1752A0A-6052-4C0D-913E-268F1A88ECC6}"/>
                </a:ext>
              </a:extLst>
            </p:cNvPr>
            <p:cNvSpPr txBox="1"/>
            <p:nvPr/>
          </p:nvSpPr>
          <p:spPr>
            <a:xfrm>
              <a:off x="231898" y="1169172"/>
              <a:ext cx="1347945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Endliche Automaten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96A5EA6-9714-4E5B-AAC8-8E4A3A51DEDE}"/>
              </a:ext>
            </a:extLst>
          </p:cNvPr>
          <p:cNvGrpSpPr/>
          <p:nvPr/>
        </p:nvGrpSpPr>
        <p:grpSpPr>
          <a:xfrm>
            <a:off x="3303190" y="5177989"/>
            <a:ext cx="1534006" cy="555874"/>
            <a:chOff x="385630" y="2778057"/>
            <a:chExt cx="1040483" cy="724366"/>
          </a:xfrm>
        </p:grpSpPr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F5B8AB94-7852-404D-98CD-90BE21AA9961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5" name="Rechteck: abgerundete Ecken 8">
              <a:extLst>
                <a:ext uri="{FF2B5EF4-FFF2-40B4-BE49-F238E27FC236}">
                  <a16:creationId xmlns:a16="http://schemas.microsoft.com/office/drawing/2014/main" id="{B54744FE-2811-46B0-A2E7-1809DCEABF78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Timed</a:t>
              </a:r>
              <a:r>
                <a:rPr lang="de-DE" sz="1600" dirty="0"/>
                <a:t> </a:t>
              </a:r>
              <a:r>
                <a:rPr lang="de-DE" sz="1600" dirty="0" err="1"/>
                <a:t>Automata</a:t>
              </a:r>
              <a:endParaRPr lang="de-DE" sz="1600" dirty="0"/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2ED6C177-B9DA-484B-96E0-913E073C3876}"/>
              </a:ext>
            </a:extLst>
          </p:cNvPr>
          <p:cNvGrpSpPr/>
          <p:nvPr/>
        </p:nvGrpSpPr>
        <p:grpSpPr>
          <a:xfrm>
            <a:off x="5142934" y="5177989"/>
            <a:ext cx="1535480" cy="555874"/>
            <a:chOff x="385630" y="2778057"/>
            <a:chExt cx="1040483" cy="724366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B2A9AA39-1C81-4110-80A0-DBC8CCB465D4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8" name="Rechteck: abgerundete Ecken 8">
              <a:extLst>
                <a:ext uri="{FF2B5EF4-FFF2-40B4-BE49-F238E27FC236}">
                  <a16:creationId xmlns:a16="http://schemas.microsoft.com/office/drawing/2014/main" id="{D90D5724-31FC-4B34-BC6E-91FC6190CF49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SystemC</a:t>
              </a:r>
              <a:endParaRPr lang="de-DE" sz="1600" dirty="0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8CA8C6EC-116A-46FE-885D-2EE71C50FE6D}"/>
              </a:ext>
            </a:extLst>
          </p:cNvPr>
          <p:cNvGrpSpPr/>
          <p:nvPr/>
        </p:nvGrpSpPr>
        <p:grpSpPr>
          <a:xfrm>
            <a:off x="5142934" y="3363924"/>
            <a:ext cx="1535480" cy="1457835"/>
            <a:chOff x="385630" y="2778057"/>
            <a:chExt cx="1040483" cy="724366"/>
          </a:xfrm>
        </p:grpSpPr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7B45D3FD-86AC-4420-82B7-2C0F60A44659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42" name="Rechteck: abgerundete Ecken 8">
              <a:extLst>
                <a:ext uri="{FF2B5EF4-FFF2-40B4-BE49-F238E27FC236}">
                  <a16:creationId xmlns:a16="http://schemas.microsoft.com/office/drawing/2014/main" id="{F439E73B-B4B3-4F0A-90CA-D7091CBBF528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Signalfluss-orientierte Sprachen (Simulink)</a:t>
              </a:r>
            </a:p>
          </p:txBody>
        </p:sp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788230CF-2D9C-4CE8-842B-1319003DE1FE}"/>
              </a:ext>
            </a:extLst>
          </p:cNvPr>
          <p:cNvGrpSpPr/>
          <p:nvPr/>
        </p:nvGrpSpPr>
        <p:grpSpPr>
          <a:xfrm>
            <a:off x="3262000" y="2542969"/>
            <a:ext cx="3416414" cy="435257"/>
            <a:chOff x="197521" y="1106443"/>
            <a:chExt cx="1403539" cy="724366"/>
          </a:xfrm>
          <a:solidFill>
            <a:schemeClr val="bg2"/>
          </a:solidFill>
        </p:grpSpPr>
        <p:sp>
          <p:nvSpPr>
            <p:cNvPr id="108" name="Rechteck: abgerundete Ecken 107">
              <a:extLst>
                <a:ext uri="{FF2B5EF4-FFF2-40B4-BE49-F238E27FC236}">
                  <a16:creationId xmlns:a16="http://schemas.microsoft.com/office/drawing/2014/main" id="{3A1865B3-C696-4FF9-9911-789BEFAD7112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09" name="Rechteck: abgerundete Ecken 4">
              <a:extLst>
                <a:ext uri="{FF2B5EF4-FFF2-40B4-BE49-F238E27FC236}">
                  <a16:creationId xmlns:a16="http://schemas.microsoft.com/office/drawing/2014/main" id="{B8C8E85E-3030-4230-B061-28DA14BED68F}"/>
                </a:ext>
              </a:extLst>
            </p:cNvPr>
            <p:cNvSpPr txBox="1"/>
            <p:nvPr/>
          </p:nvSpPr>
          <p:spPr>
            <a:xfrm>
              <a:off x="197521" y="1127597"/>
              <a:ext cx="1373754" cy="681933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Modell-basierte Entwicklung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C24C9434-09C9-47A7-8531-EA4AF01529AD}"/>
              </a:ext>
            </a:extLst>
          </p:cNvPr>
          <p:cNvGrpSpPr/>
          <p:nvPr/>
        </p:nvGrpSpPr>
        <p:grpSpPr>
          <a:xfrm>
            <a:off x="511408" y="3021558"/>
            <a:ext cx="1686960" cy="767138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98" name="Rechteck: abgerundete Ecken 88">
              <a:extLst>
                <a:ext uri="{FF2B5EF4-FFF2-40B4-BE49-F238E27FC236}">
                  <a16:creationId xmlns:a16="http://schemas.microsoft.com/office/drawing/2014/main" id="{FC7B26B3-1B00-42EB-AC1E-A928D65314F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9" name="Rechteck: abgerundete Ecken 4">
              <a:extLst>
                <a:ext uri="{FF2B5EF4-FFF2-40B4-BE49-F238E27FC236}">
                  <a16:creationId xmlns:a16="http://schemas.microsoft.com/office/drawing/2014/main" id="{F3CD9FAB-11A0-47EF-95F5-26A09B7D6D87}"/>
                </a:ext>
              </a:extLst>
            </p:cNvPr>
            <p:cNvSpPr txBox="1"/>
            <p:nvPr/>
          </p:nvSpPr>
          <p:spPr>
            <a:xfrm>
              <a:off x="231899" y="1127660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Definition</a:t>
              </a:r>
            </a:p>
          </p:txBody>
        </p:sp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E5203C6F-8288-475C-B7CD-4072E3D6F0A8}"/>
              </a:ext>
            </a:extLst>
          </p:cNvPr>
          <p:cNvGrpSpPr/>
          <p:nvPr/>
        </p:nvGrpSpPr>
        <p:grpSpPr>
          <a:xfrm>
            <a:off x="511408" y="3957663"/>
            <a:ext cx="1686960" cy="807909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111" name="Rechteck: abgerundete Ecken 91">
              <a:extLst>
                <a:ext uri="{FF2B5EF4-FFF2-40B4-BE49-F238E27FC236}">
                  <a16:creationId xmlns:a16="http://schemas.microsoft.com/office/drawing/2014/main" id="{1C3640FB-1F1F-459F-8ADB-1DDBD8F242A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12" name="Rechteck: abgerundete Ecken 4">
              <a:extLst>
                <a:ext uri="{FF2B5EF4-FFF2-40B4-BE49-F238E27FC236}">
                  <a16:creationId xmlns:a16="http://schemas.microsoft.com/office/drawing/2014/main" id="{158ADFE3-89CE-4E55-AB26-92BB9976A8F5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Eigenschaften</a:t>
              </a:r>
            </a:p>
          </p:txBody>
        </p:sp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CAC052B4-6720-41BC-8662-71F2EDF5D888}"/>
              </a:ext>
            </a:extLst>
          </p:cNvPr>
          <p:cNvGrpSpPr/>
          <p:nvPr/>
        </p:nvGrpSpPr>
        <p:grpSpPr>
          <a:xfrm>
            <a:off x="511408" y="4900021"/>
            <a:ext cx="1686960" cy="891876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114" name="Rechteck: abgerundete Ecken 94">
              <a:extLst>
                <a:ext uri="{FF2B5EF4-FFF2-40B4-BE49-F238E27FC236}">
                  <a16:creationId xmlns:a16="http://schemas.microsoft.com/office/drawing/2014/main" id="{652D04FB-971C-4EAA-B70F-2A4CA2CEBFCF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15" name="Rechteck: abgerundete Ecken 4">
              <a:extLst>
                <a:ext uri="{FF2B5EF4-FFF2-40B4-BE49-F238E27FC236}">
                  <a16:creationId xmlns:a16="http://schemas.microsoft.com/office/drawing/2014/main" id="{B3D44CD9-8C16-4242-84A3-72701B4109D0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Anforderungen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46049" y="1031239"/>
            <a:ext cx="7482498" cy="984885"/>
          </a:xfrm>
        </p:spPr>
        <p:txBody>
          <a:bodyPr/>
          <a:lstStyle/>
          <a:p>
            <a:r>
              <a:rPr lang="de-DE" dirty="0"/>
              <a:t>Überblick über die gesamte Vorlesung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1754658" y="1430346"/>
            <a:ext cx="1147202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</a:t>
            </a:fld>
            <a:r>
              <a:rPr lang="de-DE"/>
              <a:t> </a:t>
            </a:r>
          </a:p>
        </p:txBody>
      </p: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9497BCE8-A6C1-4F47-A712-40D0658E0DFA}"/>
              </a:ext>
            </a:extLst>
          </p:cNvPr>
          <p:cNvGrpSpPr/>
          <p:nvPr/>
        </p:nvGrpSpPr>
        <p:grpSpPr>
          <a:xfrm>
            <a:off x="2645966" y="1797422"/>
            <a:ext cx="4392488" cy="4224892"/>
            <a:chOff x="1908976" y="2085741"/>
            <a:chExt cx="2946423" cy="4224892"/>
          </a:xfrm>
        </p:grpSpPr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084F7617-9B92-4C78-B5EF-0AFE9F08C561}"/>
                </a:ext>
              </a:extLst>
            </p:cNvPr>
            <p:cNvSpPr/>
            <p:nvPr/>
          </p:nvSpPr>
          <p:spPr>
            <a:xfrm>
              <a:off x="1908976" y="2085741"/>
              <a:ext cx="2946423" cy="4224892"/>
            </a:xfrm>
            <a:prstGeom prst="roundRect">
              <a:avLst>
                <a:gd name="adj" fmla="val 349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DE" dirty="0"/>
            </a:p>
          </p:txBody>
        </p:sp>
        <p:sp>
          <p:nvSpPr>
            <p:cNvPr id="32" name="Rechteck: abgerundete Ecken 4">
              <a:extLst>
                <a:ext uri="{FF2B5EF4-FFF2-40B4-BE49-F238E27FC236}">
                  <a16:creationId xmlns:a16="http://schemas.microsoft.com/office/drawing/2014/main" id="{9484AC72-FE82-437E-940B-CDB00313CF51}"/>
                </a:ext>
              </a:extLst>
            </p:cNvPr>
            <p:cNvSpPr txBox="1"/>
            <p:nvPr/>
          </p:nvSpPr>
          <p:spPr>
            <a:xfrm>
              <a:off x="1908976" y="2085741"/>
              <a:ext cx="2946423" cy="9306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000" dirty="0"/>
                <a:t>Entwurf Eingebetteter Systeme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F0844AB-1A6E-472A-846D-04CA09F9C2C0}"/>
              </a:ext>
            </a:extLst>
          </p:cNvPr>
          <p:cNvGrpSpPr/>
          <p:nvPr/>
        </p:nvGrpSpPr>
        <p:grpSpPr>
          <a:xfrm>
            <a:off x="3303190" y="4265884"/>
            <a:ext cx="1535480" cy="555874"/>
            <a:chOff x="183157" y="1942250"/>
            <a:chExt cx="1445429" cy="724366"/>
          </a:xfrm>
        </p:grpSpPr>
        <p:sp>
          <p:nvSpPr>
            <p:cNvPr id="27" name="Rechteck: abgerundete Ecken 26">
              <a:extLst>
                <a:ext uri="{FF2B5EF4-FFF2-40B4-BE49-F238E27FC236}">
                  <a16:creationId xmlns:a16="http://schemas.microsoft.com/office/drawing/2014/main" id="{EECA115F-E83B-46E2-8E15-07573E3D9005}"/>
                </a:ext>
              </a:extLst>
            </p:cNvPr>
            <p:cNvSpPr/>
            <p:nvPr/>
          </p:nvSpPr>
          <p:spPr>
            <a:xfrm>
              <a:off x="183157" y="1942250"/>
              <a:ext cx="1445429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28" name="Rechteck: abgerundete Ecken 6">
              <a:extLst>
                <a:ext uri="{FF2B5EF4-FFF2-40B4-BE49-F238E27FC236}">
                  <a16:creationId xmlns:a16="http://schemas.microsoft.com/office/drawing/2014/main" id="{46560B74-A999-4CD8-A71B-9CDE4ACC5F14}"/>
                </a:ext>
              </a:extLst>
            </p:cNvPr>
            <p:cNvSpPr txBox="1"/>
            <p:nvPr/>
          </p:nvSpPr>
          <p:spPr>
            <a:xfrm>
              <a:off x="204373" y="1963466"/>
              <a:ext cx="1402997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Statecharts</a:t>
              </a:r>
              <a:endParaRPr lang="de-DE" sz="1600" dirty="0"/>
            </a:p>
          </p:txBody>
        </p:sp>
      </p:grpSp>
      <p:sp>
        <p:nvSpPr>
          <p:cNvPr id="44" name="Rechteck: abgerundete Ecken 4">
            <a:extLst>
              <a:ext uri="{FF2B5EF4-FFF2-40B4-BE49-F238E27FC236}">
                <a16:creationId xmlns:a16="http://schemas.microsoft.com/office/drawing/2014/main" id="{B10D7751-1864-4357-9923-078D41D35CD7}"/>
              </a:ext>
            </a:extLst>
          </p:cNvPr>
          <p:cNvSpPr txBox="1"/>
          <p:nvPr/>
        </p:nvSpPr>
        <p:spPr>
          <a:xfrm rot="16200000">
            <a:off x="1255116" y="3908353"/>
            <a:ext cx="3253718" cy="76004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sz="2000" dirty="0">
                <a:solidFill>
                  <a:schemeClr val="accent1">
                    <a:lumMod val="50000"/>
                  </a:schemeClr>
                </a:solidFill>
              </a:rPr>
              <a:t>Modellierungssprachen</a:t>
            </a:r>
          </a:p>
        </p:txBody>
      </p: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3BDB3584-7D0D-4D05-B293-933263612419}"/>
              </a:ext>
            </a:extLst>
          </p:cNvPr>
          <p:cNvGrpSpPr/>
          <p:nvPr/>
        </p:nvGrpSpPr>
        <p:grpSpPr>
          <a:xfrm>
            <a:off x="7235992" y="1797422"/>
            <a:ext cx="2520801" cy="4224892"/>
            <a:chOff x="5036885" y="2085741"/>
            <a:chExt cx="2390460" cy="4224892"/>
          </a:xfrm>
        </p:grpSpPr>
        <p:sp>
          <p:nvSpPr>
            <p:cNvPr id="45" name="Rechteck: abgerundete Ecken 44">
              <a:extLst>
                <a:ext uri="{FF2B5EF4-FFF2-40B4-BE49-F238E27FC236}">
                  <a16:creationId xmlns:a16="http://schemas.microsoft.com/office/drawing/2014/main" id="{DD108E85-58AA-4871-9AD6-19677ACE0E86}"/>
                </a:ext>
              </a:extLst>
            </p:cNvPr>
            <p:cNvSpPr/>
            <p:nvPr/>
          </p:nvSpPr>
          <p:spPr>
            <a:xfrm>
              <a:off x="5036885" y="2085741"/>
              <a:ext cx="2390460" cy="4224892"/>
            </a:xfrm>
            <a:prstGeom prst="roundRect">
              <a:avLst>
                <a:gd name="adj" fmla="val 5047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46" name="Rechteck: abgerundete Ecken 4">
              <a:extLst>
                <a:ext uri="{FF2B5EF4-FFF2-40B4-BE49-F238E27FC236}">
                  <a16:creationId xmlns:a16="http://schemas.microsoft.com/office/drawing/2014/main" id="{09D63075-F05B-4F70-91D5-E0F0834020BE}"/>
                </a:ext>
              </a:extLst>
            </p:cNvPr>
            <p:cNvSpPr txBox="1"/>
            <p:nvPr/>
          </p:nvSpPr>
          <p:spPr>
            <a:xfrm>
              <a:off x="5036885" y="2085741"/>
              <a:ext cx="2390459" cy="8927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000" dirty="0"/>
                <a:t>Implementierung</a:t>
              </a:r>
            </a:p>
          </p:txBody>
        </p:sp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761CD052-01B5-4C79-8808-DA4A21B254BC}"/>
              </a:ext>
            </a:extLst>
          </p:cNvPr>
          <p:cNvGrpSpPr/>
          <p:nvPr/>
        </p:nvGrpSpPr>
        <p:grpSpPr>
          <a:xfrm>
            <a:off x="9963569" y="1797423"/>
            <a:ext cx="1866150" cy="4224891"/>
            <a:chOff x="7529312" y="2085740"/>
            <a:chExt cx="1403547" cy="4224891"/>
          </a:xfrm>
        </p:grpSpPr>
        <p:sp>
          <p:nvSpPr>
            <p:cNvPr id="86" name="Rechteck: abgerundete Ecken 85">
              <a:extLst>
                <a:ext uri="{FF2B5EF4-FFF2-40B4-BE49-F238E27FC236}">
                  <a16:creationId xmlns:a16="http://schemas.microsoft.com/office/drawing/2014/main" id="{B5B54273-9C16-4B78-86D4-138C448292D7}"/>
                </a:ext>
              </a:extLst>
            </p:cNvPr>
            <p:cNvSpPr/>
            <p:nvPr/>
          </p:nvSpPr>
          <p:spPr>
            <a:xfrm>
              <a:off x="7529312" y="2085740"/>
              <a:ext cx="1403547" cy="422489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7" name="Rechteck: abgerundete Ecken 4">
              <a:extLst>
                <a:ext uri="{FF2B5EF4-FFF2-40B4-BE49-F238E27FC236}">
                  <a16:creationId xmlns:a16="http://schemas.microsoft.com/office/drawing/2014/main" id="{E2777FE9-77B8-46E9-BE4D-24A16A7CC20B}"/>
                </a:ext>
              </a:extLst>
            </p:cNvPr>
            <p:cNvSpPr txBox="1"/>
            <p:nvPr/>
          </p:nvSpPr>
          <p:spPr>
            <a:xfrm>
              <a:off x="7529312" y="2085742"/>
              <a:ext cx="1403547" cy="89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dirty="0"/>
                <a:t>Validierung und Verifikation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761CD052-01B5-4C79-8808-DA4A21B254BC}"/>
              </a:ext>
            </a:extLst>
          </p:cNvPr>
          <p:cNvGrpSpPr/>
          <p:nvPr/>
        </p:nvGrpSpPr>
        <p:grpSpPr>
          <a:xfrm>
            <a:off x="386504" y="1797423"/>
            <a:ext cx="2052222" cy="4224891"/>
            <a:chOff x="7529312" y="2085740"/>
            <a:chExt cx="1403547" cy="4224891"/>
          </a:xfrm>
        </p:grpSpPr>
        <p:sp>
          <p:nvSpPr>
            <p:cNvPr id="81" name="Rechteck: abgerundete Ecken 85">
              <a:extLst>
                <a:ext uri="{FF2B5EF4-FFF2-40B4-BE49-F238E27FC236}">
                  <a16:creationId xmlns:a16="http://schemas.microsoft.com/office/drawing/2014/main" id="{B5B54273-9C16-4B78-86D4-138C448292D7}"/>
                </a:ext>
              </a:extLst>
            </p:cNvPr>
            <p:cNvSpPr/>
            <p:nvPr/>
          </p:nvSpPr>
          <p:spPr>
            <a:xfrm>
              <a:off x="7529312" y="2085740"/>
              <a:ext cx="1403547" cy="422489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5" name="Rechteck: abgerundete Ecken 4">
              <a:extLst>
                <a:ext uri="{FF2B5EF4-FFF2-40B4-BE49-F238E27FC236}">
                  <a16:creationId xmlns:a16="http://schemas.microsoft.com/office/drawing/2014/main" id="{E2777FE9-77B8-46E9-BE4D-24A16A7CC20B}"/>
                </a:ext>
              </a:extLst>
            </p:cNvPr>
            <p:cNvSpPr txBox="1"/>
            <p:nvPr/>
          </p:nvSpPr>
          <p:spPr>
            <a:xfrm>
              <a:off x="7529312" y="2085742"/>
              <a:ext cx="1403547" cy="89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dirty="0"/>
                <a:t>Eingebettete </a:t>
              </a:r>
              <a:br>
                <a:rPr lang="de-DE" dirty="0"/>
              </a:br>
              <a:r>
                <a:rPr lang="de-DE" dirty="0"/>
                <a:t>Systeme</a:t>
              </a:r>
            </a:p>
          </p:txBody>
        </p:sp>
      </p:grpSp>
      <p:grpSp>
        <p:nvGrpSpPr>
          <p:cNvPr id="3" name="Gruppieren 21">
            <a:extLst>
              <a:ext uri="{FF2B5EF4-FFF2-40B4-BE49-F238E27FC236}">
                <a16:creationId xmlns:a16="http://schemas.microsoft.com/office/drawing/2014/main" id="{E8660541-5250-3634-DC71-73E04C6B61C1}"/>
              </a:ext>
            </a:extLst>
          </p:cNvPr>
          <p:cNvGrpSpPr/>
          <p:nvPr/>
        </p:nvGrpSpPr>
        <p:grpSpPr>
          <a:xfrm>
            <a:off x="3303190" y="3471675"/>
            <a:ext cx="1534006" cy="571450"/>
            <a:chOff x="210683" y="1106443"/>
            <a:chExt cx="1390377" cy="744663"/>
          </a:xfrm>
        </p:grpSpPr>
        <p:sp>
          <p:nvSpPr>
            <p:cNvPr id="4" name="Rechteck: abgerundete Ecken 28">
              <a:extLst>
                <a:ext uri="{FF2B5EF4-FFF2-40B4-BE49-F238E27FC236}">
                  <a16:creationId xmlns:a16="http://schemas.microsoft.com/office/drawing/2014/main" id="{8919164D-063A-E6BC-2B5E-75CF7BDBF087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" name="Rechteck: abgerundete Ecken 4">
              <a:extLst>
                <a:ext uri="{FF2B5EF4-FFF2-40B4-BE49-F238E27FC236}">
                  <a16:creationId xmlns:a16="http://schemas.microsoft.com/office/drawing/2014/main" id="{4361993B-1B36-8629-581C-171D5E549A6E}"/>
                </a:ext>
              </a:extLst>
            </p:cNvPr>
            <p:cNvSpPr txBox="1"/>
            <p:nvPr/>
          </p:nvSpPr>
          <p:spPr>
            <a:xfrm>
              <a:off x="231898" y="1169172"/>
              <a:ext cx="1347945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Endliche Automaten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9203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7044863" cy="984885"/>
          </a:xfrm>
        </p:spPr>
        <p:txBody>
          <a:bodyPr/>
          <a:lstStyle/>
          <a:p>
            <a:r>
              <a:rPr lang="de-DE" dirty="0"/>
              <a:t>Übersicht über aktuelle Vorlesung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</a:t>
            </a:fld>
            <a:r>
              <a:rPr lang="de-DE"/>
              <a:t> </a:t>
            </a:r>
            <a:endParaRPr lang="de-DE" sz="619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9A42F2D-C54B-8F0C-74F3-3C1F97317E53}"/>
              </a:ext>
            </a:extLst>
          </p:cNvPr>
          <p:cNvSpPr txBox="1">
            <a:spLocks noChangeArrowheads="1"/>
          </p:cNvSpPr>
          <p:nvPr/>
        </p:nvSpPr>
        <p:spPr>
          <a:xfrm>
            <a:off x="732675" y="2016125"/>
            <a:ext cx="11472025" cy="2659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90000"/>
              </a:lnSpc>
              <a:buFont typeface="+mj-lt"/>
              <a:buAutoNum type="arabicPeriod"/>
            </a:pPr>
            <a:r>
              <a:rPr lang="de-DE" sz="2400" dirty="0"/>
              <a:t>Endliche Automaten</a:t>
            </a:r>
          </a:p>
          <a:p>
            <a:pPr marL="360363" indent="-360363">
              <a:lnSpc>
                <a:spcPct val="90000"/>
              </a:lnSpc>
              <a:buFont typeface="+mj-lt"/>
              <a:buAutoNum type="arabicPeriod"/>
            </a:pPr>
            <a:r>
              <a:rPr lang="de-DE" sz="2400" dirty="0" err="1"/>
              <a:t>Statecharts</a:t>
            </a:r>
            <a:endParaRPr lang="de-DE" sz="2400" dirty="0"/>
          </a:p>
          <a:p>
            <a:pPr marL="523875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400" dirty="0" err="1"/>
              <a:t>Statechart</a:t>
            </a:r>
            <a:r>
              <a:rPr lang="de-DE" sz="2400" dirty="0"/>
              <a:t>-Konstrukte</a:t>
            </a:r>
          </a:p>
          <a:p>
            <a:pPr marL="523875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400" dirty="0"/>
              <a:t>Einschub: Syntax versus Semantik</a:t>
            </a:r>
          </a:p>
          <a:p>
            <a:pPr marL="523875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400" dirty="0" err="1"/>
              <a:t>Statechart</a:t>
            </a:r>
            <a:r>
              <a:rPr lang="de-DE" sz="2400" dirty="0"/>
              <a:t>-Semantik</a:t>
            </a:r>
          </a:p>
          <a:p>
            <a:pPr marL="523875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400" dirty="0"/>
              <a:t>Beispiele</a:t>
            </a:r>
          </a:p>
          <a:p>
            <a:pPr>
              <a:lnSpc>
                <a:spcPct val="90000"/>
              </a:lnSpc>
            </a:pPr>
            <a:endParaRPr lang="de-DE" sz="2400" dirty="0"/>
          </a:p>
          <a:p>
            <a:pPr>
              <a:lnSpc>
                <a:spcPct val="90000"/>
              </a:lnSpc>
            </a:pP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840759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54660-CF71-2EAF-1FBF-B7A921A21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>
            <a:extLst>
              <a:ext uri="{FF2B5EF4-FFF2-40B4-BE49-F238E27FC236}">
                <a16:creationId xmlns:a16="http://schemas.microsoft.com/office/drawing/2014/main" id="{0208EDD2-D0CF-385D-0B55-255122021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7044863" cy="984885"/>
          </a:xfrm>
        </p:spPr>
        <p:txBody>
          <a:bodyPr/>
          <a:lstStyle/>
          <a:p>
            <a:r>
              <a:rPr lang="de-DE" dirty="0"/>
              <a:t>Übersicht über aktuelle Vorlesung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96C6049-E8B3-9BAE-DFB3-5F29D9B63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0321862-4C1B-C90B-089A-6F1A91839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</a:t>
            </a:fld>
            <a:r>
              <a:rPr lang="de-DE"/>
              <a:t> </a:t>
            </a:r>
            <a:endParaRPr lang="de-DE" sz="619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E2A7725-57CF-36D2-0F19-FE80475E9DF2}"/>
              </a:ext>
            </a:extLst>
          </p:cNvPr>
          <p:cNvSpPr txBox="1">
            <a:spLocks noChangeArrowheads="1"/>
          </p:cNvSpPr>
          <p:nvPr/>
        </p:nvSpPr>
        <p:spPr>
          <a:xfrm>
            <a:off x="732675" y="2016125"/>
            <a:ext cx="11472025" cy="2659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90000"/>
              </a:lnSpc>
              <a:buFont typeface="+mj-lt"/>
              <a:buAutoNum type="arabicPeriod"/>
            </a:pPr>
            <a:r>
              <a:rPr lang="de-DE" sz="2400" dirty="0"/>
              <a:t>Endliche Automaten</a:t>
            </a:r>
          </a:p>
          <a:p>
            <a:pPr marL="360363" indent="-360363">
              <a:lnSpc>
                <a:spcPct val="90000"/>
              </a:lnSpc>
              <a:buFont typeface="+mj-lt"/>
              <a:buAutoNum type="arabicPeriod"/>
            </a:pPr>
            <a:r>
              <a:rPr lang="de-DE" sz="2400" dirty="0" err="1">
                <a:solidFill>
                  <a:schemeClr val="bg1">
                    <a:lumMod val="75000"/>
                  </a:schemeClr>
                </a:solidFill>
              </a:rPr>
              <a:t>Statecharts</a:t>
            </a:r>
            <a:endParaRPr lang="de-DE" sz="2400" dirty="0">
              <a:solidFill>
                <a:schemeClr val="bg1">
                  <a:lumMod val="75000"/>
                </a:schemeClr>
              </a:solidFill>
            </a:endParaRPr>
          </a:p>
          <a:p>
            <a:pPr marL="523875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chemeClr val="bg1">
                    <a:lumMod val="75000"/>
                  </a:schemeClr>
                </a:solidFill>
              </a:rPr>
              <a:t>Statechart</a:t>
            </a:r>
            <a:r>
              <a:rPr lang="de-DE" sz="2400" dirty="0">
                <a:solidFill>
                  <a:schemeClr val="bg1">
                    <a:lumMod val="75000"/>
                  </a:schemeClr>
                </a:solidFill>
              </a:rPr>
              <a:t>-Konstrukte</a:t>
            </a:r>
          </a:p>
          <a:p>
            <a:pPr marL="523875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>
                    <a:lumMod val="75000"/>
                  </a:schemeClr>
                </a:solidFill>
              </a:rPr>
              <a:t>Einschub: Syntax versus Semantik</a:t>
            </a:r>
          </a:p>
          <a:p>
            <a:pPr marL="523875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chemeClr val="bg1">
                    <a:lumMod val="75000"/>
                  </a:schemeClr>
                </a:solidFill>
              </a:rPr>
              <a:t>Statechart</a:t>
            </a:r>
            <a:r>
              <a:rPr lang="de-DE" sz="2400" dirty="0">
                <a:solidFill>
                  <a:schemeClr val="bg1">
                    <a:lumMod val="75000"/>
                  </a:schemeClr>
                </a:solidFill>
              </a:rPr>
              <a:t>-Semantik</a:t>
            </a:r>
          </a:p>
          <a:p>
            <a:pPr marL="523875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>
                    <a:lumMod val="75000"/>
                  </a:schemeClr>
                </a:solidFill>
              </a:rPr>
              <a:t>Beispiele</a:t>
            </a:r>
          </a:p>
          <a:p>
            <a:pPr>
              <a:lnSpc>
                <a:spcPct val="90000"/>
              </a:lnSpc>
            </a:pPr>
            <a:endParaRPr lang="de-DE" sz="2400" dirty="0"/>
          </a:p>
          <a:p>
            <a:pPr>
              <a:lnSpc>
                <a:spcPct val="90000"/>
              </a:lnSpc>
            </a:pP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328506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7983957" cy="984885"/>
          </a:xfrm>
        </p:spPr>
        <p:txBody>
          <a:bodyPr/>
          <a:lstStyle/>
          <a:p>
            <a:r>
              <a:rPr lang="de-DE" dirty="0" err="1"/>
              <a:t>Recap</a:t>
            </a:r>
            <a:r>
              <a:rPr lang="de-DE" dirty="0"/>
              <a:t>: Endliche Automaten</a:t>
            </a:r>
          </a:p>
        </p:txBody>
      </p:sp>
      <p:sp>
        <p:nvSpPr>
          <p:cNvPr id="229386" name="Rectangle 10"/>
          <p:cNvSpPr>
            <a:spLocks noGrp="1" noChangeArrowheads="1"/>
          </p:cNvSpPr>
          <p:nvPr>
            <p:ph idx="1"/>
          </p:nvPr>
        </p:nvSpPr>
        <p:spPr>
          <a:xfrm>
            <a:off x="399363" y="1938810"/>
            <a:ext cx="5323205" cy="4062651"/>
          </a:xfrm>
        </p:spPr>
        <p:txBody>
          <a:bodyPr/>
          <a:lstStyle/>
          <a:p>
            <a:pPr algn="just">
              <a:buFont typeface="Wingdings" pitchFamily="2" charset="2"/>
              <a:buChar char="§"/>
            </a:pPr>
            <a:endParaRPr lang="de-DE" sz="2400" i="1" dirty="0"/>
          </a:p>
          <a:p>
            <a:pPr marL="342900" indent="-3429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i="1" dirty="0"/>
              <a:t>Finite State Machines </a:t>
            </a:r>
            <a:r>
              <a:rPr lang="de-DE" sz="2400" dirty="0"/>
              <a:t>(FSM)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Zustandsdiagramm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Übergänge</a:t>
            </a:r>
            <a:r>
              <a:rPr lang="de-DE" sz="2400" b="1" dirty="0"/>
              <a:t> </a:t>
            </a:r>
            <a:r>
              <a:rPr lang="de-DE" sz="2400" dirty="0"/>
              <a:t>markiert mit</a:t>
            </a:r>
          </a:p>
          <a:p>
            <a:pPr marL="80010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Externen </a:t>
            </a:r>
            <a:r>
              <a:rPr lang="de-DE" sz="2400" dirty="0">
                <a:solidFill>
                  <a:srgbClr val="0000FF"/>
                </a:solidFill>
              </a:rPr>
              <a:t>Ereignissen</a:t>
            </a:r>
            <a:r>
              <a:rPr lang="de-DE" sz="2400" dirty="0"/>
              <a:t> (</a:t>
            </a:r>
            <a:r>
              <a:rPr lang="de-DE" sz="2400" dirty="0" err="1"/>
              <a:t>f,g,h,e</a:t>
            </a:r>
            <a:r>
              <a:rPr lang="de-DE" sz="2400" dirty="0"/>
              <a:t>)</a:t>
            </a:r>
          </a:p>
          <a:p>
            <a:pPr marL="80010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Bedingungen</a:t>
            </a:r>
            <a:r>
              <a:rPr lang="de-DE" sz="2400" dirty="0"/>
              <a:t> (p)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Kann Ereignisse </a:t>
            </a:r>
            <a:r>
              <a:rPr lang="de-DE" sz="2400" dirty="0">
                <a:solidFill>
                  <a:srgbClr val="0000FF"/>
                </a:solidFill>
              </a:rPr>
              <a:t>aussenden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Beispiel:</a:t>
            </a:r>
          </a:p>
          <a:p>
            <a:pPr marL="80010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Ereignis e bewirkt Übergang von Zustand X nach Zustand Z, falls Bedingung p erfüllt ist.</a:t>
            </a:r>
          </a:p>
        </p:txBody>
      </p:sp>
      <p:sp>
        <p:nvSpPr>
          <p:cNvPr id="18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9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</a:t>
            </a:fld>
            <a:r>
              <a:rPr lang="de-DE"/>
              <a:t> </a:t>
            </a:r>
          </a:p>
        </p:txBody>
      </p:sp>
      <p:sp>
        <p:nvSpPr>
          <p:cNvPr id="229380" name="Text Box 4"/>
          <p:cNvSpPr txBox="1">
            <a:spLocks noChangeArrowheads="1"/>
          </p:cNvSpPr>
          <p:nvPr/>
        </p:nvSpPr>
        <p:spPr bwMode="auto">
          <a:xfrm>
            <a:off x="7742757" y="2385703"/>
            <a:ext cx="389850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dirty="0"/>
              <a:t>X</a:t>
            </a:r>
          </a:p>
        </p:txBody>
      </p:sp>
      <p:sp>
        <p:nvSpPr>
          <p:cNvPr id="229381" name="Text Box 5"/>
          <p:cNvSpPr txBox="1">
            <a:spLocks noChangeArrowheads="1"/>
          </p:cNvSpPr>
          <p:nvPr/>
        </p:nvSpPr>
        <p:spPr bwMode="auto">
          <a:xfrm>
            <a:off x="7742757" y="4401828"/>
            <a:ext cx="372218" cy="46166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dirty="0"/>
              <a:t>Z</a:t>
            </a:r>
          </a:p>
        </p:txBody>
      </p:sp>
      <p:sp>
        <p:nvSpPr>
          <p:cNvPr id="229382" name="Text Box 6"/>
          <p:cNvSpPr txBox="1">
            <a:spLocks noChangeArrowheads="1"/>
          </p:cNvSpPr>
          <p:nvPr/>
        </p:nvSpPr>
        <p:spPr bwMode="auto">
          <a:xfrm>
            <a:off x="9901757" y="3322328"/>
            <a:ext cx="389850" cy="46166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dirty="0"/>
              <a:t>Y</a:t>
            </a:r>
          </a:p>
        </p:txBody>
      </p:sp>
      <p:sp>
        <p:nvSpPr>
          <p:cNvPr id="229387" name="Line 11"/>
          <p:cNvSpPr>
            <a:spLocks noChangeShapeType="1"/>
          </p:cNvSpPr>
          <p:nvPr/>
        </p:nvSpPr>
        <p:spPr bwMode="auto">
          <a:xfrm>
            <a:off x="7958657" y="3106426"/>
            <a:ext cx="0" cy="1223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29388" name="Arc 12"/>
          <p:cNvSpPr>
            <a:spLocks/>
          </p:cNvSpPr>
          <p:nvPr/>
        </p:nvSpPr>
        <p:spPr bwMode="auto">
          <a:xfrm>
            <a:off x="8319019" y="2601603"/>
            <a:ext cx="1728788" cy="9366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214"/>
              <a:gd name="T1" fmla="*/ 0 h 21600"/>
              <a:gd name="T2" fmla="*/ 20214 w 20214"/>
              <a:gd name="T3" fmla="*/ 13987 h 21600"/>
              <a:gd name="T4" fmla="*/ 0 w 2021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14" h="21600" fill="none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</a:path>
              <a:path w="20214" h="21600" stroke="0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29389" name="Arc 13"/>
          <p:cNvSpPr>
            <a:spLocks/>
          </p:cNvSpPr>
          <p:nvPr/>
        </p:nvSpPr>
        <p:spPr bwMode="auto">
          <a:xfrm flipV="1">
            <a:off x="8319019" y="3538228"/>
            <a:ext cx="1943100" cy="13684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214"/>
              <a:gd name="T1" fmla="*/ 0 h 21600"/>
              <a:gd name="T2" fmla="*/ 20214 w 20214"/>
              <a:gd name="T3" fmla="*/ 13987 h 21600"/>
              <a:gd name="T4" fmla="*/ 0 w 2021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14" h="21600" fill="none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</a:path>
              <a:path w="20214" h="21600" stroke="0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29391" name="Arc 15"/>
          <p:cNvSpPr>
            <a:spLocks/>
          </p:cNvSpPr>
          <p:nvPr/>
        </p:nvSpPr>
        <p:spPr bwMode="auto">
          <a:xfrm rot="-3066553">
            <a:off x="8408715" y="3832709"/>
            <a:ext cx="1584325" cy="10080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214"/>
              <a:gd name="T1" fmla="*/ 0 h 21600"/>
              <a:gd name="T2" fmla="*/ 20214 w 20214"/>
              <a:gd name="T3" fmla="*/ 13987 h 21600"/>
              <a:gd name="T4" fmla="*/ 0 w 2021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14" h="21600" fill="none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</a:path>
              <a:path w="20214" h="21600" stroke="0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lg" len="lg"/>
            <a:tailEnd type="non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29392" name="Arc 16"/>
          <p:cNvSpPr>
            <a:spLocks/>
          </p:cNvSpPr>
          <p:nvPr/>
        </p:nvSpPr>
        <p:spPr bwMode="auto">
          <a:xfrm rot="-10800000">
            <a:off x="8319019" y="2601603"/>
            <a:ext cx="1511300" cy="9366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214"/>
              <a:gd name="T1" fmla="*/ 0 h 21600"/>
              <a:gd name="T2" fmla="*/ 20214 w 20214"/>
              <a:gd name="T3" fmla="*/ 13987 h 21600"/>
              <a:gd name="T4" fmla="*/ 0 w 2021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14" h="21600" fill="none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</a:path>
              <a:path w="20214" h="21600" stroke="0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29393" name="Text Box 17"/>
          <p:cNvSpPr txBox="1">
            <a:spLocks noChangeArrowheads="1"/>
          </p:cNvSpPr>
          <p:nvPr/>
        </p:nvSpPr>
        <p:spPr bwMode="auto">
          <a:xfrm>
            <a:off x="9111182" y="2314263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/>
              <a:t>h</a:t>
            </a:r>
          </a:p>
        </p:txBody>
      </p:sp>
      <p:sp>
        <p:nvSpPr>
          <p:cNvPr id="229394" name="Text Box 18"/>
          <p:cNvSpPr txBox="1">
            <a:spLocks noChangeArrowheads="1"/>
          </p:cNvSpPr>
          <p:nvPr/>
        </p:nvSpPr>
        <p:spPr bwMode="auto">
          <a:xfrm>
            <a:off x="8893694" y="2961963"/>
            <a:ext cx="26828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/>
              <a:t>f</a:t>
            </a:r>
          </a:p>
        </p:txBody>
      </p:sp>
      <p:sp>
        <p:nvSpPr>
          <p:cNvPr id="229395" name="Text Box 19"/>
          <p:cNvSpPr txBox="1">
            <a:spLocks noChangeArrowheads="1"/>
          </p:cNvSpPr>
          <p:nvPr/>
        </p:nvSpPr>
        <p:spPr bwMode="auto">
          <a:xfrm>
            <a:off x="9254057" y="4257363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/>
              <a:t>h</a:t>
            </a:r>
          </a:p>
        </p:txBody>
      </p:sp>
      <p:sp>
        <p:nvSpPr>
          <p:cNvPr id="229396" name="Text Box 20"/>
          <p:cNvSpPr txBox="1">
            <a:spLocks noChangeArrowheads="1"/>
          </p:cNvSpPr>
          <p:nvPr/>
        </p:nvSpPr>
        <p:spPr bwMode="auto">
          <a:xfrm>
            <a:off x="8585721" y="36731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/>
              <a:t>g</a:t>
            </a:r>
          </a:p>
        </p:txBody>
      </p:sp>
      <p:sp>
        <p:nvSpPr>
          <p:cNvPr id="229397" name="Text Box 21"/>
          <p:cNvSpPr txBox="1">
            <a:spLocks noChangeArrowheads="1"/>
          </p:cNvSpPr>
          <p:nvPr/>
        </p:nvSpPr>
        <p:spPr bwMode="auto">
          <a:xfrm>
            <a:off x="7094290" y="3249749"/>
            <a:ext cx="6976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dirty="0"/>
              <a:t>e[p]</a:t>
            </a:r>
          </a:p>
        </p:txBody>
      </p:sp>
    </p:spTree>
    <p:extLst>
      <p:ext uri="{BB962C8B-B14F-4D97-AF65-F5344CB8AC3E}">
        <p14:creationId xmlns:p14="http://schemas.microsoft.com/office/powerpoint/2010/main" val="1178689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Endliche Automaten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idx="1"/>
          </p:nvPr>
        </p:nvSpPr>
        <p:spPr>
          <a:xfrm>
            <a:off x="346049" y="1702759"/>
            <a:ext cx="10658488" cy="2769989"/>
          </a:xfrm>
        </p:spPr>
        <p:txBody>
          <a:bodyPr/>
          <a:lstStyle/>
          <a:p>
            <a:pPr>
              <a:buNone/>
            </a:pPr>
            <a:r>
              <a:rPr lang="de-DE" sz="2800" dirty="0"/>
              <a:t>Zwei Arten von FSMs: </a:t>
            </a:r>
            <a:r>
              <a:rPr lang="de-DE" sz="2800" i="1" dirty="0">
                <a:solidFill>
                  <a:srgbClr val="0000FF"/>
                </a:solidFill>
              </a:rPr>
              <a:t>Moore</a:t>
            </a:r>
            <a:r>
              <a:rPr lang="de-DE" sz="2800" dirty="0"/>
              <a:t> und </a:t>
            </a:r>
            <a:r>
              <a:rPr lang="de-DE" sz="2800" i="1" dirty="0" err="1">
                <a:solidFill>
                  <a:srgbClr val="0000FF"/>
                </a:solidFill>
              </a:rPr>
              <a:t>Mealy</a:t>
            </a:r>
            <a:endParaRPr lang="de-DE" sz="2800" i="1" dirty="0">
              <a:solidFill>
                <a:srgbClr val="0000FF"/>
              </a:solidFill>
            </a:endParaRP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Für </a:t>
            </a:r>
            <a:r>
              <a:rPr lang="de-DE" sz="2800" dirty="0">
                <a:solidFill>
                  <a:srgbClr val="0000FF"/>
                </a:solidFill>
              </a:rPr>
              <a:t>beide</a:t>
            </a:r>
            <a:r>
              <a:rPr lang="de-DE" sz="2800" b="1" dirty="0"/>
              <a:t> </a:t>
            </a:r>
            <a:r>
              <a:rPr lang="de-DE" sz="2800" dirty="0"/>
              <a:t>gilt:</a:t>
            </a:r>
          </a:p>
          <a:p>
            <a:pPr marL="1257300" lvl="2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Kuller/Kästchen = </a:t>
            </a:r>
            <a:r>
              <a:rPr lang="de-DE" sz="2400" dirty="0">
                <a:solidFill>
                  <a:srgbClr val="0000FF"/>
                </a:solidFill>
              </a:rPr>
              <a:t>Zustände</a:t>
            </a:r>
            <a:r>
              <a:rPr lang="de-DE" sz="2400" dirty="0"/>
              <a:t> (</a:t>
            </a:r>
            <a:r>
              <a:rPr lang="de-DE" sz="2400" i="1" dirty="0"/>
              <a:t>Vertices</a:t>
            </a:r>
            <a:r>
              <a:rPr lang="de-DE" sz="2400" dirty="0"/>
              <a:t>)</a:t>
            </a:r>
          </a:p>
          <a:p>
            <a:pPr marL="1257300" lvl="2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Pfeile = </a:t>
            </a:r>
            <a:r>
              <a:rPr lang="de-DE" sz="2400" dirty="0">
                <a:solidFill>
                  <a:srgbClr val="0000FF"/>
                </a:solidFill>
              </a:rPr>
              <a:t>Übergänge/Transitionen</a:t>
            </a:r>
            <a:r>
              <a:rPr lang="de-DE" sz="2400" dirty="0"/>
              <a:t> (</a:t>
            </a:r>
            <a:r>
              <a:rPr lang="de-DE" sz="2400" i="1" dirty="0" err="1"/>
              <a:t>Edges</a:t>
            </a:r>
            <a:r>
              <a:rPr lang="de-DE" sz="2400" dirty="0"/>
              <a:t>)</a:t>
            </a:r>
          </a:p>
          <a:p>
            <a:pPr marL="1257300" lvl="2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Transitionen werden durch </a:t>
            </a:r>
            <a:r>
              <a:rPr lang="de-DE" sz="2400" dirty="0">
                <a:solidFill>
                  <a:srgbClr val="0000FF"/>
                </a:solidFill>
              </a:rPr>
              <a:t>Ereignisse</a:t>
            </a:r>
            <a:r>
              <a:rPr lang="de-DE" sz="2400" dirty="0"/>
              <a:t> ausgelöst und durch </a:t>
            </a:r>
            <a:r>
              <a:rPr lang="de-DE" sz="2400" dirty="0">
                <a:solidFill>
                  <a:srgbClr val="0000FF"/>
                </a:solidFill>
              </a:rPr>
              <a:t>Bedingungen</a:t>
            </a:r>
            <a:r>
              <a:rPr lang="de-DE" sz="2400" dirty="0"/>
              <a:t> (</a:t>
            </a:r>
            <a:r>
              <a:rPr lang="de-DE" sz="2400" i="1" dirty="0" err="1"/>
              <a:t>Guards</a:t>
            </a:r>
            <a:r>
              <a:rPr lang="de-DE" sz="2400" dirty="0"/>
              <a:t>) abgesichert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0000FF"/>
                </a:solidFill>
              </a:rPr>
              <a:t>Unterschiede</a:t>
            </a:r>
            <a:r>
              <a:rPr lang="de-DE" sz="2800" dirty="0"/>
              <a:t> beim </a:t>
            </a:r>
            <a:r>
              <a:rPr lang="de-DE" sz="2800" dirty="0">
                <a:solidFill>
                  <a:srgbClr val="0000FF"/>
                </a:solidFill>
              </a:rPr>
              <a:t>Aussenden</a:t>
            </a:r>
            <a:r>
              <a:rPr lang="de-DE" sz="2800" dirty="0"/>
              <a:t> von Ereignissen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882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Moore Automaten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idx="1"/>
          </p:nvPr>
        </p:nvSpPr>
        <p:spPr>
          <a:xfrm>
            <a:off x="346431" y="2289288"/>
            <a:ext cx="6568997" cy="2585323"/>
          </a:xfrm>
        </p:spPr>
        <p:txBody>
          <a:bodyPr/>
          <a:lstStyle/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Ausgabeereignisse </a:t>
            </a:r>
            <a:r>
              <a:rPr lang="de-DE" sz="2400" dirty="0">
                <a:solidFill>
                  <a:srgbClr val="0000FF"/>
                </a:solidFill>
              </a:rPr>
              <a:t>in den Zuständen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Wenn der Automat im Zustand X ist </a:t>
            </a:r>
            <a:br>
              <a:rPr lang="de-DE" sz="2400" dirty="0"/>
            </a:br>
            <a:r>
              <a:rPr lang="de-DE" sz="2400" dirty="0"/>
              <a:t>und</a:t>
            </a:r>
            <a:r>
              <a:rPr lang="de-DE" sz="2400" dirty="0">
                <a:solidFill>
                  <a:srgbClr val="0000FF"/>
                </a:solidFill>
              </a:rPr>
              <a:t> </a:t>
            </a:r>
            <a:r>
              <a:rPr lang="de-DE" sz="2400" dirty="0"/>
              <a:t>Ereignis e auftritt </a:t>
            </a:r>
            <a:br>
              <a:rPr lang="de-DE" sz="2400" dirty="0"/>
            </a:br>
            <a:r>
              <a:rPr lang="de-DE" sz="2400" dirty="0"/>
              <a:t>und Bedingung p erfüllt ist, </a:t>
            </a:r>
            <a:br>
              <a:rPr lang="de-DE" sz="2400" dirty="0"/>
            </a:br>
            <a:r>
              <a:rPr lang="de-DE" sz="2400" dirty="0"/>
              <a:t>gelangt der Automat in den Zustand Z. 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b="1" dirty="0">
                <a:solidFill>
                  <a:srgbClr val="0000FF"/>
                </a:solidFill>
              </a:rPr>
              <a:t>Solange</a:t>
            </a:r>
            <a:r>
              <a:rPr lang="de-DE" sz="2400" dirty="0">
                <a:solidFill>
                  <a:srgbClr val="0000FF"/>
                </a:solidFill>
              </a:rPr>
              <a:t> Automat in Zustand Z wird das </a:t>
            </a:r>
            <a:br>
              <a:rPr lang="de-DE" sz="2400" dirty="0">
                <a:solidFill>
                  <a:srgbClr val="0000FF"/>
                </a:solidFill>
              </a:rPr>
            </a:br>
            <a:r>
              <a:rPr lang="de-DE" sz="2400" dirty="0">
                <a:solidFill>
                  <a:srgbClr val="00B0F0"/>
                </a:solidFill>
              </a:rPr>
              <a:t>Ereignis a </a:t>
            </a:r>
            <a:r>
              <a:rPr lang="de-DE" sz="2400" dirty="0">
                <a:solidFill>
                  <a:srgbClr val="0000FF"/>
                </a:solidFill>
              </a:rPr>
              <a:t>gesendet (beliebig viele Takte)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8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7910182" y="2289288"/>
            <a:ext cx="389850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dirty="0"/>
              <a:t>X</a:t>
            </a:r>
            <a:endParaRPr lang="de-DE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910182" y="4305411"/>
            <a:ext cx="450850" cy="92333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2400" dirty="0"/>
              <a:t>Z</a:t>
            </a:r>
            <a:endParaRPr lang="de-DE" dirty="0"/>
          </a:p>
          <a:p>
            <a:pPr algn="ctr"/>
            <a:endParaRPr lang="de-DE" sz="600" dirty="0"/>
          </a:p>
          <a:p>
            <a:pPr algn="ctr"/>
            <a:r>
              <a:rPr lang="de-DE" sz="2400" dirty="0">
                <a:solidFill>
                  <a:srgbClr val="00B0F0"/>
                </a:solidFill>
              </a:rPr>
              <a:t>a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0069182" y="3225913"/>
            <a:ext cx="389850" cy="46166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dirty="0"/>
              <a:t>Y</a:t>
            </a:r>
            <a:endParaRPr lang="de-DE" dirty="0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8126082" y="3010011"/>
            <a:ext cx="0" cy="1223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2" name="Arc 12"/>
          <p:cNvSpPr>
            <a:spLocks/>
          </p:cNvSpPr>
          <p:nvPr/>
        </p:nvSpPr>
        <p:spPr bwMode="auto">
          <a:xfrm>
            <a:off x="8486444" y="2505188"/>
            <a:ext cx="1728788" cy="9366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214"/>
              <a:gd name="T1" fmla="*/ 0 h 21600"/>
              <a:gd name="T2" fmla="*/ 20214 w 20214"/>
              <a:gd name="T3" fmla="*/ 13987 h 21600"/>
              <a:gd name="T4" fmla="*/ 0 w 2021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14" h="21600" fill="none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</a:path>
              <a:path w="20214" h="21600" stroke="0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3" name="Arc 13"/>
          <p:cNvSpPr>
            <a:spLocks/>
          </p:cNvSpPr>
          <p:nvPr/>
        </p:nvSpPr>
        <p:spPr bwMode="auto">
          <a:xfrm flipV="1">
            <a:off x="8486444" y="3441813"/>
            <a:ext cx="1943100" cy="13684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214"/>
              <a:gd name="T1" fmla="*/ 0 h 21600"/>
              <a:gd name="T2" fmla="*/ 20214 w 20214"/>
              <a:gd name="T3" fmla="*/ 13987 h 21600"/>
              <a:gd name="T4" fmla="*/ 0 w 2021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14" h="21600" fill="none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</a:path>
              <a:path w="20214" h="21600" stroke="0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4" name="Arc 15"/>
          <p:cNvSpPr>
            <a:spLocks/>
          </p:cNvSpPr>
          <p:nvPr/>
        </p:nvSpPr>
        <p:spPr bwMode="auto">
          <a:xfrm rot="-3066553">
            <a:off x="8576140" y="3736294"/>
            <a:ext cx="1584325" cy="10080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214"/>
              <a:gd name="T1" fmla="*/ 0 h 21600"/>
              <a:gd name="T2" fmla="*/ 20214 w 20214"/>
              <a:gd name="T3" fmla="*/ 13987 h 21600"/>
              <a:gd name="T4" fmla="*/ 0 w 2021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14" h="21600" fill="none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</a:path>
              <a:path w="20214" h="21600" stroke="0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lg" len="lg"/>
            <a:tailEnd type="non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5" name="Arc 16"/>
          <p:cNvSpPr>
            <a:spLocks/>
          </p:cNvSpPr>
          <p:nvPr/>
        </p:nvSpPr>
        <p:spPr bwMode="auto">
          <a:xfrm rot="-10800000">
            <a:off x="8486444" y="2505188"/>
            <a:ext cx="1511300" cy="9366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214"/>
              <a:gd name="T1" fmla="*/ 0 h 21600"/>
              <a:gd name="T2" fmla="*/ 20214 w 20214"/>
              <a:gd name="T3" fmla="*/ 13987 h 21600"/>
              <a:gd name="T4" fmla="*/ 0 w 2021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14" h="21600" fill="none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</a:path>
              <a:path w="20214" h="21600" stroke="0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9278607" y="2217848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/>
              <a:t>h</a:t>
            </a: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9061119" y="2865548"/>
            <a:ext cx="26828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dirty="0"/>
              <a:t>f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9421482" y="4160948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/>
              <a:t>h</a:t>
            </a:r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8753146" y="357674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/>
              <a:t>g</a:t>
            </a:r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7355654" y="3284526"/>
            <a:ext cx="6976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dirty="0"/>
              <a:t>e[p]</a:t>
            </a:r>
          </a:p>
        </p:txBody>
      </p:sp>
      <p:cxnSp>
        <p:nvCxnSpPr>
          <p:cNvPr id="22" name="Gerade Verbindung 21"/>
          <p:cNvCxnSpPr/>
          <p:nvPr/>
        </p:nvCxnSpPr>
        <p:spPr>
          <a:xfrm>
            <a:off x="7914923" y="4797546"/>
            <a:ext cx="450850" cy="0"/>
          </a:xfrm>
          <a:prstGeom prst="line">
            <a:avLst/>
          </a:prstGeom>
          <a:ln w="25400">
            <a:solidFill>
              <a:schemeClr val="accent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084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Mealy</a:t>
            </a:r>
            <a:r>
              <a:rPr lang="de-DE" dirty="0"/>
              <a:t> Automaten</a:t>
            </a:r>
          </a:p>
        </p:txBody>
      </p:sp>
      <p:sp>
        <p:nvSpPr>
          <p:cNvPr id="229386" name="Rectangle 10"/>
          <p:cNvSpPr>
            <a:spLocks noGrp="1" noChangeArrowheads="1"/>
          </p:cNvSpPr>
          <p:nvPr>
            <p:ph idx="1"/>
          </p:nvPr>
        </p:nvSpPr>
        <p:spPr>
          <a:xfrm>
            <a:off x="346430" y="2558542"/>
            <a:ext cx="6815780" cy="3009920"/>
          </a:xfrm>
        </p:spPr>
        <p:txBody>
          <a:bodyPr/>
          <a:lstStyle/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Ausgabeereignisse </a:t>
            </a:r>
            <a:r>
              <a:rPr lang="de-DE" sz="2400" dirty="0">
                <a:solidFill>
                  <a:srgbClr val="0000FF"/>
                </a:solidFill>
              </a:rPr>
              <a:t>an den Transitionen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Wenn der Automat im Zustand X ist </a:t>
            </a:r>
            <a:br>
              <a:rPr lang="de-DE" sz="2400" dirty="0"/>
            </a:br>
            <a:r>
              <a:rPr lang="de-DE" sz="2400" dirty="0"/>
              <a:t>und Ereignis e auftritt </a:t>
            </a:r>
            <a:br>
              <a:rPr lang="de-DE" sz="2400" dirty="0"/>
            </a:br>
            <a:r>
              <a:rPr lang="de-DE" sz="2400" dirty="0"/>
              <a:t>und Bedingung p erfüllt ist, </a:t>
            </a:r>
            <a:br>
              <a:rPr lang="de-DE" sz="2400" dirty="0"/>
            </a:br>
            <a:r>
              <a:rPr lang="de-DE" sz="2400" dirty="0"/>
              <a:t>gelangt der Automat in den Zustand Z. 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Während der Transition wird </a:t>
            </a:r>
            <a:r>
              <a:rPr lang="de-DE" sz="2400" b="1" dirty="0">
                <a:solidFill>
                  <a:srgbClr val="0000FF"/>
                </a:solidFill>
              </a:rPr>
              <a:t>einmalig</a:t>
            </a:r>
            <a:br>
              <a:rPr lang="de-DE" sz="2400" dirty="0">
                <a:solidFill>
                  <a:srgbClr val="0000FF"/>
                </a:solidFill>
              </a:rPr>
            </a:br>
            <a:r>
              <a:rPr lang="de-DE" sz="2400" dirty="0">
                <a:solidFill>
                  <a:srgbClr val="0000FF"/>
                </a:solidFill>
              </a:rPr>
              <a:t> </a:t>
            </a:r>
            <a:r>
              <a:rPr lang="de-DE" sz="2400" dirty="0">
                <a:solidFill>
                  <a:srgbClr val="00B0F0"/>
                </a:solidFill>
              </a:rPr>
              <a:t>Ereignis a </a:t>
            </a:r>
            <a:r>
              <a:rPr lang="de-DE" sz="2400" dirty="0">
                <a:solidFill>
                  <a:srgbClr val="0000FF"/>
                </a:solidFill>
              </a:rPr>
              <a:t>gesendet (genau ein Takt).</a:t>
            </a:r>
          </a:p>
        </p:txBody>
      </p:sp>
      <p:sp>
        <p:nvSpPr>
          <p:cNvPr id="18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9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9</a:t>
            </a:fld>
            <a:r>
              <a:rPr lang="de-DE"/>
              <a:t> </a:t>
            </a:r>
          </a:p>
        </p:txBody>
      </p:sp>
      <p:sp>
        <p:nvSpPr>
          <p:cNvPr id="229380" name="Text Box 4"/>
          <p:cNvSpPr txBox="1">
            <a:spLocks noChangeArrowheads="1"/>
          </p:cNvSpPr>
          <p:nvPr/>
        </p:nvSpPr>
        <p:spPr bwMode="auto">
          <a:xfrm>
            <a:off x="8455687" y="2558542"/>
            <a:ext cx="389850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dirty="0"/>
              <a:t>X</a:t>
            </a:r>
            <a:endParaRPr lang="de-DE" dirty="0"/>
          </a:p>
        </p:txBody>
      </p:sp>
      <p:sp>
        <p:nvSpPr>
          <p:cNvPr id="229381" name="Text Box 5"/>
          <p:cNvSpPr txBox="1">
            <a:spLocks noChangeArrowheads="1"/>
          </p:cNvSpPr>
          <p:nvPr/>
        </p:nvSpPr>
        <p:spPr bwMode="auto">
          <a:xfrm>
            <a:off x="8455687" y="4574667"/>
            <a:ext cx="372218" cy="46166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dirty="0"/>
              <a:t>Z</a:t>
            </a:r>
            <a:endParaRPr lang="de-DE" dirty="0"/>
          </a:p>
        </p:txBody>
      </p:sp>
      <p:sp>
        <p:nvSpPr>
          <p:cNvPr id="229382" name="Text Box 6"/>
          <p:cNvSpPr txBox="1">
            <a:spLocks noChangeArrowheads="1"/>
          </p:cNvSpPr>
          <p:nvPr/>
        </p:nvSpPr>
        <p:spPr bwMode="auto">
          <a:xfrm>
            <a:off x="10614687" y="3495167"/>
            <a:ext cx="389850" cy="46166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dirty="0"/>
              <a:t>Y</a:t>
            </a:r>
            <a:endParaRPr lang="de-DE" dirty="0"/>
          </a:p>
        </p:txBody>
      </p:sp>
      <p:sp>
        <p:nvSpPr>
          <p:cNvPr id="229387" name="Line 11"/>
          <p:cNvSpPr>
            <a:spLocks noChangeShapeType="1"/>
          </p:cNvSpPr>
          <p:nvPr/>
        </p:nvSpPr>
        <p:spPr bwMode="auto">
          <a:xfrm>
            <a:off x="8671587" y="3279265"/>
            <a:ext cx="0" cy="1223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29388" name="Arc 12"/>
          <p:cNvSpPr>
            <a:spLocks/>
          </p:cNvSpPr>
          <p:nvPr/>
        </p:nvSpPr>
        <p:spPr bwMode="auto">
          <a:xfrm>
            <a:off x="9031949" y="2774442"/>
            <a:ext cx="1728788" cy="9366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214"/>
              <a:gd name="T1" fmla="*/ 0 h 21600"/>
              <a:gd name="T2" fmla="*/ 20214 w 20214"/>
              <a:gd name="T3" fmla="*/ 13987 h 21600"/>
              <a:gd name="T4" fmla="*/ 0 w 2021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14" h="21600" fill="none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</a:path>
              <a:path w="20214" h="21600" stroke="0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29389" name="Arc 13"/>
          <p:cNvSpPr>
            <a:spLocks/>
          </p:cNvSpPr>
          <p:nvPr/>
        </p:nvSpPr>
        <p:spPr bwMode="auto">
          <a:xfrm flipV="1">
            <a:off x="9031949" y="3711067"/>
            <a:ext cx="1943100" cy="13684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214"/>
              <a:gd name="T1" fmla="*/ 0 h 21600"/>
              <a:gd name="T2" fmla="*/ 20214 w 20214"/>
              <a:gd name="T3" fmla="*/ 13987 h 21600"/>
              <a:gd name="T4" fmla="*/ 0 w 2021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14" h="21600" fill="none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</a:path>
              <a:path w="20214" h="21600" stroke="0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29391" name="Arc 15"/>
          <p:cNvSpPr>
            <a:spLocks/>
          </p:cNvSpPr>
          <p:nvPr/>
        </p:nvSpPr>
        <p:spPr bwMode="auto">
          <a:xfrm rot="-3066553">
            <a:off x="9121645" y="4005548"/>
            <a:ext cx="1584325" cy="10080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214"/>
              <a:gd name="T1" fmla="*/ 0 h 21600"/>
              <a:gd name="T2" fmla="*/ 20214 w 20214"/>
              <a:gd name="T3" fmla="*/ 13987 h 21600"/>
              <a:gd name="T4" fmla="*/ 0 w 2021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14" h="21600" fill="none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</a:path>
              <a:path w="20214" h="21600" stroke="0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lg" len="lg"/>
            <a:tailEnd type="non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29392" name="Arc 16"/>
          <p:cNvSpPr>
            <a:spLocks/>
          </p:cNvSpPr>
          <p:nvPr/>
        </p:nvSpPr>
        <p:spPr bwMode="auto">
          <a:xfrm rot="-10800000">
            <a:off x="9031949" y="2774442"/>
            <a:ext cx="1511300" cy="9366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0214"/>
              <a:gd name="T1" fmla="*/ 0 h 21600"/>
              <a:gd name="T2" fmla="*/ 20214 w 20214"/>
              <a:gd name="T3" fmla="*/ 13987 h 21600"/>
              <a:gd name="T4" fmla="*/ 0 w 2021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14" h="21600" fill="none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</a:path>
              <a:path w="20214" h="21600" stroke="0" extrusionOk="0">
                <a:moveTo>
                  <a:pt x="-1" y="0"/>
                </a:moveTo>
                <a:cubicBezTo>
                  <a:pt x="8992" y="0"/>
                  <a:pt x="17044" y="5571"/>
                  <a:pt x="20213" y="13987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29393" name="Text Box 17"/>
          <p:cNvSpPr txBox="1">
            <a:spLocks noChangeArrowheads="1"/>
          </p:cNvSpPr>
          <p:nvPr/>
        </p:nvSpPr>
        <p:spPr bwMode="auto">
          <a:xfrm>
            <a:off x="9824112" y="2487102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/>
              <a:t>h</a:t>
            </a:r>
          </a:p>
        </p:txBody>
      </p:sp>
      <p:sp>
        <p:nvSpPr>
          <p:cNvPr id="229394" name="Text Box 18"/>
          <p:cNvSpPr txBox="1">
            <a:spLocks noChangeArrowheads="1"/>
          </p:cNvSpPr>
          <p:nvPr/>
        </p:nvSpPr>
        <p:spPr bwMode="auto">
          <a:xfrm>
            <a:off x="9606624" y="3134802"/>
            <a:ext cx="26828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/>
              <a:t>f</a:t>
            </a:r>
          </a:p>
        </p:txBody>
      </p:sp>
      <p:sp>
        <p:nvSpPr>
          <p:cNvPr id="229395" name="Text Box 19"/>
          <p:cNvSpPr txBox="1">
            <a:spLocks noChangeArrowheads="1"/>
          </p:cNvSpPr>
          <p:nvPr/>
        </p:nvSpPr>
        <p:spPr bwMode="auto">
          <a:xfrm>
            <a:off x="9966987" y="4430202"/>
            <a:ext cx="35401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/>
              <a:t>h</a:t>
            </a:r>
          </a:p>
        </p:txBody>
      </p:sp>
      <p:sp>
        <p:nvSpPr>
          <p:cNvPr id="229396" name="Text Box 20"/>
          <p:cNvSpPr txBox="1">
            <a:spLocks noChangeArrowheads="1"/>
          </p:cNvSpPr>
          <p:nvPr/>
        </p:nvSpPr>
        <p:spPr bwMode="auto">
          <a:xfrm>
            <a:off x="9298651" y="3846002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/>
              <a:t>g</a:t>
            </a:r>
          </a:p>
        </p:txBody>
      </p:sp>
      <p:sp>
        <p:nvSpPr>
          <p:cNvPr id="229397" name="Text Box 21"/>
          <p:cNvSpPr txBox="1">
            <a:spLocks noChangeArrowheads="1"/>
          </p:cNvSpPr>
          <p:nvPr/>
        </p:nvSpPr>
        <p:spPr bwMode="auto">
          <a:xfrm>
            <a:off x="7644679" y="3639231"/>
            <a:ext cx="95410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dirty="0"/>
              <a:t>e[p]/</a:t>
            </a:r>
            <a:r>
              <a:rPr lang="de-DE" sz="2400" dirty="0">
                <a:solidFill>
                  <a:srgbClr val="00B0F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34275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2399" y="1031240"/>
            <a:ext cx="6950614" cy="984885"/>
          </a:xfrm>
        </p:spPr>
        <p:txBody>
          <a:bodyPr/>
          <a:lstStyle/>
          <a:p>
            <a:r>
              <a:rPr lang="de-DE" dirty="0"/>
              <a:t>Mathematisches Modell (Syntax)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>
              <a:xfrm>
                <a:off x="373024" y="1761372"/>
                <a:ext cx="11124111" cy="3308598"/>
              </a:xfrm>
            </p:spPr>
            <p:txBody>
              <a:bodyPr/>
              <a:lstStyle/>
              <a:p>
                <a:pPr algn="ctr"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i="1">
                          <a:latin typeface="Cambria Math" panose="02040503050406030204" pitchFamily="18" charset="0"/>
                        </a:rPr>
                        <m:t>𝐸𝐴</m:t>
                      </m:r>
                      <m:r>
                        <a:rPr lang="de-DE" sz="32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de-DE" sz="32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sz="32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de-DE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DE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3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de-DE" sz="320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de-DE" sz="32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de-DE" sz="320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de-DE" sz="32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32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de-DE" sz="32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32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sz="3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3200" dirty="0"/>
              </a:p>
              <a:p>
                <a:pPr algn="just">
                  <a:buNone/>
                </a:pPr>
                <a14:m>
                  <m:oMath xmlns:m="http://schemas.openxmlformats.org/officeDocument/2006/math">
                    <m:r>
                      <a:rPr lang="de-DE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de-DE" sz="2800" i="1" dirty="0"/>
                  <a:t> </a:t>
                </a:r>
                <a:r>
                  <a:rPr lang="de-DE" sz="2800" dirty="0"/>
                  <a:t> 	endliche Menge an </a:t>
                </a:r>
                <a:r>
                  <a:rPr lang="de-DE" sz="2800" dirty="0">
                    <a:solidFill>
                      <a:srgbClr val="0000FF"/>
                    </a:solidFill>
                  </a:rPr>
                  <a:t>Zuständen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2800" dirty="0"/>
                  <a:t> 	eindeutiger </a:t>
                </a:r>
                <a:r>
                  <a:rPr lang="de-DE" sz="2800" dirty="0">
                    <a:solidFill>
                      <a:srgbClr val="0000FF"/>
                    </a:solidFill>
                  </a:rPr>
                  <a:t>Startzustand</a:t>
                </a:r>
                <a:r>
                  <a:rPr lang="de-DE" sz="2800" dirty="0"/>
                  <a:t> (aus </a:t>
                </a:r>
                <a14:m>
                  <m:oMath xmlns:m="http://schemas.openxmlformats.org/officeDocument/2006/math">
                    <m:r>
                      <a:rPr lang="de-DE" sz="28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de-DE" sz="2800" dirty="0"/>
                  <a:t>)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de-DE" sz="2800" dirty="0">
                    <a:solidFill>
                      <a:srgbClr val="0000FF"/>
                    </a:solidFill>
                  </a:rPr>
                  <a:t> </a:t>
                </a:r>
                <a:r>
                  <a:rPr lang="de-DE" sz="2800" dirty="0"/>
                  <a:t>	endliche Menge an </a:t>
                </a:r>
                <a:r>
                  <a:rPr lang="de-DE" sz="2800" dirty="0">
                    <a:solidFill>
                      <a:srgbClr val="0000FF"/>
                    </a:solidFill>
                  </a:rPr>
                  <a:t>Eingabeereignissen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de-DE" sz="2800" dirty="0">
                    <a:solidFill>
                      <a:srgbClr val="0000FF"/>
                    </a:solidFill>
                  </a:rPr>
                  <a:t> 	</a:t>
                </a:r>
                <a:r>
                  <a:rPr lang="de-DE" sz="2800" dirty="0"/>
                  <a:t> endliche Menge an </a:t>
                </a:r>
                <a:r>
                  <a:rPr lang="de-DE" sz="2800" dirty="0">
                    <a:solidFill>
                      <a:srgbClr val="0000FF"/>
                    </a:solidFill>
                  </a:rPr>
                  <a:t>Ausgabeereignissen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de-DE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de-DE" sz="2800" dirty="0">
                    <a:solidFill>
                      <a:srgbClr val="0000FF"/>
                    </a:solidFill>
                  </a:rPr>
                  <a:t> </a:t>
                </a:r>
                <a:r>
                  <a:rPr lang="de-DE" sz="2800" dirty="0"/>
                  <a:t>	</a:t>
                </a:r>
                <a:r>
                  <a:rPr lang="de-DE" sz="2800" dirty="0">
                    <a:solidFill>
                      <a:srgbClr val="0000FF"/>
                    </a:solidFill>
                  </a:rPr>
                  <a:t>Zustandsübergangsfunktion</a:t>
                </a:r>
                <a:r>
                  <a:rPr lang="de-DE" sz="2800" dirty="0"/>
                  <a:t> (</a:t>
                </a:r>
                <a14:m>
                  <m:oMath xmlns:m="http://schemas.openxmlformats.org/officeDocument/2006/math">
                    <m:r>
                      <a:rPr lang="de-DE" sz="2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800">
                        <a:latin typeface="Cambria Math" panose="02040503050406030204" pitchFamily="18" charset="0"/>
                      </a:rPr>
                      <m:t>Σ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de-DE" sz="2800" dirty="0"/>
                  <a:t>)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de-DE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l-GR" sz="2800" dirty="0"/>
                  <a:t> </a:t>
                </a:r>
                <a:r>
                  <a:rPr lang="de-DE" sz="2800" dirty="0"/>
                  <a:t> 	</a:t>
                </a:r>
                <a:r>
                  <a:rPr lang="de-DE" sz="2800" dirty="0">
                    <a:solidFill>
                      <a:srgbClr val="0000FF"/>
                    </a:solidFill>
                  </a:rPr>
                  <a:t>Ausgabefunktion</a:t>
                </a:r>
                <a:r>
                  <a:rPr lang="de-DE" sz="2800" b="1" dirty="0"/>
                  <a:t> </a:t>
                </a:r>
                <a:r>
                  <a:rPr lang="de-DE" sz="2800" dirty="0"/>
                  <a:t>(</a:t>
                </a:r>
                <a14:m>
                  <m:oMath xmlns:m="http://schemas.openxmlformats.org/officeDocument/2006/math">
                    <m:r>
                      <a:rPr lang="de-DE" sz="2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800">
                        <a:latin typeface="Cambria Math" panose="02040503050406030204" pitchFamily="18" charset="0"/>
                      </a:rPr>
                      <m:t>Σ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de-DE" sz="2800">
                        <a:latin typeface="Cambria Math" panose="02040503050406030204" pitchFamily="18" charset="0"/>
                      </a:rPr>
                      <m:t>Γ</m:t>
                    </m:r>
                    <m:r>
                      <a:rPr lang="de-DE" sz="28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2800" dirty="0"/>
                  <a:t> </a:t>
                </a:r>
                <a:r>
                  <a:rPr lang="de-DE" sz="2800" dirty="0"/>
                  <a:t>oder </a:t>
                </a:r>
                <a14:m>
                  <m:oMath xmlns:m="http://schemas.openxmlformats.org/officeDocument/2006/math">
                    <m:r>
                      <a:rPr lang="de-DE" sz="2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de-DE" sz="2800">
                        <a:latin typeface="Cambria Math" panose="02040503050406030204" pitchFamily="18" charset="0"/>
                      </a:rPr>
                      <m:t>Γ</m:t>
                    </m:r>
                    <m:r>
                      <a:rPr lang="de-DE" sz="28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2800" dirty="0"/>
                  <a:t>)</a:t>
                </a:r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024" y="1761372"/>
                <a:ext cx="11124111" cy="3308598"/>
              </a:xfrm>
              <a:blipFill>
                <a:blip r:embed="rId2"/>
                <a:stretch>
                  <a:fillRect l="-1140" t="-382" b="-534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10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4390925" y="5392482"/>
            <a:ext cx="100700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2400" dirty="0" err="1">
                <a:solidFill>
                  <a:srgbClr val="00B050"/>
                </a:solidFill>
              </a:rPr>
              <a:t>Mealy</a:t>
            </a:r>
            <a:endParaRPr lang="de-DE" sz="2400" dirty="0">
              <a:solidFill>
                <a:srgbClr val="00B050"/>
              </a:solidFill>
            </a:endParaRPr>
          </a:p>
        </p:txBody>
      </p:sp>
      <p:cxnSp>
        <p:nvCxnSpPr>
          <p:cNvPr id="11" name="Gerade Verbindung mit Pfeil 10"/>
          <p:cNvCxnSpPr/>
          <p:nvPr/>
        </p:nvCxnSpPr>
        <p:spPr>
          <a:xfrm flipV="1">
            <a:off x="4894427" y="5104450"/>
            <a:ext cx="552" cy="30303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6102350" y="5407489"/>
            <a:ext cx="105830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rgbClr val="00B0F0"/>
                </a:solidFill>
              </a:rPr>
              <a:t>Moore</a:t>
            </a:r>
          </a:p>
        </p:txBody>
      </p:sp>
      <p:cxnSp>
        <p:nvCxnSpPr>
          <p:cNvPr id="15" name="Gerade Verbindung mit Pfeil 14"/>
          <p:cNvCxnSpPr/>
          <p:nvPr/>
        </p:nvCxnSpPr>
        <p:spPr>
          <a:xfrm flipV="1">
            <a:off x="6758020" y="5073407"/>
            <a:ext cx="552" cy="30303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01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1791" y="834971"/>
            <a:ext cx="40639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75" dirty="0"/>
              <a:t>Beispiel:</a:t>
            </a:r>
            <a:r>
              <a:rPr spc="-210" dirty="0"/>
              <a:t> </a:t>
            </a:r>
            <a:r>
              <a:rPr spc="-170" dirty="0"/>
              <a:t>Drehsperre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791" y="1854580"/>
            <a:ext cx="5737708" cy="435311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spcBef>
                <a:spcPts val="745"/>
              </a:spcBef>
            </a:pPr>
            <a:r>
              <a:rPr sz="2800" b="1" spc="-85" dirty="0">
                <a:latin typeface="Arial"/>
                <a:cs typeface="Arial"/>
              </a:rPr>
              <a:t>Bestandteile:</a:t>
            </a:r>
            <a:endParaRPr sz="2800" dirty="0">
              <a:latin typeface="Arial"/>
              <a:cs typeface="Arial"/>
            </a:endParaRPr>
          </a:p>
          <a:p>
            <a:pPr marL="241300" marR="624840" indent="-228600">
              <a:lnSpc>
                <a:spcPts val="2160"/>
              </a:lnSpc>
              <a:spcBef>
                <a:spcPts val="106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1300" algn="l"/>
              </a:tabLst>
            </a:pPr>
            <a:r>
              <a:rPr sz="2400" b="1" spc="-145" dirty="0">
                <a:latin typeface="Arial"/>
                <a:cs typeface="Arial"/>
              </a:rPr>
              <a:t>Münzeingabe: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akzeptiert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nur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1€-</a:t>
            </a:r>
            <a:r>
              <a:rPr sz="2400" spc="-10" dirty="0">
                <a:latin typeface="Arial"/>
                <a:cs typeface="Arial"/>
              </a:rPr>
              <a:t>Münzen</a:t>
            </a:r>
            <a:endParaRPr sz="2400" dirty="0">
              <a:latin typeface="Arial"/>
              <a:cs typeface="Arial"/>
            </a:endParaRPr>
          </a:p>
          <a:p>
            <a:pPr marL="240665" indent="-227965">
              <a:lnSpc>
                <a:spcPts val="2280"/>
              </a:lnSpc>
              <a:spcBef>
                <a:spcPts val="73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400" b="1" spc="-195" dirty="0">
                <a:latin typeface="Arial"/>
                <a:cs typeface="Arial"/>
              </a:rPr>
              <a:t>Bewegungssensor: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wird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aktiviert,</a:t>
            </a:r>
            <a:endParaRPr sz="2400" dirty="0">
              <a:latin typeface="Arial"/>
              <a:cs typeface="Arial"/>
            </a:endParaRPr>
          </a:p>
          <a:p>
            <a:pPr marL="241300">
              <a:lnSpc>
                <a:spcPts val="2280"/>
              </a:lnSpc>
            </a:pPr>
            <a:r>
              <a:rPr sz="2400" spc="-80" dirty="0">
                <a:latin typeface="Arial"/>
                <a:cs typeface="Arial"/>
              </a:rPr>
              <a:t>wenn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sich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die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Sperre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um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120°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dreht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1985"/>
              </a:spcBef>
            </a:pPr>
            <a:endParaRPr sz="2400" dirty="0">
              <a:latin typeface="Arial"/>
              <a:cs typeface="Arial"/>
            </a:endParaRPr>
          </a:p>
          <a:p>
            <a:pPr marL="12700"/>
            <a:r>
              <a:rPr sz="2800" b="1" spc="-35" dirty="0">
                <a:latin typeface="Arial"/>
                <a:cs typeface="Arial"/>
              </a:rPr>
              <a:t>Verhalten</a:t>
            </a:r>
            <a:r>
              <a:rPr sz="2800" spc="-35" dirty="0"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L="240665" indent="-227965">
              <a:lnSpc>
                <a:spcPts val="2280"/>
              </a:lnSpc>
              <a:spcBef>
                <a:spcPts val="78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400" spc="-45" dirty="0">
                <a:latin typeface="Arial"/>
                <a:cs typeface="Arial"/>
              </a:rPr>
              <a:t>Wird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eine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b="1" spc="-120" dirty="0">
                <a:latin typeface="Arial"/>
                <a:cs typeface="Arial"/>
              </a:rPr>
              <a:t>Münze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-125" dirty="0">
                <a:latin typeface="Arial"/>
                <a:cs typeface="Arial"/>
              </a:rPr>
              <a:t>eingeworfen</a:t>
            </a:r>
            <a:r>
              <a:rPr sz="2400" spc="-125" dirty="0">
                <a:latin typeface="Arial"/>
                <a:cs typeface="Arial"/>
              </a:rPr>
              <a:t>,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soll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die</a:t>
            </a:r>
            <a:endParaRPr sz="2400" dirty="0">
              <a:latin typeface="Arial"/>
              <a:cs typeface="Arial"/>
            </a:endParaRPr>
          </a:p>
          <a:p>
            <a:pPr marL="241300">
              <a:lnSpc>
                <a:spcPts val="2280"/>
              </a:lnSpc>
            </a:pPr>
            <a:r>
              <a:rPr sz="2400" b="1" spc="-145" dirty="0">
                <a:latin typeface="Arial"/>
                <a:cs typeface="Arial"/>
              </a:rPr>
              <a:t>Drehsperre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0" dirty="0">
                <a:latin typeface="Arial"/>
                <a:cs typeface="Arial"/>
              </a:rPr>
              <a:t>entriegelt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werden.</a:t>
            </a:r>
            <a:endParaRPr sz="2400" dirty="0">
              <a:latin typeface="Arial"/>
              <a:cs typeface="Arial"/>
            </a:endParaRPr>
          </a:p>
          <a:p>
            <a:pPr marL="240665" indent="-227965">
              <a:lnSpc>
                <a:spcPts val="2280"/>
              </a:lnSpc>
              <a:spcBef>
                <a:spcPts val="75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400" spc="-105" dirty="0">
                <a:latin typeface="Arial"/>
                <a:cs typeface="Arial"/>
              </a:rPr>
              <a:t>Während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einer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b="1" spc="-170" dirty="0">
                <a:latin typeface="Arial"/>
                <a:cs typeface="Arial"/>
              </a:rPr>
              <a:t>Drehung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soll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die</a:t>
            </a:r>
            <a:endParaRPr sz="2400" dirty="0">
              <a:latin typeface="Arial"/>
              <a:cs typeface="Arial"/>
            </a:endParaRPr>
          </a:p>
          <a:p>
            <a:pPr marL="241300">
              <a:lnSpc>
                <a:spcPts val="2280"/>
              </a:lnSpc>
            </a:pPr>
            <a:r>
              <a:rPr sz="2400" b="1" spc="-145" dirty="0">
                <a:latin typeface="Arial"/>
                <a:cs typeface="Arial"/>
              </a:rPr>
              <a:t>Drehsperre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110" dirty="0">
                <a:latin typeface="Arial"/>
                <a:cs typeface="Arial"/>
              </a:rPr>
              <a:t>verriegelt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sein.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4" name="object 4" descr="Ein Bild, das drinnen enthält.  Automatisch generierte Beschreibu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7650" y="1854580"/>
            <a:ext cx="3086100" cy="41788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64728" y="6063970"/>
            <a:ext cx="777240" cy="904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5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Quelle:</a:t>
            </a:r>
            <a:r>
              <a:rPr sz="500" u="sng" spc="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 </a:t>
            </a:r>
            <a:r>
              <a:rPr sz="5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Wikimedia</a:t>
            </a:r>
            <a:r>
              <a:rPr sz="5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 </a:t>
            </a:r>
            <a:r>
              <a:rPr sz="5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Commons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05397" y="1616688"/>
            <a:ext cx="3469004" cy="4872355"/>
          </a:xfrm>
          <a:custGeom>
            <a:avLst/>
            <a:gdLst/>
            <a:ahLst/>
            <a:cxnLst/>
            <a:rect l="l" t="t" r="r" b="b"/>
            <a:pathLst>
              <a:path w="3469004" h="4872355">
                <a:moveTo>
                  <a:pt x="0" y="157225"/>
                </a:moveTo>
                <a:lnTo>
                  <a:pt x="8012" y="107517"/>
                </a:lnTo>
                <a:lnTo>
                  <a:pt x="30325" y="64355"/>
                </a:lnTo>
                <a:lnTo>
                  <a:pt x="64355" y="30325"/>
                </a:lnTo>
                <a:lnTo>
                  <a:pt x="107517" y="8012"/>
                </a:lnTo>
                <a:lnTo>
                  <a:pt x="157225" y="0"/>
                </a:lnTo>
                <a:lnTo>
                  <a:pt x="3311398" y="0"/>
                </a:lnTo>
                <a:lnTo>
                  <a:pt x="3361106" y="8012"/>
                </a:lnTo>
                <a:lnTo>
                  <a:pt x="3404268" y="30325"/>
                </a:lnTo>
                <a:lnTo>
                  <a:pt x="3438298" y="64355"/>
                </a:lnTo>
                <a:lnTo>
                  <a:pt x="3460611" y="107517"/>
                </a:lnTo>
                <a:lnTo>
                  <a:pt x="3468624" y="157225"/>
                </a:lnTo>
                <a:lnTo>
                  <a:pt x="3468624" y="4714989"/>
                </a:lnTo>
                <a:lnTo>
                  <a:pt x="3460611" y="4764689"/>
                </a:lnTo>
                <a:lnTo>
                  <a:pt x="3438298" y="4807853"/>
                </a:lnTo>
                <a:lnTo>
                  <a:pt x="3404268" y="4841890"/>
                </a:lnTo>
                <a:lnTo>
                  <a:pt x="3361106" y="4864212"/>
                </a:lnTo>
                <a:lnTo>
                  <a:pt x="3311398" y="4872228"/>
                </a:lnTo>
                <a:lnTo>
                  <a:pt x="157225" y="4872228"/>
                </a:lnTo>
                <a:lnTo>
                  <a:pt x="107517" y="4864212"/>
                </a:lnTo>
                <a:lnTo>
                  <a:pt x="64355" y="4841890"/>
                </a:lnTo>
                <a:lnTo>
                  <a:pt x="30325" y="4807853"/>
                </a:lnTo>
                <a:lnTo>
                  <a:pt x="8012" y="4764689"/>
                </a:lnTo>
                <a:lnTo>
                  <a:pt x="0" y="4714989"/>
                </a:lnTo>
                <a:lnTo>
                  <a:pt x="0" y="157225"/>
                </a:lnTo>
                <a:close/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8299" y="918489"/>
            <a:ext cx="40639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75" dirty="0"/>
              <a:t>Beispiel:</a:t>
            </a:r>
            <a:r>
              <a:rPr spc="-210" dirty="0"/>
              <a:t> </a:t>
            </a:r>
            <a:r>
              <a:rPr spc="-170" dirty="0"/>
              <a:t>Drehsperre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568299" y="2079484"/>
            <a:ext cx="5579620" cy="3368102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spcBef>
                <a:spcPts val="730"/>
              </a:spcBef>
            </a:pPr>
            <a:r>
              <a:rPr sz="2400" spc="-60" dirty="0"/>
              <a:t>Bestandteile:</a:t>
            </a:r>
          </a:p>
          <a:p>
            <a:pPr marL="241300" marR="5080" indent="-228600">
              <a:lnSpc>
                <a:spcPts val="1939"/>
              </a:lnSpc>
              <a:spcBef>
                <a:spcPts val="105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1300" algn="l"/>
              </a:tabLst>
            </a:pPr>
            <a:r>
              <a:rPr sz="2400" spc="-135" dirty="0"/>
              <a:t>Münzeingabe:</a:t>
            </a:r>
            <a:r>
              <a:rPr sz="2400" spc="-114" dirty="0"/>
              <a:t> </a:t>
            </a:r>
            <a:r>
              <a:rPr sz="2400" spc="-55" dirty="0">
                <a:cs typeface="Arial"/>
              </a:rPr>
              <a:t>akzeptiert</a:t>
            </a:r>
            <a:r>
              <a:rPr sz="2400" spc="-90" dirty="0">
                <a:cs typeface="Arial"/>
              </a:rPr>
              <a:t> </a:t>
            </a:r>
            <a:r>
              <a:rPr sz="2400" spc="-40" dirty="0">
                <a:cs typeface="Arial"/>
              </a:rPr>
              <a:t>nur</a:t>
            </a:r>
            <a:r>
              <a:rPr sz="2400" spc="-90" dirty="0">
                <a:cs typeface="Arial"/>
              </a:rPr>
              <a:t> </a:t>
            </a:r>
            <a:r>
              <a:rPr sz="2400" spc="-30" dirty="0">
                <a:cs typeface="Arial"/>
              </a:rPr>
              <a:t>1€-</a:t>
            </a:r>
            <a:r>
              <a:rPr sz="2400" spc="-10" dirty="0">
                <a:cs typeface="Arial"/>
              </a:rPr>
              <a:t>Münzen</a:t>
            </a:r>
            <a:endParaRPr sz="2400" dirty="0">
              <a:cs typeface="Arial"/>
            </a:endParaRPr>
          </a:p>
          <a:p>
            <a:pPr marL="241300" marR="250190" indent="-228600">
              <a:lnSpc>
                <a:spcPts val="1939"/>
              </a:lnSpc>
              <a:spcBef>
                <a:spcPts val="100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1300" algn="l"/>
              </a:tabLst>
            </a:pPr>
            <a:r>
              <a:rPr sz="2400" spc="-185" dirty="0"/>
              <a:t>Bewegungssensor:</a:t>
            </a:r>
            <a:r>
              <a:rPr sz="2400" spc="5" dirty="0"/>
              <a:t> </a:t>
            </a:r>
            <a:r>
              <a:rPr sz="2400" spc="-20" dirty="0">
                <a:cs typeface="Arial"/>
              </a:rPr>
              <a:t>wird </a:t>
            </a:r>
            <a:r>
              <a:rPr sz="2400" spc="-30" dirty="0">
                <a:cs typeface="Arial"/>
              </a:rPr>
              <a:t>aktiviert,</a:t>
            </a:r>
            <a:r>
              <a:rPr sz="2400" spc="-75" dirty="0">
                <a:cs typeface="Arial"/>
              </a:rPr>
              <a:t> wenn</a:t>
            </a:r>
            <a:r>
              <a:rPr sz="2400" spc="-65" dirty="0">
                <a:cs typeface="Arial"/>
              </a:rPr>
              <a:t> </a:t>
            </a:r>
            <a:r>
              <a:rPr sz="2400" spc="-100" dirty="0">
                <a:cs typeface="Arial"/>
              </a:rPr>
              <a:t>sich</a:t>
            </a:r>
            <a:r>
              <a:rPr sz="2400" spc="-60" dirty="0">
                <a:cs typeface="Arial"/>
              </a:rPr>
              <a:t> die</a:t>
            </a:r>
            <a:r>
              <a:rPr sz="2400" spc="-65" dirty="0">
                <a:cs typeface="Arial"/>
              </a:rPr>
              <a:t> </a:t>
            </a:r>
            <a:r>
              <a:rPr sz="2400" spc="-90" dirty="0">
                <a:cs typeface="Arial"/>
              </a:rPr>
              <a:t>Sperre </a:t>
            </a:r>
            <a:r>
              <a:rPr sz="2400" spc="-70" dirty="0">
                <a:cs typeface="Arial"/>
              </a:rPr>
              <a:t>um</a:t>
            </a:r>
            <a:r>
              <a:rPr sz="2400" spc="-75" dirty="0">
                <a:cs typeface="Arial"/>
              </a:rPr>
              <a:t> </a:t>
            </a:r>
            <a:r>
              <a:rPr sz="2400" spc="-105" dirty="0">
                <a:cs typeface="Arial"/>
              </a:rPr>
              <a:t>120°</a:t>
            </a:r>
            <a:r>
              <a:rPr sz="2400" spc="-60" dirty="0">
                <a:cs typeface="Arial"/>
              </a:rPr>
              <a:t> </a:t>
            </a:r>
            <a:r>
              <a:rPr sz="2400" spc="-20" dirty="0">
                <a:cs typeface="Arial"/>
              </a:rPr>
              <a:t>dreht</a:t>
            </a:r>
            <a:endParaRPr sz="2400" dirty="0">
              <a:cs typeface="Arial"/>
            </a:endParaRPr>
          </a:p>
          <a:p>
            <a:pPr marL="12700">
              <a:spcBef>
                <a:spcPts val="730"/>
              </a:spcBef>
            </a:pPr>
            <a:r>
              <a:rPr sz="2400" spc="-10" dirty="0"/>
              <a:t>Verhalten</a:t>
            </a:r>
            <a:r>
              <a:rPr sz="2400" spc="-10" dirty="0">
                <a:cs typeface="Arial"/>
              </a:rPr>
              <a:t>:</a:t>
            </a:r>
          </a:p>
          <a:p>
            <a:pPr marL="241300" marR="148590" indent="-228600">
              <a:lnSpc>
                <a:spcPct val="90100"/>
              </a:lnSpc>
              <a:spcBef>
                <a:spcPts val="101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1300" algn="l"/>
              </a:tabLst>
            </a:pPr>
            <a:r>
              <a:rPr sz="2400" spc="-50" dirty="0">
                <a:cs typeface="Arial"/>
              </a:rPr>
              <a:t>Wird </a:t>
            </a:r>
            <a:r>
              <a:rPr sz="2400" spc="-75" dirty="0">
                <a:cs typeface="Arial"/>
              </a:rPr>
              <a:t>eine</a:t>
            </a:r>
            <a:r>
              <a:rPr sz="2400" spc="-40" dirty="0">
                <a:cs typeface="Arial"/>
              </a:rPr>
              <a:t> </a:t>
            </a:r>
            <a:r>
              <a:rPr sz="2400" spc="-114" dirty="0"/>
              <a:t>Münze</a:t>
            </a:r>
            <a:r>
              <a:rPr sz="2400" spc="-85" dirty="0"/>
              <a:t> </a:t>
            </a:r>
            <a:r>
              <a:rPr sz="2400" spc="-110" dirty="0"/>
              <a:t>eingeworfen</a:t>
            </a:r>
            <a:r>
              <a:rPr sz="2400" spc="-110" dirty="0">
                <a:cs typeface="Arial"/>
              </a:rPr>
              <a:t>, </a:t>
            </a:r>
            <a:r>
              <a:rPr sz="2400" spc="-70" dirty="0">
                <a:cs typeface="Arial"/>
              </a:rPr>
              <a:t>soll</a:t>
            </a:r>
            <a:r>
              <a:rPr sz="2400" spc="-60" dirty="0">
                <a:cs typeface="Arial"/>
              </a:rPr>
              <a:t> </a:t>
            </a:r>
            <a:r>
              <a:rPr sz="2400" spc="-50" dirty="0">
                <a:cs typeface="Arial"/>
              </a:rPr>
              <a:t>die </a:t>
            </a:r>
            <a:r>
              <a:rPr sz="2400" spc="-135" dirty="0"/>
              <a:t>Drehsperre</a:t>
            </a:r>
            <a:r>
              <a:rPr sz="2400" spc="-70" dirty="0"/>
              <a:t> </a:t>
            </a:r>
            <a:r>
              <a:rPr sz="2400" spc="-10" dirty="0"/>
              <a:t>entriegelt </a:t>
            </a:r>
            <a:r>
              <a:rPr sz="2400" spc="-10" dirty="0">
                <a:cs typeface="Arial"/>
              </a:rPr>
              <a:t>werden.</a:t>
            </a:r>
            <a:endParaRPr sz="2400" dirty="0">
              <a:cs typeface="Arial"/>
            </a:endParaRPr>
          </a:p>
          <a:p>
            <a:pPr marL="240665" indent="-227965">
              <a:lnSpc>
                <a:spcPts val="2050"/>
              </a:lnSpc>
              <a:spcBef>
                <a:spcPts val="780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sz="2400" spc="-95" dirty="0">
                <a:cs typeface="Arial"/>
              </a:rPr>
              <a:t>Während</a:t>
            </a:r>
            <a:r>
              <a:rPr sz="2400" spc="-35" dirty="0">
                <a:cs typeface="Arial"/>
              </a:rPr>
              <a:t> </a:t>
            </a:r>
            <a:r>
              <a:rPr sz="2400" spc="-55" dirty="0">
                <a:cs typeface="Arial"/>
              </a:rPr>
              <a:t>einer</a:t>
            </a:r>
            <a:r>
              <a:rPr sz="2400" spc="-30" dirty="0">
                <a:cs typeface="Arial"/>
              </a:rPr>
              <a:t> </a:t>
            </a:r>
            <a:r>
              <a:rPr sz="2400" spc="-155" dirty="0"/>
              <a:t>Drehung</a:t>
            </a:r>
            <a:r>
              <a:rPr sz="2400" spc="-85" dirty="0"/>
              <a:t> </a:t>
            </a:r>
            <a:r>
              <a:rPr sz="2400" spc="-70" dirty="0">
                <a:cs typeface="Arial"/>
              </a:rPr>
              <a:t>soll</a:t>
            </a:r>
            <a:r>
              <a:rPr sz="2400" spc="-55" dirty="0">
                <a:cs typeface="Arial"/>
              </a:rPr>
              <a:t> </a:t>
            </a:r>
            <a:r>
              <a:rPr sz="2400" spc="-25" dirty="0">
                <a:cs typeface="Arial"/>
              </a:rPr>
              <a:t>die</a:t>
            </a:r>
            <a:endParaRPr sz="2400" dirty="0">
              <a:cs typeface="Arial"/>
            </a:endParaRPr>
          </a:p>
          <a:p>
            <a:pPr marL="241300">
              <a:lnSpc>
                <a:spcPts val="2050"/>
              </a:lnSpc>
            </a:pPr>
            <a:r>
              <a:rPr sz="2400" spc="-135" dirty="0"/>
              <a:t>Drehsperre</a:t>
            </a:r>
            <a:r>
              <a:rPr sz="2400" spc="-60" dirty="0"/>
              <a:t> </a:t>
            </a:r>
            <a:r>
              <a:rPr sz="2400" spc="-110" dirty="0"/>
              <a:t>verriegelt</a:t>
            </a:r>
            <a:r>
              <a:rPr sz="2400" spc="-40" dirty="0"/>
              <a:t> </a:t>
            </a:r>
            <a:r>
              <a:rPr sz="2400" spc="-20" dirty="0">
                <a:cs typeface="Arial"/>
              </a:rPr>
              <a:t>sein.</a:t>
            </a:r>
            <a:endParaRPr sz="2400" dirty="0"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92975" y="1535865"/>
            <a:ext cx="2811780" cy="3066224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6830">
              <a:spcBef>
                <a:spcPts val="790"/>
              </a:spcBef>
            </a:pPr>
            <a:r>
              <a:rPr sz="2200" b="1" spc="-75" dirty="0">
                <a:latin typeface="Arial"/>
                <a:cs typeface="Arial"/>
              </a:rPr>
              <a:t>Zustände</a:t>
            </a:r>
            <a:endParaRPr sz="2200">
              <a:latin typeface="Arial"/>
              <a:cs typeface="Arial"/>
            </a:endParaRPr>
          </a:p>
          <a:p>
            <a:pPr marL="265430" indent="-228600">
              <a:spcBef>
                <a:spcPts val="810"/>
              </a:spcBef>
              <a:buSzPct val="108333"/>
              <a:buChar char="•"/>
              <a:tabLst>
                <a:tab pos="265430" algn="l"/>
              </a:tabLst>
            </a:pPr>
            <a:r>
              <a:rPr spc="-65" dirty="0">
                <a:latin typeface="Arial"/>
                <a:cs typeface="Arial"/>
              </a:rPr>
              <a:t>Verriegelt,</a:t>
            </a:r>
            <a:r>
              <a:rPr spc="-5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entriegelt</a:t>
            </a:r>
            <a:endParaRPr>
              <a:latin typeface="Arial"/>
              <a:cs typeface="Arial"/>
            </a:endParaRPr>
          </a:p>
          <a:p>
            <a:pPr marL="265430" indent="-228600">
              <a:spcBef>
                <a:spcPts val="780"/>
              </a:spcBef>
              <a:buSzPct val="108333"/>
              <a:buFont typeface="Arial"/>
              <a:buChar char="•"/>
              <a:tabLst>
                <a:tab pos="265430" algn="l"/>
              </a:tabLst>
            </a:pPr>
            <a:r>
              <a:rPr b="1" spc="-75" dirty="0">
                <a:latin typeface="Arial"/>
                <a:cs typeface="Arial"/>
              </a:rPr>
              <a:t>Initialer</a:t>
            </a:r>
            <a:r>
              <a:rPr b="1" spc="-90" dirty="0">
                <a:latin typeface="Arial"/>
                <a:cs typeface="Arial"/>
              </a:rPr>
              <a:t> </a:t>
            </a:r>
            <a:r>
              <a:rPr spc="-95" dirty="0">
                <a:latin typeface="Arial"/>
                <a:cs typeface="Arial"/>
              </a:rPr>
              <a:t>Zustand:</a:t>
            </a:r>
            <a:r>
              <a:rPr spc="-50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verriegelt</a:t>
            </a:r>
            <a:endParaRPr>
              <a:latin typeface="Arial"/>
              <a:cs typeface="Arial"/>
            </a:endParaRPr>
          </a:p>
          <a:p>
            <a:pPr>
              <a:spcBef>
                <a:spcPts val="590"/>
              </a:spcBef>
              <a:buFont typeface="Arial"/>
              <a:buChar char="•"/>
            </a:pPr>
            <a:endParaRPr>
              <a:latin typeface="Arial"/>
              <a:cs typeface="Arial"/>
            </a:endParaRPr>
          </a:p>
          <a:p>
            <a:pPr marL="36830"/>
            <a:r>
              <a:rPr sz="2200" b="1" spc="-120" dirty="0">
                <a:latin typeface="Arial"/>
                <a:cs typeface="Arial"/>
              </a:rPr>
              <a:t>Ereignisse</a:t>
            </a:r>
            <a:endParaRPr sz="2200">
              <a:latin typeface="Arial"/>
              <a:cs typeface="Arial"/>
            </a:endParaRPr>
          </a:p>
          <a:p>
            <a:pPr marL="265430" indent="-228600">
              <a:spcBef>
                <a:spcPts val="810"/>
              </a:spcBef>
              <a:buSzPct val="108333"/>
              <a:buChar char="•"/>
              <a:tabLst>
                <a:tab pos="265430" algn="l"/>
              </a:tabLst>
            </a:pPr>
            <a:r>
              <a:rPr spc="-80" dirty="0">
                <a:latin typeface="Arial"/>
                <a:cs typeface="Arial"/>
              </a:rPr>
              <a:t>Münze,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Drehung</a:t>
            </a:r>
            <a:endParaRPr>
              <a:latin typeface="Arial"/>
              <a:cs typeface="Arial"/>
            </a:endParaRPr>
          </a:p>
          <a:p>
            <a:pPr>
              <a:spcBef>
                <a:spcPts val="1440"/>
              </a:spcBef>
            </a:pPr>
            <a:endParaRPr>
              <a:latin typeface="Arial"/>
              <a:cs typeface="Arial"/>
            </a:endParaRPr>
          </a:p>
          <a:p>
            <a:pPr marL="12700"/>
            <a:r>
              <a:rPr sz="2200" b="1" spc="-90" dirty="0">
                <a:latin typeface="Arial"/>
                <a:cs typeface="Arial"/>
              </a:rPr>
              <a:t>Übergänge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968520" y="3429000"/>
            <a:ext cx="1020444" cy="848360"/>
            <a:chOff x="4199890" y="3005073"/>
            <a:chExt cx="1020444" cy="848360"/>
          </a:xfrm>
        </p:grpSpPr>
        <p:sp>
          <p:nvSpPr>
            <p:cNvPr id="7" name="object 7"/>
            <p:cNvSpPr/>
            <p:nvPr/>
          </p:nvSpPr>
          <p:spPr>
            <a:xfrm>
              <a:off x="4206240" y="3011423"/>
              <a:ext cx="1007744" cy="835660"/>
            </a:xfrm>
            <a:custGeom>
              <a:avLst/>
              <a:gdLst/>
              <a:ahLst/>
              <a:cxnLst/>
              <a:rect l="l" t="t" r="r" b="b"/>
              <a:pathLst>
                <a:path w="1007745" h="835660">
                  <a:moveTo>
                    <a:pt x="589788" y="0"/>
                  </a:moveTo>
                  <a:lnTo>
                    <a:pt x="589788" y="208787"/>
                  </a:lnTo>
                  <a:lnTo>
                    <a:pt x="0" y="208787"/>
                  </a:lnTo>
                  <a:lnTo>
                    <a:pt x="0" y="626363"/>
                  </a:lnTo>
                  <a:lnTo>
                    <a:pt x="589788" y="626363"/>
                  </a:lnTo>
                  <a:lnTo>
                    <a:pt x="589788" y="835151"/>
                  </a:lnTo>
                  <a:lnTo>
                    <a:pt x="1007363" y="417575"/>
                  </a:lnTo>
                  <a:lnTo>
                    <a:pt x="58978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06240" y="3011423"/>
              <a:ext cx="1007744" cy="835660"/>
            </a:xfrm>
            <a:custGeom>
              <a:avLst/>
              <a:gdLst/>
              <a:ahLst/>
              <a:cxnLst/>
              <a:rect l="l" t="t" r="r" b="b"/>
              <a:pathLst>
                <a:path w="1007745" h="835660">
                  <a:moveTo>
                    <a:pt x="0" y="208787"/>
                  </a:moveTo>
                  <a:lnTo>
                    <a:pt x="589788" y="208787"/>
                  </a:lnTo>
                  <a:lnTo>
                    <a:pt x="589788" y="0"/>
                  </a:lnTo>
                  <a:lnTo>
                    <a:pt x="1007363" y="417575"/>
                  </a:lnTo>
                  <a:lnTo>
                    <a:pt x="589788" y="835151"/>
                  </a:lnTo>
                  <a:lnTo>
                    <a:pt x="589788" y="626363"/>
                  </a:lnTo>
                  <a:lnTo>
                    <a:pt x="0" y="626363"/>
                  </a:lnTo>
                  <a:lnTo>
                    <a:pt x="0" y="208787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620317"/>
              </p:ext>
            </p:extLst>
          </p:nvPr>
        </p:nvGraphicFramePr>
        <p:xfrm>
          <a:off x="7613930" y="4717901"/>
          <a:ext cx="3147694" cy="1659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2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Münze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Drehung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verriegelt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500" spc="-10" dirty="0">
                          <a:latin typeface="Arial"/>
                          <a:cs typeface="Arial"/>
                        </a:rPr>
                        <a:t>entriegelt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500" spc="-10" dirty="0">
                          <a:latin typeface="Arial"/>
                          <a:cs typeface="Arial"/>
                        </a:rPr>
                        <a:t>verriegelt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465"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entriegelt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500" spc="-10" dirty="0">
                          <a:latin typeface="Arial"/>
                          <a:cs typeface="Arial"/>
                        </a:rPr>
                        <a:t>entriegelt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500" spc="-10" dirty="0">
                          <a:latin typeface="Arial"/>
                          <a:cs typeface="Arial"/>
                        </a:rPr>
                        <a:t>verriegelt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00788" y="3567683"/>
            <a:ext cx="1981835" cy="127000"/>
          </a:xfrm>
          <a:custGeom>
            <a:avLst/>
            <a:gdLst/>
            <a:ahLst/>
            <a:cxnLst/>
            <a:rect l="l" t="t" r="r" b="b"/>
            <a:pathLst>
              <a:path w="1981835" h="127000">
                <a:moveTo>
                  <a:pt x="1854453" y="0"/>
                </a:moveTo>
                <a:lnTo>
                  <a:pt x="1854453" y="127000"/>
                </a:lnTo>
                <a:lnTo>
                  <a:pt x="1968753" y="69850"/>
                </a:lnTo>
                <a:lnTo>
                  <a:pt x="1867153" y="69850"/>
                </a:lnTo>
                <a:lnTo>
                  <a:pt x="1867153" y="57150"/>
                </a:lnTo>
                <a:lnTo>
                  <a:pt x="1968753" y="57150"/>
                </a:lnTo>
                <a:lnTo>
                  <a:pt x="1854453" y="0"/>
                </a:lnTo>
                <a:close/>
              </a:path>
              <a:path w="1981835" h="127000">
                <a:moveTo>
                  <a:pt x="1854453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1854453" y="69850"/>
                </a:lnTo>
                <a:lnTo>
                  <a:pt x="1854453" y="57150"/>
                </a:lnTo>
                <a:close/>
              </a:path>
              <a:path w="1981835" h="127000">
                <a:moveTo>
                  <a:pt x="1968753" y="57150"/>
                </a:moveTo>
                <a:lnTo>
                  <a:pt x="1867153" y="57150"/>
                </a:lnTo>
                <a:lnTo>
                  <a:pt x="1867153" y="69850"/>
                </a:lnTo>
                <a:lnTo>
                  <a:pt x="1968753" y="69850"/>
                </a:lnTo>
                <a:lnTo>
                  <a:pt x="1981453" y="63500"/>
                </a:lnTo>
                <a:lnTo>
                  <a:pt x="196875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400787" y="2439798"/>
            <a:ext cx="2805430" cy="1773555"/>
            <a:chOff x="3663696" y="2109597"/>
            <a:chExt cx="2805430" cy="1773555"/>
          </a:xfrm>
        </p:grpSpPr>
        <p:sp>
          <p:nvSpPr>
            <p:cNvPr id="4" name="object 4"/>
            <p:cNvSpPr/>
            <p:nvPr/>
          </p:nvSpPr>
          <p:spPr>
            <a:xfrm>
              <a:off x="3663696" y="3755644"/>
              <a:ext cx="1981835" cy="127000"/>
            </a:xfrm>
            <a:custGeom>
              <a:avLst/>
              <a:gdLst/>
              <a:ahLst/>
              <a:cxnLst/>
              <a:rect l="l" t="t" r="r" b="b"/>
              <a:pathLst>
                <a:path w="1981835" h="127000">
                  <a:moveTo>
                    <a:pt x="127000" y="0"/>
                  </a:moveTo>
                  <a:lnTo>
                    <a:pt x="0" y="63499"/>
                  </a:lnTo>
                  <a:lnTo>
                    <a:pt x="127000" y="126999"/>
                  </a:lnTo>
                  <a:lnTo>
                    <a:pt x="127000" y="69849"/>
                  </a:lnTo>
                  <a:lnTo>
                    <a:pt x="114300" y="69849"/>
                  </a:lnTo>
                  <a:lnTo>
                    <a:pt x="114300" y="57149"/>
                  </a:lnTo>
                  <a:lnTo>
                    <a:pt x="127000" y="57149"/>
                  </a:lnTo>
                  <a:lnTo>
                    <a:pt x="127000" y="0"/>
                  </a:lnTo>
                  <a:close/>
                </a:path>
                <a:path w="1981835" h="127000">
                  <a:moveTo>
                    <a:pt x="127000" y="57149"/>
                  </a:moveTo>
                  <a:lnTo>
                    <a:pt x="114300" y="57149"/>
                  </a:lnTo>
                  <a:lnTo>
                    <a:pt x="114300" y="69849"/>
                  </a:lnTo>
                  <a:lnTo>
                    <a:pt x="127000" y="69849"/>
                  </a:lnTo>
                  <a:lnTo>
                    <a:pt x="127000" y="57149"/>
                  </a:lnTo>
                  <a:close/>
                </a:path>
                <a:path w="1981835" h="127000">
                  <a:moveTo>
                    <a:pt x="1981453" y="57149"/>
                  </a:moveTo>
                  <a:lnTo>
                    <a:pt x="127000" y="57149"/>
                  </a:lnTo>
                  <a:lnTo>
                    <a:pt x="127000" y="69849"/>
                  </a:lnTo>
                  <a:lnTo>
                    <a:pt x="1981453" y="69849"/>
                  </a:lnTo>
                  <a:lnTo>
                    <a:pt x="1981453" y="571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71110" y="2119122"/>
              <a:ext cx="1388745" cy="1083310"/>
            </a:xfrm>
            <a:custGeom>
              <a:avLst/>
              <a:gdLst/>
              <a:ahLst/>
              <a:cxnLst/>
              <a:rect l="l" t="t" r="r" b="b"/>
              <a:pathLst>
                <a:path w="1388745" h="1083310">
                  <a:moveTo>
                    <a:pt x="0" y="123951"/>
                  </a:moveTo>
                  <a:lnTo>
                    <a:pt x="9741" y="75705"/>
                  </a:lnTo>
                  <a:lnTo>
                    <a:pt x="36306" y="36306"/>
                  </a:lnTo>
                  <a:lnTo>
                    <a:pt x="75705" y="9741"/>
                  </a:lnTo>
                  <a:lnTo>
                    <a:pt x="123951" y="0"/>
                  </a:lnTo>
                  <a:lnTo>
                    <a:pt x="231393" y="0"/>
                  </a:lnTo>
                  <a:lnTo>
                    <a:pt x="578485" y="0"/>
                  </a:lnTo>
                  <a:lnTo>
                    <a:pt x="1264412" y="0"/>
                  </a:lnTo>
                  <a:lnTo>
                    <a:pt x="1312658" y="9741"/>
                  </a:lnTo>
                  <a:lnTo>
                    <a:pt x="1352057" y="36306"/>
                  </a:lnTo>
                  <a:lnTo>
                    <a:pt x="1378622" y="75705"/>
                  </a:lnTo>
                  <a:lnTo>
                    <a:pt x="1388364" y="123951"/>
                  </a:lnTo>
                  <a:lnTo>
                    <a:pt x="1388364" y="433831"/>
                  </a:lnTo>
                  <a:lnTo>
                    <a:pt x="1388364" y="619760"/>
                  </a:lnTo>
                  <a:lnTo>
                    <a:pt x="1378622" y="668006"/>
                  </a:lnTo>
                  <a:lnTo>
                    <a:pt x="1352057" y="707405"/>
                  </a:lnTo>
                  <a:lnTo>
                    <a:pt x="1312658" y="733970"/>
                  </a:lnTo>
                  <a:lnTo>
                    <a:pt x="1264412" y="743712"/>
                  </a:lnTo>
                  <a:lnTo>
                    <a:pt x="578485" y="743712"/>
                  </a:lnTo>
                  <a:lnTo>
                    <a:pt x="179197" y="1083055"/>
                  </a:lnTo>
                  <a:lnTo>
                    <a:pt x="231393" y="743712"/>
                  </a:lnTo>
                  <a:lnTo>
                    <a:pt x="123951" y="743712"/>
                  </a:lnTo>
                  <a:lnTo>
                    <a:pt x="75705" y="733970"/>
                  </a:lnTo>
                  <a:lnTo>
                    <a:pt x="36306" y="707405"/>
                  </a:lnTo>
                  <a:lnTo>
                    <a:pt x="9741" y="668006"/>
                  </a:lnTo>
                  <a:lnTo>
                    <a:pt x="0" y="619760"/>
                  </a:lnTo>
                  <a:lnTo>
                    <a:pt x="0" y="433831"/>
                  </a:lnTo>
                  <a:lnTo>
                    <a:pt x="0" y="123951"/>
                  </a:lnTo>
                  <a:close/>
                </a:path>
              </a:pathLst>
            </a:custGeom>
            <a:ln w="19049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17484" y="570993"/>
            <a:ext cx="389127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235" dirty="0"/>
              <a:t>Grafische</a:t>
            </a:r>
            <a:r>
              <a:rPr spc="-140" dirty="0"/>
              <a:t> </a:t>
            </a:r>
            <a:r>
              <a:rPr spc="-55" dirty="0"/>
              <a:t>Notation</a:t>
            </a:r>
          </a:p>
        </p:txBody>
      </p:sp>
      <p:sp>
        <p:nvSpPr>
          <p:cNvPr id="7" name="object 7"/>
          <p:cNvSpPr/>
          <p:nvPr/>
        </p:nvSpPr>
        <p:spPr>
          <a:xfrm>
            <a:off x="7157196" y="4418330"/>
            <a:ext cx="1530350" cy="870585"/>
          </a:xfrm>
          <a:custGeom>
            <a:avLst/>
            <a:gdLst/>
            <a:ahLst/>
            <a:cxnLst/>
            <a:rect l="l" t="t" r="r" b="b"/>
            <a:pathLst>
              <a:path w="1530350" h="870585">
                <a:moveTo>
                  <a:pt x="0" y="258064"/>
                </a:moveTo>
                <a:lnTo>
                  <a:pt x="9628" y="210431"/>
                </a:lnTo>
                <a:lnTo>
                  <a:pt x="35877" y="171513"/>
                </a:lnTo>
                <a:lnTo>
                  <a:pt x="74795" y="145264"/>
                </a:lnTo>
                <a:lnTo>
                  <a:pt x="122428" y="135636"/>
                </a:lnTo>
                <a:lnTo>
                  <a:pt x="892556" y="135636"/>
                </a:lnTo>
                <a:lnTo>
                  <a:pt x="1071245" y="0"/>
                </a:lnTo>
                <a:lnTo>
                  <a:pt x="1275079" y="135636"/>
                </a:lnTo>
                <a:lnTo>
                  <a:pt x="1407668" y="135636"/>
                </a:lnTo>
                <a:lnTo>
                  <a:pt x="1455300" y="145264"/>
                </a:lnTo>
                <a:lnTo>
                  <a:pt x="1494218" y="171513"/>
                </a:lnTo>
                <a:lnTo>
                  <a:pt x="1520467" y="210431"/>
                </a:lnTo>
                <a:lnTo>
                  <a:pt x="1530096" y="258064"/>
                </a:lnTo>
                <a:lnTo>
                  <a:pt x="1530096" y="441706"/>
                </a:lnTo>
                <a:lnTo>
                  <a:pt x="1530096" y="747776"/>
                </a:lnTo>
                <a:lnTo>
                  <a:pt x="1520467" y="795408"/>
                </a:lnTo>
                <a:lnTo>
                  <a:pt x="1494218" y="834326"/>
                </a:lnTo>
                <a:lnTo>
                  <a:pt x="1455300" y="860575"/>
                </a:lnTo>
                <a:lnTo>
                  <a:pt x="1407668" y="870204"/>
                </a:lnTo>
                <a:lnTo>
                  <a:pt x="1275079" y="870204"/>
                </a:lnTo>
                <a:lnTo>
                  <a:pt x="892556" y="870204"/>
                </a:lnTo>
                <a:lnTo>
                  <a:pt x="122428" y="870204"/>
                </a:lnTo>
                <a:lnTo>
                  <a:pt x="74795" y="860575"/>
                </a:lnTo>
                <a:lnTo>
                  <a:pt x="35877" y="834326"/>
                </a:lnTo>
                <a:lnTo>
                  <a:pt x="9628" y="795408"/>
                </a:lnTo>
                <a:lnTo>
                  <a:pt x="0" y="747776"/>
                </a:lnTo>
                <a:lnTo>
                  <a:pt x="0" y="441706"/>
                </a:lnTo>
                <a:lnTo>
                  <a:pt x="0" y="258064"/>
                </a:lnTo>
                <a:close/>
              </a:path>
            </a:pathLst>
          </a:custGeom>
          <a:ln w="190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956538" y="2475814"/>
            <a:ext cx="109156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270" algn="ctr">
              <a:spcBef>
                <a:spcPts val="105"/>
              </a:spcBef>
            </a:pPr>
            <a:r>
              <a:rPr sz="1400" spc="-10" dirty="0">
                <a:latin typeface="Arial"/>
                <a:cs typeface="Arial"/>
              </a:rPr>
              <a:t>Kanten </a:t>
            </a:r>
            <a:r>
              <a:rPr sz="1400" spc="-55" dirty="0">
                <a:latin typeface="Arial"/>
                <a:cs typeface="Arial"/>
              </a:rPr>
              <a:t>repräsentieren </a:t>
            </a:r>
            <a:r>
              <a:rPr sz="1400" b="1" spc="-10" dirty="0">
                <a:latin typeface="Arial"/>
                <a:cs typeface="Arial"/>
              </a:rPr>
              <a:t>Übergänge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48494" y="2821178"/>
            <a:ext cx="1593215" cy="518795"/>
          </a:xfrm>
          <a:custGeom>
            <a:avLst/>
            <a:gdLst/>
            <a:ahLst/>
            <a:cxnLst/>
            <a:rect l="l" t="t" r="r" b="b"/>
            <a:pathLst>
              <a:path w="1593214" h="518794">
                <a:moveTo>
                  <a:pt x="0" y="84836"/>
                </a:moveTo>
                <a:lnTo>
                  <a:pt x="6665" y="51810"/>
                </a:lnTo>
                <a:lnTo>
                  <a:pt x="24844" y="24844"/>
                </a:lnTo>
                <a:lnTo>
                  <a:pt x="51810" y="6665"/>
                </a:lnTo>
                <a:lnTo>
                  <a:pt x="84835" y="0"/>
                </a:lnTo>
                <a:lnTo>
                  <a:pt x="809879" y="0"/>
                </a:lnTo>
                <a:lnTo>
                  <a:pt x="1156970" y="0"/>
                </a:lnTo>
                <a:lnTo>
                  <a:pt x="1303528" y="0"/>
                </a:lnTo>
                <a:lnTo>
                  <a:pt x="1336553" y="6665"/>
                </a:lnTo>
                <a:lnTo>
                  <a:pt x="1363519" y="24844"/>
                </a:lnTo>
                <a:lnTo>
                  <a:pt x="1381698" y="51810"/>
                </a:lnTo>
                <a:lnTo>
                  <a:pt x="1388364" y="84836"/>
                </a:lnTo>
                <a:lnTo>
                  <a:pt x="1388364" y="296925"/>
                </a:lnTo>
                <a:lnTo>
                  <a:pt x="1593087" y="518541"/>
                </a:lnTo>
                <a:lnTo>
                  <a:pt x="1388364" y="424180"/>
                </a:lnTo>
                <a:lnTo>
                  <a:pt x="1381698" y="457205"/>
                </a:lnTo>
                <a:lnTo>
                  <a:pt x="1363519" y="484171"/>
                </a:lnTo>
                <a:lnTo>
                  <a:pt x="1336553" y="502350"/>
                </a:lnTo>
                <a:lnTo>
                  <a:pt x="1303528" y="509016"/>
                </a:lnTo>
                <a:lnTo>
                  <a:pt x="1156970" y="509016"/>
                </a:lnTo>
                <a:lnTo>
                  <a:pt x="809879" y="509016"/>
                </a:lnTo>
                <a:lnTo>
                  <a:pt x="84835" y="509016"/>
                </a:lnTo>
                <a:lnTo>
                  <a:pt x="51810" y="502350"/>
                </a:lnTo>
                <a:lnTo>
                  <a:pt x="24844" y="484171"/>
                </a:lnTo>
                <a:lnTo>
                  <a:pt x="6665" y="457205"/>
                </a:lnTo>
                <a:lnTo>
                  <a:pt x="0" y="424180"/>
                </a:lnTo>
                <a:lnTo>
                  <a:pt x="0" y="296925"/>
                </a:lnTo>
                <a:lnTo>
                  <a:pt x="0" y="84836"/>
                </a:lnTo>
                <a:close/>
              </a:path>
            </a:pathLst>
          </a:custGeom>
          <a:ln w="190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61778" y="2928747"/>
            <a:ext cx="116141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95" dirty="0">
                <a:latin typeface="Arial"/>
                <a:cs typeface="Arial"/>
              </a:rPr>
              <a:t>Initialzustand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14276" y="3481577"/>
            <a:ext cx="1292860" cy="819150"/>
            <a:chOff x="2377185" y="3151377"/>
            <a:chExt cx="1292860" cy="819150"/>
          </a:xfrm>
        </p:grpSpPr>
        <p:sp>
          <p:nvSpPr>
            <p:cNvPr id="12" name="object 12"/>
            <p:cNvSpPr/>
            <p:nvPr/>
          </p:nvSpPr>
          <p:spPr>
            <a:xfrm>
              <a:off x="2383535" y="3157727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3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6"/>
                  </a:lnTo>
                  <a:lnTo>
                    <a:pt x="1145793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60" y="671830"/>
                  </a:lnTo>
                  <a:lnTo>
                    <a:pt x="1280160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83535" y="3157727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1145793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60" y="134366"/>
                  </a:lnTo>
                  <a:lnTo>
                    <a:pt x="1280160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3" y="806196"/>
                  </a:lnTo>
                  <a:lnTo>
                    <a:pt x="134365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304269" y="3726433"/>
            <a:ext cx="916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0" dirty="0">
                <a:solidFill>
                  <a:srgbClr val="FFFFFF"/>
                </a:solidFill>
                <a:latin typeface="Arial"/>
                <a:cs typeface="Arial"/>
              </a:rPr>
              <a:t>verriegelt</a:t>
            </a:r>
            <a:endParaRPr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75637" y="3478529"/>
            <a:ext cx="1292860" cy="817880"/>
            <a:chOff x="5638546" y="3148329"/>
            <a:chExt cx="1292860" cy="817880"/>
          </a:xfrm>
        </p:grpSpPr>
        <p:sp>
          <p:nvSpPr>
            <p:cNvPr id="16" name="object 16"/>
            <p:cNvSpPr/>
            <p:nvPr/>
          </p:nvSpPr>
          <p:spPr>
            <a:xfrm>
              <a:off x="5644896" y="3154679"/>
              <a:ext cx="1280160" cy="805180"/>
            </a:xfrm>
            <a:custGeom>
              <a:avLst/>
              <a:gdLst/>
              <a:ahLst/>
              <a:cxnLst/>
              <a:rect l="l" t="t" r="r" b="b"/>
              <a:pathLst>
                <a:path w="1280159" h="805179">
                  <a:moveTo>
                    <a:pt x="1146048" y="0"/>
                  </a:moveTo>
                  <a:lnTo>
                    <a:pt x="134112" y="0"/>
                  </a:lnTo>
                  <a:lnTo>
                    <a:pt x="91732" y="6839"/>
                  </a:lnTo>
                  <a:lnTo>
                    <a:pt x="54918" y="25883"/>
                  </a:lnTo>
                  <a:lnTo>
                    <a:pt x="25883" y="54918"/>
                  </a:lnTo>
                  <a:lnTo>
                    <a:pt x="6839" y="91732"/>
                  </a:lnTo>
                  <a:lnTo>
                    <a:pt x="0" y="134112"/>
                  </a:lnTo>
                  <a:lnTo>
                    <a:pt x="0" y="670560"/>
                  </a:lnTo>
                  <a:lnTo>
                    <a:pt x="6839" y="712939"/>
                  </a:lnTo>
                  <a:lnTo>
                    <a:pt x="25883" y="749753"/>
                  </a:lnTo>
                  <a:lnTo>
                    <a:pt x="54918" y="778788"/>
                  </a:lnTo>
                  <a:lnTo>
                    <a:pt x="91732" y="797832"/>
                  </a:lnTo>
                  <a:lnTo>
                    <a:pt x="134112" y="804672"/>
                  </a:lnTo>
                  <a:lnTo>
                    <a:pt x="1146048" y="804672"/>
                  </a:lnTo>
                  <a:lnTo>
                    <a:pt x="1188427" y="797832"/>
                  </a:lnTo>
                  <a:lnTo>
                    <a:pt x="1225241" y="778788"/>
                  </a:lnTo>
                  <a:lnTo>
                    <a:pt x="1254276" y="749753"/>
                  </a:lnTo>
                  <a:lnTo>
                    <a:pt x="1273320" y="712939"/>
                  </a:lnTo>
                  <a:lnTo>
                    <a:pt x="1280159" y="670560"/>
                  </a:lnTo>
                  <a:lnTo>
                    <a:pt x="1280159" y="134112"/>
                  </a:lnTo>
                  <a:lnTo>
                    <a:pt x="1273320" y="91732"/>
                  </a:lnTo>
                  <a:lnTo>
                    <a:pt x="1254276" y="54918"/>
                  </a:lnTo>
                  <a:lnTo>
                    <a:pt x="1225241" y="25883"/>
                  </a:lnTo>
                  <a:lnTo>
                    <a:pt x="1188427" y="6839"/>
                  </a:lnTo>
                  <a:lnTo>
                    <a:pt x="11460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44896" y="3154679"/>
              <a:ext cx="1280160" cy="805180"/>
            </a:xfrm>
            <a:custGeom>
              <a:avLst/>
              <a:gdLst/>
              <a:ahLst/>
              <a:cxnLst/>
              <a:rect l="l" t="t" r="r" b="b"/>
              <a:pathLst>
                <a:path w="1280159" h="805179">
                  <a:moveTo>
                    <a:pt x="0" y="134112"/>
                  </a:moveTo>
                  <a:lnTo>
                    <a:pt x="6839" y="91732"/>
                  </a:lnTo>
                  <a:lnTo>
                    <a:pt x="25883" y="54918"/>
                  </a:lnTo>
                  <a:lnTo>
                    <a:pt x="54918" y="25883"/>
                  </a:lnTo>
                  <a:lnTo>
                    <a:pt x="91732" y="6839"/>
                  </a:lnTo>
                  <a:lnTo>
                    <a:pt x="134112" y="0"/>
                  </a:lnTo>
                  <a:lnTo>
                    <a:pt x="1146048" y="0"/>
                  </a:lnTo>
                  <a:lnTo>
                    <a:pt x="1188427" y="6839"/>
                  </a:lnTo>
                  <a:lnTo>
                    <a:pt x="1225241" y="25883"/>
                  </a:lnTo>
                  <a:lnTo>
                    <a:pt x="1254276" y="54918"/>
                  </a:lnTo>
                  <a:lnTo>
                    <a:pt x="1273320" y="91732"/>
                  </a:lnTo>
                  <a:lnTo>
                    <a:pt x="1280159" y="134112"/>
                  </a:lnTo>
                  <a:lnTo>
                    <a:pt x="1280159" y="670560"/>
                  </a:lnTo>
                  <a:lnTo>
                    <a:pt x="1273320" y="712939"/>
                  </a:lnTo>
                  <a:lnTo>
                    <a:pt x="1254276" y="749753"/>
                  </a:lnTo>
                  <a:lnTo>
                    <a:pt x="1225241" y="778788"/>
                  </a:lnTo>
                  <a:lnTo>
                    <a:pt x="1188427" y="797832"/>
                  </a:lnTo>
                  <a:lnTo>
                    <a:pt x="1146048" y="804672"/>
                  </a:lnTo>
                  <a:lnTo>
                    <a:pt x="134112" y="804672"/>
                  </a:lnTo>
                  <a:lnTo>
                    <a:pt x="91732" y="797832"/>
                  </a:lnTo>
                  <a:lnTo>
                    <a:pt x="54918" y="778788"/>
                  </a:lnTo>
                  <a:lnTo>
                    <a:pt x="25883" y="749753"/>
                  </a:lnTo>
                  <a:lnTo>
                    <a:pt x="6839" y="712939"/>
                  </a:lnTo>
                  <a:lnTo>
                    <a:pt x="0" y="670560"/>
                  </a:lnTo>
                  <a:lnTo>
                    <a:pt x="0" y="134112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558517" y="3723004"/>
            <a:ext cx="929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0" dirty="0">
                <a:solidFill>
                  <a:srgbClr val="FFFFFF"/>
                </a:solidFill>
                <a:latin typeface="Arial"/>
                <a:cs typeface="Arial"/>
              </a:rPr>
              <a:t>entriegelt</a:t>
            </a:r>
            <a:endParaRPr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53446" y="2943860"/>
            <a:ext cx="5677535" cy="1226820"/>
            <a:chOff x="1816354" y="2613660"/>
            <a:chExt cx="5677535" cy="122682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3700" y="2613660"/>
              <a:ext cx="179831" cy="17983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960116" y="2793492"/>
              <a:ext cx="127000" cy="364490"/>
            </a:xfrm>
            <a:custGeom>
              <a:avLst/>
              <a:gdLst/>
              <a:ahLst/>
              <a:cxnLst/>
              <a:rect l="l" t="t" r="r" b="b"/>
              <a:pathLst>
                <a:path w="127000" h="364489">
                  <a:moveTo>
                    <a:pt x="57150" y="237490"/>
                  </a:moveTo>
                  <a:lnTo>
                    <a:pt x="0" y="237490"/>
                  </a:lnTo>
                  <a:lnTo>
                    <a:pt x="63500" y="364490"/>
                  </a:lnTo>
                  <a:lnTo>
                    <a:pt x="120650" y="250190"/>
                  </a:lnTo>
                  <a:lnTo>
                    <a:pt x="57150" y="250190"/>
                  </a:lnTo>
                  <a:lnTo>
                    <a:pt x="57150" y="237490"/>
                  </a:lnTo>
                  <a:close/>
                </a:path>
                <a:path w="127000" h="364489">
                  <a:moveTo>
                    <a:pt x="69850" y="0"/>
                  </a:moveTo>
                  <a:lnTo>
                    <a:pt x="57150" y="0"/>
                  </a:lnTo>
                  <a:lnTo>
                    <a:pt x="57150" y="250190"/>
                  </a:lnTo>
                  <a:lnTo>
                    <a:pt x="69850" y="250190"/>
                  </a:lnTo>
                  <a:lnTo>
                    <a:pt x="69850" y="0"/>
                  </a:lnTo>
                  <a:close/>
                </a:path>
                <a:path w="127000" h="364489">
                  <a:moveTo>
                    <a:pt x="127000" y="237490"/>
                  </a:moveTo>
                  <a:lnTo>
                    <a:pt x="69850" y="237490"/>
                  </a:lnTo>
                  <a:lnTo>
                    <a:pt x="69850" y="250190"/>
                  </a:lnTo>
                  <a:lnTo>
                    <a:pt x="120650" y="250190"/>
                  </a:lnTo>
                  <a:lnTo>
                    <a:pt x="127000" y="2374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25056" y="3300984"/>
              <a:ext cx="561340" cy="0"/>
            </a:xfrm>
            <a:custGeom>
              <a:avLst/>
              <a:gdLst/>
              <a:ahLst/>
              <a:cxnLst/>
              <a:rect l="l" t="t" r="r" b="b"/>
              <a:pathLst>
                <a:path w="561340">
                  <a:moveTo>
                    <a:pt x="0" y="0"/>
                  </a:moveTo>
                  <a:lnTo>
                    <a:pt x="56083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25056" y="3699256"/>
              <a:ext cx="561340" cy="127000"/>
            </a:xfrm>
            <a:custGeom>
              <a:avLst/>
              <a:gdLst/>
              <a:ahLst/>
              <a:cxnLst/>
              <a:rect l="l" t="t" r="r" b="b"/>
              <a:pathLst>
                <a:path w="561340" h="1270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69850"/>
                  </a:lnTo>
                  <a:lnTo>
                    <a:pt x="114300" y="69850"/>
                  </a:lnTo>
                  <a:lnTo>
                    <a:pt x="114300" y="57150"/>
                  </a:lnTo>
                  <a:lnTo>
                    <a:pt x="127000" y="57150"/>
                  </a:lnTo>
                  <a:lnTo>
                    <a:pt x="127000" y="0"/>
                  </a:lnTo>
                  <a:close/>
                </a:path>
                <a:path w="561340" h="127000">
                  <a:moveTo>
                    <a:pt x="127000" y="57150"/>
                  </a:moveTo>
                  <a:lnTo>
                    <a:pt x="114300" y="57150"/>
                  </a:lnTo>
                  <a:lnTo>
                    <a:pt x="114300" y="69850"/>
                  </a:lnTo>
                  <a:lnTo>
                    <a:pt x="127000" y="69850"/>
                  </a:lnTo>
                  <a:lnTo>
                    <a:pt x="127000" y="57150"/>
                  </a:lnTo>
                  <a:close/>
                </a:path>
                <a:path w="561340" h="127000">
                  <a:moveTo>
                    <a:pt x="560959" y="57150"/>
                  </a:moveTo>
                  <a:lnTo>
                    <a:pt x="127000" y="57150"/>
                  </a:lnTo>
                  <a:lnTo>
                    <a:pt x="127000" y="69850"/>
                  </a:lnTo>
                  <a:lnTo>
                    <a:pt x="560959" y="69850"/>
                  </a:lnTo>
                  <a:lnTo>
                    <a:pt x="560959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22704" y="3300984"/>
              <a:ext cx="5664835" cy="461645"/>
            </a:xfrm>
            <a:custGeom>
              <a:avLst/>
              <a:gdLst/>
              <a:ahLst/>
              <a:cxnLst/>
              <a:rect l="l" t="t" r="r" b="b"/>
              <a:pathLst>
                <a:path w="5664834" h="461645">
                  <a:moveTo>
                    <a:pt x="5664708" y="0"/>
                  </a:moveTo>
                  <a:lnTo>
                    <a:pt x="5664708" y="461136"/>
                  </a:lnTo>
                </a:path>
                <a:path w="5664834" h="461645">
                  <a:moveTo>
                    <a:pt x="560832" y="13715"/>
                  </a:moveTo>
                  <a:lnTo>
                    <a:pt x="0" y="137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22704" y="3712972"/>
              <a:ext cx="561340" cy="127000"/>
            </a:xfrm>
            <a:custGeom>
              <a:avLst/>
              <a:gdLst/>
              <a:ahLst/>
              <a:cxnLst/>
              <a:rect l="l" t="t" r="r" b="b"/>
              <a:pathLst>
                <a:path w="561339" h="127000">
                  <a:moveTo>
                    <a:pt x="433831" y="0"/>
                  </a:moveTo>
                  <a:lnTo>
                    <a:pt x="433831" y="127000"/>
                  </a:lnTo>
                  <a:lnTo>
                    <a:pt x="548132" y="69850"/>
                  </a:lnTo>
                  <a:lnTo>
                    <a:pt x="446531" y="69850"/>
                  </a:lnTo>
                  <a:lnTo>
                    <a:pt x="446531" y="57150"/>
                  </a:lnTo>
                  <a:lnTo>
                    <a:pt x="548132" y="57150"/>
                  </a:lnTo>
                  <a:lnTo>
                    <a:pt x="433831" y="0"/>
                  </a:lnTo>
                  <a:close/>
                </a:path>
                <a:path w="561339" h="127000">
                  <a:moveTo>
                    <a:pt x="433831" y="57150"/>
                  </a:moveTo>
                  <a:lnTo>
                    <a:pt x="0" y="57150"/>
                  </a:lnTo>
                  <a:lnTo>
                    <a:pt x="0" y="69850"/>
                  </a:lnTo>
                  <a:lnTo>
                    <a:pt x="433831" y="69850"/>
                  </a:lnTo>
                  <a:lnTo>
                    <a:pt x="433831" y="57150"/>
                  </a:lnTo>
                  <a:close/>
                </a:path>
                <a:path w="561339" h="127000">
                  <a:moveTo>
                    <a:pt x="548132" y="57150"/>
                  </a:moveTo>
                  <a:lnTo>
                    <a:pt x="446531" y="57150"/>
                  </a:lnTo>
                  <a:lnTo>
                    <a:pt x="446531" y="69850"/>
                  </a:lnTo>
                  <a:lnTo>
                    <a:pt x="548132" y="69850"/>
                  </a:lnTo>
                  <a:lnTo>
                    <a:pt x="560832" y="63500"/>
                  </a:lnTo>
                  <a:lnTo>
                    <a:pt x="548132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22704" y="3314700"/>
              <a:ext cx="0" cy="461645"/>
            </a:xfrm>
            <a:custGeom>
              <a:avLst/>
              <a:gdLst/>
              <a:ahLst/>
              <a:cxnLst/>
              <a:rect l="l" t="t" r="r" b="b"/>
              <a:pathLst>
                <a:path h="461645">
                  <a:moveTo>
                    <a:pt x="0" y="0"/>
                  </a:moveTo>
                  <a:lnTo>
                    <a:pt x="0" y="4611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97382" y="4127754"/>
            <a:ext cx="2444115" cy="116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Drehung</a:t>
            </a:r>
            <a:endParaRPr sz="1400">
              <a:latin typeface="Arial"/>
              <a:cs typeface="Arial"/>
            </a:endParaRPr>
          </a:p>
          <a:p>
            <a:pPr marL="1217930" marR="5080" indent="-1270" algn="ctr">
              <a:spcBef>
                <a:spcPts val="1490"/>
              </a:spcBef>
            </a:pPr>
            <a:r>
              <a:rPr sz="1600" spc="-10" dirty="0">
                <a:latin typeface="Arial"/>
                <a:cs typeface="Arial"/>
              </a:rPr>
              <a:t>Knoten </a:t>
            </a:r>
            <a:r>
              <a:rPr sz="1600" spc="-65" dirty="0">
                <a:latin typeface="Arial"/>
                <a:cs typeface="Arial"/>
              </a:rPr>
              <a:t>repräsentieren </a:t>
            </a:r>
            <a:r>
              <a:rPr sz="1600" b="1" spc="-20" dirty="0">
                <a:latin typeface="Arial"/>
                <a:cs typeface="Arial"/>
              </a:rPr>
              <a:t>Zustände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13</a:t>
            </a:fld>
            <a:endParaRPr spc="-25" dirty="0"/>
          </a:p>
        </p:txBody>
      </p:sp>
      <p:sp>
        <p:nvSpPr>
          <p:cNvPr id="28" name="object 28"/>
          <p:cNvSpPr txBox="1"/>
          <p:nvPr/>
        </p:nvSpPr>
        <p:spPr>
          <a:xfrm>
            <a:off x="9259936" y="3736721"/>
            <a:ext cx="51815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60" dirty="0">
                <a:latin typeface="Arial"/>
                <a:cs typeface="Arial"/>
              </a:rPr>
              <a:t>Münze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61390" y="3373375"/>
            <a:ext cx="51815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60" dirty="0">
                <a:latin typeface="Arial"/>
                <a:cs typeface="Arial"/>
              </a:rPr>
              <a:t>Münze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63124" y="3741878"/>
            <a:ext cx="64579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65" dirty="0">
                <a:latin typeface="Arial"/>
                <a:cs typeface="Arial"/>
              </a:rPr>
              <a:t>Drehung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9098" y="447646"/>
            <a:ext cx="6962801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75" dirty="0"/>
              <a:t>Beispiel:</a:t>
            </a:r>
            <a:r>
              <a:rPr spc="-210" dirty="0"/>
              <a:t> </a:t>
            </a:r>
            <a:r>
              <a:rPr spc="-150" dirty="0"/>
              <a:t>Kaffeeautomat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03300" y="1622902"/>
            <a:ext cx="8881262" cy="279756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0665" indent="-227965">
              <a:spcBef>
                <a:spcPts val="675"/>
              </a:spcBef>
              <a:buClr>
                <a:srgbClr val="2D75B6"/>
              </a:buClr>
              <a:buSzPct val="109375"/>
              <a:buFont typeface="Wingdings"/>
              <a:buChar char=""/>
              <a:tabLst>
                <a:tab pos="240665" algn="l"/>
              </a:tabLst>
            </a:pPr>
            <a:r>
              <a:rPr spc="-114" dirty="0">
                <a:latin typeface="Arial"/>
                <a:cs typeface="Arial"/>
              </a:rPr>
              <a:t>Ein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Automat</a:t>
            </a:r>
            <a:r>
              <a:rPr spc="-60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verkauft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95" dirty="0">
                <a:latin typeface="Arial"/>
                <a:cs typeface="Arial"/>
              </a:rPr>
              <a:t>Kaffee</a:t>
            </a:r>
            <a:r>
              <a:rPr spc="-5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für</a:t>
            </a:r>
            <a:r>
              <a:rPr spc="-60" dirty="0">
                <a:latin typeface="Arial"/>
                <a:cs typeface="Arial"/>
              </a:rPr>
              <a:t> </a:t>
            </a:r>
            <a:r>
              <a:rPr spc="-85" dirty="0">
                <a:latin typeface="Arial"/>
                <a:cs typeface="Arial"/>
              </a:rPr>
              <a:t>2€,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akzeptiert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75" dirty="0">
                <a:latin typeface="Arial"/>
                <a:cs typeface="Arial"/>
              </a:rPr>
              <a:t>1€-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oder</a:t>
            </a:r>
            <a:r>
              <a:rPr spc="-50" dirty="0">
                <a:latin typeface="Arial"/>
                <a:cs typeface="Arial"/>
              </a:rPr>
              <a:t> </a:t>
            </a:r>
            <a:r>
              <a:rPr spc="-80" dirty="0">
                <a:latin typeface="Arial"/>
                <a:cs typeface="Arial"/>
              </a:rPr>
              <a:t>2€-</a:t>
            </a:r>
            <a:r>
              <a:rPr spc="-10" dirty="0">
                <a:latin typeface="Arial"/>
                <a:cs typeface="Arial"/>
              </a:rPr>
              <a:t>Münzen.</a:t>
            </a:r>
            <a:endParaRPr dirty="0">
              <a:latin typeface="Arial"/>
              <a:cs typeface="Arial"/>
            </a:endParaRPr>
          </a:p>
          <a:p>
            <a:pPr marL="240665" indent="-227965">
              <a:spcBef>
                <a:spcPts val="810"/>
              </a:spcBef>
              <a:buClr>
                <a:srgbClr val="2D75B6"/>
              </a:buClr>
              <a:buSzPct val="109375"/>
              <a:buFont typeface="Wingdings"/>
              <a:buChar char=""/>
              <a:tabLst>
                <a:tab pos="240665" algn="l"/>
              </a:tabLst>
            </a:pPr>
            <a:r>
              <a:rPr spc="-80" dirty="0">
                <a:latin typeface="Arial"/>
                <a:cs typeface="Arial"/>
              </a:rPr>
              <a:t>Überflüssige</a:t>
            </a:r>
            <a:r>
              <a:rPr spc="-55" dirty="0">
                <a:latin typeface="Arial"/>
                <a:cs typeface="Arial"/>
              </a:rPr>
              <a:t> </a:t>
            </a:r>
            <a:r>
              <a:rPr spc="-80" dirty="0">
                <a:latin typeface="Arial"/>
                <a:cs typeface="Arial"/>
              </a:rPr>
              <a:t>Münzen</a:t>
            </a:r>
            <a:r>
              <a:rPr spc="-55" dirty="0">
                <a:latin typeface="Arial"/>
                <a:cs typeface="Arial"/>
              </a:rPr>
              <a:t> </a:t>
            </a:r>
            <a:r>
              <a:rPr spc="-70" dirty="0">
                <a:latin typeface="Arial"/>
                <a:cs typeface="Arial"/>
              </a:rPr>
              <a:t>werden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sofort </a:t>
            </a:r>
            <a:r>
              <a:rPr spc="-10" dirty="0">
                <a:latin typeface="Arial"/>
                <a:cs typeface="Arial"/>
              </a:rPr>
              <a:t>zurückgegeben.</a:t>
            </a:r>
            <a:endParaRPr dirty="0">
              <a:latin typeface="Arial"/>
              <a:cs typeface="Arial"/>
            </a:endParaRPr>
          </a:p>
          <a:p>
            <a:pPr marL="240665" indent="-227965">
              <a:lnSpc>
                <a:spcPts val="1825"/>
              </a:lnSpc>
              <a:spcBef>
                <a:spcPts val="815"/>
              </a:spcBef>
              <a:buClr>
                <a:srgbClr val="2D75B6"/>
              </a:buClr>
              <a:buSzPct val="109375"/>
              <a:buFont typeface="Wingdings"/>
              <a:buChar char=""/>
              <a:tabLst>
                <a:tab pos="240665" algn="l"/>
              </a:tabLst>
            </a:pPr>
            <a:r>
              <a:rPr spc="-105" dirty="0">
                <a:latin typeface="Arial"/>
                <a:cs typeface="Arial"/>
              </a:rPr>
              <a:t>Sobald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85" dirty="0">
                <a:latin typeface="Arial"/>
                <a:cs typeface="Arial"/>
              </a:rPr>
              <a:t>2€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70" dirty="0">
                <a:latin typeface="Arial"/>
                <a:cs typeface="Arial"/>
              </a:rPr>
              <a:t>bezahlt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wurden,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verstaut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der Automat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die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80" dirty="0">
                <a:latin typeface="Arial"/>
                <a:cs typeface="Arial"/>
              </a:rPr>
              <a:t>Münzen</a:t>
            </a:r>
            <a:r>
              <a:rPr spc="-60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und </a:t>
            </a:r>
            <a:r>
              <a:rPr spc="-55" dirty="0">
                <a:latin typeface="Arial"/>
                <a:cs typeface="Arial"/>
              </a:rPr>
              <a:t>fängt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100" dirty="0">
                <a:latin typeface="Arial"/>
                <a:cs typeface="Arial"/>
              </a:rPr>
              <a:t>an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95" dirty="0">
                <a:latin typeface="Arial"/>
                <a:cs typeface="Arial"/>
              </a:rPr>
              <a:t>Kaffee</a:t>
            </a:r>
            <a:r>
              <a:rPr spc="-6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zu</a:t>
            </a:r>
            <a:endParaRPr dirty="0">
              <a:latin typeface="Arial"/>
              <a:cs typeface="Arial"/>
            </a:endParaRPr>
          </a:p>
          <a:p>
            <a:pPr marL="241300">
              <a:lnSpc>
                <a:spcPts val="1825"/>
              </a:lnSpc>
            </a:pPr>
            <a:r>
              <a:rPr spc="-90" dirty="0">
                <a:latin typeface="Arial"/>
                <a:cs typeface="Arial"/>
              </a:rPr>
              <a:t>kochen</a:t>
            </a:r>
            <a:r>
              <a:rPr spc="-55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(ein</a:t>
            </a:r>
            <a:r>
              <a:rPr spc="-50" dirty="0">
                <a:latin typeface="Arial"/>
                <a:cs typeface="Arial"/>
              </a:rPr>
              <a:t> </a:t>
            </a:r>
            <a:r>
              <a:rPr spc="-100" dirty="0">
                <a:latin typeface="Arial"/>
                <a:cs typeface="Arial"/>
              </a:rPr>
              <a:t>Becher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wird</a:t>
            </a:r>
            <a:r>
              <a:rPr spc="-55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automatisch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ausgegeben).</a:t>
            </a:r>
            <a:endParaRPr dirty="0">
              <a:latin typeface="Arial"/>
              <a:cs typeface="Arial"/>
            </a:endParaRPr>
          </a:p>
          <a:p>
            <a:pPr marL="240665" indent="-227965">
              <a:spcBef>
                <a:spcPts val="805"/>
              </a:spcBef>
              <a:buClr>
                <a:srgbClr val="2D75B6"/>
              </a:buClr>
              <a:buSzPct val="109375"/>
              <a:buFont typeface="Wingdings"/>
              <a:buChar char=""/>
              <a:tabLst>
                <a:tab pos="240665" algn="l"/>
              </a:tabLst>
            </a:pPr>
            <a:r>
              <a:rPr spc="-105" dirty="0">
                <a:latin typeface="Arial"/>
                <a:cs typeface="Arial"/>
              </a:rPr>
              <a:t>Nachdem</a:t>
            </a:r>
            <a:r>
              <a:rPr spc="-70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der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95" dirty="0">
                <a:latin typeface="Arial"/>
                <a:cs typeface="Arial"/>
              </a:rPr>
              <a:t>Kaffee</a:t>
            </a:r>
            <a:r>
              <a:rPr spc="-6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fertig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40" dirty="0">
                <a:latin typeface="Arial"/>
                <a:cs typeface="Arial"/>
              </a:rPr>
              <a:t>ist,</a:t>
            </a:r>
            <a:r>
              <a:rPr spc="-8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wartet</a:t>
            </a:r>
            <a:r>
              <a:rPr spc="-55" dirty="0">
                <a:latin typeface="Arial"/>
                <a:cs typeface="Arial"/>
              </a:rPr>
              <a:t> der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Automat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75" dirty="0">
                <a:latin typeface="Arial"/>
                <a:cs typeface="Arial"/>
              </a:rPr>
              <a:t>bis</a:t>
            </a:r>
            <a:r>
              <a:rPr spc="-8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der </a:t>
            </a:r>
            <a:r>
              <a:rPr spc="-100" dirty="0">
                <a:latin typeface="Arial"/>
                <a:cs typeface="Arial"/>
              </a:rPr>
              <a:t>Becher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entnommen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wird.</a:t>
            </a:r>
            <a:endParaRPr dirty="0">
              <a:latin typeface="Arial"/>
              <a:cs typeface="Arial"/>
            </a:endParaRPr>
          </a:p>
          <a:p>
            <a:pPr marL="241300" marR="579120" indent="-228600">
              <a:lnSpc>
                <a:spcPts val="1730"/>
              </a:lnSpc>
              <a:spcBef>
                <a:spcPts val="1019"/>
              </a:spcBef>
              <a:buClr>
                <a:srgbClr val="2D75B6"/>
              </a:buClr>
              <a:buSzPct val="109375"/>
              <a:buFont typeface="Wingdings"/>
              <a:buChar char=""/>
              <a:tabLst>
                <a:tab pos="241300" algn="l"/>
              </a:tabLst>
            </a:pPr>
            <a:r>
              <a:rPr spc="-120" dirty="0">
                <a:latin typeface="Arial"/>
                <a:cs typeface="Arial"/>
              </a:rPr>
              <a:t>Solange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der</a:t>
            </a:r>
            <a:r>
              <a:rPr spc="-55" dirty="0">
                <a:latin typeface="Arial"/>
                <a:cs typeface="Arial"/>
              </a:rPr>
              <a:t> </a:t>
            </a:r>
            <a:r>
              <a:rPr spc="-100" dirty="0">
                <a:latin typeface="Arial"/>
                <a:cs typeface="Arial"/>
              </a:rPr>
              <a:t>Becher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80" dirty="0">
                <a:latin typeface="Arial"/>
                <a:cs typeface="Arial"/>
              </a:rPr>
              <a:t>noch</a:t>
            </a:r>
            <a:r>
              <a:rPr spc="-55" dirty="0">
                <a:latin typeface="Arial"/>
                <a:cs typeface="Arial"/>
              </a:rPr>
              <a:t> </a:t>
            </a:r>
            <a:r>
              <a:rPr spc="-35" dirty="0">
                <a:latin typeface="Arial"/>
                <a:cs typeface="Arial"/>
              </a:rPr>
              <a:t>nicht</a:t>
            </a:r>
            <a:r>
              <a:rPr spc="-70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entnommen</a:t>
            </a:r>
            <a:r>
              <a:rPr spc="-55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wurde,</a:t>
            </a:r>
            <a:r>
              <a:rPr spc="-30" dirty="0">
                <a:latin typeface="Arial"/>
                <a:cs typeface="Arial"/>
              </a:rPr>
              <a:t> gibt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der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Automat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weitere </a:t>
            </a:r>
            <a:r>
              <a:rPr spc="-60" dirty="0">
                <a:latin typeface="Arial"/>
                <a:cs typeface="Arial"/>
              </a:rPr>
              <a:t>eingeworfene</a:t>
            </a:r>
            <a:r>
              <a:rPr spc="-50" dirty="0">
                <a:latin typeface="Arial"/>
                <a:cs typeface="Arial"/>
              </a:rPr>
              <a:t> </a:t>
            </a:r>
            <a:r>
              <a:rPr spc="-75" dirty="0">
                <a:latin typeface="Arial"/>
                <a:cs typeface="Arial"/>
              </a:rPr>
              <a:t>Münzen </a:t>
            </a:r>
            <a:r>
              <a:rPr spc="-10" dirty="0">
                <a:latin typeface="Arial"/>
                <a:cs typeface="Arial"/>
              </a:rPr>
              <a:t>zurück.</a:t>
            </a:r>
            <a:endParaRPr dirty="0">
              <a:latin typeface="Arial"/>
              <a:cs typeface="Arial"/>
            </a:endParaRPr>
          </a:p>
          <a:p>
            <a:pPr marL="76200">
              <a:spcBef>
                <a:spcPts val="915"/>
              </a:spcBef>
            </a:pPr>
            <a:r>
              <a:rPr sz="2400" b="1" spc="-150" dirty="0">
                <a:solidFill>
                  <a:srgbClr val="EC7C30"/>
                </a:solidFill>
                <a:latin typeface="Arial"/>
                <a:cs typeface="Arial"/>
              </a:rPr>
              <a:t>Welche</a:t>
            </a:r>
            <a:r>
              <a:rPr sz="2400" b="1" spc="-8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400" b="1" spc="-175" dirty="0">
                <a:solidFill>
                  <a:srgbClr val="EC7C30"/>
                </a:solidFill>
                <a:latin typeface="Arial"/>
                <a:cs typeface="Arial"/>
              </a:rPr>
              <a:t>Zustände</a:t>
            </a:r>
            <a:r>
              <a:rPr sz="2400" b="1" spc="-10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400" b="1" spc="-160" dirty="0">
                <a:solidFill>
                  <a:srgbClr val="EC7C30"/>
                </a:solidFill>
                <a:latin typeface="Arial"/>
                <a:cs typeface="Arial"/>
              </a:rPr>
              <a:t>und</a:t>
            </a:r>
            <a:r>
              <a:rPr sz="2400" b="1" spc="-9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400" b="1" spc="-195" dirty="0">
                <a:solidFill>
                  <a:srgbClr val="EC7C30"/>
                </a:solidFill>
                <a:latin typeface="Arial"/>
                <a:cs typeface="Arial"/>
              </a:rPr>
              <a:t>Ereignisse</a:t>
            </a:r>
            <a:r>
              <a:rPr sz="2400" b="1" spc="-9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400" b="1" spc="-100" dirty="0">
                <a:solidFill>
                  <a:srgbClr val="EC7C30"/>
                </a:solidFill>
                <a:latin typeface="Arial"/>
                <a:cs typeface="Arial"/>
              </a:rPr>
              <a:t>hat</a:t>
            </a:r>
            <a:r>
              <a:rPr sz="2400" b="1" spc="-8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400" b="1" spc="-110" dirty="0">
                <a:solidFill>
                  <a:srgbClr val="EC7C30"/>
                </a:solidFill>
                <a:latin typeface="Arial"/>
                <a:cs typeface="Arial"/>
              </a:rPr>
              <a:t>der</a:t>
            </a:r>
            <a:r>
              <a:rPr sz="2400" b="1" spc="-9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EC7C30"/>
                </a:solidFill>
                <a:latin typeface="Arial"/>
                <a:cs typeface="Arial"/>
              </a:rPr>
              <a:t>Automat?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4742" y="4261858"/>
            <a:ext cx="3107890" cy="182806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</a:pPr>
            <a:r>
              <a:rPr sz="2000" b="1" spc="-30" dirty="0">
                <a:latin typeface="Arial"/>
                <a:cs typeface="Arial"/>
              </a:rPr>
              <a:t>Zustände</a:t>
            </a:r>
            <a:endParaRPr sz="2000" dirty="0">
              <a:latin typeface="Arial"/>
              <a:cs typeface="Arial"/>
            </a:endParaRPr>
          </a:p>
          <a:p>
            <a:pPr marL="185420" indent="-172720">
              <a:spcBef>
                <a:spcPts val="635"/>
              </a:spcBef>
              <a:buFont typeface="Arial"/>
              <a:buChar char="•"/>
              <a:tabLst>
                <a:tab pos="185420" algn="l"/>
              </a:tabLst>
            </a:pPr>
            <a:r>
              <a:rPr b="1" spc="-80" dirty="0">
                <a:latin typeface="Arial"/>
                <a:cs typeface="Arial"/>
              </a:rPr>
              <a:t>leer </a:t>
            </a:r>
            <a:r>
              <a:rPr spc="160" dirty="0">
                <a:latin typeface="Arial"/>
                <a:cs typeface="Arial"/>
              </a:rPr>
              <a:t>/</a:t>
            </a:r>
            <a:r>
              <a:rPr spc="-70" dirty="0">
                <a:latin typeface="Arial"/>
                <a:cs typeface="Arial"/>
              </a:rPr>
              <a:t> </a:t>
            </a:r>
            <a:r>
              <a:rPr spc="-85" dirty="0">
                <a:latin typeface="Arial"/>
                <a:cs typeface="Arial"/>
              </a:rPr>
              <a:t>keine</a:t>
            </a:r>
            <a:r>
              <a:rPr spc="-60" dirty="0">
                <a:latin typeface="Arial"/>
                <a:cs typeface="Arial"/>
              </a:rPr>
              <a:t> </a:t>
            </a:r>
            <a:r>
              <a:rPr spc="-75" dirty="0">
                <a:latin typeface="Arial"/>
                <a:cs typeface="Arial"/>
              </a:rPr>
              <a:t>Münzen</a:t>
            </a:r>
            <a:r>
              <a:rPr spc="-65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(initial)</a:t>
            </a:r>
            <a:endParaRPr dirty="0">
              <a:latin typeface="Arial"/>
              <a:cs typeface="Arial"/>
            </a:endParaRPr>
          </a:p>
          <a:p>
            <a:pPr marL="185420" indent="-172720">
              <a:spcBef>
                <a:spcPts val="600"/>
              </a:spcBef>
              <a:buFont typeface="Arial"/>
              <a:buChar char="•"/>
              <a:tabLst>
                <a:tab pos="185420" algn="l"/>
              </a:tabLst>
            </a:pPr>
            <a:r>
              <a:rPr b="1" spc="-90" dirty="0">
                <a:latin typeface="Arial"/>
                <a:cs typeface="Arial"/>
              </a:rPr>
              <a:t>1€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bezahlt</a:t>
            </a:r>
            <a:endParaRPr dirty="0">
              <a:latin typeface="Arial"/>
              <a:cs typeface="Arial"/>
            </a:endParaRPr>
          </a:p>
          <a:p>
            <a:pPr marL="185420" indent="-172720">
              <a:spcBef>
                <a:spcPts val="610"/>
              </a:spcBef>
              <a:buChar char="•"/>
              <a:tabLst>
                <a:tab pos="185420" algn="l"/>
              </a:tabLst>
            </a:pPr>
            <a:r>
              <a:rPr spc="-100" dirty="0">
                <a:latin typeface="Arial"/>
                <a:cs typeface="Arial"/>
              </a:rPr>
              <a:t>Kaffee</a:t>
            </a:r>
            <a:r>
              <a:rPr spc="-6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kochend</a:t>
            </a:r>
            <a:endParaRPr dirty="0">
              <a:latin typeface="Arial"/>
              <a:cs typeface="Arial"/>
            </a:endParaRPr>
          </a:p>
          <a:p>
            <a:pPr marL="185420" indent="-172720">
              <a:spcBef>
                <a:spcPts val="615"/>
              </a:spcBef>
              <a:buChar char="•"/>
              <a:tabLst>
                <a:tab pos="185420" algn="l"/>
              </a:tabLst>
            </a:pPr>
            <a:r>
              <a:rPr dirty="0">
                <a:latin typeface="Arial"/>
                <a:cs typeface="Arial"/>
              </a:rPr>
              <a:t>Mit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100" dirty="0">
                <a:latin typeface="Arial"/>
                <a:cs typeface="Arial"/>
              </a:rPr>
              <a:t>Becher</a:t>
            </a:r>
            <a:r>
              <a:rPr spc="2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wartend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4295" y="4261859"/>
            <a:ext cx="2635516" cy="182806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</a:pPr>
            <a:r>
              <a:rPr sz="2000" b="1" spc="-80" dirty="0">
                <a:latin typeface="Arial"/>
                <a:cs typeface="Arial"/>
              </a:rPr>
              <a:t>Ereignisse</a:t>
            </a:r>
            <a:endParaRPr sz="2000" dirty="0">
              <a:latin typeface="Arial"/>
              <a:cs typeface="Arial"/>
            </a:endParaRPr>
          </a:p>
          <a:p>
            <a:pPr marL="185420" indent="-172720">
              <a:spcBef>
                <a:spcPts val="635"/>
              </a:spcBef>
              <a:buFont typeface="Arial"/>
              <a:buChar char="•"/>
              <a:tabLst>
                <a:tab pos="185420" algn="l"/>
              </a:tabLst>
            </a:pPr>
            <a:r>
              <a:rPr b="1" spc="-85" dirty="0">
                <a:latin typeface="Arial"/>
                <a:cs typeface="Arial"/>
              </a:rPr>
              <a:t>1€-</a:t>
            </a:r>
            <a:r>
              <a:rPr b="1" spc="-105" dirty="0">
                <a:latin typeface="Arial"/>
                <a:cs typeface="Arial"/>
              </a:rPr>
              <a:t>Münze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eingeworfen</a:t>
            </a:r>
            <a:endParaRPr dirty="0">
              <a:latin typeface="Arial"/>
              <a:cs typeface="Arial"/>
            </a:endParaRPr>
          </a:p>
          <a:p>
            <a:pPr marL="185420" indent="-172720">
              <a:spcBef>
                <a:spcPts val="600"/>
              </a:spcBef>
              <a:buFont typeface="Arial"/>
              <a:buChar char="•"/>
              <a:tabLst>
                <a:tab pos="185420" algn="l"/>
              </a:tabLst>
            </a:pPr>
            <a:r>
              <a:rPr b="1" spc="-85" dirty="0">
                <a:latin typeface="Arial"/>
                <a:cs typeface="Arial"/>
              </a:rPr>
              <a:t>2€-</a:t>
            </a:r>
            <a:r>
              <a:rPr b="1" spc="-105" dirty="0">
                <a:latin typeface="Arial"/>
                <a:cs typeface="Arial"/>
              </a:rPr>
              <a:t>Münze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eingeworfen</a:t>
            </a:r>
            <a:endParaRPr dirty="0">
              <a:latin typeface="Arial"/>
              <a:cs typeface="Arial"/>
            </a:endParaRPr>
          </a:p>
          <a:p>
            <a:pPr marL="185420" indent="-172720">
              <a:spcBef>
                <a:spcPts val="610"/>
              </a:spcBef>
              <a:buChar char="•"/>
              <a:tabLst>
                <a:tab pos="185420" algn="l"/>
              </a:tabLst>
            </a:pPr>
            <a:r>
              <a:rPr spc="-100" dirty="0">
                <a:latin typeface="Arial"/>
                <a:cs typeface="Arial"/>
              </a:rPr>
              <a:t>Kaffee</a:t>
            </a:r>
            <a:r>
              <a:rPr spc="-75" dirty="0">
                <a:latin typeface="Arial"/>
                <a:cs typeface="Arial"/>
              </a:rPr>
              <a:t> </a:t>
            </a:r>
            <a:r>
              <a:rPr b="1" spc="-85" dirty="0">
                <a:latin typeface="Arial"/>
                <a:cs typeface="Arial"/>
              </a:rPr>
              <a:t>fertig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gekocht</a:t>
            </a:r>
            <a:endParaRPr dirty="0">
              <a:latin typeface="Arial"/>
              <a:cs typeface="Arial"/>
            </a:endParaRPr>
          </a:p>
          <a:p>
            <a:pPr marL="185420" indent="-172720">
              <a:spcBef>
                <a:spcPts val="615"/>
              </a:spcBef>
              <a:buChar char="•"/>
              <a:tabLst>
                <a:tab pos="185420" algn="l"/>
              </a:tabLst>
            </a:pPr>
            <a:r>
              <a:rPr spc="-100" dirty="0">
                <a:latin typeface="Arial"/>
                <a:cs typeface="Arial"/>
              </a:rPr>
              <a:t>Becher</a:t>
            </a:r>
            <a:r>
              <a:rPr spc="-2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entnommen</a:t>
            </a:r>
            <a:endParaRPr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4742" y="6197204"/>
            <a:ext cx="4006899" cy="357148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48894" rIns="0" bIns="0" rtlCol="0">
            <a:spAutoFit/>
          </a:bodyPr>
          <a:lstStyle/>
          <a:p>
            <a:pPr marL="91440">
              <a:spcBef>
                <a:spcPts val="384"/>
              </a:spcBef>
            </a:pPr>
            <a:r>
              <a:rPr sz="2000" b="1" spc="-145" dirty="0">
                <a:solidFill>
                  <a:srgbClr val="EC7C30"/>
                </a:solidFill>
                <a:latin typeface="Arial"/>
                <a:cs typeface="Arial"/>
              </a:rPr>
              <a:t>Und</a:t>
            </a:r>
            <a:r>
              <a:rPr sz="2000" b="1" spc="-7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000" b="1" spc="-85" dirty="0">
                <a:solidFill>
                  <a:srgbClr val="EC7C30"/>
                </a:solidFill>
                <a:latin typeface="Arial"/>
                <a:cs typeface="Arial"/>
              </a:rPr>
              <a:t>wie</a:t>
            </a:r>
            <a:r>
              <a:rPr sz="2000" b="1" spc="-8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000" b="1" spc="-125" dirty="0">
                <a:solidFill>
                  <a:srgbClr val="EC7C30"/>
                </a:solidFill>
                <a:latin typeface="Arial"/>
                <a:cs typeface="Arial"/>
              </a:rPr>
              <a:t>sieht</a:t>
            </a:r>
            <a:r>
              <a:rPr sz="2000" b="1" spc="-10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000" b="1" spc="-105" dirty="0">
                <a:solidFill>
                  <a:srgbClr val="EC7C30"/>
                </a:solidFill>
                <a:latin typeface="Arial"/>
                <a:cs typeface="Arial"/>
              </a:rPr>
              <a:t>der</a:t>
            </a:r>
            <a:r>
              <a:rPr sz="2000" b="1" spc="-7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000" b="1" spc="-114" dirty="0">
                <a:solidFill>
                  <a:srgbClr val="EC7C30"/>
                </a:solidFill>
                <a:latin typeface="Arial"/>
                <a:cs typeface="Arial"/>
              </a:rPr>
              <a:t>Automat</a:t>
            </a:r>
            <a:r>
              <a:rPr sz="2000" b="1" spc="-10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EC7C30"/>
                </a:solidFill>
                <a:latin typeface="Arial"/>
                <a:cs typeface="Arial"/>
              </a:rPr>
              <a:t>aus?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88957" y="3536264"/>
            <a:ext cx="79311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solidFill>
                  <a:srgbClr val="767070"/>
                </a:solidFill>
                <a:latin typeface="Arial"/>
                <a:cs typeface="Arial"/>
              </a:rPr>
              <a:t>2€-</a:t>
            </a:r>
            <a:r>
              <a:rPr sz="1200" spc="-20" dirty="0">
                <a:solidFill>
                  <a:srgbClr val="767070"/>
                </a:solidFill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  <a:p>
            <a:pPr marL="12700">
              <a:spcBef>
                <a:spcPts val="5"/>
              </a:spcBef>
            </a:pPr>
            <a:r>
              <a:rPr sz="1200" spc="-30" dirty="0">
                <a:solidFill>
                  <a:srgbClr val="767070"/>
                </a:solidFill>
                <a:latin typeface="Arial"/>
                <a:cs typeface="Arial"/>
              </a:rPr>
              <a:t>entnommen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8082" y="3451860"/>
            <a:ext cx="7962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15" algn="r">
              <a:spcBef>
                <a:spcPts val="100"/>
              </a:spcBef>
            </a:pPr>
            <a:r>
              <a:rPr sz="1200" spc="-10" dirty="0">
                <a:solidFill>
                  <a:srgbClr val="767070"/>
                </a:solidFill>
                <a:latin typeface="Arial"/>
                <a:cs typeface="Arial"/>
              </a:rPr>
              <a:t>fertig</a:t>
            </a:r>
            <a:endParaRPr sz="1200">
              <a:latin typeface="Arial"/>
              <a:cs typeface="Arial"/>
            </a:endParaRPr>
          </a:p>
          <a:p>
            <a:pPr marR="5080" algn="r"/>
            <a:r>
              <a:rPr sz="1200" spc="-30" dirty="0">
                <a:solidFill>
                  <a:srgbClr val="767070"/>
                </a:solidFill>
                <a:latin typeface="Arial"/>
                <a:cs typeface="Arial"/>
              </a:rPr>
              <a:t>entnommen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48577" y="1547748"/>
            <a:ext cx="652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1200" spc="-60" dirty="0">
                <a:solidFill>
                  <a:srgbClr val="767070"/>
                </a:solidFill>
                <a:latin typeface="Arial"/>
                <a:cs typeface="Arial"/>
              </a:rPr>
              <a:t>1€-Münze 2€-Münze </a:t>
            </a:r>
            <a:r>
              <a:rPr sz="1200" spc="-10" dirty="0">
                <a:solidFill>
                  <a:srgbClr val="767070"/>
                </a:solidFill>
                <a:latin typeface="Arial"/>
                <a:cs typeface="Arial"/>
              </a:rPr>
              <a:t>fertig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928617" y="2570479"/>
            <a:ext cx="5753100" cy="2399030"/>
            <a:chOff x="2195067" y="2291079"/>
            <a:chExt cx="5753100" cy="2399030"/>
          </a:xfrm>
        </p:grpSpPr>
        <p:sp>
          <p:nvSpPr>
            <p:cNvPr id="6" name="object 6"/>
            <p:cNvSpPr/>
            <p:nvPr/>
          </p:nvSpPr>
          <p:spPr>
            <a:xfrm>
              <a:off x="2487167" y="4683251"/>
              <a:ext cx="1695450" cy="0"/>
            </a:xfrm>
            <a:custGeom>
              <a:avLst/>
              <a:gdLst/>
              <a:ahLst/>
              <a:cxnLst/>
              <a:rect l="l" t="t" r="r" b="b"/>
              <a:pathLst>
                <a:path w="1695450">
                  <a:moveTo>
                    <a:pt x="169494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95068" y="2291079"/>
              <a:ext cx="4523105" cy="2392045"/>
            </a:xfrm>
            <a:custGeom>
              <a:avLst/>
              <a:gdLst/>
              <a:ahLst/>
              <a:cxnLst/>
              <a:rect l="l" t="t" r="r" b="b"/>
              <a:pathLst>
                <a:path w="4523105" h="2392045">
                  <a:moveTo>
                    <a:pt x="127000" y="585978"/>
                  </a:moveTo>
                  <a:lnTo>
                    <a:pt x="69850" y="585978"/>
                  </a:lnTo>
                  <a:lnTo>
                    <a:pt x="69850" y="348488"/>
                  </a:lnTo>
                  <a:lnTo>
                    <a:pt x="57150" y="348488"/>
                  </a:lnTo>
                  <a:lnTo>
                    <a:pt x="57150" y="585978"/>
                  </a:lnTo>
                  <a:lnTo>
                    <a:pt x="0" y="585978"/>
                  </a:lnTo>
                  <a:lnTo>
                    <a:pt x="63500" y="712978"/>
                  </a:lnTo>
                  <a:lnTo>
                    <a:pt x="120650" y="598678"/>
                  </a:lnTo>
                  <a:lnTo>
                    <a:pt x="127000" y="585978"/>
                  </a:lnTo>
                  <a:close/>
                </a:path>
                <a:path w="4523105" h="2392045">
                  <a:moveTo>
                    <a:pt x="355600" y="1642872"/>
                  </a:moveTo>
                  <a:lnTo>
                    <a:pt x="349250" y="1630172"/>
                  </a:lnTo>
                  <a:lnTo>
                    <a:pt x="292100" y="1515872"/>
                  </a:lnTo>
                  <a:lnTo>
                    <a:pt x="228600" y="1642872"/>
                  </a:lnTo>
                  <a:lnTo>
                    <a:pt x="285750" y="1642872"/>
                  </a:lnTo>
                  <a:lnTo>
                    <a:pt x="285750" y="2391537"/>
                  </a:lnTo>
                  <a:lnTo>
                    <a:pt x="298450" y="2391537"/>
                  </a:lnTo>
                  <a:lnTo>
                    <a:pt x="298450" y="1642872"/>
                  </a:lnTo>
                  <a:lnTo>
                    <a:pt x="355600" y="1642872"/>
                  </a:lnTo>
                  <a:close/>
                </a:path>
                <a:path w="4523105" h="2392045">
                  <a:moveTo>
                    <a:pt x="1821688" y="2131695"/>
                  </a:moveTo>
                  <a:lnTo>
                    <a:pt x="1808988" y="2125345"/>
                  </a:lnTo>
                  <a:lnTo>
                    <a:pt x="1694688" y="2068195"/>
                  </a:lnTo>
                  <a:lnTo>
                    <a:pt x="1694688" y="2125345"/>
                  </a:lnTo>
                  <a:lnTo>
                    <a:pt x="498094" y="2125345"/>
                  </a:lnTo>
                  <a:lnTo>
                    <a:pt x="498094" y="1518920"/>
                  </a:lnTo>
                  <a:lnTo>
                    <a:pt x="485394" y="1518920"/>
                  </a:lnTo>
                  <a:lnTo>
                    <a:pt x="485394" y="2138045"/>
                  </a:lnTo>
                  <a:lnTo>
                    <a:pt x="1694688" y="2138045"/>
                  </a:lnTo>
                  <a:lnTo>
                    <a:pt x="1694688" y="2195195"/>
                  </a:lnTo>
                  <a:lnTo>
                    <a:pt x="1808988" y="2138045"/>
                  </a:lnTo>
                  <a:lnTo>
                    <a:pt x="1821688" y="2131695"/>
                  </a:lnTo>
                  <a:close/>
                </a:path>
                <a:path w="4523105" h="2392045">
                  <a:moveTo>
                    <a:pt x="1821688" y="57150"/>
                  </a:moveTo>
                  <a:lnTo>
                    <a:pt x="485394" y="57150"/>
                  </a:lnTo>
                  <a:lnTo>
                    <a:pt x="485394" y="585978"/>
                  </a:lnTo>
                  <a:lnTo>
                    <a:pt x="428244" y="585978"/>
                  </a:lnTo>
                  <a:lnTo>
                    <a:pt x="491744" y="712978"/>
                  </a:lnTo>
                  <a:lnTo>
                    <a:pt x="548894" y="598678"/>
                  </a:lnTo>
                  <a:lnTo>
                    <a:pt x="555244" y="585978"/>
                  </a:lnTo>
                  <a:lnTo>
                    <a:pt x="498094" y="585978"/>
                  </a:lnTo>
                  <a:lnTo>
                    <a:pt x="498094" y="69850"/>
                  </a:lnTo>
                  <a:lnTo>
                    <a:pt x="1821688" y="69850"/>
                  </a:lnTo>
                  <a:lnTo>
                    <a:pt x="1821688" y="63500"/>
                  </a:lnTo>
                  <a:lnTo>
                    <a:pt x="1821688" y="57150"/>
                  </a:lnTo>
                  <a:close/>
                </a:path>
                <a:path w="4523105" h="2392045">
                  <a:moveTo>
                    <a:pt x="3820287" y="857504"/>
                  </a:moveTo>
                  <a:lnTo>
                    <a:pt x="3807587" y="851154"/>
                  </a:lnTo>
                  <a:lnTo>
                    <a:pt x="3693287" y="794004"/>
                  </a:lnTo>
                  <a:lnTo>
                    <a:pt x="3693287" y="851154"/>
                  </a:lnTo>
                  <a:lnTo>
                    <a:pt x="1012952" y="851154"/>
                  </a:lnTo>
                  <a:lnTo>
                    <a:pt x="1012952" y="863854"/>
                  </a:lnTo>
                  <a:lnTo>
                    <a:pt x="3693287" y="863854"/>
                  </a:lnTo>
                  <a:lnTo>
                    <a:pt x="3693287" y="921004"/>
                  </a:lnTo>
                  <a:lnTo>
                    <a:pt x="3807587" y="863854"/>
                  </a:lnTo>
                  <a:lnTo>
                    <a:pt x="3820287" y="857504"/>
                  </a:lnTo>
                  <a:close/>
                </a:path>
                <a:path w="4523105" h="2392045">
                  <a:moveTo>
                    <a:pt x="4465955" y="57150"/>
                  </a:moveTo>
                  <a:lnTo>
                    <a:pt x="3227832" y="57150"/>
                  </a:lnTo>
                  <a:lnTo>
                    <a:pt x="3227832" y="0"/>
                  </a:lnTo>
                  <a:lnTo>
                    <a:pt x="3100832" y="63500"/>
                  </a:lnTo>
                  <a:lnTo>
                    <a:pt x="3227832" y="127000"/>
                  </a:lnTo>
                  <a:lnTo>
                    <a:pt x="3227832" y="69850"/>
                  </a:lnTo>
                  <a:lnTo>
                    <a:pt x="4453255" y="69850"/>
                  </a:lnTo>
                  <a:lnTo>
                    <a:pt x="4453255" y="709676"/>
                  </a:lnTo>
                  <a:lnTo>
                    <a:pt x="4465955" y="709676"/>
                  </a:lnTo>
                  <a:lnTo>
                    <a:pt x="4465955" y="69850"/>
                  </a:lnTo>
                  <a:lnTo>
                    <a:pt x="4465955" y="63500"/>
                  </a:lnTo>
                  <a:lnTo>
                    <a:pt x="4465955" y="57150"/>
                  </a:lnTo>
                  <a:close/>
                </a:path>
                <a:path w="4523105" h="2392045">
                  <a:moveTo>
                    <a:pt x="4523105" y="1642872"/>
                  </a:moveTo>
                  <a:lnTo>
                    <a:pt x="4516755" y="1630172"/>
                  </a:lnTo>
                  <a:lnTo>
                    <a:pt x="4459605" y="1515872"/>
                  </a:lnTo>
                  <a:lnTo>
                    <a:pt x="4396105" y="1642872"/>
                  </a:lnTo>
                  <a:lnTo>
                    <a:pt x="4453255" y="1642872"/>
                  </a:lnTo>
                  <a:lnTo>
                    <a:pt x="4453255" y="2125726"/>
                  </a:lnTo>
                  <a:lnTo>
                    <a:pt x="3100832" y="2125726"/>
                  </a:lnTo>
                  <a:lnTo>
                    <a:pt x="3100832" y="2138426"/>
                  </a:lnTo>
                  <a:lnTo>
                    <a:pt x="4465955" y="2138426"/>
                  </a:lnTo>
                  <a:lnTo>
                    <a:pt x="4465955" y="2132076"/>
                  </a:lnTo>
                  <a:lnTo>
                    <a:pt x="4465955" y="2125726"/>
                  </a:lnTo>
                  <a:lnTo>
                    <a:pt x="4465955" y="1642872"/>
                  </a:lnTo>
                  <a:lnTo>
                    <a:pt x="4523105" y="1642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95388" y="3148583"/>
              <a:ext cx="646430" cy="0"/>
            </a:xfrm>
            <a:custGeom>
              <a:avLst/>
              <a:gdLst/>
              <a:ahLst/>
              <a:cxnLst/>
              <a:rect l="l" t="t" r="r" b="b"/>
              <a:pathLst>
                <a:path w="646429">
                  <a:moveTo>
                    <a:pt x="0" y="0"/>
                  </a:moveTo>
                  <a:lnTo>
                    <a:pt x="646048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95388" y="3545331"/>
              <a:ext cx="646430" cy="127000"/>
            </a:xfrm>
            <a:custGeom>
              <a:avLst/>
              <a:gdLst/>
              <a:ahLst/>
              <a:cxnLst/>
              <a:rect l="l" t="t" r="r" b="b"/>
              <a:pathLst>
                <a:path w="646429" h="127000">
                  <a:moveTo>
                    <a:pt x="127000" y="0"/>
                  </a:moveTo>
                  <a:lnTo>
                    <a:pt x="0" y="63499"/>
                  </a:lnTo>
                  <a:lnTo>
                    <a:pt x="127000" y="126999"/>
                  </a:lnTo>
                  <a:lnTo>
                    <a:pt x="127000" y="69849"/>
                  </a:lnTo>
                  <a:lnTo>
                    <a:pt x="114300" y="69849"/>
                  </a:lnTo>
                  <a:lnTo>
                    <a:pt x="114300" y="57150"/>
                  </a:lnTo>
                  <a:lnTo>
                    <a:pt x="127000" y="57150"/>
                  </a:lnTo>
                  <a:lnTo>
                    <a:pt x="127000" y="0"/>
                  </a:lnTo>
                  <a:close/>
                </a:path>
                <a:path w="646429" h="127000">
                  <a:moveTo>
                    <a:pt x="127000" y="57150"/>
                  </a:moveTo>
                  <a:lnTo>
                    <a:pt x="114300" y="57150"/>
                  </a:lnTo>
                  <a:lnTo>
                    <a:pt x="114300" y="69849"/>
                  </a:lnTo>
                  <a:lnTo>
                    <a:pt x="127000" y="69849"/>
                  </a:lnTo>
                  <a:lnTo>
                    <a:pt x="127000" y="57150"/>
                  </a:lnTo>
                  <a:close/>
                </a:path>
                <a:path w="646429" h="127000">
                  <a:moveTo>
                    <a:pt x="646048" y="57150"/>
                  </a:moveTo>
                  <a:lnTo>
                    <a:pt x="127000" y="57150"/>
                  </a:lnTo>
                  <a:lnTo>
                    <a:pt x="127000" y="69849"/>
                  </a:lnTo>
                  <a:lnTo>
                    <a:pt x="646048" y="69849"/>
                  </a:lnTo>
                  <a:lnTo>
                    <a:pt x="646048" y="5715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95388" y="3148583"/>
              <a:ext cx="646430" cy="461645"/>
            </a:xfrm>
            <a:custGeom>
              <a:avLst/>
              <a:gdLst/>
              <a:ahLst/>
              <a:cxnLst/>
              <a:rect l="l" t="t" r="r" b="b"/>
              <a:pathLst>
                <a:path w="646429" h="461645">
                  <a:moveTo>
                    <a:pt x="646176" y="0"/>
                  </a:moveTo>
                  <a:lnTo>
                    <a:pt x="646176" y="461136"/>
                  </a:lnTo>
                </a:path>
                <a:path w="646429" h="461645">
                  <a:moveTo>
                    <a:pt x="0" y="62483"/>
                  </a:moveTo>
                  <a:lnTo>
                    <a:pt x="433450" y="62483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95388" y="3423411"/>
              <a:ext cx="433705" cy="127000"/>
            </a:xfrm>
            <a:custGeom>
              <a:avLst/>
              <a:gdLst/>
              <a:ahLst/>
              <a:cxnLst/>
              <a:rect l="l" t="t" r="r" b="b"/>
              <a:pathLst>
                <a:path w="433704" h="1270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69850"/>
                  </a:lnTo>
                  <a:lnTo>
                    <a:pt x="114300" y="69850"/>
                  </a:lnTo>
                  <a:lnTo>
                    <a:pt x="114300" y="57150"/>
                  </a:lnTo>
                  <a:lnTo>
                    <a:pt x="127000" y="57150"/>
                  </a:lnTo>
                  <a:lnTo>
                    <a:pt x="127000" y="0"/>
                  </a:lnTo>
                  <a:close/>
                </a:path>
                <a:path w="433704" h="127000">
                  <a:moveTo>
                    <a:pt x="127000" y="57150"/>
                  </a:moveTo>
                  <a:lnTo>
                    <a:pt x="114300" y="57150"/>
                  </a:lnTo>
                  <a:lnTo>
                    <a:pt x="114300" y="69850"/>
                  </a:lnTo>
                  <a:lnTo>
                    <a:pt x="127000" y="69850"/>
                  </a:lnTo>
                  <a:lnTo>
                    <a:pt x="127000" y="57150"/>
                  </a:lnTo>
                  <a:close/>
                </a:path>
                <a:path w="433704" h="127000">
                  <a:moveTo>
                    <a:pt x="433450" y="57150"/>
                  </a:moveTo>
                  <a:lnTo>
                    <a:pt x="127000" y="57150"/>
                  </a:lnTo>
                  <a:lnTo>
                    <a:pt x="127000" y="69850"/>
                  </a:lnTo>
                  <a:lnTo>
                    <a:pt x="433450" y="69850"/>
                  </a:lnTo>
                  <a:lnTo>
                    <a:pt x="433450" y="5715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28203" y="3211067"/>
              <a:ext cx="0" cy="275590"/>
            </a:xfrm>
            <a:custGeom>
              <a:avLst/>
              <a:gdLst/>
              <a:ahLst/>
              <a:cxnLst/>
              <a:rect l="l" t="t" r="r" b="b"/>
              <a:pathLst>
                <a:path h="275589">
                  <a:moveTo>
                    <a:pt x="0" y="0"/>
                  </a:moveTo>
                  <a:lnTo>
                    <a:pt x="0" y="275336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496044" y="3353690"/>
            <a:ext cx="84581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>
              <a:lnSpc>
                <a:spcPts val="1095"/>
              </a:lnSpc>
              <a:spcBef>
                <a:spcPts val="100"/>
              </a:spcBef>
            </a:pPr>
            <a:r>
              <a:rPr sz="1200" spc="-60" dirty="0">
                <a:solidFill>
                  <a:srgbClr val="767070"/>
                </a:solidFill>
                <a:latin typeface="Arial"/>
                <a:cs typeface="Arial"/>
              </a:rPr>
              <a:t>1€-</a:t>
            </a:r>
            <a:r>
              <a:rPr sz="1200" spc="-40" dirty="0">
                <a:solidFill>
                  <a:srgbClr val="767070"/>
                </a:solidFill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35"/>
              </a:lnSpc>
            </a:pPr>
            <a:r>
              <a:rPr sz="1400" spc="-484" dirty="0">
                <a:solidFill>
                  <a:srgbClr val="767070"/>
                </a:solidFill>
                <a:latin typeface="Arial"/>
                <a:cs typeface="Arial"/>
              </a:rPr>
              <a:t>…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127755" y="3421634"/>
            <a:ext cx="659130" cy="530225"/>
            <a:chOff x="1394205" y="3142233"/>
            <a:chExt cx="659130" cy="530225"/>
          </a:xfrm>
        </p:grpSpPr>
        <p:sp>
          <p:nvSpPr>
            <p:cNvPr id="15" name="object 15"/>
            <p:cNvSpPr/>
            <p:nvPr/>
          </p:nvSpPr>
          <p:spPr>
            <a:xfrm>
              <a:off x="1400555" y="3148583"/>
              <a:ext cx="646430" cy="0"/>
            </a:xfrm>
            <a:custGeom>
              <a:avLst/>
              <a:gdLst/>
              <a:ahLst/>
              <a:cxnLst/>
              <a:rect l="l" t="t" r="r" b="b"/>
              <a:pathLst>
                <a:path w="646430">
                  <a:moveTo>
                    <a:pt x="64604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00555" y="3545331"/>
              <a:ext cx="646430" cy="127000"/>
            </a:xfrm>
            <a:custGeom>
              <a:avLst/>
              <a:gdLst/>
              <a:ahLst/>
              <a:cxnLst/>
              <a:rect l="l" t="t" r="r" b="b"/>
              <a:pathLst>
                <a:path w="646430" h="127000">
                  <a:moveTo>
                    <a:pt x="519049" y="0"/>
                  </a:moveTo>
                  <a:lnTo>
                    <a:pt x="519049" y="126999"/>
                  </a:lnTo>
                  <a:lnTo>
                    <a:pt x="633349" y="69849"/>
                  </a:lnTo>
                  <a:lnTo>
                    <a:pt x="531749" y="69849"/>
                  </a:lnTo>
                  <a:lnTo>
                    <a:pt x="531749" y="57150"/>
                  </a:lnTo>
                  <a:lnTo>
                    <a:pt x="633349" y="57150"/>
                  </a:lnTo>
                  <a:lnTo>
                    <a:pt x="519049" y="0"/>
                  </a:lnTo>
                  <a:close/>
                </a:path>
                <a:path w="646430" h="127000">
                  <a:moveTo>
                    <a:pt x="519049" y="57150"/>
                  </a:moveTo>
                  <a:lnTo>
                    <a:pt x="0" y="57150"/>
                  </a:lnTo>
                  <a:lnTo>
                    <a:pt x="0" y="69849"/>
                  </a:lnTo>
                  <a:lnTo>
                    <a:pt x="519049" y="69849"/>
                  </a:lnTo>
                  <a:lnTo>
                    <a:pt x="519049" y="57150"/>
                  </a:lnTo>
                  <a:close/>
                </a:path>
                <a:path w="646430" h="127000">
                  <a:moveTo>
                    <a:pt x="633349" y="57150"/>
                  </a:moveTo>
                  <a:lnTo>
                    <a:pt x="531749" y="57150"/>
                  </a:lnTo>
                  <a:lnTo>
                    <a:pt x="531749" y="69849"/>
                  </a:lnTo>
                  <a:lnTo>
                    <a:pt x="633349" y="69849"/>
                  </a:lnTo>
                  <a:lnTo>
                    <a:pt x="646049" y="63499"/>
                  </a:lnTo>
                  <a:lnTo>
                    <a:pt x="633349" y="5715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00555" y="3148583"/>
              <a:ext cx="645795" cy="461645"/>
            </a:xfrm>
            <a:custGeom>
              <a:avLst/>
              <a:gdLst/>
              <a:ahLst/>
              <a:cxnLst/>
              <a:rect l="l" t="t" r="r" b="b"/>
              <a:pathLst>
                <a:path w="645794" h="461645">
                  <a:moveTo>
                    <a:pt x="0" y="0"/>
                  </a:moveTo>
                  <a:lnTo>
                    <a:pt x="0" y="461136"/>
                  </a:lnTo>
                </a:path>
                <a:path w="645794" h="461645">
                  <a:moveTo>
                    <a:pt x="645287" y="64007"/>
                  </a:moveTo>
                  <a:lnTo>
                    <a:pt x="211835" y="64007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12391" y="3423411"/>
              <a:ext cx="433705" cy="127000"/>
            </a:xfrm>
            <a:custGeom>
              <a:avLst/>
              <a:gdLst/>
              <a:ahLst/>
              <a:cxnLst/>
              <a:rect l="l" t="t" r="r" b="b"/>
              <a:pathLst>
                <a:path w="433705" h="127000">
                  <a:moveTo>
                    <a:pt x="306451" y="0"/>
                  </a:moveTo>
                  <a:lnTo>
                    <a:pt x="306451" y="127000"/>
                  </a:lnTo>
                  <a:lnTo>
                    <a:pt x="420751" y="69850"/>
                  </a:lnTo>
                  <a:lnTo>
                    <a:pt x="319151" y="69850"/>
                  </a:lnTo>
                  <a:lnTo>
                    <a:pt x="319151" y="57150"/>
                  </a:lnTo>
                  <a:lnTo>
                    <a:pt x="420751" y="57150"/>
                  </a:lnTo>
                  <a:lnTo>
                    <a:pt x="306451" y="0"/>
                  </a:lnTo>
                  <a:close/>
                </a:path>
                <a:path w="433705" h="127000">
                  <a:moveTo>
                    <a:pt x="306451" y="57150"/>
                  </a:moveTo>
                  <a:lnTo>
                    <a:pt x="0" y="57150"/>
                  </a:lnTo>
                  <a:lnTo>
                    <a:pt x="0" y="69850"/>
                  </a:lnTo>
                  <a:lnTo>
                    <a:pt x="306451" y="69850"/>
                  </a:lnTo>
                  <a:lnTo>
                    <a:pt x="306451" y="57150"/>
                  </a:lnTo>
                  <a:close/>
                </a:path>
                <a:path w="433705" h="127000">
                  <a:moveTo>
                    <a:pt x="420751" y="57150"/>
                  </a:moveTo>
                  <a:lnTo>
                    <a:pt x="319151" y="57150"/>
                  </a:lnTo>
                  <a:lnTo>
                    <a:pt x="319151" y="69850"/>
                  </a:lnTo>
                  <a:lnTo>
                    <a:pt x="420751" y="69850"/>
                  </a:lnTo>
                  <a:lnTo>
                    <a:pt x="433451" y="63500"/>
                  </a:lnTo>
                  <a:lnTo>
                    <a:pt x="420751" y="5715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12391" y="3212591"/>
              <a:ext cx="0" cy="275590"/>
            </a:xfrm>
            <a:custGeom>
              <a:avLst/>
              <a:gdLst/>
              <a:ahLst/>
              <a:cxnLst/>
              <a:rect l="l" t="t" r="r" b="b"/>
              <a:pathLst>
                <a:path h="275589">
                  <a:moveTo>
                    <a:pt x="0" y="0"/>
                  </a:moveTo>
                  <a:lnTo>
                    <a:pt x="0" y="275336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165855" y="3448813"/>
            <a:ext cx="14859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484" dirty="0">
                <a:solidFill>
                  <a:srgbClr val="767070"/>
                </a:solidFill>
                <a:latin typeface="Arial"/>
                <a:cs typeface="Arial"/>
              </a:rPr>
              <a:t>…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52896" y="5099558"/>
            <a:ext cx="532130" cy="659130"/>
            <a:chOff x="4419346" y="4820158"/>
            <a:chExt cx="532130" cy="659130"/>
          </a:xfrm>
        </p:grpSpPr>
        <p:sp>
          <p:nvSpPr>
            <p:cNvPr id="22" name="object 22"/>
            <p:cNvSpPr/>
            <p:nvPr/>
          </p:nvSpPr>
          <p:spPr>
            <a:xfrm>
              <a:off x="4425696" y="4826508"/>
              <a:ext cx="0" cy="646430"/>
            </a:xfrm>
            <a:custGeom>
              <a:avLst/>
              <a:gdLst/>
              <a:ahLst/>
              <a:cxnLst/>
              <a:rect l="l" t="t" r="r" b="b"/>
              <a:pathLst>
                <a:path h="646429">
                  <a:moveTo>
                    <a:pt x="0" y="0"/>
                  </a:moveTo>
                  <a:lnTo>
                    <a:pt x="0" y="646049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23968" y="4826508"/>
              <a:ext cx="127000" cy="646430"/>
            </a:xfrm>
            <a:custGeom>
              <a:avLst/>
              <a:gdLst/>
              <a:ahLst/>
              <a:cxnLst/>
              <a:rect l="l" t="t" r="r" b="b"/>
              <a:pathLst>
                <a:path w="127000" h="646429">
                  <a:moveTo>
                    <a:pt x="69850" y="114300"/>
                  </a:moveTo>
                  <a:lnTo>
                    <a:pt x="57150" y="114300"/>
                  </a:lnTo>
                  <a:lnTo>
                    <a:pt x="57150" y="646049"/>
                  </a:lnTo>
                  <a:lnTo>
                    <a:pt x="69850" y="646049"/>
                  </a:lnTo>
                  <a:lnTo>
                    <a:pt x="69850" y="114300"/>
                  </a:lnTo>
                  <a:close/>
                </a:path>
                <a:path w="127000" h="646429">
                  <a:moveTo>
                    <a:pt x="63500" y="0"/>
                  </a:moveTo>
                  <a:lnTo>
                    <a:pt x="0" y="127000"/>
                  </a:lnTo>
                  <a:lnTo>
                    <a:pt x="57150" y="127000"/>
                  </a:lnTo>
                  <a:lnTo>
                    <a:pt x="57150" y="114300"/>
                  </a:lnTo>
                  <a:lnTo>
                    <a:pt x="120650" y="114300"/>
                  </a:lnTo>
                  <a:lnTo>
                    <a:pt x="63500" y="0"/>
                  </a:lnTo>
                  <a:close/>
                </a:path>
                <a:path w="127000" h="646429">
                  <a:moveTo>
                    <a:pt x="120650" y="114300"/>
                  </a:moveTo>
                  <a:lnTo>
                    <a:pt x="69850" y="114300"/>
                  </a:lnTo>
                  <a:lnTo>
                    <a:pt x="69850" y="127000"/>
                  </a:lnTo>
                  <a:lnTo>
                    <a:pt x="127000" y="127000"/>
                  </a:lnTo>
                  <a:lnTo>
                    <a:pt x="120650" y="11430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25696" y="4826508"/>
              <a:ext cx="461645" cy="646430"/>
            </a:xfrm>
            <a:custGeom>
              <a:avLst/>
              <a:gdLst/>
              <a:ahLst/>
              <a:cxnLst/>
              <a:rect l="l" t="t" r="r" b="b"/>
              <a:pathLst>
                <a:path w="461645" h="646429">
                  <a:moveTo>
                    <a:pt x="0" y="646176"/>
                  </a:moveTo>
                  <a:lnTo>
                    <a:pt x="461137" y="646176"/>
                  </a:lnTo>
                </a:path>
                <a:path w="461645" h="646429">
                  <a:moveTo>
                    <a:pt x="64007" y="0"/>
                  </a:moveTo>
                  <a:lnTo>
                    <a:pt x="64007" y="433451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02048" y="4826508"/>
              <a:ext cx="127000" cy="433705"/>
            </a:xfrm>
            <a:custGeom>
              <a:avLst/>
              <a:gdLst/>
              <a:ahLst/>
              <a:cxnLst/>
              <a:rect l="l" t="t" r="r" b="b"/>
              <a:pathLst>
                <a:path w="127000" h="433704">
                  <a:moveTo>
                    <a:pt x="69850" y="114300"/>
                  </a:moveTo>
                  <a:lnTo>
                    <a:pt x="57150" y="114300"/>
                  </a:lnTo>
                  <a:lnTo>
                    <a:pt x="57150" y="433451"/>
                  </a:lnTo>
                  <a:lnTo>
                    <a:pt x="69850" y="433451"/>
                  </a:lnTo>
                  <a:lnTo>
                    <a:pt x="69850" y="114300"/>
                  </a:lnTo>
                  <a:close/>
                </a:path>
                <a:path w="127000" h="433704">
                  <a:moveTo>
                    <a:pt x="63500" y="0"/>
                  </a:moveTo>
                  <a:lnTo>
                    <a:pt x="0" y="127000"/>
                  </a:lnTo>
                  <a:lnTo>
                    <a:pt x="57150" y="127000"/>
                  </a:lnTo>
                  <a:lnTo>
                    <a:pt x="57150" y="114300"/>
                  </a:lnTo>
                  <a:lnTo>
                    <a:pt x="120650" y="114300"/>
                  </a:lnTo>
                  <a:lnTo>
                    <a:pt x="63500" y="0"/>
                  </a:lnTo>
                  <a:close/>
                </a:path>
                <a:path w="127000" h="433704">
                  <a:moveTo>
                    <a:pt x="120650" y="114300"/>
                  </a:moveTo>
                  <a:lnTo>
                    <a:pt x="69850" y="114300"/>
                  </a:lnTo>
                  <a:lnTo>
                    <a:pt x="69850" y="127000"/>
                  </a:lnTo>
                  <a:lnTo>
                    <a:pt x="127000" y="127000"/>
                  </a:lnTo>
                  <a:lnTo>
                    <a:pt x="120650" y="11430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89704" y="5259324"/>
              <a:ext cx="275590" cy="0"/>
            </a:xfrm>
            <a:custGeom>
              <a:avLst/>
              <a:gdLst/>
              <a:ahLst/>
              <a:cxnLst/>
              <a:rect l="l" t="t" r="r" b="b"/>
              <a:pathLst>
                <a:path w="275589">
                  <a:moveTo>
                    <a:pt x="0" y="0"/>
                  </a:moveTo>
                  <a:lnTo>
                    <a:pt x="275336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224904" y="5572078"/>
            <a:ext cx="179536" cy="1485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spc="-484" dirty="0">
                <a:solidFill>
                  <a:srgbClr val="767070"/>
                </a:solidFill>
                <a:latin typeface="Arial"/>
                <a:cs typeface="Arial"/>
              </a:rPr>
              <a:t>…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07938" y="1579117"/>
            <a:ext cx="532130" cy="659130"/>
            <a:chOff x="4374388" y="1299717"/>
            <a:chExt cx="532130" cy="659130"/>
          </a:xfrm>
        </p:grpSpPr>
        <p:sp>
          <p:nvSpPr>
            <p:cNvPr id="29" name="object 29"/>
            <p:cNvSpPr/>
            <p:nvPr/>
          </p:nvSpPr>
          <p:spPr>
            <a:xfrm>
              <a:off x="4899660" y="1306067"/>
              <a:ext cx="0" cy="646430"/>
            </a:xfrm>
            <a:custGeom>
              <a:avLst/>
              <a:gdLst/>
              <a:ahLst/>
              <a:cxnLst/>
              <a:rect l="l" t="t" r="r" b="b"/>
              <a:pathLst>
                <a:path h="646430">
                  <a:moveTo>
                    <a:pt x="0" y="64604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74388" y="1306067"/>
              <a:ext cx="127000" cy="646430"/>
            </a:xfrm>
            <a:custGeom>
              <a:avLst/>
              <a:gdLst/>
              <a:ahLst/>
              <a:cxnLst/>
              <a:rect l="l" t="t" r="r" b="b"/>
              <a:pathLst>
                <a:path w="127000" h="646430">
                  <a:moveTo>
                    <a:pt x="57150" y="519049"/>
                  </a:moveTo>
                  <a:lnTo>
                    <a:pt x="0" y="519049"/>
                  </a:lnTo>
                  <a:lnTo>
                    <a:pt x="63500" y="646049"/>
                  </a:lnTo>
                  <a:lnTo>
                    <a:pt x="120650" y="531749"/>
                  </a:lnTo>
                  <a:lnTo>
                    <a:pt x="57150" y="531749"/>
                  </a:lnTo>
                  <a:lnTo>
                    <a:pt x="57150" y="519049"/>
                  </a:lnTo>
                  <a:close/>
                </a:path>
                <a:path w="127000" h="646430">
                  <a:moveTo>
                    <a:pt x="69850" y="0"/>
                  </a:moveTo>
                  <a:lnTo>
                    <a:pt x="57150" y="0"/>
                  </a:lnTo>
                  <a:lnTo>
                    <a:pt x="57150" y="531749"/>
                  </a:lnTo>
                  <a:lnTo>
                    <a:pt x="69850" y="531749"/>
                  </a:lnTo>
                  <a:lnTo>
                    <a:pt x="69850" y="0"/>
                  </a:lnTo>
                  <a:close/>
                </a:path>
                <a:path w="127000" h="646430">
                  <a:moveTo>
                    <a:pt x="127000" y="519049"/>
                  </a:moveTo>
                  <a:lnTo>
                    <a:pt x="69850" y="519049"/>
                  </a:lnTo>
                  <a:lnTo>
                    <a:pt x="69850" y="531749"/>
                  </a:lnTo>
                  <a:lnTo>
                    <a:pt x="120650" y="531749"/>
                  </a:lnTo>
                  <a:lnTo>
                    <a:pt x="127000" y="519049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37888" y="1306067"/>
              <a:ext cx="461645" cy="645795"/>
            </a:xfrm>
            <a:custGeom>
              <a:avLst/>
              <a:gdLst/>
              <a:ahLst/>
              <a:cxnLst/>
              <a:rect l="l" t="t" r="r" b="b"/>
              <a:pathLst>
                <a:path w="461645" h="645794">
                  <a:moveTo>
                    <a:pt x="461137" y="0"/>
                  </a:moveTo>
                  <a:lnTo>
                    <a:pt x="0" y="0"/>
                  </a:lnTo>
                </a:path>
                <a:path w="461645" h="645794">
                  <a:moveTo>
                    <a:pt x="397763" y="645287"/>
                  </a:moveTo>
                  <a:lnTo>
                    <a:pt x="397763" y="211836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96308" y="1517903"/>
              <a:ext cx="127000" cy="433705"/>
            </a:xfrm>
            <a:custGeom>
              <a:avLst/>
              <a:gdLst/>
              <a:ahLst/>
              <a:cxnLst/>
              <a:rect l="l" t="t" r="r" b="b"/>
              <a:pathLst>
                <a:path w="127000" h="433705">
                  <a:moveTo>
                    <a:pt x="57150" y="306450"/>
                  </a:moveTo>
                  <a:lnTo>
                    <a:pt x="0" y="306450"/>
                  </a:lnTo>
                  <a:lnTo>
                    <a:pt x="63500" y="433450"/>
                  </a:lnTo>
                  <a:lnTo>
                    <a:pt x="120650" y="319150"/>
                  </a:lnTo>
                  <a:lnTo>
                    <a:pt x="57150" y="319150"/>
                  </a:lnTo>
                  <a:lnTo>
                    <a:pt x="57150" y="306450"/>
                  </a:lnTo>
                  <a:close/>
                </a:path>
                <a:path w="127000" h="433705">
                  <a:moveTo>
                    <a:pt x="69850" y="0"/>
                  </a:moveTo>
                  <a:lnTo>
                    <a:pt x="57150" y="0"/>
                  </a:lnTo>
                  <a:lnTo>
                    <a:pt x="57150" y="319150"/>
                  </a:lnTo>
                  <a:lnTo>
                    <a:pt x="69850" y="319150"/>
                  </a:lnTo>
                  <a:lnTo>
                    <a:pt x="69850" y="0"/>
                  </a:lnTo>
                  <a:close/>
                </a:path>
                <a:path w="127000" h="433705">
                  <a:moveTo>
                    <a:pt x="127000" y="306450"/>
                  </a:moveTo>
                  <a:lnTo>
                    <a:pt x="69850" y="306450"/>
                  </a:lnTo>
                  <a:lnTo>
                    <a:pt x="69850" y="319150"/>
                  </a:lnTo>
                  <a:lnTo>
                    <a:pt x="120650" y="319150"/>
                  </a:lnTo>
                  <a:lnTo>
                    <a:pt x="127000" y="30645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59808" y="1517903"/>
              <a:ext cx="275590" cy="0"/>
            </a:xfrm>
            <a:custGeom>
              <a:avLst/>
              <a:gdLst/>
              <a:ahLst/>
              <a:cxnLst/>
              <a:rect l="l" t="t" r="r" b="b"/>
              <a:pathLst>
                <a:path w="275589">
                  <a:moveTo>
                    <a:pt x="27533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389284" y="1617852"/>
            <a:ext cx="179536" cy="1485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spc="-484" dirty="0">
                <a:solidFill>
                  <a:srgbClr val="767070"/>
                </a:solidFill>
                <a:latin typeface="Arial"/>
                <a:cs typeface="Arial"/>
              </a:rPr>
              <a:t>…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xfrm>
            <a:off x="568299" y="677744"/>
            <a:ext cx="40639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55" dirty="0"/>
              <a:t>Kaffeeautomat</a:t>
            </a:r>
          </a:p>
        </p:txBody>
      </p:sp>
      <p:grpSp>
        <p:nvGrpSpPr>
          <p:cNvPr id="36" name="object 36"/>
          <p:cNvGrpSpPr/>
          <p:nvPr/>
        </p:nvGrpSpPr>
        <p:grpSpPr>
          <a:xfrm>
            <a:off x="3773932" y="3276854"/>
            <a:ext cx="1292860" cy="819150"/>
            <a:chOff x="2040382" y="2997454"/>
            <a:chExt cx="1292860" cy="819150"/>
          </a:xfrm>
        </p:grpSpPr>
        <p:sp>
          <p:nvSpPr>
            <p:cNvPr id="37" name="object 37"/>
            <p:cNvSpPr/>
            <p:nvPr/>
          </p:nvSpPr>
          <p:spPr>
            <a:xfrm>
              <a:off x="2046732" y="3003804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6" y="806196"/>
                  </a:lnTo>
                  <a:lnTo>
                    <a:pt x="1145794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046732" y="3003804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6"/>
                  </a:lnTo>
                  <a:lnTo>
                    <a:pt x="134366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227830" y="35225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5" dirty="0">
                <a:solidFill>
                  <a:srgbClr val="FFFFFF"/>
                </a:solidFill>
                <a:latin typeface="Arial"/>
                <a:cs typeface="Arial"/>
              </a:rPr>
              <a:t>leer</a:t>
            </a:r>
            <a:endParaRPr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742428" y="3273805"/>
            <a:ext cx="1292860" cy="819150"/>
            <a:chOff x="6008878" y="2994405"/>
            <a:chExt cx="1292860" cy="819150"/>
          </a:xfrm>
        </p:grpSpPr>
        <p:sp>
          <p:nvSpPr>
            <p:cNvPr id="41" name="object 41"/>
            <p:cNvSpPr/>
            <p:nvPr/>
          </p:nvSpPr>
          <p:spPr>
            <a:xfrm>
              <a:off x="6015228" y="3000755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6" y="806196"/>
                  </a:lnTo>
                  <a:lnTo>
                    <a:pt x="1145794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60" y="671830"/>
                  </a:lnTo>
                  <a:lnTo>
                    <a:pt x="1280160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015228" y="3000755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60" y="134366"/>
                  </a:lnTo>
                  <a:lnTo>
                    <a:pt x="1280160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6"/>
                  </a:lnTo>
                  <a:lnTo>
                    <a:pt x="134366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982330" y="3519170"/>
            <a:ext cx="812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5" dirty="0">
                <a:solidFill>
                  <a:srgbClr val="FFFFFF"/>
                </a:solidFill>
                <a:latin typeface="Arial"/>
                <a:cs typeface="Arial"/>
              </a:rPr>
              <a:t>kochend</a:t>
            </a:r>
            <a:endParaRPr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902202" y="2739135"/>
            <a:ext cx="3133725" cy="2373630"/>
            <a:chOff x="2168651" y="2459735"/>
            <a:chExt cx="3133725" cy="2373630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8651" y="2459735"/>
              <a:ext cx="179831" cy="17983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015739" y="4020311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60" y="671830"/>
                  </a:lnTo>
                  <a:lnTo>
                    <a:pt x="1280160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15739" y="4020311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60" y="134365"/>
                  </a:lnTo>
                  <a:lnTo>
                    <a:pt x="1280160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5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108191" y="3400044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96355" y="4538168"/>
            <a:ext cx="98869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1€</a:t>
            </a:r>
            <a:r>
              <a:rPr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65" dirty="0">
                <a:solidFill>
                  <a:srgbClr val="FFFFFF"/>
                </a:solidFill>
                <a:latin typeface="Arial"/>
                <a:cs typeface="Arial"/>
              </a:rPr>
              <a:t>bezahlt</a:t>
            </a:r>
            <a:endParaRPr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742940" y="2225294"/>
            <a:ext cx="1292860" cy="819150"/>
            <a:chOff x="4009390" y="1945894"/>
            <a:chExt cx="1292860" cy="819150"/>
          </a:xfrm>
        </p:grpSpPr>
        <p:sp>
          <p:nvSpPr>
            <p:cNvPr id="51" name="object 51"/>
            <p:cNvSpPr/>
            <p:nvPr/>
          </p:nvSpPr>
          <p:spPr>
            <a:xfrm>
              <a:off x="4015740" y="1952244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60" y="671829"/>
                  </a:lnTo>
                  <a:lnTo>
                    <a:pt x="1280160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15740" y="1952244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60" y="134365"/>
                  </a:lnTo>
                  <a:lnTo>
                    <a:pt x="1280160" y="671829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5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989320" y="2469769"/>
            <a:ext cx="802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0" dirty="0">
                <a:solidFill>
                  <a:srgbClr val="FFFFFF"/>
                </a:solidFill>
                <a:latin typeface="Arial"/>
                <a:cs typeface="Arial"/>
              </a:rPr>
              <a:t>wartend</a:t>
            </a:r>
            <a:endParaRPr>
              <a:latin typeface="Arial"/>
              <a:cs typeface="Arial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15</a:t>
            </a:fld>
            <a:endParaRPr spc="-25" dirty="0"/>
          </a:p>
        </p:txBody>
      </p:sp>
      <p:sp>
        <p:nvSpPr>
          <p:cNvPr id="54" name="object 54"/>
          <p:cNvSpPr txBox="1"/>
          <p:nvPr/>
        </p:nvSpPr>
        <p:spPr>
          <a:xfrm>
            <a:off x="4667630" y="4959095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72583" y="4495545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165467" y="2388108"/>
            <a:ext cx="3575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fertig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715256" y="2371090"/>
            <a:ext cx="7931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entnommen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00214" y="4731461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60400" y="5713932"/>
            <a:ext cx="108839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270"/>
              </a:spcBef>
            </a:pPr>
            <a:endParaRPr sz="1400" dirty="0">
              <a:latin typeface="Arial"/>
              <a:cs typeface="Arial"/>
            </a:endParaRPr>
          </a:p>
          <a:p>
            <a:pPr marL="12700">
              <a:spcBef>
                <a:spcPts val="5"/>
              </a:spcBef>
            </a:pPr>
            <a:r>
              <a:rPr spc="-100" dirty="0">
                <a:latin typeface="Arial"/>
                <a:cs typeface="Arial"/>
              </a:rPr>
              <a:t>Bei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60" dirty="0" err="1">
                <a:latin typeface="Arial"/>
                <a:cs typeface="Arial"/>
              </a:rPr>
              <a:t>reaktiven</a:t>
            </a:r>
            <a:r>
              <a:rPr dirty="0">
                <a:latin typeface="Arial"/>
                <a:cs typeface="Arial"/>
              </a:rPr>
              <a:t> </a:t>
            </a:r>
            <a:r>
              <a:rPr spc="-60" dirty="0" err="1">
                <a:latin typeface="Arial"/>
                <a:cs typeface="Arial"/>
              </a:rPr>
              <a:t>deterministischen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120" dirty="0" err="1">
                <a:latin typeface="Arial"/>
                <a:cs typeface="Arial"/>
              </a:rPr>
              <a:t>Systemen</a:t>
            </a:r>
            <a:r>
              <a:rPr dirty="0">
                <a:latin typeface="Arial"/>
                <a:cs typeface="Arial"/>
              </a:rPr>
              <a:t> </a:t>
            </a:r>
            <a:r>
              <a:rPr spc="-90" dirty="0" err="1">
                <a:latin typeface="Arial"/>
                <a:cs typeface="Arial"/>
              </a:rPr>
              <a:t>kann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man</a:t>
            </a:r>
            <a:r>
              <a:rPr spc="-95" dirty="0">
                <a:latin typeface="Arial"/>
                <a:cs typeface="Arial"/>
              </a:rPr>
              <a:t> </a:t>
            </a:r>
            <a:r>
              <a:rPr b="1" spc="-120" dirty="0">
                <a:latin typeface="Arial"/>
                <a:cs typeface="Arial"/>
              </a:rPr>
              <a:t>„Self-</a:t>
            </a:r>
            <a:r>
              <a:rPr b="1" spc="-190" dirty="0">
                <a:latin typeface="Arial"/>
                <a:cs typeface="Arial"/>
              </a:rPr>
              <a:t>Loops“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10" dirty="0" err="1">
                <a:latin typeface="Arial"/>
                <a:cs typeface="Arial"/>
              </a:rPr>
              <a:t>weglassen</a:t>
            </a:r>
            <a:r>
              <a:rPr spc="-10" dirty="0">
                <a:latin typeface="Arial"/>
                <a:cs typeface="Arial"/>
              </a:rPr>
              <a:t>:</a:t>
            </a:r>
            <a:endParaRPr dirty="0">
              <a:latin typeface="Arial"/>
              <a:cs typeface="Arial"/>
            </a:endParaRPr>
          </a:p>
          <a:p>
            <a:pPr marL="12700">
              <a:spcBef>
                <a:spcPts val="5"/>
              </a:spcBef>
            </a:pPr>
            <a:r>
              <a:rPr sz="1600" spc="-80" dirty="0">
                <a:solidFill>
                  <a:srgbClr val="4471C4"/>
                </a:solidFill>
                <a:latin typeface="Arial"/>
                <a:cs typeface="Arial"/>
              </a:rPr>
              <a:t>Für</a:t>
            </a:r>
            <a:r>
              <a:rPr sz="1600" spc="-7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45" dirty="0">
                <a:solidFill>
                  <a:srgbClr val="4471C4"/>
                </a:solidFill>
                <a:latin typeface="Arial"/>
                <a:cs typeface="Arial"/>
              </a:rPr>
              <a:t>alle</a:t>
            </a:r>
            <a:r>
              <a:rPr sz="1600" spc="-4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90" dirty="0" err="1">
                <a:solidFill>
                  <a:srgbClr val="4471C4"/>
                </a:solidFill>
                <a:latin typeface="Arial"/>
                <a:cs typeface="Arial"/>
              </a:rPr>
              <a:t>Ereignisse</a:t>
            </a:r>
            <a:r>
              <a:rPr sz="1600" spc="-90" dirty="0">
                <a:solidFill>
                  <a:srgbClr val="4471C4"/>
                </a:solidFill>
                <a:latin typeface="Arial"/>
                <a:cs typeface="Arial"/>
              </a:rPr>
              <a:t>,</a:t>
            </a:r>
            <a:r>
              <a:rPr sz="1600" spc="-3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110" dirty="0" err="1">
                <a:solidFill>
                  <a:srgbClr val="4471C4"/>
                </a:solidFill>
                <a:latin typeface="Arial"/>
                <a:cs typeface="Arial"/>
              </a:rPr>
              <a:t>zu</a:t>
            </a:r>
            <a:r>
              <a:rPr sz="1600" spc="-5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60" dirty="0" err="1">
                <a:solidFill>
                  <a:srgbClr val="4471C4"/>
                </a:solidFill>
                <a:latin typeface="Arial"/>
                <a:cs typeface="Arial"/>
              </a:rPr>
              <a:t>denen</a:t>
            </a:r>
            <a:r>
              <a:rPr sz="1600" spc="-4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60" dirty="0" err="1">
                <a:solidFill>
                  <a:srgbClr val="4471C4"/>
                </a:solidFill>
                <a:latin typeface="Arial"/>
                <a:cs typeface="Arial"/>
              </a:rPr>
              <a:t>kein</a:t>
            </a:r>
            <a:r>
              <a:rPr sz="1600" spc="-4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80" dirty="0" err="1">
                <a:solidFill>
                  <a:srgbClr val="4471C4"/>
                </a:solidFill>
                <a:latin typeface="Arial"/>
                <a:cs typeface="Arial"/>
              </a:rPr>
              <a:t>Übergang</a:t>
            </a:r>
            <a:r>
              <a:rPr sz="1600" spc="-3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110" dirty="0" err="1">
                <a:solidFill>
                  <a:srgbClr val="4471C4"/>
                </a:solidFill>
                <a:latin typeface="Arial"/>
                <a:cs typeface="Arial"/>
              </a:rPr>
              <a:t>aus</a:t>
            </a:r>
            <a:r>
              <a:rPr sz="1600" spc="-55" dirty="0">
                <a:solidFill>
                  <a:srgbClr val="4471C4"/>
                </a:solidFill>
                <a:latin typeface="Arial"/>
                <a:cs typeface="Arial"/>
              </a:rPr>
              <a:t> dem</a:t>
            </a:r>
            <a:r>
              <a:rPr sz="1600" spc="-5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80" dirty="0" err="1">
                <a:solidFill>
                  <a:srgbClr val="4471C4"/>
                </a:solidFill>
                <a:latin typeface="Arial"/>
                <a:cs typeface="Arial"/>
              </a:rPr>
              <a:t>Zustand</a:t>
            </a:r>
            <a:r>
              <a:rPr sz="1600" spc="-6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45" dirty="0" err="1">
                <a:solidFill>
                  <a:srgbClr val="4471C4"/>
                </a:solidFill>
                <a:latin typeface="Arial"/>
                <a:cs typeface="Arial"/>
              </a:rPr>
              <a:t>spezifiziert</a:t>
            </a:r>
            <a:r>
              <a:rPr sz="1600" spc="-4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20" dirty="0" err="1">
                <a:solidFill>
                  <a:srgbClr val="4471C4"/>
                </a:solidFill>
                <a:latin typeface="Arial"/>
                <a:cs typeface="Arial"/>
              </a:rPr>
              <a:t>wird</a:t>
            </a:r>
            <a:r>
              <a:rPr sz="1600" spc="-20" dirty="0">
                <a:solidFill>
                  <a:srgbClr val="4471C4"/>
                </a:solidFill>
                <a:latin typeface="Arial"/>
                <a:cs typeface="Arial"/>
              </a:rPr>
              <a:t>,</a:t>
            </a:r>
            <a:r>
              <a:rPr sz="1600" spc="-6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10" dirty="0" err="1">
                <a:solidFill>
                  <a:srgbClr val="4471C4"/>
                </a:solidFill>
                <a:latin typeface="Arial"/>
                <a:cs typeface="Arial"/>
              </a:rPr>
              <a:t>wird</a:t>
            </a:r>
            <a:r>
              <a:rPr sz="1600" spc="-6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50" dirty="0" err="1">
                <a:solidFill>
                  <a:srgbClr val="4471C4"/>
                </a:solidFill>
                <a:latin typeface="Arial"/>
                <a:cs typeface="Arial"/>
              </a:rPr>
              <a:t>ein</a:t>
            </a:r>
            <a:r>
              <a:rPr sz="1600" spc="-4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105" dirty="0">
                <a:solidFill>
                  <a:srgbClr val="4471C4"/>
                </a:solidFill>
                <a:latin typeface="Arial"/>
                <a:cs typeface="Arial"/>
              </a:rPr>
              <a:t>Self-</a:t>
            </a:r>
            <a:r>
              <a:rPr sz="1600" spc="-80" dirty="0">
                <a:solidFill>
                  <a:srgbClr val="4471C4"/>
                </a:solidFill>
                <a:latin typeface="Arial"/>
                <a:cs typeface="Arial"/>
              </a:rPr>
              <a:t>Loop</a:t>
            </a:r>
            <a:r>
              <a:rPr sz="1600" spc="-9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1600" spc="-25" dirty="0" err="1">
                <a:solidFill>
                  <a:srgbClr val="4471C4"/>
                </a:solidFill>
                <a:latin typeface="Arial"/>
                <a:cs typeface="Arial"/>
              </a:rPr>
              <a:t>angenommen</a:t>
            </a:r>
            <a:r>
              <a:rPr sz="1600" spc="-25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8E19C8-0DE7-F4BD-22E8-9A1AA51845E1}"/>
              </a:ext>
            </a:extLst>
          </p:cNvPr>
          <p:cNvSpPr txBox="1"/>
          <p:nvPr/>
        </p:nvSpPr>
        <p:spPr>
          <a:xfrm>
            <a:off x="2322068" y="5202474"/>
            <a:ext cx="8724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12945" marR="2778125" algn="l">
              <a:spcBef>
                <a:spcPts val="100"/>
              </a:spcBef>
            </a:pPr>
            <a:r>
              <a:rPr lang="en-GB" sz="1400" spc="-10" dirty="0" err="1">
                <a:solidFill>
                  <a:srgbClr val="767070"/>
                </a:solidFill>
                <a:latin typeface="Arial"/>
                <a:cs typeface="Arial"/>
              </a:rPr>
              <a:t>fertig</a:t>
            </a:r>
            <a:r>
              <a:rPr lang="en-GB" sz="1400" spc="-10" dirty="0">
                <a:solidFill>
                  <a:srgbClr val="767070"/>
                </a:solidFill>
                <a:latin typeface="Arial"/>
                <a:cs typeface="Arial"/>
              </a:rPr>
              <a:t> </a:t>
            </a:r>
            <a:r>
              <a:rPr lang="en-GB" sz="1400" spc="-40" dirty="0" err="1">
                <a:solidFill>
                  <a:srgbClr val="767070"/>
                </a:solidFill>
                <a:latin typeface="Arial"/>
                <a:cs typeface="Arial"/>
              </a:rPr>
              <a:t>entnommen</a:t>
            </a:r>
            <a:endParaRPr lang="en-GB"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69102" y="4564379"/>
            <a:ext cx="1412240" cy="881380"/>
            <a:chOff x="4238752" y="4564379"/>
            <a:chExt cx="1412240" cy="881380"/>
          </a:xfrm>
        </p:grpSpPr>
        <p:sp>
          <p:nvSpPr>
            <p:cNvPr id="3" name="object 3"/>
            <p:cNvSpPr/>
            <p:nvPr/>
          </p:nvSpPr>
          <p:spPr>
            <a:xfrm>
              <a:off x="4302252" y="5439155"/>
              <a:ext cx="1348740" cy="0"/>
            </a:xfrm>
            <a:custGeom>
              <a:avLst/>
              <a:gdLst/>
              <a:ahLst/>
              <a:cxnLst/>
              <a:rect l="l" t="t" r="r" b="b"/>
              <a:pathLst>
                <a:path w="1348739">
                  <a:moveTo>
                    <a:pt x="134848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38752" y="4564379"/>
              <a:ext cx="127000" cy="875665"/>
            </a:xfrm>
            <a:custGeom>
              <a:avLst/>
              <a:gdLst/>
              <a:ahLst/>
              <a:cxnLst/>
              <a:rect l="l" t="t" r="r" b="b"/>
              <a:pathLst>
                <a:path w="127000" h="875664">
                  <a:moveTo>
                    <a:pt x="69850" y="114300"/>
                  </a:moveTo>
                  <a:lnTo>
                    <a:pt x="57150" y="114300"/>
                  </a:lnTo>
                  <a:lnTo>
                    <a:pt x="57150" y="875665"/>
                  </a:lnTo>
                  <a:lnTo>
                    <a:pt x="69850" y="875665"/>
                  </a:lnTo>
                  <a:lnTo>
                    <a:pt x="69850" y="114300"/>
                  </a:lnTo>
                  <a:close/>
                </a:path>
                <a:path w="127000" h="875664">
                  <a:moveTo>
                    <a:pt x="63500" y="0"/>
                  </a:moveTo>
                  <a:lnTo>
                    <a:pt x="0" y="127000"/>
                  </a:lnTo>
                  <a:lnTo>
                    <a:pt x="57150" y="127000"/>
                  </a:lnTo>
                  <a:lnTo>
                    <a:pt x="57150" y="114300"/>
                  </a:lnTo>
                  <a:lnTo>
                    <a:pt x="120650" y="114300"/>
                  </a:lnTo>
                  <a:lnTo>
                    <a:pt x="63500" y="0"/>
                  </a:lnTo>
                  <a:close/>
                </a:path>
                <a:path w="127000" h="875664">
                  <a:moveTo>
                    <a:pt x="120650" y="114300"/>
                  </a:moveTo>
                  <a:lnTo>
                    <a:pt x="69850" y="114300"/>
                  </a:lnTo>
                  <a:lnTo>
                    <a:pt x="69850" y="127000"/>
                  </a:lnTo>
                  <a:lnTo>
                    <a:pt x="127000" y="127000"/>
                  </a:lnTo>
                  <a:lnTo>
                    <a:pt x="120650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5769102" y="3396996"/>
            <a:ext cx="127000" cy="364490"/>
          </a:xfrm>
          <a:custGeom>
            <a:avLst/>
            <a:gdLst/>
            <a:ahLst/>
            <a:cxnLst/>
            <a:rect l="l" t="t" r="r" b="b"/>
            <a:pathLst>
              <a:path w="127000" h="364489">
                <a:moveTo>
                  <a:pt x="57150" y="237489"/>
                </a:moveTo>
                <a:lnTo>
                  <a:pt x="0" y="237489"/>
                </a:lnTo>
                <a:lnTo>
                  <a:pt x="63500" y="364489"/>
                </a:lnTo>
                <a:lnTo>
                  <a:pt x="120650" y="250189"/>
                </a:lnTo>
                <a:lnTo>
                  <a:pt x="57150" y="250189"/>
                </a:lnTo>
                <a:lnTo>
                  <a:pt x="57150" y="237489"/>
                </a:lnTo>
                <a:close/>
              </a:path>
              <a:path w="127000" h="364489">
                <a:moveTo>
                  <a:pt x="69850" y="0"/>
                </a:moveTo>
                <a:lnTo>
                  <a:pt x="57150" y="0"/>
                </a:lnTo>
                <a:lnTo>
                  <a:pt x="57150" y="250189"/>
                </a:lnTo>
                <a:lnTo>
                  <a:pt x="69850" y="250189"/>
                </a:lnTo>
                <a:lnTo>
                  <a:pt x="69850" y="0"/>
                </a:lnTo>
                <a:close/>
              </a:path>
              <a:path w="127000" h="364489">
                <a:moveTo>
                  <a:pt x="127000" y="237489"/>
                </a:moveTo>
                <a:lnTo>
                  <a:pt x="69850" y="237489"/>
                </a:lnTo>
                <a:lnTo>
                  <a:pt x="69850" y="250189"/>
                </a:lnTo>
                <a:lnTo>
                  <a:pt x="120650" y="250189"/>
                </a:lnTo>
                <a:lnTo>
                  <a:pt x="127000" y="237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96000" y="4567429"/>
            <a:ext cx="918210" cy="676275"/>
          </a:xfrm>
          <a:custGeom>
            <a:avLst/>
            <a:gdLst/>
            <a:ahLst/>
            <a:cxnLst/>
            <a:rect l="l" t="t" r="r" b="b"/>
            <a:pathLst>
              <a:path w="918210" h="676275">
                <a:moveTo>
                  <a:pt x="791210" y="549275"/>
                </a:moveTo>
                <a:lnTo>
                  <a:pt x="791210" y="676275"/>
                </a:lnTo>
                <a:lnTo>
                  <a:pt x="905510" y="619125"/>
                </a:lnTo>
                <a:lnTo>
                  <a:pt x="803910" y="619125"/>
                </a:lnTo>
                <a:lnTo>
                  <a:pt x="803910" y="606425"/>
                </a:lnTo>
                <a:lnTo>
                  <a:pt x="905510" y="606425"/>
                </a:lnTo>
                <a:lnTo>
                  <a:pt x="791210" y="549275"/>
                </a:lnTo>
                <a:close/>
              </a:path>
              <a:path w="918210" h="676275">
                <a:moveTo>
                  <a:pt x="12700" y="0"/>
                </a:moveTo>
                <a:lnTo>
                  <a:pt x="0" y="0"/>
                </a:lnTo>
                <a:lnTo>
                  <a:pt x="0" y="619125"/>
                </a:lnTo>
                <a:lnTo>
                  <a:pt x="791210" y="619125"/>
                </a:lnTo>
                <a:lnTo>
                  <a:pt x="791210" y="612775"/>
                </a:lnTo>
                <a:lnTo>
                  <a:pt x="12700" y="612775"/>
                </a:lnTo>
                <a:lnTo>
                  <a:pt x="6350" y="606425"/>
                </a:lnTo>
                <a:lnTo>
                  <a:pt x="12700" y="606425"/>
                </a:lnTo>
                <a:lnTo>
                  <a:pt x="12700" y="0"/>
                </a:lnTo>
                <a:close/>
              </a:path>
              <a:path w="918210" h="676275">
                <a:moveTo>
                  <a:pt x="905510" y="606425"/>
                </a:moveTo>
                <a:lnTo>
                  <a:pt x="803910" y="606425"/>
                </a:lnTo>
                <a:lnTo>
                  <a:pt x="803910" y="619125"/>
                </a:lnTo>
                <a:lnTo>
                  <a:pt x="905510" y="619125"/>
                </a:lnTo>
                <a:lnTo>
                  <a:pt x="918210" y="612775"/>
                </a:lnTo>
                <a:lnTo>
                  <a:pt x="905510" y="606425"/>
                </a:lnTo>
                <a:close/>
              </a:path>
              <a:path w="918210" h="676275">
                <a:moveTo>
                  <a:pt x="12700" y="606425"/>
                </a:moveTo>
                <a:lnTo>
                  <a:pt x="6350" y="606425"/>
                </a:lnTo>
                <a:lnTo>
                  <a:pt x="12700" y="612775"/>
                </a:lnTo>
                <a:lnTo>
                  <a:pt x="12700" y="606425"/>
                </a:lnTo>
                <a:close/>
              </a:path>
              <a:path w="918210" h="676275">
                <a:moveTo>
                  <a:pt x="791210" y="606425"/>
                </a:moveTo>
                <a:lnTo>
                  <a:pt x="12700" y="606425"/>
                </a:lnTo>
                <a:lnTo>
                  <a:pt x="12700" y="612775"/>
                </a:lnTo>
                <a:lnTo>
                  <a:pt x="791210" y="612775"/>
                </a:lnTo>
                <a:lnTo>
                  <a:pt x="791210" y="6064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93861" y="4564380"/>
            <a:ext cx="1192530" cy="622935"/>
          </a:xfrm>
          <a:custGeom>
            <a:avLst/>
            <a:gdLst/>
            <a:ahLst/>
            <a:cxnLst/>
            <a:rect l="l" t="t" r="r" b="b"/>
            <a:pathLst>
              <a:path w="1192529" h="622935">
                <a:moveTo>
                  <a:pt x="1122172" y="609854"/>
                </a:moveTo>
                <a:lnTo>
                  <a:pt x="0" y="609854"/>
                </a:lnTo>
                <a:lnTo>
                  <a:pt x="0" y="622554"/>
                </a:lnTo>
                <a:lnTo>
                  <a:pt x="1134872" y="622554"/>
                </a:lnTo>
                <a:lnTo>
                  <a:pt x="1134872" y="616204"/>
                </a:lnTo>
                <a:lnTo>
                  <a:pt x="1122172" y="616204"/>
                </a:lnTo>
                <a:lnTo>
                  <a:pt x="1122172" y="609854"/>
                </a:lnTo>
                <a:close/>
              </a:path>
              <a:path w="1192529" h="622935">
                <a:moveTo>
                  <a:pt x="1134872" y="114300"/>
                </a:moveTo>
                <a:lnTo>
                  <a:pt x="1122172" y="114300"/>
                </a:lnTo>
                <a:lnTo>
                  <a:pt x="1122172" y="616204"/>
                </a:lnTo>
                <a:lnTo>
                  <a:pt x="1128522" y="609854"/>
                </a:lnTo>
                <a:lnTo>
                  <a:pt x="1134872" y="609854"/>
                </a:lnTo>
                <a:lnTo>
                  <a:pt x="1134872" y="114300"/>
                </a:lnTo>
                <a:close/>
              </a:path>
              <a:path w="1192529" h="622935">
                <a:moveTo>
                  <a:pt x="1134872" y="609854"/>
                </a:moveTo>
                <a:lnTo>
                  <a:pt x="1128522" y="609854"/>
                </a:lnTo>
                <a:lnTo>
                  <a:pt x="1122172" y="616204"/>
                </a:lnTo>
                <a:lnTo>
                  <a:pt x="1134872" y="616204"/>
                </a:lnTo>
                <a:lnTo>
                  <a:pt x="1134872" y="609854"/>
                </a:lnTo>
                <a:close/>
              </a:path>
              <a:path w="1192529" h="622935">
                <a:moveTo>
                  <a:pt x="1128522" y="0"/>
                </a:moveTo>
                <a:lnTo>
                  <a:pt x="1065022" y="127000"/>
                </a:lnTo>
                <a:lnTo>
                  <a:pt x="1122172" y="127000"/>
                </a:lnTo>
                <a:lnTo>
                  <a:pt x="1122172" y="114300"/>
                </a:lnTo>
                <a:lnTo>
                  <a:pt x="1185672" y="114300"/>
                </a:lnTo>
                <a:lnTo>
                  <a:pt x="1128522" y="0"/>
                </a:lnTo>
                <a:close/>
              </a:path>
              <a:path w="1192529" h="622935">
                <a:moveTo>
                  <a:pt x="1185672" y="114300"/>
                </a:moveTo>
                <a:lnTo>
                  <a:pt x="1134872" y="114300"/>
                </a:lnTo>
                <a:lnTo>
                  <a:pt x="1134872" y="127000"/>
                </a:lnTo>
                <a:lnTo>
                  <a:pt x="1192022" y="127000"/>
                </a:lnTo>
                <a:lnTo>
                  <a:pt x="1185672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93861" y="3048507"/>
            <a:ext cx="1135380" cy="709930"/>
          </a:xfrm>
          <a:custGeom>
            <a:avLst/>
            <a:gdLst/>
            <a:ahLst/>
            <a:cxnLst/>
            <a:rect l="l" t="t" r="r" b="b"/>
            <a:pathLst>
              <a:path w="1135379" h="709929">
                <a:moveTo>
                  <a:pt x="1122172" y="63500"/>
                </a:moveTo>
                <a:lnTo>
                  <a:pt x="1122172" y="709675"/>
                </a:lnTo>
                <a:lnTo>
                  <a:pt x="1134872" y="709675"/>
                </a:lnTo>
                <a:lnTo>
                  <a:pt x="1134872" y="69850"/>
                </a:lnTo>
                <a:lnTo>
                  <a:pt x="1128522" y="69850"/>
                </a:lnTo>
                <a:lnTo>
                  <a:pt x="1122172" y="63500"/>
                </a:lnTo>
                <a:close/>
              </a:path>
              <a:path w="1135379" h="709929">
                <a:moveTo>
                  <a:pt x="127000" y="0"/>
                </a:moveTo>
                <a:lnTo>
                  <a:pt x="0" y="63500"/>
                </a:lnTo>
                <a:lnTo>
                  <a:pt x="127000" y="127000"/>
                </a:lnTo>
                <a:lnTo>
                  <a:pt x="127000" y="69850"/>
                </a:lnTo>
                <a:lnTo>
                  <a:pt x="114300" y="69850"/>
                </a:lnTo>
                <a:lnTo>
                  <a:pt x="114300" y="57150"/>
                </a:lnTo>
                <a:lnTo>
                  <a:pt x="127000" y="57150"/>
                </a:lnTo>
                <a:lnTo>
                  <a:pt x="127000" y="0"/>
                </a:lnTo>
                <a:close/>
              </a:path>
              <a:path w="1135379" h="709929">
                <a:moveTo>
                  <a:pt x="127000" y="57150"/>
                </a:moveTo>
                <a:lnTo>
                  <a:pt x="114300" y="57150"/>
                </a:lnTo>
                <a:lnTo>
                  <a:pt x="114300" y="69850"/>
                </a:lnTo>
                <a:lnTo>
                  <a:pt x="127000" y="69850"/>
                </a:lnTo>
                <a:lnTo>
                  <a:pt x="127000" y="57150"/>
                </a:lnTo>
                <a:close/>
              </a:path>
              <a:path w="1135379" h="709929">
                <a:moveTo>
                  <a:pt x="1134872" y="57150"/>
                </a:moveTo>
                <a:lnTo>
                  <a:pt x="127000" y="57150"/>
                </a:lnTo>
                <a:lnTo>
                  <a:pt x="127000" y="69850"/>
                </a:lnTo>
                <a:lnTo>
                  <a:pt x="1122172" y="69850"/>
                </a:lnTo>
                <a:lnTo>
                  <a:pt x="1122172" y="63500"/>
                </a:lnTo>
                <a:lnTo>
                  <a:pt x="1134872" y="63500"/>
                </a:lnTo>
                <a:lnTo>
                  <a:pt x="1134872" y="57150"/>
                </a:lnTo>
                <a:close/>
              </a:path>
              <a:path w="1135379" h="709929">
                <a:moveTo>
                  <a:pt x="1134872" y="63500"/>
                </a:moveTo>
                <a:lnTo>
                  <a:pt x="1122172" y="63500"/>
                </a:lnTo>
                <a:lnTo>
                  <a:pt x="1128522" y="69850"/>
                </a:lnTo>
                <a:lnTo>
                  <a:pt x="1134872" y="69850"/>
                </a:lnTo>
                <a:lnTo>
                  <a:pt x="1134872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742685" y="2703323"/>
            <a:ext cx="2557780" cy="2887345"/>
            <a:chOff x="4212335" y="2703322"/>
            <a:chExt cx="2557780" cy="2887345"/>
          </a:xfrm>
        </p:grpSpPr>
        <p:sp>
          <p:nvSpPr>
            <p:cNvPr id="10" name="object 10"/>
            <p:cNvSpPr/>
            <p:nvPr/>
          </p:nvSpPr>
          <p:spPr>
            <a:xfrm>
              <a:off x="4508499" y="3105658"/>
              <a:ext cx="975360" cy="655955"/>
            </a:xfrm>
            <a:custGeom>
              <a:avLst/>
              <a:gdLst/>
              <a:ahLst/>
              <a:cxnLst/>
              <a:rect l="l" t="t" r="r" b="b"/>
              <a:pathLst>
                <a:path w="975360" h="655954">
                  <a:moveTo>
                    <a:pt x="57150" y="528827"/>
                  </a:moveTo>
                  <a:lnTo>
                    <a:pt x="0" y="528827"/>
                  </a:lnTo>
                  <a:lnTo>
                    <a:pt x="63500" y="655827"/>
                  </a:lnTo>
                  <a:lnTo>
                    <a:pt x="120650" y="541527"/>
                  </a:lnTo>
                  <a:lnTo>
                    <a:pt x="57150" y="541527"/>
                  </a:lnTo>
                  <a:lnTo>
                    <a:pt x="57150" y="528827"/>
                  </a:lnTo>
                  <a:close/>
                </a:path>
                <a:path w="975360" h="655954">
                  <a:moveTo>
                    <a:pt x="975360" y="0"/>
                  </a:moveTo>
                  <a:lnTo>
                    <a:pt x="57150" y="0"/>
                  </a:lnTo>
                  <a:lnTo>
                    <a:pt x="57150" y="541527"/>
                  </a:lnTo>
                  <a:lnTo>
                    <a:pt x="69850" y="541527"/>
                  </a:lnTo>
                  <a:lnTo>
                    <a:pt x="69850" y="12700"/>
                  </a:lnTo>
                  <a:lnTo>
                    <a:pt x="63500" y="12700"/>
                  </a:lnTo>
                  <a:lnTo>
                    <a:pt x="69850" y="6350"/>
                  </a:lnTo>
                  <a:lnTo>
                    <a:pt x="975360" y="6350"/>
                  </a:lnTo>
                  <a:lnTo>
                    <a:pt x="975360" y="0"/>
                  </a:lnTo>
                  <a:close/>
                </a:path>
                <a:path w="975360" h="655954">
                  <a:moveTo>
                    <a:pt x="127000" y="528827"/>
                  </a:moveTo>
                  <a:lnTo>
                    <a:pt x="69850" y="528827"/>
                  </a:lnTo>
                  <a:lnTo>
                    <a:pt x="69850" y="541527"/>
                  </a:lnTo>
                  <a:lnTo>
                    <a:pt x="120650" y="541527"/>
                  </a:lnTo>
                  <a:lnTo>
                    <a:pt x="127000" y="528827"/>
                  </a:lnTo>
                  <a:close/>
                </a:path>
                <a:path w="975360" h="655954">
                  <a:moveTo>
                    <a:pt x="69850" y="6350"/>
                  </a:moveTo>
                  <a:lnTo>
                    <a:pt x="63500" y="12700"/>
                  </a:lnTo>
                  <a:lnTo>
                    <a:pt x="69850" y="12700"/>
                  </a:lnTo>
                  <a:lnTo>
                    <a:pt x="69850" y="6350"/>
                  </a:lnTo>
                  <a:close/>
                </a:path>
                <a:path w="975360" h="655954">
                  <a:moveTo>
                    <a:pt x="975360" y="6350"/>
                  </a:moveTo>
                  <a:lnTo>
                    <a:pt x="69850" y="6350"/>
                  </a:lnTo>
                  <a:lnTo>
                    <a:pt x="69850" y="12700"/>
                  </a:lnTo>
                  <a:lnTo>
                    <a:pt x="975360" y="12700"/>
                  </a:lnTo>
                  <a:lnTo>
                    <a:pt x="975360" y="6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2335" y="3217163"/>
              <a:ext cx="179831" cy="1798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483351" y="4777739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1145794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6"/>
                  </a:lnTo>
                  <a:lnTo>
                    <a:pt x="1145794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3351" y="4777739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6"/>
                  </a:lnTo>
                  <a:lnTo>
                    <a:pt x="134365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83351" y="2709672"/>
              <a:ext cx="1280160" cy="805180"/>
            </a:xfrm>
            <a:custGeom>
              <a:avLst/>
              <a:gdLst/>
              <a:ahLst/>
              <a:cxnLst/>
              <a:rect l="l" t="t" r="r" b="b"/>
              <a:pathLst>
                <a:path w="1280159" h="805179">
                  <a:moveTo>
                    <a:pt x="1146048" y="0"/>
                  </a:moveTo>
                  <a:lnTo>
                    <a:pt x="134112" y="0"/>
                  </a:lnTo>
                  <a:lnTo>
                    <a:pt x="91732" y="6839"/>
                  </a:lnTo>
                  <a:lnTo>
                    <a:pt x="54918" y="25883"/>
                  </a:lnTo>
                  <a:lnTo>
                    <a:pt x="25883" y="54918"/>
                  </a:lnTo>
                  <a:lnTo>
                    <a:pt x="6839" y="91732"/>
                  </a:lnTo>
                  <a:lnTo>
                    <a:pt x="0" y="134112"/>
                  </a:lnTo>
                  <a:lnTo>
                    <a:pt x="0" y="670560"/>
                  </a:lnTo>
                  <a:lnTo>
                    <a:pt x="6839" y="712939"/>
                  </a:lnTo>
                  <a:lnTo>
                    <a:pt x="25883" y="749753"/>
                  </a:lnTo>
                  <a:lnTo>
                    <a:pt x="54918" y="778788"/>
                  </a:lnTo>
                  <a:lnTo>
                    <a:pt x="91732" y="797832"/>
                  </a:lnTo>
                  <a:lnTo>
                    <a:pt x="134112" y="804672"/>
                  </a:lnTo>
                  <a:lnTo>
                    <a:pt x="1146048" y="804672"/>
                  </a:lnTo>
                  <a:lnTo>
                    <a:pt x="1188427" y="797832"/>
                  </a:lnTo>
                  <a:lnTo>
                    <a:pt x="1225241" y="778788"/>
                  </a:lnTo>
                  <a:lnTo>
                    <a:pt x="1254276" y="749753"/>
                  </a:lnTo>
                  <a:lnTo>
                    <a:pt x="1273320" y="712939"/>
                  </a:lnTo>
                  <a:lnTo>
                    <a:pt x="1280159" y="670560"/>
                  </a:lnTo>
                  <a:lnTo>
                    <a:pt x="1280159" y="134112"/>
                  </a:lnTo>
                  <a:lnTo>
                    <a:pt x="1273320" y="91732"/>
                  </a:lnTo>
                  <a:lnTo>
                    <a:pt x="1254276" y="54918"/>
                  </a:lnTo>
                  <a:lnTo>
                    <a:pt x="1225241" y="25883"/>
                  </a:lnTo>
                  <a:lnTo>
                    <a:pt x="1188427" y="6839"/>
                  </a:lnTo>
                  <a:lnTo>
                    <a:pt x="11460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3351" y="2709672"/>
              <a:ext cx="1280160" cy="805180"/>
            </a:xfrm>
            <a:custGeom>
              <a:avLst/>
              <a:gdLst/>
              <a:ahLst/>
              <a:cxnLst/>
              <a:rect l="l" t="t" r="r" b="b"/>
              <a:pathLst>
                <a:path w="1280159" h="805179">
                  <a:moveTo>
                    <a:pt x="0" y="134112"/>
                  </a:moveTo>
                  <a:lnTo>
                    <a:pt x="6839" y="91732"/>
                  </a:lnTo>
                  <a:lnTo>
                    <a:pt x="25883" y="54918"/>
                  </a:lnTo>
                  <a:lnTo>
                    <a:pt x="54918" y="25883"/>
                  </a:lnTo>
                  <a:lnTo>
                    <a:pt x="91732" y="6839"/>
                  </a:lnTo>
                  <a:lnTo>
                    <a:pt x="134112" y="0"/>
                  </a:lnTo>
                  <a:lnTo>
                    <a:pt x="1146048" y="0"/>
                  </a:lnTo>
                  <a:lnTo>
                    <a:pt x="1188427" y="6839"/>
                  </a:lnTo>
                  <a:lnTo>
                    <a:pt x="1225241" y="25883"/>
                  </a:lnTo>
                  <a:lnTo>
                    <a:pt x="1254276" y="54918"/>
                  </a:lnTo>
                  <a:lnTo>
                    <a:pt x="1273320" y="91732"/>
                  </a:lnTo>
                  <a:lnTo>
                    <a:pt x="1280159" y="134112"/>
                  </a:lnTo>
                  <a:lnTo>
                    <a:pt x="1280159" y="670560"/>
                  </a:lnTo>
                  <a:lnTo>
                    <a:pt x="1273320" y="712939"/>
                  </a:lnTo>
                  <a:lnTo>
                    <a:pt x="1254276" y="749753"/>
                  </a:lnTo>
                  <a:lnTo>
                    <a:pt x="1225241" y="778788"/>
                  </a:lnTo>
                  <a:lnTo>
                    <a:pt x="1188427" y="797832"/>
                  </a:lnTo>
                  <a:lnTo>
                    <a:pt x="1146048" y="804672"/>
                  </a:lnTo>
                  <a:lnTo>
                    <a:pt x="134112" y="804672"/>
                  </a:lnTo>
                  <a:lnTo>
                    <a:pt x="91732" y="797832"/>
                  </a:lnTo>
                  <a:lnTo>
                    <a:pt x="54918" y="778788"/>
                  </a:lnTo>
                  <a:lnTo>
                    <a:pt x="25883" y="749753"/>
                  </a:lnTo>
                  <a:lnTo>
                    <a:pt x="6839" y="712939"/>
                  </a:lnTo>
                  <a:lnTo>
                    <a:pt x="0" y="670560"/>
                  </a:lnTo>
                  <a:lnTo>
                    <a:pt x="0" y="134112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720699" y="574040"/>
            <a:ext cx="40639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5" dirty="0"/>
              <a:t>Moore-Automaten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53101" y="1749553"/>
            <a:ext cx="746315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0"/>
              </a:lnSpc>
              <a:spcBef>
                <a:spcPts val="100"/>
              </a:spcBef>
            </a:pPr>
            <a:r>
              <a:rPr sz="2400" spc="-145" dirty="0">
                <a:latin typeface="Arial"/>
                <a:cs typeface="Arial"/>
              </a:rPr>
              <a:t>Wenn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2€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empfangen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werden,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85" dirty="0">
                <a:latin typeface="Arial"/>
                <a:cs typeface="Arial"/>
              </a:rPr>
              <a:t>muss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b="1" spc="-140" dirty="0">
                <a:latin typeface="Arial"/>
                <a:cs typeface="Arial"/>
              </a:rPr>
              <a:t>die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140" dirty="0">
                <a:latin typeface="Arial"/>
                <a:cs typeface="Arial"/>
              </a:rPr>
              <a:t>Kontrolleinheit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dem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ts val="2740"/>
              </a:lnSpc>
            </a:pPr>
            <a:r>
              <a:rPr sz="2400" b="1" spc="-170" dirty="0">
                <a:latin typeface="Arial"/>
                <a:cs typeface="Arial"/>
              </a:rPr>
              <a:t>Münzschlitz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spc="-95" dirty="0">
                <a:latin typeface="Arial"/>
                <a:cs typeface="Arial"/>
              </a:rPr>
              <a:t>mitteilen</a:t>
            </a:r>
            <a:r>
              <a:rPr sz="2400" spc="-95" dirty="0">
                <a:latin typeface="Arial"/>
                <a:cs typeface="Arial"/>
              </a:rPr>
              <a:t>,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15" dirty="0">
                <a:latin typeface="Arial"/>
                <a:cs typeface="Arial"/>
              </a:rPr>
              <a:t>dass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er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85" dirty="0">
                <a:latin typeface="Arial"/>
                <a:cs typeface="Arial"/>
              </a:rPr>
              <a:t>das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Geld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b="1" spc="-175" dirty="0">
                <a:latin typeface="Arial"/>
                <a:cs typeface="Arial"/>
              </a:rPr>
              <a:t>verstauen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soll</a:t>
            </a:r>
            <a:r>
              <a:rPr sz="2400" b="1" spc="-10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61456" y="2899536"/>
            <a:ext cx="3042285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0"/>
              </a:lnSpc>
              <a:tabLst>
                <a:tab pos="2709545" algn="l"/>
              </a:tabLst>
            </a:pPr>
            <a:r>
              <a:rPr sz="1200" spc="-10" dirty="0">
                <a:latin typeface="Arial"/>
                <a:cs typeface="Arial"/>
              </a:rPr>
              <a:t>genommen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pc="-37" baseline="-6944" dirty="0">
                <a:latin typeface="Arial"/>
                <a:cs typeface="Arial"/>
              </a:rPr>
              <a:t>fertig</a:t>
            </a:r>
            <a:endParaRPr baseline="-6944">
              <a:latin typeface="Arial"/>
              <a:cs typeface="Arial"/>
            </a:endParaRPr>
          </a:p>
          <a:p>
            <a:pPr marL="144780" algn="ctr">
              <a:lnSpc>
                <a:spcPts val="1830"/>
              </a:lnSpc>
            </a:pP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wartend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8972" y="5024628"/>
            <a:ext cx="3206115" cy="6159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96850">
              <a:lnSpc>
                <a:spcPts val="1725"/>
              </a:lnSpc>
              <a:spcBef>
                <a:spcPts val="35"/>
              </a:spcBef>
              <a:tabLst>
                <a:tab pos="1174750" algn="l"/>
              </a:tabLst>
            </a:pPr>
            <a:r>
              <a:rPr spc="-89" baseline="43981" dirty="0">
                <a:latin typeface="Arial"/>
                <a:cs typeface="Arial"/>
              </a:rPr>
              <a:t>1€-</a:t>
            </a:r>
            <a:r>
              <a:rPr spc="-15" baseline="43981" dirty="0">
                <a:latin typeface="Arial"/>
                <a:cs typeface="Arial"/>
              </a:rPr>
              <a:t>Münze</a:t>
            </a:r>
            <a:r>
              <a:rPr baseline="43981" dirty="0">
                <a:latin typeface="Arial"/>
                <a:cs typeface="Arial"/>
              </a:rPr>
              <a:t>	</a:t>
            </a: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1€</a:t>
            </a:r>
            <a:r>
              <a:rPr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bezahlt</a:t>
            </a:r>
            <a:endParaRPr>
              <a:latin typeface="Arial"/>
              <a:cs typeface="Arial"/>
            </a:endParaRPr>
          </a:p>
          <a:p>
            <a:pPr marL="2578735">
              <a:lnSpc>
                <a:spcPts val="1005"/>
              </a:lnSpc>
            </a:pPr>
            <a:r>
              <a:rPr sz="1200" spc="-60" dirty="0">
                <a:latin typeface="Arial"/>
                <a:cs typeface="Arial"/>
              </a:rPr>
              <a:t>1€-Münze</a:t>
            </a:r>
            <a:endParaRPr sz="1200">
              <a:latin typeface="Arial"/>
              <a:cs typeface="Arial"/>
            </a:endParaRPr>
          </a:p>
          <a:p>
            <a:pPr>
              <a:spcBef>
                <a:spcPts val="58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1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37462" y="3217164"/>
            <a:ext cx="3602609" cy="22294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3675" indent="-180975">
              <a:spcBef>
                <a:spcPts val="105"/>
              </a:spcBef>
              <a:buClr>
                <a:schemeClr val="tx1"/>
              </a:buClr>
              <a:buFont typeface="Wingdings"/>
              <a:buChar char=""/>
              <a:tabLst>
                <a:tab pos="193675" algn="l"/>
              </a:tabLst>
            </a:pPr>
            <a:r>
              <a:rPr sz="2400" spc="-125" dirty="0">
                <a:latin typeface="Arial"/>
                <a:cs typeface="Arial"/>
              </a:rPr>
              <a:t>Ausgabeereignisse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b="1" spc="-114" dirty="0">
                <a:latin typeface="Arial"/>
                <a:cs typeface="Arial"/>
              </a:rPr>
              <a:t>in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80" dirty="0">
                <a:latin typeface="Arial"/>
                <a:cs typeface="Arial"/>
              </a:rPr>
              <a:t>den</a:t>
            </a:r>
            <a:endParaRPr sz="2400" dirty="0">
              <a:latin typeface="Arial"/>
              <a:cs typeface="Arial"/>
            </a:endParaRPr>
          </a:p>
          <a:p>
            <a:pPr marL="193675">
              <a:buClr>
                <a:schemeClr val="tx1"/>
              </a:buClr>
            </a:pPr>
            <a:r>
              <a:rPr sz="2400" b="1" spc="-60" dirty="0">
                <a:latin typeface="Arial"/>
                <a:cs typeface="Arial"/>
              </a:rPr>
              <a:t>Zuständen</a:t>
            </a:r>
            <a:endParaRPr sz="2400" dirty="0">
              <a:latin typeface="Arial"/>
              <a:cs typeface="Arial"/>
            </a:endParaRPr>
          </a:p>
          <a:p>
            <a:pPr marL="193675" marR="47625" indent="-181610">
              <a:buClr>
                <a:schemeClr val="tx1"/>
              </a:buClr>
              <a:buFont typeface="Wingdings"/>
              <a:buChar char=""/>
              <a:tabLst>
                <a:tab pos="193675" algn="l"/>
              </a:tabLst>
            </a:pPr>
            <a:r>
              <a:rPr sz="2400" b="1" spc="-165" dirty="0">
                <a:latin typeface="Arial"/>
                <a:cs typeface="Arial"/>
              </a:rPr>
              <a:t>Beim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120" dirty="0">
                <a:latin typeface="Arial"/>
                <a:cs typeface="Arial"/>
              </a:rPr>
              <a:t>Betreten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des </a:t>
            </a:r>
            <a:r>
              <a:rPr sz="2400" spc="-130" dirty="0">
                <a:latin typeface="Arial"/>
                <a:cs typeface="Arial"/>
              </a:rPr>
              <a:t>Zustands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„kochend“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wird </a:t>
            </a:r>
            <a:r>
              <a:rPr sz="2400" spc="-160" dirty="0">
                <a:latin typeface="Arial"/>
                <a:cs typeface="Arial"/>
              </a:rPr>
              <a:t>das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Ereignis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„verstauen“ gesendet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518659" y="2609089"/>
            <a:ext cx="4459605" cy="3171825"/>
            <a:chOff x="3988308" y="2609088"/>
            <a:chExt cx="4459605" cy="3171825"/>
          </a:xfrm>
        </p:grpSpPr>
        <p:sp>
          <p:nvSpPr>
            <p:cNvPr id="22" name="object 22"/>
            <p:cNvSpPr/>
            <p:nvPr/>
          </p:nvSpPr>
          <p:spPr>
            <a:xfrm>
              <a:off x="3988308" y="2609087"/>
              <a:ext cx="4459605" cy="3171825"/>
            </a:xfrm>
            <a:custGeom>
              <a:avLst/>
              <a:gdLst/>
              <a:ahLst/>
              <a:cxnLst/>
              <a:rect l="l" t="t" r="r" b="b"/>
              <a:pathLst>
                <a:path w="4459605" h="3171825">
                  <a:moveTo>
                    <a:pt x="4270248" y="1962912"/>
                  </a:moveTo>
                  <a:lnTo>
                    <a:pt x="0" y="1962912"/>
                  </a:lnTo>
                  <a:lnTo>
                    <a:pt x="0" y="3171444"/>
                  </a:lnTo>
                  <a:lnTo>
                    <a:pt x="4270248" y="3171444"/>
                  </a:lnTo>
                  <a:lnTo>
                    <a:pt x="4270248" y="1962912"/>
                  </a:lnTo>
                  <a:close/>
                </a:path>
                <a:path w="4459605" h="3171825">
                  <a:moveTo>
                    <a:pt x="4459224" y="0"/>
                  </a:moveTo>
                  <a:lnTo>
                    <a:pt x="188976" y="0"/>
                  </a:lnTo>
                  <a:lnTo>
                    <a:pt x="188976" y="1178052"/>
                  </a:lnTo>
                  <a:lnTo>
                    <a:pt x="4459224" y="1178052"/>
                  </a:lnTo>
                  <a:lnTo>
                    <a:pt x="4459224" y="0"/>
                  </a:lnTo>
                  <a:close/>
                </a:path>
              </a:pathLst>
            </a:custGeom>
            <a:solidFill>
              <a:srgbClr val="FFFFFF">
                <a:alpha val="7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79492" y="3840988"/>
              <a:ext cx="2173605" cy="127000"/>
            </a:xfrm>
            <a:custGeom>
              <a:avLst/>
              <a:gdLst/>
              <a:ahLst/>
              <a:cxnLst/>
              <a:rect l="l" t="t" r="r" b="b"/>
              <a:pathLst>
                <a:path w="2173604" h="127000">
                  <a:moveTo>
                    <a:pt x="2046478" y="0"/>
                  </a:moveTo>
                  <a:lnTo>
                    <a:pt x="2046478" y="127000"/>
                  </a:lnTo>
                  <a:lnTo>
                    <a:pt x="2160778" y="69850"/>
                  </a:lnTo>
                  <a:lnTo>
                    <a:pt x="2059178" y="69850"/>
                  </a:lnTo>
                  <a:lnTo>
                    <a:pt x="2059178" y="57150"/>
                  </a:lnTo>
                  <a:lnTo>
                    <a:pt x="2160778" y="57150"/>
                  </a:lnTo>
                  <a:lnTo>
                    <a:pt x="2046478" y="0"/>
                  </a:lnTo>
                  <a:close/>
                </a:path>
                <a:path w="2173604" h="127000">
                  <a:moveTo>
                    <a:pt x="2046478" y="57150"/>
                  </a:moveTo>
                  <a:lnTo>
                    <a:pt x="0" y="57150"/>
                  </a:lnTo>
                  <a:lnTo>
                    <a:pt x="0" y="69850"/>
                  </a:lnTo>
                  <a:lnTo>
                    <a:pt x="2046478" y="69850"/>
                  </a:lnTo>
                  <a:lnTo>
                    <a:pt x="2046478" y="57150"/>
                  </a:lnTo>
                  <a:close/>
                </a:path>
                <a:path w="2173604" h="127000">
                  <a:moveTo>
                    <a:pt x="2160778" y="57150"/>
                  </a:moveTo>
                  <a:lnTo>
                    <a:pt x="2059178" y="57150"/>
                  </a:lnTo>
                  <a:lnTo>
                    <a:pt x="2059178" y="69850"/>
                  </a:lnTo>
                  <a:lnTo>
                    <a:pt x="2160778" y="69850"/>
                  </a:lnTo>
                  <a:lnTo>
                    <a:pt x="2173478" y="63500"/>
                  </a:lnTo>
                  <a:lnTo>
                    <a:pt x="2160778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64508" y="3761232"/>
              <a:ext cx="1015365" cy="806450"/>
            </a:xfrm>
            <a:custGeom>
              <a:avLst/>
              <a:gdLst/>
              <a:ahLst/>
              <a:cxnLst/>
              <a:rect l="l" t="t" r="r" b="b"/>
              <a:pathLst>
                <a:path w="1015364" h="806450">
                  <a:moveTo>
                    <a:pt x="880617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6"/>
                  </a:lnTo>
                  <a:lnTo>
                    <a:pt x="880617" y="806196"/>
                  </a:lnTo>
                  <a:lnTo>
                    <a:pt x="923072" y="799342"/>
                  </a:lnTo>
                  <a:lnTo>
                    <a:pt x="959955" y="780259"/>
                  </a:lnTo>
                  <a:lnTo>
                    <a:pt x="989047" y="751167"/>
                  </a:lnTo>
                  <a:lnTo>
                    <a:pt x="1008130" y="714284"/>
                  </a:lnTo>
                  <a:lnTo>
                    <a:pt x="1014983" y="671830"/>
                  </a:lnTo>
                  <a:lnTo>
                    <a:pt x="1014983" y="134366"/>
                  </a:lnTo>
                  <a:lnTo>
                    <a:pt x="1008130" y="91911"/>
                  </a:lnTo>
                  <a:lnTo>
                    <a:pt x="989047" y="55028"/>
                  </a:lnTo>
                  <a:lnTo>
                    <a:pt x="959955" y="25936"/>
                  </a:lnTo>
                  <a:lnTo>
                    <a:pt x="923072" y="6853"/>
                  </a:lnTo>
                  <a:lnTo>
                    <a:pt x="88061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64508" y="3761232"/>
              <a:ext cx="1015365" cy="806450"/>
            </a:xfrm>
            <a:custGeom>
              <a:avLst/>
              <a:gdLst/>
              <a:ahLst/>
              <a:cxnLst/>
              <a:rect l="l" t="t" r="r" b="b"/>
              <a:pathLst>
                <a:path w="1015364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880617" y="0"/>
                  </a:lnTo>
                  <a:lnTo>
                    <a:pt x="923072" y="6853"/>
                  </a:lnTo>
                  <a:lnTo>
                    <a:pt x="959955" y="25936"/>
                  </a:lnTo>
                  <a:lnTo>
                    <a:pt x="989047" y="55028"/>
                  </a:lnTo>
                  <a:lnTo>
                    <a:pt x="1008130" y="91911"/>
                  </a:lnTo>
                  <a:lnTo>
                    <a:pt x="1014983" y="134366"/>
                  </a:lnTo>
                  <a:lnTo>
                    <a:pt x="1014983" y="671830"/>
                  </a:lnTo>
                  <a:lnTo>
                    <a:pt x="1008130" y="714284"/>
                  </a:lnTo>
                  <a:lnTo>
                    <a:pt x="989047" y="751167"/>
                  </a:lnTo>
                  <a:lnTo>
                    <a:pt x="959955" y="780259"/>
                  </a:lnTo>
                  <a:lnTo>
                    <a:pt x="923072" y="799342"/>
                  </a:lnTo>
                  <a:lnTo>
                    <a:pt x="880617" y="806196"/>
                  </a:lnTo>
                  <a:lnTo>
                    <a:pt x="134365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910072" y="4000245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5" dirty="0">
                <a:solidFill>
                  <a:srgbClr val="FFFFFF"/>
                </a:solidFill>
                <a:latin typeface="Arial"/>
                <a:cs typeface="Arial"/>
              </a:rPr>
              <a:t>leer</a:t>
            </a:r>
            <a:endParaRPr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776716" y="3751834"/>
            <a:ext cx="1292860" cy="819150"/>
            <a:chOff x="7246366" y="3751834"/>
            <a:chExt cx="1292860" cy="819150"/>
          </a:xfrm>
        </p:grpSpPr>
        <p:sp>
          <p:nvSpPr>
            <p:cNvPr id="28" name="object 28"/>
            <p:cNvSpPr/>
            <p:nvPr/>
          </p:nvSpPr>
          <p:spPr>
            <a:xfrm>
              <a:off x="7252716" y="3758184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1145793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6"/>
                  </a:lnTo>
                  <a:lnTo>
                    <a:pt x="1145793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52716" y="3758184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1145793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3" y="806196"/>
                  </a:lnTo>
                  <a:lnTo>
                    <a:pt x="134365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53478" y="4161282"/>
              <a:ext cx="1280160" cy="0"/>
            </a:xfrm>
            <a:custGeom>
              <a:avLst/>
              <a:gdLst/>
              <a:ahLst/>
              <a:cxnLst/>
              <a:rect l="l" t="t" r="r" b="b"/>
              <a:pathLst>
                <a:path w="1280159">
                  <a:moveTo>
                    <a:pt x="0" y="0"/>
                  </a:moveTo>
                  <a:lnTo>
                    <a:pt x="1280160" y="0"/>
                  </a:lnTo>
                </a:path>
              </a:pathLst>
            </a:custGeom>
            <a:ln w="19050">
              <a:solidFill>
                <a:srgbClr val="A4A4A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344790" y="3877817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16</a:t>
            </a:fld>
            <a:endParaRPr spc="-25" dirty="0"/>
          </a:p>
        </p:txBody>
      </p:sp>
      <p:sp>
        <p:nvSpPr>
          <p:cNvPr id="32" name="object 32"/>
          <p:cNvSpPr txBox="1"/>
          <p:nvPr/>
        </p:nvSpPr>
        <p:spPr>
          <a:xfrm>
            <a:off x="8953246" y="4184650"/>
            <a:ext cx="941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>
                <a:solidFill>
                  <a:srgbClr val="FFFFFF"/>
                </a:solidFill>
                <a:latin typeface="Arial"/>
                <a:cs typeface="Arial"/>
              </a:rPr>
              <a:t>verstauen</a:t>
            </a:r>
            <a:endParaRPr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016365" y="3814953"/>
            <a:ext cx="812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5" dirty="0">
                <a:solidFill>
                  <a:srgbClr val="FFFFFF"/>
                </a:solidFill>
                <a:latin typeface="Arial"/>
                <a:cs typeface="Arial"/>
              </a:rPr>
              <a:t>kochend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69102" y="4564379"/>
            <a:ext cx="1412240" cy="881380"/>
            <a:chOff x="4238752" y="4564379"/>
            <a:chExt cx="1412240" cy="881380"/>
          </a:xfrm>
        </p:grpSpPr>
        <p:sp>
          <p:nvSpPr>
            <p:cNvPr id="3" name="object 3"/>
            <p:cNvSpPr/>
            <p:nvPr/>
          </p:nvSpPr>
          <p:spPr>
            <a:xfrm>
              <a:off x="4302252" y="5439155"/>
              <a:ext cx="1348740" cy="0"/>
            </a:xfrm>
            <a:custGeom>
              <a:avLst/>
              <a:gdLst/>
              <a:ahLst/>
              <a:cxnLst/>
              <a:rect l="l" t="t" r="r" b="b"/>
              <a:pathLst>
                <a:path w="1348739">
                  <a:moveTo>
                    <a:pt x="134848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38752" y="4564379"/>
              <a:ext cx="127000" cy="875665"/>
            </a:xfrm>
            <a:custGeom>
              <a:avLst/>
              <a:gdLst/>
              <a:ahLst/>
              <a:cxnLst/>
              <a:rect l="l" t="t" r="r" b="b"/>
              <a:pathLst>
                <a:path w="127000" h="875664">
                  <a:moveTo>
                    <a:pt x="69850" y="114300"/>
                  </a:moveTo>
                  <a:lnTo>
                    <a:pt x="57150" y="114300"/>
                  </a:lnTo>
                  <a:lnTo>
                    <a:pt x="57150" y="875665"/>
                  </a:lnTo>
                  <a:lnTo>
                    <a:pt x="69850" y="875665"/>
                  </a:lnTo>
                  <a:lnTo>
                    <a:pt x="69850" y="114300"/>
                  </a:lnTo>
                  <a:close/>
                </a:path>
                <a:path w="127000" h="875664">
                  <a:moveTo>
                    <a:pt x="63500" y="0"/>
                  </a:moveTo>
                  <a:lnTo>
                    <a:pt x="0" y="127000"/>
                  </a:lnTo>
                  <a:lnTo>
                    <a:pt x="57150" y="127000"/>
                  </a:lnTo>
                  <a:lnTo>
                    <a:pt x="57150" y="114300"/>
                  </a:lnTo>
                  <a:lnTo>
                    <a:pt x="120650" y="114300"/>
                  </a:lnTo>
                  <a:lnTo>
                    <a:pt x="63500" y="0"/>
                  </a:lnTo>
                  <a:close/>
                </a:path>
                <a:path w="127000" h="875664">
                  <a:moveTo>
                    <a:pt x="120650" y="114300"/>
                  </a:moveTo>
                  <a:lnTo>
                    <a:pt x="69850" y="114300"/>
                  </a:lnTo>
                  <a:lnTo>
                    <a:pt x="69850" y="127000"/>
                  </a:lnTo>
                  <a:lnTo>
                    <a:pt x="127000" y="127000"/>
                  </a:lnTo>
                  <a:lnTo>
                    <a:pt x="120650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5769102" y="3396996"/>
            <a:ext cx="127000" cy="364490"/>
          </a:xfrm>
          <a:custGeom>
            <a:avLst/>
            <a:gdLst/>
            <a:ahLst/>
            <a:cxnLst/>
            <a:rect l="l" t="t" r="r" b="b"/>
            <a:pathLst>
              <a:path w="127000" h="364489">
                <a:moveTo>
                  <a:pt x="57150" y="237489"/>
                </a:moveTo>
                <a:lnTo>
                  <a:pt x="0" y="237489"/>
                </a:lnTo>
                <a:lnTo>
                  <a:pt x="63500" y="364489"/>
                </a:lnTo>
                <a:lnTo>
                  <a:pt x="120650" y="250189"/>
                </a:lnTo>
                <a:lnTo>
                  <a:pt x="57150" y="250189"/>
                </a:lnTo>
                <a:lnTo>
                  <a:pt x="57150" y="237489"/>
                </a:lnTo>
                <a:close/>
              </a:path>
              <a:path w="127000" h="364489">
                <a:moveTo>
                  <a:pt x="69850" y="0"/>
                </a:moveTo>
                <a:lnTo>
                  <a:pt x="57150" y="0"/>
                </a:lnTo>
                <a:lnTo>
                  <a:pt x="57150" y="250189"/>
                </a:lnTo>
                <a:lnTo>
                  <a:pt x="69850" y="250189"/>
                </a:lnTo>
                <a:lnTo>
                  <a:pt x="69850" y="0"/>
                </a:lnTo>
                <a:close/>
              </a:path>
              <a:path w="127000" h="364489">
                <a:moveTo>
                  <a:pt x="127000" y="237489"/>
                </a:moveTo>
                <a:lnTo>
                  <a:pt x="69850" y="237489"/>
                </a:lnTo>
                <a:lnTo>
                  <a:pt x="69850" y="250189"/>
                </a:lnTo>
                <a:lnTo>
                  <a:pt x="120650" y="250189"/>
                </a:lnTo>
                <a:lnTo>
                  <a:pt x="127000" y="237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96000" y="4567429"/>
            <a:ext cx="918210" cy="676275"/>
          </a:xfrm>
          <a:custGeom>
            <a:avLst/>
            <a:gdLst/>
            <a:ahLst/>
            <a:cxnLst/>
            <a:rect l="l" t="t" r="r" b="b"/>
            <a:pathLst>
              <a:path w="918210" h="676275">
                <a:moveTo>
                  <a:pt x="791210" y="549275"/>
                </a:moveTo>
                <a:lnTo>
                  <a:pt x="791210" y="676275"/>
                </a:lnTo>
                <a:lnTo>
                  <a:pt x="905510" y="619125"/>
                </a:lnTo>
                <a:lnTo>
                  <a:pt x="803910" y="619125"/>
                </a:lnTo>
                <a:lnTo>
                  <a:pt x="803910" y="606425"/>
                </a:lnTo>
                <a:lnTo>
                  <a:pt x="905510" y="606425"/>
                </a:lnTo>
                <a:lnTo>
                  <a:pt x="791210" y="549275"/>
                </a:lnTo>
                <a:close/>
              </a:path>
              <a:path w="918210" h="676275">
                <a:moveTo>
                  <a:pt x="12700" y="0"/>
                </a:moveTo>
                <a:lnTo>
                  <a:pt x="0" y="0"/>
                </a:lnTo>
                <a:lnTo>
                  <a:pt x="0" y="619125"/>
                </a:lnTo>
                <a:lnTo>
                  <a:pt x="791210" y="619125"/>
                </a:lnTo>
                <a:lnTo>
                  <a:pt x="791210" y="612775"/>
                </a:lnTo>
                <a:lnTo>
                  <a:pt x="12700" y="612775"/>
                </a:lnTo>
                <a:lnTo>
                  <a:pt x="6350" y="606425"/>
                </a:lnTo>
                <a:lnTo>
                  <a:pt x="12700" y="606425"/>
                </a:lnTo>
                <a:lnTo>
                  <a:pt x="12700" y="0"/>
                </a:lnTo>
                <a:close/>
              </a:path>
              <a:path w="918210" h="676275">
                <a:moveTo>
                  <a:pt x="905510" y="606425"/>
                </a:moveTo>
                <a:lnTo>
                  <a:pt x="803910" y="606425"/>
                </a:lnTo>
                <a:lnTo>
                  <a:pt x="803910" y="619125"/>
                </a:lnTo>
                <a:lnTo>
                  <a:pt x="905510" y="619125"/>
                </a:lnTo>
                <a:lnTo>
                  <a:pt x="918210" y="612775"/>
                </a:lnTo>
                <a:lnTo>
                  <a:pt x="905510" y="606425"/>
                </a:lnTo>
                <a:close/>
              </a:path>
              <a:path w="918210" h="676275">
                <a:moveTo>
                  <a:pt x="12700" y="606425"/>
                </a:moveTo>
                <a:lnTo>
                  <a:pt x="6350" y="606425"/>
                </a:lnTo>
                <a:lnTo>
                  <a:pt x="12700" y="612775"/>
                </a:lnTo>
                <a:lnTo>
                  <a:pt x="12700" y="606425"/>
                </a:lnTo>
                <a:close/>
              </a:path>
              <a:path w="918210" h="676275">
                <a:moveTo>
                  <a:pt x="791210" y="606425"/>
                </a:moveTo>
                <a:lnTo>
                  <a:pt x="12700" y="606425"/>
                </a:lnTo>
                <a:lnTo>
                  <a:pt x="12700" y="612775"/>
                </a:lnTo>
                <a:lnTo>
                  <a:pt x="791210" y="612775"/>
                </a:lnTo>
                <a:lnTo>
                  <a:pt x="791210" y="6064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93861" y="4564380"/>
            <a:ext cx="1192530" cy="622935"/>
          </a:xfrm>
          <a:custGeom>
            <a:avLst/>
            <a:gdLst/>
            <a:ahLst/>
            <a:cxnLst/>
            <a:rect l="l" t="t" r="r" b="b"/>
            <a:pathLst>
              <a:path w="1192529" h="622935">
                <a:moveTo>
                  <a:pt x="1122172" y="609854"/>
                </a:moveTo>
                <a:lnTo>
                  <a:pt x="0" y="609854"/>
                </a:lnTo>
                <a:lnTo>
                  <a:pt x="0" y="622554"/>
                </a:lnTo>
                <a:lnTo>
                  <a:pt x="1134872" y="622554"/>
                </a:lnTo>
                <a:lnTo>
                  <a:pt x="1134872" y="616204"/>
                </a:lnTo>
                <a:lnTo>
                  <a:pt x="1122172" y="616204"/>
                </a:lnTo>
                <a:lnTo>
                  <a:pt x="1122172" y="609854"/>
                </a:lnTo>
                <a:close/>
              </a:path>
              <a:path w="1192529" h="622935">
                <a:moveTo>
                  <a:pt x="1134872" y="114300"/>
                </a:moveTo>
                <a:lnTo>
                  <a:pt x="1122172" y="114300"/>
                </a:lnTo>
                <a:lnTo>
                  <a:pt x="1122172" y="616204"/>
                </a:lnTo>
                <a:lnTo>
                  <a:pt x="1128522" y="609854"/>
                </a:lnTo>
                <a:lnTo>
                  <a:pt x="1134872" y="609854"/>
                </a:lnTo>
                <a:lnTo>
                  <a:pt x="1134872" y="114300"/>
                </a:lnTo>
                <a:close/>
              </a:path>
              <a:path w="1192529" h="622935">
                <a:moveTo>
                  <a:pt x="1134872" y="609854"/>
                </a:moveTo>
                <a:lnTo>
                  <a:pt x="1128522" y="609854"/>
                </a:lnTo>
                <a:lnTo>
                  <a:pt x="1122172" y="616204"/>
                </a:lnTo>
                <a:lnTo>
                  <a:pt x="1134872" y="616204"/>
                </a:lnTo>
                <a:lnTo>
                  <a:pt x="1134872" y="609854"/>
                </a:lnTo>
                <a:close/>
              </a:path>
              <a:path w="1192529" h="622935">
                <a:moveTo>
                  <a:pt x="1128522" y="0"/>
                </a:moveTo>
                <a:lnTo>
                  <a:pt x="1065022" y="127000"/>
                </a:lnTo>
                <a:lnTo>
                  <a:pt x="1122172" y="127000"/>
                </a:lnTo>
                <a:lnTo>
                  <a:pt x="1122172" y="114300"/>
                </a:lnTo>
                <a:lnTo>
                  <a:pt x="1185672" y="114300"/>
                </a:lnTo>
                <a:lnTo>
                  <a:pt x="1128522" y="0"/>
                </a:lnTo>
                <a:close/>
              </a:path>
              <a:path w="1192529" h="622935">
                <a:moveTo>
                  <a:pt x="1185672" y="114300"/>
                </a:moveTo>
                <a:lnTo>
                  <a:pt x="1134872" y="114300"/>
                </a:lnTo>
                <a:lnTo>
                  <a:pt x="1134872" y="127000"/>
                </a:lnTo>
                <a:lnTo>
                  <a:pt x="1192022" y="127000"/>
                </a:lnTo>
                <a:lnTo>
                  <a:pt x="1185672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93861" y="3048507"/>
            <a:ext cx="1135380" cy="709930"/>
          </a:xfrm>
          <a:custGeom>
            <a:avLst/>
            <a:gdLst/>
            <a:ahLst/>
            <a:cxnLst/>
            <a:rect l="l" t="t" r="r" b="b"/>
            <a:pathLst>
              <a:path w="1135379" h="709929">
                <a:moveTo>
                  <a:pt x="1122172" y="63500"/>
                </a:moveTo>
                <a:lnTo>
                  <a:pt x="1122172" y="709675"/>
                </a:lnTo>
                <a:lnTo>
                  <a:pt x="1134872" y="709675"/>
                </a:lnTo>
                <a:lnTo>
                  <a:pt x="1134872" y="69850"/>
                </a:lnTo>
                <a:lnTo>
                  <a:pt x="1128522" y="69850"/>
                </a:lnTo>
                <a:lnTo>
                  <a:pt x="1122172" y="63500"/>
                </a:lnTo>
                <a:close/>
              </a:path>
              <a:path w="1135379" h="709929">
                <a:moveTo>
                  <a:pt x="127000" y="0"/>
                </a:moveTo>
                <a:lnTo>
                  <a:pt x="0" y="63500"/>
                </a:lnTo>
                <a:lnTo>
                  <a:pt x="127000" y="127000"/>
                </a:lnTo>
                <a:lnTo>
                  <a:pt x="127000" y="69850"/>
                </a:lnTo>
                <a:lnTo>
                  <a:pt x="114300" y="69850"/>
                </a:lnTo>
                <a:lnTo>
                  <a:pt x="114300" y="57150"/>
                </a:lnTo>
                <a:lnTo>
                  <a:pt x="127000" y="57150"/>
                </a:lnTo>
                <a:lnTo>
                  <a:pt x="127000" y="0"/>
                </a:lnTo>
                <a:close/>
              </a:path>
              <a:path w="1135379" h="709929">
                <a:moveTo>
                  <a:pt x="127000" y="57150"/>
                </a:moveTo>
                <a:lnTo>
                  <a:pt x="114300" y="57150"/>
                </a:lnTo>
                <a:lnTo>
                  <a:pt x="114300" y="69850"/>
                </a:lnTo>
                <a:lnTo>
                  <a:pt x="127000" y="69850"/>
                </a:lnTo>
                <a:lnTo>
                  <a:pt x="127000" y="57150"/>
                </a:lnTo>
                <a:close/>
              </a:path>
              <a:path w="1135379" h="709929">
                <a:moveTo>
                  <a:pt x="1134872" y="57150"/>
                </a:moveTo>
                <a:lnTo>
                  <a:pt x="127000" y="57150"/>
                </a:lnTo>
                <a:lnTo>
                  <a:pt x="127000" y="69850"/>
                </a:lnTo>
                <a:lnTo>
                  <a:pt x="1122172" y="69850"/>
                </a:lnTo>
                <a:lnTo>
                  <a:pt x="1122172" y="63500"/>
                </a:lnTo>
                <a:lnTo>
                  <a:pt x="1134872" y="63500"/>
                </a:lnTo>
                <a:lnTo>
                  <a:pt x="1134872" y="57150"/>
                </a:lnTo>
                <a:close/>
              </a:path>
              <a:path w="1135379" h="709929">
                <a:moveTo>
                  <a:pt x="1134872" y="63500"/>
                </a:moveTo>
                <a:lnTo>
                  <a:pt x="1122172" y="63500"/>
                </a:lnTo>
                <a:lnTo>
                  <a:pt x="1128522" y="69850"/>
                </a:lnTo>
                <a:lnTo>
                  <a:pt x="1134872" y="69850"/>
                </a:lnTo>
                <a:lnTo>
                  <a:pt x="1134872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742685" y="2703323"/>
            <a:ext cx="2557780" cy="2887345"/>
            <a:chOff x="4212335" y="2703322"/>
            <a:chExt cx="2557780" cy="2887345"/>
          </a:xfrm>
        </p:grpSpPr>
        <p:sp>
          <p:nvSpPr>
            <p:cNvPr id="10" name="object 10"/>
            <p:cNvSpPr/>
            <p:nvPr/>
          </p:nvSpPr>
          <p:spPr>
            <a:xfrm>
              <a:off x="4508499" y="3105658"/>
              <a:ext cx="975360" cy="655955"/>
            </a:xfrm>
            <a:custGeom>
              <a:avLst/>
              <a:gdLst/>
              <a:ahLst/>
              <a:cxnLst/>
              <a:rect l="l" t="t" r="r" b="b"/>
              <a:pathLst>
                <a:path w="975360" h="655954">
                  <a:moveTo>
                    <a:pt x="57150" y="528827"/>
                  </a:moveTo>
                  <a:lnTo>
                    <a:pt x="0" y="528827"/>
                  </a:lnTo>
                  <a:lnTo>
                    <a:pt x="63500" y="655827"/>
                  </a:lnTo>
                  <a:lnTo>
                    <a:pt x="120650" y="541527"/>
                  </a:lnTo>
                  <a:lnTo>
                    <a:pt x="57150" y="541527"/>
                  </a:lnTo>
                  <a:lnTo>
                    <a:pt x="57150" y="528827"/>
                  </a:lnTo>
                  <a:close/>
                </a:path>
                <a:path w="975360" h="655954">
                  <a:moveTo>
                    <a:pt x="975360" y="0"/>
                  </a:moveTo>
                  <a:lnTo>
                    <a:pt x="57150" y="0"/>
                  </a:lnTo>
                  <a:lnTo>
                    <a:pt x="57150" y="541527"/>
                  </a:lnTo>
                  <a:lnTo>
                    <a:pt x="69850" y="541527"/>
                  </a:lnTo>
                  <a:lnTo>
                    <a:pt x="69850" y="12700"/>
                  </a:lnTo>
                  <a:lnTo>
                    <a:pt x="63500" y="12700"/>
                  </a:lnTo>
                  <a:lnTo>
                    <a:pt x="69850" y="6350"/>
                  </a:lnTo>
                  <a:lnTo>
                    <a:pt x="975360" y="6350"/>
                  </a:lnTo>
                  <a:lnTo>
                    <a:pt x="975360" y="0"/>
                  </a:lnTo>
                  <a:close/>
                </a:path>
                <a:path w="975360" h="655954">
                  <a:moveTo>
                    <a:pt x="127000" y="528827"/>
                  </a:moveTo>
                  <a:lnTo>
                    <a:pt x="69850" y="528827"/>
                  </a:lnTo>
                  <a:lnTo>
                    <a:pt x="69850" y="541527"/>
                  </a:lnTo>
                  <a:lnTo>
                    <a:pt x="120650" y="541527"/>
                  </a:lnTo>
                  <a:lnTo>
                    <a:pt x="127000" y="528827"/>
                  </a:lnTo>
                  <a:close/>
                </a:path>
                <a:path w="975360" h="655954">
                  <a:moveTo>
                    <a:pt x="69850" y="6350"/>
                  </a:moveTo>
                  <a:lnTo>
                    <a:pt x="63500" y="12700"/>
                  </a:lnTo>
                  <a:lnTo>
                    <a:pt x="69850" y="12700"/>
                  </a:lnTo>
                  <a:lnTo>
                    <a:pt x="69850" y="6350"/>
                  </a:lnTo>
                  <a:close/>
                </a:path>
                <a:path w="975360" h="655954">
                  <a:moveTo>
                    <a:pt x="975360" y="6350"/>
                  </a:moveTo>
                  <a:lnTo>
                    <a:pt x="69850" y="6350"/>
                  </a:lnTo>
                  <a:lnTo>
                    <a:pt x="69850" y="12700"/>
                  </a:lnTo>
                  <a:lnTo>
                    <a:pt x="975360" y="12700"/>
                  </a:lnTo>
                  <a:lnTo>
                    <a:pt x="975360" y="6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2335" y="3217163"/>
              <a:ext cx="179831" cy="1798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483351" y="4777739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1145794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6"/>
                  </a:lnTo>
                  <a:lnTo>
                    <a:pt x="1145794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3351" y="4777739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6"/>
                  </a:lnTo>
                  <a:lnTo>
                    <a:pt x="134365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83351" y="2709672"/>
              <a:ext cx="1280160" cy="805180"/>
            </a:xfrm>
            <a:custGeom>
              <a:avLst/>
              <a:gdLst/>
              <a:ahLst/>
              <a:cxnLst/>
              <a:rect l="l" t="t" r="r" b="b"/>
              <a:pathLst>
                <a:path w="1280159" h="805179">
                  <a:moveTo>
                    <a:pt x="1146048" y="0"/>
                  </a:moveTo>
                  <a:lnTo>
                    <a:pt x="134112" y="0"/>
                  </a:lnTo>
                  <a:lnTo>
                    <a:pt x="91732" y="6839"/>
                  </a:lnTo>
                  <a:lnTo>
                    <a:pt x="54918" y="25883"/>
                  </a:lnTo>
                  <a:lnTo>
                    <a:pt x="25883" y="54918"/>
                  </a:lnTo>
                  <a:lnTo>
                    <a:pt x="6839" y="91732"/>
                  </a:lnTo>
                  <a:lnTo>
                    <a:pt x="0" y="134112"/>
                  </a:lnTo>
                  <a:lnTo>
                    <a:pt x="0" y="670560"/>
                  </a:lnTo>
                  <a:lnTo>
                    <a:pt x="6839" y="712939"/>
                  </a:lnTo>
                  <a:lnTo>
                    <a:pt x="25883" y="749753"/>
                  </a:lnTo>
                  <a:lnTo>
                    <a:pt x="54918" y="778788"/>
                  </a:lnTo>
                  <a:lnTo>
                    <a:pt x="91732" y="797832"/>
                  </a:lnTo>
                  <a:lnTo>
                    <a:pt x="134112" y="804672"/>
                  </a:lnTo>
                  <a:lnTo>
                    <a:pt x="1146048" y="804672"/>
                  </a:lnTo>
                  <a:lnTo>
                    <a:pt x="1188427" y="797832"/>
                  </a:lnTo>
                  <a:lnTo>
                    <a:pt x="1225241" y="778788"/>
                  </a:lnTo>
                  <a:lnTo>
                    <a:pt x="1254276" y="749753"/>
                  </a:lnTo>
                  <a:lnTo>
                    <a:pt x="1273320" y="712939"/>
                  </a:lnTo>
                  <a:lnTo>
                    <a:pt x="1280159" y="670560"/>
                  </a:lnTo>
                  <a:lnTo>
                    <a:pt x="1280159" y="134112"/>
                  </a:lnTo>
                  <a:lnTo>
                    <a:pt x="1273320" y="91732"/>
                  </a:lnTo>
                  <a:lnTo>
                    <a:pt x="1254276" y="54918"/>
                  </a:lnTo>
                  <a:lnTo>
                    <a:pt x="1225241" y="25883"/>
                  </a:lnTo>
                  <a:lnTo>
                    <a:pt x="1188427" y="6839"/>
                  </a:lnTo>
                  <a:lnTo>
                    <a:pt x="11460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3351" y="2709672"/>
              <a:ext cx="1280160" cy="805180"/>
            </a:xfrm>
            <a:custGeom>
              <a:avLst/>
              <a:gdLst/>
              <a:ahLst/>
              <a:cxnLst/>
              <a:rect l="l" t="t" r="r" b="b"/>
              <a:pathLst>
                <a:path w="1280159" h="805179">
                  <a:moveTo>
                    <a:pt x="0" y="134112"/>
                  </a:moveTo>
                  <a:lnTo>
                    <a:pt x="6839" y="91732"/>
                  </a:lnTo>
                  <a:lnTo>
                    <a:pt x="25883" y="54918"/>
                  </a:lnTo>
                  <a:lnTo>
                    <a:pt x="54918" y="25883"/>
                  </a:lnTo>
                  <a:lnTo>
                    <a:pt x="91732" y="6839"/>
                  </a:lnTo>
                  <a:lnTo>
                    <a:pt x="134112" y="0"/>
                  </a:lnTo>
                  <a:lnTo>
                    <a:pt x="1146048" y="0"/>
                  </a:lnTo>
                  <a:lnTo>
                    <a:pt x="1188427" y="6839"/>
                  </a:lnTo>
                  <a:lnTo>
                    <a:pt x="1225241" y="25883"/>
                  </a:lnTo>
                  <a:lnTo>
                    <a:pt x="1254276" y="54918"/>
                  </a:lnTo>
                  <a:lnTo>
                    <a:pt x="1273320" y="91732"/>
                  </a:lnTo>
                  <a:lnTo>
                    <a:pt x="1280159" y="134112"/>
                  </a:lnTo>
                  <a:lnTo>
                    <a:pt x="1280159" y="670560"/>
                  </a:lnTo>
                  <a:lnTo>
                    <a:pt x="1273320" y="712939"/>
                  </a:lnTo>
                  <a:lnTo>
                    <a:pt x="1254276" y="749753"/>
                  </a:lnTo>
                  <a:lnTo>
                    <a:pt x="1225241" y="778788"/>
                  </a:lnTo>
                  <a:lnTo>
                    <a:pt x="1188427" y="797832"/>
                  </a:lnTo>
                  <a:lnTo>
                    <a:pt x="1146048" y="804672"/>
                  </a:lnTo>
                  <a:lnTo>
                    <a:pt x="134112" y="804672"/>
                  </a:lnTo>
                  <a:lnTo>
                    <a:pt x="91732" y="797832"/>
                  </a:lnTo>
                  <a:lnTo>
                    <a:pt x="54918" y="778788"/>
                  </a:lnTo>
                  <a:lnTo>
                    <a:pt x="25883" y="749753"/>
                  </a:lnTo>
                  <a:lnTo>
                    <a:pt x="6839" y="712939"/>
                  </a:lnTo>
                  <a:lnTo>
                    <a:pt x="0" y="670560"/>
                  </a:lnTo>
                  <a:lnTo>
                    <a:pt x="0" y="134112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471662" y="776500"/>
            <a:ext cx="40639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35" dirty="0"/>
              <a:t>Mealy-</a:t>
            </a:r>
            <a:r>
              <a:rPr spc="-114" dirty="0"/>
              <a:t>Automaten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30706" y="1790003"/>
            <a:ext cx="746315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0"/>
              </a:lnSpc>
              <a:spcBef>
                <a:spcPts val="100"/>
              </a:spcBef>
            </a:pPr>
            <a:r>
              <a:rPr sz="2400" spc="-145" dirty="0">
                <a:latin typeface="Arial"/>
                <a:cs typeface="Arial"/>
              </a:rPr>
              <a:t>Wenn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2€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empfangen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werden,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85" dirty="0">
                <a:latin typeface="Arial"/>
                <a:cs typeface="Arial"/>
              </a:rPr>
              <a:t>muss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b="1" spc="-140" dirty="0">
                <a:latin typeface="Arial"/>
                <a:cs typeface="Arial"/>
              </a:rPr>
              <a:t>die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140" dirty="0">
                <a:latin typeface="Arial"/>
                <a:cs typeface="Arial"/>
              </a:rPr>
              <a:t>Kontrolleinheit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dem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ts val="2740"/>
              </a:lnSpc>
            </a:pPr>
            <a:r>
              <a:rPr sz="2400" b="1" spc="-170" dirty="0">
                <a:latin typeface="Arial"/>
                <a:cs typeface="Arial"/>
              </a:rPr>
              <a:t>Münzschlitz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spc="-95" dirty="0">
                <a:latin typeface="Arial"/>
                <a:cs typeface="Arial"/>
              </a:rPr>
              <a:t>mitteilen</a:t>
            </a:r>
            <a:r>
              <a:rPr sz="2400" spc="-95" dirty="0">
                <a:latin typeface="Arial"/>
                <a:cs typeface="Arial"/>
              </a:rPr>
              <a:t>,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15" dirty="0">
                <a:latin typeface="Arial"/>
                <a:cs typeface="Arial"/>
              </a:rPr>
              <a:t>dass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er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85" dirty="0">
                <a:latin typeface="Arial"/>
                <a:cs typeface="Arial"/>
              </a:rPr>
              <a:t>das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Geld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b="1" spc="-175" dirty="0">
                <a:latin typeface="Arial"/>
                <a:cs typeface="Arial"/>
              </a:rPr>
              <a:t>verstauen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soll</a:t>
            </a:r>
            <a:r>
              <a:rPr sz="2400" b="1" spc="-10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61456" y="2899536"/>
            <a:ext cx="3042285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0"/>
              </a:lnSpc>
              <a:tabLst>
                <a:tab pos="2709545" algn="l"/>
              </a:tabLst>
            </a:pPr>
            <a:r>
              <a:rPr sz="1200" spc="-10" dirty="0">
                <a:latin typeface="Arial"/>
                <a:cs typeface="Arial"/>
              </a:rPr>
              <a:t>genommen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pc="-37" baseline="-6944" dirty="0">
                <a:latin typeface="Arial"/>
                <a:cs typeface="Arial"/>
              </a:rPr>
              <a:t>fertig</a:t>
            </a:r>
            <a:endParaRPr baseline="-6944">
              <a:latin typeface="Arial"/>
              <a:cs typeface="Arial"/>
            </a:endParaRPr>
          </a:p>
          <a:p>
            <a:pPr marL="144780" algn="ctr">
              <a:lnSpc>
                <a:spcPts val="1830"/>
              </a:lnSpc>
            </a:pP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wartend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8972" y="5024628"/>
            <a:ext cx="3206115" cy="6159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96850">
              <a:lnSpc>
                <a:spcPts val="1725"/>
              </a:lnSpc>
              <a:spcBef>
                <a:spcPts val="35"/>
              </a:spcBef>
              <a:tabLst>
                <a:tab pos="1174750" algn="l"/>
              </a:tabLst>
            </a:pPr>
            <a:r>
              <a:rPr spc="-89" baseline="43981" dirty="0">
                <a:latin typeface="Arial"/>
                <a:cs typeface="Arial"/>
              </a:rPr>
              <a:t>1€-</a:t>
            </a:r>
            <a:r>
              <a:rPr spc="-15" baseline="43981" dirty="0">
                <a:latin typeface="Arial"/>
                <a:cs typeface="Arial"/>
              </a:rPr>
              <a:t>Münze</a:t>
            </a:r>
            <a:r>
              <a:rPr baseline="43981" dirty="0">
                <a:latin typeface="Arial"/>
                <a:cs typeface="Arial"/>
              </a:rPr>
              <a:t>	</a:t>
            </a: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1€</a:t>
            </a:r>
            <a:r>
              <a:rPr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bezahlt</a:t>
            </a:r>
            <a:endParaRPr>
              <a:latin typeface="Arial"/>
              <a:cs typeface="Arial"/>
            </a:endParaRPr>
          </a:p>
          <a:p>
            <a:pPr marL="2578735">
              <a:lnSpc>
                <a:spcPts val="1005"/>
              </a:lnSpc>
            </a:pPr>
            <a:r>
              <a:rPr sz="1200" spc="-60" dirty="0">
                <a:latin typeface="Arial"/>
                <a:cs typeface="Arial"/>
              </a:rPr>
              <a:t>1€-Münze</a:t>
            </a:r>
            <a:endParaRPr sz="1200">
              <a:latin typeface="Arial"/>
              <a:cs typeface="Arial"/>
            </a:endParaRPr>
          </a:p>
          <a:p>
            <a:pPr>
              <a:spcBef>
                <a:spcPts val="58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1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2538" y="3227070"/>
            <a:ext cx="4168838" cy="1860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3675" indent="-180975">
              <a:spcBef>
                <a:spcPts val="105"/>
              </a:spcBef>
              <a:buClr>
                <a:schemeClr val="tx1"/>
              </a:buClr>
              <a:buFont typeface="Wingdings"/>
              <a:buChar char=""/>
              <a:tabLst>
                <a:tab pos="193675" algn="l"/>
              </a:tabLst>
            </a:pPr>
            <a:r>
              <a:rPr sz="2400" spc="-125" dirty="0">
                <a:latin typeface="Arial"/>
                <a:cs typeface="Arial"/>
              </a:rPr>
              <a:t>Ausgabeereignisse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b="1" spc="-150" dirty="0">
                <a:latin typeface="Arial"/>
                <a:cs typeface="Arial"/>
              </a:rPr>
              <a:t>an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75" dirty="0">
                <a:latin typeface="Arial"/>
                <a:cs typeface="Arial"/>
              </a:rPr>
              <a:t>den</a:t>
            </a:r>
            <a:endParaRPr sz="2400" dirty="0">
              <a:latin typeface="Arial"/>
              <a:cs typeface="Arial"/>
            </a:endParaRPr>
          </a:p>
          <a:p>
            <a:pPr marL="193675">
              <a:buClr>
                <a:schemeClr val="tx1"/>
              </a:buClr>
            </a:pPr>
            <a:r>
              <a:rPr sz="2400" b="1" spc="-65" dirty="0">
                <a:latin typeface="Arial"/>
                <a:cs typeface="Arial"/>
              </a:rPr>
              <a:t>Transitionen</a:t>
            </a:r>
            <a:endParaRPr sz="2400" dirty="0">
              <a:latin typeface="Arial"/>
              <a:cs typeface="Arial"/>
            </a:endParaRPr>
          </a:p>
          <a:p>
            <a:pPr marL="193675" indent="-180975">
              <a:buClr>
                <a:schemeClr val="tx1"/>
              </a:buClr>
              <a:buFont typeface="Wingdings"/>
              <a:buChar char=""/>
              <a:tabLst>
                <a:tab pos="193675" algn="l"/>
              </a:tabLst>
            </a:pPr>
            <a:r>
              <a:rPr sz="2400" b="1" spc="-140" dirty="0">
                <a:latin typeface="Arial"/>
                <a:cs typeface="Arial"/>
              </a:rPr>
              <a:t>Während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120" dirty="0">
                <a:latin typeface="Arial"/>
                <a:cs typeface="Arial"/>
              </a:rPr>
              <a:t>der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Transition</a:t>
            </a:r>
            <a:endParaRPr sz="2400" dirty="0">
              <a:latin typeface="Arial"/>
              <a:cs typeface="Arial"/>
            </a:endParaRPr>
          </a:p>
          <a:p>
            <a:pPr marL="193675">
              <a:buClr>
                <a:schemeClr val="tx1"/>
              </a:buClr>
            </a:pPr>
            <a:r>
              <a:rPr sz="2400" spc="-25" dirty="0">
                <a:latin typeface="Arial"/>
                <a:cs typeface="Arial"/>
              </a:rPr>
              <a:t>wird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das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Ereignis</a:t>
            </a:r>
            <a:endParaRPr sz="2400" dirty="0">
              <a:latin typeface="Arial"/>
              <a:cs typeface="Arial"/>
            </a:endParaRPr>
          </a:p>
          <a:p>
            <a:pPr marL="193675">
              <a:buClr>
                <a:schemeClr val="tx1"/>
              </a:buClr>
            </a:pPr>
            <a:r>
              <a:rPr sz="2400" spc="-60" dirty="0">
                <a:latin typeface="Arial"/>
                <a:cs typeface="Arial"/>
              </a:rPr>
              <a:t>„verstauen“ </a:t>
            </a:r>
            <a:r>
              <a:rPr sz="2400" spc="-10" dirty="0">
                <a:latin typeface="Arial"/>
                <a:cs typeface="Arial"/>
              </a:rPr>
              <a:t>gesendet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518659" y="2609089"/>
            <a:ext cx="4459605" cy="3171825"/>
            <a:chOff x="3988308" y="2609088"/>
            <a:chExt cx="4459605" cy="3171825"/>
          </a:xfrm>
        </p:grpSpPr>
        <p:sp>
          <p:nvSpPr>
            <p:cNvPr id="22" name="object 22"/>
            <p:cNvSpPr/>
            <p:nvPr/>
          </p:nvSpPr>
          <p:spPr>
            <a:xfrm>
              <a:off x="3988308" y="2609087"/>
              <a:ext cx="4459605" cy="3171825"/>
            </a:xfrm>
            <a:custGeom>
              <a:avLst/>
              <a:gdLst/>
              <a:ahLst/>
              <a:cxnLst/>
              <a:rect l="l" t="t" r="r" b="b"/>
              <a:pathLst>
                <a:path w="4459605" h="3171825">
                  <a:moveTo>
                    <a:pt x="4270248" y="1962912"/>
                  </a:moveTo>
                  <a:lnTo>
                    <a:pt x="0" y="1962912"/>
                  </a:lnTo>
                  <a:lnTo>
                    <a:pt x="0" y="3171444"/>
                  </a:lnTo>
                  <a:lnTo>
                    <a:pt x="4270248" y="3171444"/>
                  </a:lnTo>
                  <a:lnTo>
                    <a:pt x="4270248" y="1962912"/>
                  </a:lnTo>
                  <a:close/>
                </a:path>
                <a:path w="4459605" h="3171825">
                  <a:moveTo>
                    <a:pt x="4459224" y="0"/>
                  </a:moveTo>
                  <a:lnTo>
                    <a:pt x="188976" y="0"/>
                  </a:lnTo>
                  <a:lnTo>
                    <a:pt x="188976" y="1178052"/>
                  </a:lnTo>
                  <a:lnTo>
                    <a:pt x="4459224" y="1178052"/>
                  </a:lnTo>
                  <a:lnTo>
                    <a:pt x="4459224" y="0"/>
                  </a:lnTo>
                  <a:close/>
                </a:path>
              </a:pathLst>
            </a:custGeom>
            <a:solidFill>
              <a:srgbClr val="FFFFFF">
                <a:alpha val="7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79492" y="3840988"/>
              <a:ext cx="2173605" cy="127000"/>
            </a:xfrm>
            <a:custGeom>
              <a:avLst/>
              <a:gdLst/>
              <a:ahLst/>
              <a:cxnLst/>
              <a:rect l="l" t="t" r="r" b="b"/>
              <a:pathLst>
                <a:path w="2173604" h="127000">
                  <a:moveTo>
                    <a:pt x="2046478" y="0"/>
                  </a:moveTo>
                  <a:lnTo>
                    <a:pt x="2046478" y="127000"/>
                  </a:lnTo>
                  <a:lnTo>
                    <a:pt x="2160778" y="69850"/>
                  </a:lnTo>
                  <a:lnTo>
                    <a:pt x="2059178" y="69850"/>
                  </a:lnTo>
                  <a:lnTo>
                    <a:pt x="2059178" y="57150"/>
                  </a:lnTo>
                  <a:lnTo>
                    <a:pt x="2160778" y="57150"/>
                  </a:lnTo>
                  <a:lnTo>
                    <a:pt x="2046478" y="0"/>
                  </a:lnTo>
                  <a:close/>
                </a:path>
                <a:path w="2173604" h="127000">
                  <a:moveTo>
                    <a:pt x="2046478" y="57150"/>
                  </a:moveTo>
                  <a:lnTo>
                    <a:pt x="0" y="57150"/>
                  </a:lnTo>
                  <a:lnTo>
                    <a:pt x="0" y="69850"/>
                  </a:lnTo>
                  <a:lnTo>
                    <a:pt x="2046478" y="69850"/>
                  </a:lnTo>
                  <a:lnTo>
                    <a:pt x="2046478" y="57150"/>
                  </a:lnTo>
                  <a:close/>
                </a:path>
                <a:path w="2173604" h="127000">
                  <a:moveTo>
                    <a:pt x="2160778" y="57150"/>
                  </a:moveTo>
                  <a:lnTo>
                    <a:pt x="2059178" y="57150"/>
                  </a:lnTo>
                  <a:lnTo>
                    <a:pt x="2059178" y="69850"/>
                  </a:lnTo>
                  <a:lnTo>
                    <a:pt x="2160778" y="69850"/>
                  </a:lnTo>
                  <a:lnTo>
                    <a:pt x="2173478" y="63500"/>
                  </a:lnTo>
                  <a:lnTo>
                    <a:pt x="2160778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64508" y="3761232"/>
              <a:ext cx="1015365" cy="806450"/>
            </a:xfrm>
            <a:custGeom>
              <a:avLst/>
              <a:gdLst/>
              <a:ahLst/>
              <a:cxnLst/>
              <a:rect l="l" t="t" r="r" b="b"/>
              <a:pathLst>
                <a:path w="1015364" h="806450">
                  <a:moveTo>
                    <a:pt x="880617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6"/>
                  </a:lnTo>
                  <a:lnTo>
                    <a:pt x="880617" y="806196"/>
                  </a:lnTo>
                  <a:lnTo>
                    <a:pt x="923072" y="799342"/>
                  </a:lnTo>
                  <a:lnTo>
                    <a:pt x="959955" y="780259"/>
                  </a:lnTo>
                  <a:lnTo>
                    <a:pt x="989047" y="751167"/>
                  </a:lnTo>
                  <a:lnTo>
                    <a:pt x="1008130" y="714284"/>
                  </a:lnTo>
                  <a:lnTo>
                    <a:pt x="1014983" y="671830"/>
                  </a:lnTo>
                  <a:lnTo>
                    <a:pt x="1014983" y="134366"/>
                  </a:lnTo>
                  <a:lnTo>
                    <a:pt x="1008130" y="91911"/>
                  </a:lnTo>
                  <a:lnTo>
                    <a:pt x="989047" y="55028"/>
                  </a:lnTo>
                  <a:lnTo>
                    <a:pt x="959955" y="25936"/>
                  </a:lnTo>
                  <a:lnTo>
                    <a:pt x="923072" y="6853"/>
                  </a:lnTo>
                  <a:lnTo>
                    <a:pt x="88061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64508" y="3761232"/>
              <a:ext cx="1015365" cy="806450"/>
            </a:xfrm>
            <a:custGeom>
              <a:avLst/>
              <a:gdLst/>
              <a:ahLst/>
              <a:cxnLst/>
              <a:rect l="l" t="t" r="r" b="b"/>
              <a:pathLst>
                <a:path w="1015364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880617" y="0"/>
                  </a:lnTo>
                  <a:lnTo>
                    <a:pt x="923072" y="6853"/>
                  </a:lnTo>
                  <a:lnTo>
                    <a:pt x="959955" y="25936"/>
                  </a:lnTo>
                  <a:lnTo>
                    <a:pt x="989047" y="55028"/>
                  </a:lnTo>
                  <a:lnTo>
                    <a:pt x="1008130" y="91911"/>
                  </a:lnTo>
                  <a:lnTo>
                    <a:pt x="1014983" y="134366"/>
                  </a:lnTo>
                  <a:lnTo>
                    <a:pt x="1014983" y="671830"/>
                  </a:lnTo>
                  <a:lnTo>
                    <a:pt x="1008130" y="714284"/>
                  </a:lnTo>
                  <a:lnTo>
                    <a:pt x="989047" y="751167"/>
                  </a:lnTo>
                  <a:lnTo>
                    <a:pt x="959955" y="780259"/>
                  </a:lnTo>
                  <a:lnTo>
                    <a:pt x="923072" y="799342"/>
                  </a:lnTo>
                  <a:lnTo>
                    <a:pt x="880617" y="806196"/>
                  </a:lnTo>
                  <a:lnTo>
                    <a:pt x="134365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910072" y="4000245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5" dirty="0">
                <a:solidFill>
                  <a:srgbClr val="FFFFFF"/>
                </a:solidFill>
                <a:latin typeface="Arial"/>
                <a:cs typeface="Arial"/>
              </a:rPr>
              <a:t>leer</a:t>
            </a:r>
            <a:endParaRPr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776716" y="3751834"/>
            <a:ext cx="1292860" cy="819150"/>
            <a:chOff x="7246366" y="3751834"/>
            <a:chExt cx="1292860" cy="819150"/>
          </a:xfrm>
        </p:grpSpPr>
        <p:sp>
          <p:nvSpPr>
            <p:cNvPr id="28" name="object 28"/>
            <p:cNvSpPr/>
            <p:nvPr/>
          </p:nvSpPr>
          <p:spPr>
            <a:xfrm>
              <a:off x="7252716" y="3758184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1145793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6"/>
                  </a:lnTo>
                  <a:lnTo>
                    <a:pt x="1145793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52716" y="3758184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1145793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3" y="806196"/>
                  </a:lnTo>
                  <a:lnTo>
                    <a:pt x="134365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017000" y="3996944"/>
            <a:ext cx="812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5" dirty="0">
                <a:solidFill>
                  <a:srgbClr val="FFFFFF"/>
                </a:solidFill>
                <a:latin typeface="Arial"/>
                <a:cs typeface="Arial"/>
              </a:rPr>
              <a:t>kochend</a:t>
            </a:r>
            <a:endParaRPr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17</a:t>
            </a:fld>
            <a:endParaRPr spc="-25" dirty="0"/>
          </a:p>
        </p:txBody>
      </p:sp>
      <p:sp>
        <p:nvSpPr>
          <p:cNvPr id="31" name="object 31"/>
          <p:cNvSpPr txBox="1"/>
          <p:nvPr/>
        </p:nvSpPr>
        <p:spPr>
          <a:xfrm>
            <a:off x="7054597" y="3903091"/>
            <a:ext cx="1321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40" dirty="0">
                <a:latin typeface="Arial"/>
                <a:cs typeface="Arial"/>
              </a:rPr>
              <a:t>Münze/</a:t>
            </a:r>
            <a:r>
              <a:rPr sz="1200" spc="-40" dirty="0">
                <a:solidFill>
                  <a:srgbClr val="EC7C30"/>
                </a:solidFill>
                <a:latin typeface="Arial"/>
                <a:cs typeface="Arial"/>
              </a:rPr>
              <a:t>verstauen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38834" y="684649"/>
            <a:ext cx="348170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5" dirty="0"/>
              <a:t>Moore</a:t>
            </a:r>
            <a:r>
              <a:rPr spc="-185" dirty="0"/>
              <a:t> </a:t>
            </a:r>
            <a:r>
              <a:rPr spc="-265" dirty="0"/>
              <a:t>vs.</a:t>
            </a:r>
            <a:r>
              <a:rPr spc="-155" dirty="0"/>
              <a:t> </a:t>
            </a:r>
            <a:r>
              <a:rPr spc="-95" dirty="0"/>
              <a:t>Mealy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475892" y="2090974"/>
            <a:ext cx="10220808" cy="2688557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spcBef>
                <a:spcPts val="825"/>
              </a:spcBef>
            </a:pPr>
            <a:r>
              <a:rPr sz="2400" spc="-155" dirty="0">
                <a:latin typeface="Arial"/>
                <a:cs typeface="Arial"/>
              </a:rPr>
              <a:t>Welches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Automatenmodell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ist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b="1" spc="-70" dirty="0">
                <a:latin typeface="Arial"/>
                <a:cs typeface="Arial"/>
              </a:rPr>
              <a:t>mächtiger</a:t>
            </a:r>
            <a:r>
              <a:rPr sz="2400" spc="-70" dirty="0">
                <a:latin typeface="Arial"/>
                <a:cs typeface="Arial"/>
              </a:rPr>
              <a:t>?</a:t>
            </a:r>
            <a:endParaRPr sz="2400" dirty="0">
              <a:latin typeface="Arial"/>
              <a:cs typeface="Arial"/>
            </a:endParaRPr>
          </a:p>
          <a:p>
            <a:pPr marL="12700" marR="118745">
              <a:lnSpc>
                <a:spcPts val="2590"/>
              </a:lnSpc>
              <a:spcBef>
                <a:spcPts val="1050"/>
              </a:spcBef>
            </a:pPr>
            <a:r>
              <a:rPr sz="2400" i="1" spc="-180" dirty="0">
                <a:latin typeface="Arial"/>
                <a:cs typeface="Arial"/>
              </a:rPr>
              <a:t>Keins.</a:t>
            </a:r>
            <a:r>
              <a:rPr sz="2400" i="1" spc="-105" dirty="0">
                <a:latin typeface="Arial"/>
                <a:cs typeface="Arial"/>
              </a:rPr>
              <a:t> </a:t>
            </a:r>
            <a:r>
              <a:rPr sz="2400" i="1" spc="-165" dirty="0">
                <a:latin typeface="Arial"/>
                <a:cs typeface="Arial"/>
              </a:rPr>
              <a:t>Beide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i="1" spc="-85" dirty="0">
                <a:latin typeface="Arial"/>
                <a:cs typeface="Arial"/>
              </a:rPr>
              <a:t>Modelle</a:t>
            </a:r>
            <a:r>
              <a:rPr sz="2400" i="1" spc="-90" dirty="0">
                <a:latin typeface="Arial"/>
                <a:cs typeface="Arial"/>
              </a:rPr>
              <a:t> </a:t>
            </a:r>
            <a:r>
              <a:rPr sz="2400" i="1" spc="-160" dirty="0">
                <a:latin typeface="Arial"/>
                <a:cs typeface="Arial"/>
              </a:rPr>
              <a:t>lassen</a:t>
            </a:r>
            <a:r>
              <a:rPr sz="2400" i="1" spc="-95" dirty="0">
                <a:latin typeface="Arial"/>
                <a:cs typeface="Arial"/>
              </a:rPr>
              <a:t> </a:t>
            </a:r>
            <a:r>
              <a:rPr sz="2400" i="1" spc="-160" dirty="0">
                <a:latin typeface="Arial"/>
                <a:cs typeface="Arial"/>
              </a:rPr>
              <a:t>sich</a:t>
            </a:r>
            <a:r>
              <a:rPr sz="2400" i="1" spc="-95" dirty="0">
                <a:latin typeface="Arial"/>
                <a:cs typeface="Arial"/>
              </a:rPr>
              <a:t> </a:t>
            </a:r>
            <a:r>
              <a:rPr sz="2400" i="1" spc="-100" dirty="0">
                <a:latin typeface="Arial"/>
                <a:cs typeface="Arial"/>
              </a:rPr>
              <a:t>ineinander</a:t>
            </a:r>
            <a:r>
              <a:rPr sz="2400" i="1" spc="-105" dirty="0">
                <a:latin typeface="Arial"/>
                <a:cs typeface="Arial"/>
              </a:rPr>
              <a:t> </a:t>
            </a:r>
            <a:r>
              <a:rPr sz="2400" i="1" spc="-85" dirty="0">
                <a:latin typeface="Arial"/>
                <a:cs typeface="Arial"/>
              </a:rPr>
              <a:t>überführen,</a:t>
            </a:r>
            <a:r>
              <a:rPr sz="2400" i="1" spc="-95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sind </a:t>
            </a:r>
            <a:r>
              <a:rPr sz="2400" i="1" spc="-135" dirty="0">
                <a:latin typeface="Arial"/>
                <a:cs typeface="Arial"/>
              </a:rPr>
              <a:t>also</a:t>
            </a:r>
            <a:r>
              <a:rPr sz="2400" i="1" spc="-100" dirty="0">
                <a:latin typeface="Arial"/>
                <a:cs typeface="Arial"/>
              </a:rPr>
              <a:t> </a:t>
            </a:r>
            <a:r>
              <a:rPr sz="2400" i="1" spc="-110" dirty="0">
                <a:latin typeface="Arial"/>
                <a:cs typeface="Arial"/>
              </a:rPr>
              <a:t>gleich</a:t>
            </a:r>
            <a:r>
              <a:rPr sz="2400" i="1" spc="-10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mächtig!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1500"/>
              </a:spcBef>
            </a:pPr>
            <a:endParaRPr sz="2400" dirty="0">
              <a:latin typeface="Arial"/>
              <a:cs typeface="Arial"/>
            </a:endParaRPr>
          </a:p>
          <a:p>
            <a:pPr marL="12700"/>
            <a:r>
              <a:rPr sz="2400" spc="-155" dirty="0">
                <a:latin typeface="Arial"/>
                <a:cs typeface="Arial"/>
              </a:rPr>
              <a:t>Welches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Automatenmodell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hat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b="1" spc="-155" dirty="0">
                <a:latin typeface="Arial"/>
                <a:cs typeface="Arial"/>
              </a:rPr>
              <a:t>mehr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spc="-70" dirty="0">
                <a:latin typeface="Arial"/>
                <a:cs typeface="Arial"/>
              </a:rPr>
              <a:t>Zustände</a:t>
            </a:r>
            <a:r>
              <a:rPr sz="2400" spc="-70" dirty="0">
                <a:latin typeface="Arial"/>
                <a:cs typeface="Arial"/>
              </a:rPr>
              <a:t>?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ts val="2590"/>
              </a:lnSpc>
              <a:spcBef>
                <a:spcPts val="1050"/>
              </a:spcBef>
            </a:pPr>
            <a:r>
              <a:rPr sz="2400" i="1" spc="-75" dirty="0">
                <a:latin typeface="Arial"/>
                <a:cs typeface="Arial"/>
              </a:rPr>
              <a:t>Moore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i="1" spc="-90" dirty="0">
                <a:latin typeface="Arial"/>
                <a:cs typeface="Arial"/>
              </a:rPr>
              <a:t>Automaten</a:t>
            </a:r>
            <a:r>
              <a:rPr sz="2400" i="1" spc="-110" dirty="0">
                <a:latin typeface="Arial"/>
                <a:cs typeface="Arial"/>
              </a:rPr>
              <a:t> </a:t>
            </a:r>
            <a:r>
              <a:rPr sz="2400" i="1" spc="-135" dirty="0">
                <a:latin typeface="Arial"/>
                <a:cs typeface="Arial"/>
              </a:rPr>
              <a:t>besitzen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i="1" u="sng" spc="-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mindestens</a:t>
            </a:r>
            <a:r>
              <a:rPr sz="2400" i="1" spc="-110" dirty="0">
                <a:latin typeface="Arial"/>
                <a:cs typeface="Arial"/>
              </a:rPr>
              <a:t> </a:t>
            </a:r>
            <a:r>
              <a:rPr sz="2400" i="1" spc="-200" dirty="0">
                <a:latin typeface="Arial"/>
                <a:cs typeface="Arial"/>
              </a:rPr>
              <a:t>so</a:t>
            </a:r>
            <a:r>
              <a:rPr sz="2400" i="1" spc="-100" dirty="0">
                <a:latin typeface="Arial"/>
                <a:cs typeface="Arial"/>
              </a:rPr>
              <a:t> </a:t>
            </a:r>
            <a:r>
              <a:rPr sz="2400" i="1" spc="-105" dirty="0">
                <a:latin typeface="Arial"/>
                <a:cs typeface="Arial"/>
              </a:rPr>
              <a:t>viele</a:t>
            </a:r>
            <a:r>
              <a:rPr sz="2400" i="1" spc="-90" dirty="0">
                <a:latin typeface="Arial"/>
                <a:cs typeface="Arial"/>
              </a:rPr>
              <a:t> </a:t>
            </a:r>
            <a:r>
              <a:rPr sz="2400" i="1" spc="-150" dirty="0">
                <a:latin typeface="Arial"/>
                <a:cs typeface="Arial"/>
              </a:rPr>
              <a:t>Zustände</a:t>
            </a:r>
            <a:r>
              <a:rPr sz="2400" i="1" spc="-9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wie </a:t>
            </a:r>
            <a:r>
              <a:rPr sz="2400" i="1" spc="-90" dirty="0">
                <a:latin typeface="Arial"/>
                <a:cs typeface="Arial"/>
              </a:rPr>
              <a:t>äquivalente</a:t>
            </a:r>
            <a:r>
              <a:rPr sz="2400" i="1" spc="-85" dirty="0">
                <a:latin typeface="Arial"/>
                <a:cs typeface="Arial"/>
              </a:rPr>
              <a:t> </a:t>
            </a:r>
            <a:r>
              <a:rPr sz="2400" i="1" spc="-90" dirty="0">
                <a:latin typeface="Arial"/>
                <a:cs typeface="Arial"/>
              </a:rPr>
              <a:t>Mealy</a:t>
            </a:r>
            <a:r>
              <a:rPr sz="2400" i="1" spc="-10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Automaten!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798" y="2848611"/>
            <a:ext cx="286257" cy="25831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96610" y="2848611"/>
            <a:ext cx="286257" cy="2583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9073" y="4128771"/>
            <a:ext cx="257810" cy="2862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39073" y="4561586"/>
            <a:ext cx="257810" cy="28473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584450" y="4356100"/>
            <a:ext cx="506730" cy="180340"/>
            <a:chOff x="495300" y="4191000"/>
            <a:chExt cx="506730" cy="180340"/>
          </a:xfrm>
        </p:grpSpPr>
        <p:sp>
          <p:nvSpPr>
            <p:cNvPr id="7" name="object 7"/>
            <p:cNvSpPr/>
            <p:nvPr/>
          </p:nvSpPr>
          <p:spPr>
            <a:xfrm>
              <a:off x="675068" y="4219448"/>
              <a:ext cx="327025" cy="127000"/>
            </a:xfrm>
            <a:custGeom>
              <a:avLst/>
              <a:gdLst/>
              <a:ahLst/>
              <a:cxnLst/>
              <a:rect l="l" t="t" r="r" b="b"/>
              <a:pathLst>
                <a:path w="327025" h="127000">
                  <a:moveTo>
                    <a:pt x="200101" y="0"/>
                  </a:moveTo>
                  <a:lnTo>
                    <a:pt x="199538" y="55118"/>
                  </a:lnTo>
                  <a:lnTo>
                    <a:pt x="199518" y="57147"/>
                  </a:lnTo>
                  <a:lnTo>
                    <a:pt x="212216" y="57276"/>
                  </a:lnTo>
                  <a:lnTo>
                    <a:pt x="212090" y="69976"/>
                  </a:lnTo>
                  <a:lnTo>
                    <a:pt x="199387" y="69976"/>
                  </a:lnTo>
                  <a:lnTo>
                    <a:pt x="198805" y="127000"/>
                  </a:lnTo>
                  <a:lnTo>
                    <a:pt x="315772" y="69976"/>
                  </a:lnTo>
                  <a:lnTo>
                    <a:pt x="212090" y="69976"/>
                  </a:lnTo>
                  <a:lnTo>
                    <a:pt x="199388" y="69847"/>
                  </a:lnTo>
                  <a:lnTo>
                    <a:pt x="316037" y="69847"/>
                  </a:lnTo>
                  <a:lnTo>
                    <a:pt x="326453" y="64769"/>
                  </a:lnTo>
                  <a:lnTo>
                    <a:pt x="200101" y="0"/>
                  </a:lnTo>
                  <a:close/>
                </a:path>
                <a:path w="327025" h="127000">
                  <a:moveTo>
                    <a:pt x="199518" y="57147"/>
                  </a:moveTo>
                  <a:lnTo>
                    <a:pt x="199440" y="64769"/>
                  </a:lnTo>
                  <a:lnTo>
                    <a:pt x="199388" y="69847"/>
                  </a:lnTo>
                  <a:lnTo>
                    <a:pt x="212090" y="69976"/>
                  </a:lnTo>
                  <a:lnTo>
                    <a:pt x="212216" y="57276"/>
                  </a:lnTo>
                  <a:lnTo>
                    <a:pt x="199518" y="57147"/>
                  </a:lnTo>
                  <a:close/>
                </a:path>
                <a:path w="327025" h="127000">
                  <a:moveTo>
                    <a:pt x="126" y="55118"/>
                  </a:moveTo>
                  <a:lnTo>
                    <a:pt x="0" y="67818"/>
                  </a:lnTo>
                  <a:lnTo>
                    <a:pt x="199388" y="69847"/>
                  </a:lnTo>
                  <a:lnTo>
                    <a:pt x="199440" y="64769"/>
                  </a:lnTo>
                  <a:lnTo>
                    <a:pt x="199518" y="57147"/>
                  </a:lnTo>
                  <a:lnTo>
                    <a:pt x="126" y="551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5300" y="4191000"/>
              <a:ext cx="179831" cy="179831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3666998" y="3502405"/>
            <a:ext cx="1560195" cy="543560"/>
          </a:xfrm>
          <a:custGeom>
            <a:avLst/>
            <a:gdLst/>
            <a:ahLst/>
            <a:cxnLst/>
            <a:rect l="l" t="t" r="r" b="b"/>
            <a:pathLst>
              <a:path w="1560195" h="543560">
                <a:moveTo>
                  <a:pt x="57150" y="416052"/>
                </a:moveTo>
                <a:lnTo>
                  <a:pt x="0" y="416052"/>
                </a:lnTo>
                <a:lnTo>
                  <a:pt x="63500" y="543052"/>
                </a:lnTo>
                <a:lnTo>
                  <a:pt x="120650" y="428752"/>
                </a:lnTo>
                <a:lnTo>
                  <a:pt x="57150" y="428752"/>
                </a:lnTo>
                <a:lnTo>
                  <a:pt x="57150" y="416052"/>
                </a:lnTo>
                <a:close/>
              </a:path>
              <a:path w="1560195" h="543560">
                <a:moveTo>
                  <a:pt x="1559941" y="0"/>
                </a:moveTo>
                <a:lnTo>
                  <a:pt x="57150" y="0"/>
                </a:lnTo>
                <a:lnTo>
                  <a:pt x="57150" y="428752"/>
                </a:lnTo>
                <a:lnTo>
                  <a:pt x="69850" y="428752"/>
                </a:lnTo>
                <a:lnTo>
                  <a:pt x="69850" y="12700"/>
                </a:lnTo>
                <a:lnTo>
                  <a:pt x="63500" y="12700"/>
                </a:lnTo>
                <a:lnTo>
                  <a:pt x="69850" y="6350"/>
                </a:lnTo>
                <a:lnTo>
                  <a:pt x="1559941" y="6350"/>
                </a:lnTo>
                <a:lnTo>
                  <a:pt x="1559941" y="0"/>
                </a:lnTo>
                <a:close/>
              </a:path>
              <a:path w="1560195" h="543560">
                <a:moveTo>
                  <a:pt x="127000" y="416052"/>
                </a:moveTo>
                <a:lnTo>
                  <a:pt x="69850" y="416052"/>
                </a:lnTo>
                <a:lnTo>
                  <a:pt x="69850" y="428752"/>
                </a:lnTo>
                <a:lnTo>
                  <a:pt x="120650" y="428752"/>
                </a:lnTo>
                <a:lnTo>
                  <a:pt x="127000" y="416052"/>
                </a:lnTo>
                <a:close/>
              </a:path>
              <a:path w="1560195" h="543560">
                <a:moveTo>
                  <a:pt x="69850" y="6350"/>
                </a:moveTo>
                <a:lnTo>
                  <a:pt x="63500" y="12700"/>
                </a:lnTo>
                <a:lnTo>
                  <a:pt x="69850" y="12700"/>
                </a:lnTo>
                <a:lnTo>
                  <a:pt x="69850" y="6350"/>
                </a:lnTo>
                <a:close/>
              </a:path>
              <a:path w="1560195" h="543560">
                <a:moveTo>
                  <a:pt x="1559941" y="6350"/>
                </a:moveTo>
                <a:lnTo>
                  <a:pt x="69850" y="6350"/>
                </a:lnTo>
                <a:lnTo>
                  <a:pt x="69850" y="12700"/>
                </a:lnTo>
                <a:lnTo>
                  <a:pt x="1559941" y="12700"/>
                </a:lnTo>
                <a:lnTo>
                  <a:pt x="1559941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24149" y="4851401"/>
            <a:ext cx="1503045" cy="1029335"/>
          </a:xfrm>
          <a:custGeom>
            <a:avLst/>
            <a:gdLst/>
            <a:ahLst/>
            <a:cxnLst/>
            <a:rect l="l" t="t" r="r" b="b"/>
            <a:pathLst>
              <a:path w="1503045" h="1029335">
                <a:moveTo>
                  <a:pt x="257683" y="141986"/>
                </a:moveTo>
                <a:lnTo>
                  <a:pt x="251409" y="129540"/>
                </a:lnTo>
                <a:lnTo>
                  <a:pt x="193802" y="15240"/>
                </a:lnTo>
                <a:lnTo>
                  <a:pt x="130784" y="142265"/>
                </a:lnTo>
                <a:lnTo>
                  <a:pt x="130683" y="142494"/>
                </a:lnTo>
                <a:lnTo>
                  <a:pt x="187833" y="142265"/>
                </a:lnTo>
                <a:lnTo>
                  <a:pt x="200533" y="142214"/>
                </a:lnTo>
                <a:lnTo>
                  <a:pt x="257683" y="141986"/>
                </a:lnTo>
                <a:close/>
              </a:path>
              <a:path w="1503045" h="1029335">
                <a:moveTo>
                  <a:pt x="1502791" y="965479"/>
                </a:moveTo>
                <a:lnTo>
                  <a:pt x="1490091" y="959129"/>
                </a:lnTo>
                <a:lnTo>
                  <a:pt x="1375791" y="901979"/>
                </a:lnTo>
                <a:lnTo>
                  <a:pt x="1375791" y="959129"/>
                </a:lnTo>
                <a:lnTo>
                  <a:pt x="12700" y="959129"/>
                </a:lnTo>
                <a:lnTo>
                  <a:pt x="12700" y="0"/>
                </a:lnTo>
                <a:lnTo>
                  <a:pt x="0" y="0"/>
                </a:lnTo>
                <a:lnTo>
                  <a:pt x="0" y="971829"/>
                </a:lnTo>
                <a:lnTo>
                  <a:pt x="1375791" y="971829"/>
                </a:lnTo>
                <a:lnTo>
                  <a:pt x="1375791" y="1028979"/>
                </a:lnTo>
                <a:lnTo>
                  <a:pt x="1490091" y="971829"/>
                </a:lnTo>
                <a:lnTo>
                  <a:pt x="1502791" y="965479"/>
                </a:lnTo>
                <a:close/>
              </a:path>
              <a:path w="1503045" h="1029335">
                <a:moveTo>
                  <a:pt x="1502791" y="803148"/>
                </a:moveTo>
                <a:lnTo>
                  <a:pt x="200533" y="803148"/>
                </a:lnTo>
                <a:lnTo>
                  <a:pt x="200533" y="142265"/>
                </a:lnTo>
                <a:lnTo>
                  <a:pt x="187833" y="142265"/>
                </a:lnTo>
                <a:lnTo>
                  <a:pt x="187833" y="815848"/>
                </a:lnTo>
                <a:lnTo>
                  <a:pt x="1502791" y="815848"/>
                </a:lnTo>
                <a:lnTo>
                  <a:pt x="1502791" y="809498"/>
                </a:lnTo>
                <a:lnTo>
                  <a:pt x="1502791" y="803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51706" y="4126484"/>
            <a:ext cx="2807335" cy="127000"/>
          </a:xfrm>
          <a:custGeom>
            <a:avLst/>
            <a:gdLst/>
            <a:ahLst/>
            <a:cxnLst/>
            <a:rect l="l" t="t" r="r" b="b"/>
            <a:pathLst>
              <a:path w="2807335" h="127000">
                <a:moveTo>
                  <a:pt x="2680335" y="0"/>
                </a:moveTo>
                <a:lnTo>
                  <a:pt x="2680335" y="127000"/>
                </a:lnTo>
                <a:lnTo>
                  <a:pt x="2794635" y="69850"/>
                </a:lnTo>
                <a:lnTo>
                  <a:pt x="2693035" y="69850"/>
                </a:lnTo>
                <a:lnTo>
                  <a:pt x="2693035" y="57150"/>
                </a:lnTo>
                <a:lnTo>
                  <a:pt x="2794635" y="57150"/>
                </a:lnTo>
                <a:lnTo>
                  <a:pt x="2680335" y="0"/>
                </a:lnTo>
                <a:close/>
              </a:path>
              <a:path w="2807335" h="127000">
                <a:moveTo>
                  <a:pt x="2680335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680335" y="69850"/>
                </a:lnTo>
                <a:lnTo>
                  <a:pt x="2680335" y="57150"/>
                </a:lnTo>
                <a:close/>
              </a:path>
              <a:path w="2807335" h="127000">
                <a:moveTo>
                  <a:pt x="2794635" y="57150"/>
                </a:moveTo>
                <a:lnTo>
                  <a:pt x="2693035" y="57150"/>
                </a:lnTo>
                <a:lnTo>
                  <a:pt x="2693035" y="69850"/>
                </a:lnTo>
                <a:lnTo>
                  <a:pt x="2794635" y="69850"/>
                </a:lnTo>
                <a:lnTo>
                  <a:pt x="2807335" y="63500"/>
                </a:lnTo>
                <a:lnTo>
                  <a:pt x="279463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07226" y="4848352"/>
            <a:ext cx="1256030" cy="975360"/>
          </a:xfrm>
          <a:custGeom>
            <a:avLst/>
            <a:gdLst/>
            <a:ahLst/>
            <a:cxnLst/>
            <a:rect l="l" t="t" r="r" b="b"/>
            <a:pathLst>
              <a:path w="1256029" h="975360">
                <a:moveTo>
                  <a:pt x="1185926" y="962456"/>
                </a:moveTo>
                <a:lnTo>
                  <a:pt x="0" y="962456"/>
                </a:lnTo>
                <a:lnTo>
                  <a:pt x="0" y="975156"/>
                </a:lnTo>
                <a:lnTo>
                  <a:pt x="1198626" y="975156"/>
                </a:lnTo>
                <a:lnTo>
                  <a:pt x="1198626" y="968806"/>
                </a:lnTo>
                <a:lnTo>
                  <a:pt x="1185926" y="968806"/>
                </a:lnTo>
                <a:lnTo>
                  <a:pt x="1185926" y="962456"/>
                </a:lnTo>
                <a:close/>
              </a:path>
              <a:path w="1256029" h="975360">
                <a:moveTo>
                  <a:pt x="1198626" y="114300"/>
                </a:moveTo>
                <a:lnTo>
                  <a:pt x="1185926" y="114300"/>
                </a:lnTo>
                <a:lnTo>
                  <a:pt x="1185926" y="968806"/>
                </a:lnTo>
                <a:lnTo>
                  <a:pt x="1192276" y="962456"/>
                </a:lnTo>
                <a:lnTo>
                  <a:pt x="1198626" y="962456"/>
                </a:lnTo>
                <a:lnTo>
                  <a:pt x="1198626" y="114300"/>
                </a:lnTo>
                <a:close/>
              </a:path>
              <a:path w="1256029" h="975360">
                <a:moveTo>
                  <a:pt x="1198626" y="962456"/>
                </a:moveTo>
                <a:lnTo>
                  <a:pt x="1192276" y="962456"/>
                </a:lnTo>
                <a:lnTo>
                  <a:pt x="1185926" y="968806"/>
                </a:lnTo>
                <a:lnTo>
                  <a:pt x="1198626" y="968806"/>
                </a:lnTo>
                <a:lnTo>
                  <a:pt x="1198626" y="962456"/>
                </a:lnTo>
                <a:close/>
              </a:path>
              <a:path w="1256029" h="975360">
                <a:moveTo>
                  <a:pt x="1192276" y="0"/>
                </a:moveTo>
                <a:lnTo>
                  <a:pt x="1128776" y="127000"/>
                </a:lnTo>
                <a:lnTo>
                  <a:pt x="1185926" y="127000"/>
                </a:lnTo>
                <a:lnTo>
                  <a:pt x="1185926" y="114300"/>
                </a:lnTo>
                <a:lnTo>
                  <a:pt x="1249426" y="114300"/>
                </a:lnTo>
                <a:lnTo>
                  <a:pt x="1192276" y="0"/>
                </a:lnTo>
                <a:close/>
              </a:path>
              <a:path w="1256029" h="975360">
                <a:moveTo>
                  <a:pt x="1249426" y="114300"/>
                </a:moveTo>
                <a:lnTo>
                  <a:pt x="1198626" y="114300"/>
                </a:lnTo>
                <a:lnTo>
                  <a:pt x="1198626" y="127000"/>
                </a:lnTo>
                <a:lnTo>
                  <a:pt x="1255776" y="127000"/>
                </a:lnTo>
                <a:lnTo>
                  <a:pt x="1249426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5220717" y="3100071"/>
            <a:ext cx="3124835" cy="1755139"/>
            <a:chOff x="3131566" y="2934970"/>
            <a:chExt cx="3124835" cy="1755139"/>
          </a:xfrm>
        </p:grpSpPr>
        <p:sp>
          <p:nvSpPr>
            <p:cNvPr id="14" name="object 14"/>
            <p:cNvSpPr/>
            <p:nvPr/>
          </p:nvSpPr>
          <p:spPr>
            <a:xfrm>
              <a:off x="4418076" y="3280156"/>
              <a:ext cx="1198880" cy="596900"/>
            </a:xfrm>
            <a:custGeom>
              <a:avLst/>
              <a:gdLst/>
              <a:ahLst/>
              <a:cxnLst/>
              <a:rect l="l" t="t" r="r" b="b"/>
              <a:pathLst>
                <a:path w="1198879" h="596900">
                  <a:moveTo>
                    <a:pt x="1185926" y="63500"/>
                  </a:moveTo>
                  <a:lnTo>
                    <a:pt x="1185926" y="596900"/>
                  </a:lnTo>
                  <a:lnTo>
                    <a:pt x="1198626" y="596900"/>
                  </a:lnTo>
                  <a:lnTo>
                    <a:pt x="1198626" y="69850"/>
                  </a:lnTo>
                  <a:lnTo>
                    <a:pt x="1192276" y="69850"/>
                  </a:lnTo>
                  <a:lnTo>
                    <a:pt x="1185926" y="63500"/>
                  </a:lnTo>
                  <a:close/>
                </a:path>
                <a:path w="1198879" h="5969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69850"/>
                  </a:lnTo>
                  <a:lnTo>
                    <a:pt x="114300" y="69850"/>
                  </a:lnTo>
                  <a:lnTo>
                    <a:pt x="114300" y="57150"/>
                  </a:lnTo>
                  <a:lnTo>
                    <a:pt x="127000" y="57150"/>
                  </a:lnTo>
                  <a:lnTo>
                    <a:pt x="127000" y="0"/>
                  </a:lnTo>
                  <a:close/>
                </a:path>
                <a:path w="1198879" h="596900">
                  <a:moveTo>
                    <a:pt x="127000" y="57150"/>
                  </a:moveTo>
                  <a:lnTo>
                    <a:pt x="114300" y="57150"/>
                  </a:lnTo>
                  <a:lnTo>
                    <a:pt x="114300" y="69850"/>
                  </a:lnTo>
                  <a:lnTo>
                    <a:pt x="127000" y="69850"/>
                  </a:lnTo>
                  <a:lnTo>
                    <a:pt x="127000" y="57150"/>
                  </a:lnTo>
                  <a:close/>
                </a:path>
                <a:path w="1198879" h="596900">
                  <a:moveTo>
                    <a:pt x="1198626" y="57150"/>
                  </a:moveTo>
                  <a:lnTo>
                    <a:pt x="127000" y="57150"/>
                  </a:lnTo>
                  <a:lnTo>
                    <a:pt x="127000" y="69850"/>
                  </a:lnTo>
                  <a:lnTo>
                    <a:pt x="1185926" y="69850"/>
                  </a:lnTo>
                  <a:lnTo>
                    <a:pt x="1185926" y="63500"/>
                  </a:lnTo>
                  <a:lnTo>
                    <a:pt x="1198626" y="63500"/>
                  </a:lnTo>
                  <a:lnTo>
                    <a:pt x="1198626" y="57150"/>
                  </a:lnTo>
                  <a:close/>
                </a:path>
                <a:path w="1198879" h="596900">
                  <a:moveTo>
                    <a:pt x="1198626" y="63500"/>
                  </a:moveTo>
                  <a:lnTo>
                    <a:pt x="1185926" y="63500"/>
                  </a:lnTo>
                  <a:lnTo>
                    <a:pt x="1192276" y="69850"/>
                  </a:lnTo>
                  <a:lnTo>
                    <a:pt x="1198626" y="69850"/>
                  </a:lnTo>
                  <a:lnTo>
                    <a:pt x="119862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69764" y="3877056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6"/>
                  </a:lnTo>
                  <a:lnTo>
                    <a:pt x="1145794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60" y="671830"/>
                  </a:lnTo>
                  <a:lnTo>
                    <a:pt x="1280160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69764" y="3877056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60" y="134366"/>
                  </a:lnTo>
                  <a:lnTo>
                    <a:pt x="1280160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6"/>
                  </a:lnTo>
                  <a:lnTo>
                    <a:pt x="134365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37916" y="2941320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6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29"/>
                  </a:lnTo>
                  <a:lnTo>
                    <a:pt x="1280159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37916" y="2941320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5"/>
                  </a:lnTo>
                  <a:lnTo>
                    <a:pt x="1280159" y="671829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6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788417" y="521588"/>
            <a:ext cx="575945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75" dirty="0"/>
              <a:t>Beispiel:</a:t>
            </a:r>
            <a:r>
              <a:rPr spc="-204" dirty="0"/>
              <a:t> </a:t>
            </a:r>
            <a:r>
              <a:rPr spc="-135" dirty="0"/>
              <a:t>Mealy</a:t>
            </a:r>
            <a:r>
              <a:rPr spc="-190" dirty="0"/>
              <a:t> </a:t>
            </a:r>
            <a:r>
              <a:rPr spc="-250" dirty="0"/>
              <a:t>nach</a:t>
            </a:r>
            <a:r>
              <a:rPr spc="-185" dirty="0"/>
              <a:t> </a:t>
            </a:r>
            <a:r>
              <a:rPr spc="-30" dirty="0"/>
              <a:t>Moore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22135" y="1619100"/>
            <a:ext cx="7520940" cy="662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200" spc="-160" dirty="0">
                <a:latin typeface="Arial"/>
                <a:cs typeface="Arial"/>
              </a:rPr>
              <a:t>Ein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Mealy-</a:t>
            </a:r>
            <a:r>
              <a:rPr sz="2200" spc="-70" dirty="0">
                <a:latin typeface="Arial"/>
                <a:cs typeface="Arial"/>
              </a:rPr>
              <a:t>Automat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130" dirty="0">
                <a:latin typeface="Arial"/>
                <a:cs typeface="Arial"/>
              </a:rPr>
              <a:t>kann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spc="-40" dirty="0">
                <a:latin typeface="Arial"/>
                <a:cs typeface="Arial"/>
              </a:rPr>
              <a:t>in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einen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äquivalenten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Moore-</a:t>
            </a:r>
            <a:r>
              <a:rPr sz="2200" spc="-30" dirty="0">
                <a:latin typeface="Arial"/>
                <a:cs typeface="Arial"/>
              </a:rPr>
              <a:t>Automaten</a:t>
            </a:r>
            <a:endParaRPr sz="2200" dirty="0">
              <a:latin typeface="Arial"/>
              <a:cs typeface="Arial"/>
            </a:endParaRPr>
          </a:p>
          <a:p>
            <a:pPr marL="12700">
              <a:lnSpc>
                <a:spcPts val="2510"/>
              </a:lnSpc>
            </a:pPr>
            <a:r>
              <a:rPr sz="2200" spc="-35" dirty="0">
                <a:latin typeface="Arial"/>
                <a:cs typeface="Arial"/>
              </a:rPr>
              <a:t>überführt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werden.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325" dirty="0">
                <a:latin typeface="Arial"/>
                <a:cs typeface="Arial"/>
              </a:rPr>
              <a:t>Es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entstehen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aber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häufig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b="1" spc="-180" dirty="0">
                <a:latin typeface="Arial"/>
                <a:cs typeface="Arial"/>
              </a:rPr>
              <a:t>zusätzliche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b="1" spc="-114" dirty="0">
                <a:latin typeface="Arial"/>
                <a:cs typeface="Arial"/>
              </a:rPr>
              <a:t>Zustände</a:t>
            </a:r>
            <a:r>
              <a:rPr sz="2200" spc="-114" dirty="0">
                <a:latin typeface="Arial"/>
                <a:cs typeface="Arial"/>
              </a:rPr>
              <a:t>.</a:t>
            </a:r>
            <a:endParaRPr sz="2200" dirty="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84067" y="4040378"/>
            <a:ext cx="1292860" cy="817880"/>
            <a:chOff x="994917" y="3875278"/>
            <a:chExt cx="1292860" cy="817880"/>
          </a:xfrm>
        </p:grpSpPr>
        <p:sp>
          <p:nvSpPr>
            <p:cNvPr id="22" name="object 22"/>
            <p:cNvSpPr/>
            <p:nvPr/>
          </p:nvSpPr>
          <p:spPr>
            <a:xfrm>
              <a:off x="1001267" y="3881628"/>
              <a:ext cx="1280160" cy="805180"/>
            </a:xfrm>
            <a:custGeom>
              <a:avLst/>
              <a:gdLst/>
              <a:ahLst/>
              <a:cxnLst/>
              <a:rect l="l" t="t" r="r" b="b"/>
              <a:pathLst>
                <a:path w="1280160" h="805179">
                  <a:moveTo>
                    <a:pt x="1146048" y="0"/>
                  </a:moveTo>
                  <a:lnTo>
                    <a:pt x="134112" y="0"/>
                  </a:lnTo>
                  <a:lnTo>
                    <a:pt x="91722" y="6839"/>
                  </a:lnTo>
                  <a:lnTo>
                    <a:pt x="54907" y="25883"/>
                  </a:lnTo>
                  <a:lnTo>
                    <a:pt x="25876" y="54918"/>
                  </a:lnTo>
                  <a:lnTo>
                    <a:pt x="6837" y="91732"/>
                  </a:lnTo>
                  <a:lnTo>
                    <a:pt x="0" y="134112"/>
                  </a:lnTo>
                  <a:lnTo>
                    <a:pt x="0" y="670560"/>
                  </a:lnTo>
                  <a:lnTo>
                    <a:pt x="6837" y="712939"/>
                  </a:lnTo>
                  <a:lnTo>
                    <a:pt x="25876" y="749753"/>
                  </a:lnTo>
                  <a:lnTo>
                    <a:pt x="54907" y="778788"/>
                  </a:lnTo>
                  <a:lnTo>
                    <a:pt x="91722" y="797832"/>
                  </a:lnTo>
                  <a:lnTo>
                    <a:pt x="134112" y="804672"/>
                  </a:lnTo>
                  <a:lnTo>
                    <a:pt x="1146048" y="804672"/>
                  </a:lnTo>
                  <a:lnTo>
                    <a:pt x="1188427" y="797832"/>
                  </a:lnTo>
                  <a:lnTo>
                    <a:pt x="1225241" y="778788"/>
                  </a:lnTo>
                  <a:lnTo>
                    <a:pt x="1254276" y="749753"/>
                  </a:lnTo>
                  <a:lnTo>
                    <a:pt x="1273320" y="712939"/>
                  </a:lnTo>
                  <a:lnTo>
                    <a:pt x="1280159" y="670560"/>
                  </a:lnTo>
                  <a:lnTo>
                    <a:pt x="1280159" y="134112"/>
                  </a:lnTo>
                  <a:lnTo>
                    <a:pt x="1273320" y="91732"/>
                  </a:lnTo>
                  <a:lnTo>
                    <a:pt x="1254276" y="54918"/>
                  </a:lnTo>
                  <a:lnTo>
                    <a:pt x="1225241" y="25883"/>
                  </a:lnTo>
                  <a:lnTo>
                    <a:pt x="1188427" y="6839"/>
                  </a:lnTo>
                  <a:lnTo>
                    <a:pt x="11460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1267" y="3881628"/>
              <a:ext cx="1280160" cy="805180"/>
            </a:xfrm>
            <a:custGeom>
              <a:avLst/>
              <a:gdLst/>
              <a:ahLst/>
              <a:cxnLst/>
              <a:rect l="l" t="t" r="r" b="b"/>
              <a:pathLst>
                <a:path w="1280160" h="805179">
                  <a:moveTo>
                    <a:pt x="0" y="134112"/>
                  </a:moveTo>
                  <a:lnTo>
                    <a:pt x="6837" y="91732"/>
                  </a:lnTo>
                  <a:lnTo>
                    <a:pt x="25876" y="54918"/>
                  </a:lnTo>
                  <a:lnTo>
                    <a:pt x="54907" y="25883"/>
                  </a:lnTo>
                  <a:lnTo>
                    <a:pt x="91722" y="6839"/>
                  </a:lnTo>
                  <a:lnTo>
                    <a:pt x="134112" y="0"/>
                  </a:lnTo>
                  <a:lnTo>
                    <a:pt x="1146048" y="0"/>
                  </a:lnTo>
                  <a:lnTo>
                    <a:pt x="1188427" y="6839"/>
                  </a:lnTo>
                  <a:lnTo>
                    <a:pt x="1225241" y="25883"/>
                  </a:lnTo>
                  <a:lnTo>
                    <a:pt x="1254276" y="54918"/>
                  </a:lnTo>
                  <a:lnTo>
                    <a:pt x="1273320" y="91732"/>
                  </a:lnTo>
                  <a:lnTo>
                    <a:pt x="1280159" y="134112"/>
                  </a:lnTo>
                  <a:lnTo>
                    <a:pt x="1280159" y="670560"/>
                  </a:lnTo>
                  <a:lnTo>
                    <a:pt x="1273320" y="712939"/>
                  </a:lnTo>
                  <a:lnTo>
                    <a:pt x="1254276" y="749753"/>
                  </a:lnTo>
                  <a:lnTo>
                    <a:pt x="1225241" y="778788"/>
                  </a:lnTo>
                  <a:lnTo>
                    <a:pt x="1188427" y="797832"/>
                  </a:lnTo>
                  <a:lnTo>
                    <a:pt x="1146048" y="804672"/>
                  </a:lnTo>
                  <a:lnTo>
                    <a:pt x="134112" y="804672"/>
                  </a:lnTo>
                  <a:lnTo>
                    <a:pt x="91722" y="797832"/>
                  </a:lnTo>
                  <a:lnTo>
                    <a:pt x="54907" y="778788"/>
                  </a:lnTo>
                  <a:lnTo>
                    <a:pt x="25876" y="749753"/>
                  </a:lnTo>
                  <a:lnTo>
                    <a:pt x="6837" y="712939"/>
                  </a:lnTo>
                  <a:lnTo>
                    <a:pt x="0" y="670560"/>
                  </a:lnTo>
                  <a:lnTo>
                    <a:pt x="0" y="134112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220716" y="5407405"/>
            <a:ext cx="1292860" cy="819150"/>
            <a:chOff x="3131566" y="5242305"/>
            <a:chExt cx="1292860" cy="819150"/>
          </a:xfrm>
        </p:grpSpPr>
        <p:sp>
          <p:nvSpPr>
            <p:cNvPr id="25" name="object 25"/>
            <p:cNvSpPr/>
            <p:nvPr/>
          </p:nvSpPr>
          <p:spPr>
            <a:xfrm>
              <a:off x="3137916" y="5248655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99"/>
                  </a:lnTo>
                  <a:lnTo>
                    <a:pt x="25936" y="751183"/>
                  </a:lnTo>
                  <a:lnTo>
                    <a:pt x="55028" y="780270"/>
                  </a:lnTo>
                  <a:lnTo>
                    <a:pt x="91911" y="799345"/>
                  </a:lnTo>
                  <a:lnTo>
                    <a:pt x="134366" y="806196"/>
                  </a:lnTo>
                  <a:lnTo>
                    <a:pt x="1145794" y="806196"/>
                  </a:lnTo>
                  <a:lnTo>
                    <a:pt x="1188248" y="799345"/>
                  </a:lnTo>
                  <a:lnTo>
                    <a:pt x="1225131" y="780270"/>
                  </a:lnTo>
                  <a:lnTo>
                    <a:pt x="1254223" y="751183"/>
                  </a:lnTo>
                  <a:lnTo>
                    <a:pt x="1273306" y="714299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37916" y="5248655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99"/>
                  </a:lnTo>
                  <a:lnTo>
                    <a:pt x="1254223" y="751183"/>
                  </a:lnTo>
                  <a:lnTo>
                    <a:pt x="1225131" y="780270"/>
                  </a:lnTo>
                  <a:lnTo>
                    <a:pt x="1188248" y="799345"/>
                  </a:lnTo>
                  <a:lnTo>
                    <a:pt x="1145794" y="806196"/>
                  </a:lnTo>
                  <a:lnTo>
                    <a:pt x="134366" y="806196"/>
                  </a:lnTo>
                  <a:lnTo>
                    <a:pt x="91911" y="799345"/>
                  </a:lnTo>
                  <a:lnTo>
                    <a:pt x="55028" y="780270"/>
                  </a:lnTo>
                  <a:lnTo>
                    <a:pt x="25936" y="751183"/>
                  </a:lnTo>
                  <a:lnTo>
                    <a:pt x="6853" y="714299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147311" y="5817412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25646" y="3246120"/>
            <a:ext cx="7931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entnommen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30416" y="5851855"/>
            <a:ext cx="14077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9" baseline="2314" dirty="0">
                <a:latin typeface="Arial"/>
                <a:cs typeface="Arial"/>
              </a:rPr>
              <a:t>1€-</a:t>
            </a:r>
            <a:r>
              <a:rPr spc="-44" baseline="2314" dirty="0">
                <a:latin typeface="Arial"/>
                <a:cs typeface="Arial"/>
              </a:rPr>
              <a:t>Münze</a:t>
            </a:r>
            <a:r>
              <a:rPr spc="37" baseline="2314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/</a:t>
            </a:r>
            <a:r>
              <a:rPr sz="1200" spc="-11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verstauen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92847" y="4278453"/>
            <a:ext cx="812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5" dirty="0">
                <a:solidFill>
                  <a:srgbClr val="FFFFFF"/>
                </a:solidFill>
                <a:latin typeface="Arial"/>
                <a:cs typeface="Arial"/>
              </a:rPr>
              <a:t>kochend</a:t>
            </a:r>
            <a:endParaRPr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26857" y="4557395"/>
            <a:ext cx="16211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20" dirty="0">
                <a:latin typeface="Arial"/>
                <a:cs typeface="Arial"/>
              </a:rPr>
              <a:t>Münze</a:t>
            </a:r>
            <a:r>
              <a:rPr sz="1200" spc="155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/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18504" y="3501263"/>
            <a:ext cx="3575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fertig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65571" y="3345179"/>
            <a:ext cx="802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0" dirty="0">
                <a:solidFill>
                  <a:srgbClr val="FFFFFF"/>
                </a:solidFill>
                <a:latin typeface="Arial"/>
                <a:cs typeface="Arial"/>
              </a:rPr>
              <a:t>wartend</a:t>
            </a:r>
            <a:endParaRPr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64504" y="2381121"/>
            <a:ext cx="818515" cy="46545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spcBef>
                <a:spcPts val="39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35" dirty="0">
                <a:latin typeface="Arial"/>
                <a:cs typeface="Arial"/>
              </a:rPr>
              <a:t>Münze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/</a:t>
            </a:r>
            <a:endParaRPr sz="1200">
              <a:latin typeface="Arial"/>
              <a:cs typeface="Arial"/>
            </a:endParaRPr>
          </a:p>
          <a:p>
            <a:pPr marL="14604">
              <a:spcBef>
                <a:spcPts val="290"/>
              </a:spcBef>
            </a:pPr>
            <a:r>
              <a:rPr sz="1200" spc="-60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44698" y="4278453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5" dirty="0">
                <a:solidFill>
                  <a:srgbClr val="FFFFFF"/>
                </a:solidFill>
                <a:latin typeface="Arial"/>
                <a:cs typeface="Arial"/>
              </a:rPr>
              <a:t>leer</a:t>
            </a:r>
            <a:endParaRPr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37252" y="2392793"/>
            <a:ext cx="818515" cy="4540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spcBef>
                <a:spcPts val="345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30" dirty="0">
                <a:latin typeface="Arial"/>
                <a:cs typeface="Arial"/>
              </a:rPr>
              <a:t>Münze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pc="104" baseline="2314" dirty="0">
                <a:latin typeface="Arial"/>
                <a:cs typeface="Arial"/>
              </a:rPr>
              <a:t>/</a:t>
            </a:r>
            <a:endParaRPr baseline="2314">
              <a:latin typeface="Arial"/>
              <a:cs typeface="Arial"/>
            </a:endParaRPr>
          </a:p>
          <a:p>
            <a:pPr marL="14604">
              <a:spcBef>
                <a:spcPts val="245"/>
              </a:spcBef>
            </a:pPr>
            <a:r>
              <a:rPr sz="1200" spc="-60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26857" y="4155947"/>
            <a:ext cx="16211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9" baseline="4629" dirty="0">
                <a:latin typeface="Arial"/>
                <a:cs typeface="Arial"/>
              </a:rPr>
              <a:t>2€-</a:t>
            </a:r>
            <a:r>
              <a:rPr spc="-30" baseline="4629" dirty="0">
                <a:latin typeface="Arial"/>
                <a:cs typeface="Arial"/>
              </a:rPr>
              <a:t>Münze</a:t>
            </a:r>
            <a:r>
              <a:rPr spc="232" baseline="4629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/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87213" y="5652211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1€</a:t>
            </a:r>
            <a:r>
              <a:rPr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65" dirty="0">
                <a:solidFill>
                  <a:srgbClr val="FFFFFF"/>
                </a:solidFill>
                <a:latin typeface="Arial"/>
                <a:cs typeface="Arial"/>
              </a:rPr>
              <a:t>bezahlt</a:t>
            </a:r>
            <a:endParaRPr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37328" y="4174490"/>
            <a:ext cx="14077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30" dirty="0">
                <a:latin typeface="Arial"/>
                <a:cs typeface="Arial"/>
              </a:rPr>
              <a:t>Münze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/</a:t>
            </a:r>
            <a:r>
              <a:rPr sz="1200" spc="-11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verstauen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49726" y="5201793"/>
            <a:ext cx="815975" cy="39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06800"/>
              </a:lnSpc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2€-Münze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/ </a:t>
            </a:r>
            <a:r>
              <a:rPr sz="1200" spc="-65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027424" y="2401697"/>
            <a:ext cx="841375" cy="328930"/>
            <a:chOff x="1938273" y="2236597"/>
            <a:chExt cx="841375" cy="328930"/>
          </a:xfrm>
        </p:grpSpPr>
        <p:sp>
          <p:nvSpPr>
            <p:cNvPr id="42" name="object 42"/>
            <p:cNvSpPr/>
            <p:nvPr/>
          </p:nvSpPr>
          <p:spPr>
            <a:xfrm>
              <a:off x="1944623" y="2242947"/>
              <a:ext cx="828675" cy="316230"/>
            </a:xfrm>
            <a:custGeom>
              <a:avLst/>
              <a:gdLst/>
              <a:ahLst/>
              <a:cxnLst/>
              <a:rect l="l" t="t" r="r" b="b"/>
              <a:pathLst>
                <a:path w="828675" h="316230">
                  <a:moveTo>
                    <a:pt x="573658" y="0"/>
                  </a:moveTo>
                  <a:lnTo>
                    <a:pt x="558800" y="113537"/>
                  </a:lnTo>
                  <a:lnTo>
                    <a:pt x="11683" y="42290"/>
                  </a:lnTo>
                  <a:lnTo>
                    <a:pt x="0" y="131190"/>
                  </a:lnTo>
                  <a:lnTo>
                    <a:pt x="547243" y="202564"/>
                  </a:lnTo>
                  <a:lnTo>
                    <a:pt x="532383" y="316102"/>
                  </a:lnTo>
                  <a:lnTo>
                    <a:pt x="828167" y="193928"/>
                  </a:lnTo>
                  <a:lnTo>
                    <a:pt x="57365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44623" y="2242947"/>
              <a:ext cx="828675" cy="316230"/>
            </a:xfrm>
            <a:custGeom>
              <a:avLst/>
              <a:gdLst/>
              <a:ahLst/>
              <a:cxnLst/>
              <a:rect l="l" t="t" r="r" b="b"/>
              <a:pathLst>
                <a:path w="828675" h="316230">
                  <a:moveTo>
                    <a:pt x="11683" y="42290"/>
                  </a:moveTo>
                  <a:lnTo>
                    <a:pt x="558800" y="113537"/>
                  </a:lnTo>
                  <a:lnTo>
                    <a:pt x="573658" y="0"/>
                  </a:lnTo>
                  <a:lnTo>
                    <a:pt x="828167" y="193928"/>
                  </a:lnTo>
                  <a:lnTo>
                    <a:pt x="532383" y="316102"/>
                  </a:lnTo>
                  <a:lnTo>
                    <a:pt x="547243" y="202564"/>
                  </a:lnTo>
                  <a:lnTo>
                    <a:pt x="0" y="131190"/>
                  </a:lnTo>
                  <a:lnTo>
                    <a:pt x="11683" y="4229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2073" y="3946889"/>
            <a:ext cx="257810" cy="28625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2073" y="4379706"/>
            <a:ext cx="257810" cy="28625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457450" y="4174219"/>
            <a:ext cx="506730" cy="180340"/>
            <a:chOff x="495300" y="3883152"/>
            <a:chExt cx="506730" cy="180340"/>
          </a:xfrm>
        </p:grpSpPr>
        <p:sp>
          <p:nvSpPr>
            <p:cNvPr id="5" name="object 5"/>
            <p:cNvSpPr/>
            <p:nvPr/>
          </p:nvSpPr>
          <p:spPr>
            <a:xfrm>
              <a:off x="675068" y="3911600"/>
              <a:ext cx="327025" cy="127000"/>
            </a:xfrm>
            <a:custGeom>
              <a:avLst/>
              <a:gdLst/>
              <a:ahLst/>
              <a:cxnLst/>
              <a:rect l="l" t="t" r="r" b="b"/>
              <a:pathLst>
                <a:path w="327025" h="127000">
                  <a:moveTo>
                    <a:pt x="200101" y="0"/>
                  </a:moveTo>
                  <a:lnTo>
                    <a:pt x="199538" y="55118"/>
                  </a:lnTo>
                  <a:lnTo>
                    <a:pt x="199518" y="57147"/>
                  </a:lnTo>
                  <a:lnTo>
                    <a:pt x="212216" y="57276"/>
                  </a:lnTo>
                  <a:lnTo>
                    <a:pt x="212090" y="69976"/>
                  </a:lnTo>
                  <a:lnTo>
                    <a:pt x="199387" y="69976"/>
                  </a:lnTo>
                  <a:lnTo>
                    <a:pt x="198805" y="127000"/>
                  </a:lnTo>
                  <a:lnTo>
                    <a:pt x="315772" y="69976"/>
                  </a:lnTo>
                  <a:lnTo>
                    <a:pt x="212090" y="69976"/>
                  </a:lnTo>
                  <a:lnTo>
                    <a:pt x="199388" y="69847"/>
                  </a:lnTo>
                  <a:lnTo>
                    <a:pt x="316037" y="69847"/>
                  </a:lnTo>
                  <a:lnTo>
                    <a:pt x="326453" y="64769"/>
                  </a:lnTo>
                  <a:lnTo>
                    <a:pt x="200101" y="0"/>
                  </a:lnTo>
                  <a:close/>
                </a:path>
                <a:path w="327025" h="127000">
                  <a:moveTo>
                    <a:pt x="199518" y="57147"/>
                  </a:moveTo>
                  <a:lnTo>
                    <a:pt x="199440" y="64769"/>
                  </a:lnTo>
                  <a:lnTo>
                    <a:pt x="199388" y="69847"/>
                  </a:lnTo>
                  <a:lnTo>
                    <a:pt x="212090" y="69976"/>
                  </a:lnTo>
                  <a:lnTo>
                    <a:pt x="212216" y="57276"/>
                  </a:lnTo>
                  <a:lnTo>
                    <a:pt x="199518" y="57147"/>
                  </a:lnTo>
                  <a:close/>
                </a:path>
                <a:path w="327025" h="127000">
                  <a:moveTo>
                    <a:pt x="126" y="55118"/>
                  </a:moveTo>
                  <a:lnTo>
                    <a:pt x="0" y="67818"/>
                  </a:lnTo>
                  <a:lnTo>
                    <a:pt x="199388" y="69847"/>
                  </a:lnTo>
                  <a:lnTo>
                    <a:pt x="199440" y="64769"/>
                  </a:lnTo>
                  <a:lnTo>
                    <a:pt x="199518" y="57147"/>
                  </a:lnTo>
                  <a:lnTo>
                    <a:pt x="126" y="551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" y="3883152"/>
              <a:ext cx="179831" cy="179831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3539998" y="3322049"/>
            <a:ext cx="1560195" cy="543560"/>
          </a:xfrm>
          <a:custGeom>
            <a:avLst/>
            <a:gdLst/>
            <a:ahLst/>
            <a:cxnLst/>
            <a:rect l="l" t="t" r="r" b="b"/>
            <a:pathLst>
              <a:path w="1560195" h="543560">
                <a:moveTo>
                  <a:pt x="57150" y="416051"/>
                </a:moveTo>
                <a:lnTo>
                  <a:pt x="0" y="416051"/>
                </a:lnTo>
                <a:lnTo>
                  <a:pt x="63500" y="543051"/>
                </a:lnTo>
                <a:lnTo>
                  <a:pt x="120650" y="428751"/>
                </a:lnTo>
                <a:lnTo>
                  <a:pt x="57150" y="428751"/>
                </a:lnTo>
                <a:lnTo>
                  <a:pt x="57150" y="416051"/>
                </a:lnTo>
                <a:close/>
              </a:path>
              <a:path w="1560195" h="543560">
                <a:moveTo>
                  <a:pt x="1559941" y="0"/>
                </a:moveTo>
                <a:lnTo>
                  <a:pt x="57150" y="0"/>
                </a:lnTo>
                <a:lnTo>
                  <a:pt x="57150" y="428751"/>
                </a:lnTo>
                <a:lnTo>
                  <a:pt x="69850" y="428751"/>
                </a:lnTo>
                <a:lnTo>
                  <a:pt x="69850" y="12700"/>
                </a:lnTo>
                <a:lnTo>
                  <a:pt x="63500" y="12700"/>
                </a:lnTo>
                <a:lnTo>
                  <a:pt x="69850" y="6350"/>
                </a:lnTo>
                <a:lnTo>
                  <a:pt x="1559941" y="6350"/>
                </a:lnTo>
                <a:lnTo>
                  <a:pt x="1559941" y="0"/>
                </a:lnTo>
                <a:close/>
              </a:path>
              <a:path w="1560195" h="543560">
                <a:moveTo>
                  <a:pt x="127000" y="416051"/>
                </a:moveTo>
                <a:lnTo>
                  <a:pt x="69850" y="416051"/>
                </a:lnTo>
                <a:lnTo>
                  <a:pt x="69850" y="428751"/>
                </a:lnTo>
                <a:lnTo>
                  <a:pt x="120650" y="428751"/>
                </a:lnTo>
                <a:lnTo>
                  <a:pt x="127000" y="416051"/>
                </a:lnTo>
                <a:close/>
              </a:path>
              <a:path w="1560195" h="543560">
                <a:moveTo>
                  <a:pt x="69850" y="6350"/>
                </a:moveTo>
                <a:lnTo>
                  <a:pt x="63500" y="12700"/>
                </a:lnTo>
                <a:lnTo>
                  <a:pt x="69850" y="12700"/>
                </a:lnTo>
                <a:lnTo>
                  <a:pt x="69850" y="6350"/>
                </a:lnTo>
                <a:close/>
              </a:path>
              <a:path w="1560195" h="543560">
                <a:moveTo>
                  <a:pt x="1559941" y="6350"/>
                </a:moveTo>
                <a:lnTo>
                  <a:pt x="69850" y="6350"/>
                </a:lnTo>
                <a:lnTo>
                  <a:pt x="69850" y="12700"/>
                </a:lnTo>
                <a:lnTo>
                  <a:pt x="1559941" y="12700"/>
                </a:lnTo>
                <a:lnTo>
                  <a:pt x="1559941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7149" y="4671044"/>
            <a:ext cx="1503045" cy="1029335"/>
          </a:xfrm>
          <a:custGeom>
            <a:avLst/>
            <a:gdLst/>
            <a:ahLst/>
            <a:cxnLst/>
            <a:rect l="l" t="t" r="r" b="b"/>
            <a:pathLst>
              <a:path w="1503045" h="1029335">
                <a:moveTo>
                  <a:pt x="257683" y="141986"/>
                </a:moveTo>
                <a:lnTo>
                  <a:pt x="251409" y="129540"/>
                </a:lnTo>
                <a:lnTo>
                  <a:pt x="193802" y="15240"/>
                </a:lnTo>
                <a:lnTo>
                  <a:pt x="130784" y="142265"/>
                </a:lnTo>
                <a:lnTo>
                  <a:pt x="130683" y="142494"/>
                </a:lnTo>
                <a:lnTo>
                  <a:pt x="187833" y="142265"/>
                </a:lnTo>
                <a:lnTo>
                  <a:pt x="200533" y="142214"/>
                </a:lnTo>
                <a:lnTo>
                  <a:pt x="257683" y="141986"/>
                </a:lnTo>
                <a:close/>
              </a:path>
              <a:path w="1503045" h="1029335">
                <a:moveTo>
                  <a:pt x="1502791" y="965454"/>
                </a:moveTo>
                <a:lnTo>
                  <a:pt x="1490091" y="959104"/>
                </a:lnTo>
                <a:lnTo>
                  <a:pt x="1375791" y="901954"/>
                </a:lnTo>
                <a:lnTo>
                  <a:pt x="1375791" y="959104"/>
                </a:lnTo>
                <a:lnTo>
                  <a:pt x="12700" y="959104"/>
                </a:lnTo>
                <a:lnTo>
                  <a:pt x="12700" y="0"/>
                </a:lnTo>
                <a:lnTo>
                  <a:pt x="0" y="0"/>
                </a:lnTo>
                <a:lnTo>
                  <a:pt x="0" y="971804"/>
                </a:lnTo>
                <a:lnTo>
                  <a:pt x="1375791" y="971804"/>
                </a:lnTo>
                <a:lnTo>
                  <a:pt x="1375791" y="1028954"/>
                </a:lnTo>
                <a:lnTo>
                  <a:pt x="1490091" y="971804"/>
                </a:lnTo>
                <a:lnTo>
                  <a:pt x="1502791" y="965454"/>
                </a:lnTo>
                <a:close/>
              </a:path>
              <a:path w="1503045" h="1029335">
                <a:moveTo>
                  <a:pt x="1502791" y="803148"/>
                </a:moveTo>
                <a:lnTo>
                  <a:pt x="200533" y="803148"/>
                </a:lnTo>
                <a:lnTo>
                  <a:pt x="200533" y="142265"/>
                </a:lnTo>
                <a:lnTo>
                  <a:pt x="187833" y="142265"/>
                </a:lnTo>
                <a:lnTo>
                  <a:pt x="187833" y="815848"/>
                </a:lnTo>
                <a:lnTo>
                  <a:pt x="1502791" y="815848"/>
                </a:lnTo>
                <a:lnTo>
                  <a:pt x="1502791" y="809498"/>
                </a:lnTo>
                <a:lnTo>
                  <a:pt x="1502791" y="803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24706" y="3944602"/>
            <a:ext cx="2807335" cy="127000"/>
          </a:xfrm>
          <a:custGeom>
            <a:avLst/>
            <a:gdLst/>
            <a:ahLst/>
            <a:cxnLst/>
            <a:rect l="l" t="t" r="r" b="b"/>
            <a:pathLst>
              <a:path w="2807335" h="127000">
                <a:moveTo>
                  <a:pt x="2680335" y="0"/>
                </a:moveTo>
                <a:lnTo>
                  <a:pt x="2680335" y="127000"/>
                </a:lnTo>
                <a:lnTo>
                  <a:pt x="2794635" y="69850"/>
                </a:lnTo>
                <a:lnTo>
                  <a:pt x="2693035" y="69850"/>
                </a:lnTo>
                <a:lnTo>
                  <a:pt x="2693035" y="57150"/>
                </a:lnTo>
                <a:lnTo>
                  <a:pt x="2794635" y="57150"/>
                </a:lnTo>
                <a:lnTo>
                  <a:pt x="2680335" y="0"/>
                </a:lnTo>
                <a:close/>
              </a:path>
              <a:path w="2807335" h="127000">
                <a:moveTo>
                  <a:pt x="2680335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680335" y="69850"/>
                </a:lnTo>
                <a:lnTo>
                  <a:pt x="2680335" y="57150"/>
                </a:lnTo>
                <a:close/>
              </a:path>
              <a:path w="2807335" h="127000">
                <a:moveTo>
                  <a:pt x="2794635" y="57150"/>
                </a:moveTo>
                <a:lnTo>
                  <a:pt x="2693035" y="57150"/>
                </a:lnTo>
                <a:lnTo>
                  <a:pt x="2693035" y="69850"/>
                </a:lnTo>
                <a:lnTo>
                  <a:pt x="2794635" y="69850"/>
                </a:lnTo>
                <a:lnTo>
                  <a:pt x="2807335" y="63500"/>
                </a:lnTo>
                <a:lnTo>
                  <a:pt x="279463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80226" y="4667995"/>
            <a:ext cx="1256030" cy="975360"/>
          </a:xfrm>
          <a:custGeom>
            <a:avLst/>
            <a:gdLst/>
            <a:ahLst/>
            <a:cxnLst/>
            <a:rect l="l" t="t" r="r" b="b"/>
            <a:pathLst>
              <a:path w="1256029" h="975360">
                <a:moveTo>
                  <a:pt x="1185926" y="962406"/>
                </a:moveTo>
                <a:lnTo>
                  <a:pt x="0" y="962406"/>
                </a:lnTo>
                <a:lnTo>
                  <a:pt x="0" y="975106"/>
                </a:lnTo>
                <a:lnTo>
                  <a:pt x="1198626" y="975106"/>
                </a:lnTo>
                <a:lnTo>
                  <a:pt x="1198626" y="968756"/>
                </a:lnTo>
                <a:lnTo>
                  <a:pt x="1185926" y="968756"/>
                </a:lnTo>
                <a:lnTo>
                  <a:pt x="1185926" y="962406"/>
                </a:lnTo>
                <a:close/>
              </a:path>
              <a:path w="1256029" h="975360">
                <a:moveTo>
                  <a:pt x="1198626" y="114300"/>
                </a:moveTo>
                <a:lnTo>
                  <a:pt x="1185926" y="114300"/>
                </a:lnTo>
                <a:lnTo>
                  <a:pt x="1185926" y="968756"/>
                </a:lnTo>
                <a:lnTo>
                  <a:pt x="1192276" y="962406"/>
                </a:lnTo>
                <a:lnTo>
                  <a:pt x="1198626" y="962406"/>
                </a:lnTo>
                <a:lnTo>
                  <a:pt x="1198626" y="114300"/>
                </a:lnTo>
                <a:close/>
              </a:path>
              <a:path w="1256029" h="975360">
                <a:moveTo>
                  <a:pt x="1198626" y="962406"/>
                </a:moveTo>
                <a:lnTo>
                  <a:pt x="1192276" y="962406"/>
                </a:lnTo>
                <a:lnTo>
                  <a:pt x="1185926" y="968756"/>
                </a:lnTo>
                <a:lnTo>
                  <a:pt x="1198626" y="968756"/>
                </a:lnTo>
                <a:lnTo>
                  <a:pt x="1198626" y="962406"/>
                </a:lnTo>
                <a:close/>
              </a:path>
              <a:path w="1256029" h="975360">
                <a:moveTo>
                  <a:pt x="1192276" y="0"/>
                </a:moveTo>
                <a:lnTo>
                  <a:pt x="1128776" y="127000"/>
                </a:lnTo>
                <a:lnTo>
                  <a:pt x="1185926" y="127000"/>
                </a:lnTo>
                <a:lnTo>
                  <a:pt x="1185926" y="114300"/>
                </a:lnTo>
                <a:lnTo>
                  <a:pt x="1249426" y="114300"/>
                </a:lnTo>
                <a:lnTo>
                  <a:pt x="1192276" y="0"/>
                </a:lnTo>
                <a:close/>
              </a:path>
              <a:path w="1256029" h="975360">
                <a:moveTo>
                  <a:pt x="1249426" y="114300"/>
                </a:moveTo>
                <a:lnTo>
                  <a:pt x="1198626" y="114300"/>
                </a:lnTo>
                <a:lnTo>
                  <a:pt x="1198626" y="127000"/>
                </a:lnTo>
                <a:lnTo>
                  <a:pt x="1255776" y="127000"/>
                </a:lnTo>
                <a:lnTo>
                  <a:pt x="1249426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2957067" y="2918190"/>
            <a:ext cx="5261610" cy="1759585"/>
            <a:chOff x="994917" y="2627122"/>
            <a:chExt cx="5261610" cy="1759585"/>
          </a:xfrm>
        </p:grpSpPr>
        <p:sp>
          <p:nvSpPr>
            <p:cNvPr id="12" name="object 12"/>
            <p:cNvSpPr/>
            <p:nvPr/>
          </p:nvSpPr>
          <p:spPr>
            <a:xfrm>
              <a:off x="4418076" y="2973831"/>
              <a:ext cx="1198880" cy="596900"/>
            </a:xfrm>
            <a:custGeom>
              <a:avLst/>
              <a:gdLst/>
              <a:ahLst/>
              <a:cxnLst/>
              <a:rect l="l" t="t" r="r" b="b"/>
              <a:pathLst>
                <a:path w="1198879" h="596900">
                  <a:moveTo>
                    <a:pt x="1185926" y="63500"/>
                  </a:moveTo>
                  <a:lnTo>
                    <a:pt x="1185926" y="596900"/>
                  </a:lnTo>
                  <a:lnTo>
                    <a:pt x="1198626" y="596900"/>
                  </a:lnTo>
                  <a:lnTo>
                    <a:pt x="1198626" y="69850"/>
                  </a:lnTo>
                  <a:lnTo>
                    <a:pt x="1192276" y="69850"/>
                  </a:lnTo>
                  <a:lnTo>
                    <a:pt x="1185926" y="63500"/>
                  </a:lnTo>
                  <a:close/>
                </a:path>
                <a:path w="1198879" h="5969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69850"/>
                  </a:lnTo>
                  <a:lnTo>
                    <a:pt x="114300" y="69850"/>
                  </a:lnTo>
                  <a:lnTo>
                    <a:pt x="114300" y="57150"/>
                  </a:lnTo>
                  <a:lnTo>
                    <a:pt x="127000" y="57150"/>
                  </a:lnTo>
                  <a:lnTo>
                    <a:pt x="127000" y="0"/>
                  </a:lnTo>
                  <a:close/>
                </a:path>
                <a:path w="1198879" h="596900">
                  <a:moveTo>
                    <a:pt x="127000" y="57150"/>
                  </a:moveTo>
                  <a:lnTo>
                    <a:pt x="114300" y="57150"/>
                  </a:lnTo>
                  <a:lnTo>
                    <a:pt x="114300" y="69850"/>
                  </a:lnTo>
                  <a:lnTo>
                    <a:pt x="127000" y="69850"/>
                  </a:lnTo>
                  <a:lnTo>
                    <a:pt x="127000" y="57150"/>
                  </a:lnTo>
                  <a:close/>
                </a:path>
                <a:path w="1198879" h="596900">
                  <a:moveTo>
                    <a:pt x="1198626" y="57150"/>
                  </a:moveTo>
                  <a:lnTo>
                    <a:pt x="127000" y="57150"/>
                  </a:lnTo>
                  <a:lnTo>
                    <a:pt x="127000" y="69850"/>
                  </a:lnTo>
                  <a:lnTo>
                    <a:pt x="1185926" y="69850"/>
                  </a:lnTo>
                  <a:lnTo>
                    <a:pt x="1185926" y="63500"/>
                  </a:lnTo>
                  <a:lnTo>
                    <a:pt x="1198626" y="63500"/>
                  </a:lnTo>
                  <a:lnTo>
                    <a:pt x="1198626" y="57150"/>
                  </a:lnTo>
                  <a:close/>
                </a:path>
                <a:path w="1198879" h="596900">
                  <a:moveTo>
                    <a:pt x="1198626" y="63500"/>
                  </a:moveTo>
                  <a:lnTo>
                    <a:pt x="1185926" y="63500"/>
                  </a:lnTo>
                  <a:lnTo>
                    <a:pt x="1192276" y="69850"/>
                  </a:lnTo>
                  <a:lnTo>
                    <a:pt x="1198626" y="69850"/>
                  </a:lnTo>
                  <a:lnTo>
                    <a:pt x="119862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1267" y="3573780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5" y="0"/>
                  </a:lnTo>
                  <a:lnTo>
                    <a:pt x="91896" y="6853"/>
                  </a:lnTo>
                  <a:lnTo>
                    <a:pt x="55012" y="25936"/>
                  </a:lnTo>
                  <a:lnTo>
                    <a:pt x="25925" y="55028"/>
                  </a:lnTo>
                  <a:lnTo>
                    <a:pt x="6850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0" y="714284"/>
                  </a:lnTo>
                  <a:lnTo>
                    <a:pt x="25925" y="751167"/>
                  </a:lnTo>
                  <a:lnTo>
                    <a:pt x="55012" y="780259"/>
                  </a:lnTo>
                  <a:lnTo>
                    <a:pt x="91896" y="799342"/>
                  </a:lnTo>
                  <a:lnTo>
                    <a:pt x="134365" y="806196"/>
                  </a:lnTo>
                  <a:lnTo>
                    <a:pt x="1145794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01267" y="3573780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6"/>
                  </a:moveTo>
                  <a:lnTo>
                    <a:pt x="6850" y="91911"/>
                  </a:lnTo>
                  <a:lnTo>
                    <a:pt x="25925" y="55028"/>
                  </a:lnTo>
                  <a:lnTo>
                    <a:pt x="55012" y="25936"/>
                  </a:lnTo>
                  <a:lnTo>
                    <a:pt x="91896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6"/>
                  </a:lnTo>
                  <a:lnTo>
                    <a:pt x="134365" y="806196"/>
                  </a:lnTo>
                  <a:lnTo>
                    <a:pt x="91896" y="799342"/>
                  </a:lnTo>
                  <a:lnTo>
                    <a:pt x="55012" y="780259"/>
                  </a:lnTo>
                  <a:lnTo>
                    <a:pt x="25925" y="751167"/>
                  </a:lnTo>
                  <a:lnTo>
                    <a:pt x="6850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69764" y="35707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60" y="671829"/>
                  </a:lnTo>
                  <a:lnTo>
                    <a:pt x="1280160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69764" y="35707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60" y="134365"/>
                  </a:lnTo>
                  <a:lnTo>
                    <a:pt x="1280160" y="671829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5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37916" y="263347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6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29"/>
                  </a:lnTo>
                  <a:lnTo>
                    <a:pt x="1280159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37916" y="263347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5"/>
                  </a:lnTo>
                  <a:lnTo>
                    <a:pt x="1280159" y="671829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6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813181" y="482393"/>
            <a:ext cx="575945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75" dirty="0"/>
              <a:t>Beispiel:</a:t>
            </a:r>
            <a:r>
              <a:rPr spc="-204" dirty="0"/>
              <a:t> </a:t>
            </a:r>
            <a:r>
              <a:rPr spc="-135" dirty="0"/>
              <a:t>Mealy</a:t>
            </a:r>
            <a:r>
              <a:rPr spc="-190" dirty="0"/>
              <a:t> </a:t>
            </a:r>
            <a:r>
              <a:rPr spc="-250" dirty="0"/>
              <a:t>nach</a:t>
            </a:r>
            <a:r>
              <a:rPr spc="-185" dirty="0"/>
              <a:t> </a:t>
            </a:r>
            <a:r>
              <a:rPr spc="-30" dirty="0"/>
              <a:t>Moore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5093716" y="5227049"/>
            <a:ext cx="1292860" cy="819150"/>
            <a:chOff x="3131566" y="4935982"/>
            <a:chExt cx="1292860" cy="819150"/>
          </a:xfrm>
        </p:grpSpPr>
        <p:sp>
          <p:nvSpPr>
            <p:cNvPr id="21" name="object 21"/>
            <p:cNvSpPr/>
            <p:nvPr/>
          </p:nvSpPr>
          <p:spPr>
            <a:xfrm>
              <a:off x="3137916" y="49423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99"/>
                  </a:lnTo>
                  <a:lnTo>
                    <a:pt x="25936" y="751183"/>
                  </a:lnTo>
                  <a:lnTo>
                    <a:pt x="55028" y="780270"/>
                  </a:lnTo>
                  <a:lnTo>
                    <a:pt x="91911" y="799345"/>
                  </a:lnTo>
                  <a:lnTo>
                    <a:pt x="134366" y="806196"/>
                  </a:lnTo>
                  <a:lnTo>
                    <a:pt x="1145794" y="806196"/>
                  </a:lnTo>
                  <a:lnTo>
                    <a:pt x="1188248" y="799345"/>
                  </a:lnTo>
                  <a:lnTo>
                    <a:pt x="1225131" y="780270"/>
                  </a:lnTo>
                  <a:lnTo>
                    <a:pt x="1254223" y="751183"/>
                  </a:lnTo>
                  <a:lnTo>
                    <a:pt x="1273306" y="714299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37916" y="49423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99"/>
                  </a:lnTo>
                  <a:lnTo>
                    <a:pt x="1254223" y="751183"/>
                  </a:lnTo>
                  <a:lnTo>
                    <a:pt x="1225131" y="780270"/>
                  </a:lnTo>
                  <a:lnTo>
                    <a:pt x="1188248" y="799345"/>
                  </a:lnTo>
                  <a:lnTo>
                    <a:pt x="1145794" y="806196"/>
                  </a:lnTo>
                  <a:lnTo>
                    <a:pt x="134366" y="806196"/>
                  </a:lnTo>
                  <a:lnTo>
                    <a:pt x="91911" y="799345"/>
                  </a:lnTo>
                  <a:lnTo>
                    <a:pt x="55028" y="780270"/>
                  </a:lnTo>
                  <a:lnTo>
                    <a:pt x="25936" y="751183"/>
                  </a:lnTo>
                  <a:lnTo>
                    <a:pt x="6853" y="714299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020311" y="5636115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98645" y="3064569"/>
            <a:ext cx="7937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entnommen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03416" y="5670913"/>
            <a:ext cx="14077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9" baseline="2314" dirty="0">
                <a:latin typeface="Arial"/>
                <a:cs typeface="Arial"/>
              </a:rPr>
              <a:t>1€-</a:t>
            </a:r>
            <a:r>
              <a:rPr spc="-37" baseline="2314" dirty="0">
                <a:latin typeface="Arial"/>
                <a:cs typeface="Arial"/>
              </a:rPr>
              <a:t>Münze</a:t>
            </a:r>
            <a:r>
              <a:rPr spc="7" baseline="2314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/</a:t>
            </a:r>
            <a:r>
              <a:rPr sz="1200" spc="-11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verstauen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65847" y="4097764"/>
            <a:ext cx="812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5" dirty="0">
                <a:solidFill>
                  <a:srgbClr val="FFFFFF"/>
                </a:solidFill>
                <a:latin typeface="Arial"/>
                <a:cs typeface="Arial"/>
              </a:rPr>
              <a:t>kochend</a:t>
            </a:r>
            <a:endParaRPr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99857" y="4375844"/>
            <a:ext cx="16211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20" dirty="0">
                <a:latin typeface="Arial"/>
                <a:cs typeface="Arial"/>
              </a:rPr>
              <a:t>Münze</a:t>
            </a:r>
            <a:r>
              <a:rPr sz="1200" spc="150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/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91504" y="3320017"/>
            <a:ext cx="3575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fertig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17698" y="409776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5" dirty="0">
                <a:solidFill>
                  <a:srgbClr val="FFFFFF"/>
                </a:solidFill>
                <a:latin typeface="Arial"/>
                <a:cs typeface="Arial"/>
              </a:rPr>
              <a:t>leer</a:t>
            </a:r>
            <a:endParaRPr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99857" y="3974701"/>
            <a:ext cx="16211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9" baseline="2314" dirty="0">
                <a:latin typeface="Arial"/>
                <a:cs typeface="Arial"/>
              </a:rPr>
              <a:t>2€-</a:t>
            </a:r>
            <a:r>
              <a:rPr spc="-30" baseline="2314" dirty="0">
                <a:latin typeface="Arial"/>
                <a:cs typeface="Arial"/>
              </a:rPr>
              <a:t>Münze</a:t>
            </a:r>
            <a:r>
              <a:rPr spc="232" baseline="2314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/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60213" y="5470888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1€</a:t>
            </a:r>
            <a:r>
              <a:rPr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65" dirty="0">
                <a:solidFill>
                  <a:srgbClr val="FFFFFF"/>
                </a:solidFill>
                <a:latin typeface="Arial"/>
                <a:cs typeface="Arial"/>
              </a:rPr>
              <a:t>bezahlt</a:t>
            </a:r>
            <a:endParaRPr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10328" y="3992939"/>
            <a:ext cx="14077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30" dirty="0">
                <a:latin typeface="Arial"/>
                <a:cs typeface="Arial"/>
              </a:rPr>
              <a:t>Münze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/</a:t>
            </a:r>
            <a:r>
              <a:rPr sz="1200" spc="-11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verstauen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22725" y="5021116"/>
            <a:ext cx="816610" cy="41592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3970">
              <a:spcBef>
                <a:spcPts val="195"/>
              </a:spcBef>
            </a:pPr>
            <a:r>
              <a:rPr sz="1200" spc="-60" dirty="0">
                <a:latin typeface="Arial"/>
                <a:cs typeface="Arial"/>
              </a:rPr>
              <a:t>2€-Münze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/</a:t>
            </a:r>
            <a:endParaRPr sz="1200">
              <a:latin typeface="Arial"/>
              <a:cs typeface="Arial"/>
            </a:endParaRPr>
          </a:p>
          <a:p>
            <a:pPr marL="12700">
              <a:spcBef>
                <a:spcPts val="95"/>
              </a:spcBef>
            </a:pPr>
            <a:r>
              <a:rPr sz="1200" spc="-60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340353" y="1679177"/>
            <a:ext cx="3046730" cy="2181860"/>
            <a:chOff x="1378203" y="1388110"/>
            <a:chExt cx="3046730" cy="2181860"/>
          </a:xfrm>
        </p:grpSpPr>
        <p:sp>
          <p:nvSpPr>
            <p:cNvPr id="35" name="object 35"/>
            <p:cNvSpPr/>
            <p:nvPr/>
          </p:nvSpPr>
          <p:spPr>
            <a:xfrm>
              <a:off x="1378204" y="1790445"/>
              <a:ext cx="2733040" cy="1779905"/>
            </a:xfrm>
            <a:custGeom>
              <a:avLst/>
              <a:gdLst/>
              <a:ahLst/>
              <a:cxnLst/>
              <a:rect l="l" t="t" r="r" b="b"/>
              <a:pathLst>
                <a:path w="2733040" h="1779904">
                  <a:moveTo>
                    <a:pt x="1759585" y="0"/>
                  </a:moveTo>
                  <a:lnTo>
                    <a:pt x="57150" y="0"/>
                  </a:lnTo>
                  <a:lnTo>
                    <a:pt x="57150" y="1652524"/>
                  </a:lnTo>
                  <a:lnTo>
                    <a:pt x="0" y="1652524"/>
                  </a:lnTo>
                  <a:lnTo>
                    <a:pt x="63500" y="1779536"/>
                  </a:lnTo>
                  <a:lnTo>
                    <a:pt x="120650" y="1665224"/>
                  </a:lnTo>
                  <a:lnTo>
                    <a:pt x="127000" y="1652524"/>
                  </a:lnTo>
                  <a:lnTo>
                    <a:pt x="69850" y="1652524"/>
                  </a:lnTo>
                  <a:lnTo>
                    <a:pt x="69850" y="12700"/>
                  </a:lnTo>
                  <a:lnTo>
                    <a:pt x="1759585" y="12700"/>
                  </a:lnTo>
                  <a:lnTo>
                    <a:pt x="1759585" y="6350"/>
                  </a:lnTo>
                  <a:lnTo>
                    <a:pt x="1759585" y="0"/>
                  </a:lnTo>
                  <a:close/>
                </a:path>
                <a:path w="2733040" h="1779904">
                  <a:moveTo>
                    <a:pt x="2188972" y="552450"/>
                  </a:moveTo>
                  <a:lnTo>
                    <a:pt x="2182622" y="539750"/>
                  </a:lnTo>
                  <a:lnTo>
                    <a:pt x="2125472" y="425450"/>
                  </a:lnTo>
                  <a:lnTo>
                    <a:pt x="2061972" y="552450"/>
                  </a:lnTo>
                  <a:lnTo>
                    <a:pt x="2119122" y="552450"/>
                  </a:lnTo>
                  <a:lnTo>
                    <a:pt x="2119122" y="840232"/>
                  </a:lnTo>
                  <a:lnTo>
                    <a:pt x="2131822" y="840232"/>
                  </a:lnTo>
                  <a:lnTo>
                    <a:pt x="2131822" y="552450"/>
                  </a:lnTo>
                  <a:lnTo>
                    <a:pt x="2188972" y="552450"/>
                  </a:lnTo>
                  <a:close/>
                </a:path>
                <a:path w="2733040" h="1779904">
                  <a:moveTo>
                    <a:pt x="2733040" y="552450"/>
                  </a:moveTo>
                  <a:lnTo>
                    <a:pt x="2726690" y="539750"/>
                  </a:lnTo>
                  <a:lnTo>
                    <a:pt x="2669540" y="425450"/>
                  </a:lnTo>
                  <a:lnTo>
                    <a:pt x="2606040" y="552450"/>
                  </a:lnTo>
                  <a:lnTo>
                    <a:pt x="2663190" y="552450"/>
                  </a:lnTo>
                  <a:lnTo>
                    <a:pt x="2663190" y="840232"/>
                  </a:lnTo>
                  <a:lnTo>
                    <a:pt x="2675890" y="840232"/>
                  </a:lnTo>
                  <a:lnTo>
                    <a:pt x="2675890" y="552450"/>
                  </a:lnTo>
                  <a:lnTo>
                    <a:pt x="2733040" y="552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37915" y="1394460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6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29"/>
                  </a:lnTo>
                  <a:lnTo>
                    <a:pt x="1280159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137915" y="1394460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5"/>
                  </a:lnTo>
                  <a:lnTo>
                    <a:pt x="1280159" y="671829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6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253483" y="1714941"/>
            <a:ext cx="97281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5" dirty="0">
                <a:solidFill>
                  <a:srgbClr val="FFFFFF"/>
                </a:solidFill>
                <a:latin typeface="Arial"/>
                <a:cs typeface="Arial"/>
              </a:rPr>
              <a:t>wartend</a:t>
            </a:r>
            <a:r>
              <a:rPr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100827" y="2088624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>
                <a:moveTo>
                  <a:pt x="0" y="0"/>
                </a:moveTo>
                <a:lnTo>
                  <a:pt x="1280160" y="0"/>
                </a:lnTo>
              </a:path>
            </a:pathLst>
          </a:custGeom>
          <a:ln w="19050">
            <a:solidFill>
              <a:srgbClr val="A4A4A4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918712" y="1857231"/>
            <a:ext cx="7931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entnommen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787138" y="2094976"/>
            <a:ext cx="1887220" cy="116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algn="ctr">
              <a:spcBef>
                <a:spcPts val="100"/>
              </a:spcBef>
            </a:pP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zurückgeben</a:t>
            </a:r>
            <a:endParaRPr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>
              <a:latin typeface="Arial"/>
              <a:cs typeface="Arial"/>
            </a:endParaRPr>
          </a:p>
          <a:p>
            <a:pPr algn="ctr">
              <a:tabLst>
                <a:tab pos="1233805" algn="l"/>
              </a:tabLst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10" dirty="0">
                <a:latin typeface="Arial"/>
                <a:cs typeface="Arial"/>
              </a:rPr>
              <a:t>Münze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2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  <a:p>
            <a:pPr marL="17780" algn="ctr">
              <a:spcBef>
                <a:spcPts val="1065"/>
              </a:spcBef>
            </a:pP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wartend</a:t>
            </a:r>
            <a:endParaRPr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122293" y="2192256"/>
            <a:ext cx="2258695" cy="2734310"/>
            <a:chOff x="2160142" y="1901189"/>
            <a:chExt cx="2258695" cy="2734310"/>
          </a:xfrm>
        </p:grpSpPr>
        <p:sp>
          <p:nvSpPr>
            <p:cNvPr id="43" name="object 43"/>
            <p:cNvSpPr/>
            <p:nvPr/>
          </p:nvSpPr>
          <p:spPr>
            <a:xfrm>
              <a:off x="3138677" y="3038093"/>
              <a:ext cx="1280160" cy="0"/>
            </a:xfrm>
            <a:custGeom>
              <a:avLst/>
              <a:gdLst/>
              <a:ahLst/>
              <a:cxnLst/>
              <a:rect l="l" t="t" r="r" b="b"/>
              <a:pathLst>
                <a:path w="1280160">
                  <a:moveTo>
                    <a:pt x="0" y="0"/>
                  </a:moveTo>
                  <a:lnTo>
                    <a:pt x="1280160" y="0"/>
                  </a:lnTo>
                </a:path>
              </a:pathLst>
            </a:custGeom>
            <a:ln w="19050">
              <a:solidFill>
                <a:srgbClr val="A4A4A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166492" y="1907539"/>
              <a:ext cx="820419" cy="316865"/>
            </a:xfrm>
            <a:custGeom>
              <a:avLst/>
              <a:gdLst/>
              <a:ahLst/>
              <a:cxnLst/>
              <a:rect l="l" t="t" r="r" b="b"/>
              <a:pathLst>
                <a:path w="820419" h="316864">
                  <a:moveTo>
                    <a:pt x="514984" y="0"/>
                  </a:moveTo>
                  <a:lnTo>
                    <a:pt x="539242" y="111887"/>
                  </a:lnTo>
                  <a:lnTo>
                    <a:pt x="0" y="228981"/>
                  </a:lnTo>
                  <a:lnTo>
                    <a:pt x="19050" y="316738"/>
                  </a:lnTo>
                  <a:lnTo>
                    <a:pt x="558292" y="199644"/>
                  </a:lnTo>
                  <a:lnTo>
                    <a:pt x="582549" y="311531"/>
                  </a:lnTo>
                  <a:lnTo>
                    <a:pt x="819912" y="96900"/>
                  </a:lnTo>
                  <a:lnTo>
                    <a:pt x="51498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166492" y="1907539"/>
              <a:ext cx="820419" cy="316865"/>
            </a:xfrm>
            <a:custGeom>
              <a:avLst/>
              <a:gdLst/>
              <a:ahLst/>
              <a:cxnLst/>
              <a:rect l="l" t="t" r="r" b="b"/>
              <a:pathLst>
                <a:path w="820419" h="316864">
                  <a:moveTo>
                    <a:pt x="0" y="228981"/>
                  </a:moveTo>
                  <a:lnTo>
                    <a:pt x="539242" y="111887"/>
                  </a:lnTo>
                  <a:lnTo>
                    <a:pt x="514984" y="0"/>
                  </a:lnTo>
                  <a:lnTo>
                    <a:pt x="819912" y="96900"/>
                  </a:lnTo>
                  <a:lnTo>
                    <a:pt x="582549" y="311531"/>
                  </a:lnTo>
                  <a:lnTo>
                    <a:pt x="558292" y="199644"/>
                  </a:lnTo>
                  <a:lnTo>
                    <a:pt x="19050" y="316738"/>
                  </a:lnTo>
                  <a:lnTo>
                    <a:pt x="0" y="228981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69335" y="4026154"/>
              <a:ext cx="633095" cy="603250"/>
            </a:xfrm>
            <a:custGeom>
              <a:avLst/>
              <a:gdLst/>
              <a:ahLst/>
              <a:cxnLst/>
              <a:rect l="l" t="t" r="r" b="b"/>
              <a:pathLst>
                <a:path w="633095" h="603250">
                  <a:moveTo>
                    <a:pt x="633094" y="0"/>
                  </a:moveTo>
                  <a:lnTo>
                    <a:pt x="321944" y="75057"/>
                  </a:lnTo>
                  <a:lnTo>
                    <a:pt x="400685" y="158242"/>
                  </a:lnTo>
                  <a:lnTo>
                    <a:pt x="0" y="537718"/>
                  </a:lnTo>
                  <a:lnTo>
                    <a:pt x="61721" y="602742"/>
                  </a:lnTo>
                  <a:lnTo>
                    <a:pt x="462406" y="223393"/>
                  </a:lnTo>
                  <a:lnTo>
                    <a:pt x="541147" y="306578"/>
                  </a:lnTo>
                  <a:lnTo>
                    <a:pt x="63309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69335" y="4026154"/>
              <a:ext cx="633095" cy="603250"/>
            </a:xfrm>
            <a:custGeom>
              <a:avLst/>
              <a:gdLst/>
              <a:ahLst/>
              <a:cxnLst/>
              <a:rect l="l" t="t" r="r" b="b"/>
              <a:pathLst>
                <a:path w="633095" h="603250">
                  <a:moveTo>
                    <a:pt x="0" y="537718"/>
                  </a:moveTo>
                  <a:lnTo>
                    <a:pt x="400685" y="158242"/>
                  </a:lnTo>
                  <a:lnTo>
                    <a:pt x="321944" y="75057"/>
                  </a:lnTo>
                  <a:lnTo>
                    <a:pt x="633094" y="0"/>
                  </a:lnTo>
                  <a:lnTo>
                    <a:pt x="541147" y="306578"/>
                  </a:lnTo>
                  <a:lnTo>
                    <a:pt x="462406" y="223393"/>
                  </a:lnTo>
                  <a:lnTo>
                    <a:pt x="61721" y="602742"/>
                  </a:lnTo>
                  <a:lnTo>
                    <a:pt x="0" y="537718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9029192" y="4713715"/>
            <a:ext cx="330200" cy="832485"/>
            <a:chOff x="7067042" y="4422647"/>
            <a:chExt cx="330200" cy="832485"/>
          </a:xfrm>
        </p:grpSpPr>
        <p:sp>
          <p:nvSpPr>
            <p:cNvPr id="49" name="object 49"/>
            <p:cNvSpPr/>
            <p:nvPr/>
          </p:nvSpPr>
          <p:spPr>
            <a:xfrm>
              <a:off x="7073392" y="4428997"/>
              <a:ext cx="317500" cy="819785"/>
            </a:xfrm>
            <a:custGeom>
              <a:avLst/>
              <a:gdLst/>
              <a:ahLst/>
              <a:cxnLst/>
              <a:rect l="l" t="t" r="r" b="b"/>
              <a:pathLst>
                <a:path w="317500" h="819785">
                  <a:moveTo>
                    <a:pt x="96392" y="0"/>
                  </a:moveTo>
                  <a:lnTo>
                    <a:pt x="0" y="305181"/>
                  </a:lnTo>
                  <a:lnTo>
                    <a:pt x="112013" y="280669"/>
                  </a:lnTo>
                  <a:lnTo>
                    <a:pt x="229869" y="819785"/>
                  </a:lnTo>
                  <a:lnTo>
                    <a:pt x="317500" y="800607"/>
                  </a:lnTo>
                  <a:lnTo>
                    <a:pt x="199643" y="261493"/>
                  </a:lnTo>
                  <a:lnTo>
                    <a:pt x="311530" y="237108"/>
                  </a:lnTo>
                  <a:lnTo>
                    <a:pt x="9639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73392" y="4428997"/>
              <a:ext cx="317500" cy="819785"/>
            </a:xfrm>
            <a:custGeom>
              <a:avLst/>
              <a:gdLst/>
              <a:ahLst/>
              <a:cxnLst/>
              <a:rect l="l" t="t" r="r" b="b"/>
              <a:pathLst>
                <a:path w="317500" h="819785">
                  <a:moveTo>
                    <a:pt x="229869" y="819785"/>
                  </a:moveTo>
                  <a:lnTo>
                    <a:pt x="112013" y="280669"/>
                  </a:lnTo>
                  <a:lnTo>
                    <a:pt x="0" y="305181"/>
                  </a:lnTo>
                  <a:lnTo>
                    <a:pt x="96392" y="0"/>
                  </a:lnTo>
                  <a:lnTo>
                    <a:pt x="311530" y="237108"/>
                  </a:lnTo>
                  <a:lnTo>
                    <a:pt x="199643" y="261493"/>
                  </a:lnTo>
                  <a:lnTo>
                    <a:pt x="317500" y="800607"/>
                  </a:lnTo>
                  <a:lnTo>
                    <a:pt x="229869" y="819785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7698741" y="5925067"/>
            <a:ext cx="633095" cy="629285"/>
            <a:chOff x="5736590" y="5633999"/>
            <a:chExt cx="633095" cy="629285"/>
          </a:xfrm>
        </p:grpSpPr>
        <p:sp>
          <p:nvSpPr>
            <p:cNvPr id="52" name="object 52"/>
            <p:cNvSpPr/>
            <p:nvPr/>
          </p:nvSpPr>
          <p:spPr>
            <a:xfrm>
              <a:off x="5742940" y="5640349"/>
              <a:ext cx="620395" cy="616585"/>
            </a:xfrm>
            <a:custGeom>
              <a:avLst/>
              <a:gdLst/>
              <a:ahLst/>
              <a:cxnLst/>
              <a:rect l="l" t="t" r="r" b="b"/>
              <a:pathLst>
                <a:path w="620395" h="616585">
                  <a:moveTo>
                    <a:pt x="0" y="0"/>
                  </a:moveTo>
                  <a:lnTo>
                    <a:pt x="84709" y="308635"/>
                  </a:lnTo>
                  <a:lnTo>
                    <a:pt x="165354" y="227329"/>
                  </a:lnTo>
                  <a:lnTo>
                    <a:pt x="557022" y="616064"/>
                  </a:lnTo>
                  <a:lnTo>
                    <a:pt x="620140" y="552399"/>
                  </a:lnTo>
                  <a:lnTo>
                    <a:pt x="228600" y="163664"/>
                  </a:lnTo>
                  <a:lnTo>
                    <a:pt x="309245" y="823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742940" y="5640349"/>
              <a:ext cx="620395" cy="616585"/>
            </a:xfrm>
            <a:custGeom>
              <a:avLst/>
              <a:gdLst/>
              <a:ahLst/>
              <a:cxnLst/>
              <a:rect l="l" t="t" r="r" b="b"/>
              <a:pathLst>
                <a:path w="620395" h="616585">
                  <a:moveTo>
                    <a:pt x="557022" y="616064"/>
                  </a:moveTo>
                  <a:lnTo>
                    <a:pt x="165354" y="227329"/>
                  </a:lnTo>
                  <a:lnTo>
                    <a:pt x="84709" y="308635"/>
                  </a:lnTo>
                  <a:lnTo>
                    <a:pt x="0" y="0"/>
                  </a:lnTo>
                  <a:lnTo>
                    <a:pt x="309245" y="82359"/>
                  </a:lnTo>
                  <a:lnTo>
                    <a:pt x="228600" y="163664"/>
                  </a:lnTo>
                  <a:lnTo>
                    <a:pt x="620140" y="552399"/>
                  </a:lnTo>
                  <a:lnTo>
                    <a:pt x="557022" y="616064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86050" y="4365752"/>
            <a:ext cx="506730" cy="180340"/>
            <a:chOff x="495300" y="3883152"/>
            <a:chExt cx="506730" cy="180340"/>
          </a:xfrm>
        </p:grpSpPr>
        <p:sp>
          <p:nvSpPr>
            <p:cNvPr id="3" name="object 3"/>
            <p:cNvSpPr/>
            <p:nvPr/>
          </p:nvSpPr>
          <p:spPr>
            <a:xfrm>
              <a:off x="675068" y="3911600"/>
              <a:ext cx="327025" cy="127000"/>
            </a:xfrm>
            <a:custGeom>
              <a:avLst/>
              <a:gdLst/>
              <a:ahLst/>
              <a:cxnLst/>
              <a:rect l="l" t="t" r="r" b="b"/>
              <a:pathLst>
                <a:path w="327025" h="127000">
                  <a:moveTo>
                    <a:pt x="200101" y="0"/>
                  </a:moveTo>
                  <a:lnTo>
                    <a:pt x="199538" y="55118"/>
                  </a:lnTo>
                  <a:lnTo>
                    <a:pt x="199518" y="57147"/>
                  </a:lnTo>
                  <a:lnTo>
                    <a:pt x="212216" y="57276"/>
                  </a:lnTo>
                  <a:lnTo>
                    <a:pt x="212090" y="69976"/>
                  </a:lnTo>
                  <a:lnTo>
                    <a:pt x="199387" y="69976"/>
                  </a:lnTo>
                  <a:lnTo>
                    <a:pt x="198805" y="127000"/>
                  </a:lnTo>
                  <a:lnTo>
                    <a:pt x="315772" y="69976"/>
                  </a:lnTo>
                  <a:lnTo>
                    <a:pt x="212090" y="69976"/>
                  </a:lnTo>
                  <a:lnTo>
                    <a:pt x="199388" y="69847"/>
                  </a:lnTo>
                  <a:lnTo>
                    <a:pt x="316037" y="69847"/>
                  </a:lnTo>
                  <a:lnTo>
                    <a:pt x="326453" y="64769"/>
                  </a:lnTo>
                  <a:lnTo>
                    <a:pt x="200101" y="0"/>
                  </a:lnTo>
                  <a:close/>
                </a:path>
                <a:path w="327025" h="127000">
                  <a:moveTo>
                    <a:pt x="199518" y="57147"/>
                  </a:moveTo>
                  <a:lnTo>
                    <a:pt x="199440" y="64769"/>
                  </a:lnTo>
                  <a:lnTo>
                    <a:pt x="199388" y="69847"/>
                  </a:lnTo>
                  <a:lnTo>
                    <a:pt x="212090" y="69976"/>
                  </a:lnTo>
                  <a:lnTo>
                    <a:pt x="212216" y="57276"/>
                  </a:lnTo>
                  <a:lnTo>
                    <a:pt x="199518" y="57147"/>
                  </a:lnTo>
                  <a:close/>
                </a:path>
                <a:path w="327025" h="127000">
                  <a:moveTo>
                    <a:pt x="126" y="55118"/>
                  </a:moveTo>
                  <a:lnTo>
                    <a:pt x="0" y="67818"/>
                  </a:lnTo>
                  <a:lnTo>
                    <a:pt x="199388" y="69847"/>
                  </a:lnTo>
                  <a:lnTo>
                    <a:pt x="199440" y="64769"/>
                  </a:lnTo>
                  <a:lnTo>
                    <a:pt x="199518" y="57147"/>
                  </a:lnTo>
                  <a:lnTo>
                    <a:pt x="126" y="551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" y="3883152"/>
              <a:ext cx="179831" cy="17983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3768598" y="3513582"/>
            <a:ext cx="1560195" cy="543560"/>
          </a:xfrm>
          <a:custGeom>
            <a:avLst/>
            <a:gdLst/>
            <a:ahLst/>
            <a:cxnLst/>
            <a:rect l="l" t="t" r="r" b="b"/>
            <a:pathLst>
              <a:path w="1560195" h="543560">
                <a:moveTo>
                  <a:pt x="57150" y="416051"/>
                </a:moveTo>
                <a:lnTo>
                  <a:pt x="0" y="416051"/>
                </a:lnTo>
                <a:lnTo>
                  <a:pt x="63500" y="543051"/>
                </a:lnTo>
                <a:lnTo>
                  <a:pt x="120650" y="428751"/>
                </a:lnTo>
                <a:lnTo>
                  <a:pt x="57150" y="428751"/>
                </a:lnTo>
                <a:lnTo>
                  <a:pt x="57150" y="416051"/>
                </a:lnTo>
                <a:close/>
              </a:path>
              <a:path w="1560195" h="543560">
                <a:moveTo>
                  <a:pt x="1559941" y="0"/>
                </a:moveTo>
                <a:lnTo>
                  <a:pt x="57150" y="0"/>
                </a:lnTo>
                <a:lnTo>
                  <a:pt x="57150" y="428751"/>
                </a:lnTo>
                <a:lnTo>
                  <a:pt x="69850" y="428751"/>
                </a:lnTo>
                <a:lnTo>
                  <a:pt x="69850" y="12700"/>
                </a:lnTo>
                <a:lnTo>
                  <a:pt x="63500" y="12700"/>
                </a:lnTo>
                <a:lnTo>
                  <a:pt x="69850" y="6350"/>
                </a:lnTo>
                <a:lnTo>
                  <a:pt x="1559941" y="6350"/>
                </a:lnTo>
                <a:lnTo>
                  <a:pt x="1559941" y="0"/>
                </a:lnTo>
                <a:close/>
              </a:path>
              <a:path w="1560195" h="543560">
                <a:moveTo>
                  <a:pt x="127000" y="416051"/>
                </a:moveTo>
                <a:lnTo>
                  <a:pt x="69850" y="416051"/>
                </a:lnTo>
                <a:lnTo>
                  <a:pt x="69850" y="428751"/>
                </a:lnTo>
                <a:lnTo>
                  <a:pt x="120650" y="428751"/>
                </a:lnTo>
                <a:lnTo>
                  <a:pt x="127000" y="416051"/>
                </a:lnTo>
                <a:close/>
              </a:path>
              <a:path w="1560195" h="543560">
                <a:moveTo>
                  <a:pt x="69850" y="6350"/>
                </a:moveTo>
                <a:lnTo>
                  <a:pt x="63500" y="12700"/>
                </a:lnTo>
                <a:lnTo>
                  <a:pt x="69850" y="12700"/>
                </a:lnTo>
                <a:lnTo>
                  <a:pt x="69850" y="6350"/>
                </a:lnTo>
                <a:close/>
              </a:path>
              <a:path w="1560195" h="543560">
                <a:moveTo>
                  <a:pt x="1559941" y="6350"/>
                </a:moveTo>
                <a:lnTo>
                  <a:pt x="69850" y="6350"/>
                </a:lnTo>
                <a:lnTo>
                  <a:pt x="69850" y="12700"/>
                </a:lnTo>
                <a:lnTo>
                  <a:pt x="1559941" y="12700"/>
                </a:lnTo>
                <a:lnTo>
                  <a:pt x="1559941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25749" y="4862577"/>
            <a:ext cx="1503045" cy="1029335"/>
          </a:xfrm>
          <a:custGeom>
            <a:avLst/>
            <a:gdLst/>
            <a:ahLst/>
            <a:cxnLst/>
            <a:rect l="l" t="t" r="r" b="b"/>
            <a:pathLst>
              <a:path w="1503045" h="1029335">
                <a:moveTo>
                  <a:pt x="257683" y="141986"/>
                </a:moveTo>
                <a:lnTo>
                  <a:pt x="251409" y="129540"/>
                </a:lnTo>
                <a:lnTo>
                  <a:pt x="193802" y="15240"/>
                </a:lnTo>
                <a:lnTo>
                  <a:pt x="130784" y="142265"/>
                </a:lnTo>
                <a:lnTo>
                  <a:pt x="130683" y="142494"/>
                </a:lnTo>
                <a:lnTo>
                  <a:pt x="187833" y="142265"/>
                </a:lnTo>
                <a:lnTo>
                  <a:pt x="200533" y="142214"/>
                </a:lnTo>
                <a:lnTo>
                  <a:pt x="257683" y="141986"/>
                </a:lnTo>
                <a:close/>
              </a:path>
              <a:path w="1503045" h="1029335">
                <a:moveTo>
                  <a:pt x="1502791" y="965454"/>
                </a:moveTo>
                <a:lnTo>
                  <a:pt x="1490091" y="959104"/>
                </a:lnTo>
                <a:lnTo>
                  <a:pt x="1375791" y="901954"/>
                </a:lnTo>
                <a:lnTo>
                  <a:pt x="1375791" y="959104"/>
                </a:lnTo>
                <a:lnTo>
                  <a:pt x="12700" y="959104"/>
                </a:lnTo>
                <a:lnTo>
                  <a:pt x="12700" y="0"/>
                </a:lnTo>
                <a:lnTo>
                  <a:pt x="0" y="0"/>
                </a:lnTo>
                <a:lnTo>
                  <a:pt x="0" y="971804"/>
                </a:lnTo>
                <a:lnTo>
                  <a:pt x="1375791" y="971804"/>
                </a:lnTo>
                <a:lnTo>
                  <a:pt x="1375791" y="1028954"/>
                </a:lnTo>
                <a:lnTo>
                  <a:pt x="1490091" y="971804"/>
                </a:lnTo>
                <a:lnTo>
                  <a:pt x="1502791" y="965454"/>
                </a:lnTo>
                <a:close/>
              </a:path>
              <a:path w="1503045" h="1029335">
                <a:moveTo>
                  <a:pt x="1502791" y="803148"/>
                </a:moveTo>
                <a:lnTo>
                  <a:pt x="200533" y="803148"/>
                </a:lnTo>
                <a:lnTo>
                  <a:pt x="200533" y="142265"/>
                </a:lnTo>
                <a:lnTo>
                  <a:pt x="187833" y="142265"/>
                </a:lnTo>
                <a:lnTo>
                  <a:pt x="187833" y="815848"/>
                </a:lnTo>
                <a:lnTo>
                  <a:pt x="1502791" y="815848"/>
                </a:lnTo>
                <a:lnTo>
                  <a:pt x="1502791" y="809498"/>
                </a:lnTo>
                <a:lnTo>
                  <a:pt x="1502791" y="803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53306" y="4136135"/>
            <a:ext cx="2807335" cy="127000"/>
          </a:xfrm>
          <a:custGeom>
            <a:avLst/>
            <a:gdLst/>
            <a:ahLst/>
            <a:cxnLst/>
            <a:rect l="l" t="t" r="r" b="b"/>
            <a:pathLst>
              <a:path w="2807335" h="127000">
                <a:moveTo>
                  <a:pt x="2680335" y="0"/>
                </a:moveTo>
                <a:lnTo>
                  <a:pt x="2680335" y="127000"/>
                </a:lnTo>
                <a:lnTo>
                  <a:pt x="2794635" y="69850"/>
                </a:lnTo>
                <a:lnTo>
                  <a:pt x="2693035" y="69850"/>
                </a:lnTo>
                <a:lnTo>
                  <a:pt x="2693035" y="57150"/>
                </a:lnTo>
                <a:lnTo>
                  <a:pt x="2794635" y="57150"/>
                </a:lnTo>
                <a:lnTo>
                  <a:pt x="2680335" y="0"/>
                </a:lnTo>
                <a:close/>
              </a:path>
              <a:path w="2807335" h="127000">
                <a:moveTo>
                  <a:pt x="2680335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680335" y="69850"/>
                </a:lnTo>
                <a:lnTo>
                  <a:pt x="2680335" y="57150"/>
                </a:lnTo>
                <a:close/>
              </a:path>
              <a:path w="2807335" h="127000">
                <a:moveTo>
                  <a:pt x="2794635" y="57150"/>
                </a:moveTo>
                <a:lnTo>
                  <a:pt x="2693035" y="57150"/>
                </a:lnTo>
                <a:lnTo>
                  <a:pt x="2693035" y="69850"/>
                </a:lnTo>
                <a:lnTo>
                  <a:pt x="2794635" y="69850"/>
                </a:lnTo>
                <a:lnTo>
                  <a:pt x="2807335" y="63500"/>
                </a:lnTo>
                <a:lnTo>
                  <a:pt x="279463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185667" y="3109722"/>
            <a:ext cx="5261610" cy="3128010"/>
            <a:chOff x="994917" y="2627122"/>
            <a:chExt cx="5261610" cy="3128010"/>
          </a:xfrm>
        </p:grpSpPr>
        <p:sp>
          <p:nvSpPr>
            <p:cNvPr id="9" name="object 9"/>
            <p:cNvSpPr/>
            <p:nvPr/>
          </p:nvSpPr>
          <p:spPr>
            <a:xfrm>
              <a:off x="4418076" y="4376927"/>
              <a:ext cx="1256030" cy="975360"/>
            </a:xfrm>
            <a:custGeom>
              <a:avLst/>
              <a:gdLst/>
              <a:ahLst/>
              <a:cxnLst/>
              <a:rect l="l" t="t" r="r" b="b"/>
              <a:pathLst>
                <a:path w="1256029" h="975360">
                  <a:moveTo>
                    <a:pt x="1185926" y="962406"/>
                  </a:moveTo>
                  <a:lnTo>
                    <a:pt x="0" y="962406"/>
                  </a:lnTo>
                  <a:lnTo>
                    <a:pt x="0" y="975106"/>
                  </a:lnTo>
                  <a:lnTo>
                    <a:pt x="1198626" y="975106"/>
                  </a:lnTo>
                  <a:lnTo>
                    <a:pt x="1198626" y="968756"/>
                  </a:lnTo>
                  <a:lnTo>
                    <a:pt x="1185926" y="968756"/>
                  </a:lnTo>
                  <a:lnTo>
                    <a:pt x="1185926" y="962406"/>
                  </a:lnTo>
                  <a:close/>
                </a:path>
                <a:path w="1256029" h="975360">
                  <a:moveTo>
                    <a:pt x="1198626" y="114300"/>
                  </a:moveTo>
                  <a:lnTo>
                    <a:pt x="1185926" y="114300"/>
                  </a:lnTo>
                  <a:lnTo>
                    <a:pt x="1185926" y="968756"/>
                  </a:lnTo>
                  <a:lnTo>
                    <a:pt x="1192276" y="962406"/>
                  </a:lnTo>
                  <a:lnTo>
                    <a:pt x="1198626" y="962406"/>
                  </a:lnTo>
                  <a:lnTo>
                    <a:pt x="1198626" y="114300"/>
                  </a:lnTo>
                  <a:close/>
                </a:path>
                <a:path w="1256029" h="975360">
                  <a:moveTo>
                    <a:pt x="1198626" y="962406"/>
                  </a:moveTo>
                  <a:lnTo>
                    <a:pt x="1192276" y="962406"/>
                  </a:lnTo>
                  <a:lnTo>
                    <a:pt x="1185926" y="968756"/>
                  </a:lnTo>
                  <a:lnTo>
                    <a:pt x="1198626" y="968756"/>
                  </a:lnTo>
                  <a:lnTo>
                    <a:pt x="1198626" y="962406"/>
                  </a:lnTo>
                  <a:close/>
                </a:path>
                <a:path w="1256029" h="975360">
                  <a:moveTo>
                    <a:pt x="1192276" y="0"/>
                  </a:moveTo>
                  <a:lnTo>
                    <a:pt x="1128776" y="127000"/>
                  </a:lnTo>
                  <a:lnTo>
                    <a:pt x="1185926" y="127000"/>
                  </a:lnTo>
                  <a:lnTo>
                    <a:pt x="1185926" y="114300"/>
                  </a:lnTo>
                  <a:lnTo>
                    <a:pt x="1249426" y="114300"/>
                  </a:lnTo>
                  <a:lnTo>
                    <a:pt x="1192276" y="0"/>
                  </a:lnTo>
                  <a:close/>
                </a:path>
                <a:path w="1256029" h="975360">
                  <a:moveTo>
                    <a:pt x="1249426" y="114300"/>
                  </a:moveTo>
                  <a:lnTo>
                    <a:pt x="1198626" y="114300"/>
                  </a:lnTo>
                  <a:lnTo>
                    <a:pt x="1198626" y="127000"/>
                  </a:lnTo>
                  <a:lnTo>
                    <a:pt x="1255776" y="127000"/>
                  </a:lnTo>
                  <a:lnTo>
                    <a:pt x="1249426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01267" y="3573780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5" y="0"/>
                  </a:lnTo>
                  <a:lnTo>
                    <a:pt x="91896" y="6853"/>
                  </a:lnTo>
                  <a:lnTo>
                    <a:pt x="55012" y="25936"/>
                  </a:lnTo>
                  <a:lnTo>
                    <a:pt x="25925" y="55028"/>
                  </a:lnTo>
                  <a:lnTo>
                    <a:pt x="6850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0" y="714284"/>
                  </a:lnTo>
                  <a:lnTo>
                    <a:pt x="25925" y="751167"/>
                  </a:lnTo>
                  <a:lnTo>
                    <a:pt x="55012" y="780259"/>
                  </a:lnTo>
                  <a:lnTo>
                    <a:pt x="91896" y="799342"/>
                  </a:lnTo>
                  <a:lnTo>
                    <a:pt x="134365" y="806196"/>
                  </a:lnTo>
                  <a:lnTo>
                    <a:pt x="1145794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01267" y="3573780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6"/>
                  </a:moveTo>
                  <a:lnTo>
                    <a:pt x="6850" y="91911"/>
                  </a:lnTo>
                  <a:lnTo>
                    <a:pt x="25925" y="55028"/>
                  </a:lnTo>
                  <a:lnTo>
                    <a:pt x="55012" y="25936"/>
                  </a:lnTo>
                  <a:lnTo>
                    <a:pt x="91896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6"/>
                  </a:lnTo>
                  <a:lnTo>
                    <a:pt x="134365" y="806196"/>
                  </a:lnTo>
                  <a:lnTo>
                    <a:pt x="91896" y="799342"/>
                  </a:lnTo>
                  <a:lnTo>
                    <a:pt x="55012" y="780259"/>
                  </a:lnTo>
                  <a:lnTo>
                    <a:pt x="25925" y="751167"/>
                  </a:lnTo>
                  <a:lnTo>
                    <a:pt x="6850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69764" y="35707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60" y="671829"/>
                  </a:lnTo>
                  <a:lnTo>
                    <a:pt x="1280160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69764" y="35707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60" y="134365"/>
                  </a:lnTo>
                  <a:lnTo>
                    <a:pt x="1280160" y="671829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5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7916" y="49423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99"/>
                  </a:lnTo>
                  <a:lnTo>
                    <a:pt x="25936" y="751183"/>
                  </a:lnTo>
                  <a:lnTo>
                    <a:pt x="55028" y="780270"/>
                  </a:lnTo>
                  <a:lnTo>
                    <a:pt x="91911" y="799345"/>
                  </a:lnTo>
                  <a:lnTo>
                    <a:pt x="134366" y="806196"/>
                  </a:lnTo>
                  <a:lnTo>
                    <a:pt x="1145794" y="806196"/>
                  </a:lnTo>
                  <a:lnTo>
                    <a:pt x="1188248" y="799345"/>
                  </a:lnTo>
                  <a:lnTo>
                    <a:pt x="1225131" y="780270"/>
                  </a:lnTo>
                  <a:lnTo>
                    <a:pt x="1254223" y="751183"/>
                  </a:lnTo>
                  <a:lnTo>
                    <a:pt x="1273306" y="714299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37916" y="49423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99"/>
                  </a:lnTo>
                  <a:lnTo>
                    <a:pt x="1254223" y="751183"/>
                  </a:lnTo>
                  <a:lnTo>
                    <a:pt x="1225131" y="780270"/>
                  </a:lnTo>
                  <a:lnTo>
                    <a:pt x="1188248" y="799345"/>
                  </a:lnTo>
                  <a:lnTo>
                    <a:pt x="1145794" y="806196"/>
                  </a:lnTo>
                  <a:lnTo>
                    <a:pt x="134366" y="806196"/>
                  </a:lnTo>
                  <a:lnTo>
                    <a:pt x="91911" y="799345"/>
                  </a:lnTo>
                  <a:lnTo>
                    <a:pt x="55028" y="780270"/>
                  </a:lnTo>
                  <a:lnTo>
                    <a:pt x="25936" y="751183"/>
                  </a:lnTo>
                  <a:lnTo>
                    <a:pt x="6853" y="714299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37916" y="263347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6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29"/>
                  </a:lnTo>
                  <a:lnTo>
                    <a:pt x="1280159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37916" y="263347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5"/>
                  </a:lnTo>
                  <a:lnTo>
                    <a:pt x="1280159" y="671829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6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806959" y="515057"/>
            <a:ext cx="60375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35" dirty="0"/>
              <a:t>Mealy-</a:t>
            </a:r>
            <a:r>
              <a:rPr spc="-145" dirty="0"/>
              <a:t> </a:t>
            </a:r>
            <a:r>
              <a:rPr spc="-235" dirty="0"/>
              <a:t>nach</a:t>
            </a:r>
            <a:r>
              <a:rPr spc="-140" dirty="0"/>
              <a:t> </a:t>
            </a:r>
            <a:r>
              <a:rPr spc="-110" dirty="0"/>
              <a:t>Moore-</a:t>
            </a:r>
            <a:r>
              <a:rPr spc="-65" dirty="0"/>
              <a:t>Automat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248911" y="5827648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27245" y="3256102"/>
            <a:ext cx="7937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entnommen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46298" y="428929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5" dirty="0">
                <a:solidFill>
                  <a:srgbClr val="FFFFFF"/>
                </a:solidFill>
                <a:latin typeface="Arial"/>
                <a:cs typeface="Arial"/>
              </a:rPr>
              <a:t>leer</a:t>
            </a:r>
            <a:endParaRPr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88813" y="5662421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1€</a:t>
            </a:r>
            <a:r>
              <a:rPr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65" dirty="0">
                <a:solidFill>
                  <a:srgbClr val="FFFFFF"/>
                </a:solidFill>
                <a:latin typeface="Arial"/>
                <a:cs typeface="Arial"/>
              </a:rPr>
              <a:t>bezahlt</a:t>
            </a:r>
            <a:endParaRPr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51325" y="5212649"/>
            <a:ext cx="816610" cy="41592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3970">
              <a:spcBef>
                <a:spcPts val="195"/>
              </a:spcBef>
            </a:pPr>
            <a:r>
              <a:rPr sz="1200" spc="-60" dirty="0">
                <a:latin typeface="Arial"/>
                <a:cs typeface="Arial"/>
              </a:rPr>
              <a:t>2€-Münze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/</a:t>
            </a:r>
            <a:endParaRPr sz="1200">
              <a:latin typeface="Arial"/>
              <a:cs typeface="Arial"/>
            </a:endParaRPr>
          </a:p>
          <a:p>
            <a:pPr marL="12700">
              <a:spcBef>
                <a:spcPts val="95"/>
              </a:spcBef>
            </a:pPr>
            <a:r>
              <a:rPr sz="1200" spc="-60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68953" y="1870710"/>
            <a:ext cx="3046730" cy="2181860"/>
            <a:chOff x="1378203" y="1388110"/>
            <a:chExt cx="3046730" cy="2181860"/>
          </a:xfrm>
        </p:grpSpPr>
        <p:sp>
          <p:nvSpPr>
            <p:cNvPr id="25" name="object 25"/>
            <p:cNvSpPr/>
            <p:nvPr/>
          </p:nvSpPr>
          <p:spPr>
            <a:xfrm>
              <a:off x="1378204" y="1790445"/>
              <a:ext cx="2733040" cy="1779905"/>
            </a:xfrm>
            <a:custGeom>
              <a:avLst/>
              <a:gdLst/>
              <a:ahLst/>
              <a:cxnLst/>
              <a:rect l="l" t="t" r="r" b="b"/>
              <a:pathLst>
                <a:path w="2733040" h="1779904">
                  <a:moveTo>
                    <a:pt x="1759585" y="0"/>
                  </a:moveTo>
                  <a:lnTo>
                    <a:pt x="57150" y="0"/>
                  </a:lnTo>
                  <a:lnTo>
                    <a:pt x="57150" y="1652524"/>
                  </a:lnTo>
                  <a:lnTo>
                    <a:pt x="0" y="1652524"/>
                  </a:lnTo>
                  <a:lnTo>
                    <a:pt x="63500" y="1779536"/>
                  </a:lnTo>
                  <a:lnTo>
                    <a:pt x="120650" y="1665224"/>
                  </a:lnTo>
                  <a:lnTo>
                    <a:pt x="127000" y="1652524"/>
                  </a:lnTo>
                  <a:lnTo>
                    <a:pt x="69850" y="1652524"/>
                  </a:lnTo>
                  <a:lnTo>
                    <a:pt x="69850" y="12700"/>
                  </a:lnTo>
                  <a:lnTo>
                    <a:pt x="1759585" y="12700"/>
                  </a:lnTo>
                  <a:lnTo>
                    <a:pt x="1759585" y="6350"/>
                  </a:lnTo>
                  <a:lnTo>
                    <a:pt x="1759585" y="0"/>
                  </a:lnTo>
                  <a:close/>
                </a:path>
                <a:path w="2733040" h="1779904">
                  <a:moveTo>
                    <a:pt x="2188972" y="552450"/>
                  </a:moveTo>
                  <a:lnTo>
                    <a:pt x="2182622" y="539750"/>
                  </a:lnTo>
                  <a:lnTo>
                    <a:pt x="2125472" y="425450"/>
                  </a:lnTo>
                  <a:lnTo>
                    <a:pt x="2061972" y="552450"/>
                  </a:lnTo>
                  <a:lnTo>
                    <a:pt x="2119122" y="552450"/>
                  </a:lnTo>
                  <a:lnTo>
                    <a:pt x="2119122" y="840232"/>
                  </a:lnTo>
                  <a:lnTo>
                    <a:pt x="2131822" y="840232"/>
                  </a:lnTo>
                  <a:lnTo>
                    <a:pt x="2131822" y="552450"/>
                  </a:lnTo>
                  <a:lnTo>
                    <a:pt x="2188972" y="552450"/>
                  </a:lnTo>
                  <a:close/>
                </a:path>
                <a:path w="2733040" h="1779904">
                  <a:moveTo>
                    <a:pt x="2733040" y="552450"/>
                  </a:moveTo>
                  <a:lnTo>
                    <a:pt x="2726690" y="539750"/>
                  </a:lnTo>
                  <a:lnTo>
                    <a:pt x="2669540" y="425450"/>
                  </a:lnTo>
                  <a:lnTo>
                    <a:pt x="2606040" y="552450"/>
                  </a:lnTo>
                  <a:lnTo>
                    <a:pt x="2663190" y="552450"/>
                  </a:lnTo>
                  <a:lnTo>
                    <a:pt x="2663190" y="840232"/>
                  </a:lnTo>
                  <a:lnTo>
                    <a:pt x="2675890" y="840232"/>
                  </a:lnTo>
                  <a:lnTo>
                    <a:pt x="2675890" y="552450"/>
                  </a:lnTo>
                  <a:lnTo>
                    <a:pt x="2733040" y="552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37915" y="1394460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6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29"/>
                  </a:lnTo>
                  <a:lnTo>
                    <a:pt x="1280159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37915" y="1394460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5"/>
                  </a:lnTo>
                  <a:lnTo>
                    <a:pt x="1280159" y="671829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6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482083" y="1906474"/>
            <a:ext cx="97281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5" dirty="0">
                <a:solidFill>
                  <a:srgbClr val="FFFFFF"/>
                </a:solidFill>
                <a:latin typeface="Arial"/>
                <a:cs typeface="Arial"/>
              </a:rPr>
              <a:t>wartend</a:t>
            </a:r>
            <a:r>
              <a:rPr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dirty="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19902" y="2270633"/>
            <a:ext cx="4140200" cy="2416175"/>
            <a:chOff x="3129152" y="1788032"/>
            <a:chExt cx="4140200" cy="2416175"/>
          </a:xfrm>
        </p:grpSpPr>
        <p:sp>
          <p:nvSpPr>
            <p:cNvPr id="30" name="object 30"/>
            <p:cNvSpPr/>
            <p:nvPr/>
          </p:nvSpPr>
          <p:spPr>
            <a:xfrm>
              <a:off x="3138677" y="1797557"/>
              <a:ext cx="1280160" cy="1240790"/>
            </a:xfrm>
            <a:custGeom>
              <a:avLst/>
              <a:gdLst/>
              <a:ahLst/>
              <a:cxnLst/>
              <a:rect l="l" t="t" r="r" b="b"/>
              <a:pathLst>
                <a:path w="1280160" h="1240789">
                  <a:moveTo>
                    <a:pt x="0" y="0"/>
                  </a:moveTo>
                  <a:lnTo>
                    <a:pt x="1280160" y="0"/>
                  </a:lnTo>
                </a:path>
                <a:path w="1280160" h="1240789">
                  <a:moveTo>
                    <a:pt x="0" y="1240536"/>
                  </a:moveTo>
                  <a:lnTo>
                    <a:pt x="1280160" y="1240536"/>
                  </a:lnTo>
                </a:path>
              </a:pathLst>
            </a:custGeom>
            <a:ln w="19050">
              <a:solidFill>
                <a:srgbClr val="A4A4A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49924" y="3653535"/>
              <a:ext cx="1019810" cy="551180"/>
            </a:xfrm>
            <a:custGeom>
              <a:avLst/>
              <a:gdLst/>
              <a:ahLst/>
              <a:cxnLst/>
              <a:rect l="l" t="t" r="r" b="b"/>
              <a:pathLst>
                <a:path w="1019809" h="551179">
                  <a:moveTo>
                    <a:pt x="1019302" y="487172"/>
                  </a:moveTo>
                  <a:lnTo>
                    <a:pt x="1006602" y="480822"/>
                  </a:lnTo>
                  <a:lnTo>
                    <a:pt x="892302" y="423672"/>
                  </a:lnTo>
                  <a:lnTo>
                    <a:pt x="892302" y="480822"/>
                  </a:lnTo>
                  <a:lnTo>
                    <a:pt x="0" y="480822"/>
                  </a:lnTo>
                  <a:lnTo>
                    <a:pt x="0" y="493522"/>
                  </a:lnTo>
                  <a:lnTo>
                    <a:pt x="892302" y="493522"/>
                  </a:lnTo>
                  <a:lnTo>
                    <a:pt x="892302" y="550672"/>
                  </a:lnTo>
                  <a:lnTo>
                    <a:pt x="1006602" y="493522"/>
                  </a:lnTo>
                  <a:lnTo>
                    <a:pt x="1019302" y="487172"/>
                  </a:lnTo>
                  <a:close/>
                </a:path>
                <a:path w="1019809" h="551179">
                  <a:moveTo>
                    <a:pt x="1019302" y="63500"/>
                  </a:moveTo>
                  <a:lnTo>
                    <a:pt x="1006602" y="57150"/>
                  </a:lnTo>
                  <a:lnTo>
                    <a:pt x="892302" y="0"/>
                  </a:lnTo>
                  <a:lnTo>
                    <a:pt x="892302" y="57150"/>
                  </a:lnTo>
                  <a:lnTo>
                    <a:pt x="0" y="57150"/>
                  </a:lnTo>
                  <a:lnTo>
                    <a:pt x="0" y="69850"/>
                  </a:lnTo>
                  <a:lnTo>
                    <a:pt x="892302" y="69850"/>
                  </a:lnTo>
                  <a:lnTo>
                    <a:pt x="892302" y="127000"/>
                  </a:lnTo>
                  <a:lnTo>
                    <a:pt x="1006602" y="69850"/>
                  </a:lnTo>
                  <a:lnTo>
                    <a:pt x="1019302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147312" y="2048764"/>
            <a:ext cx="7931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entnommen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94447" y="4089731"/>
            <a:ext cx="812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5" dirty="0">
                <a:solidFill>
                  <a:srgbClr val="FFFFFF"/>
                </a:solidFill>
                <a:latin typeface="Arial"/>
                <a:cs typeface="Arial"/>
              </a:rPr>
              <a:t>kochend</a:t>
            </a:r>
            <a:endParaRPr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453880" y="4031741"/>
            <a:ext cx="1292860" cy="819150"/>
            <a:chOff x="7263130" y="3549141"/>
            <a:chExt cx="1292860" cy="819150"/>
          </a:xfrm>
        </p:grpSpPr>
        <p:sp>
          <p:nvSpPr>
            <p:cNvPr id="35" name="object 35"/>
            <p:cNvSpPr/>
            <p:nvPr/>
          </p:nvSpPr>
          <p:spPr>
            <a:xfrm>
              <a:off x="7269480" y="3555491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6" y="806196"/>
                  </a:lnTo>
                  <a:lnTo>
                    <a:pt x="1145794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60" y="671830"/>
                  </a:lnTo>
                  <a:lnTo>
                    <a:pt x="1280160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269480" y="3555491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60" y="134366"/>
                  </a:lnTo>
                  <a:lnTo>
                    <a:pt x="1280160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6"/>
                  </a:lnTo>
                  <a:lnTo>
                    <a:pt x="134366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610343" y="4074795"/>
            <a:ext cx="982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0" dirty="0">
                <a:solidFill>
                  <a:srgbClr val="FFFFFF"/>
                </a:solidFill>
                <a:latin typeface="Arial"/>
                <a:cs typeface="Arial"/>
              </a:rPr>
              <a:t>kochend</a:t>
            </a:r>
            <a:r>
              <a:rPr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460992" y="4441190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59">
                <a:moveTo>
                  <a:pt x="0" y="0"/>
                </a:moveTo>
                <a:lnTo>
                  <a:pt x="1280159" y="0"/>
                </a:lnTo>
              </a:path>
            </a:pathLst>
          </a:custGeom>
          <a:ln w="19050">
            <a:solidFill>
              <a:srgbClr val="A4A4A4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595614" y="4606620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590788" y="3979367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495663" y="4454905"/>
            <a:ext cx="1209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zurückgeben</a:t>
            </a:r>
            <a:endParaRPr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329805" y="4470400"/>
            <a:ext cx="941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>
                <a:solidFill>
                  <a:srgbClr val="FFFFFF"/>
                </a:solidFill>
                <a:latin typeface="Arial"/>
                <a:cs typeface="Arial"/>
              </a:rPr>
              <a:t>verstauen</a:t>
            </a:r>
            <a:endParaRPr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608827" y="3456432"/>
            <a:ext cx="3498215" cy="1009650"/>
            <a:chOff x="4418076" y="2973832"/>
            <a:chExt cx="3498215" cy="1009650"/>
          </a:xfrm>
        </p:grpSpPr>
        <p:sp>
          <p:nvSpPr>
            <p:cNvPr id="44" name="object 44"/>
            <p:cNvSpPr/>
            <p:nvPr/>
          </p:nvSpPr>
          <p:spPr>
            <a:xfrm>
              <a:off x="4970526" y="3973830"/>
              <a:ext cx="1280160" cy="0"/>
            </a:xfrm>
            <a:custGeom>
              <a:avLst/>
              <a:gdLst/>
              <a:ahLst/>
              <a:cxnLst/>
              <a:rect l="l" t="t" r="r" b="b"/>
              <a:pathLst>
                <a:path w="1280160">
                  <a:moveTo>
                    <a:pt x="0" y="0"/>
                  </a:moveTo>
                  <a:lnTo>
                    <a:pt x="1280160" y="0"/>
                  </a:lnTo>
                </a:path>
              </a:pathLst>
            </a:custGeom>
            <a:ln w="19050">
              <a:solidFill>
                <a:srgbClr val="A4A4A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18076" y="2973831"/>
              <a:ext cx="3498215" cy="597535"/>
            </a:xfrm>
            <a:custGeom>
              <a:avLst/>
              <a:gdLst/>
              <a:ahLst/>
              <a:cxnLst/>
              <a:rect l="l" t="t" r="r" b="b"/>
              <a:pathLst>
                <a:path w="3498215" h="597535">
                  <a:moveTo>
                    <a:pt x="1198626" y="203454"/>
                  </a:moveTo>
                  <a:lnTo>
                    <a:pt x="127000" y="203454"/>
                  </a:lnTo>
                  <a:lnTo>
                    <a:pt x="127000" y="146304"/>
                  </a:lnTo>
                  <a:lnTo>
                    <a:pt x="0" y="209804"/>
                  </a:lnTo>
                  <a:lnTo>
                    <a:pt x="127000" y="273304"/>
                  </a:lnTo>
                  <a:lnTo>
                    <a:pt x="127000" y="216154"/>
                  </a:lnTo>
                  <a:lnTo>
                    <a:pt x="1185926" y="216154"/>
                  </a:lnTo>
                  <a:lnTo>
                    <a:pt x="1185926" y="596912"/>
                  </a:lnTo>
                  <a:lnTo>
                    <a:pt x="1198626" y="596912"/>
                  </a:lnTo>
                  <a:lnTo>
                    <a:pt x="1198626" y="216154"/>
                  </a:lnTo>
                  <a:lnTo>
                    <a:pt x="1198626" y="209804"/>
                  </a:lnTo>
                  <a:lnTo>
                    <a:pt x="1198626" y="203454"/>
                  </a:lnTo>
                  <a:close/>
                </a:path>
                <a:path w="3498215" h="597535">
                  <a:moveTo>
                    <a:pt x="3498088" y="57150"/>
                  </a:moveTo>
                  <a:lnTo>
                    <a:pt x="127000" y="57150"/>
                  </a:lnTo>
                  <a:lnTo>
                    <a:pt x="127000" y="0"/>
                  </a:lnTo>
                  <a:lnTo>
                    <a:pt x="0" y="63500"/>
                  </a:lnTo>
                  <a:lnTo>
                    <a:pt x="127000" y="127000"/>
                  </a:lnTo>
                  <a:lnTo>
                    <a:pt x="127000" y="69850"/>
                  </a:lnTo>
                  <a:lnTo>
                    <a:pt x="3485388" y="69850"/>
                  </a:lnTo>
                  <a:lnTo>
                    <a:pt x="3485388" y="581533"/>
                  </a:lnTo>
                  <a:lnTo>
                    <a:pt x="3498088" y="581533"/>
                  </a:lnTo>
                  <a:lnTo>
                    <a:pt x="3498088" y="69850"/>
                  </a:lnTo>
                  <a:lnTo>
                    <a:pt x="3498088" y="63500"/>
                  </a:lnTo>
                  <a:lnTo>
                    <a:pt x="3498088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925565" y="3284982"/>
            <a:ext cx="3575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fertig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920104" y="3643121"/>
            <a:ext cx="3575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fertig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773165" y="4182059"/>
            <a:ext cx="6540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878954" y="5827648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015738" y="2286509"/>
            <a:ext cx="1887220" cy="116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algn="ctr">
              <a:spcBef>
                <a:spcPts val="100"/>
              </a:spcBef>
            </a:pP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zurückgeben</a:t>
            </a:r>
            <a:endParaRPr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>
              <a:latin typeface="Arial"/>
              <a:cs typeface="Arial"/>
            </a:endParaRPr>
          </a:p>
          <a:p>
            <a:pPr algn="ctr">
              <a:tabLst>
                <a:tab pos="1233805" algn="l"/>
              </a:tabLst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10" dirty="0">
                <a:latin typeface="Arial"/>
                <a:cs typeface="Arial"/>
              </a:rPr>
              <a:t>Münze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2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  <a:p>
            <a:pPr marL="17780" algn="ctr">
              <a:spcBef>
                <a:spcPts val="1065"/>
              </a:spcBef>
            </a:pP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wartend</a:t>
            </a:r>
            <a:endParaRPr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956429" y="4538091"/>
            <a:ext cx="5306060" cy="1228725"/>
            <a:chOff x="2765679" y="4055490"/>
            <a:chExt cx="5306060" cy="1228725"/>
          </a:xfrm>
        </p:grpSpPr>
        <p:sp>
          <p:nvSpPr>
            <p:cNvPr id="52" name="object 52"/>
            <p:cNvSpPr/>
            <p:nvPr/>
          </p:nvSpPr>
          <p:spPr>
            <a:xfrm>
              <a:off x="7746492" y="4448555"/>
              <a:ext cx="318770" cy="829310"/>
            </a:xfrm>
            <a:custGeom>
              <a:avLst/>
              <a:gdLst/>
              <a:ahLst/>
              <a:cxnLst/>
              <a:rect l="l" t="t" r="r" b="b"/>
              <a:pathLst>
                <a:path w="318770" h="829310">
                  <a:moveTo>
                    <a:pt x="159257" y="0"/>
                  </a:moveTo>
                  <a:lnTo>
                    <a:pt x="0" y="277241"/>
                  </a:lnTo>
                  <a:lnTo>
                    <a:pt x="114426" y="277241"/>
                  </a:lnTo>
                  <a:lnTo>
                    <a:pt x="114426" y="829056"/>
                  </a:lnTo>
                  <a:lnTo>
                    <a:pt x="204088" y="829056"/>
                  </a:lnTo>
                  <a:lnTo>
                    <a:pt x="204088" y="277241"/>
                  </a:lnTo>
                  <a:lnTo>
                    <a:pt x="318515" y="277241"/>
                  </a:lnTo>
                  <a:lnTo>
                    <a:pt x="15925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746492" y="4448555"/>
              <a:ext cx="318770" cy="829310"/>
            </a:xfrm>
            <a:custGeom>
              <a:avLst/>
              <a:gdLst/>
              <a:ahLst/>
              <a:cxnLst/>
              <a:rect l="l" t="t" r="r" b="b"/>
              <a:pathLst>
                <a:path w="318770" h="829310">
                  <a:moveTo>
                    <a:pt x="114426" y="829056"/>
                  </a:moveTo>
                  <a:lnTo>
                    <a:pt x="114426" y="277241"/>
                  </a:lnTo>
                  <a:lnTo>
                    <a:pt x="0" y="277241"/>
                  </a:lnTo>
                  <a:lnTo>
                    <a:pt x="159257" y="0"/>
                  </a:lnTo>
                  <a:lnTo>
                    <a:pt x="318515" y="277241"/>
                  </a:lnTo>
                  <a:lnTo>
                    <a:pt x="204088" y="277241"/>
                  </a:lnTo>
                  <a:lnTo>
                    <a:pt x="204088" y="829056"/>
                  </a:lnTo>
                  <a:lnTo>
                    <a:pt x="114426" y="829056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863717" y="4488687"/>
              <a:ext cx="462915" cy="735965"/>
            </a:xfrm>
            <a:custGeom>
              <a:avLst/>
              <a:gdLst/>
              <a:ahLst/>
              <a:cxnLst/>
              <a:rect l="l" t="t" r="r" b="b"/>
              <a:pathLst>
                <a:path w="462914" h="735964">
                  <a:moveTo>
                    <a:pt x="0" y="0"/>
                  </a:moveTo>
                  <a:lnTo>
                    <a:pt x="4953" y="319913"/>
                  </a:lnTo>
                  <a:lnTo>
                    <a:pt x="103378" y="261366"/>
                  </a:lnTo>
                  <a:lnTo>
                    <a:pt x="385699" y="735457"/>
                  </a:lnTo>
                  <a:lnTo>
                    <a:pt x="462788" y="689610"/>
                  </a:lnTo>
                  <a:lnTo>
                    <a:pt x="180467" y="215392"/>
                  </a:lnTo>
                  <a:lnTo>
                    <a:pt x="278892" y="1568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63717" y="4488687"/>
              <a:ext cx="462915" cy="735965"/>
            </a:xfrm>
            <a:custGeom>
              <a:avLst/>
              <a:gdLst/>
              <a:ahLst/>
              <a:cxnLst/>
              <a:rect l="l" t="t" r="r" b="b"/>
              <a:pathLst>
                <a:path w="462914" h="735964">
                  <a:moveTo>
                    <a:pt x="385699" y="735457"/>
                  </a:moveTo>
                  <a:lnTo>
                    <a:pt x="103378" y="261366"/>
                  </a:lnTo>
                  <a:lnTo>
                    <a:pt x="4953" y="319913"/>
                  </a:lnTo>
                  <a:lnTo>
                    <a:pt x="0" y="0"/>
                  </a:lnTo>
                  <a:lnTo>
                    <a:pt x="278892" y="156844"/>
                  </a:lnTo>
                  <a:lnTo>
                    <a:pt x="180467" y="215392"/>
                  </a:lnTo>
                  <a:lnTo>
                    <a:pt x="462788" y="689610"/>
                  </a:lnTo>
                  <a:lnTo>
                    <a:pt x="385699" y="735457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18026" y="4061840"/>
              <a:ext cx="827405" cy="315595"/>
            </a:xfrm>
            <a:custGeom>
              <a:avLst/>
              <a:gdLst/>
              <a:ahLst/>
              <a:cxnLst/>
              <a:rect l="l" t="t" r="r" b="b"/>
              <a:pathLst>
                <a:path w="827404" h="315595">
                  <a:moveTo>
                    <a:pt x="529844" y="0"/>
                  </a:moveTo>
                  <a:lnTo>
                    <a:pt x="546226" y="113283"/>
                  </a:lnTo>
                  <a:lnTo>
                    <a:pt x="0" y="192277"/>
                  </a:lnTo>
                  <a:lnTo>
                    <a:pt x="12826" y="281050"/>
                  </a:lnTo>
                  <a:lnTo>
                    <a:pt x="559053" y="202056"/>
                  </a:lnTo>
                  <a:lnTo>
                    <a:pt x="575437" y="315467"/>
                  </a:lnTo>
                  <a:lnTo>
                    <a:pt x="827277" y="117982"/>
                  </a:lnTo>
                  <a:lnTo>
                    <a:pt x="52984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18026" y="4061840"/>
              <a:ext cx="827405" cy="315595"/>
            </a:xfrm>
            <a:custGeom>
              <a:avLst/>
              <a:gdLst/>
              <a:ahLst/>
              <a:cxnLst/>
              <a:rect l="l" t="t" r="r" b="b"/>
              <a:pathLst>
                <a:path w="827404" h="315595">
                  <a:moveTo>
                    <a:pt x="0" y="192277"/>
                  </a:moveTo>
                  <a:lnTo>
                    <a:pt x="546226" y="113283"/>
                  </a:lnTo>
                  <a:lnTo>
                    <a:pt x="529844" y="0"/>
                  </a:lnTo>
                  <a:lnTo>
                    <a:pt x="827277" y="117982"/>
                  </a:lnTo>
                  <a:lnTo>
                    <a:pt x="575437" y="315467"/>
                  </a:lnTo>
                  <a:lnTo>
                    <a:pt x="559053" y="202056"/>
                  </a:lnTo>
                  <a:lnTo>
                    <a:pt x="12826" y="281050"/>
                  </a:lnTo>
                  <a:lnTo>
                    <a:pt x="0" y="192277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772029" y="4078096"/>
              <a:ext cx="587375" cy="647700"/>
            </a:xfrm>
            <a:custGeom>
              <a:avLst/>
              <a:gdLst/>
              <a:ahLst/>
              <a:cxnLst/>
              <a:rect l="l" t="t" r="r" b="b"/>
              <a:pathLst>
                <a:path w="587375" h="647700">
                  <a:moveTo>
                    <a:pt x="520319" y="0"/>
                  </a:moveTo>
                  <a:lnTo>
                    <a:pt x="151891" y="410844"/>
                  </a:lnTo>
                  <a:lnTo>
                    <a:pt x="66547" y="334390"/>
                  </a:lnTo>
                  <a:lnTo>
                    <a:pt x="0" y="647319"/>
                  </a:lnTo>
                  <a:lnTo>
                    <a:pt x="303910" y="547242"/>
                  </a:lnTo>
                  <a:lnTo>
                    <a:pt x="218694" y="470661"/>
                  </a:lnTo>
                  <a:lnTo>
                    <a:pt x="587120" y="59943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772029" y="4078096"/>
              <a:ext cx="587375" cy="647700"/>
            </a:xfrm>
            <a:custGeom>
              <a:avLst/>
              <a:gdLst/>
              <a:ahLst/>
              <a:cxnLst/>
              <a:rect l="l" t="t" r="r" b="b"/>
              <a:pathLst>
                <a:path w="587375" h="647700">
                  <a:moveTo>
                    <a:pt x="587120" y="59943"/>
                  </a:moveTo>
                  <a:lnTo>
                    <a:pt x="218694" y="470661"/>
                  </a:lnTo>
                  <a:lnTo>
                    <a:pt x="303910" y="547242"/>
                  </a:lnTo>
                  <a:lnTo>
                    <a:pt x="0" y="647319"/>
                  </a:lnTo>
                  <a:lnTo>
                    <a:pt x="66547" y="334390"/>
                  </a:lnTo>
                  <a:lnTo>
                    <a:pt x="151891" y="410844"/>
                  </a:lnTo>
                  <a:lnTo>
                    <a:pt x="520319" y="0"/>
                  </a:lnTo>
                  <a:lnTo>
                    <a:pt x="587120" y="59943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19907" y="4047240"/>
            <a:ext cx="506730" cy="180340"/>
            <a:chOff x="495300" y="3883152"/>
            <a:chExt cx="506730" cy="180340"/>
          </a:xfrm>
        </p:grpSpPr>
        <p:sp>
          <p:nvSpPr>
            <p:cNvPr id="3" name="object 3"/>
            <p:cNvSpPr/>
            <p:nvPr/>
          </p:nvSpPr>
          <p:spPr>
            <a:xfrm>
              <a:off x="675068" y="3911600"/>
              <a:ext cx="327025" cy="127000"/>
            </a:xfrm>
            <a:custGeom>
              <a:avLst/>
              <a:gdLst/>
              <a:ahLst/>
              <a:cxnLst/>
              <a:rect l="l" t="t" r="r" b="b"/>
              <a:pathLst>
                <a:path w="327025" h="127000">
                  <a:moveTo>
                    <a:pt x="200101" y="0"/>
                  </a:moveTo>
                  <a:lnTo>
                    <a:pt x="199538" y="55118"/>
                  </a:lnTo>
                  <a:lnTo>
                    <a:pt x="199518" y="57147"/>
                  </a:lnTo>
                  <a:lnTo>
                    <a:pt x="212216" y="57276"/>
                  </a:lnTo>
                  <a:lnTo>
                    <a:pt x="212090" y="69976"/>
                  </a:lnTo>
                  <a:lnTo>
                    <a:pt x="199387" y="69976"/>
                  </a:lnTo>
                  <a:lnTo>
                    <a:pt x="198805" y="127000"/>
                  </a:lnTo>
                  <a:lnTo>
                    <a:pt x="315772" y="69976"/>
                  </a:lnTo>
                  <a:lnTo>
                    <a:pt x="212090" y="69976"/>
                  </a:lnTo>
                  <a:lnTo>
                    <a:pt x="199388" y="69847"/>
                  </a:lnTo>
                  <a:lnTo>
                    <a:pt x="316037" y="69847"/>
                  </a:lnTo>
                  <a:lnTo>
                    <a:pt x="326453" y="64769"/>
                  </a:lnTo>
                  <a:lnTo>
                    <a:pt x="200101" y="0"/>
                  </a:lnTo>
                  <a:close/>
                </a:path>
                <a:path w="327025" h="127000">
                  <a:moveTo>
                    <a:pt x="199518" y="57147"/>
                  </a:moveTo>
                  <a:lnTo>
                    <a:pt x="199440" y="64769"/>
                  </a:lnTo>
                  <a:lnTo>
                    <a:pt x="199388" y="69847"/>
                  </a:lnTo>
                  <a:lnTo>
                    <a:pt x="212090" y="69976"/>
                  </a:lnTo>
                  <a:lnTo>
                    <a:pt x="212216" y="57276"/>
                  </a:lnTo>
                  <a:lnTo>
                    <a:pt x="199518" y="57147"/>
                  </a:lnTo>
                  <a:close/>
                </a:path>
                <a:path w="327025" h="127000">
                  <a:moveTo>
                    <a:pt x="126" y="55118"/>
                  </a:moveTo>
                  <a:lnTo>
                    <a:pt x="0" y="67818"/>
                  </a:lnTo>
                  <a:lnTo>
                    <a:pt x="199388" y="69847"/>
                  </a:lnTo>
                  <a:lnTo>
                    <a:pt x="199440" y="64769"/>
                  </a:lnTo>
                  <a:lnTo>
                    <a:pt x="199518" y="57147"/>
                  </a:lnTo>
                  <a:lnTo>
                    <a:pt x="126" y="551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" y="3883152"/>
              <a:ext cx="179831" cy="17983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3902455" y="3195070"/>
            <a:ext cx="1560195" cy="543560"/>
          </a:xfrm>
          <a:custGeom>
            <a:avLst/>
            <a:gdLst/>
            <a:ahLst/>
            <a:cxnLst/>
            <a:rect l="l" t="t" r="r" b="b"/>
            <a:pathLst>
              <a:path w="1560195" h="543560">
                <a:moveTo>
                  <a:pt x="57150" y="416051"/>
                </a:moveTo>
                <a:lnTo>
                  <a:pt x="0" y="416051"/>
                </a:lnTo>
                <a:lnTo>
                  <a:pt x="63500" y="543051"/>
                </a:lnTo>
                <a:lnTo>
                  <a:pt x="120650" y="428751"/>
                </a:lnTo>
                <a:lnTo>
                  <a:pt x="57150" y="428751"/>
                </a:lnTo>
                <a:lnTo>
                  <a:pt x="57150" y="416051"/>
                </a:lnTo>
                <a:close/>
              </a:path>
              <a:path w="1560195" h="543560">
                <a:moveTo>
                  <a:pt x="1559941" y="0"/>
                </a:moveTo>
                <a:lnTo>
                  <a:pt x="57150" y="0"/>
                </a:lnTo>
                <a:lnTo>
                  <a:pt x="57150" y="428751"/>
                </a:lnTo>
                <a:lnTo>
                  <a:pt x="69850" y="428751"/>
                </a:lnTo>
                <a:lnTo>
                  <a:pt x="69850" y="12700"/>
                </a:lnTo>
                <a:lnTo>
                  <a:pt x="63500" y="12700"/>
                </a:lnTo>
                <a:lnTo>
                  <a:pt x="69850" y="6350"/>
                </a:lnTo>
                <a:lnTo>
                  <a:pt x="1559941" y="6350"/>
                </a:lnTo>
                <a:lnTo>
                  <a:pt x="1559941" y="0"/>
                </a:lnTo>
                <a:close/>
              </a:path>
              <a:path w="1560195" h="543560">
                <a:moveTo>
                  <a:pt x="127000" y="416051"/>
                </a:moveTo>
                <a:lnTo>
                  <a:pt x="69850" y="416051"/>
                </a:lnTo>
                <a:lnTo>
                  <a:pt x="69850" y="428751"/>
                </a:lnTo>
                <a:lnTo>
                  <a:pt x="120650" y="428751"/>
                </a:lnTo>
                <a:lnTo>
                  <a:pt x="127000" y="416051"/>
                </a:lnTo>
                <a:close/>
              </a:path>
              <a:path w="1560195" h="543560">
                <a:moveTo>
                  <a:pt x="69850" y="6350"/>
                </a:moveTo>
                <a:lnTo>
                  <a:pt x="63500" y="12700"/>
                </a:lnTo>
                <a:lnTo>
                  <a:pt x="69850" y="12700"/>
                </a:lnTo>
                <a:lnTo>
                  <a:pt x="69850" y="6350"/>
                </a:lnTo>
                <a:close/>
              </a:path>
              <a:path w="1560195" h="543560">
                <a:moveTo>
                  <a:pt x="1559941" y="6350"/>
                </a:moveTo>
                <a:lnTo>
                  <a:pt x="69850" y="6350"/>
                </a:lnTo>
                <a:lnTo>
                  <a:pt x="69850" y="12700"/>
                </a:lnTo>
                <a:lnTo>
                  <a:pt x="1559941" y="12700"/>
                </a:lnTo>
                <a:lnTo>
                  <a:pt x="1559941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08851" y="2379983"/>
            <a:ext cx="127000" cy="415290"/>
          </a:xfrm>
          <a:custGeom>
            <a:avLst/>
            <a:gdLst/>
            <a:ahLst/>
            <a:cxnLst/>
            <a:rect l="l" t="t" r="r" b="b"/>
            <a:pathLst>
              <a:path w="127000" h="415289">
                <a:moveTo>
                  <a:pt x="69850" y="114300"/>
                </a:moveTo>
                <a:lnTo>
                  <a:pt x="57150" y="114300"/>
                </a:lnTo>
                <a:lnTo>
                  <a:pt x="57150" y="414781"/>
                </a:lnTo>
                <a:lnTo>
                  <a:pt x="69850" y="414781"/>
                </a:lnTo>
                <a:lnTo>
                  <a:pt x="69850" y="114300"/>
                </a:lnTo>
                <a:close/>
              </a:path>
              <a:path w="127000" h="415289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15289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64783" y="2379983"/>
            <a:ext cx="127000" cy="415290"/>
          </a:xfrm>
          <a:custGeom>
            <a:avLst/>
            <a:gdLst/>
            <a:ahLst/>
            <a:cxnLst/>
            <a:rect l="l" t="t" r="r" b="b"/>
            <a:pathLst>
              <a:path w="127000" h="415289">
                <a:moveTo>
                  <a:pt x="69850" y="114300"/>
                </a:moveTo>
                <a:lnTo>
                  <a:pt x="57150" y="114300"/>
                </a:lnTo>
                <a:lnTo>
                  <a:pt x="57150" y="414781"/>
                </a:lnTo>
                <a:lnTo>
                  <a:pt x="69850" y="414781"/>
                </a:lnTo>
                <a:lnTo>
                  <a:pt x="69850" y="114300"/>
                </a:lnTo>
                <a:close/>
              </a:path>
              <a:path w="127000" h="415289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15289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02811" y="1954534"/>
            <a:ext cx="1759585" cy="1779905"/>
          </a:xfrm>
          <a:custGeom>
            <a:avLst/>
            <a:gdLst/>
            <a:ahLst/>
            <a:cxnLst/>
            <a:rect l="l" t="t" r="r" b="b"/>
            <a:pathLst>
              <a:path w="1759585" h="1779904">
                <a:moveTo>
                  <a:pt x="57150" y="1652524"/>
                </a:moveTo>
                <a:lnTo>
                  <a:pt x="0" y="1652524"/>
                </a:lnTo>
                <a:lnTo>
                  <a:pt x="63500" y="1779524"/>
                </a:lnTo>
                <a:lnTo>
                  <a:pt x="120650" y="1665224"/>
                </a:lnTo>
                <a:lnTo>
                  <a:pt x="57150" y="1665224"/>
                </a:lnTo>
                <a:lnTo>
                  <a:pt x="57150" y="1652524"/>
                </a:lnTo>
                <a:close/>
              </a:path>
              <a:path w="1759585" h="1779904">
                <a:moveTo>
                  <a:pt x="1759585" y="0"/>
                </a:moveTo>
                <a:lnTo>
                  <a:pt x="57150" y="0"/>
                </a:lnTo>
                <a:lnTo>
                  <a:pt x="57150" y="1665224"/>
                </a:lnTo>
                <a:lnTo>
                  <a:pt x="69850" y="1665224"/>
                </a:lnTo>
                <a:lnTo>
                  <a:pt x="69850" y="12700"/>
                </a:lnTo>
                <a:lnTo>
                  <a:pt x="63500" y="12700"/>
                </a:lnTo>
                <a:lnTo>
                  <a:pt x="69850" y="6350"/>
                </a:lnTo>
                <a:lnTo>
                  <a:pt x="1759585" y="6350"/>
                </a:lnTo>
                <a:lnTo>
                  <a:pt x="1759585" y="0"/>
                </a:lnTo>
                <a:close/>
              </a:path>
              <a:path w="1759585" h="1779904">
                <a:moveTo>
                  <a:pt x="127000" y="1652524"/>
                </a:moveTo>
                <a:lnTo>
                  <a:pt x="69850" y="1652524"/>
                </a:lnTo>
                <a:lnTo>
                  <a:pt x="69850" y="1665224"/>
                </a:lnTo>
                <a:lnTo>
                  <a:pt x="120650" y="1665224"/>
                </a:lnTo>
                <a:lnTo>
                  <a:pt x="127000" y="1652524"/>
                </a:lnTo>
                <a:close/>
              </a:path>
              <a:path w="1759585" h="1779904">
                <a:moveTo>
                  <a:pt x="69850" y="6350"/>
                </a:moveTo>
                <a:lnTo>
                  <a:pt x="63500" y="12700"/>
                </a:lnTo>
                <a:lnTo>
                  <a:pt x="69850" y="12700"/>
                </a:lnTo>
                <a:lnTo>
                  <a:pt x="69850" y="6350"/>
                </a:lnTo>
                <a:close/>
              </a:path>
              <a:path w="1759585" h="1779904">
                <a:moveTo>
                  <a:pt x="1759585" y="6350"/>
                </a:moveTo>
                <a:lnTo>
                  <a:pt x="69850" y="6350"/>
                </a:lnTo>
                <a:lnTo>
                  <a:pt x="69850" y="12700"/>
                </a:lnTo>
                <a:lnTo>
                  <a:pt x="1759585" y="12700"/>
                </a:lnTo>
                <a:lnTo>
                  <a:pt x="1759585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59606" y="4544065"/>
            <a:ext cx="1503045" cy="1506855"/>
          </a:xfrm>
          <a:custGeom>
            <a:avLst/>
            <a:gdLst/>
            <a:ahLst/>
            <a:cxnLst/>
            <a:rect l="l" t="t" r="r" b="b"/>
            <a:pathLst>
              <a:path w="1503045" h="1506854">
                <a:moveTo>
                  <a:pt x="1375790" y="1379537"/>
                </a:moveTo>
                <a:lnTo>
                  <a:pt x="1375790" y="1506537"/>
                </a:lnTo>
                <a:lnTo>
                  <a:pt x="1490090" y="1449387"/>
                </a:lnTo>
                <a:lnTo>
                  <a:pt x="1388490" y="1449387"/>
                </a:lnTo>
                <a:lnTo>
                  <a:pt x="1388490" y="1436687"/>
                </a:lnTo>
                <a:lnTo>
                  <a:pt x="1490090" y="1436687"/>
                </a:lnTo>
                <a:lnTo>
                  <a:pt x="1375790" y="1379537"/>
                </a:lnTo>
                <a:close/>
              </a:path>
              <a:path w="1503045" h="1506854">
                <a:moveTo>
                  <a:pt x="12700" y="0"/>
                </a:moveTo>
                <a:lnTo>
                  <a:pt x="0" y="0"/>
                </a:lnTo>
                <a:lnTo>
                  <a:pt x="0" y="1449387"/>
                </a:lnTo>
                <a:lnTo>
                  <a:pt x="1375790" y="1449387"/>
                </a:lnTo>
                <a:lnTo>
                  <a:pt x="1375790" y="1443037"/>
                </a:lnTo>
                <a:lnTo>
                  <a:pt x="12700" y="1443037"/>
                </a:lnTo>
                <a:lnTo>
                  <a:pt x="6350" y="1436687"/>
                </a:lnTo>
                <a:lnTo>
                  <a:pt x="12700" y="1436687"/>
                </a:lnTo>
                <a:lnTo>
                  <a:pt x="12700" y="0"/>
                </a:lnTo>
                <a:close/>
              </a:path>
              <a:path w="1503045" h="1506854">
                <a:moveTo>
                  <a:pt x="1490090" y="1436687"/>
                </a:moveTo>
                <a:lnTo>
                  <a:pt x="1388490" y="1436687"/>
                </a:lnTo>
                <a:lnTo>
                  <a:pt x="1388490" y="1449387"/>
                </a:lnTo>
                <a:lnTo>
                  <a:pt x="1490090" y="1449387"/>
                </a:lnTo>
                <a:lnTo>
                  <a:pt x="1502790" y="1443037"/>
                </a:lnTo>
                <a:lnTo>
                  <a:pt x="1490090" y="1436687"/>
                </a:lnTo>
                <a:close/>
              </a:path>
              <a:path w="1503045" h="1506854">
                <a:moveTo>
                  <a:pt x="12700" y="1436687"/>
                </a:moveTo>
                <a:lnTo>
                  <a:pt x="6350" y="1436687"/>
                </a:lnTo>
                <a:lnTo>
                  <a:pt x="12700" y="1443037"/>
                </a:lnTo>
                <a:lnTo>
                  <a:pt x="12700" y="1436687"/>
                </a:lnTo>
                <a:close/>
              </a:path>
              <a:path w="1503045" h="1506854">
                <a:moveTo>
                  <a:pt x="1375790" y="1436687"/>
                </a:moveTo>
                <a:lnTo>
                  <a:pt x="12700" y="1436687"/>
                </a:lnTo>
                <a:lnTo>
                  <a:pt x="12700" y="1443037"/>
                </a:lnTo>
                <a:lnTo>
                  <a:pt x="1375790" y="1443037"/>
                </a:lnTo>
                <a:lnTo>
                  <a:pt x="1375790" y="1436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5675883" y="5043683"/>
            <a:ext cx="490220" cy="535305"/>
            <a:chOff x="3351276" y="4879594"/>
            <a:chExt cx="490220" cy="535305"/>
          </a:xfrm>
        </p:grpSpPr>
        <p:sp>
          <p:nvSpPr>
            <p:cNvPr id="11" name="object 11"/>
            <p:cNvSpPr/>
            <p:nvPr/>
          </p:nvSpPr>
          <p:spPr>
            <a:xfrm>
              <a:off x="3351276" y="4885944"/>
              <a:ext cx="427355" cy="0"/>
            </a:xfrm>
            <a:custGeom>
              <a:avLst/>
              <a:gdLst/>
              <a:ahLst/>
              <a:cxnLst/>
              <a:rect l="l" t="t" r="r" b="b"/>
              <a:pathLst>
                <a:path w="427354">
                  <a:moveTo>
                    <a:pt x="0" y="0"/>
                  </a:moveTo>
                  <a:lnTo>
                    <a:pt x="42697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14496" y="4885944"/>
              <a:ext cx="127000" cy="528955"/>
            </a:xfrm>
            <a:custGeom>
              <a:avLst/>
              <a:gdLst/>
              <a:ahLst/>
              <a:cxnLst/>
              <a:rect l="l" t="t" r="r" b="b"/>
              <a:pathLst>
                <a:path w="127000" h="528954">
                  <a:moveTo>
                    <a:pt x="57150" y="401573"/>
                  </a:moveTo>
                  <a:lnTo>
                    <a:pt x="0" y="401573"/>
                  </a:lnTo>
                  <a:lnTo>
                    <a:pt x="63500" y="528573"/>
                  </a:lnTo>
                  <a:lnTo>
                    <a:pt x="120650" y="414273"/>
                  </a:lnTo>
                  <a:lnTo>
                    <a:pt x="57150" y="414273"/>
                  </a:lnTo>
                  <a:lnTo>
                    <a:pt x="57150" y="401573"/>
                  </a:lnTo>
                  <a:close/>
                </a:path>
                <a:path w="127000" h="528954">
                  <a:moveTo>
                    <a:pt x="69850" y="0"/>
                  </a:moveTo>
                  <a:lnTo>
                    <a:pt x="57150" y="0"/>
                  </a:lnTo>
                  <a:lnTo>
                    <a:pt x="57150" y="414273"/>
                  </a:lnTo>
                  <a:lnTo>
                    <a:pt x="69850" y="414273"/>
                  </a:lnTo>
                  <a:lnTo>
                    <a:pt x="69850" y="0"/>
                  </a:lnTo>
                  <a:close/>
                </a:path>
                <a:path w="127000" h="528954">
                  <a:moveTo>
                    <a:pt x="127000" y="401573"/>
                  </a:moveTo>
                  <a:lnTo>
                    <a:pt x="69850" y="401573"/>
                  </a:lnTo>
                  <a:lnTo>
                    <a:pt x="69850" y="414273"/>
                  </a:lnTo>
                  <a:lnTo>
                    <a:pt x="120650" y="414273"/>
                  </a:lnTo>
                  <a:lnTo>
                    <a:pt x="127000" y="4015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4160774" y="4986533"/>
            <a:ext cx="1353185" cy="826135"/>
          </a:xfrm>
          <a:custGeom>
            <a:avLst/>
            <a:gdLst/>
            <a:ahLst/>
            <a:cxnLst/>
            <a:rect l="l" t="t" r="r" b="b"/>
            <a:pathLst>
              <a:path w="1353185" h="826135">
                <a:moveTo>
                  <a:pt x="107950" y="57149"/>
                </a:moveTo>
                <a:lnTo>
                  <a:pt x="0" y="57149"/>
                </a:lnTo>
                <a:lnTo>
                  <a:pt x="0" y="825550"/>
                </a:lnTo>
                <a:lnTo>
                  <a:pt x="1353058" y="825550"/>
                </a:lnTo>
                <a:lnTo>
                  <a:pt x="1353058" y="819200"/>
                </a:lnTo>
                <a:lnTo>
                  <a:pt x="12700" y="819200"/>
                </a:lnTo>
                <a:lnTo>
                  <a:pt x="6350" y="812850"/>
                </a:lnTo>
                <a:lnTo>
                  <a:pt x="12700" y="812850"/>
                </a:lnTo>
                <a:lnTo>
                  <a:pt x="12700" y="69849"/>
                </a:lnTo>
                <a:lnTo>
                  <a:pt x="6350" y="69849"/>
                </a:lnTo>
                <a:lnTo>
                  <a:pt x="12700" y="63499"/>
                </a:lnTo>
                <a:lnTo>
                  <a:pt x="107950" y="63499"/>
                </a:lnTo>
                <a:lnTo>
                  <a:pt x="107950" y="57149"/>
                </a:lnTo>
                <a:close/>
              </a:path>
              <a:path w="1353185" h="826135">
                <a:moveTo>
                  <a:pt x="12700" y="812850"/>
                </a:moveTo>
                <a:lnTo>
                  <a:pt x="6350" y="812850"/>
                </a:lnTo>
                <a:lnTo>
                  <a:pt x="12700" y="819200"/>
                </a:lnTo>
                <a:lnTo>
                  <a:pt x="12700" y="812850"/>
                </a:lnTo>
                <a:close/>
              </a:path>
              <a:path w="1353185" h="826135">
                <a:moveTo>
                  <a:pt x="1353058" y="812850"/>
                </a:moveTo>
                <a:lnTo>
                  <a:pt x="12700" y="812850"/>
                </a:lnTo>
                <a:lnTo>
                  <a:pt x="12700" y="819200"/>
                </a:lnTo>
                <a:lnTo>
                  <a:pt x="1353058" y="819200"/>
                </a:lnTo>
                <a:lnTo>
                  <a:pt x="1353058" y="812850"/>
                </a:lnTo>
                <a:close/>
              </a:path>
              <a:path w="1353185" h="826135">
                <a:moveTo>
                  <a:pt x="107950" y="0"/>
                </a:moveTo>
                <a:lnTo>
                  <a:pt x="107950" y="126999"/>
                </a:lnTo>
                <a:lnTo>
                  <a:pt x="222250" y="69849"/>
                </a:lnTo>
                <a:lnTo>
                  <a:pt x="120650" y="69849"/>
                </a:lnTo>
                <a:lnTo>
                  <a:pt x="120650" y="57149"/>
                </a:lnTo>
                <a:lnTo>
                  <a:pt x="222250" y="57149"/>
                </a:lnTo>
                <a:lnTo>
                  <a:pt x="107950" y="0"/>
                </a:lnTo>
                <a:close/>
              </a:path>
              <a:path w="1353185" h="826135">
                <a:moveTo>
                  <a:pt x="12700" y="63499"/>
                </a:moveTo>
                <a:lnTo>
                  <a:pt x="6350" y="69849"/>
                </a:lnTo>
                <a:lnTo>
                  <a:pt x="12700" y="69849"/>
                </a:lnTo>
                <a:lnTo>
                  <a:pt x="12700" y="63499"/>
                </a:lnTo>
                <a:close/>
              </a:path>
              <a:path w="1353185" h="826135">
                <a:moveTo>
                  <a:pt x="107950" y="63499"/>
                </a:moveTo>
                <a:lnTo>
                  <a:pt x="12700" y="63499"/>
                </a:lnTo>
                <a:lnTo>
                  <a:pt x="12700" y="69849"/>
                </a:lnTo>
                <a:lnTo>
                  <a:pt x="107950" y="69849"/>
                </a:lnTo>
                <a:lnTo>
                  <a:pt x="107950" y="63499"/>
                </a:lnTo>
                <a:close/>
              </a:path>
              <a:path w="1353185" h="826135">
                <a:moveTo>
                  <a:pt x="222250" y="57149"/>
                </a:moveTo>
                <a:lnTo>
                  <a:pt x="120650" y="57149"/>
                </a:lnTo>
                <a:lnTo>
                  <a:pt x="120650" y="69849"/>
                </a:lnTo>
                <a:lnTo>
                  <a:pt x="222250" y="69849"/>
                </a:lnTo>
                <a:lnTo>
                  <a:pt x="234950" y="63499"/>
                </a:lnTo>
                <a:lnTo>
                  <a:pt x="222250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87163" y="3817623"/>
            <a:ext cx="2807335" cy="127000"/>
          </a:xfrm>
          <a:custGeom>
            <a:avLst/>
            <a:gdLst/>
            <a:ahLst/>
            <a:cxnLst/>
            <a:rect l="l" t="t" r="r" b="b"/>
            <a:pathLst>
              <a:path w="2807335" h="127000">
                <a:moveTo>
                  <a:pt x="2680335" y="0"/>
                </a:moveTo>
                <a:lnTo>
                  <a:pt x="2680335" y="127000"/>
                </a:lnTo>
                <a:lnTo>
                  <a:pt x="2794635" y="69850"/>
                </a:lnTo>
                <a:lnTo>
                  <a:pt x="2693035" y="69850"/>
                </a:lnTo>
                <a:lnTo>
                  <a:pt x="2693035" y="57150"/>
                </a:lnTo>
                <a:lnTo>
                  <a:pt x="2794635" y="57150"/>
                </a:lnTo>
                <a:lnTo>
                  <a:pt x="2680335" y="0"/>
                </a:lnTo>
                <a:close/>
              </a:path>
              <a:path w="2807335" h="127000">
                <a:moveTo>
                  <a:pt x="2680335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680335" y="69850"/>
                </a:lnTo>
                <a:lnTo>
                  <a:pt x="2680335" y="57150"/>
                </a:lnTo>
                <a:close/>
              </a:path>
              <a:path w="2807335" h="127000">
                <a:moveTo>
                  <a:pt x="2794635" y="57150"/>
                </a:moveTo>
                <a:lnTo>
                  <a:pt x="2693035" y="57150"/>
                </a:lnTo>
                <a:lnTo>
                  <a:pt x="2693035" y="69850"/>
                </a:lnTo>
                <a:lnTo>
                  <a:pt x="2794635" y="69850"/>
                </a:lnTo>
                <a:lnTo>
                  <a:pt x="2807335" y="63500"/>
                </a:lnTo>
                <a:lnTo>
                  <a:pt x="279463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29453" y="4238248"/>
            <a:ext cx="2969260" cy="1755775"/>
          </a:xfrm>
          <a:custGeom>
            <a:avLst/>
            <a:gdLst/>
            <a:ahLst/>
            <a:cxnLst/>
            <a:rect l="l" t="t" r="r" b="b"/>
            <a:pathLst>
              <a:path w="2969260" h="1755775">
                <a:moveTo>
                  <a:pt x="2264029" y="63500"/>
                </a:moveTo>
                <a:lnTo>
                  <a:pt x="2251329" y="57150"/>
                </a:lnTo>
                <a:lnTo>
                  <a:pt x="2137029" y="0"/>
                </a:lnTo>
                <a:lnTo>
                  <a:pt x="2137029" y="57150"/>
                </a:lnTo>
                <a:lnTo>
                  <a:pt x="0" y="57150"/>
                </a:lnTo>
                <a:lnTo>
                  <a:pt x="0" y="408940"/>
                </a:lnTo>
                <a:lnTo>
                  <a:pt x="12700" y="408940"/>
                </a:lnTo>
                <a:lnTo>
                  <a:pt x="12700" y="69850"/>
                </a:lnTo>
                <a:lnTo>
                  <a:pt x="2137029" y="69850"/>
                </a:lnTo>
                <a:lnTo>
                  <a:pt x="2137029" y="127000"/>
                </a:lnTo>
                <a:lnTo>
                  <a:pt x="2251329" y="69850"/>
                </a:lnTo>
                <a:lnTo>
                  <a:pt x="2264029" y="63500"/>
                </a:lnTo>
                <a:close/>
              </a:path>
              <a:path w="2969260" h="1755775">
                <a:moveTo>
                  <a:pt x="2969006" y="429768"/>
                </a:moveTo>
                <a:lnTo>
                  <a:pt x="2962656" y="417068"/>
                </a:lnTo>
                <a:lnTo>
                  <a:pt x="2905506" y="302768"/>
                </a:lnTo>
                <a:lnTo>
                  <a:pt x="2842006" y="429768"/>
                </a:lnTo>
                <a:lnTo>
                  <a:pt x="2899156" y="429768"/>
                </a:lnTo>
                <a:lnTo>
                  <a:pt x="2899156" y="1742782"/>
                </a:lnTo>
                <a:lnTo>
                  <a:pt x="1713230" y="1742782"/>
                </a:lnTo>
                <a:lnTo>
                  <a:pt x="1713230" y="1755482"/>
                </a:lnTo>
                <a:lnTo>
                  <a:pt x="2911856" y="1755482"/>
                </a:lnTo>
                <a:lnTo>
                  <a:pt x="2911856" y="1749132"/>
                </a:lnTo>
                <a:lnTo>
                  <a:pt x="2911856" y="1742782"/>
                </a:lnTo>
                <a:lnTo>
                  <a:pt x="2911856" y="429768"/>
                </a:lnTo>
                <a:lnTo>
                  <a:pt x="2969006" y="429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574530" y="3817623"/>
            <a:ext cx="1019810" cy="127000"/>
          </a:xfrm>
          <a:custGeom>
            <a:avLst/>
            <a:gdLst/>
            <a:ahLst/>
            <a:cxnLst/>
            <a:rect l="l" t="t" r="r" b="b"/>
            <a:pathLst>
              <a:path w="1019809" h="127000">
                <a:moveTo>
                  <a:pt x="892301" y="0"/>
                </a:moveTo>
                <a:lnTo>
                  <a:pt x="892301" y="127000"/>
                </a:lnTo>
                <a:lnTo>
                  <a:pt x="1006601" y="69850"/>
                </a:lnTo>
                <a:lnTo>
                  <a:pt x="905001" y="69850"/>
                </a:lnTo>
                <a:lnTo>
                  <a:pt x="905001" y="57150"/>
                </a:lnTo>
                <a:lnTo>
                  <a:pt x="1006601" y="57150"/>
                </a:lnTo>
                <a:lnTo>
                  <a:pt x="892301" y="0"/>
                </a:lnTo>
                <a:close/>
              </a:path>
              <a:path w="1019809" h="127000">
                <a:moveTo>
                  <a:pt x="892301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892301" y="69850"/>
                </a:lnTo>
                <a:lnTo>
                  <a:pt x="892301" y="57150"/>
                </a:lnTo>
                <a:close/>
              </a:path>
              <a:path w="1019809" h="127000">
                <a:moveTo>
                  <a:pt x="1006601" y="57150"/>
                </a:moveTo>
                <a:lnTo>
                  <a:pt x="905001" y="57150"/>
                </a:lnTo>
                <a:lnTo>
                  <a:pt x="905001" y="69850"/>
                </a:lnTo>
                <a:lnTo>
                  <a:pt x="1006601" y="69850"/>
                </a:lnTo>
                <a:lnTo>
                  <a:pt x="1019301" y="63500"/>
                </a:lnTo>
                <a:lnTo>
                  <a:pt x="1006601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5456173" y="2791210"/>
            <a:ext cx="4137660" cy="1756410"/>
            <a:chOff x="3131566" y="2627122"/>
            <a:chExt cx="4137660" cy="1756410"/>
          </a:xfrm>
        </p:grpSpPr>
        <p:sp>
          <p:nvSpPr>
            <p:cNvPr id="18" name="object 18"/>
            <p:cNvSpPr/>
            <p:nvPr/>
          </p:nvSpPr>
          <p:spPr>
            <a:xfrm>
              <a:off x="6249923" y="4077208"/>
              <a:ext cx="1019810" cy="127000"/>
            </a:xfrm>
            <a:custGeom>
              <a:avLst/>
              <a:gdLst/>
              <a:ahLst/>
              <a:cxnLst/>
              <a:rect l="l" t="t" r="r" b="b"/>
              <a:pathLst>
                <a:path w="1019809" h="127000">
                  <a:moveTo>
                    <a:pt x="892301" y="0"/>
                  </a:moveTo>
                  <a:lnTo>
                    <a:pt x="892301" y="127000"/>
                  </a:lnTo>
                  <a:lnTo>
                    <a:pt x="1006601" y="69850"/>
                  </a:lnTo>
                  <a:lnTo>
                    <a:pt x="905001" y="69850"/>
                  </a:lnTo>
                  <a:lnTo>
                    <a:pt x="905001" y="57150"/>
                  </a:lnTo>
                  <a:lnTo>
                    <a:pt x="1006601" y="57150"/>
                  </a:lnTo>
                  <a:lnTo>
                    <a:pt x="892301" y="0"/>
                  </a:lnTo>
                  <a:close/>
                </a:path>
                <a:path w="1019809" h="127000">
                  <a:moveTo>
                    <a:pt x="892301" y="57150"/>
                  </a:moveTo>
                  <a:lnTo>
                    <a:pt x="0" y="57150"/>
                  </a:lnTo>
                  <a:lnTo>
                    <a:pt x="0" y="69850"/>
                  </a:lnTo>
                  <a:lnTo>
                    <a:pt x="892301" y="69850"/>
                  </a:lnTo>
                  <a:lnTo>
                    <a:pt x="892301" y="57150"/>
                  </a:lnTo>
                  <a:close/>
                </a:path>
                <a:path w="1019809" h="127000">
                  <a:moveTo>
                    <a:pt x="1006601" y="57150"/>
                  </a:moveTo>
                  <a:lnTo>
                    <a:pt x="905001" y="57150"/>
                  </a:lnTo>
                  <a:lnTo>
                    <a:pt x="905001" y="69850"/>
                  </a:lnTo>
                  <a:lnTo>
                    <a:pt x="1006601" y="69850"/>
                  </a:lnTo>
                  <a:lnTo>
                    <a:pt x="1019301" y="63500"/>
                  </a:lnTo>
                  <a:lnTo>
                    <a:pt x="1006601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69764" y="35707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60" y="671829"/>
                  </a:lnTo>
                  <a:lnTo>
                    <a:pt x="1280160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69764" y="35707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60" y="134365"/>
                  </a:lnTo>
                  <a:lnTo>
                    <a:pt x="1280160" y="671829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5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37916" y="263347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6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29"/>
                  </a:lnTo>
                  <a:lnTo>
                    <a:pt x="1280159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37916" y="263347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5"/>
                  </a:lnTo>
                  <a:lnTo>
                    <a:pt x="1280159" y="671829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6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975231" y="520525"/>
            <a:ext cx="60375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35" dirty="0"/>
              <a:t>Mealy-</a:t>
            </a:r>
            <a:r>
              <a:rPr spc="-145" dirty="0"/>
              <a:t> </a:t>
            </a:r>
            <a:r>
              <a:rPr spc="-235" dirty="0"/>
              <a:t>nach</a:t>
            </a:r>
            <a:r>
              <a:rPr spc="-140" dirty="0"/>
              <a:t> </a:t>
            </a:r>
            <a:r>
              <a:rPr spc="-110" dirty="0"/>
              <a:t>Moore-</a:t>
            </a:r>
            <a:r>
              <a:rPr spc="-65" dirty="0"/>
              <a:t>Automat</a:t>
            </a:r>
          </a:p>
        </p:txBody>
      </p:sp>
      <p:grpSp>
        <p:nvGrpSpPr>
          <p:cNvPr id="24" name="object 24"/>
          <p:cNvGrpSpPr/>
          <p:nvPr/>
        </p:nvGrpSpPr>
        <p:grpSpPr>
          <a:xfrm>
            <a:off x="3319524" y="3731517"/>
            <a:ext cx="1292860" cy="819150"/>
            <a:chOff x="994917" y="3567429"/>
            <a:chExt cx="1292860" cy="819150"/>
          </a:xfrm>
        </p:grpSpPr>
        <p:sp>
          <p:nvSpPr>
            <p:cNvPr id="25" name="object 25"/>
            <p:cNvSpPr/>
            <p:nvPr/>
          </p:nvSpPr>
          <p:spPr>
            <a:xfrm>
              <a:off x="1001267" y="3573779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5" y="0"/>
                  </a:lnTo>
                  <a:lnTo>
                    <a:pt x="91896" y="6853"/>
                  </a:lnTo>
                  <a:lnTo>
                    <a:pt x="55012" y="25936"/>
                  </a:lnTo>
                  <a:lnTo>
                    <a:pt x="25925" y="55028"/>
                  </a:lnTo>
                  <a:lnTo>
                    <a:pt x="6850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0" y="714284"/>
                  </a:lnTo>
                  <a:lnTo>
                    <a:pt x="25925" y="751167"/>
                  </a:lnTo>
                  <a:lnTo>
                    <a:pt x="55012" y="780259"/>
                  </a:lnTo>
                  <a:lnTo>
                    <a:pt x="91896" y="799342"/>
                  </a:lnTo>
                  <a:lnTo>
                    <a:pt x="134365" y="806196"/>
                  </a:lnTo>
                  <a:lnTo>
                    <a:pt x="1145794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01267" y="3573779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6"/>
                  </a:moveTo>
                  <a:lnTo>
                    <a:pt x="6850" y="91911"/>
                  </a:lnTo>
                  <a:lnTo>
                    <a:pt x="25925" y="55028"/>
                  </a:lnTo>
                  <a:lnTo>
                    <a:pt x="55012" y="25936"/>
                  </a:lnTo>
                  <a:lnTo>
                    <a:pt x="91896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6"/>
                  </a:lnTo>
                  <a:lnTo>
                    <a:pt x="134365" y="806196"/>
                  </a:lnTo>
                  <a:lnTo>
                    <a:pt x="91896" y="799342"/>
                  </a:lnTo>
                  <a:lnTo>
                    <a:pt x="55012" y="780259"/>
                  </a:lnTo>
                  <a:lnTo>
                    <a:pt x="25925" y="751167"/>
                  </a:lnTo>
                  <a:lnTo>
                    <a:pt x="6850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907022" y="3863547"/>
            <a:ext cx="6540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456173" y="5577082"/>
            <a:ext cx="1292860" cy="819150"/>
            <a:chOff x="3131566" y="5412994"/>
            <a:chExt cx="1292860" cy="819150"/>
          </a:xfrm>
        </p:grpSpPr>
        <p:sp>
          <p:nvSpPr>
            <p:cNvPr id="29" name="object 29"/>
            <p:cNvSpPr/>
            <p:nvPr/>
          </p:nvSpPr>
          <p:spPr>
            <a:xfrm>
              <a:off x="3137916" y="5419344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99"/>
                  </a:lnTo>
                  <a:lnTo>
                    <a:pt x="25936" y="751183"/>
                  </a:lnTo>
                  <a:lnTo>
                    <a:pt x="55028" y="780270"/>
                  </a:lnTo>
                  <a:lnTo>
                    <a:pt x="91911" y="799345"/>
                  </a:lnTo>
                  <a:lnTo>
                    <a:pt x="134366" y="806195"/>
                  </a:lnTo>
                  <a:lnTo>
                    <a:pt x="1145794" y="806195"/>
                  </a:lnTo>
                  <a:lnTo>
                    <a:pt x="1188248" y="799345"/>
                  </a:lnTo>
                  <a:lnTo>
                    <a:pt x="1225131" y="780270"/>
                  </a:lnTo>
                  <a:lnTo>
                    <a:pt x="1254223" y="751183"/>
                  </a:lnTo>
                  <a:lnTo>
                    <a:pt x="1273306" y="714299"/>
                  </a:lnTo>
                  <a:lnTo>
                    <a:pt x="1280159" y="671829"/>
                  </a:lnTo>
                  <a:lnTo>
                    <a:pt x="1280159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37916" y="5419344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5"/>
                  </a:lnTo>
                  <a:lnTo>
                    <a:pt x="1280159" y="671829"/>
                  </a:lnTo>
                  <a:lnTo>
                    <a:pt x="1273306" y="714299"/>
                  </a:lnTo>
                  <a:lnTo>
                    <a:pt x="1254223" y="751183"/>
                  </a:lnTo>
                  <a:lnTo>
                    <a:pt x="1225131" y="780270"/>
                  </a:lnTo>
                  <a:lnTo>
                    <a:pt x="1188248" y="799345"/>
                  </a:lnTo>
                  <a:lnTo>
                    <a:pt x="1145794" y="806195"/>
                  </a:lnTo>
                  <a:lnTo>
                    <a:pt x="134366" y="806195"/>
                  </a:lnTo>
                  <a:lnTo>
                    <a:pt x="91911" y="799345"/>
                  </a:lnTo>
                  <a:lnTo>
                    <a:pt x="55028" y="780270"/>
                  </a:lnTo>
                  <a:lnTo>
                    <a:pt x="25936" y="751183"/>
                  </a:lnTo>
                  <a:lnTo>
                    <a:pt x="6853" y="714299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485384" y="5603345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82083" y="5983431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59422" y="2966470"/>
            <a:ext cx="3575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fertig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61102" y="2937590"/>
            <a:ext cx="7937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entnommen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12811" y="6016654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28304" y="3771219"/>
            <a:ext cx="812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5" dirty="0">
                <a:solidFill>
                  <a:srgbClr val="FFFFFF"/>
                </a:solidFill>
                <a:latin typeface="Arial"/>
                <a:cs typeface="Arial"/>
              </a:rPr>
              <a:t>kochend</a:t>
            </a:r>
            <a:endParaRPr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285608" y="3713229"/>
            <a:ext cx="3595370" cy="819150"/>
            <a:chOff x="4961001" y="3549141"/>
            <a:chExt cx="3595370" cy="819150"/>
          </a:xfrm>
        </p:grpSpPr>
        <p:sp>
          <p:nvSpPr>
            <p:cNvPr id="38" name="object 38"/>
            <p:cNvSpPr/>
            <p:nvPr/>
          </p:nvSpPr>
          <p:spPr>
            <a:xfrm>
              <a:off x="4970526" y="3973829"/>
              <a:ext cx="1280160" cy="0"/>
            </a:xfrm>
            <a:custGeom>
              <a:avLst/>
              <a:gdLst/>
              <a:ahLst/>
              <a:cxnLst/>
              <a:rect l="l" t="t" r="r" b="b"/>
              <a:pathLst>
                <a:path w="1280160">
                  <a:moveTo>
                    <a:pt x="0" y="0"/>
                  </a:moveTo>
                  <a:lnTo>
                    <a:pt x="1280160" y="0"/>
                  </a:lnTo>
                </a:path>
              </a:pathLst>
            </a:custGeom>
            <a:ln w="19050">
              <a:solidFill>
                <a:srgbClr val="A4A4A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269480" y="3555491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6" y="806196"/>
                  </a:lnTo>
                  <a:lnTo>
                    <a:pt x="1145794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60" y="671830"/>
                  </a:lnTo>
                  <a:lnTo>
                    <a:pt x="1280160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269480" y="3555491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59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60" y="134366"/>
                  </a:lnTo>
                  <a:lnTo>
                    <a:pt x="1280160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6"/>
                  </a:lnTo>
                  <a:lnTo>
                    <a:pt x="134366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9744200" y="3756283"/>
            <a:ext cx="982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0" dirty="0">
                <a:solidFill>
                  <a:srgbClr val="FFFFFF"/>
                </a:solidFill>
                <a:latin typeface="Arial"/>
                <a:cs typeface="Arial"/>
              </a:rPr>
              <a:t>kochend</a:t>
            </a:r>
            <a:r>
              <a:rPr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053961" y="3324609"/>
            <a:ext cx="3575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fertig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463285" y="3202182"/>
            <a:ext cx="5412105" cy="920750"/>
          </a:xfrm>
          <a:custGeom>
            <a:avLst/>
            <a:gdLst/>
            <a:ahLst/>
            <a:cxnLst/>
            <a:rect l="l" t="t" r="r" b="b"/>
            <a:pathLst>
              <a:path w="5412105" h="920750">
                <a:moveTo>
                  <a:pt x="4131564" y="920495"/>
                </a:moveTo>
                <a:lnTo>
                  <a:pt x="5411724" y="920495"/>
                </a:lnTo>
              </a:path>
              <a:path w="5412105" h="920750">
                <a:moveTo>
                  <a:pt x="0" y="0"/>
                </a:moveTo>
                <a:lnTo>
                  <a:pt x="1280160" y="0"/>
                </a:lnTo>
              </a:path>
            </a:pathLst>
          </a:custGeom>
          <a:ln w="19050">
            <a:solidFill>
              <a:srgbClr val="A4A4A4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44"/>
          <p:cNvGrpSpPr/>
          <p:nvPr/>
        </p:nvGrpSpPr>
        <p:grpSpPr>
          <a:xfrm>
            <a:off x="5456173" y="1552198"/>
            <a:ext cx="1292860" cy="819150"/>
            <a:chOff x="3131566" y="1388110"/>
            <a:chExt cx="1292860" cy="819150"/>
          </a:xfrm>
        </p:grpSpPr>
        <p:sp>
          <p:nvSpPr>
            <p:cNvPr id="45" name="object 45"/>
            <p:cNvSpPr/>
            <p:nvPr/>
          </p:nvSpPr>
          <p:spPr>
            <a:xfrm>
              <a:off x="3137916" y="1394460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6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29"/>
                  </a:lnTo>
                  <a:lnTo>
                    <a:pt x="1280159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137916" y="1394460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5"/>
                  </a:lnTo>
                  <a:lnTo>
                    <a:pt x="1280159" y="671829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6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615940" y="1587962"/>
            <a:ext cx="97281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5" dirty="0">
                <a:solidFill>
                  <a:srgbClr val="FFFFFF"/>
                </a:solidFill>
                <a:latin typeface="Arial"/>
                <a:cs typeface="Arial"/>
              </a:rPr>
              <a:t>wartend</a:t>
            </a:r>
            <a:r>
              <a:rPr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463284" y="1961645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>
                <a:moveTo>
                  <a:pt x="0" y="0"/>
                </a:moveTo>
                <a:lnTo>
                  <a:pt x="1280160" y="0"/>
                </a:lnTo>
              </a:path>
            </a:pathLst>
          </a:custGeom>
          <a:ln w="19050">
            <a:solidFill>
              <a:srgbClr val="A4A4A4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780155" y="3776983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5" dirty="0">
                <a:solidFill>
                  <a:srgbClr val="FFFFFF"/>
                </a:solidFill>
                <a:latin typeface="Arial"/>
                <a:cs typeface="Arial"/>
              </a:rPr>
              <a:t>leer</a:t>
            </a:r>
            <a:endParaRPr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326637" y="4140966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>
                <a:moveTo>
                  <a:pt x="0" y="0"/>
                </a:moveTo>
                <a:lnTo>
                  <a:pt x="1280159" y="0"/>
                </a:lnTo>
              </a:path>
            </a:pathLst>
          </a:custGeom>
          <a:ln w="19050">
            <a:solidFill>
              <a:srgbClr val="A4A4A4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4389373" y="4641346"/>
            <a:ext cx="1292860" cy="819150"/>
            <a:chOff x="2064766" y="4477258"/>
            <a:chExt cx="1292860" cy="819150"/>
          </a:xfrm>
        </p:grpSpPr>
        <p:sp>
          <p:nvSpPr>
            <p:cNvPr id="52" name="object 52"/>
            <p:cNvSpPr/>
            <p:nvPr/>
          </p:nvSpPr>
          <p:spPr>
            <a:xfrm>
              <a:off x="2071116" y="4483608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6"/>
                  </a:lnTo>
                  <a:lnTo>
                    <a:pt x="1145794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071116" y="4483608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6"/>
                  </a:lnTo>
                  <a:lnTo>
                    <a:pt x="134365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764659" y="4686811"/>
            <a:ext cx="554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5" dirty="0">
                <a:solidFill>
                  <a:srgbClr val="FFFFFF"/>
                </a:solidFill>
                <a:latin typeface="Arial"/>
                <a:cs typeface="Arial"/>
              </a:rPr>
              <a:t>leer </a:t>
            </a:r>
            <a:r>
              <a:rPr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396484" y="5050793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>
                <a:moveTo>
                  <a:pt x="0" y="0"/>
                </a:moveTo>
                <a:lnTo>
                  <a:pt x="1280160" y="0"/>
                </a:lnTo>
              </a:path>
            </a:pathLst>
          </a:custGeom>
          <a:ln w="19050">
            <a:solidFill>
              <a:srgbClr val="A4A4A4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429632" y="5079368"/>
            <a:ext cx="1209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zurückgeben</a:t>
            </a:r>
            <a:endParaRPr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108826" y="5102609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907023" y="4306701"/>
            <a:ext cx="6534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729471" y="4288108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724645" y="3660855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281169" y="1730252"/>
            <a:ext cx="7931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entnommen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622670" y="5619804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1€</a:t>
            </a:r>
            <a:r>
              <a:rPr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65" dirty="0">
                <a:solidFill>
                  <a:srgbClr val="FFFFFF"/>
                </a:solidFill>
                <a:latin typeface="Arial"/>
                <a:cs typeface="Arial"/>
              </a:rPr>
              <a:t>bezahlt</a:t>
            </a:r>
            <a:endParaRPr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463284" y="5988053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>
                <a:moveTo>
                  <a:pt x="0" y="0"/>
                </a:moveTo>
                <a:lnTo>
                  <a:pt x="1280160" y="0"/>
                </a:lnTo>
              </a:path>
            </a:pathLst>
          </a:custGeom>
          <a:ln w="19050">
            <a:solidFill>
              <a:srgbClr val="A4A4A4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9629520" y="4136393"/>
            <a:ext cx="1209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zurückgeben</a:t>
            </a:r>
            <a:endParaRPr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149595" y="1967997"/>
            <a:ext cx="1887220" cy="116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algn="ctr">
              <a:spcBef>
                <a:spcPts val="100"/>
              </a:spcBef>
            </a:pP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zurückgeben</a:t>
            </a:r>
            <a:endParaRPr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>
              <a:latin typeface="Arial"/>
              <a:cs typeface="Arial"/>
            </a:endParaRPr>
          </a:p>
          <a:p>
            <a:pPr algn="ctr">
              <a:tabLst>
                <a:tab pos="1233805" algn="l"/>
              </a:tabLst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10" dirty="0">
                <a:latin typeface="Arial"/>
                <a:cs typeface="Arial"/>
              </a:rPr>
              <a:t>Münze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2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  <a:p>
            <a:pPr marL="17780" algn="ctr">
              <a:spcBef>
                <a:spcPts val="1065"/>
              </a:spcBef>
            </a:pP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wartend</a:t>
            </a:r>
            <a:endParaRPr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463662" y="4151888"/>
            <a:ext cx="941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>
                <a:solidFill>
                  <a:srgbClr val="FFFFFF"/>
                </a:solidFill>
                <a:latin typeface="Arial"/>
                <a:cs typeface="Arial"/>
              </a:rPr>
              <a:t>verstauen</a:t>
            </a:r>
            <a:endParaRPr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742684" y="3137920"/>
            <a:ext cx="3498215" cy="597535"/>
          </a:xfrm>
          <a:custGeom>
            <a:avLst/>
            <a:gdLst/>
            <a:ahLst/>
            <a:cxnLst/>
            <a:rect l="l" t="t" r="r" b="b"/>
            <a:pathLst>
              <a:path w="3498215" h="597535">
                <a:moveTo>
                  <a:pt x="1198626" y="203454"/>
                </a:moveTo>
                <a:lnTo>
                  <a:pt x="127000" y="203454"/>
                </a:lnTo>
                <a:lnTo>
                  <a:pt x="127000" y="146304"/>
                </a:lnTo>
                <a:lnTo>
                  <a:pt x="0" y="209804"/>
                </a:lnTo>
                <a:lnTo>
                  <a:pt x="127000" y="273304"/>
                </a:lnTo>
                <a:lnTo>
                  <a:pt x="127000" y="216154"/>
                </a:lnTo>
                <a:lnTo>
                  <a:pt x="1185926" y="216154"/>
                </a:lnTo>
                <a:lnTo>
                  <a:pt x="1185926" y="596912"/>
                </a:lnTo>
                <a:lnTo>
                  <a:pt x="1198626" y="596912"/>
                </a:lnTo>
                <a:lnTo>
                  <a:pt x="1198626" y="216154"/>
                </a:lnTo>
                <a:lnTo>
                  <a:pt x="1198626" y="209804"/>
                </a:lnTo>
                <a:lnTo>
                  <a:pt x="1198626" y="203454"/>
                </a:lnTo>
                <a:close/>
              </a:path>
              <a:path w="3498215" h="597535">
                <a:moveTo>
                  <a:pt x="3498088" y="57150"/>
                </a:moveTo>
                <a:lnTo>
                  <a:pt x="127000" y="57150"/>
                </a:lnTo>
                <a:lnTo>
                  <a:pt x="127000" y="0"/>
                </a:lnTo>
                <a:lnTo>
                  <a:pt x="0" y="63500"/>
                </a:lnTo>
                <a:lnTo>
                  <a:pt x="127000" y="127000"/>
                </a:lnTo>
                <a:lnTo>
                  <a:pt x="127000" y="69850"/>
                </a:lnTo>
                <a:lnTo>
                  <a:pt x="3485388" y="69850"/>
                </a:lnTo>
                <a:lnTo>
                  <a:pt x="3485388" y="581533"/>
                </a:lnTo>
                <a:lnTo>
                  <a:pt x="3498088" y="581533"/>
                </a:lnTo>
                <a:lnTo>
                  <a:pt x="3498088" y="69850"/>
                </a:lnTo>
                <a:lnTo>
                  <a:pt x="3498088" y="63500"/>
                </a:lnTo>
                <a:lnTo>
                  <a:pt x="3498088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6598" y="2566162"/>
            <a:ext cx="286257" cy="25831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7410" y="2566162"/>
            <a:ext cx="286257" cy="2583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9873" y="3846322"/>
            <a:ext cx="257810" cy="2862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9873" y="4279139"/>
            <a:ext cx="257810" cy="28625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635250" y="4073652"/>
            <a:ext cx="506730" cy="180340"/>
            <a:chOff x="495300" y="3883152"/>
            <a:chExt cx="506730" cy="180340"/>
          </a:xfrm>
        </p:grpSpPr>
        <p:sp>
          <p:nvSpPr>
            <p:cNvPr id="7" name="object 7"/>
            <p:cNvSpPr/>
            <p:nvPr/>
          </p:nvSpPr>
          <p:spPr>
            <a:xfrm>
              <a:off x="675068" y="3911600"/>
              <a:ext cx="327025" cy="127000"/>
            </a:xfrm>
            <a:custGeom>
              <a:avLst/>
              <a:gdLst/>
              <a:ahLst/>
              <a:cxnLst/>
              <a:rect l="l" t="t" r="r" b="b"/>
              <a:pathLst>
                <a:path w="327025" h="127000">
                  <a:moveTo>
                    <a:pt x="200101" y="0"/>
                  </a:moveTo>
                  <a:lnTo>
                    <a:pt x="199538" y="55118"/>
                  </a:lnTo>
                  <a:lnTo>
                    <a:pt x="199518" y="57147"/>
                  </a:lnTo>
                  <a:lnTo>
                    <a:pt x="212216" y="57276"/>
                  </a:lnTo>
                  <a:lnTo>
                    <a:pt x="212090" y="69976"/>
                  </a:lnTo>
                  <a:lnTo>
                    <a:pt x="199387" y="69976"/>
                  </a:lnTo>
                  <a:lnTo>
                    <a:pt x="198805" y="127000"/>
                  </a:lnTo>
                  <a:lnTo>
                    <a:pt x="315772" y="69976"/>
                  </a:lnTo>
                  <a:lnTo>
                    <a:pt x="212090" y="69976"/>
                  </a:lnTo>
                  <a:lnTo>
                    <a:pt x="199388" y="69847"/>
                  </a:lnTo>
                  <a:lnTo>
                    <a:pt x="316037" y="69847"/>
                  </a:lnTo>
                  <a:lnTo>
                    <a:pt x="326453" y="64769"/>
                  </a:lnTo>
                  <a:lnTo>
                    <a:pt x="200101" y="0"/>
                  </a:lnTo>
                  <a:close/>
                </a:path>
                <a:path w="327025" h="127000">
                  <a:moveTo>
                    <a:pt x="199518" y="57147"/>
                  </a:moveTo>
                  <a:lnTo>
                    <a:pt x="199440" y="64769"/>
                  </a:lnTo>
                  <a:lnTo>
                    <a:pt x="199388" y="69847"/>
                  </a:lnTo>
                  <a:lnTo>
                    <a:pt x="212090" y="69976"/>
                  </a:lnTo>
                  <a:lnTo>
                    <a:pt x="212216" y="57276"/>
                  </a:lnTo>
                  <a:lnTo>
                    <a:pt x="199518" y="57147"/>
                  </a:lnTo>
                  <a:close/>
                </a:path>
                <a:path w="327025" h="127000">
                  <a:moveTo>
                    <a:pt x="126" y="55118"/>
                  </a:moveTo>
                  <a:lnTo>
                    <a:pt x="0" y="67818"/>
                  </a:lnTo>
                  <a:lnTo>
                    <a:pt x="199388" y="69847"/>
                  </a:lnTo>
                  <a:lnTo>
                    <a:pt x="199440" y="64769"/>
                  </a:lnTo>
                  <a:lnTo>
                    <a:pt x="199518" y="57147"/>
                  </a:lnTo>
                  <a:lnTo>
                    <a:pt x="126" y="551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300" y="3883152"/>
              <a:ext cx="179831" cy="179831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3717798" y="3221482"/>
            <a:ext cx="1560195" cy="543560"/>
          </a:xfrm>
          <a:custGeom>
            <a:avLst/>
            <a:gdLst/>
            <a:ahLst/>
            <a:cxnLst/>
            <a:rect l="l" t="t" r="r" b="b"/>
            <a:pathLst>
              <a:path w="1560195" h="543560">
                <a:moveTo>
                  <a:pt x="57150" y="416051"/>
                </a:moveTo>
                <a:lnTo>
                  <a:pt x="0" y="416051"/>
                </a:lnTo>
                <a:lnTo>
                  <a:pt x="63500" y="543051"/>
                </a:lnTo>
                <a:lnTo>
                  <a:pt x="120650" y="428751"/>
                </a:lnTo>
                <a:lnTo>
                  <a:pt x="57150" y="428751"/>
                </a:lnTo>
                <a:lnTo>
                  <a:pt x="57150" y="416051"/>
                </a:lnTo>
                <a:close/>
              </a:path>
              <a:path w="1560195" h="543560">
                <a:moveTo>
                  <a:pt x="1559941" y="0"/>
                </a:moveTo>
                <a:lnTo>
                  <a:pt x="57150" y="0"/>
                </a:lnTo>
                <a:lnTo>
                  <a:pt x="57150" y="428751"/>
                </a:lnTo>
                <a:lnTo>
                  <a:pt x="69850" y="428751"/>
                </a:lnTo>
                <a:lnTo>
                  <a:pt x="69850" y="12700"/>
                </a:lnTo>
                <a:lnTo>
                  <a:pt x="63500" y="12700"/>
                </a:lnTo>
                <a:lnTo>
                  <a:pt x="69850" y="6350"/>
                </a:lnTo>
                <a:lnTo>
                  <a:pt x="1559941" y="6350"/>
                </a:lnTo>
                <a:lnTo>
                  <a:pt x="1559941" y="0"/>
                </a:lnTo>
                <a:close/>
              </a:path>
              <a:path w="1560195" h="543560">
                <a:moveTo>
                  <a:pt x="127000" y="416051"/>
                </a:moveTo>
                <a:lnTo>
                  <a:pt x="69850" y="416051"/>
                </a:lnTo>
                <a:lnTo>
                  <a:pt x="69850" y="428751"/>
                </a:lnTo>
                <a:lnTo>
                  <a:pt x="120650" y="428751"/>
                </a:lnTo>
                <a:lnTo>
                  <a:pt x="127000" y="416051"/>
                </a:lnTo>
                <a:close/>
              </a:path>
              <a:path w="1560195" h="543560">
                <a:moveTo>
                  <a:pt x="69850" y="6350"/>
                </a:moveTo>
                <a:lnTo>
                  <a:pt x="63500" y="12700"/>
                </a:lnTo>
                <a:lnTo>
                  <a:pt x="69850" y="12700"/>
                </a:lnTo>
                <a:lnTo>
                  <a:pt x="69850" y="6350"/>
                </a:lnTo>
                <a:close/>
              </a:path>
              <a:path w="1560195" h="543560">
                <a:moveTo>
                  <a:pt x="1559941" y="6350"/>
                </a:moveTo>
                <a:lnTo>
                  <a:pt x="69850" y="6350"/>
                </a:lnTo>
                <a:lnTo>
                  <a:pt x="69850" y="12700"/>
                </a:lnTo>
                <a:lnTo>
                  <a:pt x="1559941" y="12700"/>
                </a:lnTo>
                <a:lnTo>
                  <a:pt x="1559941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74949" y="4570477"/>
            <a:ext cx="1503045" cy="1029335"/>
          </a:xfrm>
          <a:custGeom>
            <a:avLst/>
            <a:gdLst/>
            <a:ahLst/>
            <a:cxnLst/>
            <a:rect l="l" t="t" r="r" b="b"/>
            <a:pathLst>
              <a:path w="1503045" h="1029335">
                <a:moveTo>
                  <a:pt x="257683" y="141986"/>
                </a:moveTo>
                <a:lnTo>
                  <a:pt x="251409" y="129540"/>
                </a:lnTo>
                <a:lnTo>
                  <a:pt x="193802" y="15240"/>
                </a:lnTo>
                <a:lnTo>
                  <a:pt x="130784" y="142265"/>
                </a:lnTo>
                <a:lnTo>
                  <a:pt x="130683" y="142494"/>
                </a:lnTo>
                <a:lnTo>
                  <a:pt x="187833" y="142265"/>
                </a:lnTo>
                <a:lnTo>
                  <a:pt x="200533" y="142214"/>
                </a:lnTo>
                <a:lnTo>
                  <a:pt x="257683" y="141986"/>
                </a:lnTo>
                <a:close/>
              </a:path>
              <a:path w="1503045" h="1029335">
                <a:moveTo>
                  <a:pt x="1502791" y="965454"/>
                </a:moveTo>
                <a:lnTo>
                  <a:pt x="1490091" y="959104"/>
                </a:lnTo>
                <a:lnTo>
                  <a:pt x="1375791" y="901954"/>
                </a:lnTo>
                <a:lnTo>
                  <a:pt x="1375791" y="959104"/>
                </a:lnTo>
                <a:lnTo>
                  <a:pt x="12700" y="959104"/>
                </a:lnTo>
                <a:lnTo>
                  <a:pt x="12700" y="0"/>
                </a:lnTo>
                <a:lnTo>
                  <a:pt x="0" y="0"/>
                </a:lnTo>
                <a:lnTo>
                  <a:pt x="0" y="971804"/>
                </a:lnTo>
                <a:lnTo>
                  <a:pt x="1375791" y="971804"/>
                </a:lnTo>
                <a:lnTo>
                  <a:pt x="1375791" y="1028954"/>
                </a:lnTo>
                <a:lnTo>
                  <a:pt x="1490091" y="971804"/>
                </a:lnTo>
                <a:lnTo>
                  <a:pt x="1502791" y="965454"/>
                </a:lnTo>
                <a:close/>
              </a:path>
              <a:path w="1503045" h="1029335">
                <a:moveTo>
                  <a:pt x="1502791" y="803148"/>
                </a:moveTo>
                <a:lnTo>
                  <a:pt x="200533" y="803148"/>
                </a:lnTo>
                <a:lnTo>
                  <a:pt x="200533" y="142265"/>
                </a:lnTo>
                <a:lnTo>
                  <a:pt x="187833" y="142265"/>
                </a:lnTo>
                <a:lnTo>
                  <a:pt x="187833" y="815848"/>
                </a:lnTo>
                <a:lnTo>
                  <a:pt x="1502791" y="815848"/>
                </a:lnTo>
                <a:lnTo>
                  <a:pt x="1502791" y="809498"/>
                </a:lnTo>
                <a:lnTo>
                  <a:pt x="1502791" y="803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02506" y="3844035"/>
            <a:ext cx="2807335" cy="127000"/>
          </a:xfrm>
          <a:custGeom>
            <a:avLst/>
            <a:gdLst/>
            <a:ahLst/>
            <a:cxnLst/>
            <a:rect l="l" t="t" r="r" b="b"/>
            <a:pathLst>
              <a:path w="2807335" h="127000">
                <a:moveTo>
                  <a:pt x="2680335" y="0"/>
                </a:moveTo>
                <a:lnTo>
                  <a:pt x="2680335" y="127000"/>
                </a:lnTo>
                <a:lnTo>
                  <a:pt x="2794635" y="69850"/>
                </a:lnTo>
                <a:lnTo>
                  <a:pt x="2693035" y="69850"/>
                </a:lnTo>
                <a:lnTo>
                  <a:pt x="2693035" y="57150"/>
                </a:lnTo>
                <a:lnTo>
                  <a:pt x="2794635" y="57150"/>
                </a:lnTo>
                <a:lnTo>
                  <a:pt x="2680335" y="0"/>
                </a:lnTo>
                <a:close/>
              </a:path>
              <a:path w="2807335" h="127000">
                <a:moveTo>
                  <a:pt x="2680335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2680335" y="69850"/>
                </a:lnTo>
                <a:lnTo>
                  <a:pt x="2680335" y="57150"/>
                </a:lnTo>
                <a:close/>
              </a:path>
              <a:path w="2807335" h="127000">
                <a:moveTo>
                  <a:pt x="2794635" y="57150"/>
                </a:moveTo>
                <a:lnTo>
                  <a:pt x="2693035" y="57150"/>
                </a:lnTo>
                <a:lnTo>
                  <a:pt x="2693035" y="69850"/>
                </a:lnTo>
                <a:lnTo>
                  <a:pt x="2794635" y="69850"/>
                </a:lnTo>
                <a:lnTo>
                  <a:pt x="2807335" y="63500"/>
                </a:lnTo>
                <a:lnTo>
                  <a:pt x="279463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58026" y="4567428"/>
            <a:ext cx="1256030" cy="975360"/>
          </a:xfrm>
          <a:custGeom>
            <a:avLst/>
            <a:gdLst/>
            <a:ahLst/>
            <a:cxnLst/>
            <a:rect l="l" t="t" r="r" b="b"/>
            <a:pathLst>
              <a:path w="1256029" h="975360">
                <a:moveTo>
                  <a:pt x="1185926" y="962406"/>
                </a:moveTo>
                <a:lnTo>
                  <a:pt x="0" y="962406"/>
                </a:lnTo>
                <a:lnTo>
                  <a:pt x="0" y="975106"/>
                </a:lnTo>
                <a:lnTo>
                  <a:pt x="1198626" y="975106"/>
                </a:lnTo>
                <a:lnTo>
                  <a:pt x="1198626" y="968756"/>
                </a:lnTo>
                <a:lnTo>
                  <a:pt x="1185926" y="968756"/>
                </a:lnTo>
                <a:lnTo>
                  <a:pt x="1185926" y="962406"/>
                </a:lnTo>
                <a:close/>
              </a:path>
              <a:path w="1256029" h="975360">
                <a:moveTo>
                  <a:pt x="1198626" y="114300"/>
                </a:moveTo>
                <a:lnTo>
                  <a:pt x="1185926" y="114300"/>
                </a:lnTo>
                <a:lnTo>
                  <a:pt x="1185926" y="968756"/>
                </a:lnTo>
                <a:lnTo>
                  <a:pt x="1192276" y="962406"/>
                </a:lnTo>
                <a:lnTo>
                  <a:pt x="1198626" y="962406"/>
                </a:lnTo>
                <a:lnTo>
                  <a:pt x="1198626" y="114300"/>
                </a:lnTo>
                <a:close/>
              </a:path>
              <a:path w="1256029" h="975360">
                <a:moveTo>
                  <a:pt x="1198626" y="962406"/>
                </a:moveTo>
                <a:lnTo>
                  <a:pt x="1192276" y="962406"/>
                </a:lnTo>
                <a:lnTo>
                  <a:pt x="1185926" y="968756"/>
                </a:lnTo>
                <a:lnTo>
                  <a:pt x="1198626" y="968756"/>
                </a:lnTo>
                <a:lnTo>
                  <a:pt x="1198626" y="962406"/>
                </a:lnTo>
                <a:close/>
              </a:path>
              <a:path w="1256029" h="975360">
                <a:moveTo>
                  <a:pt x="1192276" y="0"/>
                </a:moveTo>
                <a:lnTo>
                  <a:pt x="1128776" y="127000"/>
                </a:lnTo>
                <a:lnTo>
                  <a:pt x="1185926" y="127000"/>
                </a:lnTo>
                <a:lnTo>
                  <a:pt x="1185926" y="114300"/>
                </a:lnTo>
                <a:lnTo>
                  <a:pt x="1249426" y="114300"/>
                </a:lnTo>
                <a:lnTo>
                  <a:pt x="1192276" y="0"/>
                </a:lnTo>
                <a:close/>
              </a:path>
              <a:path w="1256029" h="975360">
                <a:moveTo>
                  <a:pt x="1249426" y="114300"/>
                </a:moveTo>
                <a:lnTo>
                  <a:pt x="1198626" y="114300"/>
                </a:lnTo>
                <a:lnTo>
                  <a:pt x="1198626" y="127000"/>
                </a:lnTo>
                <a:lnTo>
                  <a:pt x="1255776" y="127000"/>
                </a:lnTo>
                <a:lnTo>
                  <a:pt x="1249426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5271517" y="2817622"/>
            <a:ext cx="3124835" cy="1756410"/>
            <a:chOff x="3131566" y="2627122"/>
            <a:chExt cx="3124835" cy="1756410"/>
          </a:xfrm>
        </p:grpSpPr>
        <p:sp>
          <p:nvSpPr>
            <p:cNvPr id="14" name="object 14"/>
            <p:cNvSpPr/>
            <p:nvPr/>
          </p:nvSpPr>
          <p:spPr>
            <a:xfrm>
              <a:off x="4418076" y="2973831"/>
              <a:ext cx="1198880" cy="596900"/>
            </a:xfrm>
            <a:custGeom>
              <a:avLst/>
              <a:gdLst/>
              <a:ahLst/>
              <a:cxnLst/>
              <a:rect l="l" t="t" r="r" b="b"/>
              <a:pathLst>
                <a:path w="1198879" h="596900">
                  <a:moveTo>
                    <a:pt x="1185926" y="63500"/>
                  </a:moveTo>
                  <a:lnTo>
                    <a:pt x="1185926" y="596900"/>
                  </a:lnTo>
                  <a:lnTo>
                    <a:pt x="1198626" y="596900"/>
                  </a:lnTo>
                  <a:lnTo>
                    <a:pt x="1198626" y="69850"/>
                  </a:lnTo>
                  <a:lnTo>
                    <a:pt x="1192276" y="69850"/>
                  </a:lnTo>
                  <a:lnTo>
                    <a:pt x="1185926" y="63500"/>
                  </a:lnTo>
                  <a:close/>
                </a:path>
                <a:path w="1198879" h="5969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69850"/>
                  </a:lnTo>
                  <a:lnTo>
                    <a:pt x="114300" y="69850"/>
                  </a:lnTo>
                  <a:lnTo>
                    <a:pt x="114300" y="57150"/>
                  </a:lnTo>
                  <a:lnTo>
                    <a:pt x="127000" y="57150"/>
                  </a:lnTo>
                  <a:lnTo>
                    <a:pt x="127000" y="0"/>
                  </a:lnTo>
                  <a:close/>
                </a:path>
                <a:path w="1198879" h="596900">
                  <a:moveTo>
                    <a:pt x="127000" y="57150"/>
                  </a:moveTo>
                  <a:lnTo>
                    <a:pt x="114300" y="57150"/>
                  </a:lnTo>
                  <a:lnTo>
                    <a:pt x="114300" y="69850"/>
                  </a:lnTo>
                  <a:lnTo>
                    <a:pt x="127000" y="69850"/>
                  </a:lnTo>
                  <a:lnTo>
                    <a:pt x="127000" y="57150"/>
                  </a:lnTo>
                  <a:close/>
                </a:path>
                <a:path w="1198879" h="596900">
                  <a:moveTo>
                    <a:pt x="1198626" y="57150"/>
                  </a:moveTo>
                  <a:lnTo>
                    <a:pt x="127000" y="57150"/>
                  </a:lnTo>
                  <a:lnTo>
                    <a:pt x="127000" y="69850"/>
                  </a:lnTo>
                  <a:lnTo>
                    <a:pt x="1185926" y="69850"/>
                  </a:lnTo>
                  <a:lnTo>
                    <a:pt x="1185926" y="63500"/>
                  </a:lnTo>
                  <a:lnTo>
                    <a:pt x="1198626" y="63500"/>
                  </a:lnTo>
                  <a:lnTo>
                    <a:pt x="1198626" y="57150"/>
                  </a:lnTo>
                  <a:close/>
                </a:path>
                <a:path w="1198879" h="596900">
                  <a:moveTo>
                    <a:pt x="1198626" y="63500"/>
                  </a:moveTo>
                  <a:lnTo>
                    <a:pt x="1185926" y="63500"/>
                  </a:lnTo>
                  <a:lnTo>
                    <a:pt x="1192276" y="69850"/>
                  </a:lnTo>
                  <a:lnTo>
                    <a:pt x="1198626" y="69850"/>
                  </a:lnTo>
                  <a:lnTo>
                    <a:pt x="1198626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69764" y="35707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5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5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60" y="671829"/>
                  </a:lnTo>
                  <a:lnTo>
                    <a:pt x="1280160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69764" y="35707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60" y="134365"/>
                  </a:lnTo>
                  <a:lnTo>
                    <a:pt x="1280160" y="671829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5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37916" y="263347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5"/>
                  </a:lnTo>
                  <a:lnTo>
                    <a:pt x="0" y="671829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6" y="806195"/>
                  </a:lnTo>
                  <a:lnTo>
                    <a:pt x="1145794" y="806195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29"/>
                  </a:lnTo>
                  <a:lnTo>
                    <a:pt x="1280159" y="134365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37916" y="263347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5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5"/>
                  </a:lnTo>
                  <a:lnTo>
                    <a:pt x="1280159" y="671829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5"/>
                  </a:lnTo>
                  <a:lnTo>
                    <a:pt x="134366" y="806195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29"/>
                  </a:lnTo>
                  <a:lnTo>
                    <a:pt x="0" y="134365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842791" y="671585"/>
            <a:ext cx="630451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90" dirty="0"/>
              <a:t>Vergleich:</a:t>
            </a:r>
            <a:r>
              <a:rPr spc="-145" dirty="0"/>
              <a:t> </a:t>
            </a:r>
            <a:r>
              <a:rPr spc="-135" dirty="0"/>
              <a:t>Mealy-</a:t>
            </a:r>
            <a:r>
              <a:rPr spc="-145" dirty="0"/>
              <a:t>Kaffeeautomat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3134867" y="3757929"/>
            <a:ext cx="1292860" cy="819150"/>
            <a:chOff x="994917" y="3567429"/>
            <a:chExt cx="1292860" cy="819150"/>
          </a:xfrm>
        </p:grpSpPr>
        <p:sp>
          <p:nvSpPr>
            <p:cNvPr id="21" name="object 21"/>
            <p:cNvSpPr/>
            <p:nvPr/>
          </p:nvSpPr>
          <p:spPr>
            <a:xfrm>
              <a:off x="1001267" y="3573779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5" y="0"/>
                  </a:lnTo>
                  <a:lnTo>
                    <a:pt x="91896" y="6853"/>
                  </a:lnTo>
                  <a:lnTo>
                    <a:pt x="55012" y="25936"/>
                  </a:lnTo>
                  <a:lnTo>
                    <a:pt x="25925" y="55028"/>
                  </a:lnTo>
                  <a:lnTo>
                    <a:pt x="6850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0" y="714284"/>
                  </a:lnTo>
                  <a:lnTo>
                    <a:pt x="25925" y="751167"/>
                  </a:lnTo>
                  <a:lnTo>
                    <a:pt x="55012" y="780259"/>
                  </a:lnTo>
                  <a:lnTo>
                    <a:pt x="91896" y="799342"/>
                  </a:lnTo>
                  <a:lnTo>
                    <a:pt x="134365" y="806196"/>
                  </a:lnTo>
                  <a:lnTo>
                    <a:pt x="1145794" y="806196"/>
                  </a:lnTo>
                  <a:lnTo>
                    <a:pt x="1188248" y="799342"/>
                  </a:lnTo>
                  <a:lnTo>
                    <a:pt x="1225131" y="780259"/>
                  </a:lnTo>
                  <a:lnTo>
                    <a:pt x="1254223" y="751167"/>
                  </a:lnTo>
                  <a:lnTo>
                    <a:pt x="1273306" y="714284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1267" y="3573779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6"/>
                  </a:moveTo>
                  <a:lnTo>
                    <a:pt x="6850" y="91911"/>
                  </a:lnTo>
                  <a:lnTo>
                    <a:pt x="25925" y="55028"/>
                  </a:lnTo>
                  <a:lnTo>
                    <a:pt x="55012" y="25936"/>
                  </a:lnTo>
                  <a:lnTo>
                    <a:pt x="91896" y="6853"/>
                  </a:lnTo>
                  <a:lnTo>
                    <a:pt x="134365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84"/>
                  </a:lnTo>
                  <a:lnTo>
                    <a:pt x="1254223" y="751167"/>
                  </a:lnTo>
                  <a:lnTo>
                    <a:pt x="1225131" y="780259"/>
                  </a:lnTo>
                  <a:lnTo>
                    <a:pt x="1188248" y="799342"/>
                  </a:lnTo>
                  <a:lnTo>
                    <a:pt x="1145794" y="806196"/>
                  </a:lnTo>
                  <a:lnTo>
                    <a:pt x="134365" y="806196"/>
                  </a:lnTo>
                  <a:lnTo>
                    <a:pt x="91896" y="799342"/>
                  </a:lnTo>
                  <a:lnTo>
                    <a:pt x="55012" y="780259"/>
                  </a:lnTo>
                  <a:lnTo>
                    <a:pt x="25925" y="751167"/>
                  </a:lnTo>
                  <a:lnTo>
                    <a:pt x="6850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271516" y="5126482"/>
            <a:ext cx="1292860" cy="819150"/>
            <a:chOff x="3131566" y="4935982"/>
            <a:chExt cx="1292860" cy="819150"/>
          </a:xfrm>
        </p:grpSpPr>
        <p:sp>
          <p:nvSpPr>
            <p:cNvPr id="24" name="object 24"/>
            <p:cNvSpPr/>
            <p:nvPr/>
          </p:nvSpPr>
          <p:spPr>
            <a:xfrm>
              <a:off x="3137916" y="49423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11457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99"/>
                  </a:lnTo>
                  <a:lnTo>
                    <a:pt x="25936" y="751183"/>
                  </a:lnTo>
                  <a:lnTo>
                    <a:pt x="55028" y="780270"/>
                  </a:lnTo>
                  <a:lnTo>
                    <a:pt x="91911" y="799345"/>
                  </a:lnTo>
                  <a:lnTo>
                    <a:pt x="134366" y="806196"/>
                  </a:lnTo>
                  <a:lnTo>
                    <a:pt x="1145794" y="806196"/>
                  </a:lnTo>
                  <a:lnTo>
                    <a:pt x="1188248" y="799345"/>
                  </a:lnTo>
                  <a:lnTo>
                    <a:pt x="1225131" y="780270"/>
                  </a:lnTo>
                  <a:lnTo>
                    <a:pt x="1254223" y="751183"/>
                  </a:lnTo>
                  <a:lnTo>
                    <a:pt x="1273306" y="714299"/>
                  </a:lnTo>
                  <a:lnTo>
                    <a:pt x="1280159" y="671830"/>
                  </a:lnTo>
                  <a:lnTo>
                    <a:pt x="1280159" y="134366"/>
                  </a:lnTo>
                  <a:lnTo>
                    <a:pt x="1273306" y="91911"/>
                  </a:lnTo>
                  <a:lnTo>
                    <a:pt x="1254223" y="55028"/>
                  </a:lnTo>
                  <a:lnTo>
                    <a:pt x="1225131" y="25936"/>
                  </a:lnTo>
                  <a:lnTo>
                    <a:pt x="1188248" y="6853"/>
                  </a:lnTo>
                  <a:lnTo>
                    <a:pt x="11457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37916" y="4942332"/>
              <a:ext cx="1280160" cy="806450"/>
            </a:xfrm>
            <a:custGeom>
              <a:avLst/>
              <a:gdLst/>
              <a:ahLst/>
              <a:cxnLst/>
              <a:rect l="l" t="t" r="r" b="b"/>
              <a:pathLst>
                <a:path w="1280160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1145794" y="0"/>
                  </a:lnTo>
                  <a:lnTo>
                    <a:pt x="1188248" y="6853"/>
                  </a:lnTo>
                  <a:lnTo>
                    <a:pt x="1225131" y="25936"/>
                  </a:lnTo>
                  <a:lnTo>
                    <a:pt x="1254223" y="55028"/>
                  </a:lnTo>
                  <a:lnTo>
                    <a:pt x="1273306" y="91911"/>
                  </a:lnTo>
                  <a:lnTo>
                    <a:pt x="1280159" y="134366"/>
                  </a:lnTo>
                  <a:lnTo>
                    <a:pt x="1280159" y="671830"/>
                  </a:lnTo>
                  <a:lnTo>
                    <a:pt x="1273306" y="714299"/>
                  </a:lnTo>
                  <a:lnTo>
                    <a:pt x="1254223" y="751183"/>
                  </a:lnTo>
                  <a:lnTo>
                    <a:pt x="1225131" y="780270"/>
                  </a:lnTo>
                  <a:lnTo>
                    <a:pt x="1188248" y="799345"/>
                  </a:lnTo>
                  <a:lnTo>
                    <a:pt x="1145794" y="806196"/>
                  </a:lnTo>
                  <a:lnTo>
                    <a:pt x="134366" y="806196"/>
                  </a:lnTo>
                  <a:lnTo>
                    <a:pt x="91911" y="799345"/>
                  </a:lnTo>
                  <a:lnTo>
                    <a:pt x="55028" y="780270"/>
                  </a:lnTo>
                  <a:lnTo>
                    <a:pt x="25936" y="751183"/>
                  </a:lnTo>
                  <a:lnTo>
                    <a:pt x="6853" y="714299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198111" y="5535548"/>
            <a:ext cx="652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40" dirty="0">
                <a:latin typeface="Arial"/>
                <a:cs typeface="Arial"/>
              </a:rPr>
              <a:t>Münze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23</a:t>
            </a:fld>
            <a:endParaRPr spc="-25" dirty="0"/>
          </a:p>
        </p:txBody>
      </p:sp>
      <p:sp>
        <p:nvSpPr>
          <p:cNvPr id="27" name="object 27"/>
          <p:cNvSpPr txBox="1"/>
          <p:nvPr/>
        </p:nvSpPr>
        <p:spPr>
          <a:xfrm>
            <a:off x="4076445" y="2964002"/>
            <a:ext cx="7937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entnommen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81216" y="5570346"/>
            <a:ext cx="14077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9" baseline="2314" dirty="0">
                <a:latin typeface="Arial"/>
                <a:cs typeface="Arial"/>
              </a:rPr>
              <a:t>1€-</a:t>
            </a:r>
            <a:r>
              <a:rPr spc="-37" baseline="2314" dirty="0">
                <a:latin typeface="Arial"/>
                <a:cs typeface="Arial"/>
              </a:rPr>
              <a:t>Münze</a:t>
            </a:r>
            <a:r>
              <a:rPr spc="7" baseline="2314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/</a:t>
            </a:r>
            <a:r>
              <a:rPr sz="1200" spc="-11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verstauen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43647" y="3997197"/>
            <a:ext cx="812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5" dirty="0">
                <a:solidFill>
                  <a:srgbClr val="FFFFFF"/>
                </a:solidFill>
                <a:latin typeface="Arial"/>
                <a:cs typeface="Arial"/>
              </a:rPr>
              <a:t>kochend</a:t>
            </a:r>
            <a:endParaRPr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77657" y="4275277"/>
            <a:ext cx="16211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20" dirty="0">
                <a:latin typeface="Arial"/>
                <a:cs typeface="Arial"/>
              </a:rPr>
              <a:t>Münze</a:t>
            </a:r>
            <a:r>
              <a:rPr sz="1200" spc="150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/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69304" y="3219450"/>
            <a:ext cx="3575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fertig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16371" y="3063366"/>
            <a:ext cx="802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0" dirty="0">
                <a:solidFill>
                  <a:srgbClr val="FFFFFF"/>
                </a:solidFill>
                <a:latin typeface="Arial"/>
                <a:cs typeface="Arial"/>
              </a:rPr>
              <a:t>wartend</a:t>
            </a:r>
            <a:endParaRPr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15303" y="2098676"/>
            <a:ext cx="817880" cy="4389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>
              <a:lnSpc>
                <a:spcPct val="120500"/>
              </a:lnSpc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1€-</a:t>
            </a:r>
            <a:r>
              <a:rPr sz="1200" spc="-35" dirty="0">
                <a:latin typeface="Arial"/>
                <a:cs typeface="Arial"/>
              </a:rPr>
              <a:t>Münze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/ </a:t>
            </a:r>
            <a:r>
              <a:rPr sz="1200" spc="-65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95498" y="399719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5" dirty="0">
                <a:solidFill>
                  <a:srgbClr val="FFFFFF"/>
                </a:solidFill>
                <a:latin typeface="Arial"/>
                <a:cs typeface="Arial"/>
              </a:rPr>
              <a:t>leer</a:t>
            </a:r>
            <a:endParaRPr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88052" y="2110359"/>
            <a:ext cx="818515" cy="426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>
              <a:lnSpc>
                <a:spcPct val="117300"/>
              </a:lnSpc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30" dirty="0">
                <a:latin typeface="Arial"/>
                <a:cs typeface="Arial"/>
              </a:rPr>
              <a:t>Münze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pc="104" baseline="2314" dirty="0">
                <a:latin typeface="Arial"/>
                <a:cs typeface="Arial"/>
              </a:rPr>
              <a:t>/ </a:t>
            </a:r>
            <a:r>
              <a:rPr sz="1200" spc="-65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77657" y="3874134"/>
            <a:ext cx="16211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9" baseline="2314" dirty="0">
                <a:latin typeface="Arial"/>
                <a:cs typeface="Arial"/>
              </a:rPr>
              <a:t>2€-</a:t>
            </a:r>
            <a:r>
              <a:rPr spc="-30" baseline="2314" dirty="0">
                <a:latin typeface="Arial"/>
                <a:cs typeface="Arial"/>
              </a:rPr>
              <a:t>Münze</a:t>
            </a:r>
            <a:r>
              <a:rPr spc="232" baseline="2314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/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38013" y="5370321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1€</a:t>
            </a:r>
            <a:r>
              <a:rPr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65" dirty="0">
                <a:solidFill>
                  <a:srgbClr val="FFFFFF"/>
                </a:solidFill>
                <a:latin typeface="Arial"/>
                <a:cs typeface="Arial"/>
              </a:rPr>
              <a:t>bezahlt</a:t>
            </a:r>
            <a:endParaRPr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088128" y="3892372"/>
            <a:ext cx="14077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0" dirty="0">
                <a:latin typeface="Arial"/>
                <a:cs typeface="Arial"/>
              </a:rPr>
              <a:t>2€-</a:t>
            </a:r>
            <a:r>
              <a:rPr sz="1200" spc="-30" dirty="0">
                <a:latin typeface="Arial"/>
                <a:cs typeface="Arial"/>
              </a:rPr>
              <a:t>Münze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120" dirty="0">
                <a:latin typeface="Arial"/>
                <a:cs typeface="Arial"/>
              </a:rPr>
              <a:t>/</a:t>
            </a:r>
            <a:r>
              <a:rPr sz="1200" spc="-11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verstauen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00525" y="4920549"/>
            <a:ext cx="816610" cy="41592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3970">
              <a:spcBef>
                <a:spcPts val="195"/>
              </a:spcBef>
            </a:pPr>
            <a:r>
              <a:rPr sz="1200" spc="-60" dirty="0">
                <a:latin typeface="Arial"/>
                <a:cs typeface="Arial"/>
              </a:rPr>
              <a:t>2€-Münze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/</a:t>
            </a:r>
            <a:endParaRPr sz="1200">
              <a:latin typeface="Arial"/>
              <a:cs typeface="Arial"/>
            </a:endParaRPr>
          </a:p>
          <a:p>
            <a:pPr marL="12700">
              <a:spcBef>
                <a:spcPts val="95"/>
              </a:spcBef>
            </a:pPr>
            <a:r>
              <a:rPr sz="1200" spc="-60" dirty="0">
                <a:latin typeface="Arial"/>
                <a:cs typeface="Arial"/>
              </a:rPr>
              <a:t>zurückgeben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256142" y="2105102"/>
            <a:ext cx="15227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60" dirty="0">
                <a:latin typeface="Arial"/>
                <a:cs typeface="Arial"/>
              </a:rPr>
              <a:t>Kompakter!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8650924" cy="984885"/>
          </a:xfrm>
        </p:spPr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Automaten</a:t>
            </a:r>
            <a:r>
              <a:rPr lang="en-US" dirty="0">
                <a:cs typeface="Arial" charset="0"/>
              </a:rPr>
              <a:t>: </a:t>
            </a:r>
            <a:r>
              <a:rPr lang="en-US" dirty="0" err="1">
                <a:cs typeface="Arial" charset="0"/>
              </a:rPr>
              <a:t>Vor</a:t>
            </a:r>
            <a:r>
              <a:rPr lang="en-US" dirty="0">
                <a:cs typeface="Arial" charset="0"/>
              </a:rPr>
              <a:t>- und </a:t>
            </a:r>
            <a:r>
              <a:rPr lang="en-US" dirty="0" err="1">
                <a:cs typeface="Arial" charset="0"/>
              </a:rPr>
              <a:t>Nachteile</a:t>
            </a:r>
            <a:endParaRPr lang="el-GR" sz="4000" dirty="0">
              <a:cs typeface="Arial" charset="0"/>
            </a:endParaRP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178043" y="2652328"/>
            <a:ext cx="5323205" cy="1723549"/>
          </a:xfrm>
        </p:spPr>
        <p:txBody>
          <a:bodyPr/>
          <a:lstStyle/>
          <a:p>
            <a:pPr algn="ctr"/>
            <a:r>
              <a:rPr lang="de-DE" sz="2800" b="1" dirty="0">
                <a:solidFill>
                  <a:srgbClr val="C00000"/>
                </a:solidFill>
              </a:rPr>
              <a:t>Diskutieren Sie Vor- und Nachteile von Endlichen Automaten für die Modellierung eingebetteter Systeme!</a:t>
            </a:r>
          </a:p>
        </p:txBody>
      </p:sp>
      <p:sp>
        <p:nvSpPr>
          <p:cNvPr id="19459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946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24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1368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7935816" cy="984885"/>
          </a:xfrm>
        </p:spPr>
        <p:txBody>
          <a:bodyPr/>
          <a:lstStyle/>
          <a:p>
            <a:r>
              <a:rPr lang="de-DE" dirty="0"/>
              <a:t>Automaten: Vor- und Nachteile</a:t>
            </a:r>
            <a:endParaRPr lang="de-DE" sz="4800" dirty="0"/>
          </a:p>
        </p:txBody>
      </p:sp>
      <p:sp>
        <p:nvSpPr>
          <p:cNvPr id="241667" name="Rectangle 3"/>
          <p:cNvSpPr>
            <a:spLocks noGrp="1" noChangeArrowheads="1"/>
          </p:cNvSpPr>
          <p:nvPr>
            <p:ph idx="1"/>
          </p:nvPr>
        </p:nvSpPr>
        <p:spPr>
          <a:xfrm>
            <a:off x="352781" y="2558542"/>
            <a:ext cx="11382019" cy="3200876"/>
          </a:xfrm>
        </p:spPr>
        <p:txBody>
          <a:bodyPr/>
          <a:lstStyle/>
          <a:p>
            <a:pPr marL="800100" lvl="1" indent="-34290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Formale</a:t>
            </a:r>
            <a:r>
              <a:rPr lang="de-DE" sz="2400" dirty="0"/>
              <a:t> Semantik </a:t>
            </a:r>
            <a:r>
              <a:rPr lang="de-DE" sz="2800" dirty="0"/>
              <a:t>(</a:t>
            </a:r>
            <a:r>
              <a:rPr lang="de-DE" sz="2400" dirty="0"/>
              <a:t>Ermöglicht </a:t>
            </a:r>
            <a:r>
              <a:rPr lang="de-DE" sz="2400" dirty="0">
                <a:solidFill>
                  <a:srgbClr val="0000FF"/>
                </a:solidFill>
              </a:rPr>
              <a:t>Verifikation</a:t>
            </a:r>
            <a:r>
              <a:rPr lang="de-DE" sz="2400" b="1" dirty="0"/>
              <a:t>)</a:t>
            </a:r>
          </a:p>
          <a:p>
            <a:pPr marL="800100" lvl="1" indent="-34290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ausführbar</a:t>
            </a:r>
          </a:p>
          <a:p>
            <a:pPr marL="800100" lvl="1" indent="-34290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Grafische</a:t>
            </a:r>
            <a:r>
              <a:rPr lang="de-DE" sz="2400" b="1" dirty="0"/>
              <a:t> </a:t>
            </a:r>
            <a:r>
              <a:rPr lang="de-DE" sz="2400" dirty="0"/>
              <a:t>Darstellung, sehr </a:t>
            </a:r>
            <a:r>
              <a:rPr lang="de-DE" sz="2400" dirty="0">
                <a:solidFill>
                  <a:srgbClr val="0000FF"/>
                </a:solidFill>
              </a:rPr>
              <a:t>intuitiv</a:t>
            </a:r>
          </a:p>
          <a:p>
            <a:pPr marL="800100" lvl="1" indent="-34290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Geeignet</a:t>
            </a:r>
            <a:r>
              <a:rPr lang="de-DE" sz="2400" b="1" dirty="0"/>
              <a:t> </a:t>
            </a:r>
            <a:r>
              <a:rPr lang="de-DE" sz="2400" dirty="0"/>
              <a:t>für </a:t>
            </a:r>
            <a:r>
              <a:rPr lang="de-DE" sz="2400" dirty="0">
                <a:solidFill>
                  <a:srgbClr val="0000FF"/>
                </a:solidFill>
              </a:rPr>
              <a:t>Hardware und Software</a:t>
            </a:r>
          </a:p>
          <a:p>
            <a:pPr lvl="1"/>
            <a:endParaRPr lang="de-DE" sz="2400" dirty="0"/>
          </a:p>
          <a:p>
            <a:pPr marL="800100" lvl="1" indent="-342900">
              <a:buClr>
                <a:srgbClr val="FF0000"/>
              </a:buClr>
              <a:buFont typeface="Wingdings" pitchFamily="2" charset="2"/>
              <a:buChar char="§"/>
            </a:pPr>
            <a:r>
              <a:rPr lang="de-DE" sz="2400" dirty="0"/>
              <a:t>Nur </a:t>
            </a:r>
            <a:r>
              <a:rPr lang="de-DE" sz="2400" dirty="0">
                <a:solidFill>
                  <a:srgbClr val="FF0000"/>
                </a:solidFill>
              </a:rPr>
              <a:t>atomare Zustände </a:t>
            </a:r>
            <a:r>
              <a:rPr lang="de-DE" sz="2800" dirty="0"/>
              <a:t>(</a:t>
            </a:r>
            <a:r>
              <a:rPr lang="de-DE" sz="2400" dirty="0"/>
              <a:t>hierarchischer Entwurf mit Verfeinerungen nicht möglich)</a:t>
            </a:r>
          </a:p>
          <a:p>
            <a:pPr marL="800100" lvl="1" indent="-342900">
              <a:buClr>
                <a:srgbClr val="FF0000"/>
              </a:buClr>
              <a:buFont typeface="Wingdings" pitchFamily="2" charset="2"/>
              <a:buChar char="§"/>
            </a:pPr>
            <a:r>
              <a:rPr lang="de-DE" sz="2400" b="1" dirty="0">
                <a:solidFill>
                  <a:srgbClr val="FF0000"/>
                </a:solidFill>
              </a:rPr>
              <a:t>Zustandsexplosion</a:t>
            </a:r>
            <a:r>
              <a:rPr lang="de-DE" sz="2400" b="1" dirty="0"/>
              <a:t> </a:t>
            </a:r>
            <a:r>
              <a:rPr lang="de-DE" sz="2400" dirty="0"/>
              <a:t>bei </a:t>
            </a:r>
            <a:r>
              <a:rPr lang="de-DE" sz="2400" dirty="0">
                <a:solidFill>
                  <a:srgbClr val="FF0000"/>
                </a:solidFill>
              </a:rPr>
              <a:t>Nebenläufigkeit</a:t>
            </a:r>
          </a:p>
          <a:p>
            <a:endParaRPr lang="de-DE" sz="280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25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40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49988-7EE5-08C3-C0B1-99A84AC4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3B63A-D2A0-B3DC-5251-CFF864EF7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7517" y="3429000"/>
            <a:ext cx="5323205" cy="430887"/>
          </a:xfrm>
        </p:spPr>
        <p:txBody>
          <a:bodyPr/>
          <a:lstStyle/>
          <a:p>
            <a:r>
              <a:rPr lang="en-GB" sz="2800" dirty="0">
                <a:hlinkClick r:id="rId2"/>
              </a:rPr>
              <a:t>https://www.jflap.org</a:t>
            </a:r>
            <a:r>
              <a:rPr lang="en-GB" sz="2800" dirty="0"/>
              <a:t> </a:t>
            </a:r>
            <a:endParaRPr lang="en-D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95C0E-EE8E-31C8-B7C2-C1A32F28D7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26</a:t>
            </a:fld>
            <a:endParaRPr lang="en-DE" spc="-2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BE9509-27B1-2385-B7D0-FE2812D4A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583" y="2908300"/>
            <a:ext cx="26416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43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Zustandsexplosion</a:t>
            </a:r>
            <a:endParaRPr lang="de-DE" sz="4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2781" y="2558543"/>
            <a:ext cx="11382019" cy="2462213"/>
          </a:xfrm>
        </p:spPr>
        <p:txBody>
          <a:bodyPr/>
          <a:lstStyle/>
          <a:p>
            <a:pPr>
              <a:buNone/>
            </a:pPr>
            <a:endParaRPr lang="de-DE" sz="2000" dirty="0"/>
          </a:p>
          <a:p>
            <a:pPr>
              <a:buNone/>
            </a:pPr>
            <a:r>
              <a:rPr lang="de-DE" sz="3200" dirty="0"/>
              <a:t>Endliche Automaten haben </a:t>
            </a:r>
            <a:r>
              <a:rPr lang="de-DE" sz="3200" dirty="0">
                <a:solidFill>
                  <a:srgbClr val="FF0000"/>
                </a:solidFill>
              </a:rPr>
              <a:t>keine</a:t>
            </a:r>
            <a:r>
              <a:rPr lang="de-DE" sz="3200" dirty="0"/>
              <a:t> Möglichkeit </a:t>
            </a:r>
            <a:r>
              <a:rPr lang="de-DE" sz="3200" dirty="0">
                <a:solidFill>
                  <a:srgbClr val="FF0000"/>
                </a:solidFill>
              </a:rPr>
              <a:t>Nebenläufigkeit</a:t>
            </a:r>
            <a:r>
              <a:rPr lang="de-DE" sz="3200" dirty="0"/>
              <a:t> zu modellieren</a:t>
            </a:r>
          </a:p>
          <a:p>
            <a:pPr lvl="1">
              <a:buFont typeface="Wingdings" pitchFamily="2" charset="2"/>
              <a:buChar char="Ø"/>
            </a:pPr>
            <a:r>
              <a:rPr lang="de-DE" sz="2800" dirty="0">
                <a:solidFill>
                  <a:srgbClr val="FF0000"/>
                </a:solidFill>
              </a:rPr>
              <a:t>Ausmultiplizieren</a:t>
            </a:r>
            <a:r>
              <a:rPr lang="de-DE" sz="2800" dirty="0"/>
              <a:t> des gesamten möglichen Verhaltens nötig</a:t>
            </a:r>
          </a:p>
          <a:p>
            <a:pPr lvl="1">
              <a:buFont typeface="Wingdings" pitchFamily="2" charset="2"/>
              <a:buChar char="Ø"/>
            </a:pPr>
            <a:r>
              <a:rPr lang="de-DE" sz="2800" dirty="0">
                <a:solidFill>
                  <a:srgbClr val="FF0000"/>
                </a:solidFill>
              </a:rPr>
              <a:t>Exponentieller</a:t>
            </a:r>
            <a:r>
              <a:rPr lang="de-DE" sz="2800" dirty="0"/>
              <a:t> Anstieg der Anzahl an Zuständen</a:t>
            </a:r>
          </a:p>
          <a:p>
            <a:pPr>
              <a:buNone/>
            </a:pPr>
            <a:endParaRPr lang="de-DE" sz="200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27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93182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2"/>
          <p:cNvSpPr txBox="1">
            <a:spLocks/>
          </p:cNvSpPr>
          <p:nvPr/>
        </p:nvSpPr>
        <p:spPr>
          <a:xfrm>
            <a:off x="518743" y="1447805"/>
            <a:ext cx="11472025" cy="44481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65113" indent="-265113" algn="l" defTabSz="385341" rtl="0" eaLnBrk="1" latinLnBrk="0" hangingPunct="1">
              <a:lnSpc>
                <a:spcPct val="100000"/>
              </a:lnSpc>
              <a:spcBef>
                <a:spcPts val="295"/>
              </a:spcBef>
              <a:spcAft>
                <a:spcPts val="400"/>
              </a:spcAft>
              <a:buClr>
                <a:schemeClr val="accent5"/>
              </a:buClr>
              <a:buFont typeface="Wingdings" panose="05000000000000000000" pitchFamily="2" charset="2"/>
              <a:buChar char="§"/>
              <a:defRPr lang="de-DE" sz="2400" b="0" i="0" u="none" strike="noStrike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354013" indent="-277813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200"/>
              </a:spcAft>
              <a:buClr>
                <a:schemeClr val="accent5"/>
              </a:buClr>
              <a:buFont typeface="Wingdings" panose="05000000000000000000" pitchFamily="2" charset="2"/>
              <a:buChar char="§"/>
              <a:defRPr sz="2000" b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2pPr>
            <a:lvl3pPr marL="452438" indent="-301625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Clr>
                <a:schemeClr val="accent5"/>
              </a:buClr>
              <a:buFont typeface="Wingdings" panose="05000000000000000000" pitchFamily="2" charset="2"/>
              <a:buChar char="§"/>
              <a:defRPr sz="1600" b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3pPr>
            <a:lvl4pPr marL="288255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None/>
            </a:pPr>
            <a:endParaRPr lang="de-DE" dirty="0">
              <a:solidFill>
                <a:srgbClr val="FF0000"/>
              </a:solidFill>
            </a:endParaRPr>
          </a:p>
          <a:p>
            <a:pPr fontAlgn="auto">
              <a:buFont typeface="Wingdings" panose="05000000000000000000" pitchFamily="2" charset="2"/>
              <a:buNone/>
            </a:pPr>
            <a:endParaRPr lang="de-DE" dirty="0">
              <a:solidFill>
                <a:srgbClr val="FF0000"/>
              </a:solidFill>
            </a:endParaRPr>
          </a:p>
          <a:p>
            <a:pPr fontAlgn="auto">
              <a:buFont typeface="Wingdings" panose="05000000000000000000" pitchFamily="2" charset="2"/>
              <a:buNone/>
            </a:pPr>
            <a:endParaRPr lang="de-DE" dirty="0">
              <a:solidFill>
                <a:srgbClr val="FF0000"/>
              </a:solidFill>
            </a:endParaRPr>
          </a:p>
          <a:p>
            <a:pPr fontAlgn="auto">
              <a:buFont typeface="Wingdings" panose="05000000000000000000" pitchFamily="2" charset="2"/>
              <a:buNone/>
            </a:pPr>
            <a:endParaRPr lang="de-DE" dirty="0">
              <a:solidFill>
                <a:srgbClr val="FF0000"/>
              </a:solidFill>
            </a:endParaRPr>
          </a:p>
          <a:p>
            <a:pPr fontAlgn="auto">
              <a:buFont typeface="Wingdings" panose="05000000000000000000" pitchFamily="2" charset="2"/>
              <a:buNone/>
            </a:pPr>
            <a:endParaRPr lang="de-DE" dirty="0">
              <a:solidFill>
                <a:srgbClr val="FF0000"/>
              </a:solidFill>
            </a:endParaRPr>
          </a:p>
          <a:p>
            <a:pPr fontAlgn="auto">
              <a:buFont typeface="Wingdings" panose="05000000000000000000" pitchFamily="2" charset="2"/>
              <a:buNone/>
            </a:pPr>
            <a:endParaRPr lang="de-DE" i="1" dirty="0"/>
          </a:p>
          <a:p>
            <a:pPr fontAlgn="auto">
              <a:buFont typeface="Wingdings" panose="05000000000000000000" pitchFamily="2" charset="2"/>
              <a:buNone/>
            </a:pPr>
            <a:endParaRPr lang="de-DE" sz="2800" dirty="0"/>
          </a:p>
          <a:p>
            <a:pPr algn="ctr" fontAlgn="auto">
              <a:buFont typeface="Wingdings" panose="05000000000000000000" pitchFamily="2" charset="2"/>
              <a:buNone/>
            </a:pPr>
            <a:r>
              <a:rPr lang="de-DE" sz="2800" b="1" dirty="0">
                <a:solidFill>
                  <a:srgbClr val="FF0000"/>
                </a:solidFill>
              </a:rPr>
              <a:t>Wie viele Zustände hat ein Automat, der auf </a:t>
            </a:r>
            <a:br>
              <a:rPr lang="de-DE" sz="2800" b="1" dirty="0">
                <a:solidFill>
                  <a:srgbClr val="FF0000"/>
                </a:solidFill>
              </a:rPr>
            </a:br>
            <a:r>
              <a:rPr lang="de-DE" sz="2800" b="1" dirty="0">
                <a:solidFill>
                  <a:srgbClr val="FF0000"/>
                </a:solidFill>
              </a:rPr>
              <a:t>3 (4, 5, 100) Eingabesignale wartet?</a:t>
            </a:r>
            <a:endParaRPr lang="de-DE" b="1" dirty="0">
              <a:solidFill>
                <a:srgbClr val="FF0000"/>
              </a:solidFill>
            </a:endParaRPr>
          </a:p>
          <a:p>
            <a:pPr fontAlgn="auto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Zustandsexplosion</a:t>
            </a:r>
            <a:endParaRPr lang="de-DE" sz="4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13932" y="1628077"/>
            <a:ext cx="11776836" cy="3000821"/>
          </a:xfrm>
        </p:spPr>
        <p:txBody>
          <a:bodyPr/>
          <a:lstStyle/>
          <a:p>
            <a:pPr>
              <a:buNone/>
            </a:pPr>
            <a:r>
              <a:rPr lang="de-DE" sz="2800" b="1" dirty="0"/>
              <a:t>Beispiel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de-DE" sz="2800" dirty="0"/>
              <a:t>Endlicher Automat wartet</a:t>
            </a:r>
            <a:r>
              <a:rPr lang="de-DE" sz="2800" dirty="0">
                <a:solidFill>
                  <a:schemeClr val="bg2"/>
                </a:solidFill>
              </a:rPr>
              <a:t> </a:t>
            </a:r>
            <a:r>
              <a:rPr lang="de-DE" sz="2800" dirty="0"/>
              <a:t>auf zwei Eingabesignale (a, b)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de-DE" sz="2800" dirty="0"/>
              <a:t>Eingabesignale können in </a:t>
            </a:r>
            <a:r>
              <a:rPr lang="de-DE" sz="2800" dirty="0">
                <a:solidFill>
                  <a:srgbClr val="0000FF"/>
                </a:solidFill>
              </a:rPr>
              <a:t>beliebiger Reihenfolge </a:t>
            </a:r>
            <a:r>
              <a:rPr lang="de-DE" sz="2800" dirty="0"/>
              <a:t>auftreten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de-DE" sz="2800" dirty="0"/>
              <a:t>Automat sendet Ausgabesignal (o), wenn </a:t>
            </a:r>
            <a:r>
              <a:rPr lang="de-DE" sz="2800" b="1" dirty="0">
                <a:solidFill>
                  <a:srgbClr val="0000FF"/>
                </a:solidFill>
              </a:rPr>
              <a:t>beide</a:t>
            </a:r>
            <a:r>
              <a:rPr lang="de-DE" sz="2800" dirty="0"/>
              <a:t> Eingabesignale angekommen sind</a:t>
            </a:r>
          </a:p>
          <a:p>
            <a:pPr>
              <a:buFont typeface="Wingdings" pitchFamily="2" charset="2"/>
              <a:buChar char="§"/>
            </a:pPr>
            <a:endParaRPr lang="de-DE" sz="900" dirty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de-DE" sz="2800" b="1" dirty="0">
                <a:solidFill>
                  <a:srgbClr val="FF0000"/>
                </a:solidFill>
              </a:rPr>
              <a:t>Wie viele Zustände hat der Automat?</a:t>
            </a:r>
            <a:endParaRPr lang="de-DE" b="1" dirty="0">
              <a:solidFill>
                <a:srgbClr val="FF0000"/>
              </a:solidFill>
            </a:endParaRPr>
          </a:p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28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563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26829" y="848324"/>
            <a:ext cx="4063980" cy="492443"/>
          </a:xfrm>
        </p:spPr>
        <p:txBody>
          <a:bodyPr/>
          <a:lstStyle/>
          <a:p>
            <a:r>
              <a:rPr lang="de-DE" dirty="0"/>
              <a:t>Zustandsexplosion</a:t>
            </a:r>
            <a:endParaRPr lang="de-DE" sz="4800" dirty="0"/>
          </a:p>
        </p:txBody>
      </p:sp>
      <p:sp>
        <p:nvSpPr>
          <p:cNvPr id="54" name="Inhaltsplatzhalter 2"/>
          <p:cNvSpPr>
            <a:spLocks noGrp="1"/>
          </p:cNvSpPr>
          <p:nvPr>
            <p:ph idx="1"/>
          </p:nvPr>
        </p:nvSpPr>
        <p:spPr>
          <a:xfrm>
            <a:off x="352781" y="2558543"/>
            <a:ext cx="10929837" cy="3693319"/>
          </a:xfrm>
        </p:spPr>
        <p:txBody>
          <a:bodyPr/>
          <a:lstStyle/>
          <a:p>
            <a:pPr>
              <a:buNone/>
            </a:pPr>
            <a:endParaRPr lang="de-DE" dirty="0">
              <a:solidFill>
                <a:srgbClr val="FF0000"/>
              </a:solidFill>
            </a:endParaRPr>
          </a:p>
          <a:p>
            <a:pPr>
              <a:buNone/>
            </a:pPr>
            <a:endParaRPr lang="de-DE" dirty="0">
              <a:solidFill>
                <a:srgbClr val="FF0000"/>
              </a:solidFill>
            </a:endParaRPr>
          </a:p>
          <a:p>
            <a:pPr>
              <a:buNone/>
            </a:pPr>
            <a:endParaRPr lang="de-DE" dirty="0">
              <a:solidFill>
                <a:srgbClr val="FF0000"/>
              </a:solidFill>
            </a:endParaRPr>
          </a:p>
          <a:p>
            <a:pPr>
              <a:buNone/>
            </a:pPr>
            <a:endParaRPr lang="de-DE" dirty="0">
              <a:solidFill>
                <a:srgbClr val="FF0000"/>
              </a:solidFill>
            </a:endParaRPr>
          </a:p>
          <a:p>
            <a:pPr>
              <a:buNone/>
            </a:pPr>
            <a:endParaRPr lang="de-DE" dirty="0">
              <a:solidFill>
                <a:srgbClr val="FF0000"/>
              </a:solidFill>
            </a:endParaRPr>
          </a:p>
          <a:p>
            <a:pPr>
              <a:buNone/>
            </a:pPr>
            <a:endParaRPr lang="de-DE" sz="2800" i="1" dirty="0"/>
          </a:p>
          <a:p>
            <a:pPr>
              <a:buNone/>
            </a:pPr>
            <a:endParaRPr lang="de-DE" sz="2000" dirty="0"/>
          </a:p>
          <a:p>
            <a:pPr algn="ctr">
              <a:buNone/>
            </a:pPr>
            <a:r>
              <a:rPr lang="de-DE" sz="2800" b="1" dirty="0">
                <a:solidFill>
                  <a:srgbClr val="FF0000"/>
                </a:solidFill>
              </a:rPr>
              <a:t>Wie viele Zustände hat ein Automat, der auf </a:t>
            </a:r>
            <a:br>
              <a:rPr lang="de-DE" sz="2800" b="1" dirty="0">
                <a:solidFill>
                  <a:srgbClr val="FF0000"/>
                </a:solidFill>
              </a:rPr>
            </a:br>
            <a:r>
              <a:rPr lang="de-DE" sz="2800" b="1" dirty="0">
                <a:solidFill>
                  <a:srgbClr val="FF0000"/>
                </a:solidFill>
              </a:rPr>
              <a:t>3 (4, 5, 100) Eingabesignale wartet?</a:t>
            </a:r>
            <a:endParaRPr lang="de-DE" b="1" dirty="0">
              <a:solidFill>
                <a:srgbClr val="FF0000"/>
              </a:solidFill>
            </a:endParaRPr>
          </a:p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29</a:t>
            </a:fld>
            <a:r>
              <a:rPr lang="de-DE"/>
              <a:t> </a:t>
            </a:r>
            <a:endParaRPr lang="de-DE" dirty="0"/>
          </a:p>
        </p:txBody>
      </p:sp>
      <p:grpSp>
        <p:nvGrpSpPr>
          <p:cNvPr id="3" name="Gruppieren 54"/>
          <p:cNvGrpSpPr/>
          <p:nvPr/>
        </p:nvGrpSpPr>
        <p:grpSpPr>
          <a:xfrm>
            <a:off x="945387" y="1788427"/>
            <a:ext cx="4660941" cy="2952328"/>
            <a:chOff x="1691680" y="1340768"/>
            <a:chExt cx="5064542" cy="3384376"/>
          </a:xfrm>
        </p:grpSpPr>
        <p:grpSp>
          <p:nvGrpSpPr>
            <p:cNvPr id="7" name="Gruppieren 37"/>
            <p:cNvGrpSpPr/>
            <p:nvPr/>
          </p:nvGrpSpPr>
          <p:grpSpPr>
            <a:xfrm>
              <a:off x="3851920" y="1340768"/>
              <a:ext cx="720080" cy="504056"/>
              <a:chOff x="3851920" y="2276872"/>
              <a:chExt cx="720080" cy="504056"/>
            </a:xfrm>
          </p:grpSpPr>
          <p:sp>
            <p:nvSpPr>
              <p:cNvPr id="8" name="Rechteck 7"/>
              <p:cNvSpPr/>
              <p:nvPr/>
            </p:nvSpPr>
            <p:spPr>
              <a:xfrm>
                <a:off x="3851920" y="2276872"/>
                <a:ext cx="720080" cy="50405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800" dirty="0">
                    <a:solidFill>
                      <a:schemeClr val="tx1"/>
                    </a:solidFill>
                  </a:rPr>
                  <a:t>ab</a:t>
                </a:r>
              </a:p>
            </p:txBody>
          </p:sp>
          <p:cxnSp>
            <p:nvCxnSpPr>
              <p:cNvPr id="10" name="Gerade Verbindung 9"/>
              <p:cNvCxnSpPr/>
              <p:nvPr/>
            </p:nvCxnSpPr>
            <p:spPr>
              <a:xfrm>
                <a:off x="3995936" y="2334456"/>
                <a:ext cx="21602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 Verbindung 13"/>
              <p:cNvCxnSpPr/>
              <p:nvPr/>
            </p:nvCxnSpPr>
            <p:spPr>
              <a:xfrm>
                <a:off x="4211960" y="2334456"/>
                <a:ext cx="21602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uppieren 36"/>
            <p:cNvGrpSpPr/>
            <p:nvPr/>
          </p:nvGrpSpPr>
          <p:grpSpPr>
            <a:xfrm>
              <a:off x="2411760" y="2780928"/>
              <a:ext cx="720080" cy="504056"/>
              <a:chOff x="2411760" y="3429000"/>
              <a:chExt cx="720080" cy="504056"/>
            </a:xfrm>
          </p:grpSpPr>
          <p:sp>
            <p:nvSpPr>
              <p:cNvPr id="15" name="Rechteck 14"/>
              <p:cNvSpPr/>
              <p:nvPr/>
            </p:nvSpPr>
            <p:spPr>
              <a:xfrm>
                <a:off x="2411760" y="3429000"/>
                <a:ext cx="720080" cy="50405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800" dirty="0">
                    <a:solidFill>
                      <a:schemeClr val="tx1"/>
                    </a:solidFill>
                  </a:rPr>
                  <a:t>ab</a:t>
                </a:r>
              </a:p>
            </p:txBody>
          </p:sp>
          <p:cxnSp>
            <p:nvCxnSpPr>
              <p:cNvPr id="17" name="Gerade Verbindung 16"/>
              <p:cNvCxnSpPr/>
              <p:nvPr/>
            </p:nvCxnSpPr>
            <p:spPr>
              <a:xfrm>
                <a:off x="2771800" y="3476969"/>
                <a:ext cx="21602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uppieren 38"/>
            <p:cNvGrpSpPr/>
            <p:nvPr/>
          </p:nvGrpSpPr>
          <p:grpSpPr>
            <a:xfrm>
              <a:off x="5292080" y="2780928"/>
              <a:ext cx="720080" cy="504056"/>
              <a:chOff x="5292080" y="3429000"/>
              <a:chExt cx="720080" cy="504056"/>
            </a:xfrm>
          </p:grpSpPr>
          <p:sp>
            <p:nvSpPr>
              <p:cNvPr id="18" name="Rechteck 17"/>
              <p:cNvSpPr/>
              <p:nvPr/>
            </p:nvSpPr>
            <p:spPr>
              <a:xfrm>
                <a:off x="5292080" y="3429000"/>
                <a:ext cx="720080" cy="50405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800" dirty="0">
                    <a:solidFill>
                      <a:schemeClr val="tx1"/>
                    </a:solidFill>
                  </a:rPr>
                  <a:t>ab</a:t>
                </a:r>
              </a:p>
            </p:txBody>
          </p:sp>
          <p:cxnSp>
            <p:nvCxnSpPr>
              <p:cNvPr id="19" name="Gerade Verbindung 18"/>
              <p:cNvCxnSpPr/>
              <p:nvPr/>
            </p:nvCxnSpPr>
            <p:spPr>
              <a:xfrm>
                <a:off x="5436096" y="3501008"/>
                <a:ext cx="21602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Rechteck 20"/>
            <p:cNvSpPr/>
            <p:nvPr/>
          </p:nvSpPr>
          <p:spPr>
            <a:xfrm>
              <a:off x="3851920" y="4221088"/>
              <a:ext cx="720080" cy="5040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dirty="0">
                  <a:solidFill>
                    <a:schemeClr val="tx1"/>
                  </a:solidFill>
                </a:rPr>
                <a:t>ab</a:t>
              </a:r>
            </a:p>
          </p:txBody>
        </p:sp>
        <p:sp>
          <p:nvSpPr>
            <p:cNvPr id="32" name="Textfeld 31"/>
            <p:cNvSpPr txBox="1"/>
            <p:nvPr/>
          </p:nvSpPr>
          <p:spPr>
            <a:xfrm>
              <a:off x="2627785" y="2060848"/>
              <a:ext cx="200727" cy="5997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de-DE" sz="2800" dirty="0"/>
            </a:p>
          </p:txBody>
        </p:sp>
        <p:cxnSp>
          <p:nvCxnSpPr>
            <p:cNvPr id="41" name="Form 40"/>
            <p:cNvCxnSpPr>
              <a:stCxn id="8" idx="1"/>
              <a:endCxn id="15" idx="0"/>
            </p:cNvCxnSpPr>
            <p:nvPr/>
          </p:nvCxnSpPr>
          <p:spPr>
            <a:xfrm rot="10800000" flipV="1">
              <a:off x="2771800" y="1592796"/>
              <a:ext cx="1080120" cy="118813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Form 42"/>
            <p:cNvCxnSpPr>
              <a:stCxn id="8" idx="3"/>
              <a:endCxn id="18" idx="0"/>
            </p:cNvCxnSpPr>
            <p:nvPr/>
          </p:nvCxnSpPr>
          <p:spPr>
            <a:xfrm>
              <a:off x="4572000" y="1592796"/>
              <a:ext cx="1080120" cy="118813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Form 44"/>
            <p:cNvCxnSpPr>
              <a:stCxn id="18" idx="2"/>
              <a:endCxn id="21" idx="3"/>
            </p:cNvCxnSpPr>
            <p:nvPr/>
          </p:nvCxnSpPr>
          <p:spPr>
            <a:xfrm rot="5400000">
              <a:off x="4517994" y="3338990"/>
              <a:ext cx="1188132" cy="108012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Form 48"/>
            <p:cNvCxnSpPr>
              <a:stCxn id="15" idx="2"/>
              <a:endCxn id="21" idx="1"/>
            </p:cNvCxnSpPr>
            <p:nvPr/>
          </p:nvCxnSpPr>
          <p:spPr>
            <a:xfrm rot="16200000" flipH="1">
              <a:off x="2717794" y="3338990"/>
              <a:ext cx="1188132" cy="108012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feld 49"/>
            <p:cNvSpPr txBox="1"/>
            <p:nvPr/>
          </p:nvSpPr>
          <p:spPr>
            <a:xfrm>
              <a:off x="2195736" y="1700807"/>
              <a:ext cx="418384" cy="5997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/>
                <a:t>a</a:t>
              </a:r>
            </a:p>
          </p:txBody>
        </p:sp>
        <p:sp>
          <p:nvSpPr>
            <p:cNvPr id="51" name="Textfeld 50"/>
            <p:cNvSpPr txBox="1"/>
            <p:nvPr/>
          </p:nvSpPr>
          <p:spPr>
            <a:xfrm>
              <a:off x="5796136" y="1700807"/>
              <a:ext cx="418384" cy="5997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/>
                <a:t>b</a:t>
              </a:r>
            </a:p>
          </p:txBody>
        </p:sp>
        <p:sp>
          <p:nvSpPr>
            <p:cNvPr id="52" name="Textfeld 51"/>
            <p:cNvSpPr txBox="1"/>
            <p:nvPr/>
          </p:nvSpPr>
          <p:spPr>
            <a:xfrm>
              <a:off x="1691680" y="3717032"/>
              <a:ext cx="960086" cy="5997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/>
                <a:t>b / o</a:t>
              </a: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5796136" y="3717032"/>
              <a:ext cx="960086" cy="5997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/>
                <a:t>a / o</a:t>
              </a:r>
            </a:p>
          </p:txBody>
        </p:sp>
      </p:grpSp>
      <p:sp>
        <p:nvSpPr>
          <p:cNvPr id="56" name="Textfeld 55"/>
          <p:cNvSpPr txBox="1"/>
          <p:nvPr/>
        </p:nvSpPr>
        <p:spPr>
          <a:xfrm>
            <a:off x="2707653" y="5845389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8</a:t>
            </a:r>
          </a:p>
        </p:txBody>
      </p:sp>
      <p:sp>
        <p:nvSpPr>
          <p:cNvPr id="57" name="Textfeld 56"/>
          <p:cNvSpPr txBox="1"/>
          <p:nvPr/>
        </p:nvSpPr>
        <p:spPr>
          <a:xfrm>
            <a:off x="3211711" y="5845389"/>
            <a:ext cx="58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16</a:t>
            </a:r>
          </a:p>
        </p:txBody>
      </p:sp>
      <p:sp>
        <p:nvSpPr>
          <p:cNvPr id="58" name="Textfeld 57"/>
          <p:cNvSpPr txBox="1"/>
          <p:nvPr/>
        </p:nvSpPr>
        <p:spPr>
          <a:xfrm>
            <a:off x="3922101" y="5845389"/>
            <a:ext cx="58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32</a:t>
            </a:r>
          </a:p>
        </p:txBody>
      </p:sp>
      <p:sp>
        <p:nvSpPr>
          <p:cNvPr id="59" name="Textfeld 58"/>
          <p:cNvSpPr txBox="1"/>
          <p:nvPr/>
        </p:nvSpPr>
        <p:spPr>
          <a:xfrm>
            <a:off x="4804499" y="5845389"/>
            <a:ext cx="784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2</a:t>
            </a:r>
            <a:r>
              <a:rPr lang="de-DE" sz="2800" baseline="30000" dirty="0"/>
              <a:t>100</a:t>
            </a:r>
          </a:p>
        </p:txBody>
      </p:sp>
      <p:cxnSp>
        <p:nvCxnSpPr>
          <p:cNvPr id="61" name="Gerade Verbindung mit Pfeil 60"/>
          <p:cNvCxnSpPr>
            <a:stCxn id="56" idx="0"/>
          </p:cNvCxnSpPr>
          <p:nvPr/>
        </p:nvCxnSpPr>
        <p:spPr>
          <a:xfrm flipV="1">
            <a:off x="2900175" y="5557357"/>
            <a:ext cx="239527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/>
          <p:cNvCxnSpPr>
            <a:cxnSpLocks/>
            <a:stCxn id="57" idx="0"/>
          </p:cNvCxnSpPr>
          <p:nvPr/>
        </p:nvCxnSpPr>
        <p:spPr>
          <a:xfrm flipV="1">
            <a:off x="3504420" y="5557357"/>
            <a:ext cx="104652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cxnSpLocks/>
            <a:stCxn id="58" idx="0"/>
          </p:cNvCxnSpPr>
          <p:nvPr/>
        </p:nvCxnSpPr>
        <p:spPr>
          <a:xfrm flipH="1" flipV="1">
            <a:off x="4036959" y="5572906"/>
            <a:ext cx="177851" cy="27248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cxnSpLocks/>
          </p:cNvCxnSpPr>
          <p:nvPr/>
        </p:nvCxnSpPr>
        <p:spPr>
          <a:xfrm flipH="1" flipV="1">
            <a:off x="4747349" y="5602334"/>
            <a:ext cx="348848" cy="24305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uppieren 37"/>
          <p:cNvGrpSpPr/>
          <p:nvPr/>
        </p:nvGrpSpPr>
        <p:grpSpPr>
          <a:xfrm>
            <a:off x="9445395" y="1629090"/>
            <a:ext cx="864095" cy="439708"/>
            <a:chOff x="3851920" y="2276872"/>
            <a:chExt cx="720080" cy="504056"/>
          </a:xfrm>
        </p:grpSpPr>
        <p:sp>
          <p:nvSpPr>
            <p:cNvPr id="70" name="Rechteck 69"/>
            <p:cNvSpPr/>
            <p:nvPr/>
          </p:nvSpPr>
          <p:spPr>
            <a:xfrm>
              <a:off x="3851920" y="2276872"/>
              <a:ext cx="720080" cy="5040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dirty="0" err="1">
                  <a:solidFill>
                    <a:schemeClr val="tx1"/>
                  </a:solidFill>
                </a:rPr>
                <a:t>abc</a:t>
              </a:r>
              <a:endParaRPr lang="de-DE" sz="2800" dirty="0">
                <a:solidFill>
                  <a:schemeClr val="tx1"/>
                </a:solidFill>
              </a:endParaRPr>
            </a:p>
          </p:txBody>
        </p:sp>
        <p:cxnSp>
          <p:nvCxnSpPr>
            <p:cNvPr id="71" name="Gerade Verbindung 9"/>
            <p:cNvCxnSpPr/>
            <p:nvPr/>
          </p:nvCxnSpPr>
          <p:spPr>
            <a:xfrm>
              <a:off x="3936736" y="2334456"/>
              <a:ext cx="21602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Gerade Verbindung 13"/>
            <p:cNvCxnSpPr/>
            <p:nvPr/>
          </p:nvCxnSpPr>
          <p:spPr>
            <a:xfrm>
              <a:off x="4116756" y="2334456"/>
              <a:ext cx="21602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hteck 38"/>
          <p:cNvSpPr/>
          <p:nvPr/>
        </p:nvSpPr>
        <p:spPr>
          <a:xfrm>
            <a:off x="9445395" y="4285726"/>
            <a:ext cx="864095" cy="4397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tx1"/>
                </a:solidFill>
              </a:rPr>
              <a:t>abc</a:t>
            </a:r>
            <a:endParaRPr lang="de-DE" sz="2800" dirty="0">
              <a:solidFill>
                <a:schemeClr val="tx1"/>
              </a:solidFill>
            </a:endParaRPr>
          </a:p>
        </p:txBody>
      </p:sp>
      <p:sp>
        <p:nvSpPr>
          <p:cNvPr id="40" name="Textfeld 39"/>
          <p:cNvSpPr txBox="1"/>
          <p:nvPr/>
        </p:nvSpPr>
        <p:spPr>
          <a:xfrm>
            <a:off x="8412034" y="2257245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800" dirty="0"/>
          </a:p>
        </p:txBody>
      </p:sp>
      <p:cxnSp>
        <p:nvCxnSpPr>
          <p:cNvPr id="42" name="Form 40"/>
          <p:cNvCxnSpPr>
            <a:stCxn id="70" idx="1"/>
            <a:endCxn id="67" idx="0"/>
          </p:cNvCxnSpPr>
          <p:nvPr/>
        </p:nvCxnSpPr>
        <p:spPr>
          <a:xfrm rot="10800000" flipV="1">
            <a:off x="8449263" y="1848944"/>
            <a:ext cx="996133" cy="64424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Form 42"/>
          <p:cNvCxnSpPr>
            <a:stCxn id="70" idx="3"/>
            <a:endCxn id="64" idx="0"/>
          </p:cNvCxnSpPr>
          <p:nvPr/>
        </p:nvCxnSpPr>
        <p:spPr>
          <a:xfrm>
            <a:off x="10309490" y="1848944"/>
            <a:ext cx="976221" cy="64424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Form 44"/>
          <p:cNvCxnSpPr>
            <a:stCxn id="100" idx="2"/>
            <a:endCxn id="39" idx="3"/>
          </p:cNvCxnSpPr>
          <p:nvPr/>
        </p:nvCxnSpPr>
        <p:spPr>
          <a:xfrm rot="5400000">
            <a:off x="10470108" y="3683709"/>
            <a:ext cx="661254" cy="98249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Form 48"/>
          <p:cNvCxnSpPr>
            <a:stCxn id="80" idx="2"/>
            <a:endCxn id="39" idx="1"/>
          </p:cNvCxnSpPr>
          <p:nvPr/>
        </p:nvCxnSpPr>
        <p:spPr>
          <a:xfrm rot="16200000" flipH="1">
            <a:off x="8631407" y="3691594"/>
            <a:ext cx="644242" cy="98373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8014415" y="1943167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a</a:t>
            </a:r>
          </a:p>
        </p:txBody>
      </p:sp>
      <p:sp>
        <p:nvSpPr>
          <p:cNvPr id="55" name="Textfeld 54"/>
          <p:cNvSpPr txBox="1"/>
          <p:nvPr/>
        </p:nvSpPr>
        <p:spPr>
          <a:xfrm>
            <a:off x="11327894" y="194316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</a:t>
            </a:r>
          </a:p>
        </p:txBody>
      </p:sp>
      <p:sp>
        <p:nvSpPr>
          <p:cNvPr id="60" name="Textfeld 59"/>
          <p:cNvSpPr txBox="1"/>
          <p:nvPr/>
        </p:nvSpPr>
        <p:spPr>
          <a:xfrm>
            <a:off x="7550529" y="3986190"/>
            <a:ext cx="862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 / o</a:t>
            </a:r>
          </a:p>
        </p:txBody>
      </p:sp>
      <p:sp>
        <p:nvSpPr>
          <p:cNvPr id="62" name="Textfeld 61"/>
          <p:cNvSpPr txBox="1"/>
          <p:nvPr/>
        </p:nvSpPr>
        <p:spPr>
          <a:xfrm>
            <a:off x="11275366" y="3842174"/>
            <a:ext cx="883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b / o</a:t>
            </a:r>
          </a:p>
        </p:txBody>
      </p:sp>
      <p:grpSp>
        <p:nvGrpSpPr>
          <p:cNvPr id="34" name="Gruppieren 33"/>
          <p:cNvGrpSpPr/>
          <p:nvPr/>
        </p:nvGrpSpPr>
        <p:grpSpPr>
          <a:xfrm>
            <a:off x="8022603" y="2493186"/>
            <a:ext cx="853316" cy="439708"/>
            <a:chOff x="6587654" y="1660974"/>
            <a:chExt cx="853316" cy="439708"/>
          </a:xfrm>
        </p:grpSpPr>
        <p:sp>
          <p:nvSpPr>
            <p:cNvPr id="67" name="Rechteck 66"/>
            <p:cNvSpPr/>
            <p:nvPr/>
          </p:nvSpPr>
          <p:spPr>
            <a:xfrm>
              <a:off x="6587654" y="1660974"/>
              <a:ext cx="853316" cy="4397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dirty="0" err="1">
                  <a:solidFill>
                    <a:schemeClr val="tx1"/>
                  </a:solidFill>
                </a:rPr>
                <a:t>abc</a:t>
              </a:r>
              <a:endParaRPr lang="de-DE" sz="2800" dirty="0">
                <a:solidFill>
                  <a:schemeClr val="tx1"/>
                </a:solidFill>
              </a:endParaRPr>
            </a:p>
          </p:txBody>
        </p:sp>
        <p:cxnSp>
          <p:nvCxnSpPr>
            <p:cNvPr id="69" name="Gerade Verbindung 16"/>
            <p:cNvCxnSpPr/>
            <p:nvPr/>
          </p:nvCxnSpPr>
          <p:spPr>
            <a:xfrm>
              <a:off x="6943287" y="1702819"/>
              <a:ext cx="1988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Gerade Verbindung 16"/>
            <p:cNvCxnSpPr/>
            <p:nvPr/>
          </p:nvCxnSpPr>
          <p:spPr>
            <a:xfrm>
              <a:off x="7121327" y="1700808"/>
              <a:ext cx="1988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25"/>
          <p:cNvGrpSpPr/>
          <p:nvPr/>
        </p:nvGrpSpPr>
        <p:grpSpPr>
          <a:xfrm>
            <a:off x="9445394" y="2493186"/>
            <a:ext cx="864096" cy="439708"/>
            <a:chOff x="8112224" y="1628800"/>
            <a:chExt cx="864096" cy="439708"/>
          </a:xfrm>
        </p:grpSpPr>
        <p:sp>
          <p:nvSpPr>
            <p:cNvPr id="74" name="Rechteck 73"/>
            <p:cNvSpPr/>
            <p:nvPr/>
          </p:nvSpPr>
          <p:spPr>
            <a:xfrm>
              <a:off x="8112224" y="1628800"/>
              <a:ext cx="864096" cy="4397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dirty="0" err="1">
                  <a:solidFill>
                    <a:schemeClr val="tx1"/>
                  </a:solidFill>
                </a:rPr>
                <a:t>abc</a:t>
              </a:r>
              <a:endParaRPr lang="de-DE" sz="2800" dirty="0">
                <a:solidFill>
                  <a:schemeClr val="tx1"/>
                </a:solidFill>
              </a:endParaRPr>
            </a:p>
          </p:txBody>
        </p:sp>
        <p:cxnSp>
          <p:nvCxnSpPr>
            <p:cNvPr id="76" name="Gerade Verbindung 16"/>
            <p:cNvCxnSpPr/>
            <p:nvPr/>
          </p:nvCxnSpPr>
          <p:spPr>
            <a:xfrm>
              <a:off x="8222509" y="1688049"/>
              <a:ext cx="1988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erade Verbindung 16"/>
            <p:cNvCxnSpPr/>
            <p:nvPr/>
          </p:nvCxnSpPr>
          <p:spPr>
            <a:xfrm>
              <a:off x="8663266" y="1692302"/>
              <a:ext cx="1988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pieren 29"/>
          <p:cNvGrpSpPr/>
          <p:nvPr/>
        </p:nvGrpSpPr>
        <p:grpSpPr>
          <a:xfrm>
            <a:off x="10864007" y="2493186"/>
            <a:ext cx="843406" cy="439708"/>
            <a:chOff x="9429058" y="1561045"/>
            <a:chExt cx="843406" cy="439708"/>
          </a:xfrm>
        </p:grpSpPr>
        <p:sp>
          <p:nvSpPr>
            <p:cNvPr id="64" name="Rechteck 63"/>
            <p:cNvSpPr/>
            <p:nvPr/>
          </p:nvSpPr>
          <p:spPr>
            <a:xfrm>
              <a:off x="9429058" y="1561045"/>
              <a:ext cx="843406" cy="4397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dirty="0" err="1">
                  <a:solidFill>
                    <a:schemeClr val="tx1"/>
                  </a:solidFill>
                </a:rPr>
                <a:t>abc</a:t>
              </a:r>
              <a:endParaRPr lang="de-DE" sz="2800" dirty="0">
                <a:solidFill>
                  <a:schemeClr val="tx1"/>
                </a:solidFill>
              </a:endParaRPr>
            </a:p>
          </p:txBody>
        </p:sp>
        <p:cxnSp>
          <p:nvCxnSpPr>
            <p:cNvPr id="66" name="Gerade Verbindung 18"/>
            <p:cNvCxnSpPr/>
            <p:nvPr/>
          </p:nvCxnSpPr>
          <p:spPr>
            <a:xfrm>
              <a:off x="9561597" y="1616043"/>
              <a:ext cx="1988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 Verbindung 18"/>
            <p:cNvCxnSpPr/>
            <p:nvPr/>
          </p:nvCxnSpPr>
          <p:spPr>
            <a:xfrm>
              <a:off x="9769286" y="1616041"/>
              <a:ext cx="1988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Gerade Verbindung mit Pfeil 27"/>
          <p:cNvCxnSpPr>
            <a:stCxn id="70" idx="2"/>
            <a:endCxn id="74" idx="0"/>
          </p:cNvCxnSpPr>
          <p:nvPr/>
        </p:nvCxnSpPr>
        <p:spPr>
          <a:xfrm>
            <a:off x="9877442" y="2068798"/>
            <a:ext cx="0" cy="42438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uppieren 78"/>
          <p:cNvGrpSpPr/>
          <p:nvPr/>
        </p:nvGrpSpPr>
        <p:grpSpPr>
          <a:xfrm>
            <a:off x="8035005" y="3421630"/>
            <a:ext cx="853316" cy="439708"/>
            <a:chOff x="6587654" y="1660974"/>
            <a:chExt cx="853316" cy="439708"/>
          </a:xfrm>
        </p:grpSpPr>
        <p:sp>
          <p:nvSpPr>
            <p:cNvPr id="80" name="Rechteck 79"/>
            <p:cNvSpPr/>
            <p:nvPr/>
          </p:nvSpPr>
          <p:spPr>
            <a:xfrm>
              <a:off x="6587654" y="1660974"/>
              <a:ext cx="853316" cy="4397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dirty="0" err="1">
                  <a:solidFill>
                    <a:schemeClr val="tx1"/>
                  </a:solidFill>
                </a:rPr>
                <a:t>abc</a:t>
              </a:r>
              <a:endParaRPr lang="de-DE" sz="2800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Gerade Verbindung 16"/>
            <p:cNvCxnSpPr/>
            <p:nvPr/>
          </p:nvCxnSpPr>
          <p:spPr>
            <a:xfrm>
              <a:off x="7121327" y="1700808"/>
              <a:ext cx="1988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Gerade Verbindung mit Pfeil 83"/>
          <p:cNvCxnSpPr>
            <a:stCxn id="67" idx="2"/>
            <a:endCxn id="80" idx="0"/>
          </p:cNvCxnSpPr>
          <p:nvPr/>
        </p:nvCxnSpPr>
        <p:spPr>
          <a:xfrm>
            <a:off x="8449261" y="2932894"/>
            <a:ext cx="12402" cy="48873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feld 86"/>
          <p:cNvSpPr txBox="1"/>
          <p:nvPr/>
        </p:nvSpPr>
        <p:spPr>
          <a:xfrm>
            <a:off x="8035005" y="290607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b</a:t>
            </a:r>
          </a:p>
        </p:txBody>
      </p:sp>
      <p:sp>
        <p:nvSpPr>
          <p:cNvPr id="88" name="Textfeld 87"/>
          <p:cNvSpPr txBox="1"/>
          <p:nvPr/>
        </p:nvSpPr>
        <p:spPr>
          <a:xfrm>
            <a:off x="9835205" y="198913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b</a:t>
            </a:r>
          </a:p>
        </p:txBody>
      </p:sp>
      <p:cxnSp>
        <p:nvCxnSpPr>
          <p:cNvPr id="89" name="Gerade Verbindung 13"/>
          <p:cNvCxnSpPr/>
          <p:nvPr/>
        </p:nvCxnSpPr>
        <p:spPr>
          <a:xfrm>
            <a:off x="9979221" y="1679833"/>
            <a:ext cx="2592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/>
          <p:cNvGrpSpPr/>
          <p:nvPr/>
        </p:nvGrpSpPr>
        <p:grpSpPr>
          <a:xfrm>
            <a:off x="9449647" y="3408318"/>
            <a:ext cx="864096" cy="439708"/>
            <a:chOff x="8112224" y="1628800"/>
            <a:chExt cx="864096" cy="439708"/>
          </a:xfrm>
        </p:grpSpPr>
        <p:sp>
          <p:nvSpPr>
            <p:cNvPr id="91" name="Rechteck 90"/>
            <p:cNvSpPr/>
            <p:nvPr/>
          </p:nvSpPr>
          <p:spPr>
            <a:xfrm>
              <a:off x="8112224" y="1628800"/>
              <a:ext cx="864096" cy="4397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dirty="0" err="1">
                  <a:solidFill>
                    <a:schemeClr val="tx1"/>
                  </a:solidFill>
                </a:rPr>
                <a:t>abc</a:t>
              </a:r>
              <a:endParaRPr lang="de-DE" sz="2800" dirty="0">
                <a:solidFill>
                  <a:schemeClr val="tx1"/>
                </a:solidFill>
              </a:endParaRPr>
            </a:p>
          </p:txBody>
        </p:sp>
        <p:cxnSp>
          <p:nvCxnSpPr>
            <p:cNvPr id="92" name="Gerade Verbindung 16"/>
            <p:cNvCxnSpPr/>
            <p:nvPr/>
          </p:nvCxnSpPr>
          <p:spPr>
            <a:xfrm>
              <a:off x="8222509" y="1688049"/>
              <a:ext cx="1988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4" name="Gerade Verbindung mit Pfeil 93"/>
          <p:cNvCxnSpPr>
            <a:stCxn id="74" idx="2"/>
            <a:endCxn id="91" idx="0"/>
          </p:cNvCxnSpPr>
          <p:nvPr/>
        </p:nvCxnSpPr>
        <p:spPr>
          <a:xfrm>
            <a:off x="9877443" y="2932894"/>
            <a:ext cx="4253" cy="47542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feld 94"/>
          <p:cNvSpPr txBox="1"/>
          <p:nvPr/>
        </p:nvSpPr>
        <p:spPr>
          <a:xfrm>
            <a:off x="9835205" y="278121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</a:t>
            </a:r>
          </a:p>
        </p:txBody>
      </p:sp>
      <p:cxnSp>
        <p:nvCxnSpPr>
          <p:cNvPr id="96" name="Gerade Verbindung mit Pfeil 95"/>
          <p:cNvCxnSpPr>
            <a:stCxn id="74" idx="1"/>
          </p:cNvCxnSpPr>
          <p:nvPr/>
        </p:nvCxnSpPr>
        <p:spPr>
          <a:xfrm flipH="1">
            <a:off x="8755086" y="2713041"/>
            <a:ext cx="690309" cy="70349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uppieren 98"/>
          <p:cNvGrpSpPr/>
          <p:nvPr/>
        </p:nvGrpSpPr>
        <p:grpSpPr>
          <a:xfrm>
            <a:off x="10859932" y="3404618"/>
            <a:ext cx="864096" cy="439708"/>
            <a:chOff x="8112224" y="1628800"/>
            <a:chExt cx="864096" cy="439708"/>
          </a:xfrm>
        </p:grpSpPr>
        <p:sp>
          <p:nvSpPr>
            <p:cNvPr id="100" name="Rechteck 99"/>
            <p:cNvSpPr/>
            <p:nvPr/>
          </p:nvSpPr>
          <p:spPr>
            <a:xfrm>
              <a:off x="8112224" y="1628800"/>
              <a:ext cx="864096" cy="4397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dirty="0" err="1">
                  <a:solidFill>
                    <a:schemeClr val="tx1"/>
                  </a:solidFill>
                </a:rPr>
                <a:t>abc</a:t>
              </a:r>
              <a:endParaRPr lang="de-DE" sz="2800" dirty="0">
                <a:solidFill>
                  <a:schemeClr val="tx1"/>
                </a:solidFill>
              </a:endParaRPr>
            </a:p>
          </p:txBody>
        </p:sp>
        <p:cxnSp>
          <p:nvCxnSpPr>
            <p:cNvPr id="101" name="Gerade Verbindung 16"/>
            <p:cNvCxnSpPr/>
            <p:nvPr/>
          </p:nvCxnSpPr>
          <p:spPr>
            <a:xfrm>
              <a:off x="8472661" y="1679543"/>
              <a:ext cx="1988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Textfeld 102"/>
          <p:cNvSpPr txBox="1"/>
          <p:nvPr/>
        </p:nvSpPr>
        <p:spPr>
          <a:xfrm>
            <a:off x="9887735" y="3789330"/>
            <a:ext cx="883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a / o</a:t>
            </a:r>
          </a:p>
        </p:txBody>
      </p:sp>
      <p:sp>
        <p:nvSpPr>
          <p:cNvPr id="104" name="Textfeld 103"/>
          <p:cNvSpPr txBox="1"/>
          <p:nvPr/>
        </p:nvSpPr>
        <p:spPr>
          <a:xfrm>
            <a:off x="11275365" y="285322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a</a:t>
            </a:r>
          </a:p>
        </p:txBody>
      </p:sp>
      <p:cxnSp>
        <p:nvCxnSpPr>
          <p:cNvPr id="105" name="Gerade Verbindung mit Pfeil 104"/>
          <p:cNvCxnSpPr>
            <a:stCxn id="91" idx="2"/>
            <a:endCxn id="39" idx="0"/>
          </p:cNvCxnSpPr>
          <p:nvPr/>
        </p:nvCxnSpPr>
        <p:spPr>
          <a:xfrm flipH="1">
            <a:off x="9877443" y="3848026"/>
            <a:ext cx="4253" cy="4377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mit Pfeil 111"/>
          <p:cNvCxnSpPr>
            <a:stCxn id="64" idx="2"/>
            <a:endCxn id="100" idx="0"/>
          </p:cNvCxnSpPr>
          <p:nvPr/>
        </p:nvCxnSpPr>
        <p:spPr>
          <a:xfrm>
            <a:off x="11285710" y="2932894"/>
            <a:ext cx="6270" cy="47172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Gerade Verbindung mit Pfeil 120"/>
          <p:cNvCxnSpPr/>
          <p:nvPr/>
        </p:nvCxnSpPr>
        <p:spPr>
          <a:xfrm flipH="1">
            <a:off x="10271416" y="2713040"/>
            <a:ext cx="588517" cy="6915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feld 123"/>
          <p:cNvSpPr txBox="1"/>
          <p:nvPr/>
        </p:nvSpPr>
        <p:spPr>
          <a:xfrm>
            <a:off x="10411269" y="2474022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b</a:t>
            </a:r>
          </a:p>
        </p:txBody>
      </p:sp>
      <p:sp>
        <p:nvSpPr>
          <p:cNvPr id="125" name="Textfeld 124"/>
          <p:cNvSpPr txBox="1"/>
          <p:nvPr/>
        </p:nvSpPr>
        <p:spPr>
          <a:xfrm>
            <a:off x="9018115" y="242117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a</a:t>
            </a:r>
          </a:p>
        </p:txBody>
      </p:sp>
      <p:cxnSp>
        <p:nvCxnSpPr>
          <p:cNvPr id="130" name="Gerade Verbindung mit Pfeil 129"/>
          <p:cNvCxnSpPr/>
          <p:nvPr/>
        </p:nvCxnSpPr>
        <p:spPr>
          <a:xfrm>
            <a:off x="8755086" y="2932894"/>
            <a:ext cx="2104847" cy="47172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feld 132"/>
          <p:cNvSpPr txBox="1"/>
          <p:nvPr/>
        </p:nvSpPr>
        <p:spPr>
          <a:xfrm>
            <a:off x="9115125" y="29252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28565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/>
      <p:bldP spid="59" grpId="0"/>
      <p:bldP spid="39" grpId="0" animBg="1"/>
      <p:bldP spid="40" grpId="0"/>
      <p:bldP spid="48" grpId="0"/>
      <p:bldP spid="55" grpId="0"/>
      <p:bldP spid="60" grpId="0"/>
      <p:bldP spid="62" grpId="0"/>
      <p:bldP spid="87" grpId="0"/>
      <p:bldP spid="88" grpId="0"/>
      <p:bldP spid="95" grpId="0"/>
      <p:bldP spid="103" grpId="0"/>
      <p:bldP spid="104" grpId="0"/>
      <p:bldP spid="124" grpId="0"/>
      <p:bldP spid="125" grpId="0"/>
      <p:bldP spid="13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B389F-91F9-F3CF-424E-94DEAEAA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>
            <a:extLst>
              <a:ext uri="{FF2B5EF4-FFF2-40B4-BE49-F238E27FC236}">
                <a16:creationId xmlns:a16="http://schemas.microsoft.com/office/drawing/2014/main" id="{CE3C6119-B1F1-673A-6A54-F1E4B5D64D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7044863" cy="984885"/>
          </a:xfrm>
        </p:spPr>
        <p:txBody>
          <a:bodyPr/>
          <a:lstStyle/>
          <a:p>
            <a:r>
              <a:rPr lang="de-DE" dirty="0"/>
              <a:t>Übersicht über aktuelle Vorlesung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54B759-BC78-62F1-FDFB-260E58E88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805D168-FE6C-26C3-0D59-89FB71655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30</a:t>
            </a:fld>
            <a:r>
              <a:rPr lang="de-DE"/>
              <a:t> </a:t>
            </a:r>
            <a:endParaRPr lang="de-DE" sz="619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D1AED54-2951-E2BC-6720-45FDA9FA6C00}"/>
              </a:ext>
            </a:extLst>
          </p:cNvPr>
          <p:cNvSpPr txBox="1">
            <a:spLocks noChangeArrowheads="1"/>
          </p:cNvSpPr>
          <p:nvPr/>
        </p:nvSpPr>
        <p:spPr>
          <a:xfrm>
            <a:off x="732675" y="2016125"/>
            <a:ext cx="11472025" cy="2659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90000"/>
              </a:lnSpc>
              <a:buFont typeface="+mj-lt"/>
              <a:buAutoNum type="arabicPeriod"/>
            </a:pPr>
            <a:r>
              <a:rPr lang="de-DE" sz="2400" dirty="0">
                <a:solidFill>
                  <a:schemeClr val="bg1">
                    <a:lumMod val="75000"/>
                  </a:schemeClr>
                </a:solidFill>
              </a:rPr>
              <a:t>Endliche Automaten</a:t>
            </a:r>
          </a:p>
          <a:p>
            <a:pPr marL="360363" indent="-360363">
              <a:lnSpc>
                <a:spcPct val="90000"/>
              </a:lnSpc>
              <a:buFont typeface="+mj-lt"/>
              <a:buAutoNum type="arabicPeriod"/>
            </a:pPr>
            <a:r>
              <a:rPr lang="de-DE" sz="2400" dirty="0" err="1"/>
              <a:t>Statecharts</a:t>
            </a:r>
            <a:endParaRPr lang="de-DE" sz="2400" dirty="0"/>
          </a:p>
          <a:p>
            <a:pPr marL="523875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400" dirty="0" err="1"/>
              <a:t>Statechart</a:t>
            </a:r>
            <a:r>
              <a:rPr lang="de-DE" sz="2400" dirty="0"/>
              <a:t>-Konstrukte</a:t>
            </a:r>
          </a:p>
          <a:p>
            <a:pPr marL="523875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400" dirty="0"/>
              <a:t>Einschub: Syntax versus Semantik</a:t>
            </a:r>
          </a:p>
          <a:p>
            <a:pPr marL="523875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400" dirty="0" err="1"/>
              <a:t>Statechart</a:t>
            </a:r>
            <a:r>
              <a:rPr lang="de-DE" sz="2400" dirty="0"/>
              <a:t>-Semantik</a:t>
            </a:r>
          </a:p>
          <a:p>
            <a:pPr marL="523875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2400" dirty="0"/>
              <a:t>Beispiele</a:t>
            </a:r>
          </a:p>
          <a:p>
            <a:pPr>
              <a:lnSpc>
                <a:spcPct val="90000"/>
              </a:lnSpc>
            </a:pPr>
            <a:endParaRPr lang="de-DE" sz="2400" dirty="0"/>
          </a:p>
          <a:p>
            <a:pPr>
              <a:lnSpc>
                <a:spcPct val="90000"/>
              </a:lnSpc>
            </a:pP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197845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2F228-4BBD-9618-D3E3-927CEF7D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>
            <a:extLst>
              <a:ext uri="{FF2B5EF4-FFF2-40B4-BE49-F238E27FC236}">
                <a16:creationId xmlns:a16="http://schemas.microsoft.com/office/drawing/2014/main" id="{2A6DC24D-D95C-57D9-1BB2-5E9D989BE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7169835" cy="984885"/>
          </a:xfrm>
        </p:spPr>
        <p:txBody>
          <a:bodyPr/>
          <a:lstStyle/>
          <a:p>
            <a:r>
              <a:rPr lang="de-DE" dirty="0"/>
              <a:t>Modellierung größerer Systeme</a:t>
            </a:r>
          </a:p>
        </p:txBody>
      </p:sp>
      <p:sp>
        <p:nvSpPr>
          <p:cNvPr id="233475" name="Rectangle 3">
            <a:extLst>
              <a:ext uri="{FF2B5EF4-FFF2-40B4-BE49-F238E27FC236}">
                <a16:creationId xmlns:a16="http://schemas.microsoft.com/office/drawing/2014/main" id="{20DBBAE8-3A47-BCFC-F5EB-1D9C977D6A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2398" y="2016125"/>
            <a:ext cx="10896849" cy="3933384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de-DE" sz="2000" b="1" dirty="0">
                <a:solidFill>
                  <a:srgbClr val="FF0000"/>
                </a:solidFill>
              </a:rPr>
              <a:t>Wie modelliert man folgende Zusammenhänge in Zustandsautomaten?</a:t>
            </a:r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de-DE" sz="2400" dirty="0"/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de-DE" sz="2400" dirty="0"/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In allen Fahrzuständen führt Bremsen zum Stillstand.</a:t>
            </a:r>
            <a:br>
              <a:rPr lang="de-DE" sz="2400" dirty="0"/>
            </a:br>
            <a:endParaRPr lang="de-DE" sz="2400" dirty="0"/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Das Radio funktioniert gleich, egal ob man fährt oder steht</a:t>
            </a:r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de-DE" sz="2400" dirty="0"/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de-DE" sz="2400" dirty="0"/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Wenn die Kupplung betätigt wurde, wähle den Gang. </a:t>
            </a:r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de-DE" sz="2400" dirty="0"/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Abfahren besteht aus Angurten, Zündung einschalten, </a:t>
            </a:r>
            <a:br>
              <a:rPr lang="de-DE" sz="2400" dirty="0"/>
            </a:br>
            <a:r>
              <a:rPr lang="de-DE" sz="2400" dirty="0"/>
              <a:t>Gang einlegen und Gas geben.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534FE2A-0ECE-8C29-5E62-DE4D5ADF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D6AADF4-357B-4699-A588-0156EAEC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31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404533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D0283-C1C0-B841-2609-D694C175D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>
            <a:extLst>
              <a:ext uri="{FF2B5EF4-FFF2-40B4-BE49-F238E27FC236}">
                <a16:creationId xmlns:a16="http://schemas.microsoft.com/office/drawing/2014/main" id="{87B3A742-6C5F-4177-FF03-038D13B1B2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7169835" cy="984885"/>
          </a:xfrm>
        </p:spPr>
        <p:txBody>
          <a:bodyPr/>
          <a:lstStyle/>
          <a:p>
            <a:r>
              <a:rPr lang="de-DE" dirty="0"/>
              <a:t>Modellierung größerer Systeme</a:t>
            </a:r>
          </a:p>
        </p:txBody>
      </p:sp>
      <p:sp>
        <p:nvSpPr>
          <p:cNvPr id="233475" name="Rectangle 3">
            <a:extLst>
              <a:ext uri="{FF2B5EF4-FFF2-40B4-BE49-F238E27FC236}">
                <a16:creationId xmlns:a16="http://schemas.microsoft.com/office/drawing/2014/main" id="{7745A417-4CC9-B80D-1032-9E0479E6DE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2398" y="2016125"/>
            <a:ext cx="7773685" cy="3933384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de-DE" sz="2000" b="1" dirty="0">
                <a:solidFill>
                  <a:srgbClr val="FF0000"/>
                </a:solidFill>
              </a:rPr>
              <a:t>Wie modelliert man folgende Zusammenhänge in Zustandsautomaten?</a:t>
            </a:r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de-DE" sz="2400" dirty="0"/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de-DE" sz="2400" dirty="0"/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In allen Fahrzuständen führt Bremsen zum Stillstand.</a:t>
            </a:r>
            <a:br>
              <a:rPr lang="de-DE" sz="2400" dirty="0"/>
            </a:br>
            <a:endParaRPr lang="de-DE" sz="2400" dirty="0"/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Das Radio funktioniert gleich, egal ob man fährt oder steht</a:t>
            </a:r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de-DE" sz="2400" dirty="0"/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de-DE" sz="2400" dirty="0"/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Wenn die Kupplung betätigt wurde, wähle den Gang. </a:t>
            </a:r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de-DE" sz="2400" dirty="0"/>
          </a:p>
          <a:p>
            <a:pPr marL="457200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Abfahren besteht aus Angurten, Zündung einschalten, </a:t>
            </a:r>
            <a:br>
              <a:rPr lang="de-DE" sz="2400" dirty="0"/>
            </a:br>
            <a:r>
              <a:rPr lang="de-DE" sz="2400" dirty="0"/>
              <a:t>Gang einlegen und Gas geben.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3A883D-47F1-8AB8-7949-D08D165E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AFEEC71-13D1-56E8-BF1B-E6623B6F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32</a:t>
            </a:fld>
            <a:r>
              <a:rPr lang="de-DE"/>
              <a:t> </a:t>
            </a:r>
            <a:endParaRPr lang="de-DE" sz="619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EEB93C-02BF-C5BA-A269-6D76FF04E9A8}"/>
              </a:ext>
            </a:extLst>
          </p:cNvPr>
          <p:cNvSpPr txBox="1">
            <a:spLocks noChangeArrowheads="1"/>
          </p:cNvSpPr>
          <p:nvPr/>
        </p:nvSpPr>
        <p:spPr>
          <a:xfrm>
            <a:off x="8309033" y="2320823"/>
            <a:ext cx="4038600" cy="3323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de-DE" sz="2000" dirty="0">
              <a:latin typeface="Meta  "/>
            </a:endParaRPr>
          </a:p>
          <a:p>
            <a:pPr>
              <a:lnSpc>
                <a:spcPct val="90000"/>
              </a:lnSpc>
            </a:pPr>
            <a:endParaRPr lang="de-DE" sz="2000" dirty="0">
              <a:latin typeface="Meta  "/>
            </a:endParaRPr>
          </a:p>
          <a:p>
            <a:pPr>
              <a:lnSpc>
                <a:spcPct val="90000"/>
              </a:lnSpc>
            </a:pPr>
            <a:r>
              <a:rPr lang="de-DE" sz="2000" dirty="0">
                <a:latin typeface="Meta  "/>
              </a:rPr>
              <a:t>Zusammenfassen von Zuständen zu einem </a:t>
            </a:r>
            <a:r>
              <a:rPr lang="de-DE" sz="2000" dirty="0">
                <a:solidFill>
                  <a:srgbClr val="0000FF"/>
                </a:solidFill>
                <a:latin typeface="Meta  "/>
              </a:rPr>
              <a:t>Oberzustand</a:t>
            </a:r>
          </a:p>
          <a:p>
            <a:pPr>
              <a:lnSpc>
                <a:spcPct val="90000"/>
              </a:lnSpc>
            </a:pPr>
            <a:endParaRPr lang="de-DE" sz="2000" dirty="0">
              <a:solidFill>
                <a:srgbClr val="0000FF"/>
              </a:solidFill>
              <a:latin typeface="Meta  "/>
            </a:endParaRPr>
          </a:p>
          <a:p>
            <a:pPr>
              <a:lnSpc>
                <a:spcPct val="90000"/>
              </a:lnSpc>
            </a:pPr>
            <a:r>
              <a:rPr lang="de-DE" sz="2000" dirty="0">
                <a:latin typeface="Meta  "/>
              </a:rPr>
              <a:t>Erklären der Unabhängigkeit </a:t>
            </a:r>
            <a:r>
              <a:rPr lang="de-DE" sz="2000" dirty="0">
                <a:solidFill>
                  <a:srgbClr val="0000FF"/>
                </a:solidFill>
                <a:latin typeface="Meta  "/>
              </a:rPr>
              <a:t>(Orthogonalität) </a:t>
            </a:r>
            <a:r>
              <a:rPr lang="de-DE" sz="2000" dirty="0">
                <a:latin typeface="Meta  "/>
              </a:rPr>
              <a:t>von Zuständen</a:t>
            </a:r>
          </a:p>
          <a:p>
            <a:pPr>
              <a:lnSpc>
                <a:spcPct val="90000"/>
              </a:lnSpc>
            </a:pPr>
            <a:endParaRPr lang="de-DE" sz="2000" dirty="0">
              <a:latin typeface="Meta  "/>
            </a:endParaRPr>
          </a:p>
          <a:p>
            <a:pPr>
              <a:lnSpc>
                <a:spcPct val="90000"/>
              </a:lnSpc>
            </a:pPr>
            <a:r>
              <a:rPr lang="de-DE" sz="2000" dirty="0">
                <a:latin typeface="Meta  "/>
              </a:rPr>
              <a:t>Verlangt nach </a:t>
            </a:r>
            <a:r>
              <a:rPr lang="de-DE" sz="2000" dirty="0">
                <a:solidFill>
                  <a:srgbClr val="0000FF"/>
                </a:solidFill>
                <a:latin typeface="Meta  "/>
              </a:rPr>
              <a:t>Ausgabe, falls Vorbedingung erfüllt</a:t>
            </a:r>
          </a:p>
          <a:p>
            <a:pPr lvl="1">
              <a:lnSpc>
                <a:spcPct val="90000"/>
              </a:lnSpc>
            </a:pPr>
            <a:endParaRPr lang="de-DE" sz="2000" dirty="0">
              <a:latin typeface="Meta  "/>
            </a:endParaRPr>
          </a:p>
          <a:p>
            <a:pPr>
              <a:lnSpc>
                <a:spcPct val="90000"/>
              </a:lnSpc>
            </a:pPr>
            <a:r>
              <a:rPr lang="de-DE" sz="2000" dirty="0">
                <a:solidFill>
                  <a:srgbClr val="0000FF"/>
                </a:solidFill>
                <a:latin typeface="Meta  "/>
              </a:rPr>
              <a:t>Verfeinerung</a:t>
            </a:r>
            <a:r>
              <a:rPr lang="de-DE" sz="2000" dirty="0">
                <a:latin typeface="Meta  "/>
              </a:rPr>
              <a:t> eines Zustands</a:t>
            </a:r>
          </a:p>
        </p:txBody>
      </p:sp>
    </p:spTree>
    <p:extLst>
      <p:ext uri="{BB962C8B-B14F-4D97-AF65-F5344CB8AC3E}">
        <p14:creationId xmlns:p14="http://schemas.microsoft.com/office/powerpoint/2010/main" val="161358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5" grpId="0" uiExpand="1" build="p"/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76399" y="1031240"/>
            <a:ext cx="406398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60" dirty="0"/>
              <a:t>Kantenbeschriftung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54726" y="3429000"/>
            <a:ext cx="5124450" cy="372110"/>
            <a:chOff x="1541334" y="2084945"/>
            <a:chExt cx="5124450" cy="372110"/>
          </a:xfrm>
        </p:grpSpPr>
        <p:sp>
          <p:nvSpPr>
            <p:cNvPr id="4" name="object 4"/>
            <p:cNvSpPr/>
            <p:nvPr/>
          </p:nvSpPr>
          <p:spPr>
            <a:xfrm>
              <a:off x="1547634" y="2091245"/>
              <a:ext cx="5111750" cy="359410"/>
            </a:xfrm>
            <a:custGeom>
              <a:avLst/>
              <a:gdLst/>
              <a:ahLst/>
              <a:cxnLst/>
              <a:rect l="l" t="t" r="r" b="b"/>
              <a:pathLst>
                <a:path w="5111750" h="359410">
                  <a:moveTo>
                    <a:pt x="0" y="59753"/>
                  </a:moveTo>
                  <a:lnTo>
                    <a:pt x="529" y="51946"/>
                  </a:lnTo>
                  <a:lnTo>
                    <a:pt x="2071" y="44273"/>
                  </a:lnTo>
                  <a:lnTo>
                    <a:pt x="23417" y="12355"/>
                  </a:lnTo>
                  <a:lnTo>
                    <a:pt x="59766" y="0"/>
                  </a:lnTo>
                  <a:lnTo>
                    <a:pt x="586803" y="0"/>
                  </a:lnTo>
                  <a:lnTo>
                    <a:pt x="623157" y="12355"/>
                  </a:lnTo>
                  <a:lnTo>
                    <a:pt x="644498" y="44273"/>
                  </a:lnTo>
                  <a:lnTo>
                    <a:pt x="646569" y="59753"/>
                  </a:lnTo>
                  <a:lnTo>
                    <a:pt x="646925" y="298792"/>
                  </a:lnTo>
                  <a:lnTo>
                    <a:pt x="646396" y="306600"/>
                  </a:lnTo>
                  <a:lnTo>
                    <a:pt x="629373" y="341007"/>
                  </a:lnTo>
                  <a:lnTo>
                    <a:pt x="594973" y="358029"/>
                  </a:lnTo>
                  <a:lnTo>
                    <a:pt x="59766" y="358914"/>
                  </a:lnTo>
                  <a:lnTo>
                    <a:pt x="51959" y="358385"/>
                  </a:lnTo>
                  <a:lnTo>
                    <a:pt x="17556" y="341363"/>
                  </a:lnTo>
                  <a:lnTo>
                    <a:pt x="529" y="306962"/>
                  </a:lnTo>
                  <a:lnTo>
                    <a:pt x="0" y="299148"/>
                  </a:lnTo>
                  <a:lnTo>
                    <a:pt x="0" y="59753"/>
                  </a:lnTo>
                  <a:close/>
                </a:path>
                <a:path w="5111750" h="359410">
                  <a:moveTo>
                    <a:pt x="4464367" y="59753"/>
                  </a:moveTo>
                  <a:lnTo>
                    <a:pt x="4464896" y="51946"/>
                  </a:lnTo>
                  <a:lnTo>
                    <a:pt x="4466437" y="44273"/>
                  </a:lnTo>
                  <a:lnTo>
                    <a:pt x="4487779" y="12355"/>
                  </a:lnTo>
                  <a:lnTo>
                    <a:pt x="4524121" y="0"/>
                  </a:lnTo>
                  <a:lnTo>
                    <a:pt x="5051171" y="0"/>
                  </a:lnTo>
                  <a:lnTo>
                    <a:pt x="5087512" y="12355"/>
                  </a:lnTo>
                  <a:lnTo>
                    <a:pt x="5108852" y="44273"/>
                  </a:lnTo>
                  <a:lnTo>
                    <a:pt x="5110924" y="59753"/>
                  </a:lnTo>
                  <a:lnTo>
                    <a:pt x="5111280" y="298792"/>
                  </a:lnTo>
                  <a:lnTo>
                    <a:pt x="5110752" y="306600"/>
                  </a:lnTo>
                  <a:lnTo>
                    <a:pt x="5093736" y="341007"/>
                  </a:lnTo>
                  <a:lnTo>
                    <a:pt x="5059333" y="358029"/>
                  </a:lnTo>
                  <a:lnTo>
                    <a:pt x="4524121" y="358914"/>
                  </a:lnTo>
                  <a:lnTo>
                    <a:pt x="4487779" y="346548"/>
                  </a:lnTo>
                  <a:lnTo>
                    <a:pt x="4466437" y="314637"/>
                  </a:lnTo>
                  <a:lnTo>
                    <a:pt x="4464367" y="299148"/>
                  </a:lnTo>
                  <a:lnTo>
                    <a:pt x="4464367" y="59753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94204" y="2270518"/>
              <a:ext cx="3735704" cy="0"/>
            </a:xfrm>
            <a:custGeom>
              <a:avLst/>
              <a:gdLst/>
              <a:ahLst/>
              <a:cxnLst/>
              <a:rect l="l" t="t" r="r" b="b"/>
              <a:pathLst>
                <a:path w="3735704">
                  <a:moveTo>
                    <a:pt x="0" y="0"/>
                  </a:moveTo>
                  <a:lnTo>
                    <a:pt x="3735349" y="0"/>
                  </a:lnTo>
                </a:path>
              </a:pathLst>
            </a:custGeom>
            <a:ln w="158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23800" y="2226602"/>
              <a:ext cx="88201" cy="8820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996099" y="2323359"/>
            <a:ext cx="7712075" cy="2851785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381635" indent="-342900">
              <a:spcBef>
                <a:spcPts val="147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81635" algn="l"/>
              </a:tabLst>
            </a:pPr>
            <a:r>
              <a:rPr sz="2400" spc="-114" dirty="0">
                <a:latin typeface="Arial"/>
                <a:cs typeface="Arial"/>
              </a:rPr>
              <a:t>Generelle </a:t>
            </a:r>
            <a:r>
              <a:rPr sz="2400" spc="-140" dirty="0">
                <a:latin typeface="Arial"/>
                <a:cs typeface="Arial"/>
              </a:rPr>
              <a:t>Form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der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Kantenbeschriftung:</a:t>
            </a:r>
            <a:endParaRPr sz="2400" dirty="0">
              <a:latin typeface="Arial"/>
              <a:cs typeface="Arial"/>
            </a:endParaRPr>
          </a:p>
          <a:p>
            <a:pPr marL="1791970">
              <a:spcBef>
                <a:spcPts val="1365"/>
              </a:spcBef>
            </a:pPr>
            <a:r>
              <a:rPr sz="2400" spc="-85" dirty="0">
                <a:latin typeface="Arial"/>
                <a:cs typeface="Arial"/>
              </a:rPr>
              <a:t>event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[condition]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254" dirty="0">
                <a:latin typeface="Arial"/>
                <a:cs typeface="Arial"/>
              </a:rPr>
              <a:t>/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reaction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885"/>
              </a:spcBef>
            </a:pPr>
            <a:endParaRPr sz="2400" dirty="0">
              <a:latin typeface="Arial"/>
              <a:cs typeface="Arial"/>
            </a:endParaRPr>
          </a:p>
          <a:p>
            <a:pPr marL="381635" indent="-342900"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81635" algn="l"/>
              </a:tabLst>
            </a:pPr>
            <a:r>
              <a:rPr sz="2400" i="1" spc="-150" dirty="0">
                <a:latin typeface="Arial"/>
                <a:cs typeface="Arial"/>
              </a:rPr>
              <a:t>Event</a:t>
            </a:r>
            <a:r>
              <a:rPr sz="2400" spc="-150" dirty="0">
                <a:latin typeface="Arial"/>
                <a:cs typeface="Arial"/>
              </a:rPr>
              <a:t>: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intern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oder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extern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generiert</a:t>
            </a:r>
            <a:endParaRPr sz="2400" dirty="0">
              <a:latin typeface="Arial"/>
              <a:cs typeface="Arial"/>
            </a:endParaRPr>
          </a:p>
          <a:p>
            <a:pPr marL="381635" indent="-342900">
              <a:spcBef>
                <a:spcPts val="715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81635" algn="l"/>
              </a:tabLst>
            </a:pPr>
            <a:r>
              <a:rPr sz="2400" i="1" spc="-100" dirty="0">
                <a:latin typeface="Arial"/>
                <a:cs typeface="Arial"/>
              </a:rPr>
              <a:t>Condition</a:t>
            </a:r>
            <a:r>
              <a:rPr sz="2400" spc="-100" dirty="0">
                <a:latin typeface="Arial"/>
                <a:cs typeface="Arial"/>
              </a:rPr>
              <a:t>: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Variablenbelegung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(x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210" dirty="0">
                <a:latin typeface="Arial"/>
                <a:cs typeface="Arial"/>
              </a:rPr>
              <a:t>=</a:t>
            </a:r>
            <a:r>
              <a:rPr sz="2400" spc="-95" dirty="0">
                <a:latin typeface="Arial"/>
                <a:cs typeface="Arial"/>
              </a:rPr>
              <a:t> 5),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interner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Zustand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(in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380" dirty="0">
                <a:latin typeface="Arial"/>
                <a:cs typeface="Arial"/>
              </a:rPr>
              <a:t>X)</a:t>
            </a:r>
            <a:endParaRPr sz="2400" dirty="0">
              <a:latin typeface="Arial"/>
              <a:cs typeface="Arial"/>
            </a:endParaRPr>
          </a:p>
          <a:p>
            <a:pPr marL="381635" indent="-342900">
              <a:spcBef>
                <a:spcPts val="71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81635" algn="l"/>
              </a:tabLst>
            </a:pPr>
            <a:r>
              <a:rPr sz="2400" i="1" spc="-130" dirty="0">
                <a:latin typeface="Arial"/>
                <a:cs typeface="Arial"/>
              </a:rPr>
              <a:t>Reaction</a:t>
            </a:r>
            <a:r>
              <a:rPr sz="2400" spc="-130" dirty="0">
                <a:latin typeface="Arial"/>
                <a:cs typeface="Arial"/>
              </a:rPr>
              <a:t>: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Variablenzuweisung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(x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:=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7),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Event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senden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7961" y="861119"/>
            <a:ext cx="406398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80" dirty="0"/>
              <a:t>Statechart-</a:t>
            </a:r>
            <a:r>
              <a:rPr spc="-135" dirty="0"/>
              <a:t>Konstrukte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44278" y="1681357"/>
            <a:ext cx="10249787" cy="4714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>
              <a:spcBef>
                <a:spcPts val="95"/>
              </a:spcBef>
            </a:pPr>
            <a:r>
              <a:rPr sz="2300" spc="-95" dirty="0">
                <a:solidFill>
                  <a:srgbClr val="2D75B7"/>
                </a:solidFill>
                <a:latin typeface="Arial"/>
                <a:cs typeface="Arial"/>
              </a:rPr>
              <a:t>Erweiterungen</a:t>
            </a:r>
            <a:r>
              <a:rPr sz="2300" spc="-85" dirty="0">
                <a:solidFill>
                  <a:srgbClr val="2D75B7"/>
                </a:solidFill>
                <a:latin typeface="Arial"/>
                <a:cs typeface="Arial"/>
              </a:rPr>
              <a:t> </a:t>
            </a:r>
            <a:r>
              <a:rPr sz="2300" spc="-30" dirty="0">
                <a:solidFill>
                  <a:srgbClr val="2D75B7"/>
                </a:solidFill>
                <a:latin typeface="Arial"/>
                <a:cs typeface="Arial"/>
              </a:rPr>
              <a:t>in</a:t>
            </a:r>
            <a:r>
              <a:rPr sz="2300" spc="-80" dirty="0">
                <a:solidFill>
                  <a:srgbClr val="2D75B7"/>
                </a:solidFill>
                <a:latin typeface="Arial"/>
                <a:cs typeface="Arial"/>
              </a:rPr>
              <a:t> </a:t>
            </a:r>
            <a:r>
              <a:rPr sz="2300" spc="-105" dirty="0">
                <a:solidFill>
                  <a:srgbClr val="2D75B7"/>
                </a:solidFill>
                <a:latin typeface="Arial"/>
                <a:cs typeface="Arial"/>
              </a:rPr>
              <a:t>Zustandsdiagrammen:</a:t>
            </a:r>
            <a:endParaRPr sz="2300" dirty="0">
              <a:latin typeface="Arial"/>
              <a:cs typeface="Arial"/>
            </a:endParaRPr>
          </a:p>
          <a:p>
            <a:pPr>
              <a:spcBef>
                <a:spcPts val="840"/>
              </a:spcBef>
            </a:pPr>
            <a:endParaRPr sz="2300" dirty="0">
              <a:latin typeface="Arial"/>
              <a:cs typeface="Arial"/>
            </a:endParaRPr>
          </a:p>
          <a:p>
            <a:pPr marL="241300" indent="-228600">
              <a:buClr>
                <a:srgbClr val="2D74B5"/>
              </a:buClr>
              <a:buSzPct val="110869"/>
              <a:buChar char="•"/>
              <a:tabLst>
                <a:tab pos="241300" algn="l"/>
              </a:tabLst>
            </a:pPr>
            <a:r>
              <a:rPr sz="2300" spc="-125" dirty="0">
                <a:latin typeface="Arial"/>
                <a:cs typeface="Arial"/>
              </a:rPr>
              <a:t>Oder-</a:t>
            </a:r>
            <a:r>
              <a:rPr sz="2300" spc="-140" dirty="0">
                <a:latin typeface="Arial"/>
                <a:cs typeface="Arial"/>
              </a:rPr>
              <a:t>Zustand</a:t>
            </a:r>
            <a:r>
              <a:rPr sz="2300" spc="-45" dirty="0">
                <a:latin typeface="Arial"/>
                <a:cs typeface="Arial"/>
              </a:rPr>
              <a:t> </a:t>
            </a:r>
            <a:r>
              <a:rPr sz="2300" spc="-265" dirty="0">
                <a:latin typeface="Arial"/>
                <a:cs typeface="Arial"/>
              </a:rPr>
              <a:t>(XOR-</a:t>
            </a:r>
            <a:r>
              <a:rPr sz="2300" spc="-10" dirty="0">
                <a:latin typeface="Arial"/>
                <a:cs typeface="Arial"/>
              </a:rPr>
              <a:t>Komposition)</a:t>
            </a:r>
            <a:endParaRPr sz="2300" dirty="0">
              <a:latin typeface="Arial"/>
              <a:cs typeface="Arial"/>
            </a:endParaRPr>
          </a:p>
          <a:p>
            <a:pPr marL="241300" indent="-228600">
              <a:spcBef>
                <a:spcPts val="725"/>
              </a:spcBef>
              <a:buClr>
                <a:srgbClr val="2D74B5"/>
              </a:buClr>
              <a:buSzPct val="110869"/>
              <a:buChar char="•"/>
              <a:tabLst>
                <a:tab pos="241300" algn="l"/>
              </a:tabLst>
            </a:pPr>
            <a:r>
              <a:rPr sz="2300" spc="-110" dirty="0">
                <a:latin typeface="Arial"/>
                <a:cs typeface="Arial"/>
              </a:rPr>
              <a:t>Und-</a:t>
            </a:r>
            <a:r>
              <a:rPr sz="2300" spc="-140" dirty="0">
                <a:latin typeface="Arial"/>
                <a:cs typeface="Arial"/>
              </a:rPr>
              <a:t>Zustand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spc="-170" dirty="0">
                <a:latin typeface="Arial"/>
                <a:cs typeface="Arial"/>
              </a:rPr>
              <a:t>(AND-</a:t>
            </a:r>
            <a:r>
              <a:rPr sz="2300" spc="-10" dirty="0">
                <a:latin typeface="Arial"/>
                <a:cs typeface="Arial"/>
              </a:rPr>
              <a:t>Komposition)</a:t>
            </a:r>
            <a:endParaRPr sz="2300" dirty="0">
              <a:latin typeface="Arial"/>
              <a:cs typeface="Arial"/>
            </a:endParaRPr>
          </a:p>
          <a:p>
            <a:pPr marL="241300" indent="-228600">
              <a:spcBef>
                <a:spcPts val="720"/>
              </a:spcBef>
              <a:buClr>
                <a:srgbClr val="2D74B5"/>
              </a:buClr>
              <a:buSzPct val="110869"/>
              <a:buChar char="•"/>
              <a:tabLst>
                <a:tab pos="241300" algn="l"/>
              </a:tabLst>
            </a:pPr>
            <a:r>
              <a:rPr sz="2300" spc="-100" dirty="0">
                <a:latin typeface="Arial"/>
                <a:cs typeface="Arial"/>
              </a:rPr>
              <a:t>Hierarchie</a:t>
            </a:r>
            <a:r>
              <a:rPr sz="2300" spc="-85" dirty="0">
                <a:latin typeface="Arial"/>
                <a:cs typeface="Arial"/>
              </a:rPr>
              <a:t> und </a:t>
            </a:r>
            <a:r>
              <a:rPr sz="2300" spc="-10" dirty="0">
                <a:latin typeface="Arial"/>
                <a:cs typeface="Arial"/>
              </a:rPr>
              <a:t>Verfeinerung</a:t>
            </a:r>
            <a:endParaRPr sz="2300" dirty="0">
              <a:latin typeface="Arial"/>
              <a:cs typeface="Arial"/>
            </a:endParaRPr>
          </a:p>
          <a:p>
            <a:pPr marL="241300" indent="-228600">
              <a:spcBef>
                <a:spcPts val="725"/>
              </a:spcBef>
              <a:buClr>
                <a:srgbClr val="2D74B5"/>
              </a:buClr>
              <a:buSzPct val="110869"/>
              <a:buChar char="•"/>
              <a:tabLst>
                <a:tab pos="241300" algn="l"/>
              </a:tabLst>
            </a:pPr>
            <a:r>
              <a:rPr sz="2300" spc="-25" dirty="0">
                <a:latin typeface="Arial"/>
                <a:cs typeface="Arial"/>
              </a:rPr>
              <a:t>Broadcast</a:t>
            </a:r>
            <a:endParaRPr sz="2300" dirty="0">
              <a:latin typeface="Arial"/>
              <a:cs typeface="Arial"/>
            </a:endParaRPr>
          </a:p>
          <a:p>
            <a:pPr marL="241300" indent="-228600">
              <a:spcBef>
                <a:spcPts val="725"/>
              </a:spcBef>
              <a:buClr>
                <a:srgbClr val="2D74B5"/>
              </a:buClr>
              <a:buSzPct val="110869"/>
              <a:buChar char="•"/>
              <a:tabLst>
                <a:tab pos="241300" algn="l"/>
              </a:tabLst>
            </a:pPr>
            <a:r>
              <a:rPr sz="2300" spc="-50" dirty="0">
                <a:latin typeface="Arial"/>
                <a:cs typeface="Arial"/>
              </a:rPr>
              <a:t>Zusammenführung</a:t>
            </a:r>
            <a:endParaRPr sz="2300" dirty="0">
              <a:latin typeface="Arial"/>
              <a:cs typeface="Arial"/>
            </a:endParaRPr>
          </a:p>
          <a:p>
            <a:pPr marL="241300" indent="-228600">
              <a:spcBef>
                <a:spcPts val="725"/>
              </a:spcBef>
              <a:buClr>
                <a:srgbClr val="2D74B5"/>
              </a:buClr>
              <a:buSzPct val="110869"/>
              <a:buChar char="•"/>
              <a:tabLst>
                <a:tab pos="241300" algn="l"/>
              </a:tabLst>
            </a:pPr>
            <a:r>
              <a:rPr sz="2300" spc="-10" dirty="0">
                <a:latin typeface="Arial"/>
                <a:cs typeface="Arial"/>
              </a:rPr>
              <a:t>Historie</a:t>
            </a:r>
            <a:endParaRPr sz="2300" dirty="0">
              <a:latin typeface="Arial"/>
              <a:cs typeface="Arial"/>
            </a:endParaRPr>
          </a:p>
          <a:p>
            <a:pPr marL="241300" indent="-228600">
              <a:spcBef>
                <a:spcPts val="720"/>
              </a:spcBef>
              <a:buClr>
                <a:srgbClr val="2D74B5"/>
              </a:buClr>
              <a:buSzPct val="110869"/>
              <a:buChar char="•"/>
              <a:tabLst>
                <a:tab pos="241300" algn="l"/>
              </a:tabLst>
            </a:pPr>
            <a:r>
              <a:rPr sz="2300" spc="-25" dirty="0">
                <a:latin typeface="Arial"/>
                <a:cs typeface="Arial"/>
              </a:rPr>
              <a:t>Konditionalkonnektor</a:t>
            </a:r>
            <a:endParaRPr sz="2300" dirty="0">
              <a:latin typeface="Arial"/>
              <a:cs typeface="Arial"/>
            </a:endParaRPr>
          </a:p>
          <a:p>
            <a:pPr marL="241300" indent="-228600">
              <a:spcBef>
                <a:spcPts val="725"/>
              </a:spcBef>
              <a:buClr>
                <a:srgbClr val="2D74B5"/>
              </a:buClr>
              <a:buSzPct val="110869"/>
              <a:buChar char="•"/>
              <a:tabLst>
                <a:tab pos="241300" algn="l"/>
              </a:tabLst>
            </a:pPr>
            <a:r>
              <a:rPr sz="2300" spc="-10" dirty="0">
                <a:latin typeface="Arial"/>
                <a:cs typeface="Arial"/>
              </a:rPr>
              <a:t>Timer</a:t>
            </a:r>
            <a:endParaRPr sz="2300" dirty="0">
              <a:latin typeface="Arial"/>
              <a:cs typeface="Arial"/>
            </a:endParaRPr>
          </a:p>
          <a:p>
            <a:pPr marL="241300" indent="-228600">
              <a:spcBef>
                <a:spcPts val="725"/>
              </a:spcBef>
              <a:buClr>
                <a:srgbClr val="2D74B5"/>
              </a:buClr>
              <a:buSzPct val="110869"/>
              <a:buChar char="•"/>
              <a:tabLst>
                <a:tab pos="241300" algn="l"/>
              </a:tabLst>
            </a:pPr>
            <a:r>
              <a:rPr sz="2300" spc="-100" dirty="0">
                <a:latin typeface="Arial"/>
                <a:cs typeface="Arial"/>
              </a:rPr>
              <a:t>Entry-</a:t>
            </a:r>
            <a:r>
              <a:rPr sz="2300" spc="-80" dirty="0">
                <a:latin typeface="Arial"/>
                <a:cs typeface="Arial"/>
              </a:rPr>
              <a:t>,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125" dirty="0">
                <a:latin typeface="Arial"/>
                <a:cs typeface="Arial"/>
              </a:rPr>
              <a:t>Exit-</a:t>
            </a:r>
            <a:r>
              <a:rPr sz="2300" spc="-80" dirty="0">
                <a:latin typeface="Arial"/>
                <a:cs typeface="Arial"/>
              </a:rPr>
              <a:t>, </a:t>
            </a:r>
            <a:r>
              <a:rPr sz="2300" spc="-85" dirty="0">
                <a:latin typeface="Arial"/>
                <a:cs typeface="Arial"/>
              </a:rPr>
              <a:t>Throughout</a:t>
            </a:r>
            <a:r>
              <a:rPr sz="2300" spc="-8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Actions</a:t>
            </a:r>
            <a:endParaRPr sz="23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Oder-Zustand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idx="1"/>
          </p:nvPr>
        </p:nvSpPr>
        <p:spPr>
          <a:xfrm>
            <a:off x="346049" y="1954694"/>
            <a:ext cx="11478895" cy="3693319"/>
          </a:xfrm>
        </p:spPr>
        <p:txBody>
          <a:bodyPr/>
          <a:lstStyle/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0000FF"/>
                </a:solidFill>
              </a:rPr>
              <a:t>Zusammenfassung</a:t>
            </a:r>
            <a:r>
              <a:rPr lang="de-DE" sz="2800" dirty="0"/>
              <a:t> eines Teils des Automaten zu einem </a:t>
            </a:r>
            <a:r>
              <a:rPr lang="de-DE" sz="2800" dirty="0">
                <a:solidFill>
                  <a:srgbClr val="0000FF"/>
                </a:solidFill>
              </a:rPr>
              <a:t>Oberzustand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Innerhalb Oberzustand: </a:t>
            </a: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interner Anfangszustand (Default-Zustand)</a:t>
            </a: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wird bei Übergang in Oberzustand eingenommen</a:t>
            </a: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auch Übergänge in bzw. aus beliebigen internen Zuständen heraus möglich</a:t>
            </a:r>
          </a:p>
          <a:p>
            <a:pPr marL="800100" lvl="1" indent="-34290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Oberzustand selbst ist kein Zustand, d.h. Automat ist immer in einem der internen Zustände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Beispiel Auto: Alle Zustände, in denen PKW fährt, bilden Oberzustand. Ereignis „Bremsen“ führt heraus. 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35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7670167" cy="984885"/>
          </a:xfrm>
        </p:spPr>
        <p:txBody>
          <a:bodyPr/>
          <a:lstStyle/>
          <a:p>
            <a:r>
              <a:rPr lang="de-DE" dirty="0"/>
              <a:t>Hierarchie und Verfeinerung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idx="1"/>
          </p:nvPr>
        </p:nvSpPr>
        <p:spPr>
          <a:xfrm>
            <a:off x="352398" y="2176838"/>
            <a:ext cx="11247472" cy="3834896"/>
          </a:xfrm>
        </p:spPr>
        <p:txBody>
          <a:bodyPr/>
          <a:lstStyle/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0000FF"/>
                </a:solidFill>
              </a:rPr>
              <a:t>Oberzustand</a:t>
            </a:r>
            <a:r>
              <a:rPr lang="de-DE" sz="2800" dirty="0"/>
              <a:t> aktiv genau dann wenn einer der Unterzustände aktiv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höchstens ein Unterzustand aktiv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schematisch dargestellt durch Schachtelung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endParaRPr lang="de-DE" sz="2800" dirty="0"/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Vorteile	</a:t>
            </a:r>
          </a:p>
          <a:p>
            <a:pPr marL="914400" lvl="1" indent="-45720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0000FF"/>
                </a:solidFill>
              </a:rPr>
              <a:t>Reduktion</a:t>
            </a:r>
            <a:r>
              <a:rPr lang="de-DE" sz="2800" dirty="0"/>
              <a:t>: Zusammenfassen ähnlicher Zustände, insgesamt weniger Kanten</a:t>
            </a:r>
          </a:p>
          <a:p>
            <a:pPr marL="914400" lvl="1" indent="-45720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entspricht </a:t>
            </a:r>
            <a:r>
              <a:rPr lang="de-DE" sz="2800" dirty="0">
                <a:solidFill>
                  <a:srgbClr val="0000FF"/>
                </a:solidFill>
              </a:rPr>
              <a:t>Entwurf mittels Verfeinerung</a:t>
            </a:r>
          </a:p>
          <a:p>
            <a:pPr marL="914400" lvl="1" indent="-4572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de-DE" sz="2800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36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8353425" cy="984885"/>
          </a:xfrm>
        </p:spPr>
        <p:txBody>
          <a:bodyPr/>
          <a:lstStyle/>
          <a:p>
            <a:r>
              <a:rPr lang="de-DE" dirty="0"/>
              <a:t>Beispiel Automat für Auto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38596" name="Text Box 4"/>
          <p:cNvSpPr txBox="1">
            <a:spLocks noChangeArrowheads="1"/>
          </p:cNvSpPr>
          <p:nvPr/>
        </p:nvSpPr>
        <p:spPr bwMode="auto">
          <a:xfrm>
            <a:off x="4662485" y="2185317"/>
            <a:ext cx="2305050" cy="5381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800"/>
              <a:t>Zündung-aus</a:t>
            </a:r>
          </a:p>
        </p:txBody>
      </p:sp>
      <p:sp>
        <p:nvSpPr>
          <p:cNvPr id="238597" name="Text Box 5"/>
          <p:cNvSpPr txBox="1">
            <a:spLocks noChangeArrowheads="1"/>
          </p:cNvSpPr>
          <p:nvPr/>
        </p:nvSpPr>
        <p:spPr bwMode="auto">
          <a:xfrm>
            <a:off x="2193924" y="3112417"/>
            <a:ext cx="836613" cy="53816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800"/>
              <a:t>Halt</a:t>
            </a:r>
          </a:p>
        </p:txBody>
      </p:sp>
      <p:sp>
        <p:nvSpPr>
          <p:cNvPr id="238598" name="Text Box 6"/>
          <p:cNvSpPr txBox="1">
            <a:spLocks noChangeArrowheads="1"/>
          </p:cNvSpPr>
          <p:nvPr/>
        </p:nvSpPr>
        <p:spPr bwMode="auto">
          <a:xfrm>
            <a:off x="3078160" y="4922167"/>
            <a:ext cx="1689100" cy="53816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Ausrollen</a:t>
            </a:r>
            <a:endParaRPr lang="de-DE" sz="2800"/>
          </a:p>
        </p:txBody>
      </p:sp>
      <p:sp>
        <p:nvSpPr>
          <p:cNvPr id="238599" name="Text Box 7"/>
          <p:cNvSpPr txBox="1">
            <a:spLocks noChangeArrowheads="1"/>
          </p:cNvSpPr>
          <p:nvPr/>
        </p:nvSpPr>
        <p:spPr bwMode="auto">
          <a:xfrm>
            <a:off x="6607172" y="4922167"/>
            <a:ext cx="2541588" cy="53816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800"/>
              <a:t>Beschleunigen</a:t>
            </a:r>
          </a:p>
        </p:txBody>
      </p:sp>
      <p:sp>
        <p:nvSpPr>
          <p:cNvPr id="238602" name="Rectangle 10"/>
          <p:cNvSpPr>
            <a:spLocks noChangeArrowheads="1"/>
          </p:cNvSpPr>
          <p:nvPr/>
        </p:nvSpPr>
        <p:spPr bwMode="auto">
          <a:xfrm>
            <a:off x="2717797" y="4130004"/>
            <a:ext cx="6985000" cy="216058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38603" name="Oval 11"/>
          <p:cNvSpPr>
            <a:spLocks noChangeArrowheads="1"/>
          </p:cNvSpPr>
          <p:nvPr/>
        </p:nvSpPr>
        <p:spPr bwMode="auto">
          <a:xfrm>
            <a:off x="8910635" y="4520531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38604" name="Line 12"/>
          <p:cNvSpPr>
            <a:spLocks noChangeShapeType="1"/>
          </p:cNvSpPr>
          <p:nvPr/>
        </p:nvSpPr>
        <p:spPr bwMode="auto">
          <a:xfrm flipH="1">
            <a:off x="8167687" y="4625304"/>
            <a:ext cx="720725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38605" name="Text Box 13"/>
          <p:cNvSpPr txBox="1">
            <a:spLocks noChangeArrowheads="1"/>
          </p:cNvSpPr>
          <p:nvPr/>
        </p:nvSpPr>
        <p:spPr bwMode="auto">
          <a:xfrm>
            <a:off x="4949822" y="4490369"/>
            <a:ext cx="14414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/>
              <a:t>gas_geben</a:t>
            </a:r>
          </a:p>
        </p:txBody>
      </p:sp>
      <p:sp>
        <p:nvSpPr>
          <p:cNvPr id="238606" name="Line 14"/>
          <p:cNvSpPr>
            <a:spLocks noChangeShapeType="1"/>
          </p:cNvSpPr>
          <p:nvPr/>
        </p:nvSpPr>
        <p:spPr bwMode="auto">
          <a:xfrm flipH="1" flipV="1">
            <a:off x="2789235" y="3698204"/>
            <a:ext cx="360362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38607" name="Text Box 15"/>
          <p:cNvSpPr txBox="1">
            <a:spLocks noChangeArrowheads="1"/>
          </p:cNvSpPr>
          <p:nvPr/>
        </p:nvSpPr>
        <p:spPr bwMode="auto">
          <a:xfrm>
            <a:off x="2986087" y="3620419"/>
            <a:ext cx="1171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/>
              <a:t>bremsen</a:t>
            </a:r>
          </a:p>
        </p:txBody>
      </p:sp>
      <p:sp>
        <p:nvSpPr>
          <p:cNvPr id="238608" name="Arc 16"/>
          <p:cNvSpPr>
            <a:spLocks/>
          </p:cNvSpPr>
          <p:nvPr/>
        </p:nvSpPr>
        <p:spPr bwMode="auto">
          <a:xfrm>
            <a:off x="3149599" y="3410867"/>
            <a:ext cx="4608513" cy="863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095"/>
              <a:gd name="T1" fmla="*/ 0 h 21600"/>
              <a:gd name="T2" fmla="*/ 21095 w 21095"/>
              <a:gd name="T3" fmla="*/ 16955 h 21600"/>
              <a:gd name="T4" fmla="*/ 0 w 2109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095" h="21600" fill="none" extrusionOk="0">
                <a:moveTo>
                  <a:pt x="-1" y="0"/>
                </a:moveTo>
                <a:cubicBezTo>
                  <a:pt x="10139" y="0"/>
                  <a:pt x="18914" y="7052"/>
                  <a:pt x="21094" y="16955"/>
                </a:cubicBezTo>
              </a:path>
              <a:path w="21095" h="21600" stroke="0" extrusionOk="0">
                <a:moveTo>
                  <a:pt x="-1" y="0"/>
                </a:moveTo>
                <a:cubicBezTo>
                  <a:pt x="10139" y="0"/>
                  <a:pt x="18914" y="7052"/>
                  <a:pt x="21094" y="16955"/>
                </a:cubicBez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38609" name="Text Box 17"/>
          <p:cNvSpPr txBox="1">
            <a:spLocks noChangeArrowheads="1"/>
          </p:cNvSpPr>
          <p:nvPr/>
        </p:nvSpPr>
        <p:spPr bwMode="auto">
          <a:xfrm>
            <a:off x="2789235" y="4203029"/>
            <a:ext cx="895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/>
              <a:t>Fahrt</a:t>
            </a:r>
          </a:p>
        </p:txBody>
      </p:sp>
      <p:sp>
        <p:nvSpPr>
          <p:cNvPr id="238611" name="Line 19"/>
          <p:cNvSpPr>
            <a:spLocks noChangeShapeType="1"/>
          </p:cNvSpPr>
          <p:nvPr/>
        </p:nvSpPr>
        <p:spPr bwMode="auto">
          <a:xfrm rot="10800000" flipV="1">
            <a:off x="2501899" y="2402804"/>
            <a:ext cx="2087563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38612" name="Text Box 20"/>
          <p:cNvSpPr txBox="1">
            <a:spLocks noChangeArrowheads="1"/>
          </p:cNvSpPr>
          <p:nvPr/>
        </p:nvSpPr>
        <p:spPr bwMode="auto">
          <a:xfrm>
            <a:off x="2789237" y="2329781"/>
            <a:ext cx="8207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/>
              <a:t>Z_ein</a:t>
            </a:r>
          </a:p>
        </p:txBody>
      </p:sp>
      <p:sp>
        <p:nvSpPr>
          <p:cNvPr id="238613" name="Text Box 21"/>
          <p:cNvSpPr txBox="1">
            <a:spLocks noChangeArrowheads="1"/>
          </p:cNvSpPr>
          <p:nvPr/>
        </p:nvSpPr>
        <p:spPr bwMode="auto">
          <a:xfrm>
            <a:off x="9068223" y="1826667"/>
            <a:ext cx="12105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b="1"/>
              <a:t>Fahren</a:t>
            </a:r>
          </a:p>
        </p:txBody>
      </p:sp>
      <p:sp>
        <p:nvSpPr>
          <p:cNvPr id="238614" name="Line 22"/>
          <p:cNvSpPr>
            <a:spLocks noChangeShapeType="1"/>
          </p:cNvSpPr>
          <p:nvPr/>
        </p:nvSpPr>
        <p:spPr bwMode="auto">
          <a:xfrm flipV="1">
            <a:off x="3078160" y="2690144"/>
            <a:ext cx="1511300" cy="503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38615" name="Text Box 23"/>
          <p:cNvSpPr txBox="1">
            <a:spLocks noChangeArrowheads="1"/>
          </p:cNvSpPr>
          <p:nvPr/>
        </p:nvSpPr>
        <p:spPr bwMode="auto">
          <a:xfrm>
            <a:off x="3798887" y="2834606"/>
            <a:ext cx="8905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/>
              <a:t>Z_aus</a:t>
            </a:r>
          </a:p>
        </p:txBody>
      </p:sp>
      <p:sp>
        <p:nvSpPr>
          <p:cNvPr id="238616" name="Oval 24"/>
          <p:cNvSpPr>
            <a:spLocks noChangeArrowheads="1"/>
          </p:cNvSpPr>
          <p:nvPr/>
        </p:nvSpPr>
        <p:spPr bwMode="auto">
          <a:xfrm>
            <a:off x="8285162" y="3058444"/>
            <a:ext cx="122237" cy="1349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38617" name="Line 25"/>
          <p:cNvSpPr>
            <a:spLocks noChangeShapeType="1"/>
          </p:cNvSpPr>
          <p:nvPr/>
        </p:nvSpPr>
        <p:spPr bwMode="auto">
          <a:xfrm flipH="1" flipV="1">
            <a:off x="7029449" y="2556794"/>
            <a:ext cx="1223963" cy="503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38618" name="Line 26"/>
          <p:cNvSpPr>
            <a:spLocks noChangeShapeType="1"/>
          </p:cNvSpPr>
          <p:nvPr/>
        </p:nvSpPr>
        <p:spPr bwMode="auto">
          <a:xfrm flipH="1" flipV="1">
            <a:off x="3006722" y="1610642"/>
            <a:ext cx="1582738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38619" name="Rectangle 27"/>
          <p:cNvSpPr>
            <a:spLocks noChangeArrowheads="1"/>
          </p:cNvSpPr>
          <p:nvPr/>
        </p:nvSpPr>
        <p:spPr bwMode="auto">
          <a:xfrm>
            <a:off x="1925637" y="1826544"/>
            <a:ext cx="8353425" cy="475138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38620" name="Text Box 28"/>
          <p:cNvSpPr txBox="1">
            <a:spLocks noChangeArrowheads="1"/>
          </p:cNvSpPr>
          <p:nvPr/>
        </p:nvSpPr>
        <p:spPr bwMode="auto">
          <a:xfrm>
            <a:off x="4949822" y="3121944"/>
            <a:ext cx="14414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/>
              <a:t>gas_geben</a:t>
            </a:r>
          </a:p>
        </p:txBody>
      </p:sp>
      <p:sp>
        <p:nvSpPr>
          <p:cNvPr id="238621" name="Arc 29"/>
          <p:cNvSpPr>
            <a:spLocks/>
          </p:cNvSpPr>
          <p:nvPr/>
        </p:nvSpPr>
        <p:spPr bwMode="auto">
          <a:xfrm>
            <a:off x="4781549" y="4847556"/>
            <a:ext cx="1825625" cy="219075"/>
          </a:xfrm>
          <a:custGeom>
            <a:avLst/>
            <a:gdLst>
              <a:gd name="G0" fmla="+- 19976 0 0"/>
              <a:gd name="G1" fmla="+- 21600 0 0"/>
              <a:gd name="G2" fmla="+- 21600 0 0"/>
              <a:gd name="T0" fmla="*/ 0 w 41213"/>
              <a:gd name="T1" fmla="*/ 13382 h 21600"/>
              <a:gd name="T2" fmla="*/ 41213 w 41213"/>
              <a:gd name="T3" fmla="*/ 17656 h 21600"/>
              <a:gd name="T4" fmla="*/ 19976 w 4121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1213" h="21600" fill="none" extrusionOk="0">
                <a:moveTo>
                  <a:pt x="0" y="13382"/>
                </a:moveTo>
                <a:cubicBezTo>
                  <a:pt x="3331" y="5285"/>
                  <a:pt x="11220" y="-1"/>
                  <a:pt x="19976" y="0"/>
                </a:cubicBezTo>
                <a:cubicBezTo>
                  <a:pt x="30384" y="0"/>
                  <a:pt x="39312" y="7422"/>
                  <a:pt x="41212" y="17656"/>
                </a:cubicBezTo>
              </a:path>
              <a:path w="41213" h="21600" stroke="0" extrusionOk="0">
                <a:moveTo>
                  <a:pt x="0" y="13382"/>
                </a:moveTo>
                <a:cubicBezTo>
                  <a:pt x="3331" y="5285"/>
                  <a:pt x="11220" y="-1"/>
                  <a:pt x="19976" y="0"/>
                </a:cubicBezTo>
                <a:cubicBezTo>
                  <a:pt x="30384" y="0"/>
                  <a:pt x="39312" y="7422"/>
                  <a:pt x="41212" y="17656"/>
                </a:cubicBezTo>
                <a:lnTo>
                  <a:pt x="19976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38622" name="Arc 30"/>
          <p:cNvSpPr>
            <a:spLocks/>
          </p:cNvSpPr>
          <p:nvPr/>
        </p:nvSpPr>
        <p:spPr bwMode="auto">
          <a:xfrm rot="10800000">
            <a:off x="4781549" y="5353969"/>
            <a:ext cx="1825625" cy="219075"/>
          </a:xfrm>
          <a:custGeom>
            <a:avLst/>
            <a:gdLst>
              <a:gd name="G0" fmla="+- 19976 0 0"/>
              <a:gd name="G1" fmla="+- 21600 0 0"/>
              <a:gd name="G2" fmla="+- 21600 0 0"/>
              <a:gd name="T0" fmla="*/ 0 w 41213"/>
              <a:gd name="T1" fmla="*/ 13382 h 21600"/>
              <a:gd name="T2" fmla="*/ 41213 w 41213"/>
              <a:gd name="T3" fmla="*/ 17656 h 21600"/>
              <a:gd name="T4" fmla="*/ 19976 w 4121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1213" h="21600" fill="none" extrusionOk="0">
                <a:moveTo>
                  <a:pt x="0" y="13382"/>
                </a:moveTo>
                <a:cubicBezTo>
                  <a:pt x="3331" y="5285"/>
                  <a:pt x="11220" y="-1"/>
                  <a:pt x="19976" y="0"/>
                </a:cubicBezTo>
                <a:cubicBezTo>
                  <a:pt x="30384" y="0"/>
                  <a:pt x="39312" y="7422"/>
                  <a:pt x="41212" y="17656"/>
                </a:cubicBezTo>
              </a:path>
              <a:path w="41213" h="21600" stroke="0" extrusionOk="0">
                <a:moveTo>
                  <a:pt x="0" y="13382"/>
                </a:moveTo>
                <a:cubicBezTo>
                  <a:pt x="3331" y="5285"/>
                  <a:pt x="11220" y="-1"/>
                  <a:pt x="19976" y="0"/>
                </a:cubicBezTo>
                <a:cubicBezTo>
                  <a:pt x="30384" y="0"/>
                  <a:pt x="39312" y="7422"/>
                  <a:pt x="41212" y="17656"/>
                </a:cubicBezTo>
                <a:lnTo>
                  <a:pt x="19976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38623" name="Text Box 31"/>
          <p:cNvSpPr txBox="1">
            <a:spLocks noChangeArrowheads="1"/>
          </p:cNvSpPr>
          <p:nvPr/>
        </p:nvSpPr>
        <p:spPr bwMode="auto">
          <a:xfrm>
            <a:off x="4733924" y="5498431"/>
            <a:ext cx="20621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/>
              <a:t>vom_gas_gehen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37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3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8" grpId="0" animBg="1"/>
      <p:bldP spid="238599" grpId="0" animBg="1"/>
      <p:bldP spid="238603" grpId="0" animBg="1"/>
      <p:bldP spid="238603" grpId="1" animBg="1"/>
      <p:bldP spid="238604" grpId="0" animBg="1"/>
      <p:bldP spid="238605" grpId="0"/>
      <p:bldP spid="238621" grpId="0" animBg="1"/>
      <p:bldP spid="238622" grpId="0" animBg="1"/>
      <p:bldP spid="23862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7704673" cy="984885"/>
          </a:xfrm>
        </p:spPr>
        <p:txBody>
          <a:bodyPr/>
          <a:lstStyle/>
          <a:p>
            <a:r>
              <a:rPr lang="de-DE" dirty="0"/>
              <a:t>Beispiel: Musik im Auto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44740" name="Text Box 4"/>
          <p:cNvSpPr txBox="1">
            <a:spLocks noChangeArrowheads="1"/>
          </p:cNvSpPr>
          <p:nvPr/>
        </p:nvSpPr>
        <p:spPr bwMode="auto">
          <a:xfrm>
            <a:off x="3521405" y="2932361"/>
            <a:ext cx="1908175" cy="5381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800"/>
              <a:t>Radio_aus</a:t>
            </a:r>
          </a:p>
        </p:txBody>
      </p:sp>
      <p:sp>
        <p:nvSpPr>
          <p:cNvPr id="244741" name="Text Box 5"/>
          <p:cNvSpPr txBox="1">
            <a:spLocks noChangeArrowheads="1"/>
          </p:cNvSpPr>
          <p:nvPr/>
        </p:nvSpPr>
        <p:spPr bwMode="auto">
          <a:xfrm>
            <a:off x="6617028" y="4516686"/>
            <a:ext cx="1809750" cy="5381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800"/>
              <a:t>Radio_ein</a:t>
            </a:r>
          </a:p>
        </p:txBody>
      </p:sp>
      <p:sp>
        <p:nvSpPr>
          <p:cNvPr id="244742" name="Arc 6"/>
          <p:cNvSpPr>
            <a:spLocks/>
          </p:cNvSpPr>
          <p:nvPr/>
        </p:nvSpPr>
        <p:spPr bwMode="auto">
          <a:xfrm>
            <a:off x="5537530" y="3221284"/>
            <a:ext cx="2087563" cy="136683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447"/>
              <a:gd name="T1" fmla="*/ 0 h 21600"/>
              <a:gd name="T2" fmla="*/ 21447 w 21447"/>
              <a:gd name="T3" fmla="*/ 19031 h 21600"/>
              <a:gd name="T4" fmla="*/ 0 w 21447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47" h="21600" fill="none" extrusionOk="0">
                <a:moveTo>
                  <a:pt x="-1" y="0"/>
                </a:moveTo>
                <a:cubicBezTo>
                  <a:pt x="10935" y="0"/>
                  <a:pt x="20146" y="8172"/>
                  <a:pt x="21446" y="19031"/>
                </a:cubicBezTo>
              </a:path>
              <a:path w="21447" h="21600" stroke="0" extrusionOk="0">
                <a:moveTo>
                  <a:pt x="-1" y="0"/>
                </a:moveTo>
                <a:cubicBezTo>
                  <a:pt x="10935" y="0"/>
                  <a:pt x="20146" y="8172"/>
                  <a:pt x="21446" y="19031"/>
                </a:cubicBez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lg" len="lg"/>
            <a:tailEnd type="non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44744" name="Arc 8"/>
          <p:cNvSpPr>
            <a:spLocks/>
          </p:cNvSpPr>
          <p:nvPr/>
        </p:nvSpPr>
        <p:spPr bwMode="auto">
          <a:xfrm rot="5400000" flipV="1">
            <a:off x="4961267" y="3003797"/>
            <a:ext cx="1223963" cy="237648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447"/>
              <a:gd name="T1" fmla="*/ 0 h 21600"/>
              <a:gd name="T2" fmla="*/ 21447 w 21447"/>
              <a:gd name="T3" fmla="*/ 19031 h 21600"/>
              <a:gd name="T4" fmla="*/ 0 w 21447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47" h="21600" fill="none" extrusionOk="0">
                <a:moveTo>
                  <a:pt x="-1" y="0"/>
                </a:moveTo>
                <a:cubicBezTo>
                  <a:pt x="10935" y="0"/>
                  <a:pt x="20146" y="8172"/>
                  <a:pt x="21446" y="19031"/>
                </a:cubicBezTo>
              </a:path>
              <a:path w="21447" h="21600" stroke="0" extrusionOk="0">
                <a:moveTo>
                  <a:pt x="-1" y="0"/>
                </a:moveTo>
                <a:cubicBezTo>
                  <a:pt x="10935" y="0"/>
                  <a:pt x="20146" y="8172"/>
                  <a:pt x="21446" y="19031"/>
                </a:cubicBez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44746" name="Text Box 10"/>
          <p:cNvSpPr txBox="1">
            <a:spLocks noChangeArrowheads="1"/>
          </p:cNvSpPr>
          <p:nvPr/>
        </p:nvSpPr>
        <p:spPr bwMode="auto">
          <a:xfrm>
            <a:off x="4169105" y="4300784"/>
            <a:ext cx="11256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800"/>
              <a:t>R_ein</a:t>
            </a:r>
          </a:p>
        </p:txBody>
      </p:sp>
      <p:sp>
        <p:nvSpPr>
          <p:cNvPr id="244747" name="Text Box 11"/>
          <p:cNvSpPr txBox="1">
            <a:spLocks noChangeArrowheads="1"/>
          </p:cNvSpPr>
          <p:nvPr/>
        </p:nvSpPr>
        <p:spPr bwMode="auto">
          <a:xfrm>
            <a:off x="6113791" y="2932359"/>
            <a:ext cx="122501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800"/>
              <a:t>R_aus</a:t>
            </a:r>
          </a:p>
        </p:txBody>
      </p:sp>
      <p:sp>
        <p:nvSpPr>
          <p:cNvPr id="244748" name="Oval 12"/>
          <p:cNvSpPr>
            <a:spLocks noChangeArrowheads="1"/>
          </p:cNvSpPr>
          <p:nvPr/>
        </p:nvSpPr>
        <p:spPr bwMode="auto">
          <a:xfrm>
            <a:off x="4231016" y="1798886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44749" name="Line 13"/>
          <p:cNvSpPr>
            <a:spLocks noChangeShapeType="1"/>
          </p:cNvSpPr>
          <p:nvPr/>
        </p:nvSpPr>
        <p:spPr bwMode="auto">
          <a:xfrm>
            <a:off x="4318330" y="1967161"/>
            <a:ext cx="138113" cy="892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44750" name="Rectangle 14"/>
          <p:cNvSpPr>
            <a:spLocks noChangeArrowheads="1"/>
          </p:cNvSpPr>
          <p:nvPr/>
        </p:nvSpPr>
        <p:spPr bwMode="auto">
          <a:xfrm>
            <a:off x="3089605" y="2571997"/>
            <a:ext cx="6048375" cy="36004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44751" name="Text Box 15"/>
          <p:cNvSpPr txBox="1">
            <a:spLocks noChangeArrowheads="1"/>
          </p:cNvSpPr>
          <p:nvPr/>
        </p:nvSpPr>
        <p:spPr bwMode="auto">
          <a:xfrm>
            <a:off x="7192145" y="2580606"/>
            <a:ext cx="20136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b="1" dirty="0"/>
              <a:t>Musik-hören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38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Und-Zustand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idx="1"/>
          </p:nvPr>
        </p:nvSpPr>
        <p:spPr>
          <a:xfrm>
            <a:off x="346430" y="2558542"/>
            <a:ext cx="10954174" cy="2154436"/>
          </a:xfrm>
        </p:spPr>
        <p:txBody>
          <a:bodyPr/>
          <a:lstStyle/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Teilen eines Oberzustands in </a:t>
            </a:r>
            <a:r>
              <a:rPr lang="de-DE" sz="2800" dirty="0">
                <a:solidFill>
                  <a:srgbClr val="0000FF"/>
                </a:solidFill>
              </a:rPr>
              <a:t>Teilautomaten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0000FF"/>
                </a:solidFill>
              </a:rPr>
              <a:t>Nebenläufige Ausführung </a:t>
            </a:r>
            <a:r>
              <a:rPr lang="de-DE" sz="2800" dirty="0"/>
              <a:t>der Teilautomaten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Darstellung im Diagramm: Trennung durch </a:t>
            </a:r>
            <a:r>
              <a:rPr lang="de-DE" sz="2800" dirty="0">
                <a:solidFill>
                  <a:srgbClr val="0000FF"/>
                </a:solidFill>
              </a:rPr>
              <a:t>gestrichelte Linien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Bei Übergang in Und-Zustand: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0000FF"/>
                </a:solidFill>
              </a:rPr>
              <a:t>Jeder Teilautomat wird </a:t>
            </a:r>
            <a:r>
              <a:rPr lang="de-DE" sz="2800" dirty="0"/>
              <a:t>in seinem Anfangszustand </a:t>
            </a:r>
            <a:r>
              <a:rPr lang="de-DE" sz="2800" dirty="0">
                <a:solidFill>
                  <a:srgbClr val="0000FF"/>
                </a:solidFill>
              </a:rPr>
              <a:t>gestartet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39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7566650" cy="984885"/>
          </a:xfrm>
        </p:spPr>
        <p:txBody>
          <a:bodyPr/>
          <a:lstStyle/>
          <a:p>
            <a:r>
              <a:rPr lang="de-DE" dirty="0"/>
              <a:t>Beispiel Und-Komposition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46788" name="Text Box 4"/>
          <p:cNvSpPr txBox="1">
            <a:spLocks noChangeArrowheads="1"/>
          </p:cNvSpPr>
          <p:nvPr/>
        </p:nvSpPr>
        <p:spPr bwMode="auto">
          <a:xfrm>
            <a:off x="3726087" y="3860801"/>
            <a:ext cx="3903633" cy="5232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>
            <a:softEdge rad="0"/>
          </a:effectLst>
        </p:spPr>
        <p:txBody>
          <a:bodyPr wrap="none">
            <a:spAutoFit/>
          </a:bodyPr>
          <a:lstStyle/>
          <a:p>
            <a:r>
              <a:rPr lang="de-DE" sz="2800" dirty="0"/>
              <a:t>Fahren      Musik-hören</a:t>
            </a:r>
          </a:p>
        </p:txBody>
      </p:sp>
      <p:sp>
        <p:nvSpPr>
          <p:cNvPr id="246789" name="Line 5"/>
          <p:cNvSpPr>
            <a:spLocks noChangeShapeType="1"/>
          </p:cNvSpPr>
          <p:nvPr/>
        </p:nvSpPr>
        <p:spPr bwMode="auto">
          <a:xfrm>
            <a:off x="5381625" y="3892550"/>
            <a:ext cx="0" cy="503238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cxnSp>
        <p:nvCxnSpPr>
          <p:cNvPr id="246792" name="AutoShape 8"/>
          <p:cNvCxnSpPr>
            <a:cxnSpLocks noChangeShapeType="1"/>
          </p:cNvCxnSpPr>
          <p:nvPr/>
        </p:nvCxnSpPr>
        <p:spPr bwMode="auto">
          <a:xfrm rot="16200000" flipH="1">
            <a:off x="4116390" y="2589215"/>
            <a:ext cx="1368425" cy="115252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sp>
        <p:nvSpPr>
          <p:cNvPr id="246793" name="Text Box 9"/>
          <p:cNvSpPr txBox="1">
            <a:spLocks noChangeArrowheads="1"/>
          </p:cNvSpPr>
          <p:nvPr/>
        </p:nvSpPr>
        <p:spPr bwMode="auto">
          <a:xfrm>
            <a:off x="4348165" y="2636838"/>
            <a:ext cx="18646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800" dirty="0"/>
              <a:t>Einsteigen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40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7326436" cy="984885"/>
          </a:xfrm>
        </p:spPr>
        <p:txBody>
          <a:bodyPr/>
          <a:lstStyle/>
          <a:p>
            <a:r>
              <a:rPr lang="de-DE" dirty="0"/>
              <a:t>Bedingungen und Aktionen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1"/>
          </p:nvPr>
        </p:nvSpPr>
        <p:spPr>
          <a:xfrm>
            <a:off x="352398" y="1801197"/>
            <a:ext cx="11120733" cy="1107996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de-DE" sz="2400" dirty="0"/>
              <a:t>das Ausführen von Transitionen kann wie in endlichen Automaten an Bedingungen geknüpft werden und Aktionen auslösen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de-DE" sz="2400" dirty="0"/>
              <a:t>die Bedingung kann sich auf einen parallelen/nebenläufigen Teilautomaten beziehen 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41</a:t>
            </a:fld>
            <a:r>
              <a:rPr lang="de-DE"/>
              <a:t> </a:t>
            </a:r>
            <a:endParaRPr lang="de-DE" sz="619" dirty="0"/>
          </a:p>
        </p:txBody>
      </p:sp>
      <p:sp>
        <p:nvSpPr>
          <p:cNvPr id="6" name="Abgerundetes Rechteck 5"/>
          <p:cNvSpPr/>
          <p:nvPr/>
        </p:nvSpPr>
        <p:spPr>
          <a:xfrm>
            <a:off x="2368278" y="3791871"/>
            <a:ext cx="493712" cy="43204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Abgerundetes Rechteck 6"/>
          <p:cNvSpPr/>
          <p:nvPr/>
        </p:nvSpPr>
        <p:spPr>
          <a:xfrm>
            <a:off x="2368278" y="4871991"/>
            <a:ext cx="493712" cy="43204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Oval 11"/>
          <p:cNvSpPr>
            <a:spLocks noChangeArrowheads="1"/>
          </p:cNvSpPr>
          <p:nvPr/>
        </p:nvSpPr>
        <p:spPr bwMode="auto">
          <a:xfrm>
            <a:off x="2005586" y="3647856"/>
            <a:ext cx="121147" cy="11169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2126732" y="3729083"/>
            <a:ext cx="241546" cy="11135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584302" y="4223919"/>
            <a:ext cx="0" cy="64807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2610432" y="4295927"/>
            <a:ext cx="34919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dirty="0"/>
              <a:t>Ereignis (Bedingung) / Aktion</a:t>
            </a:r>
          </a:p>
        </p:txBody>
      </p:sp>
      <p:sp>
        <p:nvSpPr>
          <p:cNvPr id="12" name="Abgerundetes Rechteck 11"/>
          <p:cNvSpPr/>
          <p:nvPr/>
        </p:nvSpPr>
        <p:spPr>
          <a:xfrm>
            <a:off x="7624862" y="3791871"/>
            <a:ext cx="493712" cy="43204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3" name="Abgerundetes Rechteck 12"/>
          <p:cNvSpPr/>
          <p:nvPr/>
        </p:nvSpPr>
        <p:spPr>
          <a:xfrm>
            <a:off x="7624862" y="4871991"/>
            <a:ext cx="493712" cy="43204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4" name="Oval 11"/>
          <p:cNvSpPr>
            <a:spLocks noChangeArrowheads="1"/>
          </p:cNvSpPr>
          <p:nvPr/>
        </p:nvSpPr>
        <p:spPr bwMode="auto">
          <a:xfrm>
            <a:off x="7262170" y="3647856"/>
            <a:ext cx="121147" cy="11169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7383316" y="3729083"/>
            <a:ext cx="241546" cy="11135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 flipH="1">
            <a:off x="7840886" y="4223919"/>
            <a:ext cx="0" cy="64807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7867016" y="4295927"/>
            <a:ext cx="13789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dirty="0"/>
              <a:t>a (in C) / b</a:t>
            </a:r>
          </a:p>
        </p:txBody>
      </p:sp>
    </p:spTree>
    <p:extLst>
      <p:ext uri="{BB962C8B-B14F-4D97-AF65-F5344CB8AC3E}">
        <p14:creationId xmlns:p14="http://schemas.microsoft.com/office/powerpoint/2010/main" val="140981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346673" y="757366"/>
            <a:ext cx="8084235" cy="984885"/>
          </a:xfrm>
        </p:spPr>
        <p:txBody>
          <a:bodyPr/>
          <a:lstStyle/>
          <a:p>
            <a:r>
              <a:rPr lang="de-DE" dirty="0"/>
              <a:t>Beispiel: Gangschaltung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idx="1"/>
          </p:nvPr>
        </p:nvSpPr>
        <p:spPr>
          <a:xfrm>
            <a:off x="680585" y="3024370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42</a:t>
            </a:fld>
            <a:r>
              <a:rPr lang="de-DE"/>
              <a:t> </a:t>
            </a:r>
            <a:endParaRPr lang="de-DE" sz="619" dirty="0"/>
          </a:p>
        </p:txBody>
      </p:sp>
      <p:sp>
        <p:nvSpPr>
          <p:cNvPr id="9" name="Rechteck 8"/>
          <p:cNvSpPr/>
          <p:nvPr/>
        </p:nvSpPr>
        <p:spPr>
          <a:xfrm>
            <a:off x="1469986" y="2607514"/>
            <a:ext cx="1287760" cy="279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Leerlauf</a:t>
            </a:r>
          </a:p>
        </p:txBody>
      </p:sp>
      <p:sp>
        <p:nvSpPr>
          <p:cNvPr id="10" name="Rechteck 9"/>
          <p:cNvSpPr/>
          <p:nvPr/>
        </p:nvSpPr>
        <p:spPr>
          <a:xfrm>
            <a:off x="1394482" y="3750811"/>
            <a:ext cx="1435272" cy="6480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Gang-</a:t>
            </a:r>
          </a:p>
          <a:p>
            <a:pPr algn="ctr"/>
            <a:r>
              <a:rPr lang="de-DE" sz="2000" dirty="0">
                <a:solidFill>
                  <a:schemeClr val="tx1"/>
                </a:solidFill>
              </a:rPr>
              <a:t>eingelegt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6142170" y="2093808"/>
            <a:ext cx="2305050" cy="5381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800"/>
              <a:t>Zündung-aus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673609" y="3020908"/>
            <a:ext cx="836613" cy="53816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800"/>
              <a:t>Halt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4557845" y="4830658"/>
            <a:ext cx="1689100" cy="53816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Ausrollen</a:t>
            </a:r>
            <a:endParaRPr lang="de-DE" sz="2800"/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8086857" y="4830658"/>
            <a:ext cx="2541588" cy="53816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800"/>
              <a:t>Beschleunigen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4197482" y="4038495"/>
            <a:ext cx="6985000" cy="216058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9" name="Oval 11"/>
          <p:cNvSpPr>
            <a:spLocks noChangeArrowheads="1"/>
          </p:cNvSpPr>
          <p:nvPr/>
        </p:nvSpPr>
        <p:spPr bwMode="auto">
          <a:xfrm>
            <a:off x="10390320" y="4429022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0" name="Line 12"/>
          <p:cNvSpPr>
            <a:spLocks noChangeShapeType="1"/>
          </p:cNvSpPr>
          <p:nvPr/>
        </p:nvSpPr>
        <p:spPr bwMode="auto">
          <a:xfrm flipH="1">
            <a:off x="9647372" y="4533795"/>
            <a:ext cx="720725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5854090" y="4123045"/>
            <a:ext cx="439248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2000" dirty="0" err="1"/>
              <a:t>gas_geben</a:t>
            </a:r>
            <a:r>
              <a:rPr lang="de-DE" sz="2000" dirty="0"/>
              <a:t> (in Gang-eingelegt) / </a:t>
            </a:r>
            <a:r>
              <a:rPr lang="de-DE" sz="2000" dirty="0" err="1"/>
              <a:t>speed</a:t>
            </a:r>
            <a:r>
              <a:rPr lang="de-DE" sz="2000" dirty="0"/>
              <a:t> := </a:t>
            </a:r>
            <a:r>
              <a:rPr lang="de-DE" sz="2000" dirty="0" err="1"/>
              <a:t>speed</a:t>
            </a:r>
            <a:r>
              <a:rPr lang="de-DE" sz="2000" dirty="0"/>
              <a:t> + 1</a:t>
            </a:r>
          </a:p>
        </p:txBody>
      </p:sp>
      <p:sp>
        <p:nvSpPr>
          <p:cNvPr id="22" name="Line 14"/>
          <p:cNvSpPr>
            <a:spLocks noChangeShapeType="1"/>
          </p:cNvSpPr>
          <p:nvPr/>
        </p:nvSpPr>
        <p:spPr bwMode="auto">
          <a:xfrm flipH="1" flipV="1">
            <a:off x="4268920" y="3606695"/>
            <a:ext cx="360362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4465772" y="3528910"/>
            <a:ext cx="1171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dirty="0"/>
              <a:t>bremsen</a:t>
            </a:r>
          </a:p>
        </p:txBody>
      </p:sp>
      <p:sp>
        <p:nvSpPr>
          <p:cNvPr id="24" name="Arc 16"/>
          <p:cNvSpPr>
            <a:spLocks/>
          </p:cNvSpPr>
          <p:nvPr/>
        </p:nvSpPr>
        <p:spPr bwMode="auto">
          <a:xfrm>
            <a:off x="4629284" y="3319358"/>
            <a:ext cx="4608513" cy="863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095"/>
              <a:gd name="T1" fmla="*/ 0 h 21600"/>
              <a:gd name="T2" fmla="*/ 21095 w 21095"/>
              <a:gd name="T3" fmla="*/ 16955 h 21600"/>
              <a:gd name="T4" fmla="*/ 0 w 2109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095" h="21600" fill="none" extrusionOk="0">
                <a:moveTo>
                  <a:pt x="-1" y="0"/>
                </a:moveTo>
                <a:cubicBezTo>
                  <a:pt x="10139" y="0"/>
                  <a:pt x="18914" y="7052"/>
                  <a:pt x="21094" y="16955"/>
                </a:cubicBezTo>
              </a:path>
              <a:path w="21095" h="21600" stroke="0" extrusionOk="0">
                <a:moveTo>
                  <a:pt x="-1" y="0"/>
                </a:moveTo>
                <a:cubicBezTo>
                  <a:pt x="10139" y="0"/>
                  <a:pt x="18914" y="7052"/>
                  <a:pt x="21094" y="16955"/>
                </a:cubicBez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4268920" y="4111520"/>
            <a:ext cx="895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/>
              <a:t>Fahrt</a:t>
            </a:r>
          </a:p>
        </p:txBody>
      </p:sp>
      <p:sp>
        <p:nvSpPr>
          <p:cNvPr id="26" name="Line 19"/>
          <p:cNvSpPr>
            <a:spLocks noChangeShapeType="1"/>
          </p:cNvSpPr>
          <p:nvPr/>
        </p:nvSpPr>
        <p:spPr bwMode="auto">
          <a:xfrm rot="10800000" flipV="1">
            <a:off x="3981584" y="2311295"/>
            <a:ext cx="2087563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4268922" y="2238272"/>
            <a:ext cx="8207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/>
              <a:t>Z_ein</a:t>
            </a:r>
          </a:p>
        </p:txBody>
      </p:sp>
      <p:sp>
        <p:nvSpPr>
          <p:cNvPr id="28" name="Text Box 21"/>
          <p:cNvSpPr txBox="1">
            <a:spLocks noChangeArrowheads="1"/>
          </p:cNvSpPr>
          <p:nvPr/>
        </p:nvSpPr>
        <p:spPr bwMode="auto">
          <a:xfrm>
            <a:off x="10174570" y="1662580"/>
            <a:ext cx="12105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b="1" dirty="0"/>
              <a:t>Fahren</a:t>
            </a:r>
          </a:p>
        </p:txBody>
      </p:sp>
      <p:sp>
        <p:nvSpPr>
          <p:cNvPr id="29" name="Line 22"/>
          <p:cNvSpPr>
            <a:spLocks noChangeShapeType="1"/>
          </p:cNvSpPr>
          <p:nvPr/>
        </p:nvSpPr>
        <p:spPr bwMode="auto">
          <a:xfrm flipV="1">
            <a:off x="4557845" y="2598635"/>
            <a:ext cx="1511300" cy="503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5278572" y="2743097"/>
            <a:ext cx="8905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/>
              <a:t>Z_aus</a:t>
            </a:r>
          </a:p>
        </p:txBody>
      </p:sp>
      <p:sp>
        <p:nvSpPr>
          <p:cNvPr id="31" name="Oval 24"/>
          <p:cNvSpPr>
            <a:spLocks noChangeArrowheads="1"/>
          </p:cNvSpPr>
          <p:nvPr/>
        </p:nvSpPr>
        <p:spPr bwMode="auto">
          <a:xfrm>
            <a:off x="9238467" y="2022620"/>
            <a:ext cx="122237" cy="1349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32" name="Line 25"/>
          <p:cNvSpPr>
            <a:spLocks noChangeShapeType="1"/>
          </p:cNvSpPr>
          <p:nvPr/>
        </p:nvSpPr>
        <p:spPr bwMode="auto">
          <a:xfrm flipH="1">
            <a:off x="8446379" y="2094627"/>
            <a:ext cx="801341" cy="29758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3" name="Rectangle 27"/>
          <p:cNvSpPr>
            <a:spLocks noChangeArrowheads="1"/>
          </p:cNvSpPr>
          <p:nvPr/>
        </p:nvSpPr>
        <p:spPr bwMode="auto">
          <a:xfrm>
            <a:off x="741524" y="1663721"/>
            <a:ext cx="10657183" cy="475138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35" name="Arc 29"/>
          <p:cNvSpPr>
            <a:spLocks/>
          </p:cNvSpPr>
          <p:nvPr/>
        </p:nvSpPr>
        <p:spPr bwMode="auto">
          <a:xfrm>
            <a:off x="6261234" y="4756047"/>
            <a:ext cx="1825625" cy="219075"/>
          </a:xfrm>
          <a:custGeom>
            <a:avLst/>
            <a:gdLst>
              <a:gd name="G0" fmla="+- 19976 0 0"/>
              <a:gd name="G1" fmla="+- 21600 0 0"/>
              <a:gd name="G2" fmla="+- 21600 0 0"/>
              <a:gd name="T0" fmla="*/ 0 w 41213"/>
              <a:gd name="T1" fmla="*/ 13382 h 21600"/>
              <a:gd name="T2" fmla="*/ 41213 w 41213"/>
              <a:gd name="T3" fmla="*/ 17656 h 21600"/>
              <a:gd name="T4" fmla="*/ 19976 w 4121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1213" h="21600" fill="none" extrusionOk="0">
                <a:moveTo>
                  <a:pt x="0" y="13382"/>
                </a:moveTo>
                <a:cubicBezTo>
                  <a:pt x="3331" y="5285"/>
                  <a:pt x="11220" y="-1"/>
                  <a:pt x="19976" y="0"/>
                </a:cubicBezTo>
                <a:cubicBezTo>
                  <a:pt x="30384" y="0"/>
                  <a:pt x="39312" y="7422"/>
                  <a:pt x="41212" y="17656"/>
                </a:cubicBezTo>
              </a:path>
              <a:path w="41213" h="21600" stroke="0" extrusionOk="0">
                <a:moveTo>
                  <a:pt x="0" y="13382"/>
                </a:moveTo>
                <a:cubicBezTo>
                  <a:pt x="3331" y="5285"/>
                  <a:pt x="11220" y="-1"/>
                  <a:pt x="19976" y="0"/>
                </a:cubicBezTo>
                <a:cubicBezTo>
                  <a:pt x="30384" y="0"/>
                  <a:pt x="39312" y="7422"/>
                  <a:pt x="41212" y="17656"/>
                </a:cubicBezTo>
                <a:lnTo>
                  <a:pt x="19976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36" name="Arc 30"/>
          <p:cNvSpPr>
            <a:spLocks/>
          </p:cNvSpPr>
          <p:nvPr/>
        </p:nvSpPr>
        <p:spPr bwMode="auto">
          <a:xfrm rot="10800000">
            <a:off x="6261234" y="5262460"/>
            <a:ext cx="1825625" cy="219075"/>
          </a:xfrm>
          <a:custGeom>
            <a:avLst/>
            <a:gdLst>
              <a:gd name="G0" fmla="+- 19976 0 0"/>
              <a:gd name="G1" fmla="+- 21600 0 0"/>
              <a:gd name="G2" fmla="+- 21600 0 0"/>
              <a:gd name="T0" fmla="*/ 0 w 41213"/>
              <a:gd name="T1" fmla="*/ 13382 h 21600"/>
              <a:gd name="T2" fmla="*/ 41213 w 41213"/>
              <a:gd name="T3" fmla="*/ 17656 h 21600"/>
              <a:gd name="T4" fmla="*/ 19976 w 4121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1213" h="21600" fill="none" extrusionOk="0">
                <a:moveTo>
                  <a:pt x="0" y="13382"/>
                </a:moveTo>
                <a:cubicBezTo>
                  <a:pt x="3331" y="5285"/>
                  <a:pt x="11220" y="-1"/>
                  <a:pt x="19976" y="0"/>
                </a:cubicBezTo>
                <a:cubicBezTo>
                  <a:pt x="30384" y="0"/>
                  <a:pt x="39312" y="7422"/>
                  <a:pt x="41212" y="17656"/>
                </a:cubicBezTo>
              </a:path>
              <a:path w="41213" h="21600" stroke="0" extrusionOk="0">
                <a:moveTo>
                  <a:pt x="0" y="13382"/>
                </a:moveTo>
                <a:cubicBezTo>
                  <a:pt x="3331" y="5285"/>
                  <a:pt x="11220" y="-1"/>
                  <a:pt x="19976" y="0"/>
                </a:cubicBezTo>
                <a:cubicBezTo>
                  <a:pt x="30384" y="0"/>
                  <a:pt x="39312" y="7422"/>
                  <a:pt x="41212" y="17656"/>
                </a:cubicBezTo>
                <a:lnTo>
                  <a:pt x="19976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37" name="Text Box 31"/>
          <p:cNvSpPr txBox="1">
            <a:spLocks noChangeArrowheads="1"/>
          </p:cNvSpPr>
          <p:nvPr/>
        </p:nvSpPr>
        <p:spPr bwMode="auto">
          <a:xfrm>
            <a:off x="6213609" y="5406922"/>
            <a:ext cx="20621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/>
              <a:t>vom_gas_gehen</a:t>
            </a:r>
          </a:p>
        </p:txBody>
      </p:sp>
      <p:sp>
        <p:nvSpPr>
          <p:cNvPr id="38" name="Line 19"/>
          <p:cNvSpPr>
            <a:spLocks noChangeShapeType="1"/>
          </p:cNvSpPr>
          <p:nvPr/>
        </p:nvSpPr>
        <p:spPr bwMode="auto">
          <a:xfrm rot="10800000" flipH="1" flipV="1">
            <a:off x="3477824" y="1663720"/>
            <a:ext cx="6870" cy="47513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9" name="Text Box 13"/>
          <p:cNvSpPr txBox="1">
            <a:spLocks noChangeArrowheads="1"/>
          </p:cNvSpPr>
          <p:nvPr/>
        </p:nvSpPr>
        <p:spPr bwMode="auto">
          <a:xfrm>
            <a:off x="6566037" y="2747929"/>
            <a:ext cx="623112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2000" dirty="0" err="1">
                <a:solidFill>
                  <a:srgbClr val="0000FF"/>
                </a:solidFill>
              </a:rPr>
              <a:t>gas_geben</a:t>
            </a:r>
            <a:r>
              <a:rPr lang="de-DE" sz="2000" dirty="0">
                <a:solidFill>
                  <a:srgbClr val="0000FF"/>
                </a:solidFill>
              </a:rPr>
              <a:t> (in Gang-eingelegt) / </a:t>
            </a:r>
          </a:p>
          <a:p>
            <a:r>
              <a:rPr lang="de-DE" sz="2000" dirty="0" err="1">
                <a:solidFill>
                  <a:srgbClr val="0000FF"/>
                </a:solidFill>
              </a:rPr>
              <a:t>speed</a:t>
            </a:r>
            <a:r>
              <a:rPr lang="de-DE" sz="2000" dirty="0">
                <a:solidFill>
                  <a:srgbClr val="0000FF"/>
                </a:solidFill>
              </a:rPr>
              <a:t> := </a:t>
            </a:r>
            <a:r>
              <a:rPr lang="de-DE" sz="2000" dirty="0" err="1">
                <a:solidFill>
                  <a:srgbClr val="0000FF"/>
                </a:solidFill>
              </a:rPr>
              <a:t>speed</a:t>
            </a:r>
            <a:r>
              <a:rPr lang="de-DE" sz="2000" dirty="0">
                <a:solidFill>
                  <a:srgbClr val="0000FF"/>
                </a:solidFill>
              </a:rPr>
              <a:t> + 1</a:t>
            </a:r>
          </a:p>
        </p:txBody>
      </p:sp>
      <p:sp>
        <p:nvSpPr>
          <p:cNvPr id="41" name="Line 25"/>
          <p:cNvSpPr>
            <a:spLocks noChangeShapeType="1"/>
          </p:cNvSpPr>
          <p:nvPr/>
        </p:nvSpPr>
        <p:spPr bwMode="auto">
          <a:xfrm>
            <a:off x="1281072" y="2196822"/>
            <a:ext cx="274663" cy="41069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42" name="Oval 24"/>
          <p:cNvSpPr>
            <a:spLocks noChangeArrowheads="1"/>
          </p:cNvSpPr>
          <p:nvPr/>
        </p:nvSpPr>
        <p:spPr bwMode="auto">
          <a:xfrm>
            <a:off x="1195350" y="2080262"/>
            <a:ext cx="122237" cy="1349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43" name="Line 25"/>
          <p:cNvSpPr>
            <a:spLocks noChangeShapeType="1"/>
          </p:cNvSpPr>
          <p:nvPr/>
        </p:nvSpPr>
        <p:spPr bwMode="auto">
          <a:xfrm>
            <a:off x="1893650" y="2904531"/>
            <a:ext cx="0" cy="8462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44" name="Line 25"/>
          <p:cNvSpPr>
            <a:spLocks noChangeShapeType="1"/>
          </p:cNvSpPr>
          <p:nvPr/>
        </p:nvSpPr>
        <p:spPr bwMode="auto">
          <a:xfrm flipV="1">
            <a:off x="2325698" y="2887163"/>
            <a:ext cx="0" cy="86364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45" name="Text Box 15"/>
          <p:cNvSpPr txBox="1">
            <a:spLocks noChangeArrowheads="1"/>
          </p:cNvSpPr>
          <p:nvPr/>
        </p:nvSpPr>
        <p:spPr bwMode="auto">
          <a:xfrm>
            <a:off x="741522" y="2958723"/>
            <a:ext cx="115608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dirty="0"/>
              <a:t>gang_</a:t>
            </a:r>
            <a:br>
              <a:rPr lang="de-DE" sz="2000" dirty="0"/>
            </a:br>
            <a:r>
              <a:rPr lang="de-DE" sz="2000" dirty="0"/>
              <a:t>einlegen</a:t>
            </a:r>
          </a:p>
        </p:txBody>
      </p:sp>
      <p:sp>
        <p:nvSpPr>
          <p:cNvPr id="46" name="Text Box 21"/>
          <p:cNvSpPr txBox="1">
            <a:spLocks noChangeArrowheads="1"/>
          </p:cNvSpPr>
          <p:nvPr/>
        </p:nvSpPr>
        <p:spPr bwMode="auto">
          <a:xfrm>
            <a:off x="820347" y="5926797"/>
            <a:ext cx="24224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400" b="1" dirty="0"/>
              <a:t>Gangschaltung</a:t>
            </a:r>
          </a:p>
        </p:txBody>
      </p:sp>
      <p:sp>
        <p:nvSpPr>
          <p:cNvPr id="47" name="Text Box 15"/>
          <p:cNvSpPr txBox="1">
            <a:spLocks noChangeArrowheads="1"/>
          </p:cNvSpPr>
          <p:nvPr/>
        </p:nvSpPr>
        <p:spPr bwMode="auto">
          <a:xfrm>
            <a:off x="2325699" y="2958723"/>
            <a:ext cx="89800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dirty="0"/>
              <a:t>gang_</a:t>
            </a:r>
            <a:br>
              <a:rPr lang="de-DE" sz="2000" dirty="0"/>
            </a:br>
            <a:r>
              <a:rPr lang="de-DE" sz="2000" dirty="0"/>
              <a:t>raus</a:t>
            </a:r>
          </a:p>
        </p:txBody>
      </p:sp>
    </p:spTree>
    <p:extLst>
      <p:ext uri="{BB962C8B-B14F-4D97-AF65-F5344CB8AC3E}">
        <p14:creationId xmlns:p14="http://schemas.microsoft.com/office/powerpoint/2010/main" val="338253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0" grpId="0" animBg="1"/>
      <p:bldP spid="21" grpId="0"/>
      <p:bldP spid="35" grpId="0" animBg="1"/>
      <p:bldP spid="36" grpId="0" animBg="1"/>
      <p:bldP spid="37" grpId="0"/>
      <p:bldP spid="3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7618409" cy="984885"/>
          </a:xfrm>
        </p:spPr>
        <p:txBody>
          <a:bodyPr/>
          <a:lstStyle/>
          <a:p>
            <a:r>
              <a:rPr lang="de-DE" dirty="0"/>
              <a:t>Broadcast-Kommunikation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1"/>
          </p:nvPr>
        </p:nvSpPr>
        <p:spPr>
          <a:xfrm>
            <a:off x="346430" y="2558542"/>
            <a:ext cx="10816151" cy="3447098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de-DE" sz="3200" dirty="0"/>
              <a:t>Ereignisse in </a:t>
            </a:r>
            <a:r>
              <a:rPr lang="de-DE" sz="3200" dirty="0" err="1"/>
              <a:t>Statecharts</a:t>
            </a:r>
            <a:r>
              <a:rPr lang="de-DE" sz="3200" dirty="0"/>
              <a:t> sind </a:t>
            </a:r>
            <a:r>
              <a:rPr lang="de-DE" sz="3200" dirty="0">
                <a:solidFill>
                  <a:srgbClr val="0000FF"/>
                </a:solidFill>
              </a:rPr>
              <a:t>global</a:t>
            </a:r>
            <a:r>
              <a:rPr lang="de-DE" sz="3200" dirty="0"/>
              <a:t> sichtbar 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de-DE" sz="3200" dirty="0"/>
              <a:t>das Auslösen eines Ereignisses stellt </a:t>
            </a:r>
            <a:r>
              <a:rPr lang="de-DE" sz="3200" i="1" dirty="0">
                <a:solidFill>
                  <a:srgbClr val="0000FF"/>
                </a:solidFill>
              </a:rPr>
              <a:t>Broadcast</a:t>
            </a:r>
            <a:r>
              <a:rPr lang="de-DE" sz="3200" dirty="0"/>
              <a:t> an alle Teilautomaten dar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de-DE" sz="3200" dirty="0"/>
              <a:t>Ereignisse können daher zur Synchronisation nebenläufiger Prozesse verwendet werden 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de-DE" sz="3200" dirty="0"/>
              <a:t>Eintritt eines Ereignisses löst Übergänge in allen Teilautomaten aus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43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8239510" cy="984885"/>
          </a:xfrm>
        </p:spPr>
        <p:txBody>
          <a:bodyPr/>
          <a:lstStyle/>
          <a:p>
            <a:r>
              <a:rPr lang="de-DE" dirty="0" err="1"/>
              <a:t>Join</a:t>
            </a:r>
            <a:r>
              <a:rPr lang="de-DE" dirty="0"/>
              <a:t> (Zusammenführung) 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idx="1"/>
          </p:nvPr>
        </p:nvSpPr>
        <p:spPr>
          <a:xfrm>
            <a:off x="352781" y="2558542"/>
            <a:ext cx="11478895" cy="2585323"/>
          </a:xfrm>
        </p:spPr>
        <p:txBody>
          <a:bodyPr/>
          <a:lstStyle/>
          <a:p>
            <a:pPr marL="457200" indent="-457200">
              <a:buFont typeface="Wingdings" pitchFamily="2" charset="2"/>
              <a:buChar char="§"/>
            </a:pPr>
            <a:r>
              <a:rPr lang="de-DE" sz="2800" dirty="0"/>
              <a:t>Mehrere Übergänge, ausgehend von verschiedenen Teilautomaten eines Und-Zustands, können auf </a:t>
            </a:r>
            <a:r>
              <a:rPr lang="de-DE" sz="2800" dirty="0">
                <a:solidFill>
                  <a:srgbClr val="0000FF"/>
                </a:solidFill>
              </a:rPr>
              <a:t>gemeinsamen Nachfolgezustand </a:t>
            </a:r>
            <a:r>
              <a:rPr lang="de-DE" sz="2800" dirty="0"/>
              <a:t>führen, der nicht zum Und-Zustand gehört.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de-DE" sz="2800" dirty="0"/>
              <a:t>Diese Übergänge werden gemeinsam durchgeführt.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de-DE" sz="2800" dirty="0"/>
              <a:t>Voraussetzung dafür: alle Ereignisse und Bedingungen, die zu diesen Übergängen führen, müssen eingetreten sein.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44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12534" y="640713"/>
            <a:ext cx="55257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95" dirty="0"/>
              <a:t>Synchronisation</a:t>
            </a:r>
            <a:r>
              <a:rPr spc="-170" dirty="0"/>
              <a:t> </a:t>
            </a:r>
            <a:r>
              <a:rPr spc="-160" dirty="0"/>
              <a:t>durch</a:t>
            </a:r>
            <a:r>
              <a:rPr spc="-165" dirty="0"/>
              <a:t> 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953" y="1574902"/>
            <a:ext cx="9008713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400" spc="-80" dirty="0">
                <a:latin typeface="Arial"/>
                <a:cs typeface="Arial"/>
              </a:rPr>
              <a:t>Mehrere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b="1" spc="-229" dirty="0">
                <a:latin typeface="Arial"/>
                <a:cs typeface="Arial"/>
              </a:rPr>
              <a:t>Übergänge</a:t>
            </a:r>
            <a:r>
              <a:rPr sz="2400" b="1" spc="85" dirty="0">
                <a:latin typeface="Arial"/>
                <a:cs typeface="Arial"/>
              </a:rPr>
              <a:t> </a:t>
            </a:r>
            <a:r>
              <a:rPr sz="2400" b="1" spc="-345" dirty="0">
                <a:latin typeface="Arial"/>
                <a:cs typeface="Arial"/>
              </a:rPr>
              <a:t>aus</a:t>
            </a:r>
            <a:r>
              <a:rPr sz="2400" b="1" spc="180" dirty="0">
                <a:latin typeface="Arial"/>
                <a:cs typeface="Arial"/>
              </a:rPr>
              <a:t> </a:t>
            </a:r>
            <a:r>
              <a:rPr sz="2400" b="1" spc="-210" dirty="0">
                <a:latin typeface="Arial"/>
                <a:cs typeface="Arial"/>
              </a:rPr>
              <a:t>verschiedene</a:t>
            </a:r>
            <a:r>
              <a:rPr sz="2400" b="1" spc="85" dirty="0">
                <a:latin typeface="Arial"/>
                <a:cs typeface="Arial"/>
              </a:rPr>
              <a:t> </a:t>
            </a:r>
            <a:r>
              <a:rPr sz="2400" b="1" spc="-170" dirty="0">
                <a:latin typeface="Arial"/>
                <a:cs typeface="Arial"/>
              </a:rPr>
              <a:t>Teilautomaten</a:t>
            </a:r>
            <a:r>
              <a:rPr sz="2400" b="1" spc="12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eines </a:t>
            </a:r>
            <a:r>
              <a:rPr sz="2400" spc="-120" dirty="0">
                <a:latin typeface="Arial"/>
                <a:cs typeface="Arial"/>
              </a:rPr>
              <a:t>Und-</a:t>
            </a:r>
            <a:r>
              <a:rPr sz="2400" spc="-180" dirty="0">
                <a:latin typeface="Arial"/>
                <a:cs typeface="Arial"/>
              </a:rPr>
              <a:t>Zustands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können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b="1" spc="-180" dirty="0">
                <a:latin typeface="Arial"/>
                <a:cs typeface="Arial"/>
              </a:rPr>
              <a:t>auf</a:t>
            </a:r>
            <a:r>
              <a:rPr sz="2400" b="1" spc="40" dirty="0">
                <a:latin typeface="Arial"/>
                <a:cs typeface="Arial"/>
              </a:rPr>
              <a:t> </a:t>
            </a:r>
            <a:r>
              <a:rPr sz="2400" b="1" spc="-215" dirty="0">
                <a:latin typeface="Arial"/>
                <a:cs typeface="Arial"/>
              </a:rPr>
              <a:t>gemeinsamen</a:t>
            </a:r>
            <a:r>
              <a:rPr sz="2400" b="1" spc="50" dirty="0">
                <a:latin typeface="Arial"/>
                <a:cs typeface="Arial"/>
              </a:rPr>
              <a:t> </a:t>
            </a:r>
            <a:r>
              <a:rPr sz="2400" b="1" spc="-150" dirty="0">
                <a:latin typeface="Arial"/>
                <a:cs typeface="Arial"/>
              </a:rPr>
              <a:t>Nachfolgezustand </a:t>
            </a:r>
            <a:r>
              <a:rPr sz="2400" spc="-65" dirty="0">
                <a:latin typeface="Arial"/>
                <a:cs typeface="Arial"/>
              </a:rPr>
              <a:t>führen,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nicht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zum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Und-</a:t>
            </a:r>
            <a:r>
              <a:rPr sz="2400" spc="-145" dirty="0">
                <a:latin typeface="Arial"/>
                <a:cs typeface="Arial"/>
              </a:rPr>
              <a:t>Zustand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gehört.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7953" y="4457053"/>
            <a:ext cx="9145239" cy="1577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spcBef>
                <a:spcPts val="100"/>
              </a:spcBef>
              <a:buClr>
                <a:srgbClr val="2D74B5"/>
              </a:buClr>
              <a:buSzPct val="110000"/>
              <a:buChar char="•"/>
              <a:tabLst>
                <a:tab pos="240665" algn="l"/>
              </a:tabLst>
            </a:pPr>
            <a:r>
              <a:rPr sz="2000" spc="-140" dirty="0">
                <a:latin typeface="Arial"/>
                <a:cs typeface="Arial"/>
              </a:rPr>
              <a:t>Diese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Übergänge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werden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b="1" spc="-175" dirty="0">
                <a:latin typeface="Arial"/>
                <a:cs typeface="Arial"/>
              </a:rPr>
              <a:t>gemeinsam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durchgeführt</a:t>
            </a:r>
            <a:r>
              <a:rPr sz="2000" spc="-50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  <a:p>
            <a:pPr marL="241300" marR="432434" indent="-228600">
              <a:lnSpc>
                <a:spcPts val="2160"/>
              </a:lnSpc>
              <a:spcBef>
                <a:spcPts val="535"/>
              </a:spcBef>
              <a:buClr>
                <a:srgbClr val="2D74B5"/>
              </a:buClr>
              <a:buSzPct val="110000"/>
              <a:buFont typeface="Arial"/>
              <a:buChar char="•"/>
              <a:tabLst>
                <a:tab pos="241300" algn="l"/>
              </a:tabLst>
            </a:pPr>
            <a:r>
              <a:rPr sz="2000" b="1" spc="-185" dirty="0">
                <a:latin typeface="Arial"/>
                <a:cs typeface="Arial"/>
              </a:rPr>
              <a:t>Voraussetzung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dafür: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b="1" spc="-100" dirty="0">
                <a:latin typeface="Arial"/>
                <a:cs typeface="Arial"/>
              </a:rPr>
              <a:t>alle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95" dirty="0">
                <a:latin typeface="Arial"/>
                <a:cs typeface="Arial"/>
              </a:rPr>
              <a:t>Ereignisse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165" dirty="0">
                <a:latin typeface="Arial"/>
                <a:cs typeface="Arial"/>
              </a:rPr>
              <a:t>und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175" dirty="0">
                <a:latin typeface="Arial"/>
                <a:cs typeface="Arial"/>
              </a:rPr>
              <a:t>Bedingungen</a:t>
            </a:r>
            <a:r>
              <a:rPr sz="2000" spc="-175" dirty="0">
                <a:latin typeface="Arial"/>
                <a:cs typeface="Arial"/>
              </a:rPr>
              <a:t>,</a:t>
            </a:r>
            <a:r>
              <a:rPr sz="2000" spc="-70" dirty="0">
                <a:latin typeface="Arial"/>
                <a:cs typeface="Arial"/>
              </a:rPr>
              <a:t> die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zu </a:t>
            </a:r>
            <a:r>
              <a:rPr sz="2000" spc="-100" dirty="0">
                <a:latin typeface="Arial"/>
                <a:cs typeface="Arial"/>
              </a:rPr>
              <a:t>diesen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Übergängen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führen,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müssen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eingetreten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sein.</a:t>
            </a:r>
            <a:endParaRPr sz="2000" dirty="0">
              <a:latin typeface="Arial"/>
              <a:cs typeface="Arial"/>
            </a:endParaRPr>
          </a:p>
          <a:p>
            <a:pPr marL="241300" marR="5080" indent="-228600">
              <a:lnSpc>
                <a:spcPts val="2160"/>
              </a:lnSpc>
              <a:spcBef>
                <a:spcPts val="505"/>
              </a:spcBef>
              <a:buClr>
                <a:srgbClr val="2D74B5"/>
              </a:buClr>
              <a:buSzPct val="110000"/>
              <a:buChar char="•"/>
              <a:tabLst>
                <a:tab pos="241300" algn="l"/>
              </a:tabLst>
            </a:pPr>
            <a:r>
              <a:rPr sz="2000" spc="-65" dirty="0">
                <a:latin typeface="Arial"/>
                <a:cs typeface="Arial"/>
              </a:rPr>
              <a:t>Im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b="1" spc="-140" dirty="0">
                <a:latin typeface="Arial"/>
                <a:cs typeface="Arial"/>
              </a:rPr>
              <a:t>Beispiel</a:t>
            </a:r>
            <a:r>
              <a:rPr sz="2000" spc="-140" dirty="0">
                <a:latin typeface="Arial"/>
                <a:cs typeface="Arial"/>
              </a:rPr>
              <a:t>: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Übergang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aus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dem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Und-</a:t>
            </a:r>
            <a:r>
              <a:rPr sz="2000" spc="-114" dirty="0">
                <a:latin typeface="Arial"/>
                <a:cs typeface="Arial"/>
              </a:rPr>
              <a:t>Zustand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hinaus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b="1" spc="-140" dirty="0">
                <a:latin typeface="Arial"/>
                <a:cs typeface="Arial"/>
              </a:rPr>
              <a:t>erst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120" dirty="0">
                <a:latin typeface="Arial"/>
                <a:cs typeface="Arial"/>
              </a:rPr>
              <a:t>nachdem beide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95" dirty="0">
                <a:latin typeface="Arial"/>
                <a:cs typeface="Arial"/>
              </a:rPr>
              <a:t>Ereignisse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90" dirty="0">
                <a:latin typeface="Arial"/>
                <a:cs typeface="Arial"/>
              </a:rPr>
              <a:t>eintreten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(a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und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b)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79289" y="2970542"/>
            <a:ext cx="1436370" cy="371475"/>
            <a:chOff x="2948939" y="2970541"/>
            <a:chExt cx="1436370" cy="371475"/>
          </a:xfrm>
        </p:grpSpPr>
        <p:sp>
          <p:nvSpPr>
            <p:cNvPr id="6" name="object 6"/>
            <p:cNvSpPr/>
            <p:nvPr/>
          </p:nvSpPr>
          <p:spPr>
            <a:xfrm>
              <a:off x="2955239" y="2976841"/>
              <a:ext cx="862965" cy="358775"/>
            </a:xfrm>
            <a:custGeom>
              <a:avLst/>
              <a:gdLst/>
              <a:ahLst/>
              <a:cxnLst/>
              <a:rect l="l" t="t" r="r" b="b"/>
              <a:pathLst>
                <a:path w="862964" h="358775">
                  <a:moveTo>
                    <a:pt x="431279" y="358559"/>
                  </a:moveTo>
                  <a:lnTo>
                    <a:pt x="0" y="358559"/>
                  </a:lnTo>
                  <a:lnTo>
                    <a:pt x="0" y="0"/>
                  </a:lnTo>
                  <a:lnTo>
                    <a:pt x="862558" y="0"/>
                  </a:lnTo>
                  <a:lnTo>
                    <a:pt x="862558" y="358559"/>
                  </a:lnTo>
                  <a:lnTo>
                    <a:pt x="431279" y="358559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7797" y="3156115"/>
              <a:ext cx="567055" cy="0"/>
            </a:xfrm>
            <a:custGeom>
              <a:avLst/>
              <a:gdLst/>
              <a:ahLst/>
              <a:cxnLst/>
              <a:rect l="l" t="t" r="r" b="b"/>
              <a:pathLst>
                <a:path w="567054">
                  <a:moveTo>
                    <a:pt x="0" y="0"/>
                  </a:moveTo>
                  <a:lnTo>
                    <a:pt x="567004" y="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997588" y="2976842"/>
            <a:ext cx="862965" cy="358775"/>
          </a:xfrm>
          <a:custGeom>
            <a:avLst/>
            <a:gdLst/>
            <a:ahLst/>
            <a:cxnLst/>
            <a:rect l="l" t="t" r="r" b="b"/>
            <a:pathLst>
              <a:path w="862964" h="358775">
                <a:moveTo>
                  <a:pt x="431279" y="358559"/>
                </a:moveTo>
                <a:lnTo>
                  <a:pt x="0" y="358559"/>
                </a:lnTo>
                <a:lnTo>
                  <a:pt x="0" y="0"/>
                </a:lnTo>
                <a:lnTo>
                  <a:pt x="862558" y="0"/>
                </a:lnTo>
                <a:lnTo>
                  <a:pt x="862558" y="358559"/>
                </a:lnTo>
                <a:lnTo>
                  <a:pt x="431279" y="358559"/>
                </a:lnTo>
                <a:close/>
              </a:path>
            </a:pathLst>
          </a:custGeom>
          <a:ln w="125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97588" y="3552838"/>
            <a:ext cx="862965" cy="358775"/>
          </a:xfrm>
          <a:custGeom>
            <a:avLst/>
            <a:gdLst/>
            <a:ahLst/>
            <a:cxnLst/>
            <a:rect l="l" t="t" r="r" b="b"/>
            <a:pathLst>
              <a:path w="862964" h="358775">
                <a:moveTo>
                  <a:pt x="431279" y="358559"/>
                </a:moveTo>
                <a:lnTo>
                  <a:pt x="0" y="358559"/>
                </a:lnTo>
                <a:lnTo>
                  <a:pt x="0" y="0"/>
                </a:lnTo>
                <a:lnTo>
                  <a:pt x="862558" y="0"/>
                </a:lnTo>
                <a:lnTo>
                  <a:pt x="862558" y="358559"/>
                </a:lnTo>
                <a:lnTo>
                  <a:pt x="431279" y="358559"/>
                </a:lnTo>
                <a:close/>
              </a:path>
            </a:pathLst>
          </a:custGeom>
          <a:ln w="125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479289" y="3546538"/>
            <a:ext cx="1436370" cy="371475"/>
            <a:chOff x="2948939" y="3546537"/>
            <a:chExt cx="1436370" cy="371475"/>
          </a:xfrm>
        </p:grpSpPr>
        <p:sp>
          <p:nvSpPr>
            <p:cNvPr id="11" name="object 11"/>
            <p:cNvSpPr/>
            <p:nvPr/>
          </p:nvSpPr>
          <p:spPr>
            <a:xfrm>
              <a:off x="2955239" y="3552837"/>
              <a:ext cx="862965" cy="358775"/>
            </a:xfrm>
            <a:custGeom>
              <a:avLst/>
              <a:gdLst/>
              <a:ahLst/>
              <a:cxnLst/>
              <a:rect l="l" t="t" r="r" b="b"/>
              <a:pathLst>
                <a:path w="862964" h="358775">
                  <a:moveTo>
                    <a:pt x="431279" y="358559"/>
                  </a:moveTo>
                  <a:lnTo>
                    <a:pt x="0" y="358559"/>
                  </a:lnTo>
                  <a:lnTo>
                    <a:pt x="0" y="0"/>
                  </a:lnTo>
                  <a:lnTo>
                    <a:pt x="862558" y="0"/>
                  </a:lnTo>
                  <a:lnTo>
                    <a:pt x="862558" y="358559"/>
                  </a:lnTo>
                  <a:lnTo>
                    <a:pt x="431279" y="358559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17797" y="3732123"/>
              <a:ext cx="567055" cy="0"/>
            </a:xfrm>
            <a:custGeom>
              <a:avLst/>
              <a:gdLst/>
              <a:ahLst/>
              <a:cxnLst/>
              <a:rect l="l" t="t" r="r" b="b"/>
              <a:pathLst>
                <a:path w="567054">
                  <a:moveTo>
                    <a:pt x="0" y="0"/>
                  </a:moveTo>
                  <a:lnTo>
                    <a:pt x="567004" y="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902926" y="2898546"/>
          <a:ext cx="3382645" cy="1118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NA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2190"/>
                        </a:lnSpc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R="201930" algn="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400" spc="-285" dirty="0">
                          <a:latin typeface="Arial"/>
                          <a:cs typeface="Arial"/>
                        </a:rPr>
                        <a:t>NB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2320"/>
                        </a:lnSpc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306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400" spc="-355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50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3980146" y="3079805"/>
            <a:ext cx="506730" cy="115570"/>
            <a:chOff x="2449796" y="3079805"/>
            <a:chExt cx="506730" cy="115570"/>
          </a:xfrm>
        </p:grpSpPr>
        <p:sp>
          <p:nvSpPr>
            <p:cNvPr id="15" name="object 15"/>
            <p:cNvSpPr/>
            <p:nvPr/>
          </p:nvSpPr>
          <p:spPr>
            <a:xfrm>
              <a:off x="2522880" y="3120834"/>
              <a:ext cx="351155" cy="30480"/>
            </a:xfrm>
            <a:custGeom>
              <a:avLst/>
              <a:gdLst/>
              <a:ahLst/>
              <a:cxnLst/>
              <a:rect l="l" t="t" r="r" b="b"/>
              <a:pathLst>
                <a:path w="351155" h="30480">
                  <a:moveTo>
                    <a:pt x="0" y="0"/>
                  </a:moveTo>
                  <a:lnTo>
                    <a:pt x="351002" y="2988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5234" y="3107156"/>
              <a:ext cx="90728" cy="8784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9796" y="3079805"/>
              <a:ext cx="86769" cy="86756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9387" y="3112199"/>
            <a:ext cx="88201" cy="8820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9387" y="3688195"/>
            <a:ext cx="88201" cy="88201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6860147" y="3156115"/>
            <a:ext cx="650875" cy="576580"/>
          </a:xfrm>
          <a:custGeom>
            <a:avLst/>
            <a:gdLst/>
            <a:ahLst/>
            <a:cxnLst/>
            <a:rect l="l" t="t" r="r" b="b"/>
            <a:pathLst>
              <a:path w="650875" h="576579">
                <a:moveTo>
                  <a:pt x="0" y="576008"/>
                </a:moveTo>
                <a:lnTo>
                  <a:pt x="650519" y="308889"/>
                </a:lnTo>
              </a:path>
              <a:path w="650875" h="576579">
                <a:moveTo>
                  <a:pt x="0" y="0"/>
                </a:moveTo>
                <a:lnTo>
                  <a:pt x="650519" y="309968"/>
                </a:lnTo>
              </a:path>
            </a:pathLst>
          </a:custGeom>
          <a:ln w="125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7496810" y="3424314"/>
            <a:ext cx="799465" cy="88265"/>
            <a:chOff x="5966459" y="3424313"/>
            <a:chExt cx="799465" cy="88265"/>
          </a:xfrm>
        </p:grpSpPr>
        <p:sp>
          <p:nvSpPr>
            <p:cNvPr id="22" name="object 22"/>
            <p:cNvSpPr/>
            <p:nvPr/>
          </p:nvSpPr>
          <p:spPr>
            <a:xfrm>
              <a:off x="5972759" y="3467519"/>
              <a:ext cx="711200" cy="1270"/>
            </a:xfrm>
            <a:custGeom>
              <a:avLst/>
              <a:gdLst/>
              <a:ahLst/>
              <a:cxnLst/>
              <a:rect l="l" t="t" r="r" b="b"/>
              <a:pathLst>
                <a:path w="711200" h="1270">
                  <a:moveTo>
                    <a:pt x="0" y="0"/>
                  </a:moveTo>
                  <a:lnTo>
                    <a:pt x="710641" y="1079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7634" y="3424313"/>
              <a:ext cx="88201" cy="88201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3980146" y="3616558"/>
            <a:ext cx="506730" cy="115570"/>
            <a:chOff x="2449796" y="3616558"/>
            <a:chExt cx="506730" cy="115570"/>
          </a:xfrm>
        </p:grpSpPr>
        <p:sp>
          <p:nvSpPr>
            <p:cNvPr id="25" name="object 25"/>
            <p:cNvSpPr/>
            <p:nvPr/>
          </p:nvSpPr>
          <p:spPr>
            <a:xfrm>
              <a:off x="2522880" y="3657955"/>
              <a:ext cx="351155" cy="30480"/>
            </a:xfrm>
            <a:custGeom>
              <a:avLst/>
              <a:gdLst/>
              <a:ahLst/>
              <a:cxnLst/>
              <a:rect l="l" t="t" r="r" b="b"/>
              <a:pathLst>
                <a:path w="351155" h="30479">
                  <a:moveTo>
                    <a:pt x="0" y="0"/>
                  </a:moveTo>
                  <a:lnTo>
                    <a:pt x="351002" y="2988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65234" y="3644277"/>
              <a:ext cx="90728" cy="8784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49796" y="3616558"/>
              <a:ext cx="86769" cy="86756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1818" y="493641"/>
            <a:ext cx="55257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95" dirty="0"/>
              <a:t>Synchronisation</a:t>
            </a:r>
            <a:r>
              <a:rPr spc="-170" dirty="0"/>
              <a:t> </a:t>
            </a:r>
            <a:r>
              <a:rPr spc="-160" dirty="0"/>
              <a:t>durch</a:t>
            </a:r>
            <a:r>
              <a:rPr spc="-165" dirty="0"/>
              <a:t> 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1818" y="1574902"/>
            <a:ext cx="9174848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400" spc="-80" dirty="0">
                <a:latin typeface="Arial"/>
                <a:cs typeface="Arial"/>
              </a:rPr>
              <a:t>Mehrere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b="1" spc="-229" dirty="0">
                <a:latin typeface="Arial"/>
                <a:cs typeface="Arial"/>
              </a:rPr>
              <a:t>Übergänge</a:t>
            </a:r>
            <a:r>
              <a:rPr sz="2400" b="1" spc="85" dirty="0">
                <a:latin typeface="Arial"/>
                <a:cs typeface="Arial"/>
              </a:rPr>
              <a:t> </a:t>
            </a:r>
            <a:r>
              <a:rPr sz="2400" b="1" spc="-345" dirty="0">
                <a:latin typeface="Arial"/>
                <a:cs typeface="Arial"/>
              </a:rPr>
              <a:t>aus</a:t>
            </a:r>
            <a:r>
              <a:rPr sz="2400" b="1" spc="180" dirty="0">
                <a:latin typeface="Arial"/>
                <a:cs typeface="Arial"/>
              </a:rPr>
              <a:t> </a:t>
            </a:r>
            <a:r>
              <a:rPr sz="2400" b="1" spc="-210" dirty="0">
                <a:latin typeface="Arial"/>
                <a:cs typeface="Arial"/>
              </a:rPr>
              <a:t>verschiedene</a:t>
            </a:r>
            <a:r>
              <a:rPr sz="2400" b="1" spc="85" dirty="0">
                <a:latin typeface="Arial"/>
                <a:cs typeface="Arial"/>
              </a:rPr>
              <a:t> </a:t>
            </a:r>
            <a:r>
              <a:rPr sz="2400" b="1" spc="-170" dirty="0">
                <a:latin typeface="Arial"/>
                <a:cs typeface="Arial"/>
              </a:rPr>
              <a:t>Teilautomaten</a:t>
            </a:r>
            <a:r>
              <a:rPr sz="2400" b="1" spc="12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eines </a:t>
            </a:r>
            <a:r>
              <a:rPr sz="2400" spc="-120" dirty="0">
                <a:latin typeface="Arial"/>
                <a:cs typeface="Arial"/>
              </a:rPr>
              <a:t>Und-</a:t>
            </a:r>
            <a:r>
              <a:rPr sz="2400" spc="-180" dirty="0">
                <a:latin typeface="Arial"/>
                <a:cs typeface="Arial"/>
              </a:rPr>
              <a:t>Zustands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können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b="1" spc="-180" dirty="0">
                <a:latin typeface="Arial"/>
                <a:cs typeface="Arial"/>
              </a:rPr>
              <a:t>auf</a:t>
            </a:r>
            <a:r>
              <a:rPr sz="2400" b="1" spc="40" dirty="0">
                <a:latin typeface="Arial"/>
                <a:cs typeface="Arial"/>
              </a:rPr>
              <a:t> </a:t>
            </a:r>
            <a:r>
              <a:rPr sz="2400" b="1" spc="-215" dirty="0">
                <a:latin typeface="Arial"/>
                <a:cs typeface="Arial"/>
              </a:rPr>
              <a:t>gemeinsamen</a:t>
            </a:r>
            <a:r>
              <a:rPr sz="2400" b="1" spc="50" dirty="0">
                <a:latin typeface="Arial"/>
                <a:cs typeface="Arial"/>
              </a:rPr>
              <a:t> </a:t>
            </a:r>
            <a:r>
              <a:rPr sz="2400" b="1" spc="-150" dirty="0">
                <a:latin typeface="Arial"/>
                <a:cs typeface="Arial"/>
              </a:rPr>
              <a:t>Nachfolgezustand </a:t>
            </a:r>
            <a:r>
              <a:rPr sz="2400" spc="-65" dirty="0">
                <a:latin typeface="Arial"/>
                <a:cs typeface="Arial"/>
              </a:rPr>
              <a:t>führen,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nicht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zum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Und-</a:t>
            </a:r>
            <a:r>
              <a:rPr sz="2400" spc="-145" dirty="0">
                <a:latin typeface="Arial"/>
                <a:cs typeface="Arial"/>
              </a:rPr>
              <a:t>Zustand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gehört.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79289" y="2816098"/>
            <a:ext cx="1436370" cy="371475"/>
            <a:chOff x="2948939" y="2816097"/>
            <a:chExt cx="1436370" cy="371475"/>
          </a:xfrm>
        </p:grpSpPr>
        <p:sp>
          <p:nvSpPr>
            <p:cNvPr id="5" name="object 5"/>
            <p:cNvSpPr/>
            <p:nvPr/>
          </p:nvSpPr>
          <p:spPr>
            <a:xfrm>
              <a:off x="2955239" y="2822397"/>
              <a:ext cx="862965" cy="358775"/>
            </a:xfrm>
            <a:custGeom>
              <a:avLst/>
              <a:gdLst/>
              <a:ahLst/>
              <a:cxnLst/>
              <a:rect l="l" t="t" r="r" b="b"/>
              <a:pathLst>
                <a:path w="862964" h="358775">
                  <a:moveTo>
                    <a:pt x="431279" y="358559"/>
                  </a:moveTo>
                  <a:lnTo>
                    <a:pt x="0" y="358559"/>
                  </a:lnTo>
                  <a:lnTo>
                    <a:pt x="0" y="0"/>
                  </a:lnTo>
                  <a:lnTo>
                    <a:pt x="862558" y="0"/>
                  </a:lnTo>
                  <a:lnTo>
                    <a:pt x="862558" y="358559"/>
                  </a:lnTo>
                  <a:lnTo>
                    <a:pt x="431279" y="358559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7797" y="3001683"/>
              <a:ext cx="567055" cy="0"/>
            </a:xfrm>
            <a:custGeom>
              <a:avLst/>
              <a:gdLst/>
              <a:ahLst/>
              <a:cxnLst/>
              <a:rect l="l" t="t" r="r" b="b"/>
              <a:pathLst>
                <a:path w="567054">
                  <a:moveTo>
                    <a:pt x="0" y="0"/>
                  </a:moveTo>
                  <a:lnTo>
                    <a:pt x="567004" y="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997588" y="2822398"/>
            <a:ext cx="862965" cy="358775"/>
          </a:xfrm>
          <a:custGeom>
            <a:avLst/>
            <a:gdLst/>
            <a:ahLst/>
            <a:cxnLst/>
            <a:rect l="l" t="t" r="r" b="b"/>
            <a:pathLst>
              <a:path w="862964" h="358775">
                <a:moveTo>
                  <a:pt x="431279" y="358559"/>
                </a:moveTo>
                <a:lnTo>
                  <a:pt x="0" y="358559"/>
                </a:lnTo>
                <a:lnTo>
                  <a:pt x="0" y="0"/>
                </a:lnTo>
                <a:lnTo>
                  <a:pt x="862558" y="0"/>
                </a:lnTo>
                <a:lnTo>
                  <a:pt x="862558" y="358559"/>
                </a:lnTo>
                <a:lnTo>
                  <a:pt x="431279" y="358559"/>
                </a:lnTo>
                <a:close/>
              </a:path>
            </a:pathLst>
          </a:custGeom>
          <a:ln w="125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97588" y="3398406"/>
            <a:ext cx="862965" cy="358775"/>
          </a:xfrm>
          <a:custGeom>
            <a:avLst/>
            <a:gdLst/>
            <a:ahLst/>
            <a:cxnLst/>
            <a:rect l="l" t="t" r="r" b="b"/>
            <a:pathLst>
              <a:path w="862964" h="358775">
                <a:moveTo>
                  <a:pt x="431279" y="358559"/>
                </a:moveTo>
                <a:lnTo>
                  <a:pt x="0" y="358559"/>
                </a:lnTo>
                <a:lnTo>
                  <a:pt x="0" y="0"/>
                </a:lnTo>
                <a:lnTo>
                  <a:pt x="862558" y="0"/>
                </a:lnTo>
                <a:lnTo>
                  <a:pt x="862558" y="358559"/>
                </a:lnTo>
                <a:lnTo>
                  <a:pt x="431279" y="358559"/>
                </a:lnTo>
                <a:close/>
              </a:path>
            </a:pathLst>
          </a:custGeom>
          <a:ln w="125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479289" y="3392106"/>
            <a:ext cx="1436370" cy="371475"/>
            <a:chOff x="2948939" y="3392105"/>
            <a:chExt cx="1436370" cy="371475"/>
          </a:xfrm>
        </p:grpSpPr>
        <p:sp>
          <p:nvSpPr>
            <p:cNvPr id="10" name="object 10"/>
            <p:cNvSpPr/>
            <p:nvPr/>
          </p:nvSpPr>
          <p:spPr>
            <a:xfrm>
              <a:off x="2955239" y="3398405"/>
              <a:ext cx="862965" cy="358775"/>
            </a:xfrm>
            <a:custGeom>
              <a:avLst/>
              <a:gdLst/>
              <a:ahLst/>
              <a:cxnLst/>
              <a:rect l="l" t="t" r="r" b="b"/>
              <a:pathLst>
                <a:path w="862964" h="358775">
                  <a:moveTo>
                    <a:pt x="431279" y="358559"/>
                  </a:moveTo>
                  <a:lnTo>
                    <a:pt x="0" y="358559"/>
                  </a:lnTo>
                  <a:lnTo>
                    <a:pt x="0" y="0"/>
                  </a:lnTo>
                  <a:lnTo>
                    <a:pt x="862558" y="0"/>
                  </a:lnTo>
                  <a:lnTo>
                    <a:pt x="862558" y="358559"/>
                  </a:lnTo>
                  <a:lnTo>
                    <a:pt x="431279" y="358559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17797" y="3577678"/>
              <a:ext cx="567055" cy="0"/>
            </a:xfrm>
            <a:custGeom>
              <a:avLst/>
              <a:gdLst/>
              <a:ahLst/>
              <a:cxnLst/>
              <a:rect l="l" t="t" r="r" b="b"/>
              <a:pathLst>
                <a:path w="567054">
                  <a:moveTo>
                    <a:pt x="0" y="0"/>
                  </a:moveTo>
                  <a:lnTo>
                    <a:pt x="567004" y="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902926" y="2744100"/>
          <a:ext cx="3382645" cy="1118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NA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2190"/>
                        </a:lnSpc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pPr marR="201930" algn="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400" spc="-285" dirty="0">
                          <a:latin typeface="Arial"/>
                          <a:cs typeface="Arial"/>
                        </a:rPr>
                        <a:t>NB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2320"/>
                        </a:lnSpc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306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400" spc="-355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50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3980146" y="2925361"/>
            <a:ext cx="506730" cy="114935"/>
            <a:chOff x="2449796" y="2925360"/>
            <a:chExt cx="506730" cy="114935"/>
          </a:xfrm>
        </p:grpSpPr>
        <p:sp>
          <p:nvSpPr>
            <p:cNvPr id="14" name="object 14"/>
            <p:cNvSpPr/>
            <p:nvPr/>
          </p:nvSpPr>
          <p:spPr>
            <a:xfrm>
              <a:off x="2522880" y="2966034"/>
              <a:ext cx="351155" cy="30480"/>
            </a:xfrm>
            <a:custGeom>
              <a:avLst/>
              <a:gdLst/>
              <a:ahLst/>
              <a:cxnLst/>
              <a:rect l="l" t="t" r="r" b="b"/>
              <a:pathLst>
                <a:path w="351155" h="30480">
                  <a:moveTo>
                    <a:pt x="0" y="0"/>
                  </a:moveTo>
                  <a:lnTo>
                    <a:pt x="351002" y="2988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5234" y="2952356"/>
              <a:ext cx="90728" cy="8784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9796" y="2925360"/>
              <a:ext cx="86769" cy="86756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9387" y="2957754"/>
            <a:ext cx="88201" cy="8820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9387" y="3533763"/>
            <a:ext cx="88201" cy="88201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6860147" y="3001683"/>
            <a:ext cx="650875" cy="576580"/>
          </a:xfrm>
          <a:custGeom>
            <a:avLst/>
            <a:gdLst/>
            <a:ahLst/>
            <a:cxnLst/>
            <a:rect l="l" t="t" r="r" b="b"/>
            <a:pathLst>
              <a:path w="650875" h="576579">
                <a:moveTo>
                  <a:pt x="0" y="575995"/>
                </a:moveTo>
                <a:lnTo>
                  <a:pt x="650519" y="308521"/>
                </a:lnTo>
              </a:path>
              <a:path w="650875" h="576579">
                <a:moveTo>
                  <a:pt x="0" y="0"/>
                </a:moveTo>
                <a:lnTo>
                  <a:pt x="650519" y="309600"/>
                </a:lnTo>
              </a:path>
            </a:pathLst>
          </a:custGeom>
          <a:ln w="125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7496810" y="3269882"/>
            <a:ext cx="799465" cy="88265"/>
            <a:chOff x="5966459" y="3269881"/>
            <a:chExt cx="799465" cy="88265"/>
          </a:xfrm>
        </p:grpSpPr>
        <p:sp>
          <p:nvSpPr>
            <p:cNvPr id="21" name="object 21"/>
            <p:cNvSpPr/>
            <p:nvPr/>
          </p:nvSpPr>
          <p:spPr>
            <a:xfrm>
              <a:off x="5972759" y="3313074"/>
              <a:ext cx="711200" cy="1270"/>
            </a:xfrm>
            <a:custGeom>
              <a:avLst/>
              <a:gdLst/>
              <a:ahLst/>
              <a:cxnLst/>
              <a:rect l="l" t="t" r="r" b="b"/>
              <a:pathLst>
                <a:path w="711200" h="1270">
                  <a:moveTo>
                    <a:pt x="0" y="0"/>
                  </a:moveTo>
                  <a:lnTo>
                    <a:pt x="710641" y="1079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7634" y="3269881"/>
              <a:ext cx="88201" cy="88201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3980146" y="3462113"/>
            <a:ext cx="506730" cy="115570"/>
            <a:chOff x="2449796" y="3462113"/>
            <a:chExt cx="506730" cy="115570"/>
          </a:xfrm>
        </p:grpSpPr>
        <p:sp>
          <p:nvSpPr>
            <p:cNvPr id="24" name="object 24"/>
            <p:cNvSpPr/>
            <p:nvPr/>
          </p:nvSpPr>
          <p:spPr>
            <a:xfrm>
              <a:off x="2522880" y="3503523"/>
              <a:ext cx="351155" cy="30480"/>
            </a:xfrm>
            <a:custGeom>
              <a:avLst/>
              <a:gdLst/>
              <a:ahLst/>
              <a:cxnLst/>
              <a:rect l="l" t="t" r="r" b="b"/>
              <a:pathLst>
                <a:path w="351155" h="30479">
                  <a:moveTo>
                    <a:pt x="0" y="0"/>
                  </a:moveTo>
                  <a:lnTo>
                    <a:pt x="351002" y="2987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65234" y="3489845"/>
              <a:ext cx="90728" cy="8783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49796" y="3462113"/>
              <a:ext cx="86769" cy="86769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4479289" y="4872787"/>
            <a:ext cx="1436370" cy="371475"/>
            <a:chOff x="2948939" y="4872786"/>
            <a:chExt cx="1436370" cy="371475"/>
          </a:xfrm>
        </p:grpSpPr>
        <p:sp>
          <p:nvSpPr>
            <p:cNvPr id="28" name="object 28"/>
            <p:cNvSpPr/>
            <p:nvPr/>
          </p:nvSpPr>
          <p:spPr>
            <a:xfrm>
              <a:off x="2955239" y="4879086"/>
              <a:ext cx="862965" cy="358775"/>
            </a:xfrm>
            <a:custGeom>
              <a:avLst/>
              <a:gdLst/>
              <a:ahLst/>
              <a:cxnLst/>
              <a:rect l="l" t="t" r="r" b="b"/>
              <a:pathLst>
                <a:path w="862964" h="358775">
                  <a:moveTo>
                    <a:pt x="431279" y="358559"/>
                  </a:moveTo>
                  <a:lnTo>
                    <a:pt x="0" y="358559"/>
                  </a:lnTo>
                  <a:lnTo>
                    <a:pt x="0" y="0"/>
                  </a:lnTo>
                  <a:lnTo>
                    <a:pt x="862558" y="0"/>
                  </a:lnTo>
                  <a:lnTo>
                    <a:pt x="862558" y="358559"/>
                  </a:lnTo>
                  <a:lnTo>
                    <a:pt x="431279" y="358559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17797" y="5058359"/>
              <a:ext cx="567055" cy="0"/>
            </a:xfrm>
            <a:custGeom>
              <a:avLst/>
              <a:gdLst/>
              <a:ahLst/>
              <a:cxnLst/>
              <a:rect l="l" t="t" r="r" b="b"/>
              <a:pathLst>
                <a:path w="567054">
                  <a:moveTo>
                    <a:pt x="0" y="0"/>
                  </a:moveTo>
                  <a:lnTo>
                    <a:pt x="567004" y="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5997588" y="4879086"/>
            <a:ext cx="862965" cy="358775"/>
          </a:xfrm>
          <a:custGeom>
            <a:avLst/>
            <a:gdLst/>
            <a:ahLst/>
            <a:cxnLst/>
            <a:rect l="l" t="t" r="r" b="b"/>
            <a:pathLst>
              <a:path w="862964" h="358775">
                <a:moveTo>
                  <a:pt x="431279" y="358559"/>
                </a:moveTo>
                <a:lnTo>
                  <a:pt x="0" y="358559"/>
                </a:lnTo>
                <a:lnTo>
                  <a:pt x="0" y="0"/>
                </a:lnTo>
                <a:lnTo>
                  <a:pt x="862558" y="0"/>
                </a:lnTo>
                <a:lnTo>
                  <a:pt x="862558" y="358559"/>
                </a:lnTo>
                <a:lnTo>
                  <a:pt x="431279" y="358559"/>
                </a:lnTo>
                <a:close/>
              </a:path>
            </a:pathLst>
          </a:custGeom>
          <a:ln w="125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997588" y="5455082"/>
            <a:ext cx="862965" cy="358775"/>
          </a:xfrm>
          <a:custGeom>
            <a:avLst/>
            <a:gdLst/>
            <a:ahLst/>
            <a:cxnLst/>
            <a:rect l="l" t="t" r="r" b="b"/>
            <a:pathLst>
              <a:path w="862964" h="358775">
                <a:moveTo>
                  <a:pt x="431279" y="358559"/>
                </a:moveTo>
                <a:lnTo>
                  <a:pt x="0" y="358559"/>
                </a:lnTo>
                <a:lnTo>
                  <a:pt x="0" y="0"/>
                </a:lnTo>
                <a:lnTo>
                  <a:pt x="862558" y="0"/>
                </a:lnTo>
                <a:lnTo>
                  <a:pt x="862558" y="358559"/>
                </a:lnTo>
                <a:lnTo>
                  <a:pt x="431279" y="358559"/>
                </a:lnTo>
                <a:close/>
              </a:path>
            </a:pathLst>
          </a:custGeom>
          <a:ln w="125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4479289" y="5448782"/>
            <a:ext cx="1436370" cy="371475"/>
            <a:chOff x="2948939" y="5448781"/>
            <a:chExt cx="1436370" cy="371475"/>
          </a:xfrm>
        </p:grpSpPr>
        <p:sp>
          <p:nvSpPr>
            <p:cNvPr id="33" name="object 33"/>
            <p:cNvSpPr/>
            <p:nvPr/>
          </p:nvSpPr>
          <p:spPr>
            <a:xfrm>
              <a:off x="2955239" y="5455081"/>
              <a:ext cx="862965" cy="358775"/>
            </a:xfrm>
            <a:custGeom>
              <a:avLst/>
              <a:gdLst/>
              <a:ahLst/>
              <a:cxnLst/>
              <a:rect l="l" t="t" r="r" b="b"/>
              <a:pathLst>
                <a:path w="862964" h="358775">
                  <a:moveTo>
                    <a:pt x="431279" y="358559"/>
                  </a:moveTo>
                  <a:lnTo>
                    <a:pt x="0" y="358559"/>
                  </a:lnTo>
                  <a:lnTo>
                    <a:pt x="0" y="0"/>
                  </a:lnTo>
                  <a:lnTo>
                    <a:pt x="862558" y="0"/>
                  </a:lnTo>
                  <a:lnTo>
                    <a:pt x="862558" y="358559"/>
                  </a:lnTo>
                  <a:lnTo>
                    <a:pt x="431279" y="358559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17797" y="5634354"/>
              <a:ext cx="567055" cy="0"/>
            </a:xfrm>
            <a:custGeom>
              <a:avLst/>
              <a:gdLst/>
              <a:ahLst/>
              <a:cxnLst/>
              <a:rect l="l" t="t" r="r" b="b"/>
              <a:pathLst>
                <a:path w="567054">
                  <a:moveTo>
                    <a:pt x="0" y="0"/>
                  </a:moveTo>
                  <a:lnTo>
                    <a:pt x="567004" y="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3902925" y="4800778"/>
          <a:ext cx="4100830" cy="1118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40">
                <a:tc rowSpan="2">
                  <a:txBody>
                    <a:bodyPr/>
                    <a:lstStyle/>
                    <a:p>
                      <a:pPr marL="8210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NA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 marL="203835">
                        <a:lnSpc>
                          <a:spcPts val="2190"/>
                        </a:lnSpc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858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pPr marL="8261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400" spc="-285" dirty="0">
                          <a:latin typeface="Arial"/>
                          <a:cs typeface="Arial"/>
                        </a:rPr>
                        <a:t>NB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2320"/>
                        </a:lnSpc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306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400" spc="-355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50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3980146" y="4982037"/>
            <a:ext cx="506730" cy="114935"/>
            <a:chOff x="2449796" y="4982036"/>
            <a:chExt cx="506730" cy="114935"/>
          </a:xfrm>
        </p:grpSpPr>
        <p:sp>
          <p:nvSpPr>
            <p:cNvPr id="37" name="object 37"/>
            <p:cNvSpPr/>
            <p:nvPr/>
          </p:nvSpPr>
          <p:spPr>
            <a:xfrm>
              <a:off x="2522880" y="5022722"/>
              <a:ext cx="351155" cy="30480"/>
            </a:xfrm>
            <a:custGeom>
              <a:avLst/>
              <a:gdLst/>
              <a:ahLst/>
              <a:cxnLst/>
              <a:rect l="l" t="t" r="r" b="b"/>
              <a:pathLst>
                <a:path w="351155" h="30479">
                  <a:moveTo>
                    <a:pt x="0" y="0"/>
                  </a:moveTo>
                  <a:lnTo>
                    <a:pt x="351002" y="2988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65234" y="5009044"/>
              <a:ext cx="90728" cy="8783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49796" y="4982036"/>
              <a:ext cx="86769" cy="86756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09387" y="5014443"/>
            <a:ext cx="88201" cy="88201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09387" y="5590439"/>
            <a:ext cx="88201" cy="8820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98473" y="5235842"/>
            <a:ext cx="88201" cy="88201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3980146" y="5519158"/>
            <a:ext cx="506730" cy="115570"/>
            <a:chOff x="2449796" y="5519158"/>
            <a:chExt cx="506730" cy="115570"/>
          </a:xfrm>
        </p:grpSpPr>
        <p:sp>
          <p:nvSpPr>
            <p:cNvPr id="44" name="object 44"/>
            <p:cNvSpPr/>
            <p:nvPr/>
          </p:nvSpPr>
          <p:spPr>
            <a:xfrm>
              <a:off x="2522880" y="5560199"/>
              <a:ext cx="351155" cy="30480"/>
            </a:xfrm>
            <a:custGeom>
              <a:avLst/>
              <a:gdLst/>
              <a:ahLst/>
              <a:cxnLst/>
              <a:rect l="l" t="t" r="r" b="b"/>
              <a:pathLst>
                <a:path w="351155" h="30479">
                  <a:moveTo>
                    <a:pt x="0" y="0"/>
                  </a:moveTo>
                  <a:lnTo>
                    <a:pt x="351002" y="2988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65234" y="5546521"/>
              <a:ext cx="90728" cy="8783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49796" y="5519158"/>
              <a:ext cx="86769" cy="86756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471818" y="4064661"/>
            <a:ext cx="9136748" cy="1252907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0"/>
              </a:spcBef>
            </a:pPr>
            <a:r>
              <a:rPr sz="2000" spc="-65" dirty="0">
                <a:latin typeface="Arial"/>
                <a:cs typeface="Arial"/>
              </a:rPr>
              <a:t>Im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Gegensatz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dazu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erfolgt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hier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der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Übergang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aus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allen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Unterzuständen, </a:t>
            </a:r>
            <a:r>
              <a:rPr sz="2000" spc="-85" dirty="0">
                <a:latin typeface="Arial"/>
                <a:cs typeface="Arial"/>
              </a:rPr>
              <a:t>möglicherweise</a:t>
            </a:r>
            <a:r>
              <a:rPr sz="2000" spc="-80" dirty="0">
                <a:latin typeface="Arial"/>
                <a:cs typeface="Arial"/>
              </a:rPr>
              <a:t> bevor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i="1" spc="-95" dirty="0">
                <a:latin typeface="Arial"/>
                <a:cs typeface="Arial"/>
              </a:rPr>
              <a:t>a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oder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i="1" spc="-95" dirty="0">
                <a:latin typeface="Arial"/>
                <a:cs typeface="Arial"/>
              </a:rPr>
              <a:t>b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auftreten: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185"/>
              </a:spcBef>
            </a:pPr>
            <a:endParaRPr sz="2000" dirty="0">
              <a:latin typeface="Arial"/>
              <a:cs typeface="Arial"/>
            </a:endParaRPr>
          </a:p>
          <a:p>
            <a:pPr marR="1490980" algn="r">
              <a:spcBef>
                <a:spcPts val="5"/>
              </a:spcBef>
            </a:pPr>
            <a:r>
              <a:rPr sz="2000" spc="-10" dirty="0">
                <a:latin typeface="Arial"/>
                <a:cs typeface="Arial"/>
              </a:rPr>
              <a:t>cancel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46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0350" y="6473953"/>
            <a:ext cx="9144000" cy="384175"/>
          </a:xfrm>
          <a:custGeom>
            <a:avLst/>
            <a:gdLst/>
            <a:ahLst/>
            <a:cxnLst/>
            <a:rect l="l" t="t" r="r" b="b"/>
            <a:pathLst>
              <a:path w="9144000" h="384175">
                <a:moveTo>
                  <a:pt x="9144000" y="0"/>
                </a:moveTo>
                <a:lnTo>
                  <a:pt x="0" y="0"/>
                </a:lnTo>
                <a:lnTo>
                  <a:pt x="0" y="384048"/>
                </a:lnTo>
                <a:lnTo>
                  <a:pt x="9144000" y="384048"/>
                </a:lnTo>
                <a:lnTo>
                  <a:pt x="9144000" y="0"/>
                </a:lnTo>
                <a:close/>
              </a:path>
            </a:pathLst>
          </a:custGeom>
          <a:solidFill>
            <a:srgbClr val="2B54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04037" y="373457"/>
            <a:ext cx="6286424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140" dirty="0">
                <a:solidFill>
                  <a:srgbClr val="2B5480"/>
                </a:solidFill>
              </a:rPr>
              <a:t>Nebenläufigkeit</a:t>
            </a:r>
            <a:r>
              <a:rPr spc="-185" dirty="0">
                <a:solidFill>
                  <a:srgbClr val="2B5480"/>
                </a:solidFill>
              </a:rPr>
              <a:t> </a:t>
            </a:r>
            <a:r>
              <a:rPr spc="-130" dirty="0">
                <a:solidFill>
                  <a:srgbClr val="2B5480"/>
                </a:solidFill>
              </a:rPr>
              <a:t>ohne </a:t>
            </a:r>
            <a:r>
              <a:rPr spc="-155" dirty="0">
                <a:solidFill>
                  <a:srgbClr val="2B5480"/>
                </a:solidFill>
              </a:rPr>
              <a:t>Zustandsexplosion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50566" y="2061717"/>
            <a:ext cx="2387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95" dirty="0">
                <a:latin typeface="Arial"/>
                <a:cs typeface="Arial"/>
              </a:rPr>
              <a:t>Endlicher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-125" dirty="0">
                <a:latin typeface="Arial"/>
                <a:cs typeface="Arial"/>
              </a:rPr>
              <a:t>Automat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37502" y="2061717"/>
            <a:ext cx="1332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50" dirty="0">
                <a:latin typeface="Arial"/>
                <a:cs typeface="Arial"/>
              </a:rPr>
              <a:t>Statechart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9002" y="5390489"/>
            <a:ext cx="2688590" cy="684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95"/>
              </a:lnSpc>
              <a:spcBef>
                <a:spcPts val="100"/>
              </a:spcBef>
            </a:pPr>
            <a:r>
              <a:rPr sz="2400" spc="-75" dirty="0">
                <a:latin typeface="Arial"/>
                <a:cs typeface="Arial"/>
              </a:rPr>
              <a:t>Erweiterbar: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ähnliche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595"/>
              </a:lnSpc>
            </a:pPr>
            <a:r>
              <a:rPr sz="2400" spc="-30" dirty="0">
                <a:latin typeface="Arial"/>
                <a:cs typeface="Arial"/>
              </a:rPr>
              <a:t>Teilautomaten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73643" y="3299840"/>
            <a:ext cx="2571115" cy="2004060"/>
          </a:xfrm>
          <a:custGeom>
            <a:avLst/>
            <a:gdLst/>
            <a:ahLst/>
            <a:cxnLst/>
            <a:rect l="l" t="t" r="r" b="b"/>
            <a:pathLst>
              <a:path w="2571115" h="2004060">
                <a:moveTo>
                  <a:pt x="972273" y="1948561"/>
                </a:moveTo>
                <a:lnTo>
                  <a:pt x="955954" y="1939036"/>
                </a:lnTo>
                <a:lnTo>
                  <a:pt x="877404" y="1893189"/>
                </a:lnTo>
                <a:lnTo>
                  <a:pt x="871562" y="1894725"/>
                </a:lnTo>
                <a:lnTo>
                  <a:pt x="866228" y="1903869"/>
                </a:lnTo>
                <a:lnTo>
                  <a:pt x="867752" y="1909572"/>
                </a:lnTo>
                <a:lnTo>
                  <a:pt x="918248" y="1939036"/>
                </a:lnTo>
                <a:lnTo>
                  <a:pt x="64858" y="1939036"/>
                </a:lnTo>
                <a:lnTo>
                  <a:pt x="64858" y="1240917"/>
                </a:lnTo>
                <a:lnTo>
                  <a:pt x="45808" y="1240917"/>
                </a:lnTo>
                <a:lnTo>
                  <a:pt x="45808" y="1958086"/>
                </a:lnTo>
                <a:lnTo>
                  <a:pt x="918032" y="1958086"/>
                </a:lnTo>
                <a:lnTo>
                  <a:pt x="867752" y="1987423"/>
                </a:lnTo>
                <a:lnTo>
                  <a:pt x="866228" y="1993265"/>
                </a:lnTo>
                <a:lnTo>
                  <a:pt x="868895" y="1997710"/>
                </a:lnTo>
                <a:lnTo>
                  <a:pt x="871562" y="2002282"/>
                </a:lnTo>
                <a:lnTo>
                  <a:pt x="877404" y="2003806"/>
                </a:lnTo>
                <a:lnTo>
                  <a:pt x="955903" y="1958086"/>
                </a:lnTo>
                <a:lnTo>
                  <a:pt x="972273" y="1948561"/>
                </a:lnTo>
                <a:close/>
              </a:path>
              <a:path w="2571115" h="2004060">
                <a:moveTo>
                  <a:pt x="977607" y="0"/>
                </a:moveTo>
                <a:lnTo>
                  <a:pt x="45808" y="0"/>
                </a:lnTo>
                <a:lnTo>
                  <a:pt x="45808" y="763689"/>
                </a:lnTo>
                <a:lnTo>
                  <a:pt x="16459" y="713359"/>
                </a:lnTo>
                <a:lnTo>
                  <a:pt x="10629" y="711835"/>
                </a:lnTo>
                <a:lnTo>
                  <a:pt x="1536" y="717169"/>
                </a:lnTo>
                <a:lnTo>
                  <a:pt x="0" y="723011"/>
                </a:lnTo>
                <a:lnTo>
                  <a:pt x="55333" y="817880"/>
                </a:lnTo>
                <a:lnTo>
                  <a:pt x="66370" y="798957"/>
                </a:lnTo>
                <a:lnTo>
                  <a:pt x="110667" y="723011"/>
                </a:lnTo>
                <a:lnTo>
                  <a:pt x="109131" y="717169"/>
                </a:lnTo>
                <a:lnTo>
                  <a:pt x="100037" y="711835"/>
                </a:lnTo>
                <a:lnTo>
                  <a:pt x="94208" y="713359"/>
                </a:lnTo>
                <a:lnTo>
                  <a:pt x="64858" y="763689"/>
                </a:lnTo>
                <a:lnTo>
                  <a:pt x="64858" y="19050"/>
                </a:lnTo>
                <a:lnTo>
                  <a:pt x="977607" y="19050"/>
                </a:lnTo>
                <a:lnTo>
                  <a:pt x="977607" y="9525"/>
                </a:lnTo>
                <a:lnTo>
                  <a:pt x="977607" y="0"/>
                </a:lnTo>
                <a:close/>
              </a:path>
              <a:path w="2571115" h="2004060">
                <a:moveTo>
                  <a:pt x="2524341" y="1240917"/>
                </a:moveTo>
                <a:lnTo>
                  <a:pt x="2505291" y="1240917"/>
                </a:lnTo>
                <a:lnTo>
                  <a:pt x="2505291" y="1939036"/>
                </a:lnTo>
                <a:lnTo>
                  <a:pt x="1640827" y="1939036"/>
                </a:lnTo>
                <a:lnTo>
                  <a:pt x="1691347" y="1909572"/>
                </a:lnTo>
                <a:lnTo>
                  <a:pt x="1692871" y="1903869"/>
                </a:lnTo>
                <a:lnTo>
                  <a:pt x="1687537" y="1894725"/>
                </a:lnTo>
                <a:lnTo>
                  <a:pt x="1681695" y="1893189"/>
                </a:lnTo>
                <a:lnTo>
                  <a:pt x="1677250" y="1895868"/>
                </a:lnTo>
                <a:lnTo>
                  <a:pt x="1586953" y="1948561"/>
                </a:lnTo>
                <a:lnTo>
                  <a:pt x="1677250" y="2001139"/>
                </a:lnTo>
                <a:lnTo>
                  <a:pt x="1681695" y="2003806"/>
                </a:lnTo>
                <a:lnTo>
                  <a:pt x="1687537" y="2002282"/>
                </a:lnTo>
                <a:lnTo>
                  <a:pt x="1690204" y="1997710"/>
                </a:lnTo>
                <a:lnTo>
                  <a:pt x="1692871" y="1993265"/>
                </a:lnTo>
                <a:lnTo>
                  <a:pt x="1691347" y="1987423"/>
                </a:lnTo>
                <a:lnTo>
                  <a:pt x="1641055" y="1958086"/>
                </a:lnTo>
                <a:lnTo>
                  <a:pt x="2524341" y="1958086"/>
                </a:lnTo>
                <a:lnTo>
                  <a:pt x="2524341" y="1939036"/>
                </a:lnTo>
                <a:lnTo>
                  <a:pt x="2524341" y="1240917"/>
                </a:lnTo>
                <a:close/>
              </a:path>
              <a:path w="2571115" h="2004060">
                <a:moveTo>
                  <a:pt x="2570696" y="723011"/>
                </a:moveTo>
                <a:lnTo>
                  <a:pt x="2569172" y="717169"/>
                </a:lnTo>
                <a:lnTo>
                  <a:pt x="2560028" y="711835"/>
                </a:lnTo>
                <a:lnTo>
                  <a:pt x="2554186" y="713359"/>
                </a:lnTo>
                <a:lnTo>
                  <a:pt x="2551646" y="717931"/>
                </a:lnTo>
                <a:lnTo>
                  <a:pt x="2524849" y="763879"/>
                </a:lnTo>
                <a:lnTo>
                  <a:pt x="2524849" y="19050"/>
                </a:lnTo>
                <a:lnTo>
                  <a:pt x="2524849" y="9525"/>
                </a:lnTo>
                <a:lnTo>
                  <a:pt x="2524849" y="0"/>
                </a:lnTo>
                <a:lnTo>
                  <a:pt x="1593049" y="0"/>
                </a:lnTo>
                <a:lnTo>
                  <a:pt x="1593049" y="19050"/>
                </a:lnTo>
                <a:lnTo>
                  <a:pt x="2505799" y="19050"/>
                </a:lnTo>
                <a:lnTo>
                  <a:pt x="2505799" y="763651"/>
                </a:lnTo>
                <a:lnTo>
                  <a:pt x="2476462" y="713359"/>
                </a:lnTo>
                <a:lnTo>
                  <a:pt x="2470620" y="711835"/>
                </a:lnTo>
                <a:lnTo>
                  <a:pt x="2466175" y="714502"/>
                </a:lnTo>
                <a:lnTo>
                  <a:pt x="2461603" y="717169"/>
                </a:lnTo>
                <a:lnTo>
                  <a:pt x="2460079" y="723011"/>
                </a:lnTo>
                <a:lnTo>
                  <a:pt x="2515324" y="817880"/>
                </a:lnTo>
                <a:lnTo>
                  <a:pt x="2526360" y="798957"/>
                </a:lnTo>
                <a:lnTo>
                  <a:pt x="2570696" y="7230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33854" y="3494658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5" dirty="0">
                <a:latin typeface="Arial"/>
                <a:cs typeface="Arial"/>
              </a:rPr>
              <a:t>a</a:t>
            </a:r>
            <a:endParaRPr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7578" y="3533013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0" dirty="0">
                <a:latin typeface="Arial"/>
                <a:cs typeface="Arial"/>
              </a:rPr>
              <a:t>b</a:t>
            </a:r>
            <a:endParaRPr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6673" y="4756784"/>
            <a:ext cx="459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60" dirty="0">
                <a:latin typeface="Arial"/>
                <a:cs typeface="Arial"/>
              </a:rPr>
              <a:t>b</a:t>
            </a:r>
            <a:r>
              <a:rPr spc="-90" dirty="0">
                <a:latin typeface="Arial"/>
                <a:cs typeface="Arial"/>
              </a:rPr>
              <a:t> </a:t>
            </a:r>
            <a:r>
              <a:rPr spc="195" dirty="0">
                <a:latin typeface="Arial"/>
                <a:cs typeface="Arial"/>
              </a:rPr>
              <a:t>/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o</a:t>
            </a:r>
            <a:endParaRPr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67578" y="4762245"/>
            <a:ext cx="449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40" dirty="0">
                <a:latin typeface="Arial"/>
                <a:cs typeface="Arial"/>
              </a:rPr>
              <a:t>a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195" dirty="0">
                <a:latin typeface="Arial"/>
                <a:cs typeface="Arial"/>
              </a:rPr>
              <a:t>/</a:t>
            </a:r>
            <a:r>
              <a:rPr spc="-80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o</a:t>
            </a:r>
            <a:endParaRPr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41470" y="2752344"/>
            <a:ext cx="635000" cy="778510"/>
            <a:chOff x="2111120" y="2752344"/>
            <a:chExt cx="635000" cy="77851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2199" y="2752344"/>
              <a:ext cx="131063" cy="34429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20645" y="3097530"/>
              <a:ext cx="615950" cy="424180"/>
            </a:xfrm>
            <a:custGeom>
              <a:avLst/>
              <a:gdLst/>
              <a:ahLst/>
              <a:cxnLst/>
              <a:rect l="l" t="t" r="r" b="b"/>
              <a:pathLst>
                <a:path w="615950" h="424179">
                  <a:moveTo>
                    <a:pt x="545083" y="423672"/>
                  </a:moveTo>
                  <a:lnTo>
                    <a:pt x="70611" y="423672"/>
                  </a:lnTo>
                  <a:lnTo>
                    <a:pt x="43130" y="418121"/>
                  </a:lnTo>
                  <a:lnTo>
                    <a:pt x="20685" y="402986"/>
                  </a:lnTo>
                  <a:lnTo>
                    <a:pt x="5550" y="380541"/>
                  </a:lnTo>
                  <a:lnTo>
                    <a:pt x="0" y="353060"/>
                  </a:lnTo>
                  <a:lnTo>
                    <a:pt x="0" y="70612"/>
                  </a:lnTo>
                  <a:lnTo>
                    <a:pt x="5550" y="43130"/>
                  </a:lnTo>
                  <a:lnTo>
                    <a:pt x="20685" y="20685"/>
                  </a:lnTo>
                  <a:lnTo>
                    <a:pt x="43130" y="5550"/>
                  </a:lnTo>
                  <a:lnTo>
                    <a:pt x="70612" y="0"/>
                  </a:lnTo>
                  <a:lnTo>
                    <a:pt x="545084" y="0"/>
                  </a:lnTo>
                </a:path>
                <a:path w="615950" h="424179">
                  <a:moveTo>
                    <a:pt x="545084" y="0"/>
                  </a:moveTo>
                  <a:lnTo>
                    <a:pt x="572565" y="5550"/>
                  </a:lnTo>
                  <a:lnTo>
                    <a:pt x="595010" y="20685"/>
                  </a:lnTo>
                  <a:lnTo>
                    <a:pt x="610145" y="43130"/>
                  </a:lnTo>
                  <a:lnTo>
                    <a:pt x="615696" y="70612"/>
                  </a:lnTo>
                  <a:lnTo>
                    <a:pt x="615696" y="353060"/>
                  </a:lnTo>
                  <a:lnTo>
                    <a:pt x="610145" y="380541"/>
                  </a:lnTo>
                  <a:lnTo>
                    <a:pt x="595010" y="402986"/>
                  </a:lnTo>
                  <a:lnTo>
                    <a:pt x="572565" y="418121"/>
                  </a:lnTo>
                  <a:lnTo>
                    <a:pt x="545084" y="423672"/>
                  </a:lnTo>
                </a:path>
              </a:pathLst>
            </a:custGeom>
            <a:ln w="1905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645" y="3097530"/>
              <a:ext cx="615696" cy="4236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120645" y="3097530"/>
              <a:ext cx="615950" cy="424180"/>
            </a:xfrm>
            <a:custGeom>
              <a:avLst/>
              <a:gdLst/>
              <a:ahLst/>
              <a:cxnLst/>
              <a:rect l="l" t="t" r="r" b="b"/>
              <a:pathLst>
                <a:path w="615950" h="424179">
                  <a:moveTo>
                    <a:pt x="0" y="70612"/>
                  </a:moveTo>
                  <a:lnTo>
                    <a:pt x="5550" y="43130"/>
                  </a:lnTo>
                  <a:lnTo>
                    <a:pt x="20685" y="20685"/>
                  </a:lnTo>
                  <a:lnTo>
                    <a:pt x="43130" y="5550"/>
                  </a:lnTo>
                  <a:lnTo>
                    <a:pt x="70612" y="0"/>
                  </a:lnTo>
                  <a:lnTo>
                    <a:pt x="545084" y="0"/>
                  </a:lnTo>
                  <a:lnTo>
                    <a:pt x="572565" y="5550"/>
                  </a:lnTo>
                  <a:lnTo>
                    <a:pt x="595010" y="20685"/>
                  </a:lnTo>
                  <a:lnTo>
                    <a:pt x="610145" y="43130"/>
                  </a:lnTo>
                  <a:lnTo>
                    <a:pt x="615696" y="70612"/>
                  </a:lnTo>
                  <a:lnTo>
                    <a:pt x="615696" y="353060"/>
                  </a:lnTo>
                  <a:lnTo>
                    <a:pt x="610145" y="380541"/>
                  </a:lnTo>
                  <a:lnTo>
                    <a:pt x="595010" y="402986"/>
                  </a:lnTo>
                  <a:lnTo>
                    <a:pt x="572565" y="418121"/>
                  </a:lnTo>
                  <a:lnTo>
                    <a:pt x="545084" y="423672"/>
                  </a:lnTo>
                  <a:lnTo>
                    <a:pt x="70612" y="423672"/>
                  </a:lnTo>
                  <a:lnTo>
                    <a:pt x="43130" y="418121"/>
                  </a:lnTo>
                  <a:lnTo>
                    <a:pt x="20685" y="402986"/>
                  </a:lnTo>
                  <a:lnTo>
                    <a:pt x="5550" y="380541"/>
                  </a:lnTo>
                  <a:lnTo>
                    <a:pt x="0" y="353060"/>
                  </a:lnTo>
                  <a:lnTo>
                    <a:pt x="0" y="70612"/>
                  </a:lnTo>
                  <a:close/>
                </a:path>
              </a:pathLst>
            </a:custGeom>
            <a:ln w="1905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3619" y="3207385"/>
              <a:ext cx="221615" cy="10795"/>
            </a:xfrm>
            <a:custGeom>
              <a:avLst/>
              <a:gdLst/>
              <a:ahLst/>
              <a:cxnLst/>
              <a:rect l="l" t="t" r="r" b="b"/>
              <a:pathLst>
                <a:path w="221614" h="10794">
                  <a:moveTo>
                    <a:pt x="221234" y="0"/>
                  </a:moveTo>
                  <a:lnTo>
                    <a:pt x="0" y="0"/>
                  </a:lnTo>
                  <a:lnTo>
                    <a:pt x="0" y="10413"/>
                  </a:lnTo>
                  <a:lnTo>
                    <a:pt x="221234" y="10413"/>
                  </a:lnTo>
                  <a:lnTo>
                    <a:pt x="2212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10000" y="3167633"/>
            <a:ext cx="24765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5" dirty="0">
                <a:latin typeface="STIX Two Math"/>
                <a:cs typeface="STIX Two Math"/>
              </a:rPr>
              <a:t>𝑎𝑏</a:t>
            </a:r>
            <a:endParaRPr sz="1600" dirty="0">
              <a:latin typeface="STIX Two Math"/>
              <a:cs typeface="STIX Two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413127" y="4107560"/>
            <a:ext cx="633730" cy="443230"/>
            <a:chOff x="882777" y="4107560"/>
            <a:chExt cx="633730" cy="443230"/>
          </a:xfrm>
        </p:grpSpPr>
        <p:sp>
          <p:nvSpPr>
            <p:cNvPr id="20" name="object 20"/>
            <p:cNvSpPr/>
            <p:nvPr/>
          </p:nvSpPr>
          <p:spPr>
            <a:xfrm>
              <a:off x="892302" y="4117085"/>
              <a:ext cx="614680" cy="424180"/>
            </a:xfrm>
            <a:custGeom>
              <a:avLst/>
              <a:gdLst/>
              <a:ahLst/>
              <a:cxnLst/>
              <a:rect l="l" t="t" r="r" b="b"/>
              <a:pathLst>
                <a:path w="614680" h="424179">
                  <a:moveTo>
                    <a:pt x="543560" y="423671"/>
                  </a:moveTo>
                  <a:lnTo>
                    <a:pt x="70612" y="423671"/>
                  </a:lnTo>
                  <a:lnTo>
                    <a:pt x="43125" y="418121"/>
                  </a:lnTo>
                  <a:lnTo>
                    <a:pt x="20680" y="402986"/>
                  </a:lnTo>
                  <a:lnTo>
                    <a:pt x="5548" y="380541"/>
                  </a:lnTo>
                  <a:lnTo>
                    <a:pt x="0" y="353059"/>
                  </a:lnTo>
                  <a:lnTo>
                    <a:pt x="0" y="70611"/>
                  </a:lnTo>
                  <a:lnTo>
                    <a:pt x="5548" y="43130"/>
                  </a:lnTo>
                  <a:lnTo>
                    <a:pt x="20680" y="20685"/>
                  </a:lnTo>
                  <a:lnTo>
                    <a:pt x="43125" y="5550"/>
                  </a:lnTo>
                  <a:lnTo>
                    <a:pt x="70611" y="0"/>
                  </a:lnTo>
                  <a:lnTo>
                    <a:pt x="543560" y="0"/>
                  </a:lnTo>
                </a:path>
                <a:path w="614680" h="424179">
                  <a:moveTo>
                    <a:pt x="543560" y="0"/>
                  </a:moveTo>
                  <a:lnTo>
                    <a:pt x="571041" y="5550"/>
                  </a:lnTo>
                  <a:lnTo>
                    <a:pt x="593486" y="20685"/>
                  </a:lnTo>
                  <a:lnTo>
                    <a:pt x="608621" y="43130"/>
                  </a:lnTo>
                  <a:lnTo>
                    <a:pt x="614172" y="70612"/>
                  </a:lnTo>
                  <a:lnTo>
                    <a:pt x="614172" y="353059"/>
                  </a:lnTo>
                  <a:lnTo>
                    <a:pt x="608621" y="380541"/>
                  </a:lnTo>
                  <a:lnTo>
                    <a:pt x="593486" y="402986"/>
                  </a:lnTo>
                  <a:lnTo>
                    <a:pt x="571041" y="418121"/>
                  </a:lnTo>
                  <a:lnTo>
                    <a:pt x="543560" y="423671"/>
                  </a:lnTo>
                </a:path>
              </a:pathLst>
            </a:custGeom>
            <a:ln w="1905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2302" y="4117085"/>
              <a:ext cx="614172" cy="42367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92302" y="4117085"/>
              <a:ext cx="614680" cy="424180"/>
            </a:xfrm>
            <a:custGeom>
              <a:avLst/>
              <a:gdLst/>
              <a:ahLst/>
              <a:cxnLst/>
              <a:rect l="l" t="t" r="r" b="b"/>
              <a:pathLst>
                <a:path w="614680" h="424179">
                  <a:moveTo>
                    <a:pt x="0" y="70612"/>
                  </a:moveTo>
                  <a:lnTo>
                    <a:pt x="5548" y="43130"/>
                  </a:lnTo>
                  <a:lnTo>
                    <a:pt x="20680" y="20685"/>
                  </a:lnTo>
                  <a:lnTo>
                    <a:pt x="43125" y="5550"/>
                  </a:lnTo>
                  <a:lnTo>
                    <a:pt x="70611" y="0"/>
                  </a:lnTo>
                  <a:lnTo>
                    <a:pt x="543560" y="0"/>
                  </a:lnTo>
                  <a:lnTo>
                    <a:pt x="571041" y="5550"/>
                  </a:lnTo>
                  <a:lnTo>
                    <a:pt x="593486" y="20685"/>
                  </a:lnTo>
                  <a:lnTo>
                    <a:pt x="608621" y="43130"/>
                  </a:lnTo>
                  <a:lnTo>
                    <a:pt x="614172" y="70612"/>
                  </a:lnTo>
                  <a:lnTo>
                    <a:pt x="614172" y="353059"/>
                  </a:lnTo>
                  <a:lnTo>
                    <a:pt x="608621" y="380541"/>
                  </a:lnTo>
                  <a:lnTo>
                    <a:pt x="593486" y="402986"/>
                  </a:lnTo>
                  <a:lnTo>
                    <a:pt x="571041" y="418121"/>
                  </a:lnTo>
                  <a:lnTo>
                    <a:pt x="543560" y="423671"/>
                  </a:lnTo>
                  <a:lnTo>
                    <a:pt x="70611" y="423671"/>
                  </a:lnTo>
                  <a:lnTo>
                    <a:pt x="43125" y="418121"/>
                  </a:lnTo>
                  <a:lnTo>
                    <a:pt x="20680" y="402986"/>
                  </a:lnTo>
                  <a:lnTo>
                    <a:pt x="5548" y="380541"/>
                  </a:lnTo>
                  <a:lnTo>
                    <a:pt x="0" y="353059"/>
                  </a:lnTo>
                  <a:lnTo>
                    <a:pt x="0" y="70612"/>
                  </a:lnTo>
                  <a:close/>
                </a:path>
              </a:pathLst>
            </a:custGeom>
            <a:ln w="1905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871339" y="4107560"/>
            <a:ext cx="635000" cy="443230"/>
            <a:chOff x="3340989" y="4107560"/>
            <a:chExt cx="635000" cy="443230"/>
          </a:xfrm>
        </p:grpSpPr>
        <p:sp>
          <p:nvSpPr>
            <p:cNvPr id="25" name="object 25"/>
            <p:cNvSpPr/>
            <p:nvPr/>
          </p:nvSpPr>
          <p:spPr>
            <a:xfrm>
              <a:off x="3350514" y="4117085"/>
              <a:ext cx="615950" cy="424180"/>
            </a:xfrm>
            <a:custGeom>
              <a:avLst/>
              <a:gdLst/>
              <a:ahLst/>
              <a:cxnLst/>
              <a:rect l="l" t="t" r="r" b="b"/>
              <a:pathLst>
                <a:path w="615950" h="424179">
                  <a:moveTo>
                    <a:pt x="545083" y="423671"/>
                  </a:moveTo>
                  <a:lnTo>
                    <a:pt x="70612" y="423671"/>
                  </a:lnTo>
                  <a:lnTo>
                    <a:pt x="43130" y="418121"/>
                  </a:lnTo>
                  <a:lnTo>
                    <a:pt x="20685" y="402986"/>
                  </a:lnTo>
                  <a:lnTo>
                    <a:pt x="5550" y="380541"/>
                  </a:lnTo>
                  <a:lnTo>
                    <a:pt x="0" y="353059"/>
                  </a:lnTo>
                  <a:lnTo>
                    <a:pt x="0" y="70611"/>
                  </a:lnTo>
                  <a:lnTo>
                    <a:pt x="5550" y="43130"/>
                  </a:lnTo>
                  <a:lnTo>
                    <a:pt x="20685" y="20685"/>
                  </a:lnTo>
                  <a:lnTo>
                    <a:pt x="43130" y="5550"/>
                  </a:lnTo>
                  <a:lnTo>
                    <a:pt x="70612" y="0"/>
                  </a:lnTo>
                  <a:lnTo>
                    <a:pt x="545084" y="0"/>
                  </a:lnTo>
                </a:path>
                <a:path w="615950" h="424179">
                  <a:moveTo>
                    <a:pt x="545083" y="0"/>
                  </a:moveTo>
                  <a:lnTo>
                    <a:pt x="572565" y="5550"/>
                  </a:lnTo>
                  <a:lnTo>
                    <a:pt x="595010" y="20685"/>
                  </a:lnTo>
                  <a:lnTo>
                    <a:pt x="610145" y="43130"/>
                  </a:lnTo>
                  <a:lnTo>
                    <a:pt x="615696" y="70612"/>
                  </a:lnTo>
                  <a:lnTo>
                    <a:pt x="615696" y="353059"/>
                  </a:lnTo>
                  <a:lnTo>
                    <a:pt x="610145" y="380541"/>
                  </a:lnTo>
                  <a:lnTo>
                    <a:pt x="595010" y="402986"/>
                  </a:lnTo>
                  <a:lnTo>
                    <a:pt x="572565" y="418121"/>
                  </a:lnTo>
                  <a:lnTo>
                    <a:pt x="545084" y="423671"/>
                  </a:lnTo>
                </a:path>
              </a:pathLst>
            </a:custGeom>
            <a:ln w="1905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0514" y="4117085"/>
              <a:ext cx="615696" cy="42367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350514" y="4117085"/>
              <a:ext cx="615950" cy="424180"/>
            </a:xfrm>
            <a:custGeom>
              <a:avLst/>
              <a:gdLst/>
              <a:ahLst/>
              <a:cxnLst/>
              <a:rect l="l" t="t" r="r" b="b"/>
              <a:pathLst>
                <a:path w="615950" h="424179">
                  <a:moveTo>
                    <a:pt x="0" y="70612"/>
                  </a:moveTo>
                  <a:lnTo>
                    <a:pt x="5550" y="43130"/>
                  </a:lnTo>
                  <a:lnTo>
                    <a:pt x="20685" y="20685"/>
                  </a:lnTo>
                  <a:lnTo>
                    <a:pt x="43130" y="5550"/>
                  </a:lnTo>
                  <a:lnTo>
                    <a:pt x="70612" y="0"/>
                  </a:lnTo>
                  <a:lnTo>
                    <a:pt x="545084" y="0"/>
                  </a:lnTo>
                  <a:lnTo>
                    <a:pt x="572565" y="5550"/>
                  </a:lnTo>
                  <a:lnTo>
                    <a:pt x="595010" y="20685"/>
                  </a:lnTo>
                  <a:lnTo>
                    <a:pt x="610145" y="43130"/>
                  </a:lnTo>
                  <a:lnTo>
                    <a:pt x="615696" y="70612"/>
                  </a:lnTo>
                  <a:lnTo>
                    <a:pt x="615696" y="353059"/>
                  </a:lnTo>
                  <a:lnTo>
                    <a:pt x="610145" y="380541"/>
                  </a:lnTo>
                  <a:lnTo>
                    <a:pt x="595010" y="402986"/>
                  </a:lnTo>
                  <a:lnTo>
                    <a:pt x="572565" y="418121"/>
                  </a:lnTo>
                  <a:lnTo>
                    <a:pt x="545084" y="423671"/>
                  </a:lnTo>
                  <a:lnTo>
                    <a:pt x="70612" y="423671"/>
                  </a:lnTo>
                  <a:lnTo>
                    <a:pt x="43130" y="418121"/>
                  </a:lnTo>
                  <a:lnTo>
                    <a:pt x="20685" y="402986"/>
                  </a:lnTo>
                  <a:lnTo>
                    <a:pt x="5550" y="380541"/>
                  </a:lnTo>
                  <a:lnTo>
                    <a:pt x="0" y="353059"/>
                  </a:lnTo>
                  <a:lnTo>
                    <a:pt x="0" y="70612"/>
                  </a:lnTo>
                  <a:close/>
                </a:path>
              </a:pathLst>
            </a:custGeom>
            <a:ln w="1905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3636898" y="5028058"/>
            <a:ext cx="633730" cy="441325"/>
            <a:chOff x="2106548" y="5028057"/>
            <a:chExt cx="633730" cy="441325"/>
          </a:xfrm>
        </p:grpSpPr>
        <p:sp>
          <p:nvSpPr>
            <p:cNvPr id="30" name="object 30"/>
            <p:cNvSpPr/>
            <p:nvPr/>
          </p:nvSpPr>
          <p:spPr>
            <a:xfrm>
              <a:off x="2116073" y="5037582"/>
              <a:ext cx="614680" cy="422275"/>
            </a:xfrm>
            <a:custGeom>
              <a:avLst/>
              <a:gdLst/>
              <a:ahLst/>
              <a:cxnLst/>
              <a:rect l="l" t="t" r="r" b="b"/>
              <a:pathLst>
                <a:path w="614680" h="422275">
                  <a:moveTo>
                    <a:pt x="543813" y="422148"/>
                  </a:moveTo>
                  <a:lnTo>
                    <a:pt x="70357" y="422148"/>
                  </a:lnTo>
                  <a:lnTo>
                    <a:pt x="42969" y="416619"/>
                  </a:lnTo>
                  <a:lnTo>
                    <a:pt x="20605" y="401542"/>
                  </a:lnTo>
                  <a:lnTo>
                    <a:pt x="5528" y="379178"/>
                  </a:lnTo>
                  <a:lnTo>
                    <a:pt x="0" y="351790"/>
                  </a:lnTo>
                  <a:lnTo>
                    <a:pt x="0" y="70358"/>
                  </a:lnTo>
                  <a:lnTo>
                    <a:pt x="5528" y="42969"/>
                  </a:lnTo>
                  <a:lnTo>
                    <a:pt x="20605" y="20605"/>
                  </a:lnTo>
                  <a:lnTo>
                    <a:pt x="42969" y="5528"/>
                  </a:lnTo>
                  <a:lnTo>
                    <a:pt x="70357" y="0"/>
                  </a:lnTo>
                  <a:lnTo>
                    <a:pt x="543813" y="0"/>
                  </a:lnTo>
                </a:path>
                <a:path w="614680" h="422275">
                  <a:moveTo>
                    <a:pt x="543813" y="0"/>
                  </a:moveTo>
                  <a:lnTo>
                    <a:pt x="571202" y="5528"/>
                  </a:lnTo>
                  <a:lnTo>
                    <a:pt x="593566" y="20605"/>
                  </a:lnTo>
                  <a:lnTo>
                    <a:pt x="608643" y="42969"/>
                  </a:lnTo>
                  <a:lnTo>
                    <a:pt x="614171" y="70358"/>
                  </a:lnTo>
                  <a:lnTo>
                    <a:pt x="614171" y="351790"/>
                  </a:lnTo>
                  <a:lnTo>
                    <a:pt x="608643" y="379178"/>
                  </a:lnTo>
                  <a:lnTo>
                    <a:pt x="593566" y="401542"/>
                  </a:lnTo>
                  <a:lnTo>
                    <a:pt x="571202" y="416619"/>
                  </a:lnTo>
                  <a:lnTo>
                    <a:pt x="543813" y="422148"/>
                  </a:lnTo>
                </a:path>
              </a:pathLst>
            </a:custGeom>
            <a:ln w="1905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16073" y="5037582"/>
              <a:ext cx="614171" cy="42214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116073" y="5037582"/>
              <a:ext cx="614680" cy="422275"/>
            </a:xfrm>
            <a:custGeom>
              <a:avLst/>
              <a:gdLst/>
              <a:ahLst/>
              <a:cxnLst/>
              <a:rect l="l" t="t" r="r" b="b"/>
              <a:pathLst>
                <a:path w="614680" h="422275">
                  <a:moveTo>
                    <a:pt x="0" y="70358"/>
                  </a:moveTo>
                  <a:lnTo>
                    <a:pt x="5528" y="42969"/>
                  </a:lnTo>
                  <a:lnTo>
                    <a:pt x="20605" y="20605"/>
                  </a:lnTo>
                  <a:lnTo>
                    <a:pt x="42969" y="5528"/>
                  </a:lnTo>
                  <a:lnTo>
                    <a:pt x="70357" y="0"/>
                  </a:lnTo>
                  <a:lnTo>
                    <a:pt x="543813" y="0"/>
                  </a:lnTo>
                  <a:lnTo>
                    <a:pt x="571202" y="5528"/>
                  </a:lnTo>
                  <a:lnTo>
                    <a:pt x="593566" y="20605"/>
                  </a:lnTo>
                  <a:lnTo>
                    <a:pt x="608643" y="42969"/>
                  </a:lnTo>
                  <a:lnTo>
                    <a:pt x="614171" y="70358"/>
                  </a:lnTo>
                  <a:lnTo>
                    <a:pt x="614171" y="351790"/>
                  </a:lnTo>
                  <a:lnTo>
                    <a:pt x="608643" y="379178"/>
                  </a:lnTo>
                  <a:lnTo>
                    <a:pt x="593566" y="401542"/>
                  </a:lnTo>
                  <a:lnTo>
                    <a:pt x="571202" y="416619"/>
                  </a:lnTo>
                  <a:lnTo>
                    <a:pt x="543813" y="422148"/>
                  </a:lnTo>
                  <a:lnTo>
                    <a:pt x="70357" y="422148"/>
                  </a:lnTo>
                  <a:lnTo>
                    <a:pt x="42969" y="416619"/>
                  </a:lnTo>
                  <a:lnTo>
                    <a:pt x="20605" y="401542"/>
                  </a:lnTo>
                  <a:lnTo>
                    <a:pt x="5528" y="379178"/>
                  </a:lnTo>
                  <a:lnTo>
                    <a:pt x="0" y="351790"/>
                  </a:lnTo>
                  <a:lnTo>
                    <a:pt x="0" y="70358"/>
                  </a:lnTo>
                  <a:close/>
                </a:path>
              </a:pathLst>
            </a:custGeom>
            <a:ln w="1905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804539" y="5102478"/>
            <a:ext cx="24765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25" dirty="0">
                <a:latin typeface="STIX Two Math"/>
                <a:cs typeface="STIX Two Math"/>
              </a:rPr>
              <a:t>𝑎𝑏</a:t>
            </a:r>
            <a:endParaRPr sz="1600">
              <a:latin typeface="STIX Two Math"/>
              <a:cs typeface="STIX Two Math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68960" y="3613151"/>
            <a:ext cx="2486660" cy="374015"/>
            <a:chOff x="5138610" y="3613150"/>
            <a:chExt cx="2486660" cy="374015"/>
          </a:xfrm>
        </p:grpSpPr>
        <p:sp>
          <p:nvSpPr>
            <p:cNvPr id="35" name="object 35"/>
            <p:cNvSpPr/>
            <p:nvPr/>
          </p:nvSpPr>
          <p:spPr>
            <a:xfrm>
              <a:off x="5573267" y="3619500"/>
              <a:ext cx="2045335" cy="361315"/>
            </a:xfrm>
            <a:custGeom>
              <a:avLst/>
              <a:gdLst/>
              <a:ahLst/>
              <a:cxnLst/>
              <a:rect l="l" t="t" r="r" b="b"/>
              <a:pathLst>
                <a:path w="2045334" h="361314">
                  <a:moveTo>
                    <a:pt x="0" y="361188"/>
                  </a:moveTo>
                  <a:lnTo>
                    <a:pt x="743712" y="361188"/>
                  </a:lnTo>
                  <a:lnTo>
                    <a:pt x="743712" y="0"/>
                  </a:lnTo>
                  <a:lnTo>
                    <a:pt x="0" y="0"/>
                  </a:lnTo>
                  <a:lnTo>
                    <a:pt x="0" y="361188"/>
                  </a:lnTo>
                  <a:close/>
                </a:path>
                <a:path w="2045334" h="361314">
                  <a:moveTo>
                    <a:pt x="1301496" y="361188"/>
                  </a:moveTo>
                  <a:lnTo>
                    <a:pt x="2045208" y="361188"/>
                  </a:lnTo>
                  <a:lnTo>
                    <a:pt x="2045208" y="0"/>
                  </a:lnTo>
                  <a:lnTo>
                    <a:pt x="1301496" y="0"/>
                  </a:lnTo>
                  <a:lnTo>
                    <a:pt x="1301496" y="3611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200776" y="3740277"/>
              <a:ext cx="372745" cy="102870"/>
            </a:xfrm>
            <a:custGeom>
              <a:avLst/>
              <a:gdLst/>
              <a:ahLst/>
              <a:cxnLst/>
              <a:rect l="l" t="t" r="r" b="b"/>
              <a:pathLst>
                <a:path w="372745" h="102870">
                  <a:moveTo>
                    <a:pt x="335796" y="62887"/>
                  </a:moveTo>
                  <a:lnTo>
                    <a:pt x="276987" y="89916"/>
                  </a:lnTo>
                  <a:lnTo>
                    <a:pt x="273812" y="91440"/>
                  </a:lnTo>
                  <a:lnTo>
                    <a:pt x="272414" y="95123"/>
                  </a:lnTo>
                  <a:lnTo>
                    <a:pt x="273938" y="98298"/>
                  </a:lnTo>
                  <a:lnTo>
                    <a:pt x="275336" y="101473"/>
                  </a:lnTo>
                  <a:lnTo>
                    <a:pt x="279146" y="102870"/>
                  </a:lnTo>
                  <a:lnTo>
                    <a:pt x="282321" y="101473"/>
                  </a:lnTo>
                  <a:lnTo>
                    <a:pt x="361315" y="65150"/>
                  </a:lnTo>
                  <a:lnTo>
                    <a:pt x="359156" y="65150"/>
                  </a:lnTo>
                  <a:lnTo>
                    <a:pt x="335796" y="62887"/>
                  </a:lnTo>
                  <a:close/>
                </a:path>
                <a:path w="372745" h="102870">
                  <a:moveTo>
                    <a:pt x="347258" y="57620"/>
                  </a:moveTo>
                  <a:lnTo>
                    <a:pt x="335796" y="62887"/>
                  </a:lnTo>
                  <a:lnTo>
                    <a:pt x="359156" y="65150"/>
                  </a:lnTo>
                  <a:lnTo>
                    <a:pt x="359270" y="64008"/>
                  </a:lnTo>
                  <a:lnTo>
                    <a:pt x="356108" y="64008"/>
                  </a:lnTo>
                  <a:lnTo>
                    <a:pt x="347258" y="57620"/>
                  </a:lnTo>
                  <a:close/>
                </a:path>
                <a:path w="372745" h="102870">
                  <a:moveTo>
                    <a:pt x="289178" y="0"/>
                  </a:moveTo>
                  <a:lnTo>
                    <a:pt x="285114" y="635"/>
                  </a:lnTo>
                  <a:lnTo>
                    <a:pt x="283083" y="3429"/>
                  </a:lnTo>
                  <a:lnTo>
                    <a:pt x="281050" y="6350"/>
                  </a:lnTo>
                  <a:lnTo>
                    <a:pt x="281686" y="10287"/>
                  </a:lnTo>
                  <a:lnTo>
                    <a:pt x="336946" y="50176"/>
                  </a:lnTo>
                  <a:lnTo>
                    <a:pt x="360425" y="52450"/>
                  </a:lnTo>
                  <a:lnTo>
                    <a:pt x="359382" y="62887"/>
                  </a:lnTo>
                  <a:lnTo>
                    <a:pt x="359270" y="64008"/>
                  </a:lnTo>
                  <a:lnTo>
                    <a:pt x="359156" y="65150"/>
                  </a:lnTo>
                  <a:lnTo>
                    <a:pt x="361315" y="65150"/>
                  </a:lnTo>
                  <a:lnTo>
                    <a:pt x="372363" y="60071"/>
                  </a:lnTo>
                  <a:lnTo>
                    <a:pt x="289178" y="0"/>
                  </a:lnTo>
                  <a:close/>
                </a:path>
                <a:path w="372745" h="102870">
                  <a:moveTo>
                    <a:pt x="357124" y="53086"/>
                  </a:moveTo>
                  <a:lnTo>
                    <a:pt x="347258" y="57620"/>
                  </a:lnTo>
                  <a:lnTo>
                    <a:pt x="356108" y="64008"/>
                  </a:lnTo>
                  <a:lnTo>
                    <a:pt x="357124" y="53086"/>
                  </a:lnTo>
                  <a:close/>
                </a:path>
                <a:path w="372745" h="102870">
                  <a:moveTo>
                    <a:pt x="360362" y="53086"/>
                  </a:moveTo>
                  <a:lnTo>
                    <a:pt x="357124" y="53086"/>
                  </a:lnTo>
                  <a:lnTo>
                    <a:pt x="356212" y="62887"/>
                  </a:lnTo>
                  <a:lnTo>
                    <a:pt x="356108" y="64008"/>
                  </a:lnTo>
                  <a:lnTo>
                    <a:pt x="359270" y="64008"/>
                  </a:lnTo>
                  <a:lnTo>
                    <a:pt x="360362" y="53086"/>
                  </a:lnTo>
                  <a:close/>
                </a:path>
                <a:path w="372745" h="102870">
                  <a:moveTo>
                    <a:pt x="1270" y="17653"/>
                  </a:moveTo>
                  <a:lnTo>
                    <a:pt x="0" y="30353"/>
                  </a:lnTo>
                  <a:lnTo>
                    <a:pt x="335796" y="62887"/>
                  </a:lnTo>
                  <a:lnTo>
                    <a:pt x="347258" y="57620"/>
                  </a:lnTo>
                  <a:lnTo>
                    <a:pt x="336946" y="50176"/>
                  </a:lnTo>
                  <a:lnTo>
                    <a:pt x="1270" y="17653"/>
                  </a:lnTo>
                  <a:close/>
                </a:path>
                <a:path w="372745" h="102870">
                  <a:moveTo>
                    <a:pt x="336946" y="50176"/>
                  </a:moveTo>
                  <a:lnTo>
                    <a:pt x="347258" y="57620"/>
                  </a:lnTo>
                  <a:lnTo>
                    <a:pt x="357124" y="53086"/>
                  </a:lnTo>
                  <a:lnTo>
                    <a:pt x="360362" y="53086"/>
                  </a:lnTo>
                  <a:lnTo>
                    <a:pt x="360425" y="52450"/>
                  </a:lnTo>
                  <a:lnTo>
                    <a:pt x="336946" y="50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8610" y="3722814"/>
              <a:ext cx="76835" cy="8750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316979" y="3747643"/>
              <a:ext cx="557530" cy="103505"/>
            </a:xfrm>
            <a:custGeom>
              <a:avLst/>
              <a:gdLst/>
              <a:ahLst/>
              <a:cxnLst/>
              <a:rect l="l" t="t" r="r" b="b"/>
              <a:pathLst>
                <a:path w="557529" h="103504">
                  <a:moveTo>
                    <a:pt x="532420" y="51688"/>
                  </a:moveTo>
                  <a:lnTo>
                    <a:pt x="462534" y="92455"/>
                  </a:lnTo>
                  <a:lnTo>
                    <a:pt x="461518" y="96265"/>
                  </a:lnTo>
                  <a:lnTo>
                    <a:pt x="465074" y="102361"/>
                  </a:lnTo>
                  <a:lnTo>
                    <a:pt x="468884" y="103377"/>
                  </a:lnTo>
                  <a:lnTo>
                    <a:pt x="546639" y="58038"/>
                  </a:lnTo>
                  <a:lnTo>
                    <a:pt x="544956" y="58038"/>
                  </a:lnTo>
                  <a:lnTo>
                    <a:pt x="544956" y="57149"/>
                  </a:lnTo>
                  <a:lnTo>
                    <a:pt x="541781" y="57149"/>
                  </a:lnTo>
                  <a:lnTo>
                    <a:pt x="532420" y="51688"/>
                  </a:lnTo>
                  <a:close/>
                </a:path>
                <a:path w="557529" h="103504">
                  <a:moveTo>
                    <a:pt x="521534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521534" y="58038"/>
                  </a:lnTo>
                  <a:lnTo>
                    <a:pt x="532420" y="51688"/>
                  </a:lnTo>
                  <a:lnTo>
                    <a:pt x="521534" y="45338"/>
                  </a:lnTo>
                  <a:close/>
                </a:path>
                <a:path w="557529" h="103504">
                  <a:moveTo>
                    <a:pt x="546639" y="45338"/>
                  </a:moveTo>
                  <a:lnTo>
                    <a:pt x="544956" y="45338"/>
                  </a:lnTo>
                  <a:lnTo>
                    <a:pt x="544956" y="58038"/>
                  </a:lnTo>
                  <a:lnTo>
                    <a:pt x="546639" y="58038"/>
                  </a:lnTo>
                  <a:lnTo>
                    <a:pt x="557529" y="51688"/>
                  </a:lnTo>
                  <a:lnTo>
                    <a:pt x="546639" y="45338"/>
                  </a:lnTo>
                  <a:close/>
                </a:path>
                <a:path w="557529" h="103504">
                  <a:moveTo>
                    <a:pt x="541781" y="46227"/>
                  </a:moveTo>
                  <a:lnTo>
                    <a:pt x="532420" y="51688"/>
                  </a:lnTo>
                  <a:lnTo>
                    <a:pt x="541781" y="57149"/>
                  </a:lnTo>
                  <a:lnTo>
                    <a:pt x="541781" y="46227"/>
                  </a:lnTo>
                  <a:close/>
                </a:path>
                <a:path w="557529" h="103504">
                  <a:moveTo>
                    <a:pt x="544956" y="46227"/>
                  </a:moveTo>
                  <a:lnTo>
                    <a:pt x="541781" y="46227"/>
                  </a:lnTo>
                  <a:lnTo>
                    <a:pt x="541781" y="57149"/>
                  </a:lnTo>
                  <a:lnTo>
                    <a:pt x="544956" y="57149"/>
                  </a:lnTo>
                  <a:lnTo>
                    <a:pt x="544956" y="46227"/>
                  </a:lnTo>
                  <a:close/>
                </a:path>
                <a:path w="557529" h="103504">
                  <a:moveTo>
                    <a:pt x="468884" y="0"/>
                  </a:moveTo>
                  <a:lnTo>
                    <a:pt x="465074" y="1015"/>
                  </a:lnTo>
                  <a:lnTo>
                    <a:pt x="461518" y="7111"/>
                  </a:lnTo>
                  <a:lnTo>
                    <a:pt x="462534" y="10921"/>
                  </a:lnTo>
                  <a:lnTo>
                    <a:pt x="532420" y="51688"/>
                  </a:lnTo>
                  <a:lnTo>
                    <a:pt x="541781" y="46227"/>
                  </a:lnTo>
                  <a:lnTo>
                    <a:pt x="544956" y="46227"/>
                  </a:lnTo>
                  <a:lnTo>
                    <a:pt x="544956" y="45338"/>
                  </a:lnTo>
                  <a:lnTo>
                    <a:pt x="546639" y="45338"/>
                  </a:lnTo>
                  <a:lnTo>
                    <a:pt x="4688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7097268" y="4189222"/>
            <a:ext cx="2058035" cy="374015"/>
            <a:chOff x="5566917" y="4189221"/>
            <a:chExt cx="2058035" cy="374015"/>
          </a:xfrm>
        </p:grpSpPr>
        <p:sp>
          <p:nvSpPr>
            <p:cNvPr id="40" name="object 40"/>
            <p:cNvSpPr/>
            <p:nvPr/>
          </p:nvSpPr>
          <p:spPr>
            <a:xfrm>
              <a:off x="5573267" y="4195571"/>
              <a:ext cx="2045335" cy="361315"/>
            </a:xfrm>
            <a:custGeom>
              <a:avLst/>
              <a:gdLst/>
              <a:ahLst/>
              <a:cxnLst/>
              <a:rect l="l" t="t" r="r" b="b"/>
              <a:pathLst>
                <a:path w="2045334" h="361314">
                  <a:moveTo>
                    <a:pt x="1301496" y="361188"/>
                  </a:moveTo>
                  <a:lnTo>
                    <a:pt x="2045208" y="361188"/>
                  </a:lnTo>
                  <a:lnTo>
                    <a:pt x="2045208" y="0"/>
                  </a:lnTo>
                  <a:lnTo>
                    <a:pt x="1301496" y="0"/>
                  </a:lnTo>
                  <a:lnTo>
                    <a:pt x="1301496" y="361188"/>
                  </a:lnTo>
                  <a:close/>
                </a:path>
                <a:path w="2045334" h="361314">
                  <a:moveTo>
                    <a:pt x="0" y="361188"/>
                  </a:moveTo>
                  <a:lnTo>
                    <a:pt x="743712" y="361188"/>
                  </a:lnTo>
                  <a:lnTo>
                    <a:pt x="743712" y="0"/>
                  </a:lnTo>
                  <a:lnTo>
                    <a:pt x="0" y="0"/>
                  </a:lnTo>
                  <a:lnTo>
                    <a:pt x="0" y="3611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16979" y="4323714"/>
              <a:ext cx="557530" cy="103505"/>
            </a:xfrm>
            <a:custGeom>
              <a:avLst/>
              <a:gdLst/>
              <a:ahLst/>
              <a:cxnLst/>
              <a:rect l="l" t="t" r="r" b="b"/>
              <a:pathLst>
                <a:path w="557529" h="103504">
                  <a:moveTo>
                    <a:pt x="532420" y="51689"/>
                  </a:moveTo>
                  <a:lnTo>
                    <a:pt x="462534" y="92456"/>
                  </a:lnTo>
                  <a:lnTo>
                    <a:pt x="461518" y="96266"/>
                  </a:lnTo>
                  <a:lnTo>
                    <a:pt x="465074" y="102362"/>
                  </a:lnTo>
                  <a:lnTo>
                    <a:pt x="468884" y="103378"/>
                  </a:lnTo>
                  <a:lnTo>
                    <a:pt x="546639" y="58039"/>
                  </a:lnTo>
                  <a:lnTo>
                    <a:pt x="544956" y="58039"/>
                  </a:lnTo>
                  <a:lnTo>
                    <a:pt x="544956" y="57150"/>
                  </a:lnTo>
                  <a:lnTo>
                    <a:pt x="541781" y="57150"/>
                  </a:lnTo>
                  <a:lnTo>
                    <a:pt x="532420" y="51689"/>
                  </a:lnTo>
                  <a:close/>
                </a:path>
                <a:path w="557529" h="103504">
                  <a:moveTo>
                    <a:pt x="521534" y="45339"/>
                  </a:moveTo>
                  <a:lnTo>
                    <a:pt x="0" y="45339"/>
                  </a:lnTo>
                  <a:lnTo>
                    <a:pt x="0" y="58039"/>
                  </a:lnTo>
                  <a:lnTo>
                    <a:pt x="521534" y="58039"/>
                  </a:lnTo>
                  <a:lnTo>
                    <a:pt x="532420" y="51689"/>
                  </a:lnTo>
                  <a:lnTo>
                    <a:pt x="521534" y="45339"/>
                  </a:lnTo>
                  <a:close/>
                </a:path>
                <a:path w="557529" h="103504">
                  <a:moveTo>
                    <a:pt x="546639" y="45339"/>
                  </a:moveTo>
                  <a:lnTo>
                    <a:pt x="544956" y="45339"/>
                  </a:lnTo>
                  <a:lnTo>
                    <a:pt x="544956" y="58039"/>
                  </a:lnTo>
                  <a:lnTo>
                    <a:pt x="546639" y="58039"/>
                  </a:lnTo>
                  <a:lnTo>
                    <a:pt x="557529" y="51689"/>
                  </a:lnTo>
                  <a:lnTo>
                    <a:pt x="546639" y="45339"/>
                  </a:lnTo>
                  <a:close/>
                </a:path>
                <a:path w="557529" h="103504">
                  <a:moveTo>
                    <a:pt x="541781" y="46228"/>
                  </a:moveTo>
                  <a:lnTo>
                    <a:pt x="532420" y="51689"/>
                  </a:lnTo>
                  <a:lnTo>
                    <a:pt x="541781" y="57150"/>
                  </a:lnTo>
                  <a:lnTo>
                    <a:pt x="541781" y="46228"/>
                  </a:lnTo>
                  <a:close/>
                </a:path>
                <a:path w="557529" h="103504">
                  <a:moveTo>
                    <a:pt x="544956" y="46228"/>
                  </a:moveTo>
                  <a:lnTo>
                    <a:pt x="541781" y="46228"/>
                  </a:lnTo>
                  <a:lnTo>
                    <a:pt x="541781" y="57150"/>
                  </a:lnTo>
                  <a:lnTo>
                    <a:pt x="544956" y="57150"/>
                  </a:lnTo>
                  <a:lnTo>
                    <a:pt x="544956" y="46228"/>
                  </a:lnTo>
                  <a:close/>
                </a:path>
                <a:path w="557529" h="103504">
                  <a:moveTo>
                    <a:pt x="468884" y="0"/>
                  </a:moveTo>
                  <a:lnTo>
                    <a:pt x="465074" y="1016"/>
                  </a:lnTo>
                  <a:lnTo>
                    <a:pt x="461518" y="7112"/>
                  </a:lnTo>
                  <a:lnTo>
                    <a:pt x="462534" y="10922"/>
                  </a:lnTo>
                  <a:lnTo>
                    <a:pt x="532420" y="51689"/>
                  </a:lnTo>
                  <a:lnTo>
                    <a:pt x="541781" y="46228"/>
                  </a:lnTo>
                  <a:lnTo>
                    <a:pt x="544956" y="46228"/>
                  </a:lnTo>
                  <a:lnTo>
                    <a:pt x="544956" y="45339"/>
                  </a:lnTo>
                  <a:lnTo>
                    <a:pt x="546639" y="45339"/>
                  </a:lnTo>
                  <a:lnTo>
                    <a:pt x="4688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6601967" y="3541522"/>
          <a:ext cx="2911474" cy="1119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340">
                <a:tc>
                  <a:txBody>
                    <a:bodyPr/>
                    <a:lstStyle/>
                    <a:p>
                      <a:pPr marR="16192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NA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ts val="2075"/>
                        </a:lnSpc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marR="166370" algn="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400" spc="-285" dirty="0">
                          <a:latin typeface="Arial"/>
                          <a:cs typeface="Arial"/>
                        </a:rPr>
                        <a:t>NB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ts val="2185"/>
                        </a:lnSpc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400" spc="-355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476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9148826" y="3799332"/>
            <a:ext cx="557530" cy="577850"/>
          </a:xfrm>
          <a:custGeom>
            <a:avLst/>
            <a:gdLst/>
            <a:ahLst/>
            <a:cxnLst/>
            <a:rect l="l" t="t" r="r" b="b"/>
            <a:pathLst>
              <a:path w="557529" h="577850">
                <a:moveTo>
                  <a:pt x="0" y="577342"/>
                </a:moveTo>
                <a:lnTo>
                  <a:pt x="557529" y="309372"/>
                </a:lnTo>
              </a:path>
              <a:path w="557529" h="577850">
                <a:moveTo>
                  <a:pt x="0" y="0"/>
                </a:moveTo>
                <a:lnTo>
                  <a:pt x="557529" y="3081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700514" y="4058540"/>
            <a:ext cx="681990" cy="103505"/>
          </a:xfrm>
          <a:custGeom>
            <a:avLst/>
            <a:gdLst/>
            <a:ahLst/>
            <a:cxnLst/>
            <a:rect l="l" t="t" r="r" b="b"/>
            <a:pathLst>
              <a:path w="681990" h="103504">
                <a:moveTo>
                  <a:pt x="656245" y="51689"/>
                </a:moveTo>
                <a:lnTo>
                  <a:pt x="589406" y="90678"/>
                </a:lnTo>
                <a:lnTo>
                  <a:pt x="586485" y="92456"/>
                </a:lnTo>
                <a:lnTo>
                  <a:pt x="585469" y="96266"/>
                </a:lnTo>
                <a:lnTo>
                  <a:pt x="587120" y="99313"/>
                </a:lnTo>
                <a:lnTo>
                  <a:pt x="588899" y="102362"/>
                </a:lnTo>
                <a:lnTo>
                  <a:pt x="592835" y="103378"/>
                </a:lnTo>
                <a:lnTo>
                  <a:pt x="670591" y="58038"/>
                </a:lnTo>
                <a:lnTo>
                  <a:pt x="668908" y="58038"/>
                </a:lnTo>
                <a:lnTo>
                  <a:pt x="668908" y="57150"/>
                </a:lnTo>
                <a:lnTo>
                  <a:pt x="665606" y="57150"/>
                </a:lnTo>
                <a:lnTo>
                  <a:pt x="656245" y="51689"/>
                </a:lnTo>
                <a:close/>
              </a:path>
              <a:path w="681990" h="103504">
                <a:moveTo>
                  <a:pt x="645359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645359" y="58038"/>
                </a:lnTo>
                <a:lnTo>
                  <a:pt x="656245" y="51689"/>
                </a:lnTo>
                <a:lnTo>
                  <a:pt x="645359" y="45338"/>
                </a:lnTo>
                <a:close/>
              </a:path>
              <a:path w="681990" h="103504">
                <a:moveTo>
                  <a:pt x="670591" y="45338"/>
                </a:moveTo>
                <a:lnTo>
                  <a:pt x="668908" y="45338"/>
                </a:lnTo>
                <a:lnTo>
                  <a:pt x="668908" y="58038"/>
                </a:lnTo>
                <a:lnTo>
                  <a:pt x="670591" y="58038"/>
                </a:lnTo>
                <a:lnTo>
                  <a:pt x="681481" y="51689"/>
                </a:lnTo>
                <a:lnTo>
                  <a:pt x="670591" y="45338"/>
                </a:lnTo>
                <a:close/>
              </a:path>
              <a:path w="681990" h="103504">
                <a:moveTo>
                  <a:pt x="665606" y="46228"/>
                </a:moveTo>
                <a:lnTo>
                  <a:pt x="656245" y="51689"/>
                </a:lnTo>
                <a:lnTo>
                  <a:pt x="665606" y="57150"/>
                </a:lnTo>
                <a:lnTo>
                  <a:pt x="665606" y="46228"/>
                </a:lnTo>
                <a:close/>
              </a:path>
              <a:path w="681990" h="103504">
                <a:moveTo>
                  <a:pt x="668908" y="46228"/>
                </a:moveTo>
                <a:lnTo>
                  <a:pt x="665606" y="46228"/>
                </a:lnTo>
                <a:lnTo>
                  <a:pt x="665606" y="57150"/>
                </a:lnTo>
                <a:lnTo>
                  <a:pt x="668908" y="57150"/>
                </a:lnTo>
                <a:lnTo>
                  <a:pt x="668908" y="46228"/>
                </a:lnTo>
                <a:close/>
              </a:path>
              <a:path w="681990" h="103504">
                <a:moveTo>
                  <a:pt x="592835" y="0"/>
                </a:moveTo>
                <a:lnTo>
                  <a:pt x="588899" y="1016"/>
                </a:lnTo>
                <a:lnTo>
                  <a:pt x="587120" y="4063"/>
                </a:lnTo>
                <a:lnTo>
                  <a:pt x="585469" y="7112"/>
                </a:lnTo>
                <a:lnTo>
                  <a:pt x="586485" y="10922"/>
                </a:lnTo>
                <a:lnTo>
                  <a:pt x="589406" y="12700"/>
                </a:lnTo>
                <a:lnTo>
                  <a:pt x="656245" y="51689"/>
                </a:lnTo>
                <a:lnTo>
                  <a:pt x="665606" y="46228"/>
                </a:lnTo>
                <a:lnTo>
                  <a:pt x="668908" y="46228"/>
                </a:lnTo>
                <a:lnTo>
                  <a:pt x="668908" y="45338"/>
                </a:lnTo>
                <a:lnTo>
                  <a:pt x="670591" y="45338"/>
                </a:lnTo>
                <a:lnTo>
                  <a:pt x="5928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731128" y="4276725"/>
            <a:ext cx="372745" cy="102870"/>
          </a:xfrm>
          <a:custGeom>
            <a:avLst/>
            <a:gdLst/>
            <a:ahLst/>
            <a:cxnLst/>
            <a:rect l="l" t="t" r="r" b="b"/>
            <a:pathLst>
              <a:path w="372745" h="102870">
                <a:moveTo>
                  <a:pt x="335796" y="62887"/>
                </a:moveTo>
                <a:lnTo>
                  <a:pt x="276987" y="89916"/>
                </a:lnTo>
                <a:lnTo>
                  <a:pt x="273812" y="91439"/>
                </a:lnTo>
                <a:lnTo>
                  <a:pt x="272414" y="95123"/>
                </a:lnTo>
                <a:lnTo>
                  <a:pt x="273938" y="98298"/>
                </a:lnTo>
                <a:lnTo>
                  <a:pt x="275336" y="101473"/>
                </a:lnTo>
                <a:lnTo>
                  <a:pt x="279146" y="102869"/>
                </a:lnTo>
                <a:lnTo>
                  <a:pt x="282321" y="101473"/>
                </a:lnTo>
                <a:lnTo>
                  <a:pt x="361315" y="65150"/>
                </a:lnTo>
                <a:lnTo>
                  <a:pt x="359156" y="65150"/>
                </a:lnTo>
                <a:lnTo>
                  <a:pt x="335796" y="62887"/>
                </a:lnTo>
                <a:close/>
              </a:path>
              <a:path w="372745" h="102870">
                <a:moveTo>
                  <a:pt x="347258" y="57620"/>
                </a:moveTo>
                <a:lnTo>
                  <a:pt x="335796" y="62887"/>
                </a:lnTo>
                <a:lnTo>
                  <a:pt x="359156" y="65150"/>
                </a:lnTo>
                <a:lnTo>
                  <a:pt x="359270" y="64007"/>
                </a:lnTo>
                <a:lnTo>
                  <a:pt x="356108" y="64007"/>
                </a:lnTo>
                <a:lnTo>
                  <a:pt x="347258" y="57620"/>
                </a:lnTo>
                <a:close/>
              </a:path>
              <a:path w="372745" h="102870">
                <a:moveTo>
                  <a:pt x="289178" y="0"/>
                </a:moveTo>
                <a:lnTo>
                  <a:pt x="285114" y="635"/>
                </a:lnTo>
                <a:lnTo>
                  <a:pt x="283083" y="3429"/>
                </a:lnTo>
                <a:lnTo>
                  <a:pt x="281050" y="6350"/>
                </a:lnTo>
                <a:lnTo>
                  <a:pt x="281686" y="10287"/>
                </a:lnTo>
                <a:lnTo>
                  <a:pt x="336946" y="50176"/>
                </a:lnTo>
                <a:lnTo>
                  <a:pt x="360425" y="52450"/>
                </a:lnTo>
                <a:lnTo>
                  <a:pt x="359382" y="62887"/>
                </a:lnTo>
                <a:lnTo>
                  <a:pt x="359270" y="64007"/>
                </a:lnTo>
                <a:lnTo>
                  <a:pt x="359156" y="65150"/>
                </a:lnTo>
                <a:lnTo>
                  <a:pt x="361315" y="65150"/>
                </a:lnTo>
                <a:lnTo>
                  <a:pt x="372363" y="60070"/>
                </a:lnTo>
                <a:lnTo>
                  <a:pt x="289178" y="0"/>
                </a:lnTo>
                <a:close/>
              </a:path>
              <a:path w="372745" h="102870">
                <a:moveTo>
                  <a:pt x="357124" y="53086"/>
                </a:moveTo>
                <a:lnTo>
                  <a:pt x="347258" y="57620"/>
                </a:lnTo>
                <a:lnTo>
                  <a:pt x="356108" y="64007"/>
                </a:lnTo>
                <a:lnTo>
                  <a:pt x="357124" y="53086"/>
                </a:lnTo>
                <a:close/>
              </a:path>
              <a:path w="372745" h="102870">
                <a:moveTo>
                  <a:pt x="360362" y="53086"/>
                </a:moveTo>
                <a:lnTo>
                  <a:pt x="357124" y="53086"/>
                </a:lnTo>
                <a:lnTo>
                  <a:pt x="356212" y="62887"/>
                </a:lnTo>
                <a:lnTo>
                  <a:pt x="356108" y="64007"/>
                </a:lnTo>
                <a:lnTo>
                  <a:pt x="359270" y="64007"/>
                </a:lnTo>
                <a:lnTo>
                  <a:pt x="360362" y="53086"/>
                </a:lnTo>
                <a:close/>
              </a:path>
              <a:path w="372745" h="102870">
                <a:moveTo>
                  <a:pt x="1270" y="17652"/>
                </a:moveTo>
                <a:lnTo>
                  <a:pt x="0" y="30352"/>
                </a:lnTo>
                <a:lnTo>
                  <a:pt x="335796" y="62887"/>
                </a:lnTo>
                <a:lnTo>
                  <a:pt x="347258" y="57620"/>
                </a:lnTo>
                <a:lnTo>
                  <a:pt x="336946" y="50176"/>
                </a:lnTo>
                <a:lnTo>
                  <a:pt x="1270" y="17652"/>
                </a:lnTo>
                <a:close/>
              </a:path>
              <a:path w="372745" h="102870">
                <a:moveTo>
                  <a:pt x="336946" y="50176"/>
                </a:moveTo>
                <a:lnTo>
                  <a:pt x="347258" y="57620"/>
                </a:lnTo>
                <a:lnTo>
                  <a:pt x="357124" y="53086"/>
                </a:lnTo>
                <a:lnTo>
                  <a:pt x="360362" y="53086"/>
                </a:lnTo>
                <a:lnTo>
                  <a:pt x="360425" y="52450"/>
                </a:lnTo>
                <a:lnTo>
                  <a:pt x="336946" y="50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68961" y="4260786"/>
            <a:ext cx="76835" cy="87502"/>
          </a:xfrm>
          <a:prstGeom prst="rect">
            <a:avLst/>
          </a:prstGeom>
        </p:spPr>
      </p:pic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47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18">
                <a:extLst>
                  <a:ext uri="{FF2B5EF4-FFF2-40B4-BE49-F238E27FC236}">
                    <a16:creationId xmlns:a16="http://schemas.microsoft.com/office/drawing/2014/main" id="{0D7A704D-7A2E-E053-91A1-41C4242C899C}"/>
                  </a:ext>
                </a:extLst>
              </p:cNvPr>
              <p:cNvSpPr txBox="1"/>
              <p:nvPr/>
            </p:nvSpPr>
            <p:spPr>
              <a:xfrm>
                <a:off x="2626741" y="4194513"/>
                <a:ext cx="247650" cy="26398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600" b="0" i="1" spc="-25" dirty="0" smtClean="0">
                          <a:latin typeface="Cambria Math" panose="02040503050406030204" pitchFamily="18" charset="0"/>
                          <a:cs typeface="STIX Two Math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de-DE" sz="1600" b="0" i="1" spc="-25" dirty="0" smtClean="0">
                              <a:latin typeface="Cambria Math" panose="02040503050406030204" pitchFamily="18" charset="0"/>
                              <a:cs typeface="STIX Two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DE" sz="1600" b="0" i="1" spc="-25" dirty="0" smtClean="0">
                              <a:latin typeface="Cambria Math" panose="02040503050406030204" pitchFamily="18" charset="0"/>
                              <a:cs typeface="STIX Two Math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  <a:endParaRPr sz="1600" dirty="0">
                  <a:latin typeface="STIX Two Math"/>
                  <a:cs typeface="STIX Two Math"/>
                </a:endParaRPr>
              </a:p>
            </p:txBody>
          </p:sp>
        </mc:Choice>
        <mc:Fallback xmlns="">
          <p:sp>
            <p:nvSpPr>
              <p:cNvPr id="49" name="object 18">
                <a:extLst>
                  <a:ext uri="{FF2B5EF4-FFF2-40B4-BE49-F238E27FC236}">
                    <a16:creationId xmlns:a16="http://schemas.microsoft.com/office/drawing/2014/main" id="{0D7A704D-7A2E-E053-91A1-41C4242C8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741" y="4194513"/>
                <a:ext cx="247650" cy="263983"/>
              </a:xfrm>
              <a:prstGeom prst="rect">
                <a:avLst/>
              </a:prstGeom>
              <a:blipFill>
                <a:blip r:embed="rId8"/>
                <a:stretch>
                  <a:fillRect l="-9524" r="-14286" b="-476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18">
                <a:extLst>
                  <a:ext uri="{FF2B5EF4-FFF2-40B4-BE49-F238E27FC236}">
                    <a16:creationId xmlns:a16="http://schemas.microsoft.com/office/drawing/2014/main" id="{581B0B60-45AE-B244-9937-B920CA0A8401}"/>
                  </a:ext>
                </a:extLst>
              </p:cNvPr>
              <p:cNvSpPr txBox="1"/>
              <p:nvPr/>
            </p:nvSpPr>
            <p:spPr>
              <a:xfrm>
                <a:off x="4999097" y="4191723"/>
                <a:ext cx="386844" cy="2584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de-DE" sz="1600" b="0" i="1" spc="-25" dirty="0" smtClean="0">
                              <a:latin typeface="Cambria Math" panose="02040503050406030204" pitchFamily="18" charset="0"/>
                              <a:cs typeface="STIX Two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DE" sz="1600" b="0" i="1" spc="-25" dirty="0" smtClean="0">
                              <a:latin typeface="Cambria Math" panose="02040503050406030204" pitchFamily="18" charset="0"/>
                              <a:cs typeface="STIX Two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de-DE" sz="1600" b="0" i="1" spc="-25" dirty="0" smtClean="0">
                          <a:latin typeface="Cambria Math" panose="02040503050406030204" pitchFamily="18" charset="0"/>
                          <a:cs typeface="STIX Two Math"/>
                        </a:rPr>
                        <m:t>b</m:t>
                      </m:r>
                    </m:oMath>
                  </m:oMathPara>
                </a14:m>
                <a:endParaRPr sz="1600" dirty="0">
                  <a:latin typeface="STIX Two Math"/>
                  <a:cs typeface="STIX Two Math"/>
                </a:endParaRPr>
              </a:p>
            </p:txBody>
          </p:sp>
        </mc:Choice>
        <mc:Fallback xmlns="">
          <p:sp>
            <p:nvSpPr>
              <p:cNvPr id="50" name="object 18">
                <a:extLst>
                  <a:ext uri="{FF2B5EF4-FFF2-40B4-BE49-F238E27FC236}">
                    <a16:creationId xmlns:a16="http://schemas.microsoft.com/office/drawing/2014/main" id="{581B0B60-45AE-B244-9937-B920CA0A8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097" y="4191723"/>
                <a:ext cx="386844" cy="258404"/>
              </a:xfrm>
              <a:prstGeom prst="rect">
                <a:avLst/>
              </a:prstGeom>
              <a:blipFill>
                <a:blip r:embed="rId9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History</a:t>
            </a:r>
            <a:r>
              <a:rPr lang="de-DE" dirty="0"/>
              <a:t> (Gedächtnis)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idx="1"/>
          </p:nvPr>
        </p:nvSpPr>
        <p:spPr>
          <a:xfrm>
            <a:off x="486341" y="2303288"/>
            <a:ext cx="11005932" cy="2585323"/>
          </a:xfrm>
        </p:spPr>
        <p:txBody>
          <a:bodyPr/>
          <a:lstStyle/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Problem: Bei Eintritt in Oberzustand soll vorangegangener Zustand wieder eingenommen werden.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Gelöst durch </a:t>
            </a:r>
            <a:r>
              <a:rPr lang="de-DE" sz="2800" dirty="0" err="1">
                <a:solidFill>
                  <a:srgbClr val="0000FF"/>
                </a:solidFill>
              </a:rPr>
              <a:t>History</a:t>
            </a:r>
            <a:r>
              <a:rPr lang="de-DE" sz="2800" dirty="0"/>
              <a:t>       H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erinnert letzten Zustand auf oberster Ebene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0000FF"/>
                </a:solidFill>
              </a:rPr>
              <a:t>Rekursive </a:t>
            </a:r>
            <a:r>
              <a:rPr lang="de-DE" sz="2800" dirty="0" err="1">
                <a:solidFill>
                  <a:srgbClr val="0000FF"/>
                </a:solidFill>
              </a:rPr>
              <a:t>History</a:t>
            </a:r>
            <a:r>
              <a:rPr lang="de-DE" sz="2800" dirty="0">
                <a:solidFill>
                  <a:srgbClr val="0000FF"/>
                </a:solidFill>
              </a:rPr>
              <a:t>            </a:t>
            </a:r>
            <a:r>
              <a:rPr lang="de-DE" sz="2800" dirty="0"/>
              <a:t>H</a:t>
            </a:r>
            <a:r>
              <a:rPr lang="de-DE" sz="2800" baseline="30000" dirty="0"/>
              <a:t>*</a:t>
            </a:r>
            <a:endParaRPr lang="de-DE" sz="2800" dirty="0"/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auch rekursiv für alle internen Zustände</a:t>
            </a:r>
          </a:p>
        </p:txBody>
      </p:sp>
      <p:sp>
        <p:nvSpPr>
          <p:cNvPr id="251908" name="Oval 4"/>
          <p:cNvSpPr>
            <a:spLocks noChangeArrowheads="1"/>
          </p:cNvSpPr>
          <p:nvPr/>
        </p:nvSpPr>
        <p:spPr bwMode="auto">
          <a:xfrm>
            <a:off x="4311030" y="3028514"/>
            <a:ext cx="606425" cy="576262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51909" name="Oval 5"/>
          <p:cNvSpPr>
            <a:spLocks noChangeArrowheads="1"/>
          </p:cNvSpPr>
          <p:nvPr/>
        </p:nvSpPr>
        <p:spPr bwMode="auto">
          <a:xfrm>
            <a:off x="4264029" y="3942421"/>
            <a:ext cx="606425" cy="576262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48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138" y="357747"/>
            <a:ext cx="79506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40" dirty="0"/>
              <a:t>Beispiel: </a:t>
            </a:r>
            <a:r>
              <a:rPr spc="-125" dirty="0"/>
              <a:t>Musik</a:t>
            </a:r>
            <a:r>
              <a:rPr spc="-135" dirty="0"/>
              <a:t> </a:t>
            </a:r>
            <a:r>
              <a:rPr spc="-60" dirty="0"/>
              <a:t>im</a:t>
            </a:r>
            <a:r>
              <a:rPr spc="-135" dirty="0"/>
              <a:t> </a:t>
            </a:r>
            <a:r>
              <a:rPr spc="-95" dirty="0"/>
              <a:t>Auto</a:t>
            </a:r>
            <a:r>
              <a:rPr spc="-135" dirty="0"/>
              <a:t> </a:t>
            </a:r>
            <a:r>
              <a:rPr dirty="0"/>
              <a:t>mit</a:t>
            </a:r>
            <a:r>
              <a:rPr spc="-140" dirty="0"/>
              <a:t> </a:t>
            </a:r>
            <a:r>
              <a:rPr spc="-55" dirty="0"/>
              <a:t>Historie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736074" y="2458085"/>
            <a:ext cx="1670685" cy="476412"/>
          </a:xfrm>
          <a:prstGeom prst="rect">
            <a:avLst/>
          </a:prstGeom>
          <a:ln w="19079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89535">
              <a:spcBef>
                <a:spcPts val="355"/>
              </a:spcBef>
            </a:pPr>
            <a:r>
              <a:rPr sz="2800" spc="-120" dirty="0">
                <a:latin typeface="Arial"/>
                <a:cs typeface="Arial"/>
              </a:rPr>
              <a:t>Radio_aus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28677" y="3788994"/>
            <a:ext cx="1618615" cy="476412"/>
          </a:xfrm>
          <a:prstGeom prst="rect">
            <a:avLst/>
          </a:prstGeom>
          <a:ln w="19079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89535">
              <a:spcBef>
                <a:spcPts val="355"/>
              </a:spcBef>
            </a:pPr>
            <a:r>
              <a:rPr sz="2800" spc="-80" dirty="0">
                <a:latin typeface="Arial"/>
                <a:cs typeface="Arial"/>
              </a:rPr>
              <a:t>Radio_ein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94302" y="2647443"/>
            <a:ext cx="3256915" cy="1483995"/>
            <a:chOff x="2763951" y="2647442"/>
            <a:chExt cx="3256915" cy="1483995"/>
          </a:xfrm>
        </p:grpSpPr>
        <p:sp>
          <p:nvSpPr>
            <p:cNvPr id="6" name="object 6"/>
            <p:cNvSpPr/>
            <p:nvPr/>
          </p:nvSpPr>
          <p:spPr>
            <a:xfrm>
              <a:off x="4186796" y="2710078"/>
              <a:ext cx="1824355" cy="1012190"/>
            </a:xfrm>
            <a:custGeom>
              <a:avLst/>
              <a:gdLst/>
              <a:ahLst/>
              <a:cxnLst/>
              <a:rect l="l" t="t" r="r" b="b"/>
              <a:pathLst>
                <a:path w="1824354" h="1012189">
                  <a:moveTo>
                    <a:pt x="0" y="0"/>
                  </a:moveTo>
                  <a:lnTo>
                    <a:pt x="59602" y="2610"/>
                  </a:lnTo>
                  <a:lnTo>
                    <a:pt x="118718" y="6206"/>
                  </a:lnTo>
                  <a:lnTo>
                    <a:pt x="177320" y="10777"/>
                  </a:lnTo>
                  <a:lnTo>
                    <a:pt x="235380" y="16311"/>
                  </a:lnTo>
                  <a:lnTo>
                    <a:pt x="292869" y="22799"/>
                  </a:lnTo>
                  <a:lnTo>
                    <a:pt x="349761" y="30229"/>
                  </a:lnTo>
                  <a:lnTo>
                    <a:pt x="406027" y="38589"/>
                  </a:lnTo>
                  <a:lnTo>
                    <a:pt x="461639" y="47871"/>
                  </a:lnTo>
                  <a:lnTo>
                    <a:pt x="516570" y="58061"/>
                  </a:lnTo>
                  <a:lnTo>
                    <a:pt x="570792" y="69151"/>
                  </a:lnTo>
                  <a:lnTo>
                    <a:pt x="624277" y="81128"/>
                  </a:lnTo>
                  <a:lnTo>
                    <a:pt x="676996" y="93982"/>
                  </a:lnTo>
                  <a:lnTo>
                    <a:pt x="728923" y="107702"/>
                  </a:lnTo>
                  <a:lnTo>
                    <a:pt x="780029" y="122278"/>
                  </a:lnTo>
                  <a:lnTo>
                    <a:pt x="830286" y="137697"/>
                  </a:lnTo>
                  <a:lnTo>
                    <a:pt x="879667" y="153951"/>
                  </a:lnTo>
                  <a:lnTo>
                    <a:pt x="928143" y="171026"/>
                  </a:lnTo>
                  <a:lnTo>
                    <a:pt x="975688" y="188914"/>
                  </a:lnTo>
                  <a:lnTo>
                    <a:pt x="1022272" y="207603"/>
                  </a:lnTo>
                  <a:lnTo>
                    <a:pt x="1067868" y="227081"/>
                  </a:lnTo>
                  <a:lnTo>
                    <a:pt x="1112449" y="247339"/>
                  </a:lnTo>
                  <a:lnTo>
                    <a:pt x="1155986" y="268365"/>
                  </a:lnTo>
                  <a:lnTo>
                    <a:pt x="1198452" y="290149"/>
                  </a:lnTo>
                  <a:lnTo>
                    <a:pt x="1239818" y="312679"/>
                  </a:lnTo>
                  <a:lnTo>
                    <a:pt x="1280057" y="335945"/>
                  </a:lnTo>
                  <a:lnTo>
                    <a:pt x="1319141" y="359936"/>
                  </a:lnTo>
                  <a:lnTo>
                    <a:pt x="1357043" y="384641"/>
                  </a:lnTo>
                  <a:lnTo>
                    <a:pt x="1393733" y="410049"/>
                  </a:lnTo>
                  <a:lnTo>
                    <a:pt x="1429185" y="436149"/>
                  </a:lnTo>
                  <a:lnTo>
                    <a:pt x="1463370" y="462931"/>
                  </a:lnTo>
                  <a:lnTo>
                    <a:pt x="1496261" y="490384"/>
                  </a:lnTo>
                  <a:lnTo>
                    <a:pt x="1527830" y="518496"/>
                  </a:lnTo>
                  <a:lnTo>
                    <a:pt x="1558049" y="547257"/>
                  </a:lnTo>
                  <a:lnTo>
                    <a:pt x="1586890" y="576656"/>
                  </a:lnTo>
                  <a:lnTo>
                    <a:pt x="1614325" y="606682"/>
                  </a:lnTo>
                  <a:lnTo>
                    <a:pt x="1640327" y="637324"/>
                  </a:lnTo>
                  <a:lnTo>
                    <a:pt x="1664867" y="668572"/>
                  </a:lnTo>
                  <a:lnTo>
                    <a:pt x="1687918" y="700415"/>
                  </a:lnTo>
                  <a:lnTo>
                    <a:pt x="1709451" y="732841"/>
                  </a:lnTo>
                  <a:lnTo>
                    <a:pt x="1729440" y="765840"/>
                  </a:lnTo>
                  <a:lnTo>
                    <a:pt x="1747855" y="799401"/>
                  </a:lnTo>
                  <a:lnTo>
                    <a:pt x="1779856" y="868166"/>
                  </a:lnTo>
                  <a:lnTo>
                    <a:pt x="1805231" y="939048"/>
                  </a:lnTo>
                  <a:lnTo>
                    <a:pt x="1815364" y="975256"/>
                  </a:lnTo>
                  <a:lnTo>
                    <a:pt x="1823758" y="1011961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68000" y="2647442"/>
              <a:ext cx="127635" cy="126364"/>
            </a:xfrm>
            <a:custGeom>
              <a:avLst/>
              <a:gdLst/>
              <a:ahLst/>
              <a:cxnLst/>
              <a:rect l="l" t="t" r="r" b="b"/>
              <a:pathLst>
                <a:path w="127635" h="126364">
                  <a:moveTo>
                    <a:pt x="127076" y="0"/>
                  </a:moveTo>
                  <a:lnTo>
                    <a:pt x="0" y="60477"/>
                  </a:lnTo>
                  <a:lnTo>
                    <a:pt x="124917" y="125996"/>
                  </a:lnTo>
                  <a:lnTo>
                    <a:pt x="1270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73794" y="3141002"/>
              <a:ext cx="1973580" cy="927735"/>
            </a:xfrm>
            <a:custGeom>
              <a:avLst/>
              <a:gdLst/>
              <a:ahLst/>
              <a:cxnLst/>
              <a:rect l="l" t="t" r="r" b="b"/>
              <a:pathLst>
                <a:path w="1973579" h="927735">
                  <a:moveTo>
                    <a:pt x="0" y="0"/>
                  </a:moveTo>
                  <a:lnTo>
                    <a:pt x="3993" y="56695"/>
                  </a:lnTo>
                  <a:lnTo>
                    <a:pt x="15833" y="112337"/>
                  </a:lnTo>
                  <a:lnTo>
                    <a:pt x="35311" y="166850"/>
                  </a:lnTo>
                  <a:lnTo>
                    <a:pt x="62219" y="220158"/>
                  </a:lnTo>
                  <a:lnTo>
                    <a:pt x="96348" y="272186"/>
                  </a:lnTo>
                  <a:lnTo>
                    <a:pt x="137487" y="322859"/>
                  </a:lnTo>
                  <a:lnTo>
                    <a:pt x="185430" y="372101"/>
                  </a:lnTo>
                  <a:lnTo>
                    <a:pt x="239966" y="419836"/>
                  </a:lnTo>
                  <a:lnTo>
                    <a:pt x="300888" y="465990"/>
                  </a:lnTo>
                  <a:lnTo>
                    <a:pt x="333677" y="488450"/>
                  </a:lnTo>
                  <a:lnTo>
                    <a:pt x="367985" y="510486"/>
                  </a:lnTo>
                  <a:lnTo>
                    <a:pt x="403784" y="532089"/>
                  </a:lnTo>
                  <a:lnTo>
                    <a:pt x="441049" y="553249"/>
                  </a:lnTo>
                  <a:lnTo>
                    <a:pt x="479754" y="573957"/>
                  </a:lnTo>
                  <a:lnTo>
                    <a:pt x="519872" y="594204"/>
                  </a:lnTo>
                  <a:lnTo>
                    <a:pt x="561378" y="613979"/>
                  </a:lnTo>
                  <a:lnTo>
                    <a:pt x="604244" y="633275"/>
                  </a:lnTo>
                  <a:lnTo>
                    <a:pt x="648446" y="652080"/>
                  </a:lnTo>
                  <a:lnTo>
                    <a:pt x="693957" y="670387"/>
                  </a:lnTo>
                  <a:lnTo>
                    <a:pt x="740751" y="688184"/>
                  </a:lnTo>
                  <a:lnTo>
                    <a:pt x="788801" y="705464"/>
                  </a:lnTo>
                  <a:lnTo>
                    <a:pt x="838082" y="722216"/>
                  </a:lnTo>
                  <a:lnTo>
                    <a:pt x="888568" y="738431"/>
                  </a:lnTo>
                  <a:lnTo>
                    <a:pt x="940232" y="754099"/>
                  </a:lnTo>
                  <a:lnTo>
                    <a:pt x="993049" y="769212"/>
                  </a:lnTo>
                  <a:lnTo>
                    <a:pt x="1046992" y="783759"/>
                  </a:lnTo>
                  <a:lnTo>
                    <a:pt x="1102035" y="797732"/>
                  </a:lnTo>
                  <a:lnTo>
                    <a:pt x="1158152" y="811120"/>
                  </a:lnTo>
                  <a:lnTo>
                    <a:pt x="1215317" y="823915"/>
                  </a:lnTo>
                  <a:lnTo>
                    <a:pt x="1273503" y="836107"/>
                  </a:lnTo>
                  <a:lnTo>
                    <a:pt x="1332686" y="847687"/>
                  </a:lnTo>
                  <a:lnTo>
                    <a:pt x="1392838" y="858645"/>
                  </a:lnTo>
                  <a:lnTo>
                    <a:pt x="1453933" y="868971"/>
                  </a:lnTo>
                  <a:lnTo>
                    <a:pt x="1515946" y="878656"/>
                  </a:lnTo>
                  <a:lnTo>
                    <a:pt x="1578850" y="887692"/>
                  </a:lnTo>
                  <a:lnTo>
                    <a:pt x="1642619" y="896067"/>
                  </a:lnTo>
                  <a:lnTo>
                    <a:pt x="1707228" y="903774"/>
                  </a:lnTo>
                  <a:lnTo>
                    <a:pt x="1772649" y="910802"/>
                  </a:lnTo>
                  <a:lnTo>
                    <a:pt x="1838857" y="917143"/>
                  </a:lnTo>
                  <a:lnTo>
                    <a:pt x="1905825" y="922786"/>
                  </a:lnTo>
                  <a:lnTo>
                    <a:pt x="1973529" y="927722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34725" y="4005364"/>
              <a:ext cx="130175" cy="125730"/>
            </a:xfrm>
            <a:custGeom>
              <a:avLst/>
              <a:gdLst/>
              <a:ahLst/>
              <a:cxnLst/>
              <a:rect l="l" t="t" r="r" b="b"/>
              <a:pathLst>
                <a:path w="130175" h="125729">
                  <a:moveTo>
                    <a:pt x="7556" y="0"/>
                  </a:moveTo>
                  <a:lnTo>
                    <a:pt x="0" y="125641"/>
                  </a:lnTo>
                  <a:lnTo>
                    <a:pt x="129590" y="70192"/>
                  </a:lnTo>
                  <a:lnTo>
                    <a:pt x="75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98595" y="3611068"/>
            <a:ext cx="7131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400" spc="-150" dirty="0">
                <a:latin typeface="Arial"/>
                <a:cs typeface="Arial"/>
              </a:rPr>
              <a:t>R_ein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48235" y="2427390"/>
            <a:ext cx="7562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400" spc="-215" dirty="0">
                <a:latin typeface="Arial"/>
                <a:cs typeface="Arial"/>
              </a:rPr>
              <a:t>R_aus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96805" y="1835465"/>
            <a:ext cx="6066155" cy="2825750"/>
            <a:chOff x="1466454" y="1835465"/>
            <a:chExt cx="6066155" cy="282575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1744" y="1906737"/>
              <a:ext cx="162360" cy="1623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36000" y="2060994"/>
              <a:ext cx="341630" cy="284480"/>
            </a:xfrm>
            <a:custGeom>
              <a:avLst/>
              <a:gdLst/>
              <a:ahLst/>
              <a:cxnLst/>
              <a:rect l="l" t="t" r="r" b="b"/>
              <a:pathLst>
                <a:path w="341630" h="284480">
                  <a:moveTo>
                    <a:pt x="0" y="0"/>
                  </a:moveTo>
                  <a:lnTo>
                    <a:pt x="341274" y="284048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30475" y="2291397"/>
              <a:ext cx="137160" cy="128905"/>
            </a:xfrm>
            <a:custGeom>
              <a:avLst/>
              <a:gdLst/>
              <a:ahLst/>
              <a:cxnLst/>
              <a:rect l="l" t="t" r="r" b="b"/>
              <a:pathLst>
                <a:path w="137160" h="128905">
                  <a:moveTo>
                    <a:pt x="80645" y="0"/>
                  </a:moveTo>
                  <a:lnTo>
                    <a:pt x="0" y="96837"/>
                  </a:lnTo>
                  <a:lnTo>
                    <a:pt x="137160" y="128879"/>
                  </a:lnTo>
                  <a:lnTo>
                    <a:pt x="806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75993" y="1845005"/>
              <a:ext cx="6047105" cy="2806700"/>
            </a:xfrm>
            <a:custGeom>
              <a:avLst/>
              <a:gdLst/>
              <a:ahLst/>
              <a:cxnLst/>
              <a:rect l="l" t="t" r="r" b="b"/>
              <a:pathLst>
                <a:path w="6047105" h="2806700">
                  <a:moveTo>
                    <a:pt x="3023641" y="2806560"/>
                  </a:moveTo>
                  <a:lnTo>
                    <a:pt x="0" y="2806560"/>
                  </a:lnTo>
                  <a:lnTo>
                    <a:pt x="0" y="0"/>
                  </a:lnTo>
                  <a:lnTo>
                    <a:pt x="6046927" y="0"/>
                  </a:lnTo>
                  <a:lnTo>
                    <a:pt x="6046927" y="2806560"/>
                  </a:lnTo>
                  <a:lnTo>
                    <a:pt x="3023641" y="2806560"/>
                  </a:lnTo>
                  <a:close/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87998" y="2131923"/>
              <a:ext cx="605790" cy="575310"/>
            </a:xfrm>
            <a:custGeom>
              <a:avLst/>
              <a:gdLst/>
              <a:ahLst/>
              <a:cxnLst/>
              <a:rect l="l" t="t" r="r" b="b"/>
              <a:pathLst>
                <a:path w="605790" h="575310">
                  <a:moveTo>
                    <a:pt x="0" y="287642"/>
                  </a:moveTo>
                  <a:lnTo>
                    <a:pt x="2610" y="250057"/>
                  </a:lnTo>
                  <a:lnTo>
                    <a:pt x="10352" y="213250"/>
                  </a:lnTo>
                  <a:lnTo>
                    <a:pt x="40678" y="143992"/>
                  </a:lnTo>
                  <a:lnTo>
                    <a:pt x="62614" y="112528"/>
                  </a:lnTo>
                  <a:lnTo>
                    <a:pt x="88699" y="84235"/>
                  </a:lnTo>
                  <a:lnTo>
                    <a:pt x="118494" y="59453"/>
                  </a:lnTo>
                  <a:lnTo>
                    <a:pt x="151561" y="38519"/>
                  </a:lnTo>
                  <a:lnTo>
                    <a:pt x="186982" y="21870"/>
                  </a:lnTo>
                  <a:lnTo>
                    <a:pt x="224326" y="9810"/>
                  </a:lnTo>
                  <a:lnTo>
                    <a:pt x="263090" y="2475"/>
                  </a:lnTo>
                  <a:lnTo>
                    <a:pt x="302768" y="0"/>
                  </a:lnTo>
                  <a:lnTo>
                    <a:pt x="342438" y="2475"/>
                  </a:lnTo>
                  <a:lnTo>
                    <a:pt x="381198" y="9810"/>
                  </a:lnTo>
                  <a:lnTo>
                    <a:pt x="418541" y="21870"/>
                  </a:lnTo>
                  <a:lnTo>
                    <a:pt x="453961" y="38519"/>
                  </a:lnTo>
                  <a:lnTo>
                    <a:pt x="487028" y="59453"/>
                  </a:lnTo>
                  <a:lnTo>
                    <a:pt x="516823" y="84235"/>
                  </a:lnTo>
                  <a:lnTo>
                    <a:pt x="542908" y="112528"/>
                  </a:lnTo>
                  <a:lnTo>
                    <a:pt x="564845" y="143992"/>
                  </a:lnTo>
                  <a:lnTo>
                    <a:pt x="595171" y="213250"/>
                  </a:lnTo>
                  <a:lnTo>
                    <a:pt x="605523" y="287642"/>
                  </a:lnTo>
                  <a:lnTo>
                    <a:pt x="602912" y="325225"/>
                  </a:lnTo>
                  <a:lnTo>
                    <a:pt x="595171" y="362067"/>
                  </a:lnTo>
                  <a:lnTo>
                    <a:pt x="564845" y="431634"/>
                  </a:lnTo>
                  <a:lnTo>
                    <a:pt x="542908" y="462893"/>
                  </a:lnTo>
                  <a:lnTo>
                    <a:pt x="516823" y="491080"/>
                  </a:lnTo>
                  <a:lnTo>
                    <a:pt x="487028" y="515823"/>
                  </a:lnTo>
                  <a:lnTo>
                    <a:pt x="453961" y="536752"/>
                  </a:lnTo>
                  <a:lnTo>
                    <a:pt x="418541" y="553406"/>
                  </a:lnTo>
                  <a:lnTo>
                    <a:pt x="381198" y="565465"/>
                  </a:lnTo>
                  <a:lnTo>
                    <a:pt x="342438" y="572798"/>
                  </a:lnTo>
                  <a:lnTo>
                    <a:pt x="302768" y="575271"/>
                  </a:lnTo>
                  <a:lnTo>
                    <a:pt x="263090" y="572798"/>
                  </a:lnTo>
                  <a:lnTo>
                    <a:pt x="224326" y="565465"/>
                  </a:lnTo>
                  <a:lnTo>
                    <a:pt x="186982" y="553406"/>
                  </a:lnTo>
                  <a:lnTo>
                    <a:pt x="151561" y="536752"/>
                  </a:lnTo>
                  <a:lnTo>
                    <a:pt x="118494" y="515823"/>
                  </a:lnTo>
                  <a:lnTo>
                    <a:pt x="88699" y="491080"/>
                  </a:lnTo>
                  <a:lnTo>
                    <a:pt x="62614" y="462893"/>
                  </a:lnTo>
                  <a:lnTo>
                    <a:pt x="40678" y="431634"/>
                  </a:lnTo>
                  <a:lnTo>
                    <a:pt x="23086" y="397695"/>
                  </a:lnTo>
                  <a:lnTo>
                    <a:pt x="2610" y="325225"/>
                  </a:lnTo>
                  <a:lnTo>
                    <a:pt x="0" y="287642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83957" y="2164589"/>
            <a:ext cx="2343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800" spc="-335" dirty="0">
                <a:latin typeface="Arial"/>
                <a:cs typeface="Arial"/>
              </a:rPr>
              <a:t>H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49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2399653" y="4194264"/>
            <a:ext cx="7186295" cy="1923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6769">
              <a:spcBef>
                <a:spcPts val="100"/>
              </a:spcBef>
            </a:pPr>
            <a:r>
              <a:rPr sz="2400" spc="-110" dirty="0">
                <a:latin typeface="Arial"/>
                <a:cs typeface="Arial"/>
              </a:rPr>
              <a:t>Musik-</a:t>
            </a:r>
            <a:r>
              <a:rPr sz="2400" spc="-20" dirty="0">
                <a:latin typeface="Arial"/>
                <a:cs typeface="Arial"/>
              </a:rPr>
              <a:t>hören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490"/>
              </a:spcBef>
            </a:pPr>
            <a:endParaRPr sz="2400">
              <a:latin typeface="Arial"/>
              <a:cs typeface="Arial"/>
            </a:endParaRPr>
          </a:p>
          <a:p>
            <a:pPr marL="12700" marR="5080"/>
            <a:r>
              <a:rPr sz="2400" spc="-140" dirty="0">
                <a:latin typeface="Arial"/>
                <a:cs typeface="Arial"/>
              </a:rPr>
              <a:t>Beim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b="1" spc="-165" dirty="0">
                <a:latin typeface="Arial"/>
                <a:cs typeface="Arial"/>
              </a:rPr>
              <a:t>ersten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140" dirty="0">
                <a:latin typeface="Arial"/>
                <a:cs typeface="Arial"/>
              </a:rPr>
              <a:t>Betreten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des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Oberzustands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ist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das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b="1" spc="-210" dirty="0">
                <a:latin typeface="Arial"/>
                <a:cs typeface="Arial"/>
              </a:rPr>
              <a:t>Radio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-114" dirty="0">
                <a:latin typeface="Arial"/>
                <a:cs typeface="Arial"/>
              </a:rPr>
              <a:t>aus</a:t>
            </a:r>
            <a:r>
              <a:rPr sz="2400" spc="-114" dirty="0">
                <a:latin typeface="Arial"/>
                <a:cs typeface="Arial"/>
              </a:rPr>
              <a:t>, </a:t>
            </a:r>
            <a:r>
              <a:rPr sz="2400" b="1" spc="-200" dirty="0">
                <a:latin typeface="Arial"/>
                <a:cs typeface="Arial"/>
              </a:rPr>
              <a:t>danach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wird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immer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b="1" spc="-140" dirty="0">
                <a:latin typeface="Arial"/>
                <a:cs typeface="Arial"/>
              </a:rPr>
              <a:t>der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130" dirty="0">
                <a:latin typeface="Arial"/>
                <a:cs typeface="Arial"/>
              </a:rPr>
              <a:t>zuletzt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204" dirty="0">
                <a:latin typeface="Arial"/>
                <a:cs typeface="Arial"/>
              </a:rPr>
              <a:t>besuchte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Zustand </a:t>
            </a:r>
            <a:r>
              <a:rPr sz="2400" spc="-10" dirty="0">
                <a:latin typeface="Arial"/>
                <a:cs typeface="Arial"/>
              </a:rPr>
              <a:t>betreten.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2635" y="819806"/>
            <a:ext cx="5465366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500" spc="-200" dirty="0"/>
              <a:t>Zurücksetzen</a:t>
            </a:r>
            <a:r>
              <a:rPr sz="3500" spc="-180" dirty="0"/>
              <a:t> </a:t>
            </a:r>
            <a:r>
              <a:rPr sz="3500" spc="-100" dirty="0"/>
              <a:t>der</a:t>
            </a:r>
            <a:r>
              <a:rPr sz="3500" spc="-165" dirty="0"/>
              <a:t> </a:t>
            </a:r>
            <a:r>
              <a:rPr sz="3500" spc="-95" dirty="0"/>
              <a:t>History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2076005" y="1835544"/>
            <a:ext cx="766318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Clr>
                <a:srgbClr val="2D74B5"/>
              </a:buClr>
              <a:buSzPct val="108333"/>
              <a:buChar char="•"/>
              <a:tabLst>
                <a:tab pos="241300" algn="l"/>
              </a:tabLst>
            </a:pPr>
            <a:r>
              <a:rPr sz="2400" spc="-110" dirty="0">
                <a:latin typeface="Arial"/>
                <a:cs typeface="Arial"/>
              </a:rPr>
              <a:t>Beispiel: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Herausnahme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Autobatterie</a:t>
            </a:r>
            <a:r>
              <a:rPr sz="2400" spc="-95" dirty="0">
                <a:latin typeface="Arial"/>
                <a:cs typeface="Arial"/>
              </a:rPr>
              <a:t> löscht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Speicher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des </a:t>
            </a:r>
            <a:r>
              <a:rPr sz="2400" spc="-85" dirty="0">
                <a:latin typeface="Arial"/>
                <a:cs typeface="Arial"/>
              </a:rPr>
              <a:t>Radiozustands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99346" y="3923285"/>
            <a:ext cx="1460500" cy="414857"/>
          </a:xfrm>
          <a:prstGeom prst="rect">
            <a:avLst/>
          </a:prstGeom>
          <a:ln w="19079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89535">
              <a:spcBef>
                <a:spcPts val="355"/>
              </a:spcBef>
            </a:pPr>
            <a:r>
              <a:rPr sz="2400" spc="-90" dirty="0">
                <a:latin typeface="Arial"/>
                <a:cs typeface="Arial"/>
              </a:rPr>
              <a:t>Radio_aus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72824" y="5151603"/>
            <a:ext cx="1417320" cy="414857"/>
          </a:xfrm>
          <a:prstGeom prst="rect">
            <a:avLst/>
          </a:prstGeom>
          <a:ln w="19079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89535">
              <a:spcBef>
                <a:spcPts val="355"/>
              </a:spcBef>
            </a:pPr>
            <a:r>
              <a:rPr sz="2400" spc="-55" dirty="0">
                <a:latin typeface="Arial"/>
                <a:cs typeface="Arial"/>
              </a:rPr>
              <a:t>Radio_ein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53906" y="4093921"/>
            <a:ext cx="2677795" cy="1376680"/>
            <a:chOff x="1723555" y="4093921"/>
            <a:chExt cx="2677795" cy="1376680"/>
          </a:xfrm>
        </p:grpSpPr>
        <p:sp>
          <p:nvSpPr>
            <p:cNvPr id="7" name="object 7"/>
            <p:cNvSpPr/>
            <p:nvPr/>
          </p:nvSpPr>
          <p:spPr>
            <a:xfrm>
              <a:off x="2914561" y="4156557"/>
              <a:ext cx="1477010" cy="933450"/>
            </a:xfrm>
            <a:custGeom>
              <a:avLst/>
              <a:gdLst/>
              <a:ahLst/>
              <a:cxnLst/>
              <a:rect l="l" t="t" r="r" b="b"/>
              <a:pathLst>
                <a:path w="1477010" h="933450">
                  <a:moveTo>
                    <a:pt x="0" y="0"/>
                  </a:moveTo>
                  <a:lnTo>
                    <a:pt x="56780" y="3362"/>
                  </a:lnTo>
                  <a:lnTo>
                    <a:pt x="112995" y="7930"/>
                  </a:lnTo>
                  <a:lnTo>
                    <a:pt x="168610" y="13690"/>
                  </a:lnTo>
                  <a:lnTo>
                    <a:pt x="223588" y="20627"/>
                  </a:lnTo>
                  <a:lnTo>
                    <a:pt x="277893" y="28727"/>
                  </a:lnTo>
                  <a:lnTo>
                    <a:pt x="331490" y="37976"/>
                  </a:lnTo>
                  <a:lnTo>
                    <a:pt x="384343" y="48359"/>
                  </a:lnTo>
                  <a:lnTo>
                    <a:pt x="436417" y="59861"/>
                  </a:lnTo>
                  <a:lnTo>
                    <a:pt x="487674" y="72468"/>
                  </a:lnTo>
                  <a:lnTo>
                    <a:pt x="538080" y="86167"/>
                  </a:lnTo>
                  <a:lnTo>
                    <a:pt x="587599" y="100942"/>
                  </a:lnTo>
                  <a:lnTo>
                    <a:pt x="636195" y="116780"/>
                  </a:lnTo>
                  <a:lnTo>
                    <a:pt x="683832" y="133665"/>
                  </a:lnTo>
                  <a:lnTo>
                    <a:pt x="730474" y="151583"/>
                  </a:lnTo>
                  <a:lnTo>
                    <a:pt x="776086" y="170521"/>
                  </a:lnTo>
                  <a:lnTo>
                    <a:pt x="820631" y="190464"/>
                  </a:lnTo>
                  <a:lnTo>
                    <a:pt x="864074" y="211397"/>
                  </a:lnTo>
                  <a:lnTo>
                    <a:pt x="906379" y="233305"/>
                  </a:lnTo>
                  <a:lnTo>
                    <a:pt x="947511" y="256176"/>
                  </a:lnTo>
                  <a:lnTo>
                    <a:pt x="987432" y="279993"/>
                  </a:lnTo>
                  <a:lnTo>
                    <a:pt x="1026109" y="304744"/>
                  </a:lnTo>
                  <a:lnTo>
                    <a:pt x="1063504" y="330412"/>
                  </a:lnTo>
                  <a:lnTo>
                    <a:pt x="1099583" y="356985"/>
                  </a:lnTo>
                  <a:lnTo>
                    <a:pt x="1134308" y="384448"/>
                  </a:lnTo>
                  <a:lnTo>
                    <a:pt x="1167645" y="412786"/>
                  </a:lnTo>
                  <a:lnTo>
                    <a:pt x="1199558" y="441985"/>
                  </a:lnTo>
                  <a:lnTo>
                    <a:pt x="1230010" y="472030"/>
                  </a:lnTo>
                  <a:lnTo>
                    <a:pt x="1258966" y="502908"/>
                  </a:lnTo>
                  <a:lnTo>
                    <a:pt x="1286391" y="534604"/>
                  </a:lnTo>
                  <a:lnTo>
                    <a:pt x="1312247" y="567103"/>
                  </a:lnTo>
                  <a:lnTo>
                    <a:pt x="1336501" y="600391"/>
                  </a:lnTo>
                  <a:lnTo>
                    <a:pt x="1359115" y="634453"/>
                  </a:lnTo>
                  <a:lnTo>
                    <a:pt x="1380054" y="669276"/>
                  </a:lnTo>
                  <a:lnTo>
                    <a:pt x="1399282" y="704845"/>
                  </a:lnTo>
                  <a:lnTo>
                    <a:pt x="1416764" y="741146"/>
                  </a:lnTo>
                  <a:lnTo>
                    <a:pt x="1432463" y="778164"/>
                  </a:lnTo>
                  <a:lnTo>
                    <a:pt x="1446343" y="815884"/>
                  </a:lnTo>
                  <a:lnTo>
                    <a:pt x="1458370" y="854293"/>
                  </a:lnTo>
                  <a:lnTo>
                    <a:pt x="1468506" y="893376"/>
                  </a:lnTo>
                  <a:lnTo>
                    <a:pt x="1476717" y="933119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96120" y="4093921"/>
              <a:ext cx="127635" cy="126364"/>
            </a:xfrm>
            <a:custGeom>
              <a:avLst/>
              <a:gdLst/>
              <a:ahLst/>
              <a:cxnLst/>
              <a:rect l="l" t="t" r="r" b="b"/>
              <a:pathLst>
                <a:path w="127635" h="126364">
                  <a:moveTo>
                    <a:pt x="127444" y="0"/>
                  </a:moveTo>
                  <a:lnTo>
                    <a:pt x="0" y="59753"/>
                  </a:lnTo>
                  <a:lnTo>
                    <a:pt x="124193" y="125996"/>
                  </a:lnTo>
                  <a:lnTo>
                    <a:pt x="1274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33397" y="4553280"/>
              <a:ext cx="1600200" cy="854710"/>
            </a:xfrm>
            <a:custGeom>
              <a:avLst/>
              <a:gdLst/>
              <a:ahLst/>
              <a:cxnLst/>
              <a:rect l="l" t="t" r="r" b="b"/>
              <a:pathLst>
                <a:path w="1600200" h="854710">
                  <a:moveTo>
                    <a:pt x="0" y="0"/>
                  </a:moveTo>
                  <a:lnTo>
                    <a:pt x="4573" y="62151"/>
                  </a:lnTo>
                  <a:lnTo>
                    <a:pt x="18106" y="122842"/>
                  </a:lnTo>
                  <a:lnTo>
                    <a:pt x="40314" y="181965"/>
                  </a:lnTo>
                  <a:lnTo>
                    <a:pt x="70914" y="239411"/>
                  </a:lnTo>
                  <a:lnTo>
                    <a:pt x="109622" y="295073"/>
                  </a:lnTo>
                  <a:lnTo>
                    <a:pt x="156154" y="348842"/>
                  </a:lnTo>
                  <a:lnTo>
                    <a:pt x="210227" y="400610"/>
                  </a:lnTo>
                  <a:lnTo>
                    <a:pt x="240002" y="425710"/>
                  </a:lnTo>
                  <a:lnTo>
                    <a:pt x="271557" y="450269"/>
                  </a:lnTo>
                  <a:lnTo>
                    <a:pt x="304855" y="474273"/>
                  </a:lnTo>
                  <a:lnTo>
                    <a:pt x="339860" y="497710"/>
                  </a:lnTo>
                  <a:lnTo>
                    <a:pt x="376539" y="520565"/>
                  </a:lnTo>
                  <a:lnTo>
                    <a:pt x="414854" y="542825"/>
                  </a:lnTo>
                  <a:lnTo>
                    <a:pt x="454771" y="564476"/>
                  </a:lnTo>
                  <a:lnTo>
                    <a:pt x="496254" y="585506"/>
                  </a:lnTo>
                  <a:lnTo>
                    <a:pt x="539267" y="605900"/>
                  </a:lnTo>
                  <a:lnTo>
                    <a:pt x="583776" y="625645"/>
                  </a:lnTo>
                  <a:lnTo>
                    <a:pt x="629744" y="644727"/>
                  </a:lnTo>
                  <a:lnTo>
                    <a:pt x="677137" y="663133"/>
                  </a:lnTo>
                  <a:lnTo>
                    <a:pt x="725919" y="680849"/>
                  </a:lnTo>
                  <a:lnTo>
                    <a:pt x="776054" y="697863"/>
                  </a:lnTo>
                  <a:lnTo>
                    <a:pt x="827507" y="714159"/>
                  </a:lnTo>
                  <a:lnTo>
                    <a:pt x="880243" y="729725"/>
                  </a:lnTo>
                  <a:lnTo>
                    <a:pt x="934225" y="744548"/>
                  </a:lnTo>
                  <a:lnTo>
                    <a:pt x="989420" y="758613"/>
                  </a:lnTo>
                  <a:lnTo>
                    <a:pt x="1045790" y="771907"/>
                  </a:lnTo>
                  <a:lnTo>
                    <a:pt x="1103301" y="784417"/>
                  </a:lnTo>
                  <a:lnTo>
                    <a:pt x="1161917" y="796128"/>
                  </a:lnTo>
                  <a:lnTo>
                    <a:pt x="1221603" y="807029"/>
                  </a:lnTo>
                  <a:lnTo>
                    <a:pt x="1282324" y="817104"/>
                  </a:lnTo>
                  <a:lnTo>
                    <a:pt x="1344043" y="826341"/>
                  </a:lnTo>
                  <a:lnTo>
                    <a:pt x="1406726" y="834726"/>
                  </a:lnTo>
                  <a:lnTo>
                    <a:pt x="1470336" y="842245"/>
                  </a:lnTo>
                  <a:lnTo>
                    <a:pt x="1534839" y="848886"/>
                  </a:lnTo>
                  <a:lnTo>
                    <a:pt x="1600200" y="854633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20643" y="5344553"/>
              <a:ext cx="130175" cy="125730"/>
            </a:xfrm>
            <a:custGeom>
              <a:avLst/>
              <a:gdLst/>
              <a:ahLst/>
              <a:cxnLst/>
              <a:rect l="l" t="t" r="r" b="b"/>
              <a:pathLst>
                <a:path w="130175" h="125729">
                  <a:moveTo>
                    <a:pt x="8636" y="0"/>
                  </a:moveTo>
                  <a:lnTo>
                    <a:pt x="0" y="125641"/>
                  </a:lnTo>
                  <a:lnTo>
                    <a:pt x="129959" y="71285"/>
                  </a:lnTo>
                  <a:lnTo>
                    <a:pt x="86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63847" y="3897262"/>
            <a:ext cx="7689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15" dirty="0">
                <a:latin typeface="Arial"/>
                <a:cs typeface="Arial"/>
              </a:rPr>
              <a:t>R_aus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188311" y="3347162"/>
            <a:ext cx="7739380" cy="2610485"/>
            <a:chOff x="657961" y="3347161"/>
            <a:chExt cx="7739380" cy="261048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5022" y="3413694"/>
              <a:ext cx="136795" cy="15121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63002" y="3556444"/>
              <a:ext cx="268605" cy="251460"/>
            </a:xfrm>
            <a:custGeom>
              <a:avLst/>
              <a:gdLst/>
              <a:ahLst/>
              <a:cxnLst/>
              <a:rect l="l" t="t" r="r" b="b"/>
              <a:pathLst>
                <a:path w="268605" h="251460">
                  <a:moveTo>
                    <a:pt x="0" y="0"/>
                  </a:moveTo>
                  <a:lnTo>
                    <a:pt x="268554" y="251269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82598" y="3755885"/>
              <a:ext cx="135255" cy="132715"/>
            </a:xfrm>
            <a:custGeom>
              <a:avLst/>
              <a:gdLst/>
              <a:ahLst/>
              <a:cxnLst/>
              <a:rect l="l" t="t" r="r" b="b"/>
              <a:pathLst>
                <a:path w="135255" h="132714">
                  <a:moveTo>
                    <a:pt x="86042" y="0"/>
                  </a:moveTo>
                  <a:lnTo>
                    <a:pt x="0" y="92151"/>
                  </a:lnTo>
                  <a:lnTo>
                    <a:pt x="135001" y="132118"/>
                  </a:lnTo>
                  <a:lnTo>
                    <a:pt x="860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7804" y="3357003"/>
              <a:ext cx="7719695" cy="2590800"/>
            </a:xfrm>
            <a:custGeom>
              <a:avLst/>
              <a:gdLst/>
              <a:ahLst/>
              <a:cxnLst/>
              <a:rect l="l" t="t" r="r" b="b"/>
              <a:pathLst>
                <a:path w="7719695" h="2590800">
                  <a:moveTo>
                    <a:pt x="3859555" y="2590558"/>
                  </a:moveTo>
                  <a:lnTo>
                    <a:pt x="0" y="2590558"/>
                  </a:lnTo>
                  <a:lnTo>
                    <a:pt x="0" y="0"/>
                  </a:lnTo>
                  <a:lnTo>
                    <a:pt x="7719110" y="0"/>
                  </a:lnTo>
                  <a:lnTo>
                    <a:pt x="7719110" y="2590558"/>
                  </a:lnTo>
                  <a:lnTo>
                    <a:pt x="3859555" y="2590558"/>
                  </a:lnTo>
                  <a:close/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227936" y="4817210"/>
            <a:ext cx="1589405" cy="103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7860">
              <a:lnSpc>
                <a:spcPct val="147200"/>
              </a:lnSpc>
              <a:spcBef>
                <a:spcPts val="100"/>
              </a:spcBef>
            </a:pPr>
            <a:r>
              <a:rPr sz="2400" spc="-20" dirty="0">
                <a:latin typeface="Arial"/>
                <a:cs typeface="Arial"/>
              </a:rPr>
              <a:t>R_ein </a:t>
            </a:r>
            <a:r>
              <a:rPr sz="2400" spc="-110" dirty="0">
                <a:latin typeface="Arial"/>
                <a:cs typeface="Arial"/>
              </a:rPr>
              <a:t>Musik-</a:t>
            </a:r>
            <a:r>
              <a:rPr sz="2400" spc="-75" dirty="0">
                <a:latin typeface="Arial"/>
                <a:cs typeface="Arial"/>
              </a:rPr>
              <a:t>hören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96826" y="3622320"/>
            <a:ext cx="497205" cy="531495"/>
          </a:xfrm>
          <a:custGeom>
            <a:avLst/>
            <a:gdLst/>
            <a:ahLst/>
            <a:cxnLst/>
            <a:rect l="l" t="t" r="r" b="b"/>
            <a:pathLst>
              <a:path w="497204" h="531495">
                <a:moveTo>
                  <a:pt x="0" y="265315"/>
                </a:moveTo>
                <a:lnTo>
                  <a:pt x="2143" y="230641"/>
                </a:lnTo>
                <a:lnTo>
                  <a:pt x="8505" y="196605"/>
                </a:lnTo>
                <a:lnTo>
                  <a:pt x="33489" y="132486"/>
                </a:lnTo>
                <a:lnTo>
                  <a:pt x="72770" y="77539"/>
                </a:lnTo>
                <a:lnTo>
                  <a:pt x="124205" y="35280"/>
                </a:lnTo>
                <a:lnTo>
                  <a:pt x="184145" y="9001"/>
                </a:lnTo>
                <a:lnTo>
                  <a:pt x="248399" y="0"/>
                </a:lnTo>
                <a:lnTo>
                  <a:pt x="312980" y="9001"/>
                </a:lnTo>
                <a:lnTo>
                  <a:pt x="372960" y="35280"/>
                </a:lnTo>
                <a:lnTo>
                  <a:pt x="424402" y="77539"/>
                </a:lnTo>
                <a:lnTo>
                  <a:pt x="463689" y="132486"/>
                </a:lnTo>
                <a:lnTo>
                  <a:pt x="488662" y="196605"/>
                </a:lnTo>
                <a:lnTo>
                  <a:pt x="497166" y="265315"/>
                </a:lnTo>
                <a:lnTo>
                  <a:pt x="488662" y="334032"/>
                </a:lnTo>
                <a:lnTo>
                  <a:pt x="463689" y="398157"/>
                </a:lnTo>
                <a:lnTo>
                  <a:pt x="424402" y="453104"/>
                </a:lnTo>
                <a:lnTo>
                  <a:pt x="372960" y="495363"/>
                </a:lnTo>
                <a:lnTo>
                  <a:pt x="312980" y="521820"/>
                </a:lnTo>
                <a:lnTo>
                  <a:pt x="248399" y="530999"/>
                </a:lnTo>
                <a:lnTo>
                  <a:pt x="215937" y="528671"/>
                </a:lnTo>
                <a:lnTo>
                  <a:pt x="153432" y="510650"/>
                </a:lnTo>
                <a:lnTo>
                  <a:pt x="97122" y="475970"/>
                </a:lnTo>
                <a:lnTo>
                  <a:pt x="51457" y="427065"/>
                </a:lnTo>
                <a:lnTo>
                  <a:pt x="18988" y="366921"/>
                </a:lnTo>
                <a:lnTo>
                  <a:pt x="2143" y="299995"/>
                </a:lnTo>
                <a:lnTo>
                  <a:pt x="0" y="265315"/>
                </a:lnTo>
                <a:close/>
              </a:path>
            </a:pathLst>
          </a:custGeom>
          <a:ln w="125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554051" y="3654629"/>
            <a:ext cx="2470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335" dirty="0">
                <a:latin typeface="Arial"/>
                <a:cs typeface="Arial"/>
              </a:rPr>
              <a:t>H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081009" y="3410455"/>
            <a:ext cx="1609725" cy="2521585"/>
            <a:chOff x="5550658" y="3410454"/>
            <a:chExt cx="1609725" cy="2521585"/>
          </a:xfrm>
        </p:grpSpPr>
        <p:sp>
          <p:nvSpPr>
            <p:cNvPr id="21" name="object 21"/>
            <p:cNvSpPr/>
            <p:nvPr/>
          </p:nvSpPr>
          <p:spPr>
            <a:xfrm>
              <a:off x="5563438" y="3423234"/>
              <a:ext cx="1270" cy="2496185"/>
            </a:xfrm>
            <a:custGeom>
              <a:avLst/>
              <a:gdLst/>
              <a:ahLst/>
              <a:cxnLst/>
              <a:rect l="l" t="t" r="r" b="b"/>
              <a:pathLst>
                <a:path w="1270" h="2496185">
                  <a:moveTo>
                    <a:pt x="0" y="0"/>
                  </a:moveTo>
                  <a:lnTo>
                    <a:pt x="1079" y="2495880"/>
                  </a:lnTo>
                </a:path>
              </a:pathLst>
            </a:custGeom>
            <a:ln w="2555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52285" y="3573005"/>
              <a:ext cx="498475" cy="460375"/>
            </a:xfrm>
            <a:custGeom>
              <a:avLst/>
              <a:gdLst/>
              <a:ahLst/>
              <a:cxnLst/>
              <a:rect l="l" t="t" r="r" b="b"/>
              <a:pathLst>
                <a:path w="498475" h="460375">
                  <a:moveTo>
                    <a:pt x="249110" y="460070"/>
                  </a:moveTo>
                  <a:lnTo>
                    <a:pt x="0" y="460070"/>
                  </a:lnTo>
                  <a:lnTo>
                    <a:pt x="0" y="0"/>
                  </a:lnTo>
                  <a:lnTo>
                    <a:pt x="497878" y="0"/>
                  </a:lnTo>
                  <a:lnTo>
                    <a:pt x="497878" y="460070"/>
                  </a:lnTo>
                  <a:lnTo>
                    <a:pt x="249110" y="460070"/>
                  </a:lnTo>
                  <a:close/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07162" y="3803040"/>
              <a:ext cx="441959" cy="433070"/>
            </a:xfrm>
            <a:custGeom>
              <a:avLst/>
              <a:gdLst/>
              <a:ahLst/>
              <a:cxnLst/>
              <a:rect l="l" t="t" r="r" b="b"/>
              <a:pathLst>
                <a:path w="441959" h="433070">
                  <a:moveTo>
                    <a:pt x="243357" y="0"/>
                  </a:moveTo>
                  <a:lnTo>
                    <a:pt x="300184" y="3512"/>
                  </a:lnTo>
                  <a:lnTo>
                    <a:pt x="346467" y="13530"/>
                  </a:lnTo>
                  <a:lnTo>
                    <a:pt x="382831" y="29274"/>
                  </a:lnTo>
                  <a:lnTo>
                    <a:pt x="428311" y="74821"/>
                  </a:lnTo>
                  <a:lnTo>
                    <a:pt x="441633" y="133916"/>
                  </a:lnTo>
                  <a:lnTo>
                    <a:pt x="437801" y="166595"/>
                  </a:lnTo>
                  <a:lnTo>
                    <a:pt x="412282" y="234318"/>
                  </a:lnTo>
                  <a:lnTo>
                    <a:pt x="391847" y="267804"/>
                  </a:lnTo>
                  <a:lnTo>
                    <a:pt x="367131" y="299998"/>
                  </a:lnTo>
                  <a:lnTo>
                    <a:pt x="338759" y="330123"/>
                  </a:lnTo>
                  <a:lnTo>
                    <a:pt x="302364" y="361875"/>
                  </a:lnTo>
                  <a:lnTo>
                    <a:pt x="264615" y="388579"/>
                  </a:lnTo>
                  <a:lnTo>
                    <a:pt x="226337" y="409617"/>
                  </a:lnTo>
                  <a:lnTo>
                    <a:pt x="188354" y="424367"/>
                  </a:lnTo>
                  <a:lnTo>
                    <a:pt x="116572" y="432528"/>
                  </a:lnTo>
                  <a:lnTo>
                    <a:pt x="84422" y="424698"/>
                  </a:lnTo>
                  <a:lnTo>
                    <a:pt x="55865" y="408102"/>
                  </a:lnTo>
                  <a:lnTo>
                    <a:pt x="31726" y="382120"/>
                  </a:lnTo>
                  <a:lnTo>
                    <a:pt x="12829" y="346131"/>
                  </a:lnTo>
                  <a:lnTo>
                    <a:pt x="0" y="299516"/>
                  </a:lnTo>
                </a:path>
              </a:pathLst>
            </a:custGeom>
            <a:ln w="223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70433" y="4033075"/>
              <a:ext cx="75565" cy="79375"/>
            </a:xfrm>
            <a:custGeom>
              <a:avLst/>
              <a:gdLst/>
              <a:ahLst/>
              <a:cxnLst/>
              <a:rect l="l" t="t" r="r" b="b"/>
              <a:pathLst>
                <a:path w="75565" h="79375">
                  <a:moveTo>
                    <a:pt x="30962" y="0"/>
                  </a:moveTo>
                  <a:lnTo>
                    <a:pt x="0" y="78841"/>
                  </a:lnTo>
                  <a:lnTo>
                    <a:pt x="75247" y="72009"/>
                  </a:lnTo>
                  <a:lnTo>
                    <a:pt x="309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685887" y="4201465"/>
            <a:ext cx="18021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spc="-80" dirty="0">
                <a:latin typeface="Arial"/>
                <a:cs typeface="Arial"/>
              </a:rPr>
              <a:t>Batterie_raus/ </a:t>
            </a:r>
            <a:r>
              <a:rPr sz="2400" b="1" spc="-165" dirty="0">
                <a:latin typeface="Arial"/>
                <a:cs typeface="Arial"/>
              </a:rPr>
              <a:t>history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clear </a:t>
            </a:r>
            <a:r>
              <a:rPr sz="2400" spc="-105" dirty="0">
                <a:latin typeface="Arial"/>
                <a:cs typeface="Arial"/>
              </a:rPr>
              <a:t>(Musik-</a:t>
            </a:r>
            <a:r>
              <a:rPr sz="2400" spc="-35" dirty="0">
                <a:latin typeface="Arial"/>
                <a:cs typeface="Arial"/>
              </a:rPr>
              <a:t>hören)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50</a:t>
            </a:fld>
            <a:endParaRPr spc="-25" dirty="0"/>
          </a:p>
        </p:txBody>
      </p:sp>
      <p:sp>
        <p:nvSpPr>
          <p:cNvPr id="26" name="object 26"/>
          <p:cNvSpPr txBox="1"/>
          <p:nvPr/>
        </p:nvSpPr>
        <p:spPr>
          <a:xfrm>
            <a:off x="7312927" y="5528425"/>
            <a:ext cx="22117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80" dirty="0">
                <a:latin typeface="Arial"/>
                <a:cs typeface="Arial"/>
              </a:rPr>
              <a:t>Batterie-</a:t>
            </a:r>
            <a:r>
              <a:rPr sz="2400" spc="-100" dirty="0">
                <a:latin typeface="Arial"/>
                <a:cs typeface="Arial"/>
              </a:rPr>
              <a:t>Manager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23554" y="842718"/>
            <a:ext cx="406398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20" dirty="0"/>
              <a:t>Konditionalkonnektor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1943" y="1634100"/>
            <a:ext cx="9060852" cy="18205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68935" indent="-342900">
              <a:spcBef>
                <a:spcPts val="53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68935" algn="l"/>
              </a:tabLst>
            </a:pPr>
            <a:r>
              <a:rPr sz="2400" spc="-95" dirty="0">
                <a:latin typeface="Arial"/>
                <a:cs typeface="Arial"/>
              </a:rPr>
              <a:t>Übersichtliche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Darstellung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einer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Fallunterscheidung</a:t>
            </a:r>
            <a:endParaRPr sz="2400" dirty="0">
              <a:latin typeface="Arial"/>
              <a:cs typeface="Arial"/>
            </a:endParaRPr>
          </a:p>
          <a:p>
            <a:pPr marL="368935" indent="-342900">
              <a:spcBef>
                <a:spcPts val="71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68935" algn="l"/>
              </a:tabLst>
            </a:pPr>
            <a:r>
              <a:rPr sz="2400" spc="-165" dirty="0">
                <a:latin typeface="Arial"/>
                <a:cs typeface="Arial"/>
              </a:rPr>
              <a:t>Kreis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mit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„C“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gekennzeichnet</a:t>
            </a:r>
            <a:endParaRPr sz="2400" dirty="0">
              <a:latin typeface="Arial"/>
              <a:cs typeface="Arial"/>
            </a:endParaRPr>
          </a:p>
          <a:p>
            <a:pPr marL="368935" indent="-342900">
              <a:spcBef>
                <a:spcPts val="71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68935" algn="l"/>
              </a:tabLst>
            </a:pPr>
            <a:r>
              <a:rPr sz="2400" spc="-130" dirty="0">
                <a:latin typeface="Arial"/>
                <a:cs typeface="Arial"/>
              </a:rPr>
              <a:t>davon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ausgehend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mehrere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Transitionen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(Verzweigung)</a:t>
            </a:r>
            <a:endParaRPr sz="2400" dirty="0">
              <a:latin typeface="Arial"/>
              <a:cs typeface="Arial"/>
            </a:endParaRPr>
          </a:p>
          <a:p>
            <a:pPr marL="368935" indent="-342900">
              <a:spcBef>
                <a:spcPts val="715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68935" algn="l"/>
              </a:tabLst>
            </a:pPr>
            <a:r>
              <a:rPr sz="2400" spc="-70" dirty="0">
                <a:latin typeface="Arial"/>
                <a:cs typeface="Arial"/>
              </a:rPr>
              <a:t>mind.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eine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Default-</a:t>
            </a:r>
            <a:r>
              <a:rPr sz="2400" spc="-110" dirty="0">
                <a:latin typeface="Arial"/>
                <a:cs typeface="Arial"/>
              </a:rPr>
              <a:t>Transition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ohne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Trigger/Bedingung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86252" y="3734460"/>
            <a:ext cx="4338955" cy="1953895"/>
            <a:chOff x="1755901" y="3734459"/>
            <a:chExt cx="4338955" cy="1953895"/>
          </a:xfrm>
        </p:grpSpPr>
        <p:sp>
          <p:nvSpPr>
            <p:cNvPr id="5" name="object 5"/>
            <p:cNvSpPr/>
            <p:nvPr/>
          </p:nvSpPr>
          <p:spPr>
            <a:xfrm>
              <a:off x="1762201" y="3740759"/>
              <a:ext cx="4326255" cy="1941195"/>
            </a:xfrm>
            <a:custGeom>
              <a:avLst/>
              <a:gdLst/>
              <a:ahLst/>
              <a:cxnLst/>
              <a:rect l="l" t="t" r="r" b="b"/>
              <a:pathLst>
                <a:path w="4326255" h="1941195">
                  <a:moveTo>
                    <a:pt x="0" y="649084"/>
                  </a:moveTo>
                  <a:lnTo>
                    <a:pt x="798" y="637016"/>
                  </a:lnTo>
                  <a:lnTo>
                    <a:pt x="3149" y="625186"/>
                  </a:lnTo>
                  <a:lnTo>
                    <a:pt x="27047" y="583555"/>
                  </a:lnTo>
                  <a:lnTo>
                    <a:pt x="68667" y="559712"/>
                  </a:lnTo>
                  <a:lnTo>
                    <a:pt x="92519" y="556564"/>
                  </a:lnTo>
                  <a:lnTo>
                    <a:pt x="1059116" y="556564"/>
                  </a:lnTo>
                  <a:lnTo>
                    <a:pt x="1105560" y="568794"/>
                  </a:lnTo>
                  <a:lnTo>
                    <a:pt x="1139393" y="602995"/>
                  </a:lnTo>
                  <a:lnTo>
                    <a:pt x="1151636" y="649084"/>
                  </a:lnTo>
                  <a:lnTo>
                    <a:pt x="1152004" y="1019162"/>
                  </a:lnTo>
                  <a:lnTo>
                    <a:pt x="1151204" y="1031225"/>
                  </a:lnTo>
                  <a:lnTo>
                    <a:pt x="1148849" y="1043055"/>
                  </a:lnTo>
                  <a:lnTo>
                    <a:pt x="1124956" y="1084680"/>
                  </a:lnTo>
                  <a:lnTo>
                    <a:pt x="1083327" y="1108532"/>
                  </a:lnTo>
                  <a:lnTo>
                    <a:pt x="92519" y="1112037"/>
                  </a:lnTo>
                  <a:lnTo>
                    <a:pt x="80451" y="1111238"/>
                  </a:lnTo>
                  <a:lnTo>
                    <a:pt x="36033" y="1092982"/>
                  </a:lnTo>
                  <a:lnTo>
                    <a:pt x="6986" y="1054758"/>
                  </a:lnTo>
                  <a:lnTo>
                    <a:pt x="0" y="1019517"/>
                  </a:lnTo>
                  <a:lnTo>
                    <a:pt x="0" y="649084"/>
                  </a:lnTo>
                  <a:close/>
                </a:path>
                <a:path w="4326255" h="1941195">
                  <a:moveTo>
                    <a:pt x="3173755" y="92519"/>
                  </a:moveTo>
                  <a:lnTo>
                    <a:pt x="3174553" y="80451"/>
                  </a:lnTo>
                  <a:lnTo>
                    <a:pt x="3176905" y="68621"/>
                  </a:lnTo>
                  <a:lnTo>
                    <a:pt x="3200803" y="27001"/>
                  </a:lnTo>
                  <a:lnTo>
                    <a:pt x="3242427" y="3149"/>
                  </a:lnTo>
                  <a:lnTo>
                    <a:pt x="3266274" y="0"/>
                  </a:lnTo>
                  <a:lnTo>
                    <a:pt x="4232884" y="0"/>
                  </a:lnTo>
                  <a:lnTo>
                    <a:pt x="4279315" y="12242"/>
                  </a:lnTo>
                  <a:lnTo>
                    <a:pt x="4313161" y="46443"/>
                  </a:lnTo>
                  <a:lnTo>
                    <a:pt x="4325404" y="92519"/>
                  </a:lnTo>
                  <a:lnTo>
                    <a:pt x="4325759" y="462597"/>
                  </a:lnTo>
                  <a:lnTo>
                    <a:pt x="4324961" y="474665"/>
                  </a:lnTo>
                  <a:lnTo>
                    <a:pt x="4322610" y="486495"/>
                  </a:lnTo>
                  <a:lnTo>
                    <a:pt x="4298711" y="528119"/>
                  </a:lnTo>
                  <a:lnTo>
                    <a:pt x="4257087" y="551967"/>
                  </a:lnTo>
                  <a:lnTo>
                    <a:pt x="3266274" y="555485"/>
                  </a:lnTo>
                  <a:lnTo>
                    <a:pt x="3254212" y="554685"/>
                  </a:lnTo>
                  <a:lnTo>
                    <a:pt x="3209794" y="536430"/>
                  </a:lnTo>
                  <a:lnTo>
                    <a:pt x="3180741" y="498193"/>
                  </a:lnTo>
                  <a:lnTo>
                    <a:pt x="3173755" y="462965"/>
                  </a:lnTo>
                  <a:lnTo>
                    <a:pt x="3173755" y="92519"/>
                  </a:lnTo>
                  <a:close/>
                </a:path>
                <a:path w="4326255" h="1941195">
                  <a:moveTo>
                    <a:pt x="3173755" y="1477797"/>
                  </a:moveTo>
                  <a:lnTo>
                    <a:pt x="3174553" y="1465734"/>
                  </a:lnTo>
                  <a:lnTo>
                    <a:pt x="3176905" y="1453905"/>
                  </a:lnTo>
                  <a:lnTo>
                    <a:pt x="3200803" y="1412281"/>
                  </a:lnTo>
                  <a:lnTo>
                    <a:pt x="3242427" y="1388427"/>
                  </a:lnTo>
                  <a:lnTo>
                    <a:pt x="3266274" y="1385277"/>
                  </a:lnTo>
                  <a:lnTo>
                    <a:pt x="4232884" y="1385277"/>
                  </a:lnTo>
                  <a:lnTo>
                    <a:pt x="4279315" y="1397520"/>
                  </a:lnTo>
                  <a:lnTo>
                    <a:pt x="4313161" y="1431721"/>
                  </a:lnTo>
                  <a:lnTo>
                    <a:pt x="4325404" y="1477797"/>
                  </a:lnTo>
                  <a:lnTo>
                    <a:pt x="4325759" y="1847875"/>
                  </a:lnTo>
                  <a:lnTo>
                    <a:pt x="4324961" y="1859943"/>
                  </a:lnTo>
                  <a:lnTo>
                    <a:pt x="4322610" y="1871773"/>
                  </a:lnTo>
                  <a:lnTo>
                    <a:pt x="4298711" y="1913404"/>
                  </a:lnTo>
                  <a:lnTo>
                    <a:pt x="4257087" y="1937246"/>
                  </a:lnTo>
                  <a:lnTo>
                    <a:pt x="3266274" y="1940763"/>
                  </a:lnTo>
                  <a:lnTo>
                    <a:pt x="3254212" y="1939964"/>
                  </a:lnTo>
                  <a:lnTo>
                    <a:pt x="3209794" y="1921708"/>
                  </a:lnTo>
                  <a:lnTo>
                    <a:pt x="3180741" y="1883476"/>
                  </a:lnTo>
                  <a:lnTo>
                    <a:pt x="3173755" y="1848243"/>
                  </a:lnTo>
                  <a:lnTo>
                    <a:pt x="3173755" y="1477797"/>
                  </a:lnTo>
                  <a:close/>
                </a:path>
                <a:path w="4326255" h="1941195">
                  <a:moveTo>
                    <a:pt x="1948319" y="829805"/>
                  </a:moveTo>
                  <a:lnTo>
                    <a:pt x="1950002" y="804009"/>
                  </a:lnTo>
                  <a:lnTo>
                    <a:pt x="1955026" y="778722"/>
                  </a:lnTo>
                  <a:lnTo>
                    <a:pt x="1974964" y="731164"/>
                  </a:lnTo>
                  <a:lnTo>
                    <a:pt x="2006411" y="690124"/>
                  </a:lnTo>
                  <a:lnTo>
                    <a:pt x="2047316" y="658799"/>
                  </a:lnTo>
                  <a:lnTo>
                    <a:pt x="2095241" y="639179"/>
                  </a:lnTo>
                  <a:lnTo>
                    <a:pt x="2146681" y="632523"/>
                  </a:lnTo>
                  <a:lnTo>
                    <a:pt x="2197798" y="639179"/>
                  </a:lnTo>
                  <a:lnTo>
                    <a:pt x="2245677" y="658799"/>
                  </a:lnTo>
                  <a:lnTo>
                    <a:pt x="2286584" y="690124"/>
                  </a:lnTo>
                  <a:lnTo>
                    <a:pt x="2318042" y="731164"/>
                  </a:lnTo>
                  <a:lnTo>
                    <a:pt x="2337973" y="778722"/>
                  </a:lnTo>
                  <a:lnTo>
                    <a:pt x="2344673" y="829805"/>
                  </a:lnTo>
                  <a:lnTo>
                    <a:pt x="2337973" y="880878"/>
                  </a:lnTo>
                  <a:lnTo>
                    <a:pt x="2318042" y="928446"/>
                  </a:lnTo>
                  <a:lnTo>
                    <a:pt x="2286584" y="969484"/>
                  </a:lnTo>
                  <a:lnTo>
                    <a:pt x="2245677" y="1000798"/>
                  </a:lnTo>
                  <a:lnTo>
                    <a:pt x="2197798" y="1020602"/>
                  </a:lnTo>
                  <a:lnTo>
                    <a:pt x="2146681" y="1027442"/>
                  </a:lnTo>
                  <a:lnTo>
                    <a:pt x="2095241" y="1020602"/>
                  </a:lnTo>
                  <a:lnTo>
                    <a:pt x="2047316" y="1000798"/>
                  </a:lnTo>
                  <a:lnTo>
                    <a:pt x="2006411" y="969484"/>
                  </a:lnTo>
                  <a:lnTo>
                    <a:pt x="1974964" y="928446"/>
                  </a:lnTo>
                  <a:lnTo>
                    <a:pt x="1955026" y="880878"/>
                  </a:lnTo>
                  <a:lnTo>
                    <a:pt x="1950002" y="855594"/>
                  </a:lnTo>
                  <a:lnTo>
                    <a:pt x="1948319" y="829805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14205" y="4570920"/>
              <a:ext cx="725805" cy="4445"/>
            </a:xfrm>
            <a:custGeom>
              <a:avLst/>
              <a:gdLst/>
              <a:ahLst/>
              <a:cxnLst/>
              <a:rect l="l" t="t" r="r" b="b"/>
              <a:pathLst>
                <a:path w="725804" h="4445">
                  <a:moveTo>
                    <a:pt x="0" y="3962"/>
                  </a:moveTo>
                  <a:lnTo>
                    <a:pt x="7257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34562" y="45331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23" y="75590"/>
                  </a:lnTo>
                  <a:lnTo>
                    <a:pt x="75958" y="374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48556" y="4048201"/>
              <a:ext cx="824230" cy="382905"/>
            </a:xfrm>
            <a:custGeom>
              <a:avLst/>
              <a:gdLst/>
              <a:ahLst/>
              <a:cxnLst/>
              <a:rect l="l" t="t" r="r" b="b"/>
              <a:pathLst>
                <a:path w="824229" h="382904">
                  <a:moveTo>
                    <a:pt x="0" y="382676"/>
                  </a:moveTo>
                  <a:lnTo>
                    <a:pt x="8236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51717" y="4015803"/>
              <a:ext cx="85090" cy="69215"/>
            </a:xfrm>
            <a:custGeom>
              <a:avLst/>
              <a:gdLst/>
              <a:ahLst/>
              <a:cxnLst/>
              <a:rect l="l" t="t" r="r" b="b"/>
              <a:pathLst>
                <a:path w="85089" h="69214">
                  <a:moveTo>
                    <a:pt x="0" y="0"/>
                  </a:moveTo>
                  <a:lnTo>
                    <a:pt x="32042" y="68757"/>
                  </a:lnTo>
                  <a:lnTo>
                    <a:pt x="84607" y="25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48556" y="4710239"/>
              <a:ext cx="832485" cy="650240"/>
            </a:xfrm>
            <a:custGeom>
              <a:avLst/>
              <a:gdLst/>
              <a:ahLst/>
              <a:cxnLst/>
              <a:rect l="l" t="t" r="r" b="b"/>
              <a:pathLst>
                <a:path w="832485" h="650239">
                  <a:moveTo>
                    <a:pt x="0" y="0"/>
                  </a:moveTo>
                  <a:lnTo>
                    <a:pt x="832319" y="6497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53520" y="5327281"/>
              <a:ext cx="83185" cy="76835"/>
            </a:xfrm>
            <a:custGeom>
              <a:avLst/>
              <a:gdLst/>
              <a:ahLst/>
              <a:cxnLst/>
              <a:rect l="l" t="t" r="r" b="b"/>
              <a:pathLst>
                <a:path w="83185" h="76835">
                  <a:moveTo>
                    <a:pt x="46443" y="0"/>
                  </a:moveTo>
                  <a:lnTo>
                    <a:pt x="0" y="59397"/>
                  </a:lnTo>
                  <a:lnTo>
                    <a:pt x="82804" y="76314"/>
                  </a:lnTo>
                  <a:lnTo>
                    <a:pt x="464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14049" y="3833901"/>
            <a:ext cx="1072515" cy="887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10" dirty="0">
                <a:latin typeface="Arial"/>
                <a:cs typeface="Arial"/>
              </a:rPr>
              <a:t>anzahl</a:t>
            </a:r>
            <a:r>
              <a:rPr spc="-85" dirty="0">
                <a:latin typeface="Arial"/>
                <a:cs typeface="Arial"/>
              </a:rPr>
              <a:t> </a:t>
            </a:r>
            <a:r>
              <a:rPr spc="-165" dirty="0">
                <a:latin typeface="Arial"/>
                <a:cs typeface="Arial"/>
              </a:rPr>
              <a:t>&lt;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10</a:t>
            </a:r>
            <a:endParaRPr>
              <a:latin typeface="Arial"/>
              <a:cs typeface="Arial"/>
            </a:endParaRPr>
          </a:p>
          <a:p>
            <a:pPr>
              <a:spcBef>
                <a:spcPts val="390"/>
              </a:spcBef>
            </a:pPr>
            <a:endParaRPr>
              <a:latin typeface="Arial"/>
              <a:cs typeface="Arial"/>
            </a:endParaRPr>
          </a:p>
          <a:p>
            <a:pPr marL="274320"/>
            <a:r>
              <a:rPr spc="-405" dirty="0">
                <a:latin typeface="Arial"/>
                <a:cs typeface="Arial"/>
              </a:rPr>
              <a:t>C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51</a:t>
            </a:fld>
            <a:endParaRPr spc="-2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6498" y="614998"/>
            <a:ext cx="323550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140" dirty="0"/>
              <a:t>Timer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2004250" y="1695366"/>
            <a:ext cx="5502910" cy="141160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68935" indent="-342900">
              <a:spcBef>
                <a:spcPts val="53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68935" algn="l"/>
              </a:tabLst>
            </a:pPr>
            <a:r>
              <a:rPr sz="2400" spc="-105" dirty="0">
                <a:latin typeface="Arial"/>
                <a:cs typeface="Arial"/>
              </a:rPr>
              <a:t>Zeit </a:t>
            </a:r>
            <a:r>
              <a:rPr sz="2400" dirty="0">
                <a:latin typeface="Arial"/>
                <a:cs typeface="Arial"/>
              </a:rPr>
              <a:t>für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eingebettete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Systeme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sehr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wichtig</a:t>
            </a:r>
            <a:endParaRPr sz="2400" dirty="0">
              <a:latin typeface="Arial"/>
              <a:cs typeface="Arial"/>
            </a:endParaRPr>
          </a:p>
          <a:p>
            <a:pPr marL="368935" indent="-342900">
              <a:spcBef>
                <a:spcPts val="71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68935" algn="l"/>
              </a:tabLst>
            </a:pPr>
            <a:r>
              <a:rPr sz="2400" spc="-110" dirty="0">
                <a:latin typeface="Arial"/>
                <a:cs typeface="Arial"/>
              </a:rPr>
              <a:t>Timer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Timeout-</a:t>
            </a:r>
            <a:r>
              <a:rPr sz="2400" spc="-10" dirty="0">
                <a:latin typeface="Arial"/>
                <a:cs typeface="Arial"/>
              </a:rPr>
              <a:t>Events:</a:t>
            </a:r>
            <a:endParaRPr sz="2400" dirty="0">
              <a:latin typeface="Arial"/>
              <a:cs typeface="Arial"/>
            </a:endParaRPr>
          </a:p>
          <a:p>
            <a:pPr marL="952500">
              <a:spcBef>
                <a:spcPts val="650"/>
              </a:spcBef>
              <a:buClr>
                <a:schemeClr val="tx1"/>
              </a:buClr>
            </a:pPr>
            <a:r>
              <a:rPr sz="2800" i="1" spc="-55" dirty="0">
                <a:latin typeface="Arial"/>
                <a:cs typeface="Arial"/>
              </a:rPr>
              <a:t>timeout</a:t>
            </a:r>
            <a:r>
              <a:rPr sz="2800" i="1" spc="-11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(</a:t>
            </a:r>
            <a:r>
              <a:rPr sz="2800" i="1" spc="-125" dirty="0">
                <a:latin typeface="Arial"/>
                <a:cs typeface="Arial"/>
              </a:rPr>
              <a:t>event</a:t>
            </a:r>
            <a:r>
              <a:rPr sz="2800" spc="-125" dirty="0">
                <a:latin typeface="Arial"/>
                <a:cs typeface="Arial"/>
              </a:rPr>
              <a:t>,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i="1" spc="-10" dirty="0">
                <a:latin typeface="Arial"/>
                <a:cs typeface="Arial"/>
              </a:rPr>
              <a:t>number</a:t>
            </a:r>
            <a:r>
              <a:rPr sz="2800" spc="-10" dirty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21995" y="3615843"/>
            <a:ext cx="1079500" cy="719455"/>
          </a:xfrm>
          <a:custGeom>
            <a:avLst/>
            <a:gdLst/>
            <a:ahLst/>
            <a:cxnLst/>
            <a:rect l="l" t="t" r="r" b="b"/>
            <a:pathLst>
              <a:path w="1079500" h="719454">
                <a:moveTo>
                  <a:pt x="355" y="119875"/>
                </a:moveTo>
                <a:lnTo>
                  <a:pt x="1367" y="104261"/>
                </a:lnTo>
                <a:lnTo>
                  <a:pt x="4405" y="88917"/>
                </a:lnTo>
                <a:lnTo>
                  <a:pt x="25238" y="46978"/>
                </a:lnTo>
                <a:lnTo>
                  <a:pt x="60109" y="16192"/>
                </a:lnTo>
                <a:lnTo>
                  <a:pt x="104461" y="1062"/>
                </a:lnTo>
                <a:lnTo>
                  <a:pt x="120230" y="0"/>
                </a:lnTo>
                <a:lnTo>
                  <a:pt x="959396" y="355"/>
                </a:lnTo>
                <a:lnTo>
                  <a:pt x="975010" y="1367"/>
                </a:lnTo>
                <a:lnTo>
                  <a:pt x="1019149" y="16560"/>
                </a:lnTo>
                <a:lnTo>
                  <a:pt x="1054393" y="47186"/>
                </a:lnTo>
                <a:lnTo>
                  <a:pt x="1075089" y="89096"/>
                </a:lnTo>
                <a:lnTo>
                  <a:pt x="1079271" y="120243"/>
                </a:lnTo>
                <a:lnTo>
                  <a:pt x="1079271" y="599401"/>
                </a:lnTo>
                <a:lnTo>
                  <a:pt x="1078259" y="615015"/>
                </a:lnTo>
                <a:lnTo>
                  <a:pt x="1075223" y="630359"/>
                </a:lnTo>
                <a:lnTo>
                  <a:pt x="1054399" y="672296"/>
                </a:lnTo>
                <a:lnTo>
                  <a:pt x="1019517" y="703072"/>
                </a:lnTo>
                <a:lnTo>
                  <a:pt x="975165" y="718213"/>
                </a:lnTo>
                <a:lnTo>
                  <a:pt x="959396" y="719277"/>
                </a:lnTo>
                <a:lnTo>
                  <a:pt x="119875" y="719277"/>
                </a:lnTo>
                <a:lnTo>
                  <a:pt x="74108" y="710163"/>
                </a:lnTo>
                <a:lnTo>
                  <a:pt x="35183" y="684131"/>
                </a:lnTo>
                <a:lnTo>
                  <a:pt x="9258" y="645368"/>
                </a:lnTo>
                <a:lnTo>
                  <a:pt x="0" y="599401"/>
                </a:lnTo>
                <a:lnTo>
                  <a:pt x="355" y="119875"/>
                </a:lnTo>
                <a:close/>
              </a:path>
            </a:pathLst>
          </a:custGeom>
          <a:ln w="125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89534" y="3825620"/>
            <a:ext cx="144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30" dirty="0">
                <a:latin typeface="Arial"/>
                <a:cs typeface="Arial"/>
              </a:rPr>
              <a:t>X</a:t>
            </a:r>
            <a:endParaRPr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95279" y="3494647"/>
            <a:ext cx="1380490" cy="851535"/>
            <a:chOff x="2764929" y="3494646"/>
            <a:chExt cx="1380490" cy="851535"/>
          </a:xfrm>
        </p:grpSpPr>
        <p:sp>
          <p:nvSpPr>
            <p:cNvPr id="7" name="object 7"/>
            <p:cNvSpPr/>
            <p:nvPr/>
          </p:nvSpPr>
          <p:spPr>
            <a:xfrm>
              <a:off x="2771279" y="3620516"/>
              <a:ext cx="1367790" cy="719455"/>
            </a:xfrm>
            <a:custGeom>
              <a:avLst/>
              <a:gdLst/>
              <a:ahLst/>
              <a:cxnLst/>
              <a:rect l="l" t="t" r="r" b="b"/>
              <a:pathLst>
                <a:path w="1367789" h="719454">
                  <a:moveTo>
                    <a:pt x="355" y="119887"/>
                  </a:moveTo>
                  <a:lnTo>
                    <a:pt x="1369" y="104271"/>
                  </a:lnTo>
                  <a:lnTo>
                    <a:pt x="4410" y="88923"/>
                  </a:lnTo>
                  <a:lnTo>
                    <a:pt x="25240" y="46985"/>
                  </a:lnTo>
                  <a:lnTo>
                    <a:pt x="60121" y="16205"/>
                  </a:lnTo>
                  <a:lnTo>
                    <a:pt x="104468" y="1064"/>
                  </a:lnTo>
                  <a:lnTo>
                    <a:pt x="120243" y="0"/>
                  </a:lnTo>
                  <a:lnTo>
                    <a:pt x="1247393" y="368"/>
                  </a:lnTo>
                  <a:lnTo>
                    <a:pt x="1263015" y="1380"/>
                  </a:lnTo>
                  <a:lnTo>
                    <a:pt x="1307160" y="16560"/>
                  </a:lnTo>
                  <a:lnTo>
                    <a:pt x="1342393" y="47191"/>
                  </a:lnTo>
                  <a:lnTo>
                    <a:pt x="1363094" y="89106"/>
                  </a:lnTo>
                  <a:lnTo>
                    <a:pt x="1367281" y="120243"/>
                  </a:lnTo>
                  <a:lnTo>
                    <a:pt x="1367281" y="599401"/>
                  </a:lnTo>
                  <a:lnTo>
                    <a:pt x="1366269" y="615016"/>
                  </a:lnTo>
                  <a:lnTo>
                    <a:pt x="1363232" y="630361"/>
                  </a:lnTo>
                  <a:lnTo>
                    <a:pt x="1342398" y="672304"/>
                  </a:lnTo>
                  <a:lnTo>
                    <a:pt x="1307515" y="703084"/>
                  </a:lnTo>
                  <a:lnTo>
                    <a:pt x="1263170" y="718225"/>
                  </a:lnTo>
                  <a:lnTo>
                    <a:pt x="1247393" y="719289"/>
                  </a:lnTo>
                  <a:lnTo>
                    <a:pt x="119875" y="719289"/>
                  </a:lnTo>
                  <a:lnTo>
                    <a:pt x="74114" y="710170"/>
                  </a:lnTo>
                  <a:lnTo>
                    <a:pt x="35191" y="684137"/>
                  </a:lnTo>
                  <a:lnTo>
                    <a:pt x="9269" y="645370"/>
                  </a:lnTo>
                  <a:lnTo>
                    <a:pt x="0" y="599401"/>
                  </a:lnTo>
                  <a:lnTo>
                    <a:pt x="355" y="119887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87725" y="3517557"/>
              <a:ext cx="304800" cy="142875"/>
            </a:xfrm>
            <a:custGeom>
              <a:avLst/>
              <a:gdLst/>
              <a:ahLst/>
              <a:cxnLst/>
              <a:rect l="l" t="t" r="r" b="b"/>
              <a:pathLst>
                <a:path w="304800" h="142875">
                  <a:moveTo>
                    <a:pt x="304558" y="0"/>
                  </a:moveTo>
                  <a:lnTo>
                    <a:pt x="0" y="0"/>
                  </a:lnTo>
                  <a:lnTo>
                    <a:pt x="0" y="142557"/>
                  </a:lnTo>
                  <a:lnTo>
                    <a:pt x="152273" y="142557"/>
                  </a:lnTo>
                  <a:lnTo>
                    <a:pt x="304558" y="142557"/>
                  </a:lnTo>
                  <a:lnTo>
                    <a:pt x="3045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87725" y="3517557"/>
              <a:ext cx="304800" cy="142875"/>
            </a:xfrm>
            <a:custGeom>
              <a:avLst/>
              <a:gdLst/>
              <a:ahLst/>
              <a:cxnLst/>
              <a:rect l="l" t="t" r="r" b="b"/>
              <a:pathLst>
                <a:path w="304800" h="142875">
                  <a:moveTo>
                    <a:pt x="152273" y="142557"/>
                  </a:moveTo>
                  <a:lnTo>
                    <a:pt x="0" y="142557"/>
                  </a:lnTo>
                  <a:lnTo>
                    <a:pt x="0" y="0"/>
                  </a:lnTo>
                  <a:lnTo>
                    <a:pt x="304558" y="0"/>
                  </a:lnTo>
                  <a:lnTo>
                    <a:pt x="304558" y="142557"/>
                  </a:lnTo>
                  <a:lnTo>
                    <a:pt x="152273" y="142557"/>
                  </a:lnTo>
                  <a:close/>
                </a:path>
              </a:pathLst>
            </a:custGeom>
            <a:ln w="125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59645" y="3500996"/>
              <a:ext cx="353695" cy="213360"/>
            </a:xfrm>
            <a:custGeom>
              <a:avLst/>
              <a:gdLst/>
              <a:ahLst/>
              <a:cxnLst/>
              <a:rect l="l" t="t" r="r" b="b"/>
              <a:pathLst>
                <a:path w="353695" h="213360">
                  <a:moveTo>
                    <a:pt x="0" y="111607"/>
                  </a:moveTo>
                  <a:lnTo>
                    <a:pt x="55791" y="0"/>
                  </a:lnTo>
                  <a:lnTo>
                    <a:pt x="92875" y="207365"/>
                  </a:lnTo>
                  <a:lnTo>
                    <a:pt x="167398" y="0"/>
                  </a:lnTo>
                  <a:lnTo>
                    <a:pt x="195110" y="212763"/>
                  </a:lnTo>
                  <a:lnTo>
                    <a:pt x="269633" y="0"/>
                  </a:lnTo>
                  <a:lnTo>
                    <a:pt x="306717" y="212763"/>
                  </a:lnTo>
                  <a:lnTo>
                    <a:pt x="353517" y="100799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23295" y="3684142"/>
            <a:ext cx="464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>
                <a:latin typeface="Arial"/>
                <a:cs typeface="Arial"/>
              </a:rPr>
              <a:t>2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110" dirty="0">
                <a:latin typeface="Arial"/>
                <a:cs typeface="Arial"/>
              </a:rPr>
              <a:t>ms</a:t>
            </a:r>
            <a:endParaRPr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60618" y="3931565"/>
            <a:ext cx="1162050" cy="88265"/>
            <a:chOff x="4130268" y="3931564"/>
            <a:chExt cx="1162050" cy="88265"/>
          </a:xfrm>
        </p:grpSpPr>
        <p:sp>
          <p:nvSpPr>
            <p:cNvPr id="13" name="object 13"/>
            <p:cNvSpPr/>
            <p:nvPr/>
          </p:nvSpPr>
          <p:spPr>
            <a:xfrm>
              <a:off x="4138205" y="3975836"/>
              <a:ext cx="1071880" cy="4445"/>
            </a:xfrm>
            <a:custGeom>
              <a:avLst/>
              <a:gdLst/>
              <a:ahLst/>
              <a:cxnLst/>
              <a:rect l="l" t="t" r="r" b="b"/>
              <a:pathLst>
                <a:path w="1071879" h="4445">
                  <a:moveTo>
                    <a:pt x="0" y="4318"/>
                  </a:moveTo>
                  <a:lnTo>
                    <a:pt x="1071359" y="0"/>
                  </a:lnTo>
                </a:path>
              </a:pathLst>
            </a:custGeom>
            <a:ln w="158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3799" y="3931564"/>
              <a:ext cx="88201" cy="8820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891644" y="3684142"/>
            <a:ext cx="767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timeout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21995" y="4581005"/>
            <a:ext cx="1079500" cy="719455"/>
          </a:xfrm>
          <a:custGeom>
            <a:avLst/>
            <a:gdLst/>
            <a:ahLst/>
            <a:cxnLst/>
            <a:rect l="l" t="t" r="r" b="b"/>
            <a:pathLst>
              <a:path w="1079500" h="719454">
                <a:moveTo>
                  <a:pt x="355" y="119875"/>
                </a:moveTo>
                <a:lnTo>
                  <a:pt x="1367" y="104261"/>
                </a:lnTo>
                <a:lnTo>
                  <a:pt x="4405" y="88917"/>
                </a:lnTo>
                <a:lnTo>
                  <a:pt x="25238" y="46978"/>
                </a:lnTo>
                <a:lnTo>
                  <a:pt x="60109" y="16192"/>
                </a:lnTo>
                <a:lnTo>
                  <a:pt x="104461" y="1062"/>
                </a:lnTo>
                <a:lnTo>
                  <a:pt x="120230" y="0"/>
                </a:lnTo>
                <a:lnTo>
                  <a:pt x="959396" y="355"/>
                </a:lnTo>
                <a:lnTo>
                  <a:pt x="975010" y="1367"/>
                </a:lnTo>
                <a:lnTo>
                  <a:pt x="1019149" y="16560"/>
                </a:lnTo>
                <a:lnTo>
                  <a:pt x="1054393" y="47186"/>
                </a:lnTo>
                <a:lnTo>
                  <a:pt x="1075089" y="89095"/>
                </a:lnTo>
                <a:lnTo>
                  <a:pt x="1079271" y="120230"/>
                </a:lnTo>
                <a:lnTo>
                  <a:pt x="1079271" y="599401"/>
                </a:lnTo>
                <a:lnTo>
                  <a:pt x="1078259" y="615015"/>
                </a:lnTo>
                <a:lnTo>
                  <a:pt x="1075223" y="630359"/>
                </a:lnTo>
                <a:lnTo>
                  <a:pt x="1054399" y="672296"/>
                </a:lnTo>
                <a:lnTo>
                  <a:pt x="1019517" y="703072"/>
                </a:lnTo>
                <a:lnTo>
                  <a:pt x="975165" y="718213"/>
                </a:lnTo>
                <a:lnTo>
                  <a:pt x="959396" y="719277"/>
                </a:lnTo>
                <a:lnTo>
                  <a:pt x="119875" y="719277"/>
                </a:lnTo>
                <a:lnTo>
                  <a:pt x="74108" y="710163"/>
                </a:lnTo>
                <a:lnTo>
                  <a:pt x="35183" y="684129"/>
                </a:lnTo>
                <a:lnTo>
                  <a:pt x="9258" y="645363"/>
                </a:lnTo>
                <a:lnTo>
                  <a:pt x="0" y="599401"/>
                </a:lnTo>
                <a:lnTo>
                  <a:pt x="355" y="119875"/>
                </a:lnTo>
                <a:close/>
              </a:path>
            </a:pathLst>
          </a:custGeom>
          <a:ln w="125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93495" y="4790782"/>
            <a:ext cx="137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75" dirty="0">
                <a:latin typeface="Arial"/>
                <a:cs typeface="Arial"/>
              </a:rPr>
              <a:t>Y</a:t>
            </a:r>
            <a:endParaRPr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660636" y="3972234"/>
            <a:ext cx="1162050" cy="969010"/>
            <a:chOff x="4130286" y="3972234"/>
            <a:chExt cx="1162050" cy="969010"/>
          </a:xfrm>
        </p:grpSpPr>
        <p:sp>
          <p:nvSpPr>
            <p:cNvPr id="19" name="object 19"/>
            <p:cNvSpPr/>
            <p:nvPr/>
          </p:nvSpPr>
          <p:spPr>
            <a:xfrm>
              <a:off x="4138206" y="3980154"/>
              <a:ext cx="1090930" cy="908050"/>
            </a:xfrm>
            <a:custGeom>
              <a:avLst/>
              <a:gdLst/>
              <a:ahLst/>
              <a:cxnLst/>
              <a:rect l="l" t="t" r="r" b="b"/>
              <a:pathLst>
                <a:path w="1090929" h="908050">
                  <a:moveTo>
                    <a:pt x="0" y="0"/>
                  </a:moveTo>
                  <a:lnTo>
                    <a:pt x="1090434" y="907922"/>
                  </a:lnTo>
                </a:path>
              </a:pathLst>
            </a:custGeom>
            <a:ln w="158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3799" y="4858194"/>
              <a:ext cx="88201" cy="8244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963654" y="4324934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5" dirty="0">
                <a:latin typeface="Arial"/>
                <a:cs typeface="Arial"/>
              </a:rPr>
              <a:t>a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52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1925625" y="4797007"/>
            <a:ext cx="3527425" cy="934719"/>
          </a:xfrm>
          <a:prstGeom prst="rect">
            <a:avLst/>
          </a:prstGeom>
          <a:ln w="12599">
            <a:noFill/>
          </a:ln>
        </p:spPr>
        <p:txBody>
          <a:bodyPr vert="horz" wrap="square" lIns="0" tIns="10160" rIns="0" bIns="0" rtlCol="0">
            <a:spAutoFit/>
          </a:bodyPr>
          <a:lstStyle/>
          <a:p>
            <a:pPr marL="89535" marR="334645" algn="just">
              <a:spcBef>
                <a:spcPts val="80"/>
              </a:spcBef>
            </a:pPr>
            <a:r>
              <a:rPr sz="2000" spc="-114" dirty="0">
                <a:latin typeface="Arial"/>
                <a:cs typeface="Arial"/>
              </a:rPr>
              <a:t>Wenn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i="1" spc="-90" dirty="0">
                <a:latin typeface="Arial"/>
                <a:cs typeface="Arial"/>
              </a:rPr>
              <a:t>a</a:t>
            </a:r>
            <a:r>
              <a:rPr sz="2000" i="1" spc="-10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nicht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innerhalb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von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i="1" spc="-105" dirty="0">
                <a:latin typeface="Arial"/>
                <a:cs typeface="Arial"/>
              </a:rPr>
              <a:t>2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spc="-165" dirty="0">
                <a:latin typeface="Arial"/>
                <a:cs typeface="Arial"/>
              </a:rPr>
              <a:t>ms</a:t>
            </a:r>
            <a:r>
              <a:rPr sz="2000" i="1" spc="-10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eintritt,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wird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die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Transition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zu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i="1" spc="-310" dirty="0">
                <a:latin typeface="Arial"/>
                <a:cs typeface="Arial"/>
              </a:rPr>
              <a:t>X</a:t>
            </a:r>
            <a:r>
              <a:rPr sz="2000" i="1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genommen.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8243" y="517319"/>
            <a:ext cx="406398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85" dirty="0"/>
              <a:t>Entry-</a:t>
            </a:r>
            <a:r>
              <a:rPr spc="-120" dirty="0"/>
              <a:t>,</a:t>
            </a:r>
            <a:r>
              <a:rPr spc="-170" dirty="0"/>
              <a:t> </a:t>
            </a:r>
            <a:r>
              <a:rPr spc="-210" dirty="0"/>
              <a:t>Exit-</a:t>
            </a:r>
            <a:r>
              <a:rPr spc="-130" dirty="0"/>
              <a:t>,</a:t>
            </a:r>
            <a:r>
              <a:rPr spc="-170" dirty="0"/>
              <a:t> </a:t>
            </a:r>
            <a:r>
              <a:rPr spc="-150" dirty="0"/>
              <a:t>Throughout</a:t>
            </a:r>
            <a:r>
              <a:rPr spc="-170" dirty="0"/>
              <a:t> </a:t>
            </a:r>
            <a:r>
              <a:rPr spc="-125" dirty="0"/>
              <a:t>Actions</a:t>
            </a:r>
          </a:p>
        </p:txBody>
      </p:sp>
      <p:sp>
        <p:nvSpPr>
          <p:cNvPr id="3" name="object 3"/>
          <p:cNvSpPr/>
          <p:nvPr/>
        </p:nvSpPr>
        <p:spPr>
          <a:xfrm>
            <a:off x="4273551" y="2702167"/>
            <a:ext cx="3656965" cy="1708785"/>
          </a:xfrm>
          <a:custGeom>
            <a:avLst/>
            <a:gdLst/>
            <a:ahLst/>
            <a:cxnLst/>
            <a:rect l="l" t="t" r="r" b="b"/>
            <a:pathLst>
              <a:path w="3656965" h="1708785">
                <a:moveTo>
                  <a:pt x="0" y="284759"/>
                </a:moveTo>
                <a:lnTo>
                  <a:pt x="2469" y="247493"/>
                </a:lnTo>
                <a:lnTo>
                  <a:pt x="9766" y="211040"/>
                </a:lnTo>
                <a:lnTo>
                  <a:pt x="38163" y="142189"/>
                </a:lnTo>
                <a:lnTo>
                  <a:pt x="83340" y="83288"/>
                </a:lnTo>
                <a:lnTo>
                  <a:pt x="142557" y="38150"/>
                </a:lnTo>
                <a:lnTo>
                  <a:pt x="211096" y="9759"/>
                </a:lnTo>
                <a:lnTo>
                  <a:pt x="284759" y="0"/>
                </a:lnTo>
                <a:lnTo>
                  <a:pt x="3371405" y="0"/>
                </a:lnTo>
                <a:lnTo>
                  <a:pt x="3445113" y="9759"/>
                </a:lnTo>
                <a:lnTo>
                  <a:pt x="3513963" y="38150"/>
                </a:lnTo>
                <a:lnTo>
                  <a:pt x="3572864" y="83334"/>
                </a:lnTo>
                <a:lnTo>
                  <a:pt x="3618001" y="142557"/>
                </a:lnTo>
                <a:lnTo>
                  <a:pt x="3646398" y="211086"/>
                </a:lnTo>
                <a:lnTo>
                  <a:pt x="3656164" y="284759"/>
                </a:lnTo>
                <a:lnTo>
                  <a:pt x="3656520" y="1423428"/>
                </a:lnTo>
                <a:lnTo>
                  <a:pt x="3654050" y="1460694"/>
                </a:lnTo>
                <a:lnTo>
                  <a:pt x="3634799" y="1532383"/>
                </a:lnTo>
                <a:lnTo>
                  <a:pt x="3597691" y="1596983"/>
                </a:lnTo>
                <a:lnTo>
                  <a:pt x="3545158" y="1649375"/>
                </a:lnTo>
                <a:lnTo>
                  <a:pt x="3480553" y="1686478"/>
                </a:lnTo>
                <a:lnTo>
                  <a:pt x="3409014" y="1705720"/>
                </a:lnTo>
                <a:lnTo>
                  <a:pt x="284759" y="1708556"/>
                </a:lnTo>
                <a:lnTo>
                  <a:pt x="247500" y="1706086"/>
                </a:lnTo>
                <a:lnTo>
                  <a:pt x="175817" y="1686835"/>
                </a:lnTo>
                <a:lnTo>
                  <a:pt x="111211" y="1649727"/>
                </a:lnTo>
                <a:lnTo>
                  <a:pt x="58823" y="1597194"/>
                </a:lnTo>
                <a:lnTo>
                  <a:pt x="21720" y="1532589"/>
                </a:lnTo>
                <a:lnTo>
                  <a:pt x="2469" y="1461050"/>
                </a:lnTo>
                <a:lnTo>
                  <a:pt x="0" y="1423796"/>
                </a:lnTo>
                <a:lnTo>
                  <a:pt x="0" y="284759"/>
                </a:lnTo>
                <a:close/>
              </a:path>
            </a:pathLst>
          </a:custGeom>
          <a:ln w="125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46122" y="1641743"/>
            <a:ext cx="7339330" cy="230640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43535" marR="5080" indent="-342900">
              <a:lnSpc>
                <a:spcPts val="2590"/>
              </a:lnSpc>
              <a:spcBef>
                <a:spcPts val="425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241300" algn="l"/>
                <a:tab pos="343535" algn="l"/>
              </a:tabLst>
            </a:pPr>
            <a:r>
              <a:rPr sz="2400" spc="-125" dirty="0" err="1">
                <a:latin typeface="Arial"/>
                <a:cs typeface="Arial"/>
              </a:rPr>
              <a:t>Spezifizieren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Aktionen,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die</a:t>
            </a:r>
            <a:r>
              <a:rPr sz="2400" spc="-90" dirty="0">
                <a:latin typeface="Arial"/>
                <a:cs typeface="Arial"/>
              </a:rPr>
              <a:t> beim </a:t>
            </a:r>
            <a:r>
              <a:rPr sz="2400" spc="-80" dirty="0">
                <a:latin typeface="Arial"/>
                <a:cs typeface="Arial"/>
              </a:rPr>
              <a:t>Betreten,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Verlassen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oder </a:t>
            </a:r>
            <a:r>
              <a:rPr sz="2400" spc="-95" dirty="0">
                <a:latin typeface="Arial"/>
                <a:cs typeface="Arial"/>
              </a:rPr>
              <a:t>während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des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Aufenthalts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in</a:t>
            </a:r>
            <a:r>
              <a:rPr sz="2400" spc="-105" dirty="0">
                <a:latin typeface="Arial"/>
                <a:cs typeface="Arial"/>
              </a:rPr>
              <a:t> einem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Zustand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ausgeführt werden</a:t>
            </a:r>
            <a:endParaRPr sz="2400" dirty="0">
              <a:latin typeface="Arial"/>
              <a:cs typeface="Arial"/>
            </a:endParaRPr>
          </a:p>
          <a:p>
            <a:pPr marL="342900" indent="-342900">
              <a:spcBef>
                <a:spcPts val="365"/>
              </a:spcBef>
              <a:buClr>
                <a:schemeClr val="tx1"/>
              </a:buClr>
              <a:buFont typeface="Wingdings" pitchFamily="2" charset="2"/>
              <a:buChar char="§"/>
            </a:pPr>
            <a:endParaRPr sz="2400" dirty="0">
              <a:latin typeface="Arial"/>
              <a:cs typeface="Arial"/>
            </a:endParaRPr>
          </a:p>
          <a:p>
            <a:pPr marL="2496185" marR="3019425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b="1" spc="-100" dirty="0">
                <a:latin typeface="Arial"/>
                <a:cs typeface="Arial"/>
              </a:rPr>
              <a:t>entry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spc="-70" dirty="0">
                <a:latin typeface="Arial"/>
                <a:cs typeface="Arial"/>
              </a:rPr>
              <a:t>event1, </a:t>
            </a:r>
            <a:r>
              <a:rPr spc="-90" dirty="0">
                <a:latin typeface="Arial"/>
                <a:cs typeface="Arial"/>
              </a:rPr>
              <a:t>var1</a:t>
            </a:r>
            <a:r>
              <a:rPr spc="-70" dirty="0">
                <a:latin typeface="Arial"/>
                <a:cs typeface="Arial"/>
              </a:rPr>
              <a:t> </a:t>
            </a:r>
            <a:r>
              <a:rPr spc="-100" dirty="0">
                <a:latin typeface="Arial"/>
                <a:cs typeface="Arial"/>
              </a:rPr>
              <a:t>:=</a:t>
            </a:r>
            <a:r>
              <a:rPr spc="-60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0 </a:t>
            </a:r>
            <a:r>
              <a:rPr b="1" spc="-90" dirty="0">
                <a:latin typeface="Arial"/>
                <a:cs typeface="Arial"/>
              </a:rPr>
              <a:t>exit </a:t>
            </a:r>
            <a:r>
              <a:rPr spc="-10" dirty="0">
                <a:latin typeface="Arial"/>
                <a:cs typeface="Arial"/>
              </a:rPr>
              <a:t>event2 </a:t>
            </a:r>
            <a:r>
              <a:rPr b="1" spc="-125" dirty="0">
                <a:latin typeface="Arial"/>
                <a:cs typeface="Arial"/>
              </a:rPr>
              <a:t>throughout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event3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45946" y="4789080"/>
            <a:ext cx="2663190" cy="1499870"/>
          </a:xfrm>
          <a:custGeom>
            <a:avLst/>
            <a:gdLst/>
            <a:ahLst/>
            <a:cxnLst/>
            <a:rect l="l" t="t" r="r" b="b"/>
            <a:pathLst>
              <a:path w="2663190" h="1499870">
                <a:moveTo>
                  <a:pt x="368" y="198716"/>
                </a:moveTo>
                <a:lnTo>
                  <a:pt x="2048" y="172716"/>
                </a:lnTo>
                <a:lnTo>
                  <a:pt x="7069" y="147288"/>
                </a:lnTo>
                <a:lnTo>
                  <a:pt x="27000" y="99364"/>
                </a:lnTo>
                <a:lnTo>
                  <a:pt x="58502" y="58275"/>
                </a:lnTo>
                <a:lnTo>
                  <a:pt x="99720" y="26644"/>
                </a:lnTo>
                <a:lnTo>
                  <a:pt x="147645" y="6840"/>
                </a:lnTo>
                <a:lnTo>
                  <a:pt x="199085" y="0"/>
                </a:lnTo>
                <a:lnTo>
                  <a:pt x="1553400" y="355"/>
                </a:lnTo>
                <a:lnTo>
                  <a:pt x="2219045" y="355"/>
                </a:lnTo>
                <a:lnTo>
                  <a:pt x="2464206" y="355"/>
                </a:lnTo>
                <a:lnTo>
                  <a:pt x="2490206" y="2038"/>
                </a:lnTo>
                <a:lnTo>
                  <a:pt x="2515635" y="7062"/>
                </a:lnTo>
                <a:lnTo>
                  <a:pt x="2563558" y="27000"/>
                </a:lnTo>
                <a:lnTo>
                  <a:pt x="2604647" y="58502"/>
                </a:lnTo>
                <a:lnTo>
                  <a:pt x="2636278" y="99720"/>
                </a:lnTo>
                <a:lnTo>
                  <a:pt x="2656082" y="147645"/>
                </a:lnTo>
                <a:lnTo>
                  <a:pt x="2662923" y="199085"/>
                </a:lnTo>
                <a:lnTo>
                  <a:pt x="2662923" y="695159"/>
                </a:lnTo>
                <a:lnTo>
                  <a:pt x="2662923" y="993241"/>
                </a:lnTo>
                <a:lnTo>
                  <a:pt x="2661240" y="1019241"/>
                </a:lnTo>
                <a:lnTo>
                  <a:pt x="2656216" y="1044670"/>
                </a:lnTo>
                <a:lnTo>
                  <a:pt x="2636278" y="1092593"/>
                </a:lnTo>
                <a:lnTo>
                  <a:pt x="2604785" y="1133682"/>
                </a:lnTo>
                <a:lnTo>
                  <a:pt x="2563558" y="1165313"/>
                </a:lnTo>
                <a:lnTo>
                  <a:pt x="2515635" y="1185117"/>
                </a:lnTo>
                <a:lnTo>
                  <a:pt x="2464206" y="1191958"/>
                </a:lnTo>
                <a:lnTo>
                  <a:pt x="2219045" y="1191958"/>
                </a:lnTo>
                <a:lnTo>
                  <a:pt x="2565006" y="1499755"/>
                </a:lnTo>
                <a:lnTo>
                  <a:pt x="1553400" y="1191958"/>
                </a:lnTo>
                <a:lnTo>
                  <a:pt x="198729" y="1191958"/>
                </a:lnTo>
                <a:lnTo>
                  <a:pt x="147289" y="1185251"/>
                </a:lnTo>
                <a:lnTo>
                  <a:pt x="99364" y="1165313"/>
                </a:lnTo>
                <a:lnTo>
                  <a:pt x="58280" y="1133821"/>
                </a:lnTo>
                <a:lnTo>
                  <a:pt x="26644" y="1092593"/>
                </a:lnTo>
                <a:lnTo>
                  <a:pt x="6840" y="1044670"/>
                </a:lnTo>
                <a:lnTo>
                  <a:pt x="0" y="993241"/>
                </a:lnTo>
                <a:lnTo>
                  <a:pt x="368" y="993241"/>
                </a:lnTo>
                <a:lnTo>
                  <a:pt x="368" y="695159"/>
                </a:lnTo>
                <a:lnTo>
                  <a:pt x="368" y="198716"/>
                </a:lnTo>
                <a:close/>
              </a:path>
            </a:pathLst>
          </a:custGeom>
          <a:ln w="12599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94536" y="4945584"/>
            <a:ext cx="236474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sz="1400" spc="-180" dirty="0">
                <a:latin typeface="Arial"/>
                <a:cs typeface="Arial"/>
              </a:rPr>
              <a:t>Je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nach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Statechart-</a:t>
            </a:r>
            <a:r>
              <a:rPr sz="1400" spc="-55" dirty="0">
                <a:latin typeface="Arial"/>
                <a:cs typeface="Arial"/>
              </a:rPr>
              <a:t>Dialekt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wird </a:t>
            </a:r>
            <a:r>
              <a:rPr sz="1400" spc="-30" dirty="0">
                <a:latin typeface="Arial"/>
                <a:cs typeface="Arial"/>
              </a:rPr>
              <a:t>statt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b="1" spc="-90" dirty="0">
                <a:latin typeface="Arial"/>
                <a:cs typeface="Arial"/>
              </a:rPr>
              <a:t>throughout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auch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during </a:t>
            </a:r>
            <a:r>
              <a:rPr sz="1400" spc="-45" dirty="0">
                <a:latin typeface="Arial"/>
                <a:cs typeface="Arial"/>
              </a:rPr>
              <a:t>verwendet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oder</a:t>
            </a:r>
            <a:r>
              <a:rPr sz="1400" spc="-60" dirty="0">
                <a:latin typeface="Arial"/>
                <a:cs typeface="Arial"/>
              </a:rPr>
              <a:t> eine </a:t>
            </a:r>
            <a:r>
              <a:rPr sz="1400" spc="-70" dirty="0">
                <a:latin typeface="Arial"/>
                <a:cs typeface="Arial"/>
              </a:rPr>
              <a:t>Zeitangabe </a:t>
            </a:r>
            <a:r>
              <a:rPr sz="1400" spc="-35" dirty="0">
                <a:latin typeface="Arial"/>
                <a:cs typeface="Arial"/>
              </a:rPr>
              <a:t>wie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0" dirty="0">
                <a:latin typeface="Arial"/>
                <a:cs typeface="Arial"/>
              </a:rPr>
              <a:t>z.B.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spc="-100" dirty="0">
                <a:latin typeface="Arial"/>
                <a:cs typeface="Arial"/>
              </a:rPr>
              <a:t>every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75" dirty="0">
                <a:latin typeface="Arial"/>
                <a:cs typeface="Arial"/>
              </a:rPr>
              <a:t>5 </a:t>
            </a:r>
            <a:r>
              <a:rPr sz="1400" b="1" spc="-25" dirty="0">
                <a:latin typeface="Arial"/>
                <a:cs typeface="Arial"/>
              </a:rPr>
              <a:t>sec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52781" y="686895"/>
            <a:ext cx="7118076" cy="1107996"/>
          </a:xfrm>
        </p:spPr>
        <p:txBody>
          <a:bodyPr/>
          <a:lstStyle/>
          <a:p>
            <a:r>
              <a:rPr lang="de-DE" dirty="0"/>
              <a:t>Charakterisierung</a:t>
            </a:r>
            <a:r>
              <a:rPr lang="de-DE" sz="4000" dirty="0"/>
              <a:t> </a:t>
            </a:r>
            <a:r>
              <a:rPr lang="de-DE" dirty="0"/>
              <a:t>von </a:t>
            </a:r>
            <a:r>
              <a:rPr lang="de-DE" dirty="0" err="1"/>
              <a:t>Statecharts</a:t>
            </a:r>
            <a:endParaRPr lang="de-DE" dirty="0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53956" name="Text Box 4"/>
          <p:cNvSpPr txBox="1">
            <a:spLocks noChangeArrowheads="1"/>
          </p:cNvSpPr>
          <p:nvPr/>
        </p:nvSpPr>
        <p:spPr bwMode="auto">
          <a:xfrm>
            <a:off x="3199563" y="2139235"/>
            <a:ext cx="6953840" cy="353943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3200" dirty="0" err="1">
                <a:solidFill>
                  <a:srgbClr val="0000FF"/>
                </a:solidFill>
              </a:rPr>
              <a:t>Statecharts</a:t>
            </a:r>
            <a:r>
              <a:rPr lang="de-DE" sz="3200" dirty="0">
                <a:solidFill>
                  <a:srgbClr val="0000FF"/>
                </a:solidFill>
              </a:rPr>
              <a:t> = </a:t>
            </a:r>
          </a:p>
          <a:p>
            <a:endParaRPr lang="de-DE" sz="3200" dirty="0">
              <a:solidFill>
                <a:srgbClr val="0000FF"/>
              </a:solidFill>
            </a:endParaRPr>
          </a:p>
          <a:p>
            <a:r>
              <a:rPr lang="de-DE" sz="3200" dirty="0">
                <a:solidFill>
                  <a:srgbClr val="0000FF"/>
                </a:solidFill>
              </a:rPr>
              <a:t>  Zustandsautomat </a:t>
            </a:r>
          </a:p>
          <a:p>
            <a:r>
              <a:rPr lang="de-DE" sz="3200" dirty="0">
                <a:solidFill>
                  <a:srgbClr val="0000FF"/>
                </a:solidFill>
              </a:rPr>
              <a:t>  + Hierarchie </a:t>
            </a:r>
          </a:p>
          <a:p>
            <a:r>
              <a:rPr lang="de-DE" sz="3200" dirty="0">
                <a:solidFill>
                  <a:srgbClr val="0000FF"/>
                </a:solidFill>
              </a:rPr>
              <a:t>  + Orthogonalität (Unabhängigkeit)</a:t>
            </a:r>
          </a:p>
          <a:p>
            <a:r>
              <a:rPr lang="de-DE" sz="3200" dirty="0">
                <a:solidFill>
                  <a:srgbClr val="0000FF"/>
                </a:solidFill>
              </a:rPr>
              <a:t>  + Broadcast-Kommunikation</a:t>
            </a:r>
          </a:p>
          <a:p>
            <a:r>
              <a:rPr lang="de-DE" sz="3200" dirty="0">
                <a:solidFill>
                  <a:srgbClr val="0000FF"/>
                </a:solidFill>
              </a:rPr>
              <a:t>  + </a:t>
            </a:r>
            <a:r>
              <a:rPr lang="de-DE" sz="3200" dirty="0" err="1">
                <a:solidFill>
                  <a:srgbClr val="0000FF"/>
                </a:solidFill>
              </a:rPr>
              <a:t>History</a:t>
            </a:r>
            <a:endParaRPr lang="de-DE" sz="3200" dirty="0">
              <a:solidFill>
                <a:srgbClr val="0000FF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54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6652251" cy="984885"/>
          </a:xfrm>
        </p:spPr>
        <p:txBody>
          <a:bodyPr/>
          <a:lstStyle/>
          <a:p>
            <a:r>
              <a:rPr lang="de-DE" dirty="0"/>
              <a:t>Beispiel (von Harel): Digitale Uhr 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idx="1"/>
          </p:nvPr>
        </p:nvSpPr>
        <p:spPr>
          <a:xfrm>
            <a:off x="352781" y="2558542"/>
            <a:ext cx="6117030" cy="3754874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de-DE" sz="2800" dirty="0"/>
              <a:t>Funktionen: 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de-DE" sz="2400" dirty="0"/>
              <a:t>Zeitangabe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de-DE" sz="2400" dirty="0" err="1"/>
              <a:t>Stundenbeep</a:t>
            </a:r>
            <a:r>
              <a:rPr lang="de-DE" sz="2400" dirty="0"/>
              <a:t>, </a:t>
            </a:r>
            <a:r>
              <a:rPr lang="de-DE" sz="2400" dirty="0" err="1"/>
              <a:t>Beepertest</a:t>
            </a:r>
            <a:endParaRPr lang="de-DE" sz="2400" dirty="0"/>
          </a:p>
          <a:p>
            <a:pPr marL="800100" lvl="1" indent="-342900">
              <a:buFont typeface="Wingdings" pitchFamily="2" charset="2"/>
              <a:buChar char="§"/>
            </a:pPr>
            <a:r>
              <a:rPr lang="de-DE" sz="2400" dirty="0"/>
              <a:t>Zwei unabhängige Alarme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de-DE" sz="2400" dirty="0"/>
              <a:t>Stoppuhr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de-DE" sz="2400" dirty="0"/>
              <a:t>Licht, </a:t>
            </a:r>
            <a:r>
              <a:rPr lang="de-DE" sz="2400" dirty="0" err="1"/>
              <a:t>Stromschwächenanzeige</a:t>
            </a:r>
            <a:endParaRPr lang="de-DE" sz="2400" dirty="0"/>
          </a:p>
          <a:p>
            <a:pPr marL="800100" lvl="1" indent="-342900">
              <a:buFont typeface="Wingdings" pitchFamily="2" charset="2"/>
              <a:buChar char="§"/>
            </a:pPr>
            <a:endParaRPr lang="de-DE" sz="2400" dirty="0"/>
          </a:p>
          <a:p>
            <a:pPr marL="57150" lvl="1"/>
            <a:r>
              <a:rPr lang="de-DE" sz="2400" b="1" dirty="0">
                <a:solidFill>
                  <a:srgbClr val="FF0000"/>
                </a:solidFill>
              </a:rPr>
              <a:t>Zeichnen Sie ein </a:t>
            </a:r>
            <a:r>
              <a:rPr lang="de-DE" sz="2400" b="1" dirty="0" err="1">
                <a:solidFill>
                  <a:srgbClr val="FF0000"/>
                </a:solidFill>
              </a:rPr>
              <a:t>Statechart</a:t>
            </a:r>
            <a:r>
              <a:rPr lang="de-DE" sz="2400" b="1" dirty="0">
                <a:solidFill>
                  <a:srgbClr val="FF0000"/>
                </a:solidFill>
              </a:rPr>
              <a:t>, das das Verhalten </a:t>
            </a:r>
          </a:p>
          <a:p>
            <a:pPr marL="57150" lvl="1"/>
            <a:r>
              <a:rPr lang="de-DE" sz="2400" b="1" dirty="0">
                <a:solidFill>
                  <a:srgbClr val="FF0000"/>
                </a:solidFill>
              </a:rPr>
              <a:t>dieser Uhr modelliert!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478" y="1052736"/>
            <a:ext cx="3744416" cy="4675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55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322748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7394122" cy="984885"/>
          </a:xfrm>
        </p:spPr>
        <p:txBody>
          <a:bodyPr/>
          <a:lstStyle/>
          <a:p>
            <a:r>
              <a:rPr lang="de-DE" dirty="0"/>
              <a:t>Beispiel (von Harel): Top-Level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idx="1"/>
          </p:nvPr>
        </p:nvSpPr>
        <p:spPr>
          <a:xfrm>
            <a:off x="352781" y="2558543"/>
            <a:ext cx="5323205" cy="307777"/>
          </a:xfrm>
        </p:spPr>
        <p:txBody>
          <a:bodyPr/>
          <a:lstStyle/>
          <a:p>
            <a:r>
              <a:rPr lang="de-DE" sz="2000" dirty="0"/>
              <a:t>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025" y="2016125"/>
            <a:ext cx="6724650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56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1315955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565626" y="605752"/>
            <a:ext cx="8003232" cy="492443"/>
          </a:xfrm>
        </p:spPr>
        <p:txBody>
          <a:bodyPr/>
          <a:lstStyle/>
          <a:p>
            <a:r>
              <a:rPr lang="de-DE" dirty="0"/>
              <a:t>Beispiel (von Harel): Erste Verfeinerung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idx="1"/>
          </p:nvPr>
        </p:nvSpPr>
        <p:spPr>
          <a:xfrm>
            <a:off x="352781" y="2558543"/>
            <a:ext cx="5323205" cy="307777"/>
          </a:xfrm>
        </p:spPr>
        <p:txBody>
          <a:bodyPr/>
          <a:lstStyle/>
          <a:p>
            <a:r>
              <a:rPr lang="de-DE" sz="2000" dirty="0"/>
              <a:t>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157" y="1749125"/>
            <a:ext cx="8171350" cy="448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57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16091627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9625" y="590694"/>
            <a:ext cx="8003232" cy="492443"/>
          </a:xfrm>
        </p:spPr>
        <p:txBody>
          <a:bodyPr/>
          <a:lstStyle/>
          <a:p>
            <a:r>
              <a:rPr lang="de-DE" dirty="0"/>
              <a:t>Beispiel (von Harel): Zweite Verfeinerung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idx="1"/>
          </p:nvPr>
        </p:nvSpPr>
        <p:spPr>
          <a:xfrm>
            <a:off x="352781" y="2558543"/>
            <a:ext cx="5323205" cy="307777"/>
          </a:xfrm>
        </p:spPr>
        <p:txBody>
          <a:bodyPr/>
          <a:lstStyle/>
          <a:p>
            <a:r>
              <a:rPr lang="de-DE" sz="2000" dirty="0"/>
              <a:t>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782" y="1574939"/>
            <a:ext cx="10585176" cy="4833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58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1430331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586" y="365613"/>
            <a:ext cx="8723312" cy="492443"/>
          </a:xfrm>
        </p:spPr>
        <p:txBody>
          <a:bodyPr/>
          <a:lstStyle/>
          <a:p>
            <a:r>
              <a:rPr lang="de-DE" dirty="0"/>
              <a:t>Beispiel (von Harel): Gesamtspezifikation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idx="1"/>
          </p:nvPr>
        </p:nvSpPr>
        <p:spPr>
          <a:xfrm>
            <a:off x="352781" y="2558543"/>
            <a:ext cx="5323205" cy="307777"/>
          </a:xfrm>
        </p:spPr>
        <p:txBody>
          <a:bodyPr/>
          <a:lstStyle/>
          <a:p>
            <a:r>
              <a:rPr lang="de-DE" sz="2000" dirty="0"/>
              <a:t>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86" y="1307015"/>
            <a:ext cx="11953328" cy="5550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59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21787155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2198" y="709412"/>
            <a:ext cx="7859216" cy="492443"/>
          </a:xfrm>
        </p:spPr>
        <p:txBody>
          <a:bodyPr/>
          <a:lstStyle/>
          <a:p>
            <a:r>
              <a:rPr lang="de-DE" dirty="0"/>
              <a:t>Aktionen und Datenvariablen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9625" y="1867541"/>
            <a:ext cx="11609781" cy="1846659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de-DE" sz="2400" dirty="0"/>
              <a:t>Es existieren </a:t>
            </a:r>
            <a:r>
              <a:rPr lang="de-DE" sz="2400" dirty="0">
                <a:solidFill>
                  <a:srgbClr val="0000FF"/>
                </a:solidFill>
              </a:rPr>
              <a:t>verschiedene </a:t>
            </a:r>
            <a:r>
              <a:rPr lang="de-DE" sz="2400" dirty="0" err="1">
                <a:solidFill>
                  <a:srgbClr val="0000FF"/>
                </a:solidFill>
              </a:rPr>
              <a:t>Statechart</a:t>
            </a:r>
            <a:r>
              <a:rPr lang="de-DE" sz="2400" dirty="0">
                <a:solidFill>
                  <a:srgbClr val="0000FF"/>
                </a:solidFill>
              </a:rPr>
              <a:t> „Dialekte“ </a:t>
            </a:r>
            <a:r>
              <a:rPr lang="de-DE" sz="2400" dirty="0"/>
              <a:t>(z.B. UML, </a:t>
            </a:r>
            <a:r>
              <a:rPr lang="de-DE" sz="2400" dirty="0" err="1"/>
              <a:t>Stateflow</a:t>
            </a:r>
            <a:r>
              <a:rPr lang="de-DE" sz="2400" dirty="0"/>
              <a:t>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de-DE" sz="2400" dirty="0"/>
              <a:t>wichtige Erweiterung: </a:t>
            </a:r>
            <a:r>
              <a:rPr lang="de-DE" sz="2400" dirty="0">
                <a:solidFill>
                  <a:srgbClr val="0000FF"/>
                </a:solidFill>
              </a:rPr>
              <a:t>Aktionen</a:t>
            </a:r>
            <a:r>
              <a:rPr lang="de-DE" sz="2400" dirty="0"/>
              <a:t> und </a:t>
            </a:r>
            <a:r>
              <a:rPr lang="de-DE" sz="2400" dirty="0">
                <a:solidFill>
                  <a:srgbClr val="0000FF"/>
                </a:solidFill>
              </a:rPr>
              <a:t>Datenvariablen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de-DE" sz="2400" dirty="0"/>
              <a:t>z.B. Funktionsaufrufe oder Zuweisungen an Transitionen oder als „</a:t>
            </a:r>
            <a:r>
              <a:rPr lang="de-DE" sz="2400" dirty="0" err="1"/>
              <a:t>entry</a:t>
            </a:r>
            <a:r>
              <a:rPr lang="de-DE" sz="2400" dirty="0"/>
              <a:t>“ und „</a:t>
            </a:r>
            <a:r>
              <a:rPr lang="de-DE" sz="2400" dirty="0" err="1"/>
              <a:t>exit</a:t>
            </a:r>
            <a:r>
              <a:rPr lang="de-DE" sz="2400" dirty="0"/>
              <a:t>“ in Zuständen (</a:t>
            </a:r>
            <a:r>
              <a:rPr lang="de-DE" sz="2400" dirty="0" err="1"/>
              <a:t>entry</a:t>
            </a:r>
            <a:r>
              <a:rPr lang="de-DE" sz="2400" dirty="0"/>
              <a:t>-Aktionen werden beim Betreten des Zustands ausgeführt, </a:t>
            </a:r>
            <a:r>
              <a:rPr lang="de-DE" sz="2400" dirty="0" err="1"/>
              <a:t>exit</a:t>
            </a:r>
            <a:r>
              <a:rPr lang="de-DE" sz="2400" dirty="0"/>
              <a:t>-Aktionen beim Verlassen)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60</a:t>
            </a:fld>
            <a:r>
              <a:rPr lang="de-DE"/>
              <a:t> </a:t>
            </a:r>
            <a:endParaRPr lang="de-DE" sz="619" dirty="0"/>
          </a:p>
        </p:txBody>
      </p:sp>
      <p:sp>
        <p:nvSpPr>
          <p:cNvPr id="6" name="Abgerundetes Rechteck 5"/>
          <p:cNvSpPr/>
          <p:nvPr/>
        </p:nvSpPr>
        <p:spPr>
          <a:xfrm>
            <a:off x="1787513" y="4362455"/>
            <a:ext cx="493712" cy="43204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Abgerundetes Rechteck 7"/>
          <p:cNvSpPr/>
          <p:nvPr/>
        </p:nvSpPr>
        <p:spPr>
          <a:xfrm>
            <a:off x="1787513" y="5442575"/>
            <a:ext cx="493712" cy="43204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1424821" y="4218440"/>
            <a:ext cx="121147" cy="11169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>
            <a:off x="1545967" y="4299667"/>
            <a:ext cx="241546" cy="11135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 flipH="1">
            <a:off x="2003537" y="4794503"/>
            <a:ext cx="0" cy="64807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2075545" y="4866511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/ x := x + 1</a:t>
            </a:r>
          </a:p>
        </p:txBody>
      </p:sp>
      <p:sp>
        <p:nvSpPr>
          <p:cNvPr id="16" name="Abgerundetes Rechteck 15"/>
          <p:cNvSpPr/>
          <p:nvPr/>
        </p:nvSpPr>
        <p:spPr>
          <a:xfrm>
            <a:off x="4091769" y="4362455"/>
            <a:ext cx="493712" cy="43204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Abgerundetes Rechteck 16"/>
          <p:cNvSpPr/>
          <p:nvPr/>
        </p:nvSpPr>
        <p:spPr>
          <a:xfrm>
            <a:off x="4091769" y="5442575"/>
            <a:ext cx="493712" cy="43204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Oval 11"/>
          <p:cNvSpPr>
            <a:spLocks noChangeArrowheads="1"/>
          </p:cNvSpPr>
          <p:nvPr/>
        </p:nvSpPr>
        <p:spPr bwMode="auto">
          <a:xfrm>
            <a:off x="3729077" y="4218440"/>
            <a:ext cx="121147" cy="11169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>
            <a:off x="3850223" y="4299667"/>
            <a:ext cx="241546" cy="11135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0" name="Line 12"/>
          <p:cNvSpPr>
            <a:spLocks noChangeShapeType="1"/>
          </p:cNvSpPr>
          <p:nvPr/>
        </p:nvSpPr>
        <p:spPr bwMode="auto">
          <a:xfrm flipH="1">
            <a:off x="4307793" y="4794503"/>
            <a:ext cx="0" cy="64807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1" name="Textfeld 20"/>
          <p:cNvSpPr txBox="1"/>
          <p:nvPr/>
        </p:nvSpPr>
        <p:spPr>
          <a:xfrm>
            <a:off x="4379801" y="4866511"/>
            <a:ext cx="338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/>
              <a:t>up</a:t>
            </a:r>
            <a:r>
              <a:rPr lang="de-DE" sz="2000" dirty="0"/>
              <a:t> / </a:t>
            </a:r>
            <a:r>
              <a:rPr lang="de-DE" sz="2000" dirty="0" err="1"/>
              <a:t>increaseTemperature</a:t>
            </a:r>
            <a:r>
              <a:rPr lang="de-DE" sz="2000" dirty="0"/>
              <a:t>()</a:t>
            </a:r>
          </a:p>
        </p:txBody>
      </p:sp>
      <p:sp>
        <p:nvSpPr>
          <p:cNvPr id="22" name="Abgerundetes Rechteck 21"/>
          <p:cNvSpPr/>
          <p:nvPr/>
        </p:nvSpPr>
        <p:spPr>
          <a:xfrm>
            <a:off x="8484257" y="4362455"/>
            <a:ext cx="2448272" cy="69442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000" dirty="0" err="1">
                <a:solidFill>
                  <a:schemeClr val="tx1"/>
                </a:solidFill>
              </a:rPr>
              <a:t>entry</a:t>
            </a:r>
            <a:r>
              <a:rPr lang="de-DE" sz="2000" dirty="0">
                <a:solidFill>
                  <a:schemeClr val="tx1"/>
                </a:solidFill>
              </a:rPr>
              <a:t> / </a:t>
            </a:r>
            <a:r>
              <a:rPr lang="de-DE" sz="2000" dirty="0" err="1">
                <a:solidFill>
                  <a:schemeClr val="tx1"/>
                </a:solidFill>
              </a:rPr>
              <a:t>init</a:t>
            </a:r>
            <a:r>
              <a:rPr lang="de-DE" sz="2000" dirty="0">
                <a:solidFill>
                  <a:schemeClr val="tx1"/>
                </a:solidFill>
              </a:rPr>
              <a:t>()</a:t>
            </a:r>
          </a:p>
          <a:p>
            <a:r>
              <a:rPr lang="de-DE" sz="2000" dirty="0" err="1">
                <a:solidFill>
                  <a:schemeClr val="tx1"/>
                </a:solidFill>
              </a:rPr>
              <a:t>exit</a:t>
            </a:r>
            <a:r>
              <a:rPr lang="de-DE" sz="2000" dirty="0">
                <a:solidFill>
                  <a:schemeClr val="tx1"/>
                </a:solidFill>
              </a:rPr>
              <a:t> / x : = 5</a:t>
            </a:r>
          </a:p>
        </p:txBody>
      </p:sp>
      <p:sp>
        <p:nvSpPr>
          <p:cNvPr id="23" name="Abgerundetes Rechteck 22"/>
          <p:cNvSpPr/>
          <p:nvPr/>
        </p:nvSpPr>
        <p:spPr>
          <a:xfrm>
            <a:off x="8998657" y="5716540"/>
            <a:ext cx="493712" cy="43204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4" name="Oval 11"/>
          <p:cNvSpPr>
            <a:spLocks noChangeArrowheads="1"/>
          </p:cNvSpPr>
          <p:nvPr/>
        </p:nvSpPr>
        <p:spPr bwMode="auto">
          <a:xfrm>
            <a:off x="8121565" y="4218440"/>
            <a:ext cx="121147" cy="11169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5" name="Line 12"/>
          <p:cNvSpPr>
            <a:spLocks noChangeShapeType="1"/>
          </p:cNvSpPr>
          <p:nvPr/>
        </p:nvSpPr>
        <p:spPr bwMode="auto">
          <a:xfrm>
            <a:off x="8242711" y="4299667"/>
            <a:ext cx="241546" cy="11135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6" name="Line 12"/>
          <p:cNvSpPr>
            <a:spLocks noChangeShapeType="1"/>
          </p:cNvSpPr>
          <p:nvPr/>
        </p:nvSpPr>
        <p:spPr bwMode="auto">
          <a:xfrm flipH="1">
            <a:off x="9214681" y="5068468"/>
            <a:ext cx="0" cy="64807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7" name="Textfeld 26"/>
          <p:cNvSpPr txBox="1"/>
          <p:nvPr/>
        </p:nvSpPr>
        <p:spPr>
          <a:xfrm>
            <a:off x="9204337" y="5114473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/>
              <a:t>setY</a:t>
            </a:r>
            <a:r>
              <a:rPr lang="de-DE" sz="2000" dirty="0"/>
              <a:t> / y := x</a:t>
            </a:r>
          </a:p>
        </p:txBody>
      </p:sp>
    </p:spTree>
    <p:extLst>
      <p:ext uri="{BB962C8B-B14F-4D97-AF65-F5344CB8AC3E}">
        <p14:creationId xmlns:p14="http://schemas.microsoft.com/office/powerpoint/2010/main" val="179600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9" grpId="0" animBg="1"/>
      <p:bldP spid="10" grpId="0" animBg="1"/>
      <p:bldP spid="12" grpId="0" animBg="1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Syntax und Semantik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46430" y="2558542"/>
            <a:ext cx="11212966" cy="2585323"/>
          </a:xfrm>
        </p:spPr>
        <p:txBody>
          <a:bodyPr/>
          <a:lstStyle/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Es existieren verschiedene </a:t>
            </a:r>
            <a:r>
              <a:rPr lang="de-DE" sz="2800" dirty="0" err="1"/>
              <a:t>Statechart</a:t>
            </a:r>
            <a:r>
              <a:rPr lang="de-DE" sz="2800" dirty="0"/>
              <a:t> „Dialekte“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0000FF"/>
                </a:solidFill>
              </a:rPr>
              <a:t>Syntax</a:t>
            </a:r>
            <a:r>
              <a:rPr lang="de-DE" sz="2800" dirty="0"/>
              <a:t> ist bei allen </a:t>
            </a:r>
            <a:r>
              <a:rPr lang="de-DE" sz="2800" dirty="0" err="1"/>
              <a:t>Statechart</a:t>
            </a:r>
            <a:r>
              <a:rPr lang="de-DE" sz="2800" dirty="0"/>
              <a:t>-Arten (fast) gleich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Zustände = Kästen oder Kreise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Zustandsübergänge = Pfeile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…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0000FF"/>
                </a:solidFill>
              </a:rPr>
              <a:t>Semantik</a:t>
            </a:r>
            <a:r>
              <a:rPr lang="de-DE" sz="2800" dirty="0"/>
              <a:t> abhängig von gewählter </a:t>
            </a:r>
            <a:r>
              <a:rPr lang="de-DE" sz="2800" dirty="0" err="1"/>
              <a:t>Statechart</a:t>
            </a:r>
            <a:r>
              <a:rPr lang="de-DE" sz="2800" dirty="0"/>
              <a:t>-Art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61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 bwMode="auto">
          <a:xfrm>
            <a:off x="344970" y="699212"/>
            <a:ext cx="4063980" cy="49244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 err="1"/>
              <a:t>Formale</a:t>
            </a:r>
            <a:r>
              <a:rPr lang="en-US" dirty="0"/>
              <a:t> </a:t>
            </a:r>
            <a:r>
              <a:rPr lang="en-US" dirty="0" err="1"/>
              <a:t>Semantik</a:t>
            </a:r>
            <a:endParaRPr lang="en-US" dirty="0"/>
          </a:p>
        </p:txBody>
      </p:sp>
      <p:graphicFrame>
        <p:nvGraphicFramePr>
          <p:cNvPr id="9" name="Group 4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2518538"/>
              </p:ext>
            </p:extLst>
          </p:nvPr>
        </p:nvGraphicFramePr>
        <p:xfrm>
          <a:off x="747515" y="5093904"/>
          <a:ext cx="3647406" cy="914400"/>
        </p:xfrm>
        <a:graphic>
          <a:graphicData uri="http://schemas.openxmlformats.org/drawingml/2006/table">
            <a:tbl>
              <a:tblPr/>
              <a:tblGrid>
                <a:gridCol w="1215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dirty="0"/>
                        <a:t>A </a:t>
                      </a:r>
                      <a:r>
                        <a:rPr lang="en-US" sz="1400" dirty="0">
                          <a:latin typeface="cmsy10"/>
                        </a:rPr>
                        <a:t>v</a:t>
                      </a:r>
                      <a:r>
                        <a:rPr lang="en-US" sz="1400" dirty="0"/>
                        <a:t> B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=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=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 =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 =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291" name="Text Box 64"/>
          <p:cNvSpPr txBox="1">
            <a:spLocks noChangeArrowheads="1"/>
          </p:cNvSpPr>
          <p:nvPr/>
        </p:nvSpPr>
        <p:spPr bwMode="auto">
          <a:xfrm>
            <a:off x="531492" y="1687824"/>
            <a:ext cx="3690937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 err="1"/>
              <a:t>Formale</a:t>
            </a:r>
            <a:r>
              <a:rPr lang="en-US" sz="2000" b="1" dirty="0"/>
              <a:t> </a:t>
            </a:r>
            <a:r>
              <a:rPr lang="en-US" sz="2000" b="1" dirty="0" err="1"/>
              <a:t>Semantik</a:t>
            </a:r>
            <a:r>
              <a:rPr lang="en-US" sz="2000" b="1" dirty="0"/>
              <a:t>:</a:t>
            </a:r>
          </a:p>
          <a:p>
            <a:r>
              <a:rPr lang="en-US" sz="2000" dirty="0" err="1"/>
              <a:t>weist</a:t>
            </a:r>
            <a:r>
              <a:rPr lang="en-US" sz="2000" dirty="0"/>
              <a:t> </a:t>
            </a:r>
            <a:r>
              <a:rPr lang="en-US" sz="2000" dirty="0" err="1"/>
              <a:t>syntaktischen</a:t>
            </a:r>
            <a:r>
              <a:rPr lang="en-US" sz="2000" dirty="0"/>
              <a:t> </a:t>
            </a:r>
            <a:r>
              <a:rPr lang="en-US" sz="2000" dirty="0" err="1"/>
              <a:t>Elementen</a:t>
            </a:r>
            <a:br>
              <a:rPr lang="en-US" sz="2000" dirty="0"/>
            </a:br>
            <a:r>
              <a:rPr lang="en-US" sz="2000" dirty="0" err="1"/>
              <a:t>formale</a:t>
            </a:r>
            <a:r>
              <a:rPr lang="en-US" sz="2000" dirty="0"/>
              <a:t> </a:t>
            </a:r>
            <a:r>
              <a:rPr lang="en-US" sz="2000" dirty="0" err="1"/>
              <a:t>Bedeutung</a:t>
            </a:r>
            <a:r>
              <a:rPr lang="en-US" sz="2000" dirty="0"/>
              <a:t> </a:t>
            </a:r>
            <a:r>
              <a:rPr lang="en-US" sz="2000" dirty="0" err="1"/>
              <a:t>zu</a:t>
            </a:r>
            <a:endParaRPr lang="en-US" sz="2000" dirty="0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531491" y="3199993"/>
            <a:ext cx="3257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/>
              <a:t>In </a:t>
            </a:r>
            <a:r>
              <a:rPr lang="en-US" sz="2000" b="1" dirty="0" err="1"/>
              <a:t>mathematischer</a:t>
            </a:r>
            <a:r>
              <a:rPr lang="en-US" sz="2000" b="1" dirty="0"/>
              <a:t> </a:t>
            </a:r>
            <a:r>
              <a:rPr lang="en-US" sz="2000" b="1" dirty="0" err="1"/>
              <a:t>Logik</a:t>
            </a:r>
            <a:r>
              <a:rPr lang="en-US" sz="2000" b="1" dirty="0"/>
              <a:t>:</a:t>
            </a:r>
          </a:p>
        </p:txBody>
      </p:sp>
      <p:sp>
        <p:nvSpPr>
          <p:cNvPr id="12293" name="Rectangle 54"/>
          <p:cNvSpPr>
            <a:spLocks noChangeArrowheads="1"/>
          </p:cNvSpPr>
          <p:nvPr/>
        </p:nvSpPr>
        <p:spPr bwMode="auto">
          <a:xfrm>
            <a:off x="634877" y="3628616"/>
            <a:ext cx="3929063" cy="113198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2000" b="1" dirty="0" err="1"/>
              <a:t>Aussagenlogik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Formel</a:t>
            </a:r>
            <a:r>
              <a:rPr lang="en-US" sz="2000" dirty="0"/>
              <a:t> A </a:t>
            </a:r>
            <a:r>
              <a:rPr lang="en-US" sz="2000" dirty="0">
                <a:latin typeface="cmsy10"/>
              </a:rPr>
              <a:t>v</a:t>
            </a:r>
            <a:r>
              <a:rPr lang="en-US" sz="2000" dirty="0"/>
              <a:t> B</a:t>
            </a:r>
          </a:p>
          <a:p>
            <a:endParaRPr lang="en-US" sz="2000" b="1" dirty="0"/>
          </a:p>
          <a:p>
            <a:r>
              <a:rPr lang="en-US" sz="2000" b="1" dirty="0" err="1"/>
              <a:t>Semantik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Wahrheitstafel</a:t>
            </a:r>
            <a:endParaRPr lang="en-US" sz="2000" b="1" dirty="0"/>
          </a:p>
        </p:txBody>
      </p:sp>
      <p:sp>
        <p:nvSpPr>
          <p:cNvPr id="12312" name="Text Box 64"/>
          <p:cNvSpPr txBox="1">
            <a:spLocks noChangeArrowheads="1"/>
          </p:cNvSpPr>
          <p:nvPr/>
        </p:nvSpPr>
        <p:spPr bwMode="auto">
          <a:xfrm>
            <a:off x="5465556" y="1523682"/>
            <a:ext cx="3489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 err="1"/>
              <a:t>Für</a:t>
            </a:r>
            <a:r>
              <a:rPr lang="en-US" sz="2000" b="1" dirty="0"/>
              <a:t> </a:t>
            </a:r>
            <a:r>
              <a:rPr lang="en-US" sz="2000" b="1" dirty="0" err="1"/>
              <a:t>Programmiersprachen</a:t>
            </a:r>
            <a:r>
              <a:rPr lang="en-US" sz="2000" b="1" dirty="0"/>
              <a:t>:</a:t>
            </a:r>
          </a:p>
        </p:txBody>
      </p:sp>
      <p:sp>
        <p:nvSpPr>
          <p:cNvPr id="8" name="Rectangle 54"/>
          <p:cNvSpPr>
            <a:spLocks noChangeArrowheads="1"/>
          </p:cNvSpPr>
          <p:nvPr/>
        </p:nvSpPr>
        <p:spPr bwMode="auto">
          <a:xfrm>
            <a:off x="5570504" y="2027738"/>
            <a:ext cx="6408712" cy="258715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b="1" dirty="0" err="1"/>
              <a:t>Programmiersprachen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Programme</a:t>
            </a:r>
            <a:endParaRPr lang="en-US" dirty="0"/>
          </a:p>
          <a:p>
            <a:pPr marL="360363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x:=1; </a:t>
            </a:r>
          </a:p>
          <a:p>
            <a:pPr marL="360363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while x&lt;3 do </a:t>
            </a:r>
          </a:p>
          <a:p>
            <a:pPr marL="360363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x:=x+1</a:t>
            </a:r>
          </a:p>
          <a:p>
            <a:pPr>
              <a:defRPr/>
            </a:pPr>
            <a:r>
              <a:rPr lang="en-US" b="1" dirty="0" err="1">
                <a:latin typeface="+mj-lt"/>
                <a:cs typeface="Courier New" pitchFamily="49" charset="0"/>
              </a:rPr>
              <a:t>Semantik</a:t>
            </a:r>
            <a:r>
              <a:rPr lang="en-US" b="1" dirty="0">
                <a:latin typeface="+mj-lt"/>
                <a:cs typeface="Courier New" pitchFamily="49" charset="0"/>
              </a:rPr>
              <a:t>:</a:t>
            </a:r>
          </a:p>
          <a:p>
            <a:pPr marL="285750" indent="-285750">
              <a:buFontTx/>
              <a:buChar char="-"/>
              <a:defRPr/>
            </a:pPr>
            <a:r>
              <a:rPr lang="en-US" dirty="0" err="1">
                <a:latin typeface="+mj-lt"/>
                <a:cs typeface="Courier New" pitchFamily="49" charset="0"/>
              </a:rPr>
              <a:t>denotationell</a:t>
            </a:r>
            <a:r>
              <a:rPr lang="en-US" dirty="0">
                <a:latin typeface="+mj-lt"/>
                <a:cs typeface="Courier New" pitchFamily="49" charset="0"/>
              </a:rPr>
              <a:t>: </a:t>
            </a:r>
            <a:r>
              <a:rPr lang="en-US" dirty="0" err="1">
                <a:latin typeface="+mj-lt"/>
                <a:cs typeface="Courier New" pitchFamily="49" charset="0"/>
              </a:rPr>
              <a:t>Ergebnis</a:t>
            </a:r>
            <a:r>
              <a:rPr lang="en-US" dirty="0">
                <a:latin typeface="+mj-lt"/>
                <a:cs typeface="Courier New" pitchFamily="49" charset="0"/>
              </a:rPr>
              <a:t> der </a:t>
            </a:r>
            <a:r>
              <a:rPr lang="en-US" dirty="0" err="1">
                <a:latin typeface="+mj-lt"/>
                <a:cs typeface="Courier New" pitchFamily="49" charset="0"/>
              </a:rPr>
              <a:t>Berechnung</a:t>
            </a:r>
            <a:br>
              <a:rPr lang="en-US" dirty="0">
                <a:latin typeface="+mj-lt"/>
                <a:cs typeface="Courier New" pitchFamily="49" charset="0"/>
              </a:rPr>
            </a:br>
            <a:r>
              <a:rPr lang="en-US" dirty="0">
                <a:latin typeface="+mj-lt"/>
                <a:cs typeface="Courier New" pitchFamily="49" charset="0"/>
              </a:rPr>
              <a:t>  (</a:t>
            </a:r>
            <a:r>
              <a:rPr lang="en-US" dirty="0" err="1">
                <a:latin typeface="+mj-lt"/>
                <a:cs typeface="Courier New" pitchFamily="49" charset="0"/>
              </a:rPr>
              <a:t>sinnvoll</a:t>
            </a:r>
            <a:r>
              <a:rPr lang="en-US" dirty="0">
                <a:latin typeface="+mj-lt"/>
                <a:cs typeface="Courier New" pitchFamily="49" charset="0"/>
              </a:rPr>
              <a:t> </a:t>
            </a:r>
            <a:r>
              <a:rPr lang="en-US" dirty="0" err="1">
                <a:latin typeface="+mj-lt"/>
                <a:cs typeface="Courier New" pitchFamily="49" charset="0"/>
              </a:rPr>
              <a:t>bei</a:t>
            </a:r>
            <a:r>
              <a:rPr lang="en-US" dirty="0">
                <a:latin typeface="+mj-lt"/>
                <a:cs typeface="Courier New" pitchFamily="49" charset="0"/>
              </a:rPr>
              <a:t> </a:t>
            </a:r>
            <a:r>
              <a:rPr lang="en-US" dirty="0" err="1">
                <a:latin typeface="+mj-lt"/>
                <a:cs typeface="Courier New" pitchFamily="49" charset="0"/>
              </a:rPr>
              <a:t>funktionalen</a:t>
            </a:r>
            <a:r>
              <a:rPr lang="en-US" dirty="0">
                <a:latin typeface="+mj-lt"/>
                <a:cs typeface="Courier New" pitchFamily="49" charset="0"/>
              </a:rPr>
              <a:t> </a:t>
            </a:r>
            <a:r>
              <a:rPr lang="en-US" dirty="0" err="1">
                <a:latin typeface="+mj-lt"/>
                <a:cs typeface="Courier New" pitchFamily="49" charset="0"/>
              </a:rPr>
              <a:t>Sprachen</a:t>
            </a:r>
            <a:r>
              <a:rPr lang="en-US" dirty="0">
                <a:latin typeface="+mj-lt"/>
                <a:cs typeface="Courier New" pitchFamily="49" charset="0"/>
              </a:rPr>
              <a:t>)</a:t>
            </a:r>
          </a:p>
          <a:p>
            <a:pPr marL="285750" indent="-285750">
              <a:buFontTx/>
              <a:buChar char="-"/>
              <a:defRPr/>
            </a:pPr>
            <a:r>
              <a:rPr lang="en-US" dirty="0">
                <a:solidFill>
                  <a:srgbClr val="0000FF"/>
                </a:solidFill>
                <a:latin typeface="+mj-lt"/>
                <a:cs typeface="Courier New" pitchFamily="49" charset="0"/>
              </a:rPr>
              <a:t>operational: </a:t>
            </a:r>
            <a:r>
              <a:rPr lang="en-US" dirty="0" err="1">
                <a:solidFill>
                  <a:srgbClr val="0000FF"/>
                </a:solidFill>
                <a:latin typeface="+mj-lt"/>
                <a:cs typeface="Courier New" pitchFamily="49" charset="0"/>
              </a:rPr>
              <a:t>Zustandsübergangsfolge</a:t>
            </a:r>
            <a:br>
              <a:rPr lang="en-US" dirty="0">
                <a:solidFill>
                  <a:srgbClr val="0000FF"/>
                </a:solidFill>
                <a:latin typeface="+mj-lt"/>
                <a:cs typeface="Courier New" pitchFamily="49" charset="0"/>
              </a:rPr>
            </a:br>
            <a:r>
              <a:rPr lang="en-US" dirty="0">
                <a:solidFill>
                  <a:srgbClr val="0000FF"/>
                </a:solidFill>
                <a:latin typeface="+mj-lt"/>
                <a:cs typeface="Courier New" pitchFamily="49" charset="0"/>
              </a:rPr>
              <a:t>  </a:t>
            </a:r>
            <a:r>
              <a:rPr lang="en-US" dirty="0">
                <a:latin typeface="+mj-lt"/>
                <a:cs typeface="Courier New" pitchFamily="49" charset="0"/>
              </a:rPr>
              <a:t>(</a:t>
            </a:r>
            <a:r>
              <a:rPr lang="en-US" dirty="0" err="1">
                <a:latin typeface="+mj-lt"/>
                <a:cs typeface="Courier New" pitchFamily="49" charset="0"/>
              </a:rPr>
              <a:t>sinnvoll</a:t>
            </a:r>
            <a:r>
              <a:rPr lang="en-US" dirty="0">
                <a:latin typeface="+mj-lt"/>
                <a:cs typeface="Courier New" pitchFamily="49" charset="0"/>
              </a:rPr>
              <a:t> </a:t>
            </a:r>
            <a:r>
              <a:rPr lang="en-US" dirty="0" err="1">
                <a:latin typeface="+mj-lt"/>
                <a:cs typeface="Courier New" pitchFamily="49" charset="0"/>
              </a:rPr>
              <a:t>bei</a:t>
            </a:r>
            <a:r>
              <a:rPr lang="en-US" dirty="0">
                <a:latin typeface="+mj-lt"/>
                <a:cs typeface="Courier New" pitchFamily="49" charset="0"/>
              </a:rPr>
              <a:t> </a:t>
            </a:r>
            <a:r>
              <a:rPr lang="en-US" dirty="0" err="1">
                <a:latin typeface="+mj-lt"/>
                <a:cs typeface="Courier New" pitchFamily="49" charset="0"/>
              </a:rPr>
              <a:t>imperativen</a:t>
            </a:r>
            <a:r>
              <a:rPr lang="en-US" dirty="0">
                <a:latin typeface="+mj-lt"/>
                <a:cs typeface="Courier New" pitchFamily="49" charset="0"/>
              </a:rPr>
              <a:t> </a:t>
            </a:r>
            <a:r>
              <a:rPr lang="en-US" dirty="0" err="1">
                <a:latin typeface="+mj-lt"/>
                <a:cs typeface="Courier New" pitchFamily="49" charset="0"/>
              </a:rPr>
              <a:t>Sprachen</a:t>
            </a:r>
            <a:r>
              <a:rPr lang="en-US" dirty="0">
                <a:latin typeface="+mj-lt"/>
                <a:cs typeface="Courier New" pitchFamily="49" charset="0"/>
              </a:rPr>
              <a:t>))</a:t>
            </a:r>
          </a:p>
          <a:p>
            <a:pPr>
              <a:defRPr/>
            </a:pPr>
            <a:endParaRPr lang="en-US" dirty="0">
              <a:latin typeface="+mj-lt"/>
              <a:cs typeface="Courier New" pitchFamily="49" charset="0"/>
            </a:endParaRPr>
          </a:p>
          <a:p>
            <a:pPr>
              <a:defRPr/>
            </a:pPr>
            <a:endParaRPr lang="en-US" dirty="0">
              <a:latin typeface="+mj-lt"/>
              <a:cs typeface="Courier New" pitchFamily="49" charset="0"/>
            </a:endParaRPr>
          </a:p>
        </p:txBody>
      </p:sp>
      <p:sp>
        <p:nvSpPr>
          <p:cNvPr id="10" name="Rectangle 54"/>
          <p:cNvSpPr>
            <a:spLocks noChangeArrowheads="1"/>
          </p:cNvSpPr>
          <p:nvPr/>
        </p:nvSpPr>
        <p:spPr bwMode="auto">
          <a:xfrm>
            <a:off x="5570504" y="4764042"/>
            <a:ext cx="6408712" cy="172819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b="1" dirty="0" err="1">
                <a:latin typeface="+mj-lt"/>
                <a:cs typeface="Courier New" pitchFamily="49" charset="0"/>
              </a:rPr>
              <a:t>Semantik</a:t>
            </a:r>
            <a:r>
              <a:rPr lang="en-US" b="1" dirty="0">
                <a:latin typeface="+mj-lt"/>
                <a:cs typeface="Courier New" pitchFamily="49" charset="0"/>
              </a:rPr>
              <a:t> </a:t>
            </a:r>
            <a:r>
              <a:rPr lang="en-US" b="1" dirty="0" err="1">
                <a:latin typeface="+mj-lt"/>
                <a:cs typeface="Courier New" pitchFamily="49" charset="0"/>
              </a:rPr>
              <a:t>für</a:t>
            </a:r>
            <a:r>
              <a:rPr lang="en-US" b="1" dirty="0">
                <a:latin typeface="+mj-lt"/>
                <a:cs typeface="Courier New" pitchFamily="49" charset="0"/>
              </a:rPr>
              <a:t> </a:t>
            </a:r>
            <a:r>
              <a:rPr lang="en-US" b="1" dirty="0" err="1">
                <a:latin typeface="+mj-lt"/>
                <a:cs typeface="Courier New" pitchFamily="49" charset="0"/>
              </a:rPr>
              <a:t>Beispielprogramm</a:t>
            </a:r>
            <a:r>
              <a:rPr lang="en-US" b="1" dirty="0">
                <a:latin typeface="+mj-lt"/>
                <a:cs typeface="Courier New" pitchFamily="49" charset="0"/>
              </a:rPr>
              <a:t>:</a:t>
            </a:r>
          </a:p>
          <a:p>
            <a:pPr>
              <a:buFontTx/>
              <a:buChar char="-"/>
              <a:defRPr/>
            </a:pPr>
            <a:r>
              <a:rPr lang="en-US" dirty="0">
                <a:latin typeface="+mj-lt"/>
                <a:cs typeface="Courier New" pitchFamily="49" charset="0"/>
              </a:rPr>
              <a:t> </a:t>
            </a:r>
            <a:r>
              <a:rPr lang="en-US" dirty="0" err="1">
                <a:latin typeface="+mj-lt"/>
                <a:cs typeface="Courier New" pitchFamily="49" charset="0"/>
              </a:rPr>
              <a:t>Ergebnis</a:t>
            </a:r>
            <a:r>
              <a:rPr lang="en-US" dirty="0">
                <a:latin typeface="+mj-lt"/>
                <a:cs typeface="Courier New" pitchFamily="49" charset="0"/>
              </a:rPr>
              <a:t> </a:t>
            </a:r>
            <a:r>
              <a:rPr lang="en-US" dirty="0" err="1">
                <a:latin typeface="+mj-lt"/>
                <a:cs typeface="Courier New" pitchFamily="49" charset="0"/>
              </a:rPr>
              <a:t>der</a:t>
            </a:r>
            <a:r>
              <a:rPr lang="en-US" dirty="0">
                <a:latin typeface="+mj-lt"/>
                <a:cs typeface="Courier New" pitchFamily="49" charset="0"/>
              </a:rPr>
              <a:t> </a:t>
            </a:r>
            <a:r>
              <a:rPr lang="en-US" dirty="0" err="1">
                <a:latin typeface="+mj-lt"/>
                <a:cs typeface="Courier New" pitchFamily="49" charset="0"/>
              </a:rPr>
              <a:t>Berechnung</a:t>
            </a:r>
            <a:r>
              <a:rPr lang="en-US" dirty="0">
                <a:latin typeface="+mj-lt"/>
                <a:cs typeface="Courier New" pitchFamily="49" charset="0"/>
              </a:rPr>
              <a:t>: (x = 3)</a:t>
            </a:r>
          </a:p>
          <a:p>
            <a:pPr>
              <a:defRPr/>
            </a:pPr>
            <a:br>
              <a:rPr lang="en-US" dirty="0">
                <a:solidFill>
                  <a:srgbClr val="0000FF"/>
                </a:solidFill>
                <a:latin typeface="+mj-lt"/>
                <a:cs typeface="Courier New" pitchFamily="49" charset="0"/>
              </a:rPr>
            </a:br>
            <a:r>
              <a:rPr lang="en-US" dirty="0">
                <a:solidFill>
                  <a:srgbClr val="0000FF"/>
                </a:solidFill>
                <a:latin typeface="+mj-lt"/>
                <a:cs typeface="Courier New" pitchFamily="49" charset="0"/>
              </a:rPr>
              <a:t>- </a:t>
            </a:r>
            <a:r>
              <a:rPr lang="en-US" dirty="0" err="1">
                <a:solidFill>
                  <a:srgbClr val="0000FF"/>
                </a:solidFill>
                <a:latin typeface="+mj-lt"/>
                <a:cs typeface="Courier New" pitchFamily="49" charset="0"/>
              </a:rPr>
              <a:t>Zustandsübergangsfolge</a:t>
            </a:r>
            <a:r>
              <a:rPr lang="en-US" dirty="0">
                <a:solidFill>
                  <a:srgbClr val="0000FF"/>
                </a:solidFill>
                <a:latin typeface="+mj-lt"/>
                <a:cs typeface="Courier New" pitchFamily="49" charset="0"/>
              </a:rPr>
              <a:t>:</a:t>
            </a:r>
          </a:p>
          <a:p>
            <a:pPr algn="ctr">
              <a:defRPr/>
            </a:pPr>
            <a:r>
              <a:rPr lang="en-US" b="1" dirty="0">
                <a:solidFill>
                  <a:srgbClr val="0000FF"/>
                </a:solidFill>
              </a:rPr>
              <a:t>(Z. 1, x = ?) </a:t>
            </a:r>
            <a:r>
              <a:rPr lang="en-US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→</a:t>
            </a:r>
            <a:r>
              <a:rPr lang="en-US" b="1" dirty="0">
                <a:solidFill>
                  <a:srgbClr val="0000FF"/>
                </a:solidFill>
              </a:rPr>
              <a:t> (Z. 2, x = 1) </a:t>
            </a:r>
            <a:r>
              <a:rPr lang="en-US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→</a:t>
            </a:r>
            <a:r>
              <a:rPr lang="en-US" b="1" dirty="0">
                <a:solidFill>
                  <a:srgbClr val="0000FF"/>
                </a:solidFill>
              </a:rPr>
              <a:t> (Z. 3, x = 1) </a:t>
            </a:r>
            <a:r>
              <a:rPr lang="en-US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→</a:t>
            </a:r>
            <a:r>
              <a:rPr lang="en-US" b="1" dirty="0">
                <a:solidFill>
                  <a:srgbClr val="0000FF"/>
                </a:solidFill>
              </a:rPr>
              <a:t> (Z. 2, x = 2) </a:t>
            </a: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→</a:t>
            </a:r>
            <a:r>
              <a:rPr lang="en-US" b="1" dirty="0">
                <a:solidFill>
                  <a:srgbClr val="0000FF"/>
                </a:solidFill>
              </a:rPr>
              <a:t> (Z. 3, x = 2) </a:t>
            </a:r>
            <a:r>
              <a:rPr lang="en-US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→</a:t>
            </a:r>
            <a:r>
              <a:rPr lang="en-US" b="1" dirty="0">
                <a:solidFill>
                  <a:srgbClr val="0000FF"/>
                </a:solidFill>
              </a:rPr>
              <a:t> (Z. 2, x = 3) </a:t>
            </a:r>
            <a:r>
              <a:rPr lang="en-US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→</a:t>
            </a:r>
            <a:r>
              <a:rPr lang="en-US" b="1" dirty="0">
                <a:solidFill>
                  <a:srgbClr val="0000FF"/>
                </a:solidFill>
              </a:rPr>
              <a:t> (Z. 4, x = 3) </a:t>
            </a:r>
            <a:r>
              <a:rPr lang="en-US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→</a:t>
            </a:r>
            <a:r>
              <a:rPr lang="en-US" b="1" dirty="0">
                <a:solidFill>
                  <a:srgbClr val="0000FF"/>
                </a:solidFill>
              </a:rPr>
              <a:t> …</a:t>
            </a:r>
            <a:endParaRPr lang="en-US" dirty="0">
              <a:solidFill>
                <a:srgbClr val="0000FF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62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/>
      <p:bldP spid="12293" grpId="0" animBg="1"/>
      <p:bldP spid="12312" grpId="0"/>
      <p:bldP spid="8" grpId="0" animBg="1"/>
      <p:bldP spid="1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7169" y="2474189"/>
            <a:ext cx="8498108" cy="205300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2191" y="299635"/>
            <a:ext cx="5370363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95" dirty="0"/>
              <a:t>Semantik:</a:t>
            </a:r>
            <a:r>
              <a:rPr spc="-200" dirty="0"/>
              <a:t> </a:t>
            </a:r>
            <a:r>
              <a:rPr spc="-150" dirty="0"/>
              <a:t>mehrere</a:t>
            </a:r>
            <a:r>
              <a:rPr spc="-190" dirty="0"/>
              <a:t> </a:t>
            </a:r>
            <a:r>
              <a:rPr spc="-110" dirty="0"/>
              <a:t>Möglichkeiten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63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236216" y="1677352"/>
            <a:ext cx="7703184" cy="69151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47346" marR="5080" indent="-342900">
              <a:lnSpc>
                <a:spcPts val="2480"/>
              </a:lnSpc>
              <a:spcBef>
                <a:spcPts val="414"/>
              </a:spcBef>
              <a:buClr>
                <a:schemeClr val="tx1"/>
              </a:buClr>
              <a:buSzPct val="110869"/>
              <a:buFont typeface="Wingdings" pitchFamily="2" charset="2"/>
              <a:buChar char="§"/>
              <a:tabLst>
                <a:tab pos="241300" algn="l"/>
                <a:tab pos="340995" algn="l"/>
              </a:tabLst>
            </a:pPr>
            <a:r>
              <a:rPr sz="2300" spc="-80" dirty="0">
                <a:latin typeface="Arial"/>
                <a:cs typeface="Arial"/>
              </a:rPr>
              <a:t>In</a:t>
            </a:r>
            <a:r>
              <a:rPr sz="2300" spc="-100" dirty="0">
                <a:latin typeface="Arial"/>
                <a:cs typeface="Arial"/>
              </a:rPr>
              <a:t> den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-85" dirty="0">
                <a:latin typeface="Arial"/>
                <a:cs typeface="Arial"/>
              </a:rPr>
              <a:t>folgenden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-110" dirty="0">
                <a:latin typeface="Arial"/>
                <a:cs typeface="Arial"/>
              </a:rPr>
              <a:t>Beispielen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-110" dirty="0">
                <a:latin typeface="Arial"/>
                <a:cs typeface="Arial"/>
              </a:rPr>
              <a:t>sind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-85" dirty="0">
                <a:latin typeface="Arial"/>
                <a:cs typeface="Arial"/>
              </a:rPr>
              <a:t>mehrere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spc="-130" dirty="0">
                <a:latin typeface="Arial"/>
                <a:cs typeface="Arial"/>
              </a:rPr>
              <a:t>Übergangsfolgen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-130" dirty="0">
                <a:latin typeface="Arial"/>
                <a:cs typeface="Arial"/>
              </a:rPr>
              <a:t>mit </a:t>
            </a:r>
            <a:r>
              <a:rPr sz="2300" spc="-90" dirty="0">
                <a:latin typeface="Arial"/>
                <a:cs typeface="Arial"/>
              </a:rPr>
              <a:t>unterschiedlichem</a:t>
            </a:r>
            <a:r>
              <a:rPr sz="2300" spc="-75" dirty="0">
                <a:latin typeface="Arial"/>
                <a:cs typeface="Arial"/>
              </a:rPr>
              <a:t> </a:t>
            </a:r>
            <a:r>
              <a:rPr sz="2300" spc="-150" dirty="0">
                <a:latin typeface="Arial"/>
                <a:cs typeface="Arial"/>
              </a:rPr>
              <a:t>Ergebnis</a:t>
            </a:r>
            <a:r>
              <a:rPr sz="2300" spc="-6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möglich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98117" y="4460897"/>
            <a:ext cx="7508875" cy="2054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1780">
              <a:spcBef>
                <a:spcPts val="100"/>
              </a:spcBef>
              <a:tabLst>
                <a:tab pos="5817870" algn="l"/>
              </a:tabLst>
            </a:pPr>
            <a:r>
              <a:rPr spc="-25" dirty="0">
                <a:latin typeface="Arial"/>
                <a:cs typeface="Arial"/>
              </a:rPr>
              <a:t>(a)</a:t>
            </a:r>
            <a:r>
              <a:rPr dirty="0">
                <a:latin typeface="Arial"/>
                <a:cs typeface="Arial"/>
              </a:rPr>
              <a:t>	</a:t>
            </a:r>
            <a:r>
              <a:rPr spc="-25" dirty="0">
                <a:latin typeface="Arial"/>
                <a:cs typeface="Arial"/>
              </a:rPr>
              <a:t>(b)</a:t>
            </a:r>
            <a:endParaRPr dirty="0">
              <a:latin typeface="Arial"/>
              <a:cs typeface="Arial"/>
            </a:endParaRPr>
          </a:p>
          <a:p>
            <a:pPr>
              <a:spcBef>
                <a:spcPts val="550"/>
              </a:spcBef>
            </a:pPr>
            <a:endParaRPr dirty="0">
              <a:latin typeface="Arial"/>
              <a:cs typeface="Arial"/>
            </a:endParaRPr>
          </a:p>
          <a:p>
            <a:pPr marL="385446" marR="43180" indent="-342900">
              <a:lnSpc>
                <a:spcPts val="2480"/>
              </a:lnSpc>
              <a:buClr>
                <a:srgbClr val="2D74B5"/>
              </a:buClr>
              <a:buSzPct val="110869"/>
              <a:buFont typeface="Wingdings" pitchFamily="2" charset="2"/>
              <a:buChar char="§"/>
              <a:tabLst>
                <a:tab pos="279400" algn="l"/>
                <a:tab pos="379095" algn="l"/>
              </a:tabLst>
            </a:pPr>
            <a:r>
              <a:rPr sz="2300" spc="-220" dirty="0">
                <a:solidFill>
                  <a:srgbClr val="EC7C30"/>
                </a:solidFill>
                <a:latin typeface="Arial"/>
                <a:cs typeface="Arial"/>
              </a:rPr>
              <a:t>Was</a:t>
            </a:r>
            <a:r>
              <a:rPr sz="2300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95" dirty="0">
                <a:solidFill>
                  <a:srgbClr val="EC7C30"/>
                </a:solidFill>
                <a:latin typeface="Arial"/>
                <a:cs typeface="Arial"/>
              </a:rPr>
              <a:t>passiert</a:t>
            </a:r>
            <a:r>
              <a:rPr sz="2300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30" dirty="0">
                <a:solidFill>
                  <a:srgbClr val="EC7C30"/>
                </a:solidFill>
                <a:latin typeface="Arial"/>
                <a:cs typeface="Arial"/>
              </a:rPr>
              <a:t>in</a:t>
            </a:r>
            <a:r>
              <a:rPr sz="2300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100" dirty="0">
                <a:solidFill>
                  <a:srgbClr val="EC7C30"/>
                </a:solidFill>
                <a:latin typeface="Arial"/>
                <a:cs typeface="Arial"/>
              </a:rPr>
              <a:t>(a),</a:t>
            </a:r>
            <a:r>
              <a:rPr sz="2300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95" dirty="0">
                <a:solidFill>
                  <a:srgbClr val="EC7C30"/>
                </a:solidFill>
                <a:latin typeface="Arial"/>
                <a:cs typeface="Arial"/>
              </a:rPr>
              <a:t>wenn</a:t>
            </a:r>
            <a:r>
              <a:rPr sz="2300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175" dirty="0">
                <a:solidFill>
                  <a:srgbClr val="EC7C30"/>
                </a:solidFill>
                <a:latin typeface="Arial"/>
                <a:cs typeface="Arial"/>
              </a:rPr>
              <a:t>das</a:t>
            </a:r>
            <a:r>
              <a:rPr sz="2300" spc="-10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175" dirty="0">
                <a:solidFill>
                  <a:srgbClr val="EC7C30"/>
                </a:solidFill>
                <a:latin typeface="Arial"/>
                <a:cs typeface="Arial"/>
              </a:rPr>
              <a:t>System</a:t>
            </a:r>
            <a:r>
              <a:rPr sz="2300" spc="-114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105" dirty="0">
                <a:solidFill>
                  <a:srgbClr val="EC7C30"/>
                </a:solidFill>
                <a:latin typeface="Arial"/>
                <a:cs typeface="Arial"/>
              </a:rPr>
              <a:t>zuerst</a:t>
            </a:r>
            <a:r>
              <a:rPr sz="2300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75" dirty="0">
                <a:solidFill>
                  <a:srgbClr val="EC7C30"/>
                </a:solidFill>
                <a:latin typeface="Arial"/>
                <a:cs typeface="Arial"/>
              </a:rPr>
              <a:t>die</a:t>
            </a:r>
            <a:r>
              <a:rPr sz="2300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155" dirty="0">
                <a:solidFill>
                  <a:srgbClr val="EC7C30"/>
                </a:solidFill>
                <a:latin typeface="Arial"/>
                <a:cs typeface="Arial"/>
              </a:rPr>
              <a:t>Ereignisse</a:t>
            </a:r>
            <a:r>
              <a:rPr sz="2300" spc="-10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495" dirty="0">
                <a:solidFill>
                  <a:srgbClr val="EC7C30"/>
                </a:solidFill>
                <a:latin typeface="Arial"/>
                <a:cs typeface="Arial"/>
              </a:rPr>
              <a:t>e1</a:t>
            </a:r>
            <a:r>
              <a:rPr sz="2300" spc="-85" dirty="0">
                <a:solidFill>
                  <a:srgbClr val="EC7C30"/>
                </a:solidFill>
                <a:latin typeface="Arial"/>
                <a:cs typeface="Arial"/>
              </a:rPr>
              <a:t> und</a:t>
            </a:r>
            <a:r>
              <a:rPr sz="2300" spc="-10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135" dirty="0">
                <a:solidFill>
                  <a:srgbClr val="EC7C30"/>
                </a:solidFill>
                <a:latin typeface="Arial"/>
                <a:cs typeface="Arial"/>
              </a:rPr>
              <a:t>e2</a:t>
            </a:r>
            <a:r>
              <a:rPr sz="2300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90" dirty="0">
                <a:solidFill>
                  <a:srgbClr val="EC7C30"/>
                </a:solidFill>
                <a:latin typeface="Arial"/>
                <a:cs typeface="Arial"/>
              </a:rPr>
              <a:t>empfängt</a:t>
            </a:r>
            <a:r>
              <a:rPr sz="2300" spc="-10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85" dirty="0">
                <a:solidFill>
                  <a:srgbClr val="EC7C30"/>
                </a:solidFill>
                <a:latin typeface="Arial"/>
                <a:cs typeface="Arial"/>
              </a:rPr>
              <a:t>und</a:t>
            </a:r>
            <a:r>
              <a:rPr sz="2300" spc="-10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110" dirty="0">
                <a:solidFill>
                  <a:srgbClr val="EC7C30"/>
                </a:solidFill>
                <a:latin typeface="Arial"/>
                <a:cs typeface="Arial"/>
              </a:rPr>
              <a:t>dann</a:t>
            </a:r>
            <a:r>
              <a:rPr sz="2300" spc="-10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135" dirty="0">
                <a:solidFill>
                  <a:srgbClr val="EC7C30"/>
                </a:solidFill>
                <a:latin typeface="Arial"/>
                <a:cs typeface="Arial"/>
              </a:rPr>
              <a:t>e3</a:t>
            </a:r>
            <a:r>
              <a:rPr sz="2300" spc="-10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EC7C30"/>
                </a:solidFill>
                <a:latin typeface="Arial"/>
                <a:cs typeface="Arial"/>
              </a:rPr>
              <a:t>eintritt?</a:t>
            </a:r>
            <a:endParaRPr sz="2300" dirty="0">
              <a:latin typeface="Arial"/>
              <a:cs typeface="Arial"/>
            </a:endParaRPr>
          </a:p>
          <a:p>
            <a:pPr marL="385446" marR="718185" indent="-342900">
              <a:lnSpc>
                <a:spcPts val="2480"/>
              </a:lnSpc>
              <a:spcBef>
                <a:spcPts val="1010"/>
              </a:spcBef>
              <a:buClr>
                <a:srgbClr val="2D74B5"/>
              </a:buClr>
              <a:buSzPct val="110869"/>
              <a:buFont typeface="Wingdings" pitchFamily="2" charset="2"/>
              <a:buChar char="§"/>
              <a:tabLst>
                <a:tab pos="279400" algn="l"/>
                <a:tab pos="379095" algn="l"/>
              </a:tabLst>
            </a:pPr>
            <a:r>
              <a:rPr sz="2300" spc="-220" dirty="0">
                <a:solidFill>
                  <a:srgbClr val="EC7C30"/>
                </a:solidFill>
                <a:latin typeface="Arial"/>
                <a:cs typeface="Arial"/>
              </a:rPr>
              <a:t>Was</a:t>
            </a:r>
            <a:r>
              <a:rPr sz="2300" spc="-10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95" dirty="0">
                <a:solidFill>
                  <a:srgbClr val="EC7C30"/>
                </a:solidFill>
                <a:latin typeface="Arial"/>
                <a:cs typeface="Arial"/>
              </a:rPr>
              <a:t>passiert</a:t>
            </a:r>
            <a:r>
              <a:rPr sz="2300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30" dirty="0">
                <a:solidFill>
                  <a:srgbClr val="EC7C30"/>
                </a:solidFill>
                <a:latin typeface="Arial"/>
                <a:cs typeface="Arial"/>
              </a:rPr>
              <a:t>in</a:t>
            </a:r>
            <a:r>
              <a:rPr sz="2300" spc="-10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75" dirty="0">
                <a:solidFill>
                  <a:srgbClr val="EC7C30"/>
                </a:solidFill>
                <a:latin typeface="Arial"/>
                <a:cs typeface="Arial"/>
              </a:rPr>
              <a:t>(b),</a:t>
            </a:r>
            <a:r>
              <a:rPr sz="2300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95" dirty="0">
                <a:solidFill>
                  <a:srgbClr val="EC7C30"/>
                </a:solidFill>
                <a:latin typeface="Arial"/>
                <a:cs typeface="Arial"/>
              </a:rPr>
              <a:t>wenn</a:t>
            </a:r>
            <a:r>
              <a:rPr sz="2300" spc="-10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175" dirty="0">
                <a:solidFill>
                  <a:srgbClr val="EC7C30"/>
                </a:solidFill>
                <a:latin typeface="Arial"/>
                <a:cs typeface="Arial"/>
              </a:rPr>
              <a:t>das</a:t>
            </a:r>
            <a:r>
              <a:rPr sz="2300" spc="-10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180" dirty="0">
                <a:solidFill>
                  <a:srgbClr val="EC7C30"/>
                </a:solidFill>
                <a:latin typeface="Arial"/>
                <a:cs typeface="Arial"/>
              </a:rPr>
              <a:t>System</a:t>
            </a:r>
            <a:r>
              <a:rPr sz="2300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70" dirty="0">
                <a:solidFill>
                  <a:srgbClr val="EC7C30"/>
                </a:solidFill>
                <a:latin typeface="Arial"/>
                <a:cs typeface="Arial"/>
              </a:rPr>
              <a:t>die</a:t>
            </a:r>
            <a:r>
              <a:rPr sz="2300" spc="-10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155" dirty="0">
                <a:solidFill>
                  <a:srgbClr val="EC7C30"/>
                </a:solidFill>
                <a:latin typeface="Arial"/>
                <a:cs typeface="Arial"/>
              </a:rPr>
              <a:t>Ereignisse</a:t>
            </a:r>
            <a:r>
              <a:rPr sz="2300" spc="-9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125" dirty="0">
                <a:solidFill>
                  <a:srgbClr val="EC7C30"/>
                </a:solidFill>
                <a:latin typeface="Arial"/>
                <a:cs typeface="Arial"/>
              </a:rPr>
              <a:t>x,</a:t>
            </a:r>
            <a:r>
              <a:rPr sz="2300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300" spc="-900" dirty="0">
                <a:solidFill>
                  <a:srgbClr val="EC7C30"/>
                </a:solidFill>
                <a:latin typeface="Arial"/>
                <a:cs typeface="Arial"/>
              </a:rPr>
              <a:t>x</a:t>
            </a:r>
            <a:r>
              <a:rPr sz="2300" spc="-10" dirty="0">
                <a:solidFill>
                  <a:srgbClr val="EC7C30"/>
                </a:solidFill>
                <a:latin typeface="Arial"/>
                <a:cs typeface="Arial"/>
              </a:rPr>
              <a:t> empfängt?</a:t>
            </a:r>
            <a:endParaRPr sz="23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7168" y="1687152"/>
            <a:ext cx="8498084" cy="204141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3235" y="442733"/>
            <a:ext cx="788511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95" dirty="0"/>
              <a:t>Semantik:</a:t>
            </a:r>
            <a:r>
              <a:rPr spc="-200" dirty="0"/>
              <a:t> </a:t>
            </a:r>
            <a:r>
              <a:rPr spc="-150" dirty="0"/>
              <a:t>mehrere</a:t>
            </a:r>
            <a:r>
              <a:rPr spc="-190" dirty="0"/>
              <a:t> </a:t>
            </a:r>
            <a:r>
              <a:rPr spc="-110" dirty="0"/>
              <a:t>Möglichkeiten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64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411301" y="3728569"/>
            <a:ext cx="8976231" cy="28702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503680">
              <a:spcBef>
                <a:spcPts val="235"/>
              </a:spcBef>
              <a:tabLst>
                <a:tab pos="5779770" algn="l"/>
              </a:tabLst>
            </a:pPr>
            <a:r>
              <a:rPr spc="-25" dirty="0">
                <a:latin typeface="Arial"/>
                <a:cs typeface="Arial"/>
              </a:rPr>
              <a:t>(a)</a:t>
            </a:r>
            <a:r>
              <a:rPr dirty="0">
                <a:latin typeface="Arial"/>
                <a:cs typeface="Arial"/>
              </a:rPr>
              <a:t>	</a:t>
            </a:r>
            <a:r>
              <a:rPr spc="-25" dirty="0">
                <a:latin typeface="Arial"/>
                <a:cs typeface="Arial"/>
              </a:rPr>
              <a:t>(b)</a:t>
            </a:r>
            <a:endParaRPr dirty="0">
              <a:latin typeface="Arial"/>
              <a:cs typeface="Arial"/>
            </a:endParaRPr>
          </a:p>
          <a:p>
            <a:pPr marL="469900" marR="48260" indent="-457200">
              <a:lnSpc>
                <a:spcPct val="88100"/>
              </a:lnSpc>
              <a:spcBef>
                <a:spcPts val="459"/>
              </a:spcBef>
              <a:buClr>
                <a:srgbClr val="2D74B5"/>
              </a:buClr>
              <a:buSzPct val="113157"/>
              <a:buAutoNum type="alphaLcParenR"/>
              <a:tabLst>
                <a:tab pos="469900" algn="l"/>
              </a:tabLst>
            </a:pPr>
            <a:r>
              <a:rPr sz="1900" spc="-200" dirty="0">
                <a:solidFill>
                  <a:srgbClr val="006FBF"/>
                </a:solidFill>
                <a:latin typeface="Arial"/>
                <a:cs typeface="Arial"/>
              </a:rPr>
              <a:t>Das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55" dirty="0">
                <a:solidFill>
                  <a:srgbClr val="006FBF"/>
                </a:solidFill>
                <a:latin typeface="Arial"/>
                <a:cs typeface="Arial"/>
              </a:rPr>
              <a:t>System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50" dirty="0">
                <a:solidFill>
                  <a:srgbClr val="006FBF"/>
                </a:solidFill>
                <a:latin typeface="Arial"/>
                <a:cs typeface="Arial"/>
              </a:rPr>
              <a:t>ist</a:t>
            </a:r>
            <a:r>
              <a:rPr sz="1900" spc="-9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40" dirty="0">
                <a:solidFill>
                  <a:srgbClr val="006FBF"/>
                </a:solidFill>
                <a:latin typeface="Arial"/>
                <a:cs typeface="Arial"/>
              </a:rPr>
              <a:t>im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20" dirty="0">
                <a:solidFill>
                  <a:srgbClr val="006FBF"/>
                </a:solidFill>
                <a:latin typeface="Arial"/>
                <a:cs typeface="Arial"/>
              </a:rPr>
              <a:t>Zustand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70" dirty="0">
                <a:solidFill>
                  <a:srgbClr val="006FBF"/>
                </a:solidFill>
                <a:latin typeface="Arial"/>
                <a:cs typeface="Arial"/>
              </a:rPr>
              <a:t>s3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und </a:t>
            </a:r>
            <a:r>
              <a:rPr sz="1900" spc="-114" dirty="0">
                <a:solidFill>
                  <a:srgbClr val="006FBF"/>
                </a:solidFill>
                <a:latin typeface="Arial"/>
                <a:cs typeface="Arial"/>
              </a:rPr>
              <a:t>kann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nun </a:t>
            </a:r>
            <a:r>
              <a:rPr sz="1900" dirty="0">
                <a:solidFill>
                  <a:srgbClr val="006FBF"/>
                </a:solidFill>
                <a:latin typeface="Arial"/>
                <a:cs typeface="Arial"/>
              </a:rPr>
              <a:t>mit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25" dirty="0">
                <a:solidFill>
                  <a:srgbClr val="006FBF"/>
                </a:solidFill>
                <a:latin typeface="Arial"/>
                <a:cs typeface="Arial"/>
              </a:rPr>
              <a:t>e3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60" dirty="0">
                <a:solidFill>
                  <a:srgbClr val="006FBF"/>
                </a:solidFill>
                <a:latin typeface="Arial"/>
                <a:cs typeface="Arial"/>
              </a:rPr>
              <a:t>entweder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14" dirty="0">
                <a:solidFill>
                  <a:srgbClr val="006FBF"/>
                </a:solidFill>
                <a:latin typeface="Arial"/>
                <a:cs typeface="Arial"/>
              </a:rPr>
              <a:t>nach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70" dirty="0">
                <a:solidFill>
                  <a:srgbClr val="006FBF"/>
                </a:solidFill>
                <a:latin typeface="Arial"/>
                <a:cs typeface="Arial"/>
              </a:rPr>
              <a:t>s1</a:t>
            </a:r>
            <a:r>
              <a:rPr sz="1900" spc="-9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006FBF"/>
                </a:solidFill>
                <a:latin typeface="Arial"/>
                <a:cs typeface="Arial"/>
              </a:rPr>
              <a:t>oder </a:t>
            </a:r>
            <a:r>
              <a:rPr sz="1900" spc="-125" dirty="0">
                <a:solidFill>
                  <a:srgbClr val="006FBF"/>
                </a:solidFill>
                <a:latin typeface="Arial"/>
                <a:cs typeface="Arial"/>
              </a:rPr>
              <a:t>nach</a:t>
            </a:r>
            <a:r>
              <a:rPr sz="1900" spc="-7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70" dirty="0">
                <a:solidFill>
                  <a:srgbClr val="006FBF"/>
                </a:solidFill>
                <a:latin typeface="Arial"/>
                <a:cs typeface="Arial"/>
              </a:rPr>
              <a:t>s2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06FBF"/>
                </a:solidFill>
                <a:latin typeface="Arial"/>
                <a:cs typeface="Arial"/>
              </a:rPr>
              <a:t>gehen.</a:t>
            </a:r>
            <a:endParaRPr sz="1900" dirty="0">
              <a:latin typeface="Arial"/>
              <a:cs typeface="Arial"/>
            </a:endParaRPr>
          </a:p>
          <a:p>
            <a:pPr marL="469900">
              <a:lnSpc>
                <a:spcPts val="2050"/>
              </a:lnSpc>
            </a:pPr>
            <a:r>
              <a:rPr sz="1900" i="1" spc="-175" dirty="0">
                <a:latin typeface="Arial"/>
                <a:cs typeface="Arial"/>
              </a:rPr>
              <a:t>=&gt;</a:t>
            </a:r>
            <a:r>
              <a:rPr sz="1900" i="1" spc="-60" dirty="0">
                <a:latin typeface="Arial"/>
                <a:cs typeface="Arial"/>
              </a:rPr>
              <a:t> </a:t>
            </a:r>
            <a:r>
              <a:rPr sz="1900" i="1" spc="-114" dirty="0">
                <a:latin typeface="Arial"/>
                <a:cs typeface="Arial"/>
              </a:rPr>
              <a:t>Child-</a:t>
            </a:r>
            <a:r>
              <a:rPr sz="1900" i="1" spc="-20" dirty="0">
                <a:latin typeface="Arial"/>
                <a:cs typeface="Arial"/>
              </a:rPr>
              <a:t>first</a:t>
            </a:r>
            <a:r>
              <a:rPr sz="1900" i="1" spc="-65" dirty="0">
                <a:latin typeface="Arial"/>
                <a:cs typeface="Arial"/>
              </a:rPr>
              <a:t> </a:t>
            </a:r>
            <a:r>
              <a:rPr sz="1900" i="1" spc="-90" dirty="0">
                <a:latin typeface="Arial"/>
                <a:cs typeface="Arial"/>
              </a:rPr>
              <a:t>oder</a:t>
            </a:r>
            <a:r>
              <a:rPr sz="1900" i="1" spc="-65" dirty="0">
                <a:latin typeface="Arial"/>
                <a:cs typeface="Arial"/>
              </a:rPr>
              <a:t> </a:t>
            </a:r>
            <a:r>
              <a:rPr sz="1900" i="1" spc="-114" dirty="0">
                <a:latin typeface="Arial"/>
                <a:cs typeface="Arial"/>
              </a:rPr>
              <a:t>Parent-</a:t>
            </a:r>
            <a:r>
              <a:rPr sz="1900" i="1" spc="-85" dirty="0">
                <a:latin typeface="Arial"/>
                <a:cs typeface="Arial"/>
              </a:rPr>
              <a:t>First</a:t>
            </a:r>
            <a:r>
              <a:rPr sz="1900" i="1" spc="-60" dirty="0">
                <a:latin typeface="Arial"/>
                <a:cs typeface="Arial"/>
              </a:rPr>
              <a:t> </a:t>
            </a:r>
            <a:r>
              <a:rPr sz="1900" i="1" spc="-10" dirty="0">
                <a:latin typeface="Arial"/>
                <a:cs typeface="Arial"/>
              </a:rPr>
              <a:t>execution</a:t>
            </a:r>
            <a:endParaRPr sz="1900" dirty="0">
              <a:latin typeface="Arial"/>
              <a:cs typeface="Arial"/>
            </a:endParaRPr>
          </a:p>
          <a:p>
            <a:pPr marL="469900" marR="5080" indent="-457200">
              <a:lnSpc>
                <a:spcPct val="89000"/>
              </a:lnSpc>
              <a:spcBef>
                <a:spcPts val="805"/>
              </a:spcBef>
              <a:buClr>
                <a:srgbClr val="2D74B5"/>
              </a:buClr>
              <a:buSzPct val="113157"/>
              <a:buAutoNum type="alphaLcParenR" startAt="2"/>
              <a:tabLst>
                <a:tab pos="469900" algn="l"/>
              </a:tabLst>
            </a:pPr>
            <a:r>
              <a:rPr sz="1900" spc="-110" dirty="0">
                <a:solidFill>
                  <a:srgbClr val="006FBF"/>
                </a:solidFill>
                <a:latin typeface="Arial"/>
                <a:cs typeface="Arial"/>
              </a:rPr>
              <a:t>Beim</a:t>
            </a:r>
            <a:r>
              <a:rPr sz="1900" spc="-9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ersten</a:t>
            </a:r>
            <a:r>
              <a:rPr sz="1900" spc="-9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40" dirty="0">
                <a:solidFill>
                  <a:srgbClr val="006FBF"/>
                </a:solidFill>
                <a:latin typeface="Arial"/>
                <a:cs typeface="Arial"/>
              </a:rPr>
              <a:t>x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35" dirty="0">
                <a:solidFill>
                  <a:srgbClr val="006FBF"/>
                </a:solidFill>
                <a:latin typeface="Arial"/>
                <a:cs typeface="Arial"/>
              </a:rPr>
              <a:t>wird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b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35" dirty="0">
                <a:solidFill>
                  <a:srgbClr val="006FBF"/>
                </a:solidFill>
                <a:latin typeface="Arial"/>
                <a:cs typeface="Arial"/>
              </a:rPr>
              <a:t>ausgegeben.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35" dirty="0">
                <a:solidFill>
                  <a:srgbClr val="006FBF"/>
                </a:solidFill>
                <a:latin typeface="Arial"/>
                <a:cs typeface="Arial"/>
              </a:rPr>
              <a:t>Dann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14" dirty="0">
                <a:solidFill>
                  <a:srgbClr val="006FBF"/>
                </a:solidFill>
                <a:latin typeface="Arial"/>
                <a:cs typeface="Arial"/>
              </a:rPr>
              <a:t>kann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65" dirty="0">
                <a:solidFill>
                  <a:srgbClr val="006FBF"/>
                </a:solidFill>
                <a:latin typeface="Arial"/>
                <a:cs typeface="Arial"/>
              </a:rPr>
              <a:t>der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35" dirty="0">
                <a:solidFill>
                  <a:srgbClr val="006FBF"/>
                </a:solidFill>
                <a:latin typeface="Arial"/>
                <a:cs typeface="Arial"/>
              </a:rPr>
              <a:t>Übergang</a:t>
            </a:r>
            <a:r>
              <a:rPr sz="1900" spc="-95" dirty="0">
                <a:solidFill>
                  <a:srgbClr val="006FBF"/>
                </a:solidFill>
                <a:latin typeface="Arial"/>
                <a:cs typeface="Arial"/>
              </a:rPr>
              <a:t> von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06FBF"/>
                </a:solidFill>
                <a:latin typeface="Arial"/>
                <a:cs typeface="Arial"/>
              </a:rPr>
              <a:t>t1</a:t>
            </a:r>
            <a:r>
              <a:rPr sz="1900" spc="-9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14" dirty="0">
                <a:solidFill>
                  <a:srgbClr val="006FBF"/>
                </a:solidFill>
                <a:latin typeface="Arial"/>
                <a:cs typeface="Arial"/>
              </a:rPr>
              <a:t>nach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006FBF"/>
                </a:solidFill>
                <a:latin typeface="Arial"/>
                <a:cs typeface="Arial"/>
              </a:rPr>
              <a:t>t2 </a:t>
            </a:r>
            <a:r>
              <a:rPr sz="1900" spc="-110" dirty="0">
                <a:solidFill>
                  <a:srgbClr val="006FBF"/>
                </a:solidFill>
                <a:latin typeface="Arial"/>
                <a:cs typeface="Arial"/>
              </a:rPr>
              <a:t>genommen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75" dirty="0">
                <a:solidFill>
                  <a:srgbClr val="006FBF"/>
                </a:solidFill>
                <a:latin typeface="Arial"/>
                <a:cs typeface="Arial"/>
              </a:rPr>
              <a:t>werden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und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00" dirty="0">
                <a:solidFill>
                  <a:srgbClr val="006FBF"/>
                </a:solidFill>
                <a:latin typeface="Arial"/>
                <a:cs typeface="Arial"/>
              </a:rPr>
              <a:t>dann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40" dirty="0">
                <a:solidFill>
                  <a:srgbClr val="006FBF"/>
                </a:solidFill>
                <a:latin typeface="Arial"/>
                <a:cs typeface="Arial"/>
              </a:rPr>
              <a:t>gibt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80" dirty="0">
                <a:solidFill>
                  <a:srgbClr val="006FBF"/>
                </a:solidFill>
                <a:latin typeface="Arial"/>
                <a:cs typeface="Arial"/>
              </a:rPr>
              <a:t>es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einen </a:t>
            </a:r>
            <a:r>
              <a:rPr sz="1900" spc="-60" dirty="0">
                <a:solidFill>
                  <a:srgbClr val="006FBF"/>
                </a:solidFill>
                <a:latin typeface="Arial"/>
                <a:cs typeface="Arial"/>
              </a:rPr>
              <a:t>Konflikt.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25" dirty="0">
                <a:solidFill>
                  <a:srgbClr val="006FBF"/>
                </a:solidFill>
                <a:latin typeface="Arial"/>
                <a:cs typeface="Arial"/>
              </a:rPr>
              <a:t>Bei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06FBF"/>
                </a:solidFill>
                <a:latin typeface="Arial"/>
                <a:cs typeface="Arial"/>
              </a:rPr>
              <a:t>synchroner </a:t>
            </a:r>
            <a:r>
              <a:rPr sz="1900" spc="-110" dirty="0">
                <a:solidFill>
                  <a:srgbClr val="006FBF"/>
                </a:solidFill>
                <a:latin typeface="Arial"/>
                <a:cs typeface="Arial"/>
              </a:rPr>
              <a:t>Semantik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10" dirty="0">
                <a:solidFill>
                  <a:srgbClr val="006FBF"/>
                </a:solidFill>
                <a:latin typeface="Arial"/>
                <a:cs typeface="Arial"/>
              </a:rPr>
              <a:t>kann</a:t>
            </a:r>
            <a:r>
              <a:rPr sz="1900" spc="-9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70" dirty="0">
                <a:solidFill>
                  <a:srgbClr val="006FBF"/>
                </a:solidFill>
                <a:latin typeface="Arial"/>
                <a:cs typeface="Arial"/>
              </a:rPr>
              <a:t>beim</a:t>
            </a:r>
            <a:r>
              <a:rPr sz="1900" spc="-9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75" dirty="0">
                <a:solidFill>
                  <a:srgbClr val="006FBF"/>
                </a:solidFill>
                <a:latin typeface="Arial"/>
                <a:cs typeface="Arial"/>
              </a:rPr>
              <a:t>zweiten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40" dirty="0">
                <a:solidFill>
                  <a:srgbClr val="006FBF"/>
                </a:solidFill>
                <a:latin typeface="Arial"/>
                <a:cs typeface="Arial"/>
              </a:rPr>
              <a:t>x</a:t>
            </a:r>
            <a:r>
              <a:rPr sz="1900" spc="-9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75" dirty="0">
                <a:solidFill>
                  <a:srgbClr val="006FBF"/>
                </a:solidFill>
                <a:latin typeface="Arial"/>
                <a:cs typeface="Arial"/>
              </a:rPr>
              <a:t>die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06FBF"/>
                </a:solidFill>
                <a:latin typeface="Arial"/>
                <a:cs typeface="Arial"/>
              </a:rPr>
              <a:t>Transition</a:t>
            </a:r>
            <a:endParaRPr sz="1900" dirty="0">
              <a:latin typeface="Arial"/>
              <a:cs typeface="Arial"/>
            </a:endParaRPr>
          </a:p>
          <a:p>
            <a:pPr marL="469900" marR="542925">
              <a:lnSpc>
                <a:spcPts val="2050"/>
              </a:lnSpc>
              <a:spcBef>
                <a:spcPts val="30"/>
              </a:spcBef>
            </a:pPr>
            <a:r>
              <a:rPr sz="1900" spc="-30" dirty="0">
                <a:solidFill>
                  <a:srgbClr val="006FBF"/>
                </a:solidFill>
                <a:latin typeface="Arial"/>
                <a:cs typeface="Arial"/>
              </a:rPr>
              <a:t>t2-</a:t>
            </a:r>
            <a:r>
              <a:rPr sz="1900" spc="-65" dirty="0">
                <a:solidFill>
                  <a:srgbClr val="006FBF"/>
                </a:solidFill>
                <a:latin typeface="Arial"/>
                <a:cs typeface="Arial"/>
              </a:rPr>
              <a:t>&gt;t1</a:t>
            </a:r>
            <a:r>
              <a:rPr sz="1900" spc="-7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gleichzeitig</a:t>
            </a:r>
            <a:r>
              <a:rPr sz="1900" spc="-7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14" dirty="0">
                <a:solidFill>
                  <a:srgbClr val="006FBF"/>
                </a:solidFill>
                <a:latin typeface="Arial"/>
                <a:cs typeface="Arial"/>
              </a:rPr>
              <a:t>passieren</a:t>
            </a:r>
            <a:r>
              <a:rPr sz="1900" spc="-6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und</a:t>
            </a:r>
            <a:r>
              <a:rPr sz="1900" spc="-7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40" dirty="0">
                <a:solidFill>
                  <a:srgbClr val="006FBF"/>
                </a:solidFill>
                <a:latin typeface="Arial"/>
                <a:cs typeface="Arial"/>
              </a:rPr>
              <a:t>damit</a:t>
            </a:r>
            <a:r>
              <a:rPr sz="1900" spc="-6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75" dirty="0">
                <a:solidFill>
                  <a:srgbClr val="006FBF"/>
                </a:solidFill>
                <a:latin typeface="Arial"/>
                <a:cs typeface="Arial"/>
              </a:rPr>
              <a:t>die</a:t>
            </a:r>
            <a:r>
              <a:rPr sz="1900" spc="-6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srgbClr val="006FBF"/>
                </a:solidFill>
                <a:latin typeface="Arial"/>
                <a:cs typeface="Arial"/>
              </a:rPr>
              <a:t>Transition</a:t>
            </a:r>
            <a:r>
              <a:rPr sz="1900" spc="-6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40" dirty="0">
                <a:solidFill>
                  <a:srgbClr val="006FBF"/>
                </a:solidFill>
                <a:latin typeface="Arial"/>
                <a:cs typeface="Arial"/>
              </a:rPr>
              <a:t>s1-</a:t>
            </a:r>
            <a:r>
              <a:rPr sz="1900" spc="-165" dirty="0">
                <a:solidFill>
                  <a:srgbClr val="006FBF"/>
                </a:solidFill>
                <a:latin typeface="Arial"/>
                <a:cs typeface="Arial"/>
              </a:rPr>
              <a:t>&gt;s1</a:t>
            </a:r>
            <a:r>
              <a:rPr sz="1900" spc="-7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006FBF"/>
                </a:solidFill>
                <a:latin typeface="Arial"/>
                <a:cs typeface="Arial"/>
              </a:rPr>
              <a:t>ungültig </a:t>
            </a:r>
            <a:r>
              <a:rPr sz="1900" spc="-114" dirty="0">
                <a:solidFill>
                  <a:srgbClr val="006FBF"/>
                </a:solidFill>
                <a:latin typeface="Arial"/>
                <a:cs typeface="Arial"/>
              </a:rPr>
              <a:t>machen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 (gleichzeitig </a:t>
            </a:r>
            <a:r>
              <a:rPr sz="1900" spc="-10" dirty="0">
                <a:solidFill>
                  <a:srgbClr val="006FBF"/>
                </a:solidFill>
                <a:latin typeface="Arial"/>
                <a:cs typeface="Arial"/>
              </a:rPr>
              <a:t>not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165" dirty="0">
                <a:solidFill>
                  <a:srgbClr val="006FBF"/>
                </a:solidFill>
                <a:latin typeface="Arial"/>
                <a:cs typeface="Arial"/>
              </a:rPr>
              <a:t>a</a:t>
            </a:r>
            <a:r>
              <a:rPr sz="1900" spc="-75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006FBF"/>
                </a:solidFill>
                <a:latin typeface="Arial"/>
                <a:cs typeface="Arial"/>
              </a:rPr>
              <a:t>und</a:t>
            </a:r>
            <a:r>
              <a:rPr sz="1900" spc="-80" dirty="0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006FBF"/>
                </a:solidFill>
                <a:latin typeface="Arial"/>
                <a:cs typeface="Arial"/>
              </a:rPr>
              <a:t>a)</a:t>
            </a:r>
            <a:endParaRPr sz="1900" dirty="0">
              <a:latin typeface="Arial"/>
              <a:cs typeface="Arial"/>
            </a:endParaRPr>
          </a:p>
          <a:p>
            <a:pPr marL="469900">
              <a:lnSpc>
                <a:spcPts val="2025"/>
              </a:lnSpc>
            </a:pPr>
            <a:r>
              <a:rPr sz="1900" spc="-175" dirty="0">
                <a:latin typeface="Arial"/>
                <a:cs typeface="Arial"/>
              </a:rPr>
              <a:t>=&gt;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-80" dirty="0">
                <a:latin typeface="Arial"/>
                <a:cs typeface="Arial"/>
              </a:rPr>
              <a:t>Sichtbarkeit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100" dirty="0">
                <a:latin typeface="Arial"/>
                <a:cs typeface="Arial"/>
              </a:rPr>
              <a:t>gesendeter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-130" dirty="0">
                <a:latin typeface="Arial"/>
                <a:cs typeface="Arial"/>
              </a:rPr>
              <a:t>Ereignisse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-160" dirty="0">
                <a:latin typeface="Arial"/>
                <a:cs typeface="Arial"/>
              </a:rPr>
              <a:t>muss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35" dirty="0">
                <a:latin typeface="Arial"/>
                <a:cs typeface="Arial"/>
              </a:rPr>
              <a:t>definiert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werden</a:t>
            </a:r>
            <a:endParaRPr sz="1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el 1"/>
          <p:cNvSpPr>
            <a:spLocks noGrp="1"/>
          </p:cNvSpPr>
          <p:nvPr>
            <p:ph type="title"/>
          </p:nvPr>
        </p:nvSpPr>
        <p:spPr bwMode="auto">
          <a:xfrm>
            <a:off x="352781" y="893394"/>
            <a:ext cx="7814540" cy="49244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en-US" dirty="0" err="1"/>
              <a:t>Exkurs</a:t>
            </a:r>
            <a:r>
              <a:rPr lang="en-US" dirty="0"/>
              <a:t>: </a:t>
            </a:r>
            <a:r>
              <a:rPr lang="en-US" dirty="0" err="1"/>
              <a:t>Kompositionalität</a:t>
            </a:r>
            <a:r>
              <a:rPr lang="en-US" dirty="0"/>
              <a:t> der </a:t>
            </a:r>
            <a:r>
              <a:rPr lang="en-US" dirty="0" err="1"/>
              <a:t>Semantik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3315" name="Rectangle 54"/>
          <p:cNvSpPr>
            <a:spLocks noChangeArrowheads="1"/>
          </p:cNvSpPr>
          <p:nvPr/>
        </p:nvSpPr>
        <p:spPr bwMode="auto">
          <a:xfrm>
            <a:off x="997833" y="1788427"/>
            <a:ext cx="4896544" cy="104780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2200" b="1" dirty="0">
                <a:latin typeface="Meta  "/>
              </a:rPr>
              <a:t>In der </a:t>
            </a:r>
            <a:r>
              <a:rPr lang="en-US" sz="2200" b="1" dirty="0" err="1">
                <a:latin typeface="Meta  "/>
              </a:rPr>
              <a:t>mathematischen</a:t>
            </a:r>
            <a:r>
              <a:rPr lang="en-US" sz="2200" b="1" dirty="0">
                <a:latin typeface="Meta  "/>
              </a:rPr>
              <a:t> </a:t>
            </a:r>
            <a:r>
              <a:rPr lang="en-US" sz="2200" b="1" dirty="0" err="1">
                <a:latin typeface="Meta  "/>
              </a:rPr>
              <a:t>Logik</a:t>
            </a:r>
            <a:r>
              <a:rPr lang="en-US" sz="2200" b="1" dirty="0">
                <a:latin typeface="Meta  "/>
              </a:rPr>
              <a:t>:</a:t>
            </a:r>
            <a:br>
              <a:rPr lang="en-US" sz="2200" b="1" dirty="0">
                <a:latin typeface="Meta  "/>
              </a:rPr>
            </a:br>
            <a:r>
              <a:rPr lang="en-US" sz="2200" dirty="0" err="1">
                <a:latin typeface="Meta  "/>
              </a:rPr>
              <a:t>Wahrheitswert</a:t>
            </a:r>
            <a:r>
              <a:rPr lang="en-US" sz="2200" dirty="0">
                <a:latin typeface="Meta  "/>
              </a:rPr>
              <a:t> </a:t>
            </a:r>
            <a:r>
              <a:rPr lang="en-US" sz="2200" dirty="0" err="1">
                <a:latin typeface="Meta  "/>
              </a:rPr>
              <a:t>einer</a:t>
            </a:r>
            <a:r>
              <a:rPr lang="en-US" sz="2200" dirty="0">
                <a:latin typeface="Meta  "/>
              </a:rPr>
              <a:t> </a:t>
            </a:r>
            <a:r>
              <a:rPr lang="en-US" sz="2200" dirty="0" err="1">
                <a:latin typeface="Meta  "/>
              </a:rPr>
              <a:t>Formel</a:t>
            </a:r>
            <a:r>
              <a:rPr lang="en-US" sz="2200" dirty="0">
                <a:latin typeface="Meta  "/>
              </a:rPr>
              <a:t>:</a:t>
            </a:r>
          </a:p>
          <a:p>
            <a:r>
              <a:rPr lang="en-US" sz="2200" dirty="0">
                <a:latin typeface="Meta  "/>
              </a:rPr>
              <a:t>- </a:t>
            </a:r>
            <a:r>
              <a:rPr lang="en-US" sz="2200" dirty="0" err="1">
                <a:latin typeface="Meta  "/>
              </a:rPr>
              <a:t>aus</a:t>
            </a:r>
            <a:r>
              <a:rPr lang="en-US" sz="2200" dirty="0">
                <a:latin typeface="Meta  "/>
              </a:rPr>
              <a:t> </a:t>
            </a:r>
            <a:r>
              <a:rPr lang="en-US" sz="2200" dirty="0" err="1">
                <a:latin typeface="Meta  "/>
              </a:rPr>
              <a:t>Wahrheitswerten</a:t>
            </a:r>
            <a:r>
              <a:rPr lang="en-US" sz="2200" dirty="0">
                <a:latin typeface="Meta  "/>
              </a:rPr>
              <a:t> der </a:t>
            </a:r>
            <a:r>
              <a:rPr lang="en-US" sz="2200" dirty="0" err="1">
                <a:latin typeface="Meta  "/>
              </a:rPr>
              <a:t>Teilformeln</a:t>
            </a:r>
            <a:endParaRPr lang="en-US" sz="2200" dirty="0">
              <a:latin typeface="Meta  "/>
            </a:endParaRPr>
          </a:p>
        </p:txBody>
      </p:sp>
      <p:sp>
        <p:nvSpPr>
          <p:cNvPr id="13316" name="Rectangle 54"/>
          <p:cNvSpPr>
            <a:spLocks noChangeArrowheads="1"/>
          </p:cNvSpPr>
          <p:nvPr/>
        </p:nvSpPr>
        <p:spPr bwMode="auto">
          <a:xfrm>
            <a:off x="6038395" y="1725546"/>
            <a:ext cx="5472929" cy="14055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2200" b="1" dirty="0" err="1">
                <a:latin typeface="Meta  "/>
              </a:rPr>
              <a:t>Bei</a:t>
            </a:r>
            <a:r>
              <a:rPr lang="en-US" sz="2200" b="1" dirty="0">
                <a:latin typeface="Meta  "/>
              </a:rPr>
              <a:t> </a:t>
            </a:r>
            <a:r>
              <a:rPr lang="en-US" sz="2200" b="1" dirty="0" err="1">
                <a:latin typeface="Meta  "/>
              </a:rPr>
              <a:t>Programmiersprachen</a:t>
            </a:r>
            <a:r>
              <a:rPr lang="en-US" sz="2200" b="1" dirty="0">
                <a:latin typeface="Meta  "/>
              </a:rPr>
              <a:t>:</a:t>
            </a:r>
            <a:br>
              <a:rPr lang="en-US" sz="2200" b="1" dirty="0">
                <a:latin typeface="Meta  "/>
              </a:rPr>
            </a:br>
            <a:r>
              <a:rPr lang="en-US" sz="2200" dirty="0" err="1">
                <a:latin typeface="Meta  "/>
              </a:rPr>
              <a:t>Semantik</a:t>
            </a:r>
            <a:r>
              <a:rPr lang="en-US" sz="2200" dirty="0">
                <a:latin typeface="Meta  "/>
              </a:rPr>
              <a:t> </a:t>
            </a:r>
            <a:r>
              <a:rPr lang="en-US" sz="2200" dirty="0" err="1">
                <a:latin typeface="Meta  "/>
              </a:rPr>
              <a:t>eines</a:t>
            </a:r>
            <a:r>
              <a:rPr lang="en-US" sz="2200" dirty="0">
                <a:latin typeface="Meta  "/>
              </a:rPr>
              <a:t> </a:t>
            </a:r>
            <a:r>
              <a:rPr lang="en-US" sz="2200" dirty="0" err="1">
                <a:latin typeface="Meta  "/>
              </a:rPr>
              <a:t>Programms</a:t>
            </a:r>
            <a:r>
              <a:rPr lang="en-US" sz="2200" dirty="0">
                <a:latin typeface="Meta  "/>
              </a:rPr>
              <a:t>:</a:t>
            </a:r>
          </a:p>
          <a:p>
            <a:pPr>
              <a:buFontTx/>
              <a:buChar char="-"/>
            </a:pPr>
            <a:r>
              <a:rPr lang="en-US" sz="2200" dirty="0">
                <a:latin typeface="Meta  "/>
              </a:rPr>
              <a:t> </a:t>
            </a:r>
            <a:r>
              <a:rPr lang="en-US" sz="2200" dirty="0" err="1">
                <a:latin typeface="Meta  "/>
              </a:rPr>
              <a:t>aus</a:t>
            </a:r>
            <a:r>
              <a:rPr lang="en-US" sz="2200" dirty="0">
                <a:latin typeface="Meta  "/>
              </a:rPr>
              <a:t> </a:t>
            </a:r>
            <a:r>
              <a:rPr lang="en-US" sz="2200" dirty="0" err="1">
                <a:latin typeface="Meta  "/>
              </a:rPr>
              <a:t>Semantik</a:t>
            </a:r>
            <a:r>
              <a:rPr lang="en-US" sz="2200" dirty="0">
                <a:latin typeface="Meta  "/>
              </a:rPr>
              <a:t> seiner </a:t>
            </a:r>
            <a:r>
              <a:rPr lang="en-US" sz="2200" dirty="0" err="1">
                <a:latin typeface="Meta  "/>
              </a:rPr>
              <a:t>direkten</a:t>
            </a:r>
            <a:r>
              <a:rPr lang="en-US" sz="2200" dirty="0">
                <a:latin typeface="Meta  "/>
              </a:rPr>
              <a:t> </a:t>
            </a:r>
            <a:r>
              <a:rPr lang="en-US" sz="2200" dirty="0" err="1">
                <a:latin typeface="Meta  "/>
              </a:rPr>
              <a:t>Teile</a:t>
            </a:r>
            <a:endParaRPr lang="en-US" sz="2200" dirty="0">
              <a:latin typeface="Meta  "/>
            </a:endParaRPr>
          </a:p>
          <a:p>
            <a:pPr>
              <a:buFontTx/>
              <a:buChar char="-"/>
            </a:pPr>
            <a:r>
              <a:rPr lang="en-US" sz="2200" dirty="0">
                <a:latin typeface="Meta  "/>
              </a:rPr>
              <a:t> </a:t>
            </a:r>
            <a:r>
              <a:rPr lang="en-US" sz="2200" dirty="0" err="1">
                <a:latin typeface="Meta  "/>
              </a:rPr>
              <a:t>rekursiv</a:t>
            </a:r>
            <a:r>
              <a:rPr lang="en-US" sz="2200" dirty="0">
                <a:latin typeface="Meta  "/>
              </a:rPr>
              <a:t>: </a:t>
            </a:r>
            <a:r>
              <a:rPr lang="en-US" sz="2200" dirty="0" err="1">
                <a:latin typeface="Meta  "/>
              </a:rPr>
              <a:t>auch</a:t>
            </a:r>
            <a:r>
              <a:rPr lang="en-US" sz="2200" dirty="0">
                <a:latin typeface="Meta  "/>
              </a:rPr>
              <a:t> </a:t>
            </a:r>
            <a:r>
              <a:rPr lang="en-US" sz="2200" dirty="0" err="1">
                <a:latin typeface="Meta  "/>
              </a:rPr>
              <a:t>aus</a:t>
            </a:r>
            <a:r>
              <a:rPr lang="en-US" sz="2200" dirty="0">
                <a:latin typeface="Meta  "/>
              </a:rPr>
              <a:t> </a:t>
            </a:r>
            <a:r>
              <a:rPr lang="en-US" sz="2200" dirty="0" err="1">
                <a:latin typeface="Meta  "/>
              </a:rPr>
              <a:t>der</a:t>
            </a:r>
            <a:r>
              <a:rPr lang="en-US" sz="2200" dirty="0">
                <a:latin typeface="Meta  "/>
              </a:rPr>
              <a:t> </a:t>
            </a:r>
            <a:r>
              <a:rPr lang="en-US" sz="2200" dirty="0" err="1">
                <a:latin typeface="Meta  "/>
              </a:rPr>
              <a:t>eigenen</a:t>
            </a:r>
            <a:r>
              <a:rPr lang="en-US" sz="2200" dirty="0">
                <a:latin typeface="Meta  "/>
              </a:rPr>
              <a:t> </a:t>
            </a:r>
            <a:r>
              <a:rPr lang="en-US" sz="2200" dirty="0" err="1">
                <a:latin typeface="Meta  "/>
              </a:rPr>
              <a:t>Semantik</a:t>
            </a:r>
            <a:endParaRPr lang="en-US" sz="2200" dirty="0">
              <a:latin typeface="Meta  "/>
            </a:endParaRPr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3125902" y="2958017"/>
            <a:ext cx="1260281" cy="400110"/>
          </a:xfrm>
          <a:prstGeom prst="rect">
            <a:avLst/>
          </a:prstGeom>
          <a:noFill/>
          <a:ln w="1905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F</a:t>
            </a:r>
            <a:r>
              <a:rPr lang="en-US" sz="2000" dirty="0"/>
              <a:t> = </a:t>
            </a:r>
            <a:r>
              <a:rPr lang="en-US" sz="2000" b="1" dirty="0">
                <a:solidFill>
                  <a:srgbClr val="FF0000"/>
                </a:solidFill>
              </a:rPr>
              <a:t>A</a:t>
            </a:r>
            <a:r>
              <a:rPr lang="en-US" sz="2000" dirty="0"/>
              <a:t> </a:t>
            </a:r>
            <a:r>
              <a:rPr lang="en-US" sz="2000" dirty="0">
                <a:latin typeface="cmsy10" pitchFamily="34" charset="0"/>
              </a:rPr>
              <a:t>v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B</a:t>
            </a:r>
            <a:endParaRPr lang="en-US" sz="2000" b="1" baseline="-25000" dirty="0">
              <a:solidFill>
                <a:srgbClr val="FF0000"/>
              </a:solidFill>
            </a:endParaRPr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2321039" y="3532694"/>
            <a:ext cx="3117850" cy="7080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F</a:t>
            </a:r>
            <a:r>
              <a:rPr lang="en-US" sz="2000"/>
              <a:t> ist wahr gdw.</a:t>
            </a:r>
          </a:p>
          <a:p>
            <a:pPr algn="ctr"/>
            <a:r>
              <a:rPr lang="en-US" sz="2000" b="1">
                <a:solidFill>
                  <a:srgbClr val="FF0000"/>
                </a:solidFill>
              </a:rPr>
              <a:t>A</a:t>
            </a:r>
            <a:r>
              <a:rPr lang="en-US" sz="2000"/>
              <a:t> ist wahr oder </a:t>
            </a:r>
            <a:r>
              <a:rPr lang="en-US" sz="2000" b="1">
                <a:solidFill>
                  <a:srgbClr val="FF0000"/>
                </a:solidFill>
              </a:rPr>
              <a:t>B</a:t>
            </a:r>
            <a:r>
              <a:rPr lang="en-US" sz="2000"/>
              <a:t> ist wahr</a:t>
            </a:r>
          </a:p>
        </p:txBody>
      </p:sp>
      <p:sp>
        <p:nvSpPr>
          <p:cNvPr id="13319" name="Textfeld 20"/>
          <p:cNvSpPr txBox="1">
            <a:spLocks noChangeArrowheads="1"/>
          </p:cNvSpPr>
          <p:nvPr/>
        </p:nvSpPr>
        <p:spPr bwMode="auto">
          <a:xfrm>
            <a:off x="6824776" y="4245479"/>
            <a:ext cx="1841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de-DE" sz="2000"/>
          </a:p>
        </p:txBody>
      </p:sp>
      <p:grpSp>
        <p:nvGrpSpPr>
          <p:cNvPr id="2" name="Gruppieren 33"/>
          <p:cNvGrpSpPr>
            <a:grpSpLocks/>
          </p:cNvGrpSpPr>
          <p:nvPr/>
        </p:nvGrpSpPr>
        <p:grpSpPr bwMode="auto">
          <a:xfrm>
            <a:off x="2154351" y="4745544"/>
            <a:ext cx="3384550" cy="1800225"/>
            <a:chOff x="615946" y="4357694"/>
            <a:chExt cx="3384550" cy="1800225"/>
          </a:xfrm>
        </p:grpSpPr>
        <p:grpSp>
          <p:nvGrpSpPr>
            <p:cNvPr id="3" name="Group 31"/>
            <p:cNvGrpSpPr>
              <a:grpSpLocks/>
            </p:cNvGrpSpPr>
            <p:nvPr/>
          </p:nvGrpSpPr>
          <p:grpSpPr bwMode="auto">
            <a:xfrm>
              <a:off x="615946" y="4357694"/>
              <a:ext cx="3384550" cy="1800225"/>
              <a:chOff x="158" y="2886"/>
              <a:chExt cx="2132" cy="1134"/>
            </a:xfrm>
          </p:grpSpPr>
          <p:sp>
            <p:nvSpPr>
              <p:cNvPr id="13334" name="Rectangle 30"/>
              <p:cNvSpPr>
                <a:spLocks noChangeArrowheads="1"/>
              </p:cNvSpPr>
              <p:nvPr/>
            </p:nvSpPr>
            <p:spPr bwMode="auto">
              <a:xfrm>
                <a:off x="158" y="2886"/>
                <a:ext cx="2132" cy="113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pPr algn="ctr"/>
                <a:endParaRPr lang="de-DE"/>
              </a:p>
            </p:txBody>
          </p:sp>
          <p:sp>
            <p:nvSpPr>
              <p:cNvPr id="13335" name="AutoShape 20"/>
              <p:cNvSpPr>
                <a:spLocks noChangeArrowheads="1"/>
              </p:cNvSpPr>
              <p:nvPr/>
            </p:nvSpPr>
            <p:spPr bwMode="auto">
              <a:xfrm>
                <a:off x="431" y="3067"/>
                <a:ext cx="1270" cy="862"/>
              </a:xfrm>
              <a:prstGeom prst="triangle">
                <a:avLst>
                  <a:gd name="adj" fmla="val 50000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13336" name="Oval 21"/>
              <p:cNvSpPr>
                <a:spLocks noChangeArrowheads="1"/>
              </p:cNvSpPr>
              <p:nvPr/>
            </p:nvSpPr>
            <p:spPr bwMode="auto">
              <a:xfrm>
                <a:off x="839" y="3521"/>
                <a:ext cx="91" cy="9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13" name="AutoShape 22"/>
              <p:cNvSpPr>
                <a:spLocks noChangeArrowheads="1"/>
              </p:cNvSpPr>
              <p:nvPr/>
            </p:nvSpPr>
            <p:spPr bwMode="auto">
              <a:xfrm>
                <a:off x="1157" y="3702"/>
                <a:ext cx="363" cy="227"/>
              </a:xfrm>
              <a:prstGeom prst="triangle">
                <a:avLst>
                  <a:gd name="adj" fmla="val 50000"/>
                </a:avLst>
              </a:prstGeom>
              <a:solidFill>
                <a:schemeClr val="accent5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338" name="Line 23"/>
              <p:cNvSpPr>
                <a:spLocks noChangeShapeType="1"/>
              </p:cNvSpPr>
              <p:nvPr/>
            </p:nvSpPr>
            <p:spPr bwMode="auto">
              <a:xfrm>
                <a:off x="1066" y="3067"/>
                <a:ext cx="272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3339" name="Oval 24"/>
              <p:cNvSpPr>
                <a:spLocks noChangeArrowheads="1"/>
              </p:cNvSpPr>
              <p:nvPr/>
            </p:nvSpPr>
            <p:spPr bwMode="auto">
              <a:xfrm>
                <a:off x="1293" y="3657"/>
                <a:ext cx="91" cy="9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13340" name="Oval 25"/>
              <p:cNvSpPr>
                <a:spLocks noChangeArrowheads="1"/>
              </p:cNvSpPr>
              <p:nvPr/>
            </p:nvSpPr>
            <p:spPr bwMode="auto">
              <a:xfrm>
                <a:off x="1021" y="3022"/>
                <a:ext cx="91" cy="9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13341" name="Text Box 26"/>
              <p:cNvSpPr txBox="1">
                <a:spLocks noChangeArrowheads="1"/>
              </p:cNvSpPr>
              <p:nvPr/>
            </p:nvSpPr>
            <p:spPr bwMode="auto">
              <a:xfrm>
                <a:off x="1746" y="3521"/>
                <a:ext cx="50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de-DE" sz="2000">
                    <a:latin typeface="Courier New" pitchFamily="49" charset="0"/>
                  </a:rPr>
                  <a:t>goto</a:t>
                </a:r>
              </a:p>
            </p:txBody>
          </p:sp>
          <p:sp>
            <p:nvSpPr>
              <p:cNvPr id="13342" name="Line 27"/>
              <p:cNvSpPr>
                <a:spLocks noChangeShapeType="1"/>
              </p:cNvSpPr>
              <p:nvPr/>
            </p:nvSpPr>
            <p:spPr bwMode="auto">
              <a:xfrm flipH="1">
                <a:off x="1429" y="3657"/>
                <a:ext cx="317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3343" name="Freeform 28"/>
              <p:cNvSpPr>
                <a:spLocks/>
              </p:cNvSpPr>
              <p:nvPr/>
            </p:nvSpPr>
            <p:spPr bwMode="auto">
              <a:xfrm>
                <a:off x="885" y="3460"/>
                <a:ext cx="453" cy="242"/>
              </a:xfrm>
              <a:custGeom>
                <a:avLst/>
                <a:gdLst>
                  <a:gd name="T0" fmla="*/ 0 w 453"/>
                  <a:gd name="T1" fmla="*/ 106 h 242"/>
                  <a:gd name="T2" fmla="*/ 181 w 453"/>
                  <a:gd name="T3" fmla="*/ 15 h 242"/>
                  <a:gd name="T4" fmla="*/ 226 w 453"/>
                  <a:gd name="T5" fmla="*/ 197 h 242"/>
                  <a:gd name="T6" fmla="*/ 408 w 453"/>
                  <a:gd name="T7" fmla="*/ 61 h 242"/>
                  <a:gd name="T8" fmla="*/ 453 w 453"/>
                  <a:gd name="T9" fmla="*/ 242 h 2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3"/>
                  <a:gd name="T16" fmla="*/ 0 h 242"/>
                  <a:gd name="T17" fmla="*/ 453 w 453"/>
                  <a:gd name="T18" fmla="*/ 242 h 2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3" h="242">
                    <a:moveTo>
                      <a:pt x="0" y="106"/>
                    </a:moveTo>
                    <a:cubicBezTo>
                      <a:pt x="71" y="53"/>
                      <a:pt x="143" y="0"/>
                      <a:pt x="181" y="15"/>
                    </a:cubicBezTo>
                    <a:cubicBezTo>
                      <a:pt x="219" y="30"/>
                      <a:pt x="188" y="189"/>
                      <a:pt x="226" y="197"/>
                    </a:cubicBezTo>
                    <a:cubicBezTo>
                      <a:pt x="264" y="205"/>
                      <a:pt x="370" y="54"/>
                      <a:pt x="408" y="61"/>
                    </a:cubicBezTo>
                    <a:cubicBezTo>
                      <a:pt x="446" y="68"/>
                      <a:pt x="446" y="212"/>
                      <a:pt x="453" y="24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3332" name="Textfeld 21"/>
            <p:cNvSpPr txBox="1">
              <a:spLocks noChangeArrowheads="1"/>
            </p:cNvSpPr>
            <p:nvPr/>
          </p:nvSpPr>
          <p:spPr bwMode="auto">
            <a:xfrm>
              <a:off x="658781" y="4492639"/>
              <a:ext cx="118494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Problem:</a:t>
              </a:r>
            </a:p>
          </p:txBody>
        </p:sp>
        <p:sp>
          <p:nvSpPr>
            <p:cNvPr id="13333" name="Textfeld 22"/>
            <p:cNvSpPr txBox="1">
              <a:spLocks noChangeArrowheads="1"/>
            </p:cNvSpPr>
            <p:nvPr/>
          </p:nvSpPr>
          <p:spPr bwMode="auto">
            <a:xfrm>
              <a:off x="2373293" y="4564077"/>
              <a:ext cx="157607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/>
                <a:t>nicht </a:t>
              </a:r>
              <a:br>
                <a:rPr lang="en-US" sz="1600" b="1"/>
              </a:br>
              <a:r>
                <a:rPr lang="en-US" sz="1600" b="1"/>
                <a:t>kompositional</a:t>
              </a:r>
            </a:p>
          </p:txBody>
        </p:sp>
      </p:grpSp>
      <p:sp>
        <p:nvSpPr>
          <p:cNvPr id="13321" name="Text Box 10"/>
          <p:cNvSpPr txBox="1">
            <a:spLocks noChangeArrowheads="1"/>
          </p:cNvSpPr>
          <p:nvPr/>
        </p:nvSpPr>
        <p:spPr bwMode="auto">
          <a:xfrm>
            <a:off x="5991341" y="3260524"/>
            <a:ext cx="504497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Programm = abstrakter Syntaxbaum (AST)</a:t>
            </a:r>
          </a:p>
        </p:txBody>
      </p:sp>
      <p:sp>
        <p:nvSpPr>
          <p:cNvPr id="13322" name="Line 11"/>
          <p:cNvSpPr>
            <a:spLocks noChangeShapeType="1"/>
          </p:cNvSpPr>
          <p:nvPr/>
        </p:nvSpPr>
        <p:spPr bwMode="auto">
          <a:xfrm flipH="1">
            <a:off x="6742228" y="4107367"/>
            <a:ext cx="57626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3323" name="Line 12"/>
          <p:cNvSpPr>
            <a:spLocks noChangeShapeType="1"/>
          </p:cNvSpPr>
          <p:nvPr/>
        </p:nvSpPr>
        <p:spPr bwMode="auto">
          <a:xfrm>
            <a:off x="7318489" y="4107367"/>
            <a:ext cx="5762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3324" name="Oval 13"/>
          <p:cNvSpPr>
            <a:spLocks noChangeArrowheads="1"/>
          </p:cNvSpPr>
          <p:nvPr/>
        </p:nvSpPr>
        <p:spPr bwMode="auto">
          <a:xfrm>
            <a:off x="6669203" y="4828094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25" name="Oval 14"/>
          <p:cNvSpPr>
            <a:spLocks noChangeArrowheads="1"/>
          </p:cNvSpPr>
          <p:nvPr/>
        </p:nvSpPr>
        <p:spPr bwMode="auto">
          <a:xfrm>
            <a:off x="7245464" y="4035931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26" name="Oval 15"/>
          <p:cNvSpPr>
            <a:spLocks noChangeArrowheads="1"/>
          </p:cNvSpPr>
          <p:nvPr/>
        </p:nvSpPr>
        <p:spPr bwMode="auto">
          <a:xfrm>
            <a:off x="7821728" y="4828094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27" name="Text Box 16"/>
          <p:cNvSpPr txBox="1">
            <a:spLocks noChangeArrowheads="1"/>
          </p:cNvSpPr>
          <p:nvPr/>
        </p:nvSpPr>
        <p:spPr bwMode="auto">
          <a:xfrm>
            <a:off x="7389926" y="3816856"/>
            <a:ext cx="20129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b="1">
                <a:solidFill>
                  <a:srgbClr val="FF0000"/>
                </a:solidFill>
                <a:latin typeface="Courier New" pitchFamily="49" charset="0"/>
              </a:rPr>
              <a:t>while b do S</a:t>
            </a:r>
          </a:p>
        </p:txBody>
      </p:sp>
      <p:sp>
        <p:nvSpPr>
          <p:cNvPr id="13328" name="Text Box 17"/>
          <p:cNvSpPr txBox="1">
            <a:spLocks noChangeArrowheads="1"/>
          </p:cNvSpPr>
          <p:nvPr/>
        </p:nvSpPr>
        <p:spPr bwMode="auto">
          <a:xfrm>
            <a:off x="6310426" y="4683631"/>
            <a:ext cx="336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b="1">
                <a:solidFill>
                  <a:srgbClr val="FF0000"/>
                </a:solidFill>
                <a:latin typeface="Courier New" pitchFamily="49" charset="0"/>
              </a:rPr>
              <a:t>b</a:t>
            </a:r>
          </a:p>
        </p:txBody>
      </p:sp>
      <p:sp>
        <p:nvSpPr>
          <p:cNvPr id="13329" name="Text Box 18"/>
          <p:cNvSpPr txBox="1">
            <a:spLocks noChangeArrowheads="1"/>
          </p:cNvSpPr>
          <p:nvPr/>
        </p:nvSpPr>
        <p:spPr bwMode="auto">
          <a:xfrm>
            <a:off x="8037626" y="4683631"/>
            <a:ext cx="336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b="1">
                <a:solidFill>
                  <a:srgbClr val="FF0000"/>
                </a:solidFill>
                <a:latin typeface="Courier New" pitchFamily="49" charset="0"/>
              </a:rPr>
              <a:t>S</a:t>
            </a:r>
          </a:p>
        </p:txBody>
      </p:sp>
      <p:sp>
        <p:nvSpPr>
          <p:cNvPr id="13330" name="Text Box 19"/>
          <p:cNvSpPr txBox="1">
            <a:spLocks noChangeArrowheads="1"/>
          </p:cNvSpPr>
          <p:nvPr/>
        </p:nvSpPr>
        <p:spPr bwMode="auto">
          <a:xfrm>
            <a:off x="5984989" y="5329744"/>
            <a:ext cx="378340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b="1" dirty="0" err="1">
                <a:solidFill>
                  <a:srgbClr val="FF0000"/>
                </a:solidFill>
                <a:latin typeface="Courier New" pitchFamily="49" charset="0"/>
              </a:rPr>
              <a:t>while</a:t>
            </a:r>
            <a:r>
              <a:rPr lang="de-DE" sz="2000" b="1" dirty="0">
                <a:solidFill>
                  <a:srgbClr val="FF0000"/>
                </a:solidFill>
                <a:latin typeface="Courier New" pitchFamily="49" charset="0"/>
              </a:rPr>
              <a:t> b do S</a:t>
            </a:r>
            <a:r>
              <a:rPr lang="en-US" sz="2000" dirty="0">
                <a:latin typeface="cmsy10" pitchFamily="34" charset="0"/>
              </a:rPr>
              <a:t> </a:t>
            </a:r>
            <a:r>
              <a:rPr lang="de-DE" sz="2000" dirty="0"/>
              <a:t>= </a:t>
            </a:r>
          </a:p>
          <a:p>
            <a:r>
              <a:rPr lang="de-DE" sz="2000" dirty="0"/>
              <a:t>  </a:t>
            </a:r>
            <a:r>
              <a:rPr lang="de-DE" sz="2000" dirty="0" err="1"/>
              <a:t>if</a:t>
            </a:r>
            <a:r>
              <a:rPr lang="de-DE" sz="2000" dirty="0"/>
              <a:t> </a:t>
            </a:r>
            <a:r>
              <a:rPr lang="en-US" sz="2000" dirty="0">
                <a:latin typeface="cmsy10" pitchFamily="34" charset="0"/>
              </a:rPr>
              <a:t> </a:t>
            </a:r>
            <a:r>
              <a:rPr lang="de-DE" sz="2000" b="1" dirty="0">
                <a:solidFill>
                  <a:srgbClr val="FF0000"/>
                </a:solidFill>
                <a:latin typeface="Courier New" pitchFamily="49" charset="0"/>
              </a:rPr>
              <a:t>b</a:t>
            </a:r>
            <a:r>
              <a:rPr lang="de-DE" sz="2000" dirty="0"/>
              <a:t> </a:t>
            </a:r>
            <a:r>
              <a:rPr lang="de-DE" sz="2000" dirty="0" err="1"/>
              <a:t>then</a:t>
            </a:r>
            <a:r>
              <a:rPr lang="de-DE" sz="2000" dirty="0"/>
              <a:t> (</a:t>
            </a:r>
            <a:r>
              <a:rPr lang="de-DE" sz="2000" b="1" dirty="0">
                <a:solidFill>
                  <a:srgbClr val="FF0000"/>
                </a:solidFill>
                <a:latin typeface="Courier New" pitchFamily="49" charset="0"/>
              </a:rPr>
              <a:t>S</a:t>
            </a:r>
            <a:r>
              <a:rPr lang="de-DE" sz="2000" dirty="0"/>
              <a:t>;</a:t>
            </a:r>
            <a:r>
              <a:rPr lang="de-DE" sz="2000" dirty="0">
                <a:latin typeface="Courier New" pitchFamily="49" charset="0"/>
              </a:rPr>
              <a:t> </a:t>
            </a:r>
            <a:r>
              <a:rPr lang="de-DE" sz="2000" b="1" dirty="0" err="1">
                <a:solidFill>
                  <a:srgbClr val="FF0000"/>
                </a:solidFill>
                <a:latin typeface="Courier New" pitchFamily="49" charset="0"/>
              </a:rPr>
              <a:t>while</a:t>
            </a:r>
            <a:r>
              <a:rPr lang="de-DE" sz="2000" b="1" dirty="0">
                <a:solidFill>
                  <a:srgbClr val="FF0000"/>
                </a:solidFill>
                <a:latin typeface="Courier New" pitchFamily="49" charset="0"/>
              </a:rPr>
              <a:t> b do S</a:t>
            </a:r>
            <a:r>
              <a:rPr lang="de-DE" sz="2000" dirty="0"/>
              <a:t>)</a:t>
            </a:r>
            <a:br>
              <a:rPr lang="de-DE" sz="2000" dirty="0"/>
            </a:br>
            <a:r>
              <a:rPr lang="de-DE" sz="2000" dirty="0"/>
              <a:t>  </a:t>
            </a:r>
            <a:r>
              <a:rPr lang="de-DE" sz="2000" dirty="0" err="1"/>
              <a:t>else</a:t>
            </a:r>
            <a:r>
              <a:rPr lang="de-DE" sz="2000" dirty="0"/>
              <a:t> ;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65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nimBg="1"/>
      <p:bldP spid="13319" grpId="0"/>
      <p:bldP spid="13321" grpId="0"/>
      <p:bldP spid="13322" grpId="0" animBg="1"/>
      <p:bldP spid="13323" grpId="0" animBg="1"/>
      <p:bldP spid="13324" grpId="0" animBg="1"/>
      <p:bldP spid="13325" grpId="0" animBg="1"/>
      <p:bldP spid="13326" grpId="0" animBg="1"/>
      <p:bldP spid="13327" grpId="0"/>
      <p:bldP spid="13328" grpId="0"/>
      <p:bldP spid="13329" grpId="0"/>
      <p:bldP spid="1333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117C-FD32-776D-FF93-9E0F502DD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8" y="1031239"/>
            <a:ext cx="7709053" cy="984885"/>
          </a:xfrm>
        </p:spPr>
        <p:txBody>
          <a:bodyPr/>
          <a:lstStyle/>
          <a:p>
            <a:r>
              <a:rPr lang="en-US" dirty="0" err="1"/>
              <a:t>Kompositionalität</a:t>
            </a:r>
            <a:r>
              <a:rPr lang="en-US" dirty="0"/>
              <a:t> der </a:t>
            </a:r>
            <a:r>
              <a:rPr lang="en-US" dirty="0" err="1"/>
              <a:t>Semantik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B330B-6A9F-14C2-EEE8-259C89130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430" y="2558542"/>
            <a:ext cx="11281978" cy="430887"/>
          </a:xfrm>
        </p:spPr>
        <p:txBody>
          <a:bodyPr/>
          <a:lstStyle/>
          <a:p>
            <a:pPr algn="ctr"/>
            <a:r>
              <a:rPr lang="en-DE" sz="2800" dirty="0">
                <a:solidFill>
                  <a:srgbClr val="FF0000"/>
                </a:solidFill>
              </a:rPr>
              <a:t>Warum ist das wichtig?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E171EB-0A96-DF73-50CF-47FBA74B6A3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GB"/>
              <a:t>Prof. Dr. Sebastian Schlesinger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73580-6EA5-ABB1-FF83-38A44A7F58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66</a:t>
            </a:fld>
            <a:endParaRPr lang="en-DE" spc="-20"/>
          </a:p>
        </p:txBody>
      </p:sp>
    </p:spTree>
    <p:extLst>
      <p:ext uri="{BB962C8B-B14F-4D97-AF65-F5344CB8AC3E}">
        <p14:creationId xmlns:p14="http://schemas.microsoft.com/office/powerpoint/2010/main" val="37438869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AA581-F79F-6C7B-7D3D-8A2B4C2E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24C7-F3A0-C73E-1927-72EAB032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8" y="1031239"/>
            <a:ext cx="7709053" cy="984885"/>
          </a:xfrm>
        </p:spPr>
        <p:txBody>
          <a:bodyPr/>
          <a:lstStyle/>
          <a:p>
            <a:r>
              <a:rPr lang="en-US" dirty="0" err="1"/>
              <a:t>Kompositionalität</a:t>
            </a:r>
            <a:r>
              <a:rPr lang="en-US" dirty="0"/>
              <a:t> der </a:t>
            </a:r>
            <a:r>
              <a:rPr lang="en-US" dirty="0" err="1"/>
              <a:t>Semantik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B81AC-574F-9FDB-41D8-6C440A57E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361" y="2135895"/>
            <a:ext cx="11281978" cy="4062651"/>
          </a:xfrm>
        </p:spPr>
        <p:txBody>
          <a:bodyPr/>
          <a:lstStyle/>
          <a:p>
            <a:pPr marL="457200" indent="-457200" algn="l">
              <a:buFont typeface="Wingdings" pitchFamily="2" charset="2"/>
              <a:buChar char="§"/>
            </a:pPr>
            <a:r>
              <a:rPr lang="en-DE" sz="2400" dirty="0"/>
              <a:t>Kompositionalität: Bedeutung des Ganzen = Bedeutung der Teile + Kombinationsregel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DE" sz="2400" dirty="0"/>
              <a:t>Ohne Kompositionalität: ganzes System analysieren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DE" sz="2400" dirty="0"/>
              <a:t>Mit Kompositionalität: Teile analysieren, Kontrakte übertragen sich auf System, d.h. Verifikation der Teile überträgt sich auf Gesamtsystem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DE" sz="2400" dirty="0"/>
              <a:t>Was ist kompositional?</a:t>
            </a:r>
          </a:p>
          <a:p>
            <a:pPr marL="914400" lvl="1" indent="-457200" algn="l">
              <a:buFont typeface="Wingdings" pitchFamily="2" charset="2"/>
              <a:buChar char="§"/>
            </a:pPr>
            <a:r>
              <a:rPr lang="en-DE" sz="2400" dirty="0"/>
              <a:t>Programmiersprachen: denotationelle Semantik: ja, operationale Semantik: nicht vollständig (Verhalten hängt vom Kontext wie Speicherzustand, Scheduler, Umbegung ab)</a:t>
            </a:r>
          </a:p>
          <a:p>
            <a:pPr lvl="1" algn="l"/>
            <a:endParaRPr lang="en-DE" sz="2400" dirty="0"/>
          </a:p>
          <a:p>
            <a:pPr algn="ctr"/>
            <a:r>
              <a:rPr lang="en-DE" sz="2400" dirty="0">
                <a:solidFill>
                  <a:srgbClr val="FF0000"/>
                </a:solidFill>
              </a:rPr>
              <a:t>Was ist mit FSMs und State Charts?</a:t>
            </a:r>
          </a:p>
          <a:p>
            <a:pPr marL="457200" indent="-457200" algn="l">
              <a:buFont typeface="Wingdings" pitchFamily="2" charset="2"/>
              <a:buChar char="§"/>
            </a:pPr>
            <a:endParaRPr lang="en-DE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0A952-4725-9EC3-39F2-1B6916348C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67</a:t>
            </a:fld>
            <a:endParaRPr lang="en-DE" spc="-20"/>
          </a:p>
        </p:txBody>
      </p:sp>
    </p:spTree>
    <p:extLst>
      <p:ext uri="{BB962C8B-B14F-4D97-AF65-F5344CB8AC3E}">
        <p14:creationId xmlns:p14="http://schemas.microsoft.com/office/powerpoint/2010/main" val="8972957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FABF-9321-D241-A76A-C18A50FF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8" y="1031239"/>
            <a:ext cx="8534715" cy="1477328"/>
          </a:xfrm>
        </p:spPr>
        <p:txBody>
          <a:bodyPr/>
          <a:lstStyle/>
          <a:p>
            <a:r>
              <a:rPr lang="en-DE" dirty="0"/>
              <a:t>Kompositionalität von FSMs und State Charts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2AB2DA4-94A6-B5E2-0AED-210877ACFDD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46430" y="1893523"/>
                <a:ext cx="11549278" cy="3356432"/>
              </a:xfrm>
            </p:spPr>
            <p:txBody>
              <a:bodyPr/>
              <a:lstStyle/>
              <a:p>
                <a:pPr marL="457200" indent="-457200" algn="l">
                  <a:buFont typeface="Wingdings" pitchFamily="2" charset="2"/>
                  <a:buChar char="§"/>
                </a:pPr>
                <a:r>
                  <a:rPr lang="en-DE" sz="2400" dirty="0"/>
                  <a:t>Sind </a:t>
                </a:r>
                <a:r>
                  <a:rPr lang="en-DE" sz="2400" dirty="0">
                    <a:solidFill>
                      <a:srgbClr val="FF0000"/>
                    </a:solidFill>
                  </a:rPr>
                  <a:t>FSMs</a:t>
                </a:r>
                <a:r>
                  <a:rPr lang="en-DE" sz="2400" dirty="0"/>
                  <a:t> kompositional?</a:t>
                </a:r>
              </a:p>
              <a:p>
                <a:pPr marL="914400" lvl="1" indent="-457200" algn="l">
                  <a:buFont typeface="Wingdings" pitchFamily="2" charset="2"/>
                  <a:buChar char="§"/>
                </a:pPr>
                <a:r>
                  <a:rPr lang="en-DE" sz="2400" dirty="0"/>
                  <a:t>Ja, Komposition zweier FSMs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DE" sz="2400" dirty="0"/>
                  <a:t> ist </a:t>
                </a:r>
                <a:br>
                  <a:rPr lang="en-DE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DE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))=(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DE" sz="2400" dirty="0"/>
              </a:p>
              <a:p>
                <a:pPr lvl="1" algn="l"/>
                <a:endParaRPr lang="en-DE" sz="2400" dirty="0"/>
              </a:p>
              <a:p>
                <a:pPr marL="457200" indent="-457200" algn="l">
                  <a:buFont typeface="Wingdings" pitchFamily="2" charset="2"/>
                  <a:buChar char="§"/>
                </a:pPr>
                <a:r>
                  <a:rPr lang="en-DE" sz="2400" dirty="0"/>
                  <a:t>Sind </a:t>
                </a:r>
                <a:r>
                  <a:rPr lang="en-DE" sz="2400" dirty="0">
                    <a:solidFill>
                      <a:srgbClr val="FF0000"/>
                    </a:solidFill>
                  </a:rPr>
                  <a:t>Statecharts</a:t>
                </a:r>
                <a:r>
                  <a:rPr lang="en-DE" sz="2400" dirty="0"/>
                  <a:t> kompositional?</a:t>
                </a:r>
              </a:p>
              <a:p>
                <a:pPr marL="914400" lvl="1" indent="-457200" algn="l">
                  <a:buFont typeface="Wingdings" pitchFamily="2" charset="2"/>
                  <a:buChar char="§"/>
                </a:pPr>
                <a:r>
                  <a:rPr lang="en-GB" sz="2400" dirty="0"/>
                  <a:t>Nein</a:t>
                </a:r>
              </a:p>
              <a:p>
                <a:pPr marL="914400" lvl="1" indent="-457200" algn="l">
                  <a:buFont typeface="Wingdings" pitchFamily="2" charset="2"/>
                  <a:buChar char="§"/>
                </a:pPr>
                <a:r>
                  <a:rPr lang="en-GB" sz="2400" dirty="0"/>
                  <a:t>G</a:t>
                </a:r>
                <a:r>
                  <a:rPr lang="en-DE" sz="2400" dirty="0"/>
                  <a:t>lobale Event-Broadcasts, Hierarchie, Transitionen über Ebenen etc. brechen es</a:t>
                </a:r>
              </a:p>
              <a:p>
                <a:pPr marL="914400" lvl="1" indent="-457200" algn="l">
                  <a:buFont typeface="Wingdings" pitchFamily="2" charset="2"/>
                  <a:buChar char="§"/>
                </a:pPr>
                <a:r>
                  <a:rPr lang="en-GB" sz="2400" dirty="0"/>
                  <a:t>E</a:t>
                </a:r>
                <a:r>
                  <a:rPr lang="en-DE" sz="2400" dirty="0"/>
                  <a:t>benso synchrone Semantik (ein Event beeinflusst alles)</a:t>
                </a:r>
              </a:p>
              <a:p>
                <a:pPr marL="914400" lvl="1" indent="-457200" algn="l">
                  <a:buFont typeface="Wingdings" pitchFamily="2" charset="2"/>
                  <a:buChar char="§"/>
                </a:pPr>
                <a:r>
                  <a:rPr lang="en-DE" sz="2400" dirty="0"/>
                  <a:t>Kompositionalität wird besser bei asynchroner Semantik</a:t>
                </a:r>
                <a:endParaRPr lang="en-DE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2AB2DA4-94A6-B5E2-0AED-210877ACFD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6430" y="1893523"/>
                <a:ext cx="11549278" cy="3356432"/>
              </a:xfrm>
              <a:blipFill>
                <a:blip r:embed="rId2"/>
                <a:stretch>
                  <a:fillRect l="-1538" t="-3019" b="-415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101D6-314F-2C29-E904-65529BEFF3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68</a:t>
            </a:fld>
            <a:endParaRPr lang="en-DE" spc="-20"/>
          </a:p>
        </p:txBody>
      </p:sp>
    </p:spTree>
    <p:extLst>
      <p:ext uri="{BB962C8B-B14F-4D97-AF65-F5344CB8AC3E}">
        <p14:creationId xmlns:p14="http://schemas.microsoft.com/office/powerpoint/2010/main" val="36824532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7532144" cy="984885"/>
          </a:xfrm>
        </p:spPr>
        <p:txBody>
          <a:bodyPr/>
          <a:lstStyle/>
          <a:p>
            <a:r>
              <a:rPr lang="de-DE" dirty="0"/>
              <a:t>Semantik von </a:t>
            </a:r>
            <a:r>
              <a:rPr lang="de-DE" dirty="0" err="1"/>
              <a:t>Statecharts</a:t>
            </a:r>
            <a:endParaRPr lang="de-DE" dirty="0"/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352399" y="2432292"/>
            <a:ext cx="11281978" cy="3323987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de-DE" sz="2400" dirty="0"/>
              <a:t>Es existieren viele verschiedene Semantiken</a:t>
            </a:r>
            <a:br>
              <a:rPr lang="de-DE" sz="2400" dirty="0"/>
            </a:br>
            <a:r>
              <a:rPr lang="de-DE" sz="2400" dirty="0"/>
              <a:t>(z.B. UML, </a:t>
            </a:r>
            <a:r>
              <a:rPr lang="de-DE" sz="2400" dirty="0" err="1"/>
              <a:t>Stateflow</a:t>
            </a:r>
            <a:r>
              <a:rPr lang="de-DE" sz="2400" dirty="0"/>
              <a:t>, </a:t>
            </a:r>
            <a:r>
              <a:rPr lang="de-DE" sz="2400" dirty="0" err="1"/>
              <a:t>Statemate</a:t>
            </a:r>
            <a:r>
              <a:rPr lang="de-DE" sz="2400" dirty="0"/>
              <a:t>, Safe State Machines)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de-DE" sz="2400" dirty="0"/>
              <a:t>Bestandteile der Semantik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de-DE" sz="2400" dirty="0"/>
              <a:t>Was ist ein Zustand?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de-DE" sz="2400" dirty="0"/>
              <a:t>Wie finden Zustandsübergänge (Transitionen) statt?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de-DE" sz="2400" dirty="0"/>
              <a:t>Ereignisverarbeitung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de-DE" sz="2400" dirty="0"/>
              <a:t>Auflösung von Konflikten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de-DE" sz="2400" dirty="0"/>
              <a:t>Allgemein: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de-DE" sz="2400" dirty="0"/>
              <a:t>Menge aktiver Zustände (+ Variablenbelegungen) = „semantischer“ Zustand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69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1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8422461" cy="984885"/>
          </a:xfrm>
        </p:spPr>
        <p:txBody>
          <a:bodyPr/>
          <a:lstStyle/>
          <a:p>
            <a:r>
              <a:rPr lang="de-DE" dirty="0"/>
              <a:t>Synchrone Abarbeitung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346430" y="2558542"/>
            <a:ext cx="11350989" cy="430887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Mögliche Semantik für </a:t>
            </a:r>
            <a:r>
              <a:rPr lang="de-DE" sz="2800" dirty="0" err="1"/>
              <a:t>Statecharts</a:t>
            </a:r>
            <a:endParaRPr lang="de-DE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In jedem Zeittakt: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800" dirty="0"/>
              <a:t>einer, mehrere oder alle Teilautomaten können einen Übergang durchführen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Kombination aller möglichen Übergänge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800" dirty="0"/>
              <a:t>ergibt mögliche Übergänge des sequentiellen Prozesses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Synchroner Ablauf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70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9548198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8084235" cy="984885"/>
          </a:xfrm>
        </p:spPr>
        <p:txBody>
          <a:bodyPr/>
          <a:lstStyle/>
          <a:p>
            <a:r>
              <a:rPr lang="de-DE" dirty="0"/>
              <a:t>Asynchrone Abarbeitung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346430" y="2558542"/>
            <a:ext cx="11485246" cy="301621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800" dirty="0"/>
              <a:t>Weitere mögliche Semantik für </a:t>
            </a:r>
            <a:r>
              <a:rPr lang="de-DE" sz="2800" dirty="0" err="1"/>
              <a:t>Statecharts</a:t>
            </a:r>
            <a:endParaRPr lang="de-DE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800" dirty="0"/>
              <a:t>Kein einheitlicher Takt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800" dirty="0"/>
              <a:t>Auslösen und Abrufen von Events passiert nicht gleichzeitig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de-DE" sz="2800" dirty="0"/>
              <a:t>Ausgelöste Events landen im Eventspeicher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de-DE" sz="2800" dirty="0"/>
              <a:t>Können „irgendwann“ abgerufen werden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800" dirty="0"/>
              <a:t>Teilautomaten führen Übergänge unabhängig voneinander durch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800" dirty="0"/>
              <a:t>Asynchroner Ablauf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71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8312" y="517322"/>
            <a:ext cx="7787208" cy="492443"/>
          </a:xfrm>
        </p:spPr>
        <p:txBody>
          <a:bodyPr/>
          <a:lstStyle/>
          <a:p>
            <a:r>
              <a:rPr lang="de-DE" dirty="0"/>
              <a:t>Synchrone vs. Asynchrone Abarbeitung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3219551" y="2944775"/>
            <a:ext cx="5323205" cy="1292662"/>
          </a:xfrm>
        </p:spPr>
        <p:txBody>
          <a:bodyPr/>
          <a:lstStyle/>
          <a:p>
            <a:pPr algn="ctr"/>
            <a:r>
              <a:rPr lang="de-DE" sz="2800" b="1" dirty="0">
                <a:solidFill>
                  <a:srgbClr val="FF0000"/>
                </a:solidFill>
              </a:rPr>
              <a:t>Diskutieren Sie Vor- und Nachteile synchroner vs. asynchroner Abarbeitung!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72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19546997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9625" y="591449"/>
            <a:ext cx="7787208" cy="492443"/>
          </a:xfrm>
        </p:spPr>
        <p:txBody>
          <a:bodyPr/>
          <a:lstStyle/>
          <a:p>
            <a:r>
              <a:rPr lang="de-DE" dirty="0"/>
              <a:t>Synchrone vs. Asynchrone Abarbeitung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352781" y="1833923"/>
            <a:ext cx="11478895" cy="4308872"/>
          </a:xfrm>
        </p:spPr>
        <p:txBody>
          <a:bodyPr/>
          <a:lstStyle/>
          <a:p>
            <a:r>
              <a:rPr lang="de-DE" sz="2800" dirty="0"/>
              <a:t>Synchron</a:t>
            </a:r>
          </a:p>
          <a:p>
            <a:pPr marL="914400" lvl="1" indent="-45720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800" dirty="0"/>
              <a:t>besser vorhersagbar</a:t>
            </a:r>
          </a:p>
          <a:p>
            <a:pPr marL="914400" lvl="1" indent="-45720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800" dirty="0"/>
              <a:t>statisch analysierbar</a:t>
            </a:r>
          </a:p>
          <a:p>
            <a:pPr marL="914400" lvl="1" indent="-457200">
              <a:buClr>
                <a:srgbClr val="FF0000"/>
              </a:buClr>
              <a:buFont typeface="Wingdings" pitchFamily="2" charset="2"/>
              <a:buChar char="§"/>
            </a:pPr>
            <a:r>
              <a:rPr lang="de-DE" sz="2800" dirty="0"/>
              <a:t>in der Regel weniger performant als asynchrone Abarbeitung</a:t>
            </a:r>
          </a:p>
          <a:p>
            <a:endParaRPr lang="de-DE" sz="2800" dirty="0"/>
          </a:p>
          <a:p>
            <a:pPr marL="457200" indent="-457200">
              <a:buFont typeface="Wingdings" pitchFamily="2" charset="2"/>
              <a:buChar char="§"/>
            </a:pPr>
            <a:r>
              <a:rPr lang="de-DE" sz="2800" dirty="0"/>
              <a:t>Synchron für feste Zeitintervalle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de-DE" sz="2800" dirty="0"/>
              <a:t>Alle 10ms soll der Messwert übermittelt werden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de-DE" sz="2800" dirty="0"/>
              <a:t>Asynchron für Ereignissteuerung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de-DE" sz="2800" dirty="0"/>
              <a:t>Wenn die Temperatur über einen bestimmten Wert steigt, soll die Kühlung angeschaltet werden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73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4497" y="790273"/>
            <a:ext cx="406398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40" dirty="0"/>
              <a:t>Tool:</a:t>
            </a:r>
            <a:r>
              <a:rPr spc="-170" dirty="0"/>
              <a:t> </a:t>
            </a:r>
            <a:r>
              <a:rPr spc="-140" dirty="0"/>
              <a:t>Itemis</a:t>
            </a:r>
            <a:r>
              <a:rPr spc="-170" dirty="0"/>
              <a:t> </a:t>
            </a:r>
            <a:r>
              <a:rPr spc="-710" dirty="0"/>
              <a:t>CREATE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74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99408" y="2090057"/>
            <a:ext cx="9785267" cy="3885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spcBef>
                <a:spcPts val="100"/>
              </a:spcBef>
            </a:pPr>
            <a:r>
              <a:rPr sz="2400" spc="-55" dirty="0">
                <a:latin typeface="Arial"/>
                <a:cs typeface="Arial"/>
              </a:rPr>
              <a:t>Alter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Name: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Yakindu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1540"/>
              </a:spcBef>
            </a:pPr>
            <a:endParaRPr sz="2400" dirty="0">
              <a:latin typeface="Arial"/>
              <a:cs typeface="Arial"/>
            </a:endParaRPr>
          </a:p>
          <a:p>
            <a:pPr marL="394335" indent="-342900">
              <a:spcBef>
                <a:spcPts val="5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94335" algn="l"/>
              </a:tabLst>
            </a:pPr>
            <a:r>
              <a:rPr sz="2400" spc="-70" dirty="0">
                <a:latin typeface="Arial"/>
                <a:cs typeface="Arial"/>
              </a:rPr>
              <a:t>Modellierung,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Simulation,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80" dirty="0">
                <a:latin typeface="Arial"/>
                <a:cs typeface="Arial"/>
              </a:rPr>
              <a:t>Testen</a:t>
            </a:r>
            <a:r>
              <a:rPr sz="2400" spc="-90" dirty="0">
                <a:latin typeface="Arial"/>
                <a:cs typeface="Arial"/>
              </a:rPr>
              <a:t> und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10" dirty="0">
                <a:latin typeface="Arial"/>
                <a:cs typeface="Arial"/>
              </a:rPr>
              <a:t>Code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generieren</a:t>
            </a:r>
            <a:endParaRPr sz="2400" dirty="0">
              <a:latin typeface="Arial"/>
              <a:cs typeface="Arial"/>
            </a:endParaRPr>
          </a:p>
          <a:p>
            <a:pPr marL="863600" lvl="1" indent="-342900">
              <a:spcBef>
                <a:spcPts val="26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833755" algn="l"/>
              </a:tabLst>
            </a:pPr>
            <a:r>
              <a:rPr sz="2000" spc="-50" dirty="0">
                <a:latin typeface="Arial"/>
                <a:cs typeface="Arial"/>
              </a:rPr>
              <a:t>animierte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863600" lvl="1" indent="-342900">
              <a:spcBef>
                <a:spcPts val="26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833755" algn="l"/>
              </a:tabLst>
            </a:pPr>
            <a:r>
              <a:rPr sz="2000" spc="-35" dirty="0">
                <a:latin typeface="Arial"/>
                <a:cs typeface="Arial"/>
              </a:rPr>
              <a:t>Unit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85" dirty="0">
                <a:latin typeface="Arial"/>
                <a:cs typeface="Arial"/>
              </a:rPr>
              <a:t>Tests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für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Statecharts</a:t>
            </a:r>
            <a:endParaRPr sz="2000" dirty="0">
              <a:latin typeface="Arial"/>
              <a:cs typeface="Arial"/>
            </a:endParaRPr>
          </a:p>
          <a:p>
            <a:pPr marL="863600" lvl="1" indent="-342900">
              <a:spcBef>
                <a:spcPts val="26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833755" algn="l"/>
              </a:tabLst>
            </a:pPr>
            <a:r>
              <a:rPr sz="2000" spc="-170" dirty="0">
                <a:latin typeface="Arial"/>
                <a:cs typeface="Arial"/>
              </a:rPr>
              <a:t>Code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Generatoren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für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40" dirty="0">
                <a:latin typeface="Arial"/>
                <a:cs typeface="Arial"/>
              </a:rPr>
              <a:t>C,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210" dirty="0">
                <a:latin typeface="Arial"/>
                <a:cs typeface="Arial"/>
              </a:rPr>
              <a:t>C++,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85" dirty="0">
                <a:latin typeface="Arial"/>
                <a:cs typeface="Arial"/>
              </a:rPr>
              <a:t>Java,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Python</a:t>
            </a:r>
            <a:endParaRPr sz="2000" dirty="0">
              <a:latin typeface="Arial"/>
              <a:cs typeface="Arial"/>
            </a:endParaRPr>
          </a:p>
          <a:p>
            <a:pPr marL="863600" lvl="1" indent="-342900">
              <a:spcBef>
                <a:spcPts val="259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833755" algn="l"/>
              </a:tabLst>
            </a:pPr>
            <a:r>
              <a:rPr sz="2000" spc="-65" dirty="0">
                <a:latin typeface="Arial"/>
                <a:cs typeface="Arial"/>
              </a:rPr>
              <a:t>basiert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auf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Eclipse</a:t>
            </a:r>
            <a:endParaRPr sz="2000" dirty="0">
              <a:latin typeface="Arial"/>
              <a:cs typeface="Arial"/>
            </a:endParaRPr>
          </a:p>
          <a:p>
            <a:pPr marL="342900" lvl="1" indent="-342900">
              <a:spcBef>
                <a:spcPts val="1065"/>
              </a:spcBef>
              <a:buClr>
                <a:schemeClr val="tx1"/>
              </a:buClr>
              <a:buFont typeface="Wingdings" pitchFamily="2" charset="2"/>
              <a:buChar char="§"/>
            </a:pPr>
            <a:endParaRPr sz="2000" dirty="0">
              <a:latin typeface="Arial"/>
              <a:cs typeface="Arial"/>
            </a:endParaRPr>
          </a:p>
          <a:p>
            <a:pPr marL="394335" indent="-342900"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94335" algn="l"/>
              </a:tabLst>
            </a:pPr>
            <a:r>
              <a:rPr lang="de-DE" sz="2400" spc="-170" dirty="0">
                <a:latin typeface="Arial"/>
                <a:cs typeface="Arial"/>
              </a:rPr>
              <a:t>Link: </a:t>
            </a:r>
            <a:r>
              <a:rPr lang="de-DE" sz="2400" spc="-170" dirty="0">
                <a:latin typeface="Arial"/>
                <a:cs typeface="Arial"/>
                <a:hlinkClick r:id="rId2"/>
              </a:rPr>
              <a:t>https://www.itemis.com</a:t>
            </a:r>
            <a:endParaRPr lang="de-DE" sz="2400" spc="-170" dirty="0">
              <a:latin typeface="Arial"/>
              <a:cs typeface="Arial"/>
            </a:endParaRPr>
          </a:p>
          <a:p>
            <a:pPr marL="394335" indent="-342900"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94335" algn="l"/>
              </a:tabLst>
            </a:pPr>
            <a:r>
              <a:rPr lang="de-DE" sz="2400" spc="-170" dirty="0">
                <a:latin typeface="Arial"/>
                <a:cs typeface="Arial"/>
              </a:rPr>
              <a:t>Academic Use ist frei </a:t>
            </a:r>
            <a:r>
              <a:rPr lang="de-DE" sz="2400" spc="-170" dirty="0">
                <a:latin typeface="Arial"/>
                <a:cs typeface="Arial"/>
                <a:sym typeface="Wingdings" pitchFamily="2" charset="2"/>
              </a:rPr>
              <a:t> Lizenzformular ausfüllen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0119" y="406370"/>
            <a:ext cx="406398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605" dirty="0"/>
              <a:t>CREATE:</a:t>
            </a:r>
            <a:r>
              <a:rPr spc="-210" dirty="0"/>
              <a:t> </a:t>
            </a:r>
            <a:r>
              <a:rPr spc="-155" dirty="0"/>
              <a:t>Besonderheiten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6415" y="1623495"/>
            <a:ext cx="9842639" cy="793807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81000" indent="-342900">
              <a:spcBef>
                <a:spcPts val="59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351790" algn="l"/>
              </a:tabLst>
            </a:pPr>
            <a:r>
              <a:rPr sz="2000" spc="-100" dirty="0">
                <a:latin typeface="Arial"/>
                <a:cs typeface="Arial"/>
              </a:rPr>
              <a:t>Variablen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und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Events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werden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im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371C3"/>
                </a:solidFill>
                <a:latin typeface="Arial"/>
                <a:cs typeface="Arial"/>
              </a:rPr>
              <a:t>Interface</a:t>
            </a:r>
            <a:r>
              <a:rPr sz="2000" spc="-90" dirty="0">
                <a:solidFill>
                  <a:srgbClr val="4371C3"/>
                </a:solidFill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deklariert</a:t>
            </a:r>
            <a:endParaRPr sz="2000" dirty="0">
              <a:latin typeface="Arial"/>
              <a:cs typeface="Arial"/>
            </a:endParaRPr>
          </a:p>
          <a:p>
            <a:pPr marL="381000" indent="-342900">
              <a:spcBef>
                <a:spcPts val="76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351790" algn="l"/>
              </a:tabLst>
            </a:pPr>
            <a:r>
              <a:rPr sz="2000" spc="-50" dirty="0">
                <a:latin typeface="Arial"/>
                <a:cs typeface="Arial"/>
              </a:rPr>
              <a:t>Prioritäten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Transitionen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und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nebenläufigen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Regionen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6216" y="5777144"/>
            <a:ext cx="35877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326390" algn="l"/>
              </a:tabLst>
            </a:pPr>
            <a:r>
              <a:rPr sz="2000" spc="-114" dirty="0">
                <a:latin typeface="Arial"/>
                <a:cs typeface="Arial"/>
              </a:rPr>
              <a:t>Zusätzliche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Syntaxelemente,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305" dirty="0">
                <a:latin typeface="Arial"/>
                <a:cs typeface="Arial"/>
              </a:rPr>
              <a:t>z.B.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9891" y="5479074"/>
            <a:ext cx="22866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60" dirty="0">
                <a:solidFill>
                  <a:srgbClr val="585858"/>
                </a:solidFill>
                <a:latin typeface="Arial"/>
                <a:cs typeface="Arial"/>
              </a:rPr>
              <a:t>Quelle:</a:t>
            </a:r>
            <a:r>
              <a:rPr sz="1400" spc="-6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spc="-250" dirty="0">
                <a:solidFill>
                  <a:srgbClr val="585858"/>
                </a:solidFill>
                <a:latin typeface="Arial"/>
                <a:cs typeface="Arial"/>
              </a:rPr>
              <a:t>CREATE</a:t>
            </a:r>
            <a:r>
              <a:rPr sz="1400" spc="-4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585858"/>
                </a:solidFill>
                <a:latin typeface="Arial"/>
                <a:cs typeface="Arial"/>
              </a:rPr>
              <a:t>Documentation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2528" y="2457225"/>
            <a:ext cx="8638565" cy="331991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422068" y="6095127"/>
            <a:ext cx="5625465" cy="342265"/>
            <a:chOff x="891717" y="6035751"/>
            <a:chExt cx="5625465" cy="34226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717" y="6035751"/>
              <a:ext cx="1760766" cy="34164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9723" y="6035751"/>
              <a:ext cx="1760766" cy="34164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1077" y="6035751"/>
              <a:ext cx="1760766" cy="34164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55959" y="6035751"/>
              <a:ext cx="1760766" cy="341642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75</a:t>
            </a:fld>
            <a:endParaRPr spc="-25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8764" y="719116"/>
            <a:ext cx="544161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605" dirty="0"/>
              <a:t>CREATE:</a:t>
            </a:r>
            <a:r>
              <a:rPr spc="-210" dirty="0"/>
              <a:t> </a:t>
            </a:r>
            <a:r>
              <a:rPr spc="-195" dirty="0"/>
              <a:t>Semantik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03005" y="1856794"/>
            <a:ext cx="10342927" cy="84959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68935" marR="30480" indent="-342900">
              <a:lnSpc>
                <a:spcPts val="2590"/>
              </a:lnSpc>
              <a:spcBef>
                <a:spcPts val="425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266700" algn="l"/>
                <a:tab pos="368935" algn="l"/>
              </a:tabLst>
            </a:pPr>
            <a:r>
              <a:rPr sz="2400" spc="-135" dirty="0">
                <a:latin typeface="Arial"/>
                <a:cs typeface="Arial"/>
              </a:rPr>
              <a:t>	Oberzustände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können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i="1" spc="-85" dirty="0">
                <a:latin typeface="Arial"/>
                <a:cs typeface="Arial"/>
              </a:rPr>
              <a:t>parent-</a:t>
            </a:r>
            <a:r>
              <a:rPr sz="2400" i="1" spc="-20" dirty="0">
                <a:latin typeface="Arial"/>
                <a:cs typeface="Arial"/>
              </a:rPr>
              <a:t>first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oder </a:t>
            </a:r>
            <a:r>
              <a:rPr sz="2400" i="1" spc="-90" dirty="0">
                <a:latin typeface="Arial"/>
                <a:cs typeface="Arial"/>
              </a:rPr>
              <a:t>child-</a:t>
            </a:r>
            <a:r>
              <a:rPr sz="2400" i="1" spc="-20" dirty="0">
                <a:latin typeface="Arial"/>
                <a:cs typeface="Arial"/>
              </a:rPr>
              <a:t>first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ausgeführt </a:t>
            </a:r>
            <a:r>
              <a:rPr sz="2400" spc="-10" dirty="0">
                <a:latin typeface="Arial"/>
                <a:cs typeface="Arial"/>
              </a:rPr>
              <a:t>werden</a:t>
            </a:r>
            <a:endParaRPr sz="2400" dirty="0">
              <a:latin typeface="Arial"/>
              <a:cs typeface="Arial"/>
            </a:endParaRPr>
          </a:p>
          <a:p>
            <a:pPr marL="368935" marR="644525" indent="-342900">
              <a:lnSpc>
                <a:spcPts val="2590"/>
              </a:lnSpc>
              <a:spcBef>
                <a:spcPts val="1005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266700" algn="l"/>
                <a:tab pos="368935" algn="l"/>
              </a:tabLst>
            </a:pPr>
            <a:r>
              <a:rPr sz="2400" spc="-114" dirty="0">
                <a:latin typeface="Arial"/>
                <a:cs typeface="Arial"/>
              </a:rPr>
              <a:t>	Unterscheidung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zwischen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event-</a:t>
            </a:r>
            <a:r>
              <a:rPr sz="2400" spc="-70" dirty="0">
                <a:latin typeface="Arial"/>
                <a:cs typeface="Arial"/>
              </a:rPr>
              <a:t>driven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und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cycle-</a:t>
            </a:r>
            <a:r>
              <a:rPr sz="2400" spc="-310" dirty="0">
                <a:latin typeface="Arial"/>
                <a:cs typeface="Arial"/>
              </a:rPr>
              <a:t>based </a:t>
            </a:r>
            <a:r>
              <a:rPr sz="2400" spc="-10" dirty="0">
                <a:latin typeface="Arial"/>
                <a:cs typeface="Arial"/>
              </a:rPr>
              <a:t>execution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6181" y="2747321"/>
            <a:ext cx="4799626" cy="34910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572490" y="6108737"/>
            <a:ext cx="22866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60" dirty="0">
                <a:solidFill>
                  <a:srgbClr val="585858"/>
                </a:solidFill>
                <a:latin typeface="Arial"/>
                <a:cs typeface="Arial"/>
              </a:rPr>
              <a:t>Quelle:</a:t>
            </a:r>
            <a:r>
              <a:rPr sz="1400" spc="-6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spc="-250" dirty="0">
                <a:solidFill>
                  <a:srgbClr val="585858"/>
                </a:solidFill>
                <a:latin typeface="Arial"/>
                <a:cs typeface="Arial"/>
              </a:rPr>
              <a:t>CREATE</a:t>
            </a:r>
            <a:r>
              <a:rPr sz="1400" spc="-4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585858"/>
                </a:solidFill>
                <a:latin typeface="Arial"/>
                <a:cs typeface="Arial"/>
              </a:rPr>
              <a:t>Documentation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76</a:t>
            </a:fld>
            <a:endParaRPr spc="-25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0573" y="550233"/>
            <a:ext cx="67862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605" dirty="0"/>
              <a:t>CREATE:</a:t>
            </a:r>
            <a:r>
              <a:rPr spc="-180" dirty="0"/>
              <a:t> </a:t>
            </a:r>
            <a:r>
              <a:rPr spc="-100" dirty="0"/>
              <a:t>run-</a:t>
            </a:r>
            <a:r>
              <a:rPr spc="-70" dirty="0"/>
              <a:t>to-</a:t>
            </a:r>
            <a:r>
              <a:rPr spc="-105" dirty="0"/>
              <a:t>completion</a:t>
            </a:r>
            <a:r>
              <a:rPr spc="-170" dirty="0"/>
              <a:t> </a:t>
            </a:r>
            <a:r>
              <a:rPr spc="-150" dirty="0"/>
              <a:t>steps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77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60791" y="2091185"/>
            <a:ext cx="10519531" cy="21467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935" indent="-342900">
              <a:spcBef>
                <a:spcPts val="10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68935" algn="l"/>
              </a:tabLst>
            </a:pPr>
            <a:r>
              <a:rPr sz="2400" spc="-110" dirty="0">
                <a:latin typeface="Arial"/>
                <a:cs typeface="Arial"/>
              </a:rPr>
              <a:t>Ausführung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basiert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auf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run-</a:t>
            </a:r>
            <a:r>
              <a:rPr sz="2400" spc="-25" dirty="0">
                <a:latin typeface="Arial"/>
                <a:cs typeface="Arial"/>
              </a:rPr>
              <a:t>to-</a:t>
            </a:r>
            <a:r>
              <a:rPr sz="2400" spc="-75" dirty="0">
                <a:latin typeface="Arial"/>
                <a:cs typeface="Arial"/>
              </a:rPr>
              <a:t>completion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290" dirty="0">
                <a:latin typeface="Arial"/>
                <a:cs typeface="Arial"/>
              </a:rPr>
              <a:t>(RTC)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steps</a:t>
            </a:r>
            <a:endParaRPr sz="2400" dirty="0">
              <a:latin typeface="Arial"/>
              <a:cs typeface="Arial"/>
            </a:endParaRPr>
          </a:p>
          <a:p>
            <a:pPr marL="826135" lvl="1" indent="-342900">
              <a:spcBef>
                <a:spcPts val="21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826135" algn="l"/>
              </a:tabLst>
            </a:pPr>
            <a:r>
              <a:rPr sz="2400" spc="-175" dirty="0">
                <a:latin typeface="Arial"/>
                <a:cs typeface="Arial"/>
              </a:rPr>
              <a:t>Events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triggern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Transitionen</a:t>
            </a:r>
            <a:endParaRPr sz="2400" dirty="0">
              <a:latin typeface="Arial"/>
              <a:cs typeface="Arial"/>
            </a:endParaRPr>
          </a:p>
          <a:p>
            <a:pPr marL="826135" lvl="1" indent="-342900">
              <a:spcBef>
                <a:spcPts val="21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826135" algn="l"/>
              </a:tabLst>
            </a:pPr>
            <a:r>
              <a:rPr sz="2400" spc="-145" dirty="0">
                <a:latin typeface="Arial"/>
                <a:cs typeface="Arial"/>
              </a:rPr>
              <a:t>Abhängig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von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gewählter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Ausführung</a:t>
            </a:r>
            <a:endParaRPr sz="2400" dirty="0">
              <a:latin typeface="Arial"/>
              <a:cs typeface="Arial"/>
            </a:endParaRPr>
          </a:p>
          <a:p>
            <a:pPr marL="1295400" marR="30480" lvl="2" indent="-342900">
              <a:lnSpc>
                <a:spcPts val="2160"/>
              </a:lnSpc>
              <a:spcBef>
                <a:spcPts val="535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1181100" algn="l"/>
                <a:tab pos="1265555" algn="l"/>
              </a:tabLst>
            </a:pPr>
            <a:r>
              <a:rPr sz="2000" spc="-150" dirty="0">
                <a:latin typeface="Arial"/>
                <a:cs typeface="Arial"/>
              </a:rPr>
              <a:t>	Cycle-</a:t>
            </a:r>
            <a:r>
              <a:rPr sz="2000" spc="-114" dirty="0">
                <a:latin typeface="Arial"/>
                <a:cs typeface="Arial"/>
              </a:rPr>
              <a:t>based: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Eingangs-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und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Zeitereignisse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werden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gesammelt </a:t>
            </a:r>
            <a:r>
              <a:rPr sz="2000" spc="-75" dirty="0">
                <a:latin typeface="Arial"/>
                <a:cs typeface="Arial"/>
              </a:rPr>
              <a:t>und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zu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festen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Zeitpunkten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verarbeitet</a:t>
            </a:r>
            <a:endParaRPr sz="2000" dirty="0">
              <a:latin typeface="Arial"/>
              <a:cs typeface="Arial"/>
            </a:endParaRPr>
          </a:p>
          <a:p>
            <a:pPr marL="1295400" marR="44450" lvl="2" indent="-342900">
              <a:lnSpc>
                <a:spcPts val="216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1181100" algn="l"/>
                <a:tab pos="1265555" algn="l"/>
              </a:tabLst>
            </a:pPr>
            <a:r>
              <a:rPr sz="2000" spc="-130" dirty="0">
                <a:latin typeface="Arial"/>
                <a:cs typeface="Arial"/>
              </a:rPr>
              <a:t>	Event-</a:t>
            </a:r>
            <a:r>
              <a:rPr sz="2000" spc="-55" dirty="0">
                <a:latin typeface="Arial"/>
                <a:cs typeface="Arial"/>
              </a:rPr>
              <a:t>driven: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jedes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Ereignis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wird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sofort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in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einem </a:t>
            </a:r>
            <a:r>
              <a:rPr sz="2000" spc="-100" dirty="0">
                <a:latin typeface="Arial"/>
                <a:cs typeface="Arial"/>
              </a:rPr>
              <a:t>eigenen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70" dirty="0">
                <a:latin typeface="Arial"/>
                <a:cs typeface="Arial"/>
              </a:rPr>
              <a:t>RTC</a:t>
            </a:r>
            <a:r>
              <a:rPr sz="2000" spc="-10" dirty="0">
                <a:latin typeface="Arial"/>
                <a:cs typeface="Arial"/>
              </a:rPr>
              <a:t> verarbeitet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35656" y="535555"/>
            <a:ext cx="78314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605" dirty="0"/>
              <a:t>CREATE:</a:t>
            </a:r>
            <a:r>
              <a:rPr spc="-195" dirty="0"/>
              <a:t> </a:t>
            </a:r>
            <a:r>
              <a:rPr spc="-215" dirty="0"/>
              <a:t>cycle-</a:t>
            </a:r>
            <a:r>
              <a:rPr spc="-265" dirty="0"/>
              <a:t>based</a:t>
            </a:r>
            <a:r>
              <a:rPr spc="-190" dirty="0"/>
              <a:t> </a:t>
            </a:r>
            <a:r>
              <a:rPr spc="-170" dirty="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0816" y="1604297"/>
            <a:ext cx="6739890" cy="10772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935" indent="-342900">
              <a:lnSpc>
                <a:spcPts val="2790"/>
              </a:lnSpc>
              <a:spcBef>
                <a:spcPts val="10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68935" algn="l"/>
              </a:tabLst>
            </a:pPr>
            <a:r>
              <a:rPr sz="2400" spc="-95" dirty="0">
                <a:latin typeface="Arial"/>
                <a:cs typeface="Arial"/>
              </a:rPr>
              <a:t>Zeitgesteuert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(cycle-</a:t>
            </a:r>
            <a:r>
              <a:rPr sz="2400" spc="-130" dirty="0">
                <a:latin typeface="Arial"/>
                <a:cs typeface="Arial"/>
              </a:rPr>
              <a:t>based):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0" dirty="0" err="1">
                <a:latin typeface="Arial"/>
                <a:cs typeface="Arial"/>
              </a:rPr>
              <a:t>periodische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30" dirty="0" err="1">
                <a:latin typeface="Arial"/>
                <a:cs typeface="Arial"/>
              </a:rPr>
              <a:t>Ausführung</a:t>
            </a:r>
            <a:br>
              <a:rPr lang="de-DE" sz="2400" dirty="0">
                <a:latin typeface="Arial"/>
                <a:cs typeface="Arial"/>
              </a:rPr>
            </a:br>
            <a:r>
              <a:rPr sz="1600" spc="-45" dirty="0">
                <a:latin typeface="Arial"/>
                <a:cs typeface="Arial"/>
              </a:rPr>
              <a:t>(Intervall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95" dirty="0">
                <a:latin typeface="Arial"/>
                <a:cs typeface="Arial"/>
              </a:rPr>
              <a:t>kann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definiert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werden)</a:t>
            </a:r>
            <a:endParaRPr sz="1600" dirty="0">
              <a:latin typeface="Arial"/>
              <a:cs typeface="Arial"/>
            </a:endParaRPr>
          </a:p>
          <a:p>
            <a:pPr marL="838200" lvl="1" indent="-342900">
              <a:spcBef>
                <a:spcPts val="254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808355" algn="l"/>
              </a:tabLst>
            </a:pPr>
            <a:r>
              <a:rPr sz="2000" spc="-110" dirty="0">
                <a:latin typeface="Arial"/>
                <a:cs typeface="Arial"/>
              </a:rPr>
              <a:t>Bedingungen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werden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nur</a:t>
            </a:r>
            <a:r>
              <a:rPr sz="2000" spc="-80" dirty="0">
                <a:latin typeface="Arial"/>
                <a:cs typeface="Arial"/>
              </a:rPr>
              <a:t> alle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65" dirty="0">
                <a:latin typeface="Arial"/>
                <a:cs typeface="Arial"/>
              </a:rPr>
              <a:t>CYCLE_TIME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ms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geprüft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6466" y="2747752"/>
            <a:ext cx="2690281" cy="11761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21851" y="3604102"/>
            <a:ext cx="62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14" dirty="0">
                <a:latin typeface="Arial"/>
                <a:cs typeface="Arial"/>
              </a:rPr>
              <a:t>StateB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8376" y="3610579"/>
            <a:ext cx="621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35" dirty="0">
                <a:latin typeface="Arial"/>
                <a:cs typeface="Arial"/>
              </a:rPr>
              <a:t>StateC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8495" y="3075261"/>
            <a:ext cx="950594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30" dirty="0">
                <a:latin typeface="Arial"/>
                <a:cs typeface="Arial"/>
              </a:rPr>
              <a:t>after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757070"/>
                </a:solidFill>
                <a:latin typeface="Arial"/>
                <a:cs typeface="Arial"/>
              </a:rPr>
              <a:t>500</a:t>
            </a:r>
            <a:r>
              <a:rPr sz="1500" spc="-80" dirty="0">
                <a:latin typeface="Arial"/>
                <a:cs typeface="Arial"/>
              </a:rPr>
              <a:t>ms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21127" y="3072023"/>
            <a:ext cx="950594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30" dirty="0">
                <a:latin typeface="Arial"/>
                <a:cs typeface="Arial"/>
              </a:rPr>
              <a:t>after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757070"/>
                </a:solidFill>
                <a:latin typeface="Arial"/>
                <a:cs typeface="Arial"/>
              </a:rPr>
              <a:t>200</a:t>
            </a:r>
            <a:r>
              <a:rPr sz="1500" spc="-80" dirty="0">
                <a:latin typeface="Arial"/>
                <a:cs typeface="Arial"/>
              </a:rPr>
              <a:t>ms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11486" y="2776456"/>
            <a:ext cx="561340" cy="677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95" dirty="0">
                <a:latin typeface="Arial"/>
                <a:cs typeface="Arial"/>
              </a:rPr>
              <a:t>StateA</a:t>
            </a:r>
            <a:endParaRPr sz="1600">
              <a:latin typeface="Arial"/>
              <a:cs typeface="Arial"/>
            </a:endParaRPr>
          </a:p>
          <a:p>
            <a:pPr marL="89535">
              <a:spcBef>
                <a:spcPts val="1775"/>
              </a:spcBef>
              <a:tabLst>
                <a:tab pos="445770" algn="l"/>
              </a:tabLst>
            </a:pPr>
            <a:r>
              <a:rPr spc="-75" baseline="2314" dirty="0">
                <a:latin typeface="Arial"/>
                <a:cs typeface="Arial"/>
              </a:rPr>
              <a:t>2</a:t>
            </a:r>
            <a:r>
              <a:rPr baseline="2314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39664" y="2750636"/>
            <a:ext cx="2419985" cy="1210310"/>
          </a:xfrm>
          <a:custGeom>
            <a:avLst/>
            <a:gdLst/>
            <a:ahLst/>
            <a:cxnLst/>
            <a:rect l="l" t="t" r="r" b="b"/>
            <a:pathLst>
              <a:path w="2419985" h="1210310">
                <a:moveTo>
                  <a:pt x="156248" y="174955"/>
                </a:moveTo>
                <a:lnTo>
                  <a:pt x="157726" y="152126"/>
                </a:lnTo>
                <a:lnTo>
                  <a:pt x="162139" y="129735"/>
                </a:lnTo>
                <a:lnTo>
                  <a:pt x="179641" y="87477"/>
                </a:lnTo>
                <a:lnTo>
                  <a:pt x="207497" y="51255"/>
                </a:lnTo>
                <a:lnTo>
                  <a:pt x="243725" y="23406"/>
                </a:lnTo>
                <a:lnTo>
                  <a:pt x="285983" y="6030"/>
                </a:lnTo>
                <a:lnTo>
                  <a:pt x="331203" y="0"/>
                </a:lnTo>
                <a:lnTo>
                  <a:pt x="533171" y="355"/>
                </a:lnTo>
                <a:lnTo>
                  <a:pt x="1099083" y="355"/>
                </a:lnTo>
                <a:lnTo>
                  <a:pt x="2244610" y="355"/>
                </a:lnTo>
                <a:lnTo>
                  <a:pt x="2267439" y="1835"/>
                </a:lnTo>
                <a:lnTo>
                  <a:pt x="2289830" y="6253"/>
                </a:lnTo>
                <a:lnTo>
                  <a:pt x="2332088" y="23761"/>
                </a:lnTo>
                <a:lnTo>
                  <a:pt x="2368311" y="51617"/>
                </a:lnTo>
                <a:lnTo>
                  <a:pt x="2396172" y="87845"/>
                </a:lnTo>
                <a:lnTo>
                  <a:pt x="2413536" y="130094"/>
                </a:lnTo>
                <a:lnTo>
                  <a:pt x="2419565" y="175323"/>
                </a:lnTo>
                <a:lnTo>
                  <a:pt x="2419565" y="612355"/>
                </a:lnTo>
                <a:lnTo>
                  <a:pt x="2419565" y="874801"/>
                </a:lnTo>
                <a:lnTo>
                  <a:pt x="2418085" y="897629"/>
                </a:lnTo>
                <a:lnTo>
                  <a:pt x="2413669" y="920021"/>
                </a:lnTo>
                <a:lnTo>
                  <a:pt x="2396172" y="962278"/>
                </a:lnTo>
                <a:lnTo>
                  <a:pt x="2368311" y="998507"/>
                </a:lnTo>
                <a:lnTo>
                  <a:pt x="2332088" y="1026363"/>
                </a:lnTo>
                <a:lnTo>
                  <a:pt x="2289830" y="1043727"/>
                </a:lnTo>
                <a:lnTo>
                  <a:pt x="2244610" y="1049756"/>
                </a:lnTo>
                <a:lnTo>
                  <a:pt x="1099083" y="1049756"/>
                </a:lnTo>
                <a:lnTo>
                  <a:pt x="0" y="1209954"/>
                </a:lnTo>
                <a:lnTo>
                  <a:pt x="533171" y="1049756"/>
                </a:lnTo>
                <a:lnTo>
                  <a:pt x="330847" y="1049756"/>
                </a:lnTo>
                <a:lnTo>
                  <a:pt x="285618" y="1043865"/>
                </a:lnTo>
                <a:lnTo>
                  <a:pt x="243370" y="1026363"/>
                </a:lnTo>
                <a:lnTo>
                  <a:pt x="207141" y="998507"/>
                </a:lnTo>
                <a:lnTo>
                  <a:pt x="179285" y="962278"/>
                </a:lnTo>
                <a:lnTo>
                  <a:pt x="161917" y="920021"/>
                </a:lnTo>
                <a:lnTo>
                  <a:pt x="155892" y="874801"/>
                </a:lnTo>
                <a:lnTo>
                  <a:pt x="156248" y="874801"/>
                </a:lnTo>
                <a:lnTo>
                  <a:pt x="156248" y="612355"/>
                </a:lnTo>
                <a:lnTo>
                  <a:pt x="156248" y="174955"/>
                </a:lnTo>
                <a:close/>
              </a:path>
            </a:pathLst>
          </a:custGeom>
          <a:ln w="12599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66816" y="2729301"/>
            <a:ext cx="1920875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1400" spc="-95" dirty="0">
                <a:latin typeface="Arial"/>
                <a:cs typeface="Arial"/>
              </a:rPr>
              <a:t>Bei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90" dirty="0">
                <a:latin typeface="Arial"/>
                <a:cs typeface="Arial"/>
              </a:rPr>
              <a:t>CYCLE_TIME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30" dirty="0">
                <a:latin typeface="Arial"/>
                <a:cs typeface="Arial"/>
              </a:rPr>
              <a:t>=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1000ms</a:t>
            </a:r>
            <a:endParaRPr sz="1400">
              <a:latin typeface="Arial"/>
              <a:cs typeface="Arial"/>
            </a:endParaRPr>
          </a:p>
          <a:p>
            <a:pPr marL="96520" marR="88900" indent="-635" algn="ctr"/>
            <a:r>
              <a:rPr sz="1400" spc="-65" dirty="0">
                <a:latin typeface="Arial"/>
                <a:cs typeface="Arial"/>
              </a:rPr>
              <a:t>sind</a:t>
            </a:r>
            <a:r>
              <a:rPr sz="1400" spc="-60" dirty="0">
                <a:latin typeface="Arial"/>
                <a:cs typeface="Arial"/>
              </a:rPr>
              <a:t> beide </a:t>
            </a:r>
            <a:r>
              <a:rPr sz="1400" spc="-20" dirty="0">
                <a:latin typeface="Arial"/>
                <a:cs typeface="Arial"/>
              </a:rPr>
              <a:t>Transitionen </a:t>
            </a:r>
            <a:r>
              <a:rPr sz="1400" spc="-60" dirty="0">
                <a:latin typeface="Arial"/>
                <a:cs typeface="Arial"/>
              </a:rPr>
              <a:t>möglich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(Priorität </a:t>
            </a:r>
            <a:r>
              <a:rPr sz="1400" spc="-55" dirty="0">
                <a:latin typeface="Arial"/>
                <a:cs typeface="Arial"/>
              </a:rPr>
              <a:t>entscheidet),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bei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200ms </a:t>
            </a:r>
            <a:r>
              <a:rPr sz="1400" spc="-35" dirty="0">
                <a:latin typeface="Arial"/>
                <a:cs typeface="Arial"/>
              </a:rPr>
              <a:t>nur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die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0" dirty="0">
                <a:latin typeface="Arial"/>
                <a:cs typeface="Arial"/>
              </a:rPr>
              <a:t>zu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StateB.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7654" y="4530805"/>
            <a:ext cx="6862869" cy="1573508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81000" marR="30480" indent="-342900">
              <a:lnSpc>
                <a:spcPts val="2160"/>
              </a:lnSpc>
              <a:spcBef>
                <a:spcPts val="37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266700" algn="l"/>
                <a:tab pos="351155" algn="l"/>
              </a:tabLst>
            </a:pPr>
            <a:r>
              <a:rPr sz="2000" spc="-140" dirty="0">
                <a:latin typeface="Arial"/>
                <a:cs typeface="Arial"/>
              </a:rPr>
              <a:t>Events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werden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gesammelt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und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Transitionen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75" dirty="0">
                <a:latin typeface="Arial"/>
                <a:cs typeface="Arial"/>
              </a:rPr>
              <a:t>gemäß </a:t>
            </a:r>
            <a:r>
              <a:rPr sz="2000" spc="-90" dirty="0">
                <a:latin typeface="Arial"/>
                <a:cs typeface="Arial"/>
              </a:rPr>
              <a:t>Ausführungsreihenfolge</a:t>
            </a:r>
            <a:r>
              <a:rPr sz="2000" spc="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ausgeführt</a:t>
            </a:r>
            <a:endParaRPr sz="2000" dirty="0">
              <a:latin typeface="Arial"/>
              <a:cs typeface="Arial"/>
            </a:endParaRPr>
          </a:p>
          <a:p>
            <a:pPr marL="837565" lvl="1" indent="-342900">
              <a:spcBef>
                <a:spcPts val="235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807720" algn="l"/>
              </a:tabLst>
            </a:pPr>
            <a:r>
              <a:rPr sz="2000" spc="-60" dirty="0">
                <a:latin typeface="Arial"/>
                <a:cs typeface="Arial"/>
              </a:rPr>
              <a:t>ermöglicht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Bedingungen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wie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[Event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175" dirty="0">
                <a:latin typeface="Arial"/>
                <a:cs typeface="Arial"/>
              </a:rPr>
              <a:t>A</a:t>
            </a:r>
            <a:r>
              <a:rPr spc="-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&amp;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120" dirty="0">
                <a:latin typeface="Arial"/>
                <a:cs typeface="Arial"/>
              </a:rPr>
              <a:t>Event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105" dirty="0">
                <a:latin typeface="Arial"/>
                <a:cs typeface="Arial"/>
              </a:rPr>
              <a:t>B]</a:t>
            </a:r>
            <a:endParaRPr dirty="0">
              <a:latin typeface="Arial"/>
              <a:cs typeface="Arial"/>
            </a:endParaRPr>
          </a:p>
          <a:p>
            <a:pPr marL="837565" marR="426084" lvl="1" indent="-342900">
              <a:lnSpc>
                <a:spcPts val="2160"/>
              </a:lnSpc>
              <a:spcBef>
                <a:spcPts val="535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723265" algn="l"/>
                <a:tab pos="807720" algn="l"/>
              </a:tabLst>
            </a:pPr>
            <a:r>
              <a:rPr sz="2000" spc="-140" dirty="0">
                <a:latin typeface="Arial"/>
                <a:cs typeface="Arial"/>
              </a:rPr>
              <a:t>	Events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sind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nur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in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noch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nicht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ausgeführten </a:t>
            </a:r>
            <a:r>
              <a:rPr sz="2000" spc="-75" dirty="0">
                <a:latin typeface="Arial"/>
                <a:cs typeface="Arial"/>
              </a:rPr>
              <a:t>Orthogonal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States</a:t>
            </a:r>
            <a:r>
              <a:rPr sz="2000" spc="-55" dirty="0">
                <a:latin typeface="Arial"/>
                <a:cs typeface="Arial"/>
              </a:rPr>
              <a:t> sichtbar! </a:t>
            </a:r>
            <a:r>
              <a:rPr sz="2000" spc="-80" dirty="0">
                <a:latin typeface="Arial"/>
                <a:cs typeface="Arial"/>
              </a:rPr>
              <a:t>(down-</a:t>
            </a:r>
            <a:r>
              <a:rPr sz="2000" spc="-40" dirty="0">
                <a:latin typeface="Arial"/>
                <a:cs typeface="Arial"/>
              </a:rPr>
              <a:t>stream)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2411" y="3454001"/>
            <a:ext cx="2179812" cy="265031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248196" y="6167964"/>
            <a:ext cx="22866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60" dirty="0">
                <a:solidFill>
                  <a:srgbClr val="585858"/>
                </a:solidFill>
                <a:latin typeface="Arial"/>
                <a:cs typeface="Arial"/>
              </a:rPr>
              <a:t>Quelle:</a:t>
            </a:r>
            <a:r>
              <a:rPr sz="1400" spc="-6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spc="-250" dirty="0">
                <a:solidFill>
                  <a:srgbClr val="585858"/>
                </a:solidFill>
                <a:latin typeface="Arial"/>
                <a:cs typeface="Arial"/>
              </a:rPr>
              <a:t>CREATE</a:t>
            </a:r>
            <a:r>
              <a:rPr sz="1400" spc="-4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585858"/>
                </a:solidFill>
                <a:latin typeface="Arial"/>
                <a:cs typeface="Arial"/>
              </a:rPr>
              <a:t>Documentation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78</a:t>
            </a:fld>
            <a:endParaRPr spc="-2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891" y="498610"/>
            <a:ext cx="534661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605" dirty="0"/>
              <a:t>CREATE:</a:t>
            </a:r>
            <a:r>
              <a:rPr spc="-170" dirty="0"/>
              <a:t> </a:t>
            </a:r>
            <a:r>
              <a:rPr spc="-175" dirty="0"/>
              <a:t>event-</a:t>
            </a:r>
            <a:r>
              <a:rPr spc="-125" dirty="0"/>
              <a:t>driven</a:t>
            </a:r>
            <a:r>
              <a:rPr spc="-165" dirty="0"/>
              <a:t> </a:t>
            </a:r>
            <a:r>
              <a:rPr spc="-170" dirty="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1176" y="1568842"/>
            <a:ext cx="10994149" cy="136255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68935" marR="697230" indent="-342900">
              <a:lnSpc>
                <a:spcPts val="2590"/>
              </a:lnSpc>
              <a:spcBef>
                <a:spcPts val="425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266700" algn="l"/>
                <a:tab pos="368935" algn="l"/>
              </a:tabLst>
            </a:pPr>
            <a:r>
              <a:rPr sz="2400" spc="-120" dirty="0" err="1">
                <a:latin typeface="Arial"/>
                <a:cs typeface="Arial"/>
              </a:rPr>
              <a:t>Ereignisgesteuert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(event-</a:t>
            </a:r>
            <a:r>
              <a:rPr sz="2400" spc="-70" dirty="0">
                <a:latin typeface="Arial"/>
                <a:cs typeface="Arial"/>
              </a:rPr>
              <a:t>driven):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events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werden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sofort </a:t>
            </a:r>
            <a:r>
              <a:rPr sz="2400" spc="-10" dirty="0">
                <a:latin typeface="Arial"/>
                <a:cs typeface="Arial"/>
              </a:rPr>
              <a:t>verarbeitet</a:t>
            </a:r>
            <a:endParaRPr sz="2400" dirty="0">
              <a:latin typeface="Arial"/>
              <a:cs typeface="Arial"/>
            </a:endParaRPr>
          </a:p>
          <a:p>
            <a:pPr marL="838200" marR="572770" lvl="1" indent="-342900">
              <a:lnSpc>
                <a:spcPts val="216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723900" algn="l"/>
                <a:tab pos="808355" algn="l"/>
              </a:tabLst>
            </a:pPr>
            <a:r>
              <a:rPr sz="2000" spc="-105" dirty="0">
                <a:latin typeface="Arial"/>
                <a:cs typeface="Arial"/>
              </a:rPr>
              <a:t>	jedes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Event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triggert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sofort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(nach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der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Ausführung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des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aktuellen </a:t>
            </a:r>
            <a:r>
              <a:rPr sz="2000" spc="-145" dirty="0">
                <a:latin typeface="Arial"/>
                <a:cs typeface="Arial"/>
              </a:rPr>
              <a:t>Steps)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einen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run-</a:t>
            </a:r>
            <a:r>
              <a:rPr sz="2000" spc="-60" dirty="0">
                <a:latin typeface="Arial"/>
                <a:cs typeface="Arial"/>
              </a:rPr>
              <a:t>to-</a:t>
            </a:r>
            <a:r>
              <a:rPr sz="2000" spc="-55" dirty="0">
                <a:latin typeface="Arial"/>
                <a:cs typeface="Arial"/>
              </a:rPr>
              <a:t>completion </a:t>
            </a:r>
            <a:r>
              <a:rPr sz="2000" spc="-250" dirty="0">
                <a:latin typeface="Arial"/>
                <a:cs typeface="Arial"/>
              </a:rPr>
              <a:t>(RTC)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step</a:t>
            </a:r>
            <a:endParaRPr sz="2000" dirty="0">
              <a:latin typeface="Arial"/>
              <a:cs typeface="Arial"/>
            </a:endParaRPr>
          </a:p>
          <a:p>
            <a:pPr marL="838200" marR="30480" lvl="1" indent="-342900">
              <a:lnSpc>
                <a:spcPts val="216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723900" algn="l"/>
                <a:tab pos="808355" algn="l"/>
              </a:tabLst>
            </a:pPr>
            <a:r>
              <a:rPr sz="2000" spc="-114" dirty="0">
                <a:latin typeface="Arial"/>
                <a:cs typeface="Arial"/>
              </a:rPr>
              <a:t>	Bedingung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[Event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95" dirty="0">
                <a:latin typeface="Arial"/>
                <a:cs typeface="Arial"/>
              </a:rPr>
              <a:t>A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&amp;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Event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B]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nicht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möglich,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da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jedes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Event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seinen </a:t>
            </a:r>
            <a:r>
              <a:rPr sz="2000" spc="-100" dirty="0">
                <a:latin typeface="Arial"/>
                <a:cs typeface="Arial"/>
              </a:rPr>
              <a:t>eigenen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365" dirty="0">
                <a:latin typeface="Arial"/>
                <a:cs typeface="Arial"/>
              </a:rPr>
              <a:t>RTC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hat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6188" y="3664075"/>
            <a:ext cx="2690281" cy="11761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91573" y="4520425"/>
            <a:ext cx="62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14" dirty="0">
                <a:latin typeface="Arial"/>
                <a:cs typeface="Arial"/>
              </a:rPr>
              <a:t>StateB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8086" y="4526902"/>
            <a:ext cx="621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35" dirty="0">
                <a:latin typeface="Arial"/>
                <a:cs typeface="Arial"/>
              </a:rPr>
              <a:t>StateC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37849" y="3991584"/>
            <a:ext cx="950594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30" dirty="0">
                <a:latin typeface="Arial"/>
                <a:cs typeface="Arial"/>
              </a:rPr>
              <a:t>after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757070"/>
                </a:solidFill>
                <a:latin typeface="Arial"/>
                <a:cs typeface="Arial"/>
              </a:rPr>
              <a:t>500</a:t>
            </a:r>
            <a:r>
              <a:rPr sz="1500" spc="-80" dirty="0">
                <a:latin typeface="Arial"/>
                <a:cs typeface="Arial"/>
              </a:rPr>
              <a:t>ms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90849" y="3988346"/>
            <a:ext cx="950594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30" dirty="0">
                <a:latin typeface="Arial"/>
                <a:cs typeface="Arial"/>
              </a:rPr>
              <a:t>after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757070"/>
                </a:solidFill>
                <a:latin typeface="Arial"/>
                <a:cs typeface="Arial"/>
              </a:rPr>
              <a:t>200</a:t>
            </a:r>
            <a:r>
              <a:rPr sz="1500" spc="-80" dirty="0">
                <a:latin typeface="Arial"/>
                <a:cs typeface="Arial"/>
              </a:rPr>
              <a:t>ms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80852" y="3692779"/>
            <a:ext cx="561340" cy="677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95" dirty="0">
                <a:latin typeface="Arial"/>
                <a:cs typeface="Arial"/>
              </a:rPr>
              <a:t>StateA</a:t>
            </a:r>
            <a:endParaRPr sz="1600">
              <a:latin typeface="Arial"/>
              <a:cs typeface="Arial"/>
            </a:endParaRPr>
          </a:p>
          <a:p>
            <a:pPr marL="89535">
              <a:spcBef>
                <a:spcPts val="1775"/>
              </a:spcBef>
              <a:tabLst>
                <a:tab pos="446405" algn="l"/>
              </a:tabLst>
            </a:pPr>
            <a:r>
              <a:rPr spc="-75" baseline="2314" dirty="0">
                <a:latin typeface="Arial"/>
                <a:cs typeface="Arial"/>
              </a:rPr>
              <a:t>2</a:t>
            </a:r>
            <a:r>
              <a:rPr baseline="2314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9292" y="3082328"/>
            <a:ext cx="2179812" cy="265031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994691" y="5836577"/>
            <a:ext cx="22866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60" dirty="0">
                <a:solidFill>
                  <a:srgbClr val="585858"/>
                </a:solidFill>
                <a:latin typeface="Arial"/>
                <a:cs typeface="Arial"/>
              </a:rPr>
              <a:t>Quelle:</a:t>
            </a:r>
            <a:r>
              <a:rPr sz="1400" spc="-6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spc="-250" dirty="0">
                <a:solidFill>
                  <a:srgbClr val="585858"/>
                </a:solidFill>
                <a:latin typeface="Arial"/>
                <a:cs typeface="Arial"/>
              </a:rPr>
              <a:t>CREATE</a:t>
            </a:r>
            <a:r>
              <a:rPr sz="1400" spc="-4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585858"/>
                </a:solidFill>
                <a:latin typeface="Arial"/>
                <a:cs typeface="Arial"/>
              </a:rPr>
              <a:t>Documentation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79</a:t>
            </a:fld>
            <a:endParaRPr spc="-2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3771" y="336854"/>
            <a:ext cx="8064331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500" spc="-95" dirty="0"/>
              <a:t>Model-</a:t>
            </a:r>
            <a:r>
              <a:rPr sz="3500" spc="-155" dirty="0"/>
              <a:t>Driven</a:t>
            </a:r>
            <a:r>
              <a:rPr sz="3500" spc="-120" dirty="0"/>
              <a:t> </a:t>
            </a:r>
            <a:r>
              <a:rPr sz="3500" spc="-145" dirty="0"/>
              <a:t>Development</a:t>
            </a:r>
            <a:r>
              <a:rPr sz="3500" spc="-114" dirty="0"/>
              <a:t> </a:t>
            </a:r>
            <a:r>
              <a:rPr sz="3500" spc="-110" dirty="0"/>
              <a:t>(MDD)</a:t>
            </a:r>
            <a:endParaRPr sz="3500" dirty="0"/>
          </a:p>
        </p:txBody>
      </p:sp>
      <p:sp>
        <p:nvSpPr>
          <p:cNvPr id="3" name="object 3"/>
          <p:cNvSpPr txBox="1"/>
          <p:nvPr/>
        </p:nvSpPr>
        <p:spPr>
          <a:xfrm>
            <a:off x="4794466" y="2223363"/>
            <a:ext cx="2646045" cy="322524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735330">
              <a:spcBef>
                <a:spcPts val="355"/>
              </a:spcBef>
            </a:pPr>
            <a:r>
              <a:rPr spc="-10" dirty="0">
                <a:latin typeface="Arial"/>
                <a:cs typeface="Arial"/>
              </a:rPr>
              <a:t>Spezifikation</a:t>
            </a:r>
            <a:endParaRPr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4466" y="3060002"/>
            <a:ext cx="2646045" cy="599523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1022350" marR="316230" indent="-701040">
              <a:spcBef>
                <a:spcPts val="355"/>
              </a:spcBef>
            </a:pPr>
            <a:r>
              <a:rPr spc="-105" dirty="0">
                <a:solidFill>
                  <a:srgbClr val="5A9AD4"/>
                </a:solidFill>
                <a:latin typeface="Arial"/>
                <a:cs typeface="Arial"/>
              </a:rPr>
              <a:t>Domänenspezifisches </a:t>
            </a:r>
            <a:r>
              <a:rPr spc="-20" dirty="0">
                <a:latin typeface="Arial"/>
                <a:cs typeface="Arial"/>
              </a:rPr>
              <a:t>Model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94466" y="4172763"/>
            <a:ext cx="2646045" cy="599523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48945" marR="431165" indent="-12700">
              <a:spcBef>
                <a:spcPts val="355"/>
              </a:spcBef>
            </a:pPr>
            <a:r>
              <a:rPr spc="-65" dirty="0">
                <a:solidFill>
                  <a:srgbClr val="5A9AD4"/>
                </a:solidFill>
                <a:latin typeface="Arial"/>
                <a:cs typeface="Arial"/>
              </a:rPr>
              <a:t>Implementierungs-</a:t>
            </a:r>
            <a:r>
              <a:rPr spc="-110" dirty="0">
                <a:solidFill>
                  <a:srgbClr val="5A9AD4"/>
                </a:solidFill>
                <a:latin typeface="Arial"/>
                <a:cs typeface="Arial"/>
              </a:rPr>
              <a:t>spezifisches</a:t>
            </a:r>
            <a:r>
              <a:rPr spc="-15" dirty="0">
                <a:solidFill>
                  <a:srgbClr val="5A9AD4"/>
                </a:solidFill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Model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94466" y="5283720"/>
            <a:ext cx="2646045" cy="322524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algn="ctr">
              <a:spcBef>
                <a:spcPts val="355"/>
              </a:spcBef>
            </a:pPr>
            <a:r>
              <a:rPr spc="-10" dirty="0">
                <a:latin typeface="Arial"/>
                <a:cs typeface="Arial"/>
              </a:rPr>
              <a:t>Zielcode</a:t>
            </a:r>
            <a:endParaRPr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94343" y="4810684"/>
            <a:ext cx="7429500" cy="473075"/>
            <a:chOff x="863993" y="4810683"/>
            <a:chExt cx="7429500" cy="473075"/>
          </a:xfrm>
        </p:grpSpPr>
        <p:sp>
          <p:nvSpPr>
            <p:cNvPr id="8" name="object 8"/>
            <p:cNvSpPr/>
            <p:nvPr/>
          </p:nvSpPr>
          <p:spPr>
            <a:xfrm>
              <a:off x="863993" y="5033886"/>
              <a:ext cx="7429500" cy="1270"/>
            </a:xfrm>
            <a:custGeom>
              <a:avLst/>
              <a:gdLst/>
              <a:ahLst/>
              <a:cxnLst/>
              <a:rect l="l" t="t" r="r" b="b"/>
              <a:pathLst>
                <a:path w="7429500" h="1270">
                  <a:moveTo>
                    <a:pt x="0" y="0"/>
                  </a:moveTo>
                  <a:lnTo>
                    <a:pt x="7429322" y="1079"/>
                  </a:lnTo>
                </a:path>
              </a:pathLst>
            </a:custGeom>
            <a:ln w="3175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87125" y="4810683"/>
              <a:ext cx="0" cy="402590"/>
            </a:xfrm>
            <a:custGeom>
              <a:avLst/>
              <a:gdLst/>
              <a:ahLst/>
              <a:cxnLst/>
              <a:rect l="l" t="t" r="r" b="b"/>
              <a:pathLst>
                <a:path h="402589">
                  <a:moveTo>
                    <a:pt x="0" y="0"/>
                  </a:moveTo>
                  <a:lnTo>
                    <a:pt x="0" y="4024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49317" y="52081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6446" y="4338980"/>
            <a:ext cx="1021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20" dirty="0">
                <a:latin typeface="Arial"/>
                <a:cs typeface="Arial"/>
              </a:rPr>
              <a:t>Entwickler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06446" y="2857220"/>
            <a:ext cx="751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25" dirty="0">
                <a:latin typeface="Arial"/>
                <a:cs typeface="Arial"/>
              </a:rPr>
              <a:t>Experte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06446" y="5313133"/>
            <a:ext cx="994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10" dirty="0">
                <a:latin typeface="Arial"/>
                <a:cs typeface="Arial"/>
              </a:rPr>
              <a:t>Generator</a:t>
            </a:r>
            <a:endParaRPr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79667" y="2586965"/>
            <a:ext cx="76200" cy="473075"/>
            <a:chOff x="4549317" y="2586964"/>
            <a:chExt cx="76200" cy="473075"/>
          </a:xfrm>
        </p:grpSpPr>
        <p:sp>
          <p:nvSpPr>
            <p:cNvPr id="15" name="object 15"/>
            <p:cNvSpPr/>
            <p:nvPr/>
          </p:nvSpPr>
          <p:spPr>
            <a:xfrm>
              <a:off x="4587125" y="2586964"/>
              <a:ext cx="0" cy="402590"/>
            </a:xfrm>
            <a:custGeom>
              <a:avLst/>
              <a:gdLst/>
              <a:ahLst/>
              <a:cxnLst/>
              <a:rect l="l" t="t" r="r" b="b"/>
              <a:pathLst>
                <a:path h="402589">
                  <a:moveTo>
                    <a:pt x="0" y="0"/>
                  </a:moveTo>
                  <a:lnTo>
                    <a:pt x="0" y="4024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49317" y="29843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395067" y="3697287"/>
            <a:ext cx="7430134" cy="472440"/>
            <a:chOff x="864717" y="3697287"/>
            <a:chExt cx="7430134" cy="472440"/>
          </a:xfrm>
        </p:grpSpPr>
        <p:sp>
          <p:nvSpPr>
            <p:cNvPr id="18" name="object 18"/>
            <p:cNvSpPr/>
            <p:nvPr/>
          </p:nvSpPr>
          <p:spPr>
            <a:xfrm>
              <a:off x="864717" y="3940200"/>
              <a:ext cx="7430134" cy="1270"/>
            </a:xfrm>
            <a:custGeom>
              <a:avLst/>
              <a:gdLst/>
              <a:ahLst/>
              <a:cxnLst/>
              <a:rect l="l" t="t" r="r" b="b"/>
              <a:pathLst>
                <a:path w="7430134" h="1270">
                  <a:moveTo>
                    <a:pt x="0" y="0"/>
                  </a:moveTo>
                  <a:lnTo>
                    <a:pt x="7429677" y="1079"/>
                  </a:lnTo>
                </a:path>
              </a:pathLst>
            </a:custGeom>
            <a:ln w="3175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87125" y="3697922"/>
              <a:ext cx="1905" cy="401320"/>
            </a:xfrm>
            <a:custGeom>
              <a:avLst/>
              <a:gdLst/>
              <a:ahLst/>
              <a:cxnLst/>
              <a:rect l="l" t="t" r="r" b="b"/>
              <a:pathLst>
                <a:path w="1904" h="401320">
                  <a:moveTo>
                    <a:pt x="0" y="0"/>
                  </a:moveTo>
                  <a:lnTo>
                    <a:pt x="1435" y="4010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50765" y="409392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590" y="0"/>
                  </a:moveTo>
                  <a:lnTo>
                    <a:pt x="0" y="0"/>
                  </a:lnTo>
                  <a:lnTo>
                    <a:pt x="38150" y="75603"/>
                  </a:lnTo>
                  <a:lnTo>
                    <a:pt x="75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948688" y="5313133"/>
            <a:ext cx="17773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75" dirty="0">
                <a:latin typeface="Arial"/>
                <a:cs typeface="Arial"/>
              </a:rPr>
              <a:t>Plattformspezifisch</a:t>
            </a:r>
            <a:endParaRPr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80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7934287" y="4200740"/>
            <a:ext cx="1795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pc="-65" dirty="0">
                <a:latin typeface="Arial"/>
                <a:cs typeface="Arial"/>
              </a:rPr>
              <a:t>Implementierungs-</a:t>
            </a:r>
            <a:r>
              <a:rPr spc="-10" dirty="0">
                <a:latin typeface="Arial"/>
                <a:cs typeface="Arial"/>
              </a:rPr>
              <a:t>details</a:t>
            </a:r>
            <a:endParaRPr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40052" y="2252776"/>
            <a:ext cx="143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65" dirty="0">
                <a:latin typeface="Arial"/>
                <a:cs typeface="Arial"/>
              </a:rPr>
              <a:t>Anforderungen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31049" y="3086544"/>
            <a:ext cx="11563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pc="-45" dirty="0">
                <a:latin typeface="Arial"/>
                <a:cs typeface="Arial"/>
              </a:rPr>
              <a:t>Funktionale </a:t>
            </a:r>
            <a:r>
              <a:rPr spc="-100" dirty="0">
                <a:latin typeface="Arial"/>
                <a:cs typeface="Arial"/>
              </a:rPr>
              <a:t>Realisierung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1176" y="807787"/>
            <a:ext cx="406398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75" dirty="0"/>
              <a:t>MDD</a:t>
            </a:r>
            <a:r>
              <a:rPr spc="-175" dirty="0"/>
              <a:t> </a:t>
            </a:r>
            <a:r>
              <a:rPr dirty="0"/>
              <a:t>mit</a:t>
            </a:r>
            <a:r>
              <a:rPr spc="-165" dirty="0"/>
              <a:t> </a:t>
            </a:r>
            <a:r>
              <a:rPr spc="-175" dirty="0"/>
              <a:t>Statecharts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177" y="1556797"/>
            <a:ext cx="5765436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3535" indent="-342900">
              <a:spcBef>
                <a:spcPts val="10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43535" algn="l"/>
              </a:tabLst>
            </a:pPr>
            <a:r>
              <a:rPr sz="2400" spc="-470" dirty="0">
                <a:latin typeface="Arial"/>
                <a:cs typeface="Arial"/>
              </a:rPr>
              <a:t>C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04" dirty="0">
                <a:latin typeface="Arial"/>
                <a:cs typeface="Arial"/>
              </a:rPr>
              <a:t>Code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generieren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für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Statecharts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54555" y="2028856"/>
            <a:ext cx="3289935" cy="324485"/>
            <a:chOff x="1024204" y="1767598"/>
            <a:chExt cx="3289935" cy="324485"/>
          </a:xfrm>
        </p:grpSpPr>
        <p:sp>
          <p:nvSpPr>
            <p:cNvPr id="5" name="object 5"/>
            <p:cNvSpPr/>
            <p:nvPr/>
          </p:nvSpPr>
          <p:spPr>
            <a:xfrm>
              <a:off x="1024204" y="1767598"/>
              <a:ext cx="1118235" cy="318770"/>
            </a:xfrm>
            <a:custGeom>
              <a:avLst/>
              <a:gdLst/>
              <a:ahLst/>
              <a:cxnLst/>
              <a:rect l="l" t="t" r="r" b="b"/>
              <a:pathLst>
                <a:path w="1118235" h="318769">
                  <a:moveTo>
                    <a:pt x="1064514" y="0"/>
                  </a:moveTo>
                  <a:lnTo>
                    <a:pt x="52920" y="0"/>
                  </a:lnTo>
                  <a:lnTo>
                    <a:pt x="45009" y="467"/>
                  </a:lnTo>
                  <a:lnTo>
                    <a:pt x="45670" y="467"/>
                  </a:lnTo>
                  <a:lnTo>
                    <a:pt x="39238" y="1665"/>
                  </a:lnTo>
                  <a:lnTo>
                    <a:pt x="7200" y="26276"/>
                  </a:lnTo>
                  <a:lnTo>
                    <a:pt x="0" y="52920"/>
                  </a:lnTo>
                  <a:lnTo>
                    <a:pt x="0" y="265315"/>
                  </a:lnTo>
                  <a:lnTo>
                    <a:pt x="389" y="271907"/>
                  </a:lnTo>
                  <a:lnTo>
                    <a:pt x="410" y="272257"/>
                  </a:lnTo>
                  <a:lnTo>
                    <a:pt x="1605" y="278687"/>
                  </a:lnTo>
                  <a:lnTo>
                    <a:pt x="1663" y="278998"/>
                  </a:lnTo>
                  <a:lnTo>
                    <a:pt x="3725" y="285264"/>
                  </a:lnTo>
                  <a:lnTo>
                    <a:pt x="3793" y="285470"/>
                  </a:lnTo>
                  <a:lnTo>
                    <a:pt x="6832" y="291604"/>
                  </a:lnTo>
                  <a:lnTo>
                    <a:pt x="39193" y="316393"/>
                  </a:lnTo>
                  <a:lnTo>
                    <a:pt x="46517" y="317881"/>
                  </a:lnTo>
                  <a:lnTo>
                    <a:pt x="47620" y="317881"/>
                  </a:lnTo>
                  <a:lnTo>
                    <a:pt x="52920" y="318236"/>
                  </a:lnTo>
                  <a:lnTo>
                    <a:pt x="1064869" y="317881"/>
                  </a:lnTo>
                  <a:lnTo>
                    <a:pt x="1102226" y="302534"/>
                  </a:lnTo>
                  <a:lnTo>
                    <a:pt x="1113591" y="285470"/>
                  </a:lnTo>
                  <a:lnTo>
                    <a:pt x="1113691" y="285264"/>
                  </a:lnTo>
                  <a:lnTo>
                    <a:pt x="1117790" y="264960"/>
                  </a:lnTo>
                  <a:lnTo>
                    <a:pt x="1117434" y="52920"/>
                  </a:lnTo>
                  <a:lnTo>
                    <a:pt x="1102088" y="15574"/>
                  </a:lnTo>
                  <a:lnTo>
                    <a:pt x="1071461" y="467"/>
                  </a:lnTo>
                  <a:lnTo>
                    <a:pt x="1064514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46603" y="1779841"/>
              <a:ext cx="1367790" cy="302895"/>
            </a:xfrm>
            <a:custGeom>
              <a:avLst/>
              <a:gdLst/>
              <a:ahLst/>
              <a:cxnLst/>
              <a:rect l="l" t="t" r="r" b="b"/>
              <a:pathLst>
                <a:path w="1367789" h="302894">
                  <a:moveTo>
                    <a:pt x="50761" y="0"/>
                  </a:moveTo>
                  <a:lnTo>
                    <a:pt x="15162" y="14805"/>
                  </a:lnTo>
                  <a:lnTo>
                    <a:pt x="355" y="50393"/>
                  </a:lnTo>
                  <a:lnTo>
                    <a:pt x="0" y="251993"/>
                  </a:lnTo>
                  <a:lnTo>
                    <a:pt x="460" y="258666"/>
                  </a:lnTo>
                  <a:lnTo>
                    <a:pt x="19746" y="291927"/>
                  </a:lnTo>
                  <a:lnTo>
                    <a:pt x="50393" y="302399"/>
                  </a:lnTo>
                  <a:lnTo>
                    <a:pt x="1067752" y="302399"/>
                  </a:lnTo>
                  <a:lnTo>
                    <a:pt x="1073678" y="301989"/>
                  </a:lnTo>
                  <a:lnTo>
                    <a:pt x="1074175" y="301989"/>
                  </a:lnTo>
                  <a:lnTo>
                    <a:pt x="1107687" y="282651"/>
                  </a:lnTo>
                  <a:lnTo>
                    <a:pt x="1118158" y="251993"/>
                  </a:lnTo>
                  <a:lnTo>
                    <a:pt x="1118133" y="50393"/>
                  </a:lnTo>
                  <a:lnTo>
                    <a:pt x="1103352" y="15162"/>
                  </a:lnTo>
                  <a:lnTo>
                    <a:pt x="1069455" y="460"/>
                  </a:lnTo>
                  <a:lnTo>
                    <a:pt x="1367401" y="460"/>
                  </a:lnTo>
                  <a:lnTo>
                    <a:pt x="5076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46603" y="1779841"/>
              <a:ext cx="1118235" cy="302895"/>
            </a:xfrm>
            <a:custGeom>
              <a:avLst/>
              <a:gdLst/>
              <a:ahLst/>
              <a:cxnLst/>
              <a:rect l="l" t="t" r="r" b="b"/>
              <a:pathLst>
                <a:path w="1118235" h="302894">
                  <a:moveTo>
                    <a:pt x="355" y="50393"/>
                  </a:moveTo>
                  <a:lnTo>
                    <a:pt x="766" y="43725"/>
                  </a:lnTo>
                  <a:lnTo>
                    <a:pt x="2020" y="37257"/>
                  </a:lnTo>
                  <a:lnTo>
                    <a:pt x="25552" y="6832"/>
                  </a:lnTo>
                  <a:lnTo>
                    <a:pt x="50761" y="0"/>
                  </a:lnTo>
                  <a:lnTo>
                    <a:pt x="1067752" y="355"/>
                  </a:lnTo>
                  <a:lnTo>
                    <a:pt x="1074425" y="766"/>
                  </a:lnTo>
                  <a:lnTo>
                    <a:pt x="1107687" y="20104"/>
                  </a:lnTo>
                  <a:lnTo>
                    <a:pt x="1118158" y="50761"/>
                  </a:lnTo>
                  <a:lnTo>
                    <a:pt x="1118158" y="251993"/>
                  </a:lnTo>
                  <a:lnTo>
                    <a:pt x="1117748" y="258666"/>
                  </a:lnTo>
                  <a:lnTo>
                    <a:pt x="1116493" y="265136"/>
                  </a:lnTo>
                  <a:lnTo>
                    <a:pt x="1092962" y="295554"/>
                  </a:lnTo>
                  <a:lnTo>
                    <a:pt x="1067752" y="302399"/>
                  </a:lnTo>
                  <a:lnTo>
                    <a:pt x="50393" y="302399"/>
                  </a:lnTo>
                  <a:lnTo>
                    <a:pt x="14800" y="287593"/>
                  </a:lnTo>
                  <a:lnTo>
                    <a:pt x="0" y="251993"/>
                  </a:lnTo>
                  <a:lnTo>
                    <a:pt x="355" y="50393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79611" y="2057926"/>
            <a:ext cx="241363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710689" algn="l"/>
              </a:tabLst>
            </a:pPr>
            <a:r>
              <a:rPr sz="2400" spc="-37" baseline="1736" dirty="0">
                <a:solidFill>
                  <a:srgbClr val="FFFFFF"/>
                </a:solidFill>
                <a:latin typeface="Arial"/>
                <a:cs typeface="Arial"/>
              </a:rPr>
              <a:t>rot</a:t>
            </a:r>
            <a:r>
              <a:rPr sz="2400" baseline="1736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600" spc="-45" dirty="0">
                <a:solidFill>
                  <a:srgbClr val="FFFFFF"/>
                </a:solidFill>
                <a:latin typeface="Arial"/>
                <a:cs typeface="Arial"/>
              </a:rPr>
              <a:t>rot_gelb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60676" y="2864058"/>
            <a:ext cx="3041015" cy="298450"/>
            <a:chOff x="1030325" y="2602801"/>
            <a:chExt cx="3041015" cy="298450"/>
          </a:xfrm>
        </p:grpSpPr>
        <p:sp>
          <p:nvSpPr>
            <p:cNvPr id="10" name="object 10"/>
            <p:cNvSpPr/>
            <p:nvPr/>
          </p:nvSpPr>
          <p:spPr>
            <a:xfrm>
              <a:off x="1030325" y="2602801"/>
              <a:ext cx="1118235" cy="298450"/>
            </a:xfrm>
            <a:custGeom>
              <a:avLst/>
              <a:gdLst/>
              <a:ahLst/>
              <a:cxnLst/>
              <a:rect l="l" t="t" r="r" b="b"/>
              <a:pathLst>
                <a:path w="1118235" h="298450">
                  <a:moveTo>
                    <a:pt x="1067752" y="0"/>
                  </a:moveTo>
                  <a:lnTo>
                    <a:pt x="49669" y="0"/>
                  </a:lnTo>
                  <a:lnTo>
                    <a:pt x="43209" y="404"/>
                  </a:lnTo>
                  <a:lnTo>
                    <a:pt x="6477" y="24841"/>
                  </a:lnTo>
                  <a:lnTo>
                    <a:pt x="0" y="49682"/>
                  </a:lnTo>
                  <a:lnTo>
                    <a:pt x="0" y="248399"/>
                  </a:lnTo>
                  <a:lnTo>
                    <a:pt x="19430" y="287820"/>
                  </a:lnTo>
                  <a:lnTo>
                    <a:pt x="43400" y="297713"/>
                  </a:lnTo>
                  <a:lnTo>
                    <a:pt x="43792" y="297713"/>
                  </a:lnTo>
                  <a:lnTo>
                    <a:pt x="49669" y="298081"/>
                  </a:lnTo>
                  <a:lnTo>
                    <a:pt x="1068108" y="297713"/>
                  </a:lnTo>
                  <a:lnTo>
                    <a:pt x="1107536" y="278277"/>
                  </a:lnTo>
                  <a:lnTo>
                    <a:pt x="1117317" y="254861"/>
                  </a:lnTo>
                  <a:lnTo>
                    <a:pt x="1117385" y="254503"/>
                  </a:lnTo>
                  <a:lnTo>
                    <a:pt x="1117768" y="248399"/>
                  </a:lnTo>
                  <a:lnTo>
                    <a:pt x="1117790" y="248043"/>
                  </a:lnTo>
                  <a:lnTo>
                    <a:pt x="1117434" y="49682"/>
                  </a:lnTo>
                  <a:lnTo>
                    <a:pt x="1097991" y="10260"/>
                  </a:lnTo>
                  <a:lnTo>
                    <a:pt x="1074214" y="404"/>
                  </a:lnTo>
                  <a:lnTo>
                    <a:pt x="1067752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53080" y="2602801"/>
              <a:ext cx="1118235" cy="298450"/>
            </a:xfrm>
            <a:custGeom>
              <a:avLst/>
              <a:gdLst/>
              <a:ahLst/>
              <a:cxnLst/>
              <a:rect l="l" t="t" r="r" b="b"/>
              <a:pathLst>
                <a:path w="1118235" h="298450">
                  <a:moveTo>
                    <a:pt x="1067765" y="0"/>
                  </a:moveTo>
                  <a:lnTo>
                    <a:pt x="49682" y="0"/>
                  </a:lnTo>
                  <a:lnTo>
                    <a:pt x="43214" y="404"/>
                  </a:lnTo>
                  <a:lnTo>
                    <a:pt x="6476" y="24841"/>
                  </a:lnTo>
                  <a:lnTo>
                    <a:pt x="0" y="49682"/>
                  </a:lnTo>
                  <a:lnTo>
                    <a:pt x="0" y="248399"/>
                  </a:lnTo>
                  <a:lnTo>
                    <a:pt x="19442" y="287820"/>
                  </a:lnTo>
                  <a:lnTo>
                    <a:pt x="43406" y="297713"/>
                  </a:lnTo>
                  <a:lnTo>
                    <a:pt x="43798" y="297713"/>
                  </a:lnTo>
                  <a:lnTo>
                    <a:pt x="49682" y="298081"/>
                  </a:lnTo>
                  <a:lnTo>
                    <a:pt x="1068120" y="297713"/>
                  </a:lnTo>
                  <a:lnTo>
                    <a:pt x="1107537" y="278277"/>
                  </a:lnTo>
                  <a:lnTo>
                    <a:pt x="1117780" y="248399"/>
                  </a:lnTo>
                  <a:lnTo>
                    <a:pt x="1117803" y="248043"/>
                  </a:lnTo>
                  <a:lnTo>
                    <a:pt x="1117434" y="49682"/>
                  </a:lnTo>
                  <a:lnTo>
                    <a:pt x="1097999" y="10260"/>
                  </a:lnTo>
                  <a:lnTo>
                    <a:pt x="1074225" y="404"/>
                  </a:lnTo>
                  <a:lnTo>
                    <a:pt x="1067765" y="0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33166" y="2878358"/>
            <a:ext cx="23609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868805" algn="l"/>
              </a:tabLst>
            </a:pP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gelb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600" spc="-60" dirty="0">
                <a:solidFill>
                  <a:srgbClr val="FFFFFF"/>
                </a:solidFill>
                <a:latin typeface="Arial"/>
                <a:cs typeface="Arial"/>
              </a:rPr>
              <a:t>gruen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33536" y="2141352"/>
            <a:ext cx="2945765" cy="909955"/>
            <a:chOff x="603185" y="1880094"/>
            <a:chExt cx="2945765" cy="909955"/>
          </a:xfrm>
        </p:grpSpPr>
        <p:sp>
          <p:nvSpPr>
            <p:cNvPr id="14" name="object 14"/>
            <p:cNvSpPr/>
            <p:nvPr/>
          </p:nvSpPr>
          <p:spPr>
            <a:xfrm>
              <a:off x="2141639" y="1926716"/>
              <a:ext cx="735330" cy="4445"/>
            </a:xfrm>
            <a:custGeom>
              <a:avLst/>
              <a:gdLst/>
              <a:ahLst/>
              <a:cxnLst/>
              <a:rect l="l" t="t" r="r" b="b"/>
              <a:pathLst>
                <a:path w="735330" h="4444">
                  <a:moveTo>
                    <a:pt x="0" y="0"/>
                  </a:moveTo>
                  <a:lnTo>
                    <a:pt x="734758" y="39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71000" y="18928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23" y="0"/>
                  </a:moveTo>
                  <a:lnTo>
                    <a:pt x="0" y="75590"/>
                  </a:lnTo>
                  <a:lnTo>
                    <a:pt x="75958" y="38150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18321" y="2751835"/>
              <a:ext cx="735330" cy="0"/>
            </a:xfrm>
            <a:custGeom>
              <a:avLst/>
              <a:gdLst/>
              <a:ahLst/>
              <a:cxnLst/>
              <a:rect l="l" t="t" r="r" b="b"/>
              <a:pathLst>
                <a:path w="735330">
                  <a:moveTo>
                    <a:pt x="73475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47760" y="27140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37795"/>
                  </a:lnTo>
                  <a:lnTo>
                    <a:pt x="75603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05682" y="2081885"/>
              <a:ext cx="5715" cy="450850"/>
            </a:xfrm>
            <a:custGeom>
              <a:avLst/>
              <a:gdLst/>
              <a:ahLst/>
              <a:cxnLst/>
              <a:rect l="l" t="t" r="r" b="b"/>
              <a:pathLst>
                <a:path w="5714" h="450850">
                  <a:moveTo>
                    <a:pt x="0" y="0"/>
                  </a:moveTo>
                  <a:lnTo>
                    <a:pt x="5397" y="4507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73284" y="25271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590" y="0"/>
                  </a:moveTo>
                  <a:lnTo>
                    <a:pt x="0" y="723"/>
                  </a:lnTo>
                  <a:lnTo>
                    <a:pt x="38519" y="75958"/>
                  </a:lnTo>
                  <a:lnTo>
                    <a:pt x="75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83639" y="2156396"/>
              <a:ext cx="5715" cy="447040"/>
            </a:xfrm>
            <a:custGeom>
              <a:avLst/>
              <a:gdLst/>
              <a:ahLst/>
              <a:cxnLst/>
              <a:rect l="l" t="t" r="r" b="b"/>
              <a:pathLst>
                <a:path w="5715" h="447039">
                  <a:moveTo>
                    <a:pt x="5397" y="4467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45843" y="208583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071" y="0"/>
                  </a:moveTo>
                  <a:lnTo>
                    <a:pt x="0" y="75958"/>
                  </a:lnTo>
                  <a:lnTo>
                    <a:pt x="75590" y="75247"/>
                  </a:lnTo>
                  <a:lnTo>
                    <a:pt x="370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185" y="1880094"/>
              <a:ext cx="421018" cy="10621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325170" y="1975122"/>
            <a:ext cx="1913255" cy="2787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594360" indent="-137160"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int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tick()</a:t>
            </a:r>
            <a:r>
              <a:rPr sz="1600" spc="-10" dirty="0">
                <a:latin typeface="Arial"/>
                <a:cs typeface="Arial"/>
              </a:rPr>
              <a:t>{ </a:t>
            </a:r>
            <a:r>
              <a:rPr sz="1600" spc="-55" dirty="0">
                <a:latin typeface="Arial"/>
                <a:cs typeface="Arial"/>
              </a:rPr>
              <a:t>switch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(state){</a:t>
            </a:r>
            <a:endParaRPr sz="1600">
              <a:latin typeface="Arial"/>
              <a:cs typeface="Arial"/>
            </a:endParaRPr>
          </a:p>
          <a:p>
            <a:pPr marL="423545" marR="843280" indent="-137160">
              <a:lnSpc>
                <a:spcPts val="1920"/>
              </a:lnSpc>
              <a:spcBef>
                <a:spcPts val="65"/>
              </a:spcBef>
            </a:pPr>
            <a:r>
              <a:rPr sz="1600" spc="-140" dirty="0">
                <a:latin typeface="Arial"/>
                <a:cs typeface="Arial"/>
              </a:rPr>
              <a:t>case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BF0000"/>
                </a:solidFill>
                <a:latin typeface="Arial"/>
                <a:cs typeface="Arial"/>
              </a:rPr>
              <a:t>rot</a:t>
            </a:r>
            <a:r>
              <a:rPr sz="1600" spc="-20" dirty="0">
                <a:latin typeface="Arial"/>
                <a:cs typeface="Arial"/>
              </a:rPr>
              <a:t>: </a:t>
            </a:r>
            <a:r>
              <a:rPr sz="1600" dirty="0">
                <a:latin typeface="Arial"/>
                <a:cs typeface="Arial"/>
              </a:rPr>
              <a:t>if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60" dirty="0">
                <a:latin typeface="Arial"/>
                <a:cs typeface="Arial"/>
              </a:rPr>
              <a:t>(next)</a:t>
            </a:r>
            <a:endParaRPr sz="1600">
              <a:latin typeface="Arial"/>
              <a:cs typeface="Arial"/>
            </a:endParaRPr>
          </a:p>
          <a:p>
            <a:pPr marL="560705">
              <a:lnSpc>
                <a:spcPts val="1855"/>
              </a:lnSpc>
            </a:pPr>
            <a:r>
              <a:rPr sz="1600" spc="-65" dirty="0">
                <a:latin typeface="Arial"/>
                <a:cs typeface="Arial"/>
              </a:rPr>
              <a:t>state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150" dirty="0">
                <a:latin typeface="Arial"/>
                <a:cs typeface="Arial"/>
              </a:rPr>
              <a:t>=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rot_gelb;</a:t>
            </a:r>
            <a:endParaRPr sz="1600">
              <a:latin typeface="Arial"/>
              <a:cs typeface="Arial"/>
            </a:endParaRPr>
          </a:p>
          <a:p>
            <a:pPr marL="423545">
              <a:lnSpc>
                <a:spcPts val="1920"/>
              </a:lnSpc>
            </a:pPr>
            <a:r>
              <a:rPr sz="1600" spc="-10" dirty="0">
                <a:latin typeface="Arial"/>
                <a:cs typeface="Arial"/>
              </a:rPr>
              <a:t>break;</a:t>
            </a:r>
            <a:endParaRPr sz="1600">
              <a:latin typeface="Arial"/>
              <a:cs typeface="Arial"/>
            </a:endParaRPr>
          </a:p>
          <a:p>
            <a:pPr marL="423545" marR="466090" indent="-137160"/>
            <a:r>
              <a:rPr sz="1600" spc="-140" dirty="0">
                <a:latin typeface="Arial"/>
                <a:cs typeface="Arial"/>
              </a:rPr>
              <a:t>case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EC7C30"/>
                </a:solidFill>
                <a:latin typeface="Arial"/>
                <a:cs typeface="Arial"/>
              </a:rPr>
              <a:t>rot_gelb</a:t>
            </a:r>
            <a:r>
              <a:rPr sz="1600" spc="-50" dirty="0">
                <a:latin typeface="Arial"/>
                <a:cs typeface="Arial"/>
              </a:rPr>
              <a:t>: </a:t>
            </a:r>
            <a:r>
              <a:rPr sz="1600" dirty="0">
                <a:latin typeface="Arial"/>
                <a:cs typeface="Arial"/>
              </a:rPr>
              <a:t>if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(next)</a:t>
            </a:r>
            <a:endParaRPr sz="1600">
              <a:latin typeface="Arial"/>
              <a:cs typeface="Arial"/>
            </a:endParaRPr>
          </a:p>
          <a:p>
            <a:pPr marL="423545" marR="215265" indent="137160">
              <a:lnSpc>
                <a:spcPts val="1920"/>
              </a:lnSpc>
              <a:spcBef>
                <a:spcPts val="60"/>
              </a:spcBef>
            </a:pPr>
            <a:r>
              <a:rPr sz="1600" spc="-65" dirty="0">
                <a:latin typeface="Arial"/>
                <a:cs typeface="Arial"/>
              </a:rPr>
              <a:t>state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150" dirty="0">
                <a:latin typeface="Arial"/>
                <a:cs typeface="Arial"/>
              </a:rPr>
              <a:t>=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gruen; </a:t>
            </a:r>
            <a:r>
              <a:rPr sz="1600" spc="-10" dirty="0">
                <a:latin typeface="Arial"/>
                <a:cs typeface="Arial"/>
              </a:rPr>
              <a:t>break;</a:t>
            </a:r>
            <a:endParaRPr sz="1600">
              <a:latin typeface="Arial"/>
              <a:cs typeface="Arial"/>
            </a:endParaRPr>
          </a:p>
          <a:p>
            <a:pPr marL="271780">
              <a:spcBef>
                <a:spcPts val="334"/>
              </a:spcBef>
            </a:pPr>
            <a:r>
              <a:rPr spc="-50" dirty="0">
                <a:latin typeface="Arial"/>
                <a:cs typeface="Arial"/>
              </a:rPr>
              <a:t>.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.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.</a:t>
            </a:r>
            <a:endParaRPr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81</a:t>
            </a:fld>
            <a:endParaRPr spc="-25" dirty="0"/>
          </a:p>
        </p:txBody>
      </p:sp>
      <p:sp>
        <p:nvSpPr>
          <p:cNvPr id="24" name="object 24"/>
          <p:cNvSpPr txBox="1"/>
          <p:nvPr/>
        </p:nvSpPr>
        <p:spPr>
          <a:xfrm>
            <a:off x="7599490" y="4899766"/>
            <a:ext cx="163893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 marR="808990" indent="-137160">
              <a:spcBef>
                <a:spcPts val="95"/>
              </a:spcBef>
            </a:pPr>
            <a:r>
              <a:rPr sz="1600" spc="-140" dirty="0">
                <a:latin typeface="Arial"/>
                <a:cs typeface="Arial"/>
              </a:rPr>
              <a:t>case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70" dirty="0">
                <a:solidFill>
                  <a:srgbClr val="FFBF00"/>
                </a:solidFill>
                <a:latin typeface="Arial"/>
                <a:cs typeface="Arial"/>
              </a:rPr>
              <a:t>gelb</a:t>
            </a:r>
            <a:r>
              <a:rPr sz="1600" spc="-70" dirty="0">
                <a:latin typeface="Arial"/>
                <a:cs typeface="Arial"/>
              </a:rPr>
              <a:t>: </a:t>
            </a:r>
            <a:r>
              <a:rPr sz="1600" dirty="0">
                <a:latin typeface="Arial"/>
                <a:cs typeface="Arial"/>
              </a:rPr>
              <a:t>if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(next)</a:t>
            </a:r>
            <a:endParaRPr sz="1600">
              <a:latin typeface="Arial"/>
              <a:cs typeface="Arial"/>
            </a:endParaRPr>
          </a:p>
          <a:p>
            <a:pPr marL="149860" marR="5080" indent="137160">
              <a:lnSpc>
                <a:spcPts val="1920"/>
              </a:lnSpc>
              <a:spcBef>
                <a:spcPts val="65"/>
              </a:spcBef>
            </a:pPr>
            <a:r>
              <a:rPr sz="1600" spc="-65" dirty="0">
                <a:latin typeface="Arial"/>
                <a:cs typeface="Arial"/>
              </a:rPr>
              <a:t>state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150" dirty="0">
                <a:latin typeface="Arial"/>
                <a:cs typeface="Arial"/>
              </a:rPr>
              <a:t>=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rot_gelb; </a:t>
            </a:r>
            <a:r>
              <a:rPr sz="1600" spc="-10" dirty="0">
                <a:latin typeface="Arial"/>
                <a:cs typeface="Arial"/>
              </a:rPr>
              <a:t>break;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62330" y="5874644"/>
            <a:ext cx="7461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2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700"/>
            <a:r>
              <a:rPr sz="1600" spc="-25" dirty="0">
                <a:latin typeface="Arial"/>
                <a:cs typeface="Arial"/>
              </a:rPr>
              <a:t>return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0;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25170" y="6362083"/>
            <a:ext cx="8953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62692" y="1911761"/>
            <a:ext cx="430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0" dirty="0">
                <a:latin typeface="Arial"/>
                <a:cs typeface="Arial"/>
              </a:rPr>
              <a:t>next</a:t>
            </a:r>
            <a:endParaRPr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61203" y="2407112"/>
            <a:ext cx="430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0" dirty="0">
                <a:latin typeface="Arial"/>
                <a:cs typeface="Arial"/>
              </a:rPr>
              <a:t>next</a:t>
            </a:r>
            <a:endParaRPr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63416" y="2740119"/>
            <a:ext cx="430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0" dirty="0">
                <a:latin typeface="Arial"/>
                <a:cs typeface="Arial"/>
              </a:rPr>
              <a:t>next</a:t>
            </a:r>
            <a:endParaRPr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84335" y="2441682"/>
            <a:ext cx="430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0" dirty="0">
                <a:latin typeface="Arial"/>
                <a:cs typeface="Arial"/>
              </a:rPr>
              <a:t>next</a:t>
            </a:r>
            <a:endParaRPr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77694" y="3281202"/>
            <a:ext cx="2938780" cy="3472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78230">
              <a:spcBef>
                <a:spcPts val="95"/>
              </a:spcBef>
            </a:pPr>
            <a:r>
              <a:rPr sz="1600" spc="-45" dirty="0">
                <a:solidFill>
                  <a:srgbClr val="3F3F3F"/>
                </a:solidFill>
                <a:latin typeface="Arial"/>
                <a:cs typeface="Arial"/>
              </a:rPr>
              <a:t>typedef</a:t>
            </a:r>
            <a:r>
              <a:rPr sz="1600" spc="-6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F3F3F"/>
                </a:solidFill>
                <a:latin typeface="Arial"/>
                <a:cs typeface="Arial"/>
              </a:rPr>
              <a:t>int</a:t>
            </a:r>
            <a:r>
              <a:rPr sz="1600" spc="-60" dirty="0">
                <a:solidFill>
                  <a:srgbClr val="3F3F3F"/>
                </a:solidFill>
                <a:latin typeface="Arial"/>
                <a:cs typeface="Arial"/>
              </a:rPr>
              <a:t> signaltype; </a:t>
            </a:r>
            <a:r>
              <a:rPr sz="1600" spc="-70" dirty="0">
                <a:solidFill>
                  <a:srgbClr val="3F3F3F"/>
                </a:solidFill>
                <a:latin typeface="Arial"/>
                <a:cs typeface="Arial"/>
              </a:rPr>
              <a:t>signaltype</a:t>
            </a:r>
            <a:r>
              <a:rPr sz="16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Arial"/>
                <a:cs typeface="Arial"/>
              </a:rPr>
              <a:t>next;</a:t>
            </a:r>
            <a:endParaRPr sz="1600">
              <a:latin typeface="Arial"/>
              <a:cs typeface="Arial"/>
            </a:endParaRPr>
          </a:p>
          <a:p>
            <a:pPr marL="12700">
              <a:spcBef>
                <a:spcPts val="960"/>
              </a:spcBef>
            </a:pPr>
            <a:r>
              <a:rPr sz="1600" spc="-45" dirty="0">
                <a:solidFill>
                  <a:srgbClr val="3F3F3F"/>
                </a:solidFill>
                <a:latin typeface="Arial"/>
                <a:cs typeface="Arial"/>
              </a:rPr>
              <a:t>typedef</a:t>
            </a:r>
            <a:r>
              <a:rPr sz="1600" spc="-6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F3F3F"/>
                </a:solidFill>
                <a:latin typeface="Arial"/>
                <a:cs typeface="Arial"/>
              </a:rPr>
              <a:t>int</a:t>
            </a:r>
            <a:r>
              <a:rPr sz="1600" spc="-6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F3F3F"/>
                </a:solidFill>
                <a:latin typeface="Arial"/>
                <a:cs typeface="Arial"/>
              </a:rPr>
              <a:t>statetype;</a:t>
            </a:r>
            <a:endParaRPr sz="1600">
              <a:latin typeface="Arial"/>
              <a:cs typeface="Arial"/>
            </a:endParaRPr>
          </a:p>
          <a:p>
            <a:pPr marL="12700"/>
            <a:r>
              <a:rPr sz="1600" spc="-60" dirty="0">
                <a:solidFill>
                  <a:srgbClr val="3F3F3F"/>
                </a:solidFill>
                <a:latin typeface="Arial"/>
                <a:cs typeface="Arial"/>
              </a:rPr>
              <a:t>statetype</a:t>
            </a:r>
            <a:r>
              <a:rPr sz="1600" spc="-7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F3F3F"/>
                </a:solidFill>
                <a:latin typeface="Arial"/>
                <a:cs typeface="Arial"/>
              </a:rPr>
              <a:t>rot,</a:t>
            </a:r>
            <a:r>
              <a:rPr sz="1600" spc="-6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55" dirty="0">
                <a:solidFill>
                  <a:srgbClr val="3F3F3F"/>
                </a:solidFill>
                <a:latin typeface="Arial"/>
                <a:cs typeface="Arial"/>
              </a:rPr>
              <a:t>rot_gelb,</a:t>
            </a:r>
            <a:r>
              <a:rPr sz="1600" spc="-70" dirty="0">
                <a:solidFill>
                  <a:srgbClr val="3F3F3F"/>
                </a:solidFill>
                <a:latin typeface="Arial"/>
                <a:cs typeface="Arial"/>
              </a:rPr>
              <a:t> gruen, </a:t>
            </a:r>
            <a:r>
              <a:rPr sz="1600" spc="-25" dirty="0">
                <a:solidFill>
                  <a:srgbClr val="3F3F3F"/>
                </a:solidFill>
                <a:latin typeface="Arial"/>
                <a:cs typeface="Arial"/>
              </a:rPr>
              <a:t>gelb;</a:t>
            </a:r>
            <a:endParaRPr sz="1600">
              <a:latin typeface="Arial"/>
              <a:cs typeface="Arial"/>
            </a:endParaRPr>
          </a:p>
          <a:p>
            <a:pPr marL="149225" marR="1962785" indent="-137160">
              <a:spcBef>
                <a:spcPts val="955"/>
              </a:spcBef>
            </a:pPr>
            <a:r>
              <a:rPr sz="1600" dirty="0">
                <a:solidFill>
                  <a:srgbClr val="3F3F3F"/>
                </a:solidFill>
                <a:latin typeface="Arial"/>
                <a:cs typeface="Arial"/>
              </a:rPr>
              <a:t>int</a:t>
            </a:r>
            <a:r>
              <a:rPr sz="1600" spc="-7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3F3F3F"/>
                </a:solidFill>
                <a:latin typeface="Arial"/>
                <a:cs typeface="Arial"/>
              </a:rPr>
              <a:t>main</a:t>
            </a:r>
            <a:r>
              <a:rPr sz="1600" spc="-7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Arial"/>
                <a:cs typeface="Arial"/>
              </a:rPr>
              <a:t>(</a:t>
            </a:r>
            <a:r>
              <a:rPr sz="1600" spc="-7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3F3F3F"/>
                </a:solidFill>
                <a:latin typeface="Arial"/>
                <a:cs typeface="Arial"/>
              </a:rPr>
              <a:t>){ </a:t>
            </a:r>
            <a:r>
              <a:rPr sz="1600" dirty="0">
                <a:solidFill>
                  <a:srgbClr val="3F3F3F"/>
                </a:solidFill>
                <a:latin typeface="Arial"/>
                <a:cs typeface="Arial"/>
              </a:rPr>
              <a:t>int</a:t>
            </a:r>
            <a:r>
              <a:rPr sz="1600" spc="-5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Arial"/>
                <a:cs typeface="Arial"/>
              </a:rPr>
              <a:t>done; </a:t>
            </a:r>
            <a:r>
              <a:rPr sz="1600" spc="-65" dirty="0">
                <a:solidFill>
                  <a:srgbClr val="3F3F3F"/>
                </a:solidFill>
                <a:latin typeface="Arial"/>
                <a:cs typeface="Arial"/>
              </a:rPr>
              <a:t>do</a:t>
            </a:r>
            <a:r>
              <a:rPr sz="1600" spc="-7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3F3F3F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286385" marR="1443990" algn="just">
              <a:lnSpc>
                <a:spcPts val="1920"/>
              </a:lnSpc>
              <a:spcBef>
                <a:spcPts val="60"/>
              </a:spcBef>
            </a:pPr>
            <a:r>
              <a:rPr sz="1600" spc="-55" dirty="0">
                <a:solidFill>
                  <a:srgbClr val="3F3F3F"/>
                </a:solidFill>
                <a:latin typeface="Arial"/>
                <a:cs typeface="Arial"/>
              </a:rPr>
              <a:t>get_inputs();</a:t>
            </a:r>
            <a:r>
              <a:rPr sz="16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70" dirty="0">
                <a:solidFill>
                  <a:srgbClr val="3F3F3F"/>
                </a:solidFill>
                <a:latin typeface="Arial"/>
                <a:cs typeface="Arial"/>
              </a:rPr>
              <a:t>done</a:t>
            </a:r>
            <a:r>
              <a:rPr sz="1600" spc="-9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150" dirty="0">
                <a:solidFill>
                  <a:srgbClr val="3F3F3F"/>
                </a:solidFill>
                <a:latin typeface="Arial"/>
                <a:cs typeface="Arial"/>
              </a:rPr>
              <a:t>=</a:t>
            </a:r>
            <a:r>
              <a:rPr sz="1600" spc="-8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b="1" spc="-80" dirty="0">
                <a:solidFill>
                  <a:srgbClr val="3F3F3F"/>
                </a:solidFill>
                <a:latin typeface="Arial"/>
                <a:cs typeface="Arial"/>
              </a:rPr>
              <a:t>tick()</a:t>
            </a:r>
            <a:r>
              <a:rPr sz="1600" spc="-80" dirty="0">
                <a:solidFill>
                  <a:srgbClr val="3F3F3F"/>
                </a:solidFill>
                <a:latin typeface="Arial"/>
                <a:cs typeface="Arial"/>
              </a:rPr>
              <a:t>;</a:t>
            </a:r>
            <a:r>
              <a:rPr sz="16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3F3F3F"/>
                </a:solidFill>
                <a:latin typeface="Arial"/>
                <a:cs typeface="Arial"/>
              </a:rPr>
              <a:t>put_outputs();</a:t>
            </a:r>
            <a:endParaRPr sz="1600">
              <a:latin typeface="Arial"/>
              <a:cs typeface="Arial"/>
            </a:endParaRPr>
          </a:p>
          <a:p>
            <a:pPr marL="149225" algn="just">
              <a:lnSpc>
                <a:spcPts val="1855"/>
              </a:lnSpc>
            </a:pPr>
            <a:r>
              <a:rPr sz="1600" spc="-40" dirty="0">
                <a:solidFill>
                  <a:srgbClr val="3F3F3F"/>
                </a:solidFill>
                <a:latin typeface="Arial"/>
                <a:cs typeface="Arial"/>
              </a:rPr>
              <a:t>}</a:t>
            </a:r>
            <a:r>
              <a:rPr sz="1600" spc="-8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3F3F3F"/>
                </a:solidFill>
                <a:latin typeface="Arial"/>
                <a:cs typeface="Arial"/>
              </a:rPr>
              <a:t>while</a:t>
            </a:r>
            <a:r>
              <a:rPr sz="1600" spc="-9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F3F3F"/>
                </a:solidFill>
                <a:latin typeface="Arial"/>
                <a:cs typeface="Arial"/>
              </a:rPr>
              <a:t>(!done);</a:t>
            </a:r>
            <a:endParaRPr sz="1600">
              <a:latin typeface="Arial"/>
              <a:cs typeface="Arial"/>
            </a:endParaRPr>
          </a:p>
          <a:p>
            <a:pPr marL="149225" algn="just"/>
            <a:r>
              <a:rPr sz="1600" spc="-25" dirty="0">
                <a:solidFill>
                  <a:srgbClr val="3F3F3F"/>
                </a:solidFill>
                <a:latin typeface="Arial"/>
                <a:cs typeface="Arial"/>
              </a:rPr>
              <a:t>return</a:t>
            </a:r>
            <a:r>
              <a:rPr sz="1600" spc="-7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3F3F3F"/>
                </a:solidFill>
                <a:latin typeface="Arial"/>
                <a:cs typeface="Arial"/>
              </a:rPr>
              <a:t>0;</a:t>
            </a:r>
            <a:endParaRPr sz="1600">
              <a:latin typeface="Arial"/>
              <a:cs typeface="Arial"/>
            </a:endParaRPr>
          </a:p>
          <a:p>
            <a:pPr marL="12700"/>
            <a:r>
              <a:rPr sz="1600" spc="-50" dirty="0">
                <a:solidFill>
                  <a:srgbClr val="3F3F3F"/>
                </a:solidFill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76399" y="1031240"/>
            <a:ext cx="406398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75" dirty="0"/>
              <a:t>MDD</a:t>
            </a:r>
            <a:r>
              <a:rPr spc="-175" dirty="0"/>
              <a:t> </a:t>
            </a:r>
            <a:r>
              <a:rPr dirty="0" err="1"/>
              <a:t>mit</a:t>
            </a:r>
            <a:r>
              <a:rPr spc="-165" dirty="0"/>
              <a:t> </a:t>
            </a:r>
            <a:r>
              <a:rPr spc="-710" dirty="0"/>
              <a:t>C</a:t>
            </a:r>
            <a:r>
              <a:rPr lang="de-DE" spc="-710" dirty="0"/>
              <a:t> </a:t>
            </a:r>
            <a:r>
              <a:rPr spc="-710" dirty="0"/>
              <a:t>R</a:t>
            </a:r>
            <a:r>
              <a:rPr lang="de-DE" spc="-710" dirty="0"/>
              <a:t> </a:t>
            </a:r>
            <a:r>
              <a:rPr spc="-710" dirty="0"/>
              <a:t>E</a:t>
            </a:r>
            <a:r>
              <a:rPr lang="de-DE" spc="-710" dirty="0"/>
              <a:t> </a:t>
            </a:r>
            <a:r>
              <a:rPr spc="-710" dirty="0"/>
              <a:t>A</a:t>
            </a:r>
            <a:r>
              <a:rPr lang="de-DE" spc="-710" dirty="0"/>
              <a:t> </a:t>
            </a:r>
            <a:r>
              <a:rPr spc="-710" dirty="0"/>
              <a:t>T</a:t>
            </a:r>
            <a:r>
              <a:rPr lang="de-DE" spc="-710" dirty="0"/>
              <a:t> </a:t>
            </a:r>
            <a:r>
              <a:rPr spc="-710" dirty="0"/>
              <a:t>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82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427045" y="2411820"/>
            <a:ext cx="9830763" cy="27039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68935" marR="889000" indent="-342900">
              <a:lnSpc>
                <a:spcPts val="2590"/>
              </a:lnSpc>
              <a:spcBef>
                <a:spcPts val="425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266700" algn="l"/>
                <a:tab pos="368935" algn="l"/>
              </a:tabLst>
            </a:pPr>
            <a:r>
              <a:rPr sz="2400" spc="-420" dirty="0">
                <a:latin typeface="Arial"/>
                <a:cs typeface="Arial"/>
              </a:rPr>
              <a:t>CREATE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bietet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04" dirty="0">
                <a:latin typeface="Arial"/>
                <a:cs typeface="Arial"/>
              </a:rPr>
              <a:t>Code</a:t>
            </a:r>
            <a:r>
              <a:rPr sz="2400" spc="-110" dirty="0">
                <a:latin typeface="Arial"/>
                <a:cs typeface="Arial"/>
              </a:rPr>
              <a:t> Generatoren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für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75" dirty="0">
                <a:latin typeface="Arial"/>
                <a:cs typeface="Arial"/>
              </a:rPr>
              <a:t>C,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45" dirty="0">
                <a:latin typeface="Arial"/>
                <a:cs typeface="Arial"/>
              </a:rPr>
              <a:t>C++,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65" dirty="0">
                <a:latin typeface="Arial"/>
                <a:cs typeface="Arial"/>
              </a:rPr>
              <a:t>Java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350" dirty="0">
                <a:latin typeface="Arial"/>
                <a:cs typeface="Arial"/>
              </a:rPr>
              <a:t>und </a:t>
            </a:r>
            <a:r>
              <a:rPr sz="2400" spc="-10" dirty="0">
                <a:latin typeface="Arial"/>
                <a:cs typeface="Arial"/>
              </a:rPr>
              <a:t>Python</a:t>
            </a:r>
            <a:endParaRPr sz="2400" dirty="0">
              <a:latin typeface="Arial"/>
              <a:cs typeface="Arial"/>
            </a:endParaRPr>
          </a:p>
          <a:p>
            <a:pPr marL="368935" indent="-342900">
              <a:spcBef>
                <a:spcPts val="675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68935" algn="l"/>
              </a:tabLst>
            </a:pPr>
            <a:r>
              <a:rPr sz="2400" spc="-140" dirty="0">
                <a:latin typeface="Arial"/>
                <a:cs typeface="Arial"/>
              </a:rPr>
              <a:t>Der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generierte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Code</a:t>
            </a:r>
            <a:endParaRPr sz="2400" dirty="0">
              <a:latin typeface="Arial"/>
              <a:cs typeface="Arial"/>
            </a:endParaRPr>
          </a:p>
          <a:p>
            <a:pPr marL="826135" marR="968375" lvl="1" indent="-342900">
              <a:lnSpc>
                <a:spcPts val="2590"/>
              </a:lnSpc>
              <a:spcBef>
                <a:spcPts val="54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723900" algn="l"/>
                <a:tab pos="826135" algn="l"/>
              </a:tabLst>
            </a:pPr>
            <a:r>
              <a:rPr sz="2400" spc="-45" dirty="0">
                <a:latin typeface="Arial"/>
                <a:cs typeface="Arial"/>
              </a:rPr>
              <a:t>	stelIt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Interfaces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zur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Verfügung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für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den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Zugriff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325" dirty="0">
                <a:latin typeface="Arial"/>
                <a:cs typeface="Arial"/>
              </a:rPr>
              <a:t>auf </a:t>
            </a:r>
            <a:r>
              <a:rPr sz="2400" spc="-120" dirty="0">
                <a:latin typeface="Arial"/>
                <a:cs typeface="Arial"/>
              </a:rPr>
              <a:t>Variablen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und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Events.</a:t>
            </a:r>
            <a:endParaRPr sz="2400" dirty="0">
              <a:latin typeface="Arial"/>
              <a:cs typeface="Arial"/>
            </a:endParaRPr>
          </a:p>
          <a:p>
            <a:pPr marL="826135" lvl="1" indent="-342900">
              <a:spcBef>
                <a:spcPts val="17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826135" algn="l"/>
              </a:tabLst>
            </a:pPr>
            <a:r>
              <a:rPr sz="2400" spc="-35" dirty="0">
                <a:latin typeface="Arial"/>
                <a:cs typeface="Arial"/>
              </a:rPr>
              <a:t>initialisiert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das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Statechart.</a:t>
            </a:r>
            <a:endParaRPr sz="2400" dirty="0">
              <a:latin typeface="Arial"/>
              <a:cs typeface="Arial"/>
            </a:endParaRPr>
          </a:p>
          <a:p>
            <a:pPr marL="826135" marR="30480" lvl="1" indent="-342900">
              <a:lnSpc>
                <a:spcPts val="2590"/>
              </a:lnSpc>
              <a:spcBef>
                <a:spcPts val="54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723900" algn="l"/>
                <a:tab pos="826135" algn="l"/>
              </a:tabLst>
            </a:pPr>
            <a:r>
              <a:rPr sz="2400" spc="-45" dirty="0">
                <a:latin typeface="Arial"/>
                <a:cs typeface="Arial"/>
              </a:rPr>
              <a:t>	implementiert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die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Ausführungssemantik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innerhalb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90" dirty="0">
                <a:latin typeface="Arial"/>
                <a:cs typeface="Arial"/>
              </a:rPr>
              <a:t>eines </a:t>
            </a:r>
            <a:r>
              <a:rPr sz="2400" spc="-35" dirty="0">
                <a:latin typeface="Arial"/>
                <a:cs typeface="Arial"/>
              </a:rPr>
              <a:t>run-</a:t>
            </a:r>
            <a:r>
              <a:rPr sz="2400" spc="-60" dirty="0">
                <a:latin typeface="Arial"/>
                <a:cs typeface="Arial"/>
              </a:rPr>
              <a:t>to-</a:t>
            </a:r>
            <a:r>
              <a:rPr sz="2400" spc="-75" dirty="0">
                <a:latin typeface="Arial"/>
                <a:cs typeface="Arial"/>
              </a:rPr>
              <a:t>completion </a:t>
            </a:r>
            <a:r>
              <a:rPr sz="2400" spc="-290" dirty="0">
                <a:latin typeface="Arial"/>
                <a:cs typeface="Arial"/>
              </a:rPr>
              <a:t>(RTC)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step.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idx="1"/>
          </p:nvPr>
        </p:nvSpPr>
        <p:spPr>
          <a:xfrm>
            <a:off x="346049" y="1724270"/>
            <a:ext cx="11472025" cy="4462760"/>
          </a:xfrm>
        </p:spPr>
        <p:txBody>
          <a:bodyPr/>
          <a:lstStyle/>
          <a:p>
            <a:pPr marL="342900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err="1">
                <a:solidFill>
                  <a:srgbClr val="0000FF"/>
                </a:solidFill>
                <a:cs typeface="Arial" charset="0"/>
              </a:rPr>
              <a:t>Endliche</a:t>
            </a:r>
            <a:r>
              <a:rPr lang="en-US" sz="20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cs typeface="Arial" charset="0"/>
              </a:rPr>
              <a:t>Automaten</a:t>
            </a:r>
            <a:r>
              <a:rPr lang="en-US" sz="2000" dirty="0">
                <a:solidFill>
                  <a:srgbClr val="0000FF"/>
                </a:solidFill>
                <a:cs typeface="Arial" charset="0"/>
              </a:rPr>
              <a:t> </a:t>
            </a:r>
          </a:p>
          <a:p>
            <a:pPr marL="703262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err="1">
                <a:cs typeface="Arial" charset="0"/>
              </a:rPr>
              <a:t>Modellierung</a:t>
            </a:r>
            <a:r>
              <a:rPr lang="en-US" sz="2000" dirty="0">
                <a:cs typeface="Arial" charset="0"/>
              </a:rPr>
              <a:t> von Hard- </a:t>
            </a:r>
            <a:r>
              <a:rPr lang="en-US" sz="2000" dirty="0">
                <a:solidFill>
                  <a:srgbClr val="0000FF"/>
                </a:solidFill>
                <a:cs typeface="Arial" charset="0"/>
              </a:rPr>
              <a:t>und</a:t>
            </a:r>
            <a:r>
              <a:rPr lang="en-US" sz="2000" dirty="0">
                <a:cs typeface="Arial" charset="0"/>
              </a:rPr>
              <a:t> Software </a:t>
            </a:r>
          </a:p>
          <a:p>
            <a:pPr marL="703262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err="1">
                <a:solidFill>
                  <a:srgbClr val="0000FF"/>
                </a:solidFill>
                <a:cs typeface="Arial" charset="0"/>
              </a:rPr>
              <a:t>eindeutig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err="1">
                <a:cs typeface="Arial" charset="0"/>
              </a:rPr>
              <a:t>simulierbar</a:t>
            </a:r>
            <a:r>
              <a:rPr lang="en-US" sz="2000" dirty="0">
                <a:cs typeface="Arial" charset="0"/>
              </a:rPr>
              <a:t> und </a:t>
            </a:r>
            <a:r>
              <a:rPr lang="en-US" sz="2000" dirty="0" err="1">
                <a:cs typeface="Arial" charset="0"/>
              </a:rPr>
              <a:t>verifizierbar</a:t>
            </a:r>
            <a:endParaRPr lang="en-US" sz="2000" dirty="0">
              <a:cs typeface="Arial" charset="0"/>
            </a:endParaRPr>
          </a:p>
          <a:p>
            <a:pPr marL="703262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err="1">
                <a:solidFill>
                  <a:srgbClr val="FF0000"/>
                </a:solidFill>
                <a:cs typeface="Arial" charset="0"/>
              </a:rPr>
              <a:t>keine</a:t>
            </a:r>
            <a:r>
              <a:rPr lang="en-US" sz="200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cs typeface="Arial" charset="0"/>
              </a:rPr>
              <a:t>Hierarchie</a:t>
            </a:r>
            <a:r>
              <a:rPr lang="en-US" sz="2000" dirty="0">
                <a:solidFill>
                  <a:srgbClr val="FF0000"/>
                </a:solidFill>
                <a:cs typeface="Arial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cs typeface="Arial" charset="0"/>
              </a:rPr>
              <a:t>Verfeinerung</a:t>
            </a:r>
            <a:r>
              <a:rPr lang="en-US" sz="2000" dirty="0">
                <a:solidFill>
                  <a:srgbClr val="FF0000"/>
                </a:solidFill>
                <a:cs typeface="Arial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cs typeface="Arial" charset="0"/>
              </a:rPr>
              <a:t>Modularisierung</a:t>
            </a:r>
            <a:r>
              <a:rPr lang="en-US" sz="2000" dirty="0">
                <a:solidFill>
                  <a:srgbClr val="FF0000"/>
                </a:solidFill>
                <a:cs typeface="Arial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cs typeface="Arial" charset="0"/>
              </a:rPr>
              <a:t>Zustandsexplosion</a:t>
            </a:r>
            <a:r>
              <a:rPr lang="en-US" sz="2000" b="1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000" dirty="0" err="1">
                <a:cs typeface="Arial" charset="0"/>
              </a:rPr>
              <a:t>bei</a:t>
            </a:r>
            <a:r>
              <a:rPr lang="en-US" sz="2000" dirty="0">
                <a:cs typeface="Arial" charset="0"/>
              </a:rPr>
              <a:t> </a:t>
            </a:r>
            <a:r>
              <a:rPr lang="en-US" sz="2000" dirty="0" err="1">
                <a:cs typeface="Arial" charset="0"/>
              </a:rPr>
              <a:t>Nebenläufigkeit</a:t>
            </a:r>
            <a:endParaRPr lang="de-DE" sz="2000" dirty="0">
              <a:solidFill>
                <a:srgbClr val="0000FF"/>
              </a:solidFill>
            </a:endParaRP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000" dirty="0">
                <a:solidFill>
                  <a:srgbClr val="0000FF"/>
                </a:solidFill>
              </a:rPr>
              <a:t>Nebenläufigkeit</a:t>
            </a:r>
            <a:r>
              <a:rPr lang="de-DE" sz="2000" dirty="0"/>
              <a:t> </a:t>
            </a:r>
          </a:p>
          <a:p>
            <a:pPr marL="646112" lvl="2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de-DE" dirty="0"/>
              <a:t>vermeidet Überspezifikation, erhöht das Optimierungspotential</a:t>
            </a:r>
          </a:p>
          <a:p>
            <a:pPr marL="646112" lvl="2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de-DE" dirty="0"/>
              <a:t>ermöglicht einen modularen/verteilten Entwurf</a:t>
            </a:r>
          </a:p>
          <a:p>
            <a:pPr marL="646112" lvl="2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de-DE" dirty="0"/>
              <a:t>Problem der kombinatorischen Zustandsexplosion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000" dirty="0" err="1">
                <a:solidFill>
                  <a:srgbClr val="0000FF"/>
                </a:solidFill>
              </a:rPr>
              <a:t>Statecharts</a:t>
            </a:r>
            <a:endParaRPr lang="de-DE" sz="2000" dirty="0">
              <a:solidFill>
                <a:srgbClr val="0000FF"/>
              </a:solidFill>
            </a:endParaRPr>
          </a:p>
          <a:p>
            <a:pPr marL="703262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000" dirty="0"/>
              <a:t>erweitern endliche Automaten um </a:t>
            </a:r>
            <a:r>
              <a:rPr lang="de-DE" sz="2000" dirty="0">
                <a:solidFill>
                  <a:srgbClr val="0000FF"/>
                </a:solidFill>
              </a:rPr>
              <a:t>Nebenläufigkeit</a:t>
            </a:r>
            <a:r>
              <a:rPr lang="de-DE" sz="2000" dirty="0"/>
              <a:t>, </a:t>
            </a:r>
            <a:r>
              <a:rPr lang="de-DE" sz="2000" dirty="0">
                <a:solidFill>
                  <a:srgbClr val="0000FF"/>
                </a:solidFill>
              </a:rPr>
              <a:t>Hierarchie</a:t>
            </a:r>
            <a:r>
              <a:rPr lang="de-DE" sz="2000" dirty="0"/>
              <a:t>, </a:t>
            </a:r>
            <a:r>
              <a:rPr lang="de-DE" sz="2000" dirty="0">
                <a:solidFill>
                  <a:srgbClr val="0000FF"/>
                </a:solidFill>
              </a:rPr>
              <a:t>Broadcast</a:t>
            </a:r>
            <a:r>
              <a:rPr lang="de-DE" sz="2000" dirty="0"/>
              <a:t> und </a:t>
            </a:r>
            <a:r>
              <a:rPr lang="de-DE" sz="2000" dirty="0" err="1">
                <a:solidFill>
                  <a:srgbClr val="0000FF"/>
                </a:solidFill>
              </a:rPr>
              <a:t>History</a:t>
            </a:r>
            <a:endParaRPr lang="de-DE" sz="2000" dirty="0">
              <a:solidFill>
                <a:srgbClr val="0000FF"/>
              </a:solidFill>
            </a:endParaRPr>
          </a:p>
          <a:p>
            <a:pPr marL="703262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000" dirty="0"/>
              <a:t>intuitiv gut verständlich, </a:t>
            </a:r>
            <a:r>
              <a:rPr lang="de-DE" sz="2000" dirty="0">
                <a:solidFill>
                  <a:srgbClr val="0000FF"/>
                </a:solidFill>
              </a:rPr>
              <a:t>graphische</a:t>
            </a:r>
            <a:r>
              <a:rPr lang="de-DE" sz="2000" dirty="0"/>
              <a:t> Notation</a:t>
            </a:r>
          </a:p>
          <a:p>
            <a:pPr marL="703262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000" dirty="0"/>
              <a:t>sehr gut zur Modellierung </a:t>
            </a:r>
            <a:r>
              <a:rPr lang="de-DE" sz="2000" dirty="0">
                <a:solidFill>
                  <a:srgbClr val="0000FF"/>
                </a:solidFill>
              </a:rPr>
              <a:t>reaktiver</a:t>
            </a:r>
            <a:r>
              <a:rPr lang="de-DE" sz="2000" dirty="0"/>
              <a:t> und </a:t>
            </a:r>
            <a:r>
              <a:rPr lang="de-DE" sz="2000" dirty="0">
                <a:solidFill>
                  <a:srgbClr val="0000FF"/>
                </a:solidFill>
              </a:rPr>
              <a:t>eingebetteter</a:t>
            </a:r>
            <a:r>
              <a:rPr lang="de-DE" sz="2000" dirty="0"/>
              <a:t> </a:t>
            </a:r>
            <a:r>
              <a:rPr lang="de-DE" sz="2000" dirty="0">
                <a:solidFill>
                  <a:srgbClr val="0000FF"/>
                </a:solidFill>
              </a:rPr>
              <a:t>Systeme</a:t>
            </a:r>
            <a:r>
              <a:rPr lang="de-DE" sz="2000" dirty="0"/>
              <a:t> geeignet</a:t>
            </a:r>
          </a:p>
          <a:p>
            <a:pPr marL="703262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000" dirty="0">
                <a:solidFill>
                  <a:srgbClr val="0000FF"/>
                </a:solidFill>
              </a:rPr>
              <a:t>Zustandsexplosion wird graphisch vermieden,</a:t>
            </a:r>
            <a:r>
              <a:rPr lang="de-DE" sz="2000" dirty="0">
                <a:solidFill>
                  <a:srgbClr val="FF0000"/>
                </a:solidFill>
              </a:rPr>
              <a:t> tritt aber (immer noch) </a:t>
            </a:r>
            <a:r>
              <a:rPr lang="de-DE" sz="2000" dirty="0"/>
              <a:t>bei der </a:t>
            </a:r>
            <a:r>
              <a:rPr lang="de-DE" sz="2000" dirty="0">
                <a:solidFill>
                  <a:srgbClr val="FF0000"/>
                </a:solidFill>
              </a:rPr>
              <a:t>Verifikation</a:t>
            </a:r>
            <a:r>
              <a:rPr lang="de-DE" sz="2000" dirty="0"/>
              <a:t> auf</a:t>
            </a:r>
          </a:p>
          <a:p>
            <a:pPr marL="703262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000" dirty="0">
                <a:solidFill>
                  <a:srgbClr val="FF0000"/>
                </a:solidFill>
              </a:rPr>
              <a:t>Semantik nicht immer eindeutig</a:t>
            </a:r>
          </a:p>
          <a:p>
            <a:pPr marL="703262" lvl="1" indent="-342900">
              <a:buClr>
                <a:schemeClr val="tx1"/>
              </a:buClr>
              <a:buFont typeface="Wingdings" pitchFamily="2" charset="2"/>
              <a:buChar char="§"/>
            </a:pPr>
            <a:endParaRPr lang="de-DE" sz="2000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83</a:t>
            </a:fld>
            <a:r>
              <a:rPr lang="de-DE"/>
              <a:t> </a:t>
            </a:r>
            <a:endParaRPr lang="de-DE" sz="619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54A0B-BA15-C147-CE28-E528A37AB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Key Takeaway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C4F48-4E69-DE05-B460-8F0855543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304" y="1657997"/>
            <a:ext cx="5819224" cy="2585323"/>
          </a:xfrm>
        </p:spPr>
        <p:txBody>
          <a:bodyPr/>
          <a:lstStyle/>
          <a:p>
            <a:r>
              <a:rPr lang="en-GB" sz="2400" dirty="0">
                <a:solidFill>
                  <a:srgbClr val="FF0000"/>
                </a:solidFill>
              </a:rPr>
              <a:t>FSM:</a:t>
            </a:r>
          </a:p>
          <a:p>
            <a:r>
              <a:rPr lang="en-GB" sz="2400" dirty="0"/>
              <a:t>  + </a:t>
            </a:r>
            <a:r>
              <a:rPr lang="en-GB" sz="2400" dirty="0" err="1"/>
              <a:t>einfach</a:t>
            </a:r>
            <a:endParaRPr lang="en-GB" sz="2400" dirty="0"/>
          </a:p>
          <a:p>
            <a:r>
              <a:rPr lang="en-GB" sz="2400" dirty="0"/>
              <a:t>  + formal</a:t>
            </a:r>
          </a:p>
          <a:p>
            <a:r>
              <a:rPr lang="en-GB" sz="2400" dirty="0"/>
              <a:t>  – </a:t>
            </a:r>
            <a:r>
              <a:rPr lang="en-GB" sz="2400" dirty="0" err="1"/>
              <a:t>keine</a:t>
            </a:r>
            <a:r>
              <a:rPr lang="en-GB" sz="2400" dirty="0"/>
              <a:t> </a:t>
            </a:r>
            <a:r>
              <a:rPr lang="en-GB" sz="2400" dirty="0" err="1"/>
              <a:t>Nebenläufigkeit</a:t>
            </a:r>
            <a:endParaRPr lang="en-GB" sz="2400" dirty="0"/>
          </a:p>
          <a:p>
            <a:r>
              <a:rPr lang="en-GB" sz="2400" dirty="0"/>
              <a:t>  – </a:t>
            </a:r>
            <a:r>
              <a:rPr lang="en-GB" sz="2400" dirty="0" err="1"/>
              <a:t>Zustandsexplosion</a:t>
            </a:r>
            <a:endParaRPr lang="en-GB" sz="2400" dirty="0"/>
          </a:p>
          <a:p>
            <a:endParaRPr lang="en-GB" sz="2400" dirty="0"/>
          </a:p>
          <a:p>
            <a:endParaRPr lang="en-DE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ECC3C-31FD-96B4-0116-0A1B0FB8F2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84</a:t>
            </a:fld>
            <a:endParaRPr lang="en-DE" spc="-2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14B21-A45A-C65E-82D8-7979E33941B9}"/>
              </a:ext>
            </a:extLst>
          </p:cNvPr>
          <p:cNvSpPr txBox="1"/>
          <p:nvPr/>
        </p:nvSpPr>
        <p:spPr>
          <a:xfrm>
            <a:off x="512304" y="4377635"/>
            <a:ext cx="104948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effectLst/>
                <a:latin typeface=".AppleSystemUIFont"/>
              </a:rPr>
              <a:t>Next Step: Timed Automata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Timed Automata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modellieren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 Zeit in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ihrer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Semantik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 direct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Auch in State Charts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ist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 Zeit (per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Erweiterung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)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modellierbar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,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aber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nur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indirekt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 (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nach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Zeitablauf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wird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 Signal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emittiert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), nicht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als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 Teil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ihrer</a:t>
            </a:r>
            <a:r>
              <a:rPr lang="en-GB" sz="2400" dirty="0">
                <a:solidFill>
                  <a:srgbClr val="0E0E0E"/>
                </a:solidFill>
                <a:latin typeface=".AppleSystemUIFont"/>
              </a:rPr>
              <a:t> </a:t>
            </a:r>
            <a:r>
              <a:rPr lang="en-GB" sz="2400" dirty="0" err="1">
                <a:solidFill>
                  <a:srgbClr val="0E0E0E"/>
                </a:solidFill>
                <a:latin typeface=".AppleSystemUIFont"/>
              </a:rPr>
              <a:t>Semantik</a:t>
            </a:r>
            <a:endParaRPr lang="en-GB" sz="2400" dirty="0">
              <a:solidFill>
                <a:srgbClr val="0E0E0E"/>
              </a:solidFill>
              <a:latin typeface=".AppleSystemUIFon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0E0E0E"/>
                </a:solidFill>
                <a:effectLst/>
                <a:latin typeface=".AppleSystemUIFont"/>
              </a:rPr>
              <a:t>Statecharts</a:t>
            </a:r>
            <a:r>
              <a:rPr lang="en-GB" sz="2400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en-GB" sz="2400" dirty="0" err="1">
                <a:solidFill>
                  <a:srgbClr val="0E0E0E"/>
                </a:solidFill>
                <a:effectLst/>
                <a:latin typeface=".AppleSystemUIFont"/>
              </a:rPr>
              <a:t>lösen</a:t>
            </a:r>
            <a:r>
              <a:rPr lang="en-GB" sz="2400" dirty="0">
                <a:solidFill>
                  <a:srgbClr val="0E0E0E"/>
                </a:solidFill>
                <a:effectLst/>
                <a:latin typeface=".AppleSystemUIFont"/>
              </a:rPr>
              <a:t> das </a:t>
            </a:r>
            <a:r>
              <a:rPr lang="en-GB" sz="2400" dirty="0" err="1">
                <a:solidFill>
                  <a:srgbClr val="0E0E0E"/>
                </a:solidFill>
                <a:effectLst/>
                <a:latin typeface=".AppleSystemUIFont"/>
              </a:rPr>
              <a:t>Strukturproblem</a:t>
            </a:r>
            <a:r>
              <a:rPr lang="en-GB" sz="2400" dirty="0">
                <a:solidFill>
                  <a:srgbClr val="0E0E0E"/>
                </a:solidFill>
                <a:effectLst/>
                <a:latin typeface=".AppleSystemUIFont"/>
              </a:rPr>
              <a:t> – Timed Automata das </a:t>
            </a:r>
            <a:r>
              <a:rPr lang="en-GB" sz="2400" dirty="0" err="1">
                <a:solidFill>
                  <a:srgbClr val="0E0E0E"/>
                </a:solidFill>
                <a:effectLst/>
                <a:latin typeface=".AppleSystemUIFont"/>
              </a:rPr>
              <a:t>Analyseproblem</a:t>
            </a:r>
            <a:endParaRPr lang="en-GB" sz="2400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984100-BE5A-26E8-EB91-526D28390219}"/>
              </a:ext>
            </a:extLst>
          </p:cNvPr>
          <p:cNvSpPr txBox="1"/>
          <p:nvPr/>
        </p:nvSpPr>
        <p:spPr>
          <a:xfrm>
            <a:off x="6878631" y="1657997"/>
            <a:ext cx="610985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FF0000"/>
                </a:solidFill>
              </a:rPr>
              <a:t>Statecharts</a:t>
            </a:r>
            <a:r>
              <a:rPr lang="en-GB" sz="2000" dirty="0">
                <a:solidFill>
                  <a:srgbClr val="FF0000"/>
                </a:solidFill>
              </a:rPr>
              <a:t>:</a:t>
            </a:r>
          </a:p>
          <a:p>
            <a:r>
              <a:rPr lang="en-GB" sz="2000" dirty="0"/>
              <a:t>  + </a:t>
            </a:r>
            <a:r>
              <a:rPr lang="en-GB" sz="2000" dirty="0" err="1"/>
              <a:t>Hierarchie</a:t>
            </a:r>
            <a:endParaRPr lang="en-GB" sz="2000" dirty="0"/>
          </a:p>
          <a:p>
            <a:r>
              <a:rPr lang="en-GB" sz="2000" dirty="0"/>
              <a:t>  + </a:t>
            </a:r>
            <a:r>
              <a:rPr lang="en-GB" sz="2000" dirty="0" err="1"/>
              <a:t>Nebenläufigkeit</a:t>
            </a:r>
            <a:endParaRPr lang="en-GB" sz="2000" dirty="0"/>
          </a:p>
          <a:p>
            <a:r>
              <a:rPr lang="en-GB" sz="2000" dirty="0"/>
              <a:t>  – </a:t>
            </a:r>
            <a:r>
              <a:rPr lang="en-GB" sz="2000" dirty="0" err="1"/>
              <a:t>Semantik</a:t>
            </a:r>
            <a:r>
              <a:rPr lang="en-GB" sz="2000" dirty="0"/>
              <a:t> </a:t>
            </a:r>
            <a:r>
              <a:rPr lang="en-GB" sz="2000" dirty="0" err="1"/>
              <a:t>komplex</a:t>
            </a:r>
            <a:endParaRPr lang="en-GB" sz="2000" dirty="0"/>
          </a:p>
          <a:p>
            <a:r>
              <a:rPr lang="en-GB" sz="2000" dirty="0"/>
              <a:t>  – </a:t>
            </a:r>
            <a:r>
              <a:rPr lang="en-GB" sz="2000" dirty="0" err="1"/>
              <a:t>Verifikation</a:t>
            </a:r>
            <a:r>
              <a:rPr lang="en-GB" sz="2000" dirty="0"/>
              <a:t> </a:t>
            </a:r>
            <a:r>
              <a:rPr lang="en-GB" sz="2000" dirty="0" err="1"/>
              <a:t>schwierig</a:t>
            </a:r>
            <a:endParaRPr lang="en-DE" sz="2000" dirty="0"/>
          </a:p>
        </p:txBody>
      </p:sp>
      <p:sp>
        <p:nvSpPr>
          <p:cNvPr id="10" name="Curved Right Arrow 9">
            <a:extLst>
              <a:ext uri="{FF2B5EF4-FFF2-40B4-BE49-F238E27FC236}">
                <a16:creationId xmlns:a16="http://schemas.microsoft.com/office/drawing/2014/main" id="{8DBF0898-4740-D992-7345-E59E09BD8246}"/>
              </a:ext>
            </a:extLst>
          </p:cNvPr>
          <p:cNvSpPr/>
          <p:nvPr/>
        </p:nvSpPr>
        <p:spPr>
          <a:xfrm>
            <a:off x="512304" y="3657600"/>
            <a:ext cx="346364" cy="720035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17456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9DE7-1DE4-CDCC-A658-84B11D54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Übung / Reflexion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E977B-8FD1-62F1-228E-EB038ACE9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1805938"/>
            <a:ext cx="11307306" cy="6093976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GB" dirty="0" err="1"/>
              <a:t>Welche</a:t>
            </a:r>
            <a:r>
              <a:rPr lang="en-GB" dirty="0"/>
              <a:t> Art von </a:t>
            </a:r>
            <a:r>
              <a:rPr lang="en-GB" dirty="0" err="1"/>
              <a:t>Systemen</a:t>
            </a:r>
            <a:r>
              <a:rPr lang="en-GB" dirty="0"/>
              <a:t> </a:t>
            </a:r>
            <a:r>
              <a:rPr lang="en-GB" dirty="0" err="1"/>
              <a:t>können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Statecharts</a:t>
            </a:r>
            <a:r>
              <a:rPr lang="en-GB" dirty="0"/>
              <a:t> gut, </a:t>
            </a:r>
            <a:r>
              <a:rPr lang="en-GB" dirty="0" err="1"/>
              <a:t>welche</a:t>
            </a:r>
            <a:r>
              <a:rPr lang="en-GB" dirty="0"/>
              <a:t> </a:t>
            </a:r>
            <a:r>
              <a:rPr lang="en-GB" dirty="0" err="1"/>
              <a:t>weniger</a:t>
            </a:r>
            <a:r>
              <a:rPr lang="en-GB" dirty="0"/>
              <a:t> gut </a:t>
            </a:r>
            <a:r>
              <a:rPr lang="en-GB" dirty="0" err="1"/>
              <a:t>modelliert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? </a:t>
            </a:r>
            <a:r>
              <a:rPr lang="en-GB" dirty="0" err="1"/>
              <a:t>Diskutieren</a:t>
            </a:r>
            <a:r>
              <a:rPr lang="en-GB" dirty="0"/>
              <a:t> Sie </a:t>
            </a:r>
            <a:r>
              <a:rPr lang="en-GB" dirty="0" err="1"/>
              <a:t>Beispiele</a:t>
            </a:r>
            <a:r>
              <a:rPr lang="en-GB" dirty="0"/>
              <a:t>!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err="1"/>
              <a:t>Welche</a:t>
            </a:r>
            <a:r>
              <a:rPr lang="en-GB" dirty="0"/>
              <a:t> </a:t>
            </a:r>
            <a:r>
              <a:rPr lang="en-GB" dirty="0" err="1"/>
              <a:t>Probleme</a:t>
            </a:r>
            <a:r>
              <a:rPr lang="en-GB" dirty="0"/>
              <a:t> muss die </a:t>
            </a:r>
            <a:r>
              <a:rPr lang="en-GB" dirty="0" err="1"/>
              <a:t>Semantik</a:t>
            </a:r>
            <a:r>
              <a:rPr lang="en-GB" dirty="0"/>
              <a:t> von </a:t>
            </a:r>
            <a:r>
              <a:rPr lang="en-GB" dirty="0" err="1"/>
              <a:t>Statecharts</a:t>
            </a:r>
            <a:r>
              <a:rPr lang="en-GB" dirty="0"/>
              <a:t> </a:t>
            </a:r>
            <a:r>
              <a:rPr lang="en-GB" dirty="0" err="1"/>
              <a:t>lösen</a:t>
            </a:r>
            <a:r>
              <a:rPr lang="en-GB" dirty="0"/>
              <a:t>? Wann </a:t>
            </a:r>
            <a:r>
              <a:rPr lang="en-GB" dirty="0" err="1"/>
              <a:t>kann</a:t>
            </a:r>
            <a:r>
              <a:rPr lang="en-GB" dirty="0"/>
              <a:t> es </a:t>
            </a:r>
            <a:r>
              <a:rPr lang="en-GB" dirty="0" err="1"/>
              <a:t>Mehrdeutigkeiten</a:t>
            </a:r>
            <a:r>
              <a:rPr lang="en-GB" dirty="0"/>
              <a:t> </a:t>
            </a:r>
            <a:r>
              <a:rPr lang="en-GB" dirty="0" err="1"/>
              <a:t>geben</a:t>
            </a:r>
            <a:r>
              <a:rPr lang="en-GB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Was </a:t>
            </a:r>
            <a:r>
              <a:rPr lang="en-GB" dirty="0" err="1"/>
              <a:t>ist</a:t>
            </a:r>
            <a:r>
              <a:rPr lang="en-GB" dirty="0"/>
              <a:t> der </a:t>
            </a:r>
            <a:r>
              <a:rPr lang="en-GB" dirty="0" err="1"/>
              <a:t>Unterschied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synchronen</a:t>
            </a:r>
            <a:r>
              <a:rPr lang="en-GB" dirty="0"/>
              <a:t> und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asynchronen</a:t>
            </a:r>
            <a:r>
              <a:rPr lang="en-GB" dirty="0"/>
              <a:t> </a:t>
            </a:r>
            <a:r>
              <a:rPr lang="en-GB" dirty="0" err="1"/>
              <a:t>Semantik</a:t>
            </a:r>
            <a:r>
              <a:rPr lang="en-GB" dirty="0"/>
              <a:t>?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 err="1"/>
              <a:t>Betrachten</a:t>
            </a:r>
            <a:r>
              <a:rPr lang="en-GB" dirty="0"/>
              <a:t> Sie die </a:t>
            </a:r>
            <a:r>
              <a:rPr lang="en-GB" dirty="0" err="1"/>
              <a:t>o.g.</a:t>
            </a:r>
            <a:r>
              <a:rPr lang="en-GB" dirty="0"/>
              <a:t> </a:t>
            </a:r>
            <a:r>
              <a:rPr lang="en-GB" dirty="0" err="1"/>
              <a:t>StateCharts</a:t>
            </a:r>
            <a:r>
              <a:rPr lang="en-GB" dirty="0"/>
              <a:t>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Das System (a) </a:t>
            </a:r>
            <a:r>
              <a:rPr lang="en-GB" dirty="0" err="1"/>
              <a:t>empfängt</a:t>
            </a:r>
            <a:r>
              <a:rPr lang="en-GB" dirty="0"/>
              <a:t> die </a:t>
            </a:r>
            <a:r>
              <a:rPr lang="en-GB" dirty="0" err="1"/>
              <a:t>Ereignisse</a:t>
            </a:r>
            <a:r>
              <a:rPr lang="en-GB" dirty="0"/>
              <a:t> e1, e3, e2, e1. In </a:t>
            </a:r>
            <a:r>
              <a:rPr lang="en-GB" dirty="0" err="1"/>
              <a:t>welchem</a:t>
            </a:r>
            <a:r>
              <a:rPr lang="en-GB" dirty="0"/>
              <a:t> </a:t>
            </a:r>
            <a:r>
              <a:rPr lang="en-GB" dirty="0" err="1"/>
              <a:t>Zustand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das System </a:t>
            </a:r>
            <a:r>
              <a:rPr lang="en-GB" dirty="0" err="1"/>
              <a:t>nach</a:t>
            </a:r>
            <a:r>
              <a:rPr lang="en-GB" dirty="0"/>
              <a:t> </a:t>
            </a:r>
            <a:r>
              <a:rPr lang="en-GB" dirty="0" err="1"/>
              <a:t>jedem</a:t>
            </a:r>
            <a:r>
              <a:rPr lang="en-GB" dirty="0"/>
              <a:t> Schritt?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Das System (b) </a:t>
            </a:r>
            <a:r>
              <a:rPr lang="en-GB" dirty="0" err="1"/>
              <a:t>empfängt</a:t>
            </a:r>
            <a:r>
              <a:rPr lang="en-GB" dirty="0"/>
              <a:t> die </a:t>
            </a:r>
            <a:r>
              <a:rPr lang="en-GB" dirty="0" err="1"/>
              <a:t>Ereignisse</a:t>
            </a:r>
            <a:r>
              <a:rPr lang="en-GB" dirty="0"/>
              <a:t> e1, e2. In </a:t>
            </a:r>
            <a:r>
              <a:rPr lang="en-GB" dirty="0" err="1"/>
              <a:t>welchem</a:t>
            </a:r>
            <a:r>
              <a:rPr lang="en-GB" dirty="0"/>
              <a:t> </a:t>
            </a:r>
            <a:r>
              <a:rPr lang="en-GB" dirty="0" err="1"/>
              <a:t>Zustand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das System </a:t>
            </a:r>
            <a:r>
              <a:rPr lang="en-GB" dirty="0" err="1"/>
              <a:t>nach</a:t>
            </a:r>
            <a:r>
              <a:rPr lang="en-GB" dirty="0"/>
              <a:t> </a:t>
            </a:r>
            <a:r>
              <a:rPr lang="en-GB" dirty="0" err="1"/>
              <a:t>jedem</a:t>
            </a:r>
            <a:r>
              <a:rPr lang="en-GB" dirty="0"/>
              <a:t> Schritt? Was </a:t>
            </a:r>
            <a:r>
              <a:rPr lang="en-GB" dirty="0" err="1"/>
              <a:t>passiert</a:t>
            </a:r>
            <a:r>
              <a:rPr lang="en-GB" dirty="0"/>
              <a:t>, </a:t>
            </a:r>
            <a:r>
              <a:rPr lang="en-GB" dirty="0" err="1"/>
              <a:t>wenn</a:t>
            </a:r>
            <a:r>
              <a:rPr lang="en-GB" dirty="0"/>
              <a:t> nun e3 </a:t>
            </a:r>
            <a:r>
              <a:rPr lang="en-GB" dirty="0" err="1"/>
              <a:t>eintritt</a:t>
            </a:r>
            <a:r>
              <a:rPr lang="en-GB" dirty="0"/>
              <a:t>? </a:t>
            </a:r>
            <a:r>
              <a:rPr lang="en-GB" dirty="0" err="1"/>
              <a:t>Warum</a:t>
            </a:r>
            <a:r>
              <a:rPr lang="en-GB" dirty="0"/>
              <a:t>? Was muss </a:t>
            </a:r>
            <a:r>
              <a:rPr lang="en-GB" dirty="0" err="1"/>
              <a:t>danach</a:t>
            </a:r>
            <a:r>
              <a:rPr lang="en-GB" dirty="0"/>
              <a:t> </a:t>
            </a:r>
            <a:r>
              <a:rPr lang="en-GB" dirty="0" err="1"/>
              <a:t>passieren</a:t>
            </a:r>
            <a:r>
              <a:rPr lang="en-GB" dirty="0"/>
              <a:t>, um s4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erreichen</a:t>
            </a:r>
            <a:r>
              <a:rPr lang="en-GB" dirty="0"/>
              <a:t>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Das System (c) </a:t>
            </a:r>
            <a:r>
              <a:rPr lang="en-GB" dirty="0" err="1"/>
              <a:t>empfängt</a:t>
            </a:r>
            <a:r>
              <a:rPr lang="en-GB" dirty="0"/>
              <a:t> die </a:t>
            </a:r>
            <a:r>
              <a:rPr lang="en-GB" dirty="0" err="1"/>
              <a:t>Ereignisse</a:t>
            </a:r>
            <a:r>
              <a:rPr lang="en-GB" dirty="0"/>
              <a:t> x, x. </a:t>
            </a:r>
            <a:r>
              <a:rPr lang="en-GB" dirty="0" err="1"/>
              <a:t>Welchen</a:t>
            </a:r>
            <a:r>
              <a:rPr lang="en-GB" dirty="0"/>
              <a:t> </a:t>
            </a:r>
            <a:r>
              <a:rPr lang="en-GB" dirty="0" err="1"/>
              <a:t>Konflikt</a:t>
            </a:r>
            <a:r>
              <a:rPr lang="en-GB" dirty="0"/>
              <a:t> </a:t>
            </a:r>
            <a:r>
              <a:rPr lang="en-GB" dirty="0" err="1"/>
              <a:t>gibt</a:t>
            </a:r>
            <a:r>
              <a:rPr lang="en-GB" dirty="0"/>
              <a:t> es? Wie </a:t>
            </a:r>
            <a:r>
              <a:rPr lang="en-GB" dirty="0" err="1"/>
              <a:t>laässt</a:t>
            </a:r>
            <a:r>
              <a:rPr lang="en-GB" dirty="0"/>
              <a:t> er </a:t>
            </a:r>
            <a:r>
              <a:rPr lang="en-GB" dirty="0" err="1"/>
              <a:t>sich</a:t>
            </a:r>
            <a:r>
              <a:rPr lang="en-GB" dirty="0"/>
              <a:t> </a:t>
            </a:r>
            <a:r>
              <a:rPr lang="en-GB" dirty="0" err="1"/>
              <a:t>auflösen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verhindern</a:t>
            </a:r>
            <a:r>
              <a:rPr lang="en-GB" dirty="0"/>
              <a:t>?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B2373-5086-F661-E798-492C5EFF48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85</a:t>
            </a:fld>
            <a:endParaRPr lang="en-DE" spc="-2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5CC832-E3A6-84EA-D7DB-65EFBD7E6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502" y="2982571"/>
            <a:ext cx="7772400" cy="173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274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idx="1"/>
          </p:nvPr>
        </p:nvSpPr>
        <p:spPr>
          <a:xfrm>
            <a:off x="346430" y="2558542"/>
            <a:ext cx="11074944" cy="1846659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de-DE" sz="2400" dirty="0"/>
              <a:t>David Harel: </a:t>
            </a:r>
            <a:r>
              <a:rPr lang="de-DE" sz="2400" dirty="0" err="1"/>
              <a:t>Statecharts</a:t>
            </a:r>
            <a:r>
              <a:rPr lang="de-DE" sz="2400" dirty="0"/>
              <a:t>: A Visual </a:t>
            </a:r>
            <a:r>
              <a:rPr lang="de-DE" sz="2400" dirty="0" err="1"/>
              <a:t>Formalism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Complex</a:t>
            </a:r>
            <a:r>
              <a:rPr lang="de-DE" sz="2400" dirty="0"/>
              <a:t> Systems. Science </a:t>
            </a:r>
            <a:r>
              <a:rPr lang="de-DE" sz="2400" dirty="0" err="1"/>
              <a:t>of</a:t>
            </a:r>
            <a:r>
              <a:rPr lang="de-DE" sz="2400" dirty="0"/>
              <a:t> Computer </a:t>
            </a:r>
            <a:r>
              <a:rPr lang="de-DE" sz="2400" dirty="0" err="1"/>
              <a:t>Programming</a:t>
            </a:r>
            <a:r>
              <a:rPr lang="de-DE" sz="2400" dirty="0"/>
              <a:t>, Vol. 8, </a:t>
            </a:r>
            <a:r>
              <a:rPr lang="de-DE" sz="2400" dirty="0" err="1"/>
              <a:t>No</a:t>
            </a:r>
            <a:r>
              <a:rPr lang="de-DE" sz="2400" dirty="0"/>
              <a:t>. 3, S. 231-274, 1987. </a:t>
            </a:r>
          </a:p>
          <a:p>
            <a:pPr marL="342900" indent="-342900">
              <a:buFont typeface="Wingdings" pitchFamily="2" charset="2"/>
              <a:buChar char="§"/>
            </a:pPr>
            <a:endParaRPr lang="de-DE" sz="2400" dirty="0"/>
          </a:p>
          <a:p>
            <a:pPr marL="342900" indent="-342900">
              <a:buFont typeface="Wingdings" pitchFamily="2" charset="2"/>
              <a:buChar char="§"/>
            </a:pPr>
            <a:r>
              <a:rPr lang="de-DE" sz="2400" dirty="0"/>
              <a:t>David Harel: On Visual </a:t>
            </a:r>
            <a:r>
              <a:rPr lang="de-DE" sz="2400" dirty="0" err="1"/>
              <a:t>Formalisms</a:t>
            </a:r>
            <a:r>
              <a:rPr lang="de-DE" sz="2400" dirty="0"/>
              <a:t>. Communications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ACM (CACM), Vol. 31, </a:t>
            </a:r>
            <a:r>
              <a:rPr lang="de-DE" sz="2400" dirty="0" err="1"/>
              <a:t>No</a:t>
            </a:r>
            <a:r>
              <a:rPr lang="de-DE" sz="2400" dirty="0"/>
              <a:t>. 5, May 1988.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86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63552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10118</TotalTime>
  <Words>4742</Words>
  <Application>Microsoft Macintosh PowerPoint</Application>
  <PresentationFormat>Custom</PresentationFormat>
  <Paragraphs>1113</Paragraphs>
  <Slides>86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100" baseType="lpstr">
      <vt:lpstr>.AppleSystemUIFont</vt:lpstr>
      <vt:lpstr>Aptos</vt:lpstr>
      <vt:lpstr>Arial</vt:lpstr>
      <vt:lpstr>Calibri</vt:lpstr>
      <vt:lpstr>Cambria</vt:lpstr>
      <vt:lpstr>Cambria Math</vt:lpstr>
      <vt:lpstr>cmsy10</vt:lpstr>
      <vt:lpstr>Courier New</vt:lpstr>
      <vt:lpstr>Meta  </vt:lpstr>
      <vt:lpstr>STIX Two Math</vt:lpstr>
      <vt:lpstr>Times New Roman</vt:lpstr>
      <vt:lpstr>Trebuchet MS</vt:lpstr>
      <vt:lpstr>Wingdings</vt:lpstr>
      <vt:lpstr>Office Theme</vt:lpstr>
      <vt:lpstr>Embedded Systems Engineering  State Charts</vt:lpstr>
      <vt:lpstr>Überblick über die gesamte Vorlesung</vt:lpstr>
      <vt:lpstr>Überblick über die gesamte Vorlesung</vt:lpstr>
      <vt:lpstr>Übersicht über aktuelle Vorlesung</vt:lpstr>
      <vt:lpstr>Übersicht über aktuelle Vorlesung</vt:lpstr>
      <vt:lpstr>Recap: Endliche Automaten</vt:lpstr>
      <vt:lpstr>Endliche Automaten</vt:lpstr>
      <vt:lpstr>Moore Automaten</vt:lpstr>
      <vt:lpstr>Mealy Automaten</vt:lpstr>
      <vt:lpstr>Mathematisches Modell (Syntax)</vt:lpstr>
      <vt:lpstr>Beispiel: Drehsperre</vt:lpstr>
      <vt:lpstr>Beispiel: Drehsperre</vt:lpstr>
      <vt:lpstr>Grafische Notation</vt:lpstr>
      <vt:lpstr>Beispiel: Kaffeeautomat</vt:lpstr>
      <vt:lpstr>Kaffeeautomat</vt:lpstr>
      <vt:lpstr>Moore-Automaten</vt:lpstr>
      <vt:lpstr>Mealy-Automaten</vt:lpstr>
      <vt:lpstr>Moore vs. Mealy</vt:lpstr>
      <vt:lpstr>Beispiel: Mealy nach Moore</vt:lpstr>
      <vt:lpstr>Beispiel: Mealy nach Moore</vt:lpstr>
      <vt:lpstr>Mealy- nach Moore-Automat</vt:lpstr>
      <vt:lpstr>Mealy- nach Moore-Automat</vt:lpstr>
      <vt:lpstr>Vergleich: Mealy-Kaffeeautomat</vt:lpstr>
      <vt:lpstr>Automaten: Vor- und Nachteile</vt:lpstr>
      <vt:lpstr>Automaten: Vor- und Nachteile</vt:lpstr>
      <vt:lpstr>Tool</vt:lpstr>
      <vt:lpstr>Zustandsexplosion</vt:lpstr>
      <vt:lpstr>Zustandsexplosion</vt:lpstr>
      <vt:lpstr>Zustandsexplosion</vt:lpstr>
      <vt:lpstr>Übersicht über aktuelle Vorlesung</vt:lpstr>
      <vt:lpstr>Modellierung größerer Systeme</vt:lpstr>
      <vt:lpstr>Modellierung größerer Systeme</vt:lpstr>
      <vt:lpstr>Kantenbeschriftung</vt:lpstr>
      <vt:lpstr>Statechart-Konstrukte</vt:lpstr>
      <vt:lpstr>Oder-Zustand</vt:lpstr>
      <vt:lpstr>Hierarchie und Verfeinerung</vt:lpstr>
      <vt:lpstr>Beispiel Automat für Auto</vt:lpstr>
      <vt:lpstr>Beispiel: Musik im Auto</vt:lpstr>
      <vt:lpstr>Und-Zustand</vt:lpstr>
      <vt:lpstr>Beispiel Und-Komposition</vt:lpstr>
      <vt:lpstr>Bedingungen und Aktionen</vt:lpstr>
      <vt:lpstr>Beispiel: Gangschaltung</vt:lpstr>
      <vt:lpstr>Broadcast-Kommunikation</vt:lpstr>
      <vt:lpstr>Join (Zusammenführung) </vt:lpstr>
      <vt:lpstr>Synchronisation durch Join</vt:lpstr>
      <vt:lpstr>Synchronisation durch Join</vt:lpstr>
      <vt:lpstr>Nebenläufigkeit ohne Zustandsexplosion</vt:lpstr>
      <vt:lpstr>History (Gedächtnis)</vt:lpstr>
      <vt:lpstr>Beispiel: Musik im Auto mit Historie</vt:lpstr>
      <vt:lpstr>Zurücksetzen der History</vt:lpstr>
      <vt:lpstr>Konditionalkonnektor</vt:lpstr>
      <vt:lpstr>Timer</vt:lpstr>
      <vt:lpstr>Entry-, Exit-, Throughout Actions</vt:lpstr>
      <vt:lpstr>Charakterisierung von Statecharts</vt:lpstr>
      <vt:lpstr>Beispiel (von Harel): Digitale Uhr </vt:lpstr>
      <vt:lpstr>Beispiel (von Harel): Top-Level</vt:lpstr>
      <vt:lpstr>Beispiel (von Harel): Erste Verfeinerung</vt:lpstr>
      <vt:lpstr>Beispiel (von Harel): Zweite Verfeinerung</vt:lpstr>
      <vt:lpstr>Beispiel (von Harel): Gesamtspezifikation</vt:lpstr>
      <vt:lpstr>Aktionen und Datenvariablen</vt:lpstr>
      <vt:lpstr>Syntax und Semantik</vt:lpstr>
      <vt:lpstr>Formale Semantik</vt:lpstr>
      <vt:lpstr>Semantik: mehrere Möglichkeiten</vt:lpstr>
      <vt:lpstr>Semantik: mehrere Möglichkeiten</vt:lpstr>
      <vt:lpstr>Exkurs: Kompositionalität der Semantik</vt:lpstr>
      <vt:lpstr>Kompositionalität der Semantik</vt:lpstr>
      <vt:lpstr>Kompositionalität der Semantik</vt:lpstr>
      <vt:lpstr>Kompositionalität von FSMs und State Charts</vt:lpstr>
      <vt:lpstr>Semantik von Statecharts</vt:lpstr>
      <vt:lpstr>Synchrone Abarbeitung</vt:lpstr>
      <vt:lpstr>Asynchrone Abarbeitung</vt:lpstr>
      <vt:lpstr>Synchrone vs. Asynchrone Abarbeitung</vt:lpstr>
      <vt:lpstr>Synchrone vs. Asynchrone Abarbeitung</vt:lpstr>
      <vt:lpstr>Tool: Itemis CREATE</vt:lpstr>
      <vt:lpstr>CREATE: Besonderheiten</vt:lpstr>
      <vt:lpstr>CREATE: Semantik</vt:lpstr>
      <vt:lpstr>CREATE: run-to-completion steps</vt:lpstr>
      <vt:lpstr>CREATE: cycle-based Execution</vt:lpstr>
      <vt:lpstr>CREATE: event-driven Execution</vt:lpstr>
      <vt:lpstr>Model-Driven Development (MDD)</vt:lpstr>
      <vt:lpstr>MDD mit Statecharts</vt:lpstr>
      <vt:lpstr>MDD mit C R E A T E</vt:lpstr>
      <vt:lpstr>Zusammenfassung</vt:lpstr>
      <vt:lpstr>Key Takeaway</vt:lpstr>
      <vt:lpstr>Übung / Reflexion</vt:lpstr>
      <vt:lpstr>Literatur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</dc:title>
  <dc:creator>Thomas Hupperich</dc:creator>
  <cp:lastModifiedBy>Schlesinger, Sebastian</cp:lastModifiedBy>
  <cp:revision>8</cp:revision>
  <dcterms:created xsi:type="dcterms:W3CDTF">2023-01-30T17:03:51Z</dcterms:created>
  <dcterms:modified xsi:type="dcterms:W3CDTF">2026-02-11T18:20:27Z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2023-01-30T00:00:00Z</vt:filetime>
  </property>
  <property fmtid="{D5CDD505-2E9C-101B-9397-08002B2CF9AE}" pid="3" name="Creator">
    <vt:lpwstr>Adobe Acrobat Pro (64-bit) 22.3.20314</vt:lpwstr>
  </property>
  <property fmtid="{D5CDD505-2E9C-101B-9397-08002B2CF9AE}" pid="4" name="LastSaved">
    <vt:filetime>2023-01-30T00:00:00Z</vt:filetime>
  </property>
  <property fmtid="{D5CDD505-2E9C-101B-9397-08002B2CF9AE}" pid="5" name="Producer">
    <vt:lpwstr>Adobe Acrobat Pro (64-bit) 22.3.20314</vt:lpwstr>
  </property>
</Properties>
</file>