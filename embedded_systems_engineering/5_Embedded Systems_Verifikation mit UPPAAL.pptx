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2B548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2B548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2B548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2B548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2910" y="517368"/>
            <a:ext cx="2971799" cy="63995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096" y="898527"/>
            <a:ext cx="4736104" cy="546654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73952"/>
            <a:ext cx="9144000" cy="384175"/>
          </a:xfrm>
          <a:custGeom>
            <a:avLst/>
            <a:gdLst/>
            <a:ahLst/>
            <a:cxnLst/>
            <a:rect l="l" t="t" r="r" b="b"/>
            <a:pathLst>
              <a:path w="9144000" h="384175">
                <a:moveTo>
                  <a:pt x="9144000" y="0"/>
                </a:moveTo>
                <a:lnTo>
                  <a:pt x="0" y="0"/>
                </a:lnTo>
                <a:lnTo>
                  <a:pt x="0" y="384048"/>
                </a:lnTo>
                <a:lnTo>
                  <a:pt x="9144000" y="384048"/>
                </a:lnTo>
                <a:lnTo>
                  <a:pt x="9144000" y="0"/>
                </a:lnTo>
                <a:close/>
              </a:path>
            </a:pathLst>
          </a:custGeom>
          <a:solidFill>
            <a:srgbClr val="2B54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354329" y="1055369"/>
            <a:ext cx="8437245" cy="0"/>
          </a:xfrm>
          <a:custGeom>
            <a:avLst/>
            <a:gdLst/>
            <a:ahLst/>
            <a:cxnLst/>
            <a:rect l="l" t="t" r="r" b="b"/>
            <a:pathLst>
              <a:path w="8437245" h="0">
                <a:moveTo>
                  <a:pt x="0" y="0"/>
                </a:moveTo>
                <a:lnTo>
                  <a:pt x="8436864" y="0"/>
                </a:lnTo>
              </a:path>
            </a:pathLst>
          </a:custGeom>
          <a:ln w="31750">
            <a:solidFill>
              <a:srgbClr val="2B54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84" y="302767"/>
            <a:ext cx="720283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2B548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7542" y="1280945"/>
            <a:ext cx="7017384" cy="1562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32.png"/><Relationship Id="rId10" Type="http://schemas.openxmlformats.org/officeDocument/2006/relationships/image" Target="../media/image40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60441" y="2869679"/>
            <a:ext cx="3644900" cy="148844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45"/>
              </a:spcBef>
            </a:pPr>
            <a:r>
              <a:rPr dirty="0" sz="3150" b="1">
                <a:solidFill>
                  <a:srgbClr val="FF0000"/>
                </a:solidFill>
                <a:latin typeface="Trebuchet MS"/>
                <a:cs typeface="Trebuchet MS"/>
              </a:rPr>
              <a:t>Embedded</a:t>
            </a:r>
            <a:r>
              <a:rPr dirty="0" sz="3150" spc="70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3150" spc="-10" b="1">
                <a:solidFill>
                  <a:srgbClr val="FF0000"/>
                </a:solidFill>
                <a:latin typeface="Trebuchet MS"/>
                <a:cs typeface="Trebuchet MS"/>
              </a:rPr>
              <a:t>Systems Engineering Verifikation</a:t>
            </a:r>
            <a:endParaRPr sz="31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0441" y="5261597"/>
            <a:ext cx="3746500" cy="111887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dirty="0" sz="1800" spc="-65">
                <a:latin typeface="Arial"/>
                <a:cs typeface="Arial"/>
              </a:rPr>
              <a:t>Prof.</a:t>
            </a:r>
            <a:r>
              <a:rPr dirty="0" sz="1800" spc="-80">
                <a:latin typeface="Arial"/>
                <a:cs typeface="Arial"/>
              </a:rPr>
              <a:t> Dr.-</a:t>
            </a:r>
            <a:r>
              <a:rPr dirty="0" sz="1800" spc="-85">
                <a:latin typeface="Arial"/>
                <a:cs typeface="Arial"/>
              </a:rPr>
              <a:t>Ing.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114">
                <a:latin typeface="Arial"/>
                <a:cs typeface="Arial"/>
              </a:rPr>
              <a:t>Sebastian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Schlesinger </a:t>
            </a:r>
            <a:r>
              <a:rPr dirty="0" sz="1800" spc="-95">
                <a:latin typeface="Arial"/>
                <a:cs typeface="Arial"/>
              </a:rPr>
              <a:t>Professor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40">
                <a:latin typeface="Arial"/>
                <a:cs typeface="Arial"/>
              </a:rPr>
              <a:t>Business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 spc="-75">
                <a:latin typeface="Arial"/>
                <a:cs typeface="Arial"/>
              </a:rPr>
              <a:t>Computer</a:t>
            </a:r>
            <a:r>
              <a:rPr dirty="0" sz="1800" spc="5">
                <a:latin typeface="Arial"/>
                <a:cs typeface="Arial"/>
              </a:rPr>
              <a:t> </a:t>
            </a:r>
            <a:r>
              <a:rPr dirty="0" sz="1800" spc="-120">
                <a:latin typeface="Arial"/>
                <a:cs typeface="Arial"/>
              </a:rPr>
              <a:t>Science </a:t>
            </a:r>
            <a:r>
              <a:rPr dirty="0" sz="1800" spc="-85">
                <a:latin typeface="Arial"/>
                <a:cs typeface="Arial"/>
              </a:rPr>
              <a:t>Cybersecurity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00">
                <a:latin typeface="Arial"/>
                <a:cs typeface="Arial"/>
              </a:rPr>
              <a:t>and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14">
                <a:latin typeface="Arial"/>
                <a:cs typeface="Arial"/>
              </a:rPr>
              <a:t>Embedded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Systems Engineering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70"/>
              <a:t>Diese</a:t>
            </a:r>
            <a:r>
              <a:rPr dirty="0" spc="-190"/>
              <a:t> </a:t>
            </a:r>
            <a:r>
              <a:rPr dirty="0" spc="-204"/>
              <a:t>Vorlesung</a:t>
            </a:r>
          </a:p>
        </p:txBody>
      </p:sp>
      <p:sp>
        <p:nvSpPr>
          <p:cNvPr id="3" name="object 3"/>
          <p:cNvSpPr/>
          <p:nvPr/>
        </p:nvSpPr>
        <p:spPr>
          <a:xfrm>
            <a:off x="545591" y="1423416"/>
            <a:ext cx="1510665" cy="4215765"/>
          </a:xfrm>
          <a:custGeom>
            <a:avLst/>
            <a:gdLst/>
            <a:ahLst/>
            <a:cxnLst/>
            <a:rect l="l" t="t" r="r" b="b"/>
            <a:pathLst>
              <a:path w="1510664" h="4215765">
                <a:moveTo>
                  <a:pt x="1426718" y="0"/>
                </a:moveTo>
                <a:lnTo>
                  <a:pt x="83604" y="0"/>
                </a:lnTo>
                <a:lnTo>
                  <a:pt x="51059" y="6574"/>
                </a:lnTo>
                <a:lnTo>
                  <a:pt x="24485" y="24495"/>
                </a:lnTo>
                <a:lnTo>
                  <a:pt x="6569" y="51059"/>
                </a:lnTo>
                <a:lnTo>
                  <a:pt x="0" y="83565"/>
                </a:lnTo>
                <a:lnTo>
                  <a:pt x="0" y="4131817"/>
                </a:lnTo>
                <a:lnTo>
                  <a:pt x="6569" y="4164340"/>
                </a:lnTo>
                <a:lnTo>
                  <a:pt x="24485" y="4190903"/>
                </a:lnTo>
                <a:lnTo>
                  <a:pt x="51059" y="4208815"/>
                </a:lnTo>
                <a:lnTo>
                  <a:pt x="83604" y="4215383"/>
                </a:lnTo>
                <a:lnTo>
                  <a:pt x="1426718" y="4215383"/>
                </a:lnTo>
                <a:lnTo>
                  <a:pt x="1459224" y="4208815"/>
                </a:lnTo>
                <a:lnTo>
                  <a:pt x="1485788" y="4190903"/>
                </a:lnTo>
                <a:lnTo>
                  <a:pt x="1503709" y="4164340"/>
                </a:lnTo>
                <a:lnTo>
                  <a:pt x="1510284" y="4131817"/>
                </a:lnTo>
                <a:lnTo>
                  <a:pt x="1510284" y="83565"/>
                </a:lnTo>
                <a:lnTo>
                  <a:pt x="1503709" y="51059"/>
                </a:lnTo>
                <a:lnTo>
                  <a:pt x="1485788" y="24495"/>
                </a:lnTo>
                <a:lnTo>
                  <a:pt x="1459224" y="6574"/>
                </a:lnTo>
                <a:lnTo>
                  <a:pt x="1426718" y="0"/>
                </a:lnTo>
                <a:close/>
              </a:path>
            </a:pathLst>
          </a:custGeom>
          <a:solidFill>
            <a:srgbClr val="D2D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47471" y="1691767"/>
            <a:ext cx="116459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75">
                <a:latin typeface="Arial"/>
                <a:cs typeface="Arial"/>
              </a:rPr>
              <a:t>Einführung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6590" y="2971545"/>
            <a:ext cx="1314450" cy="764540"/>
            <a:chOff x="656590" y="2971545"/>
            <a:chExt cx="1314450" cy="764540"/>
          </a:xfrm>
        </p:grpSpPr>
        <p:sp>
          <p:nvSpPr>
            <p:cNvPr id="6" name="object 6"/>
            <p:cNvSpPr/>
            <p:nvPr/>
          </p:nvSpPr>
          <p:spPr>
            <a:xfrm>
              <a:off x="662940" y="2977895"/>
              <a:ext cx="1301750" cy="751840"/>
            </a:xfrm>
            <a:custGeom>
              <a:avLst/>
              <a:gdLst/>
              <a:ahLst/>
              <a:cxnLst/>
              <a:rect l="l" t="t" r="r" b="b"/>
              <a:pathLst>
                <a:path w="1301750" h="751839">
                  <a:moveTo>
                    <a:pt x="1226312" y="0"/>
                  </a:moveTo>
                  <a:lnTo>
                    <a:pt x="75133" y="0"/>
                  </a:lnTo>
                  <a:lnTo>
                    <a:pt x="45889" y="5907"/>
                  </a:lnTo>
                  <a:lnTo>
                    <a:pt x="22007" y="22018"/>
                  </a:lnTo>
                  <a:lnTo>
                    <a:pt x="5904" y="45916"/>
                  </a:lnTo>
                  <a:lnTo>
                    <a:pt x="0" y="75184"/>
                  </a:lnTo>
                  <a:lnTo>
                    <a:pt x="0" y="676148"/>
                  </a:lnTo>
                  <a:lnTo>
                    <a:pt x="5904" y="705415"/>
                  </a:lnTo>
                  <a:lnTo>
                    <a:pt x="22007" y="729313"/>
                  </a:lnTo>
                  <a:lnTo>
                    <a:pt x="45889" y="745424"/>
                  </a:lnTo>
                  <a:lnTo>
                    <a:pt x="75133" y="751332"/>
                  </a:lnTo>
                  <a:lnTo>
                    <a:pt x="1226312" y="751332"/>
                  </a:lnTo>
                  <a:lnTo>
                    <a:pt x="1255579" y="745424"/>
                  </a:lnTo>
                  <a:lnTo>
                    <a:pt x="1279477" y="729313"/>
                  </a:lnTo>
                  <a:lnTo>
                    <a:pt x="1295588" y="705415"/>
                  </a:lnTo>
                  <a:lnTo>
                    <a:pt x="1301496" y="676148"/>
                  </a:lnTo>
                  <a:lnTo>
                    <a:pt x="1301496" y="75184"/>
                  </a:lnTo>
                  <a:lnTo>
                    <a:pt x="1295588" y="45916"/>
                  </a:lnTo>
                  <a:lnTo>
                    <a:pt x="1279477" y="22018"/>
                  </a:lnTo>
                  <a:lnTo>
                    <a:pt x="1255579" y="5907"/>
                  </a:lnTo>
                  <a:lnTo>
                    <a:pt x="122631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62940" y="2977895"/>
              <a:ext cx="1301750" cy="751840"/>
            </a:xfrm>
            <a:custGeom>
              <a:avLst/>
              <a:gdLst/>
              <a:ahLst/>
              <a:cxnLst/>
              <a:rect l="l" t="t" r="r" b="b"/>
              <a:pathLst>
                <a:path w="1301750" h="751839">
                  <a:moveTo>
                    <a:pt x="0" y="75184"/>
                  </a:moveTo>
                  <a:lnTo>
                    <a:pt x="5904" y="45916"/>
                  </a:lnTo>
                  <a:lnTo>
                    <a:pt x="22007" y="22018"/>
                  </a:lnTo>
                  <a:lnTo>
                    <a:pt x="45889" y="5907"/>
                  </a:lnTo>
                  <a:lnTo>
                    <a:pt x="75133" y="0"/>
                  </a:lnTo>
                  <a:lnTo>
                    <a:pt x="1226312" y="0"/>
                  </a:lnTo>
                  <a:lnTo>
                    <a:pt x="1255579" y="5907"/>
                  </a:lnTo>
                  <a:lnTo>
                    <a:pt x="1279477" y="22018"/>
                  </a:lnTo>
                  <a:lnTo>
                    <a:pt x="1295588" y="45916"/>
                  </a:lnTo>
                  <a:lnTo>
                    <a:pt x="1301496" y="75184"/>
                  </a:lnTo>
                  <a:lnTo>
                    <a:pt x="1301496" y="676148"/>
                  </a:lnTo>
                  <a:lnTo>
                    <a:pt x="1295588" y="705415"/>
                  </a:lnTo>
                  <a:lnTo>
                    <a:pt x="1279477" y="729313"/>
                  </a:lnTo>
                  <a:lnTo>
                    <a:pt x="1255579" y="745424"/>
                  </a:lnTo>
                  <a:lnTo>
                    <a:pt x="1226312" y="751332"/>
                  </a:lnTo>
                  <a:lnTo>
                    <a:pt x="75133" y="751332"/>
                  </a:lnTo>
                  <a:lnTo>
                    <a:pt x="45889" y="745424"/>
                  </a:lnTo>
                  <a:lnTo>
                    <a:pt x="22007" y="729313"/>
                  </a:lnTo>
                  <a:lnTo>
                    <a:pt x="5904" y="705415"/>
                  </a:lnTo>
                  <a:lnTo>
                    <a:pt x="0" y="676148"/>
                  </a:lnTo>
                  <a:lnTo>
                    <a:pt x="0" y="7518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96569" y="2997453"/>
            <a:ext cx="1257300" cy="66611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ctr" marL="12700" marR="5080">
              <a:lnSpc>
                <a:spcPts val="1620"/>
              </a:lnSpc>
              <a:spcBef>
                <a:spcPts val="305"/>
              </a:spcBef>
            </a:pPr>
            <a:r>
              <a:rPr dirty="0" sz="1500" spc="-70">
                <a:solidFill>
                  <a:srgbClr val="FFFFFF"/>
                </a:solidFill>
                <a:latin typeface="Arial"/>
                <a:cs typeface="Arial"/>
              </a:rPr>
              <a:t>Besonderheiten 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eingebetteter Software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76401" y="4588509"/>
            <a:ext cx="1314450" cy="721360"/>
            <a:chOff x="676401" y="4588509"/>
            <a:chExt cx="1314450" cy="72136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751" y="4594859"/>
              <a:ext cx="1301496" cy="70866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82751" y="4594859"/>
              <a:ext cx="1301750" cy="708660"/>
            </a:xfrm>
            <a:custGeom>
              <a:avLst/>
              <a:gdLst/>
              <a:ahLst/>
              <a:cxnLst/>
              <a:rect l="l" t="t" r="r" b="b"/>
              <a:pathLst>
                <a:path w="1301750" h="708660">
                  <a:moveTo>
                    <a:pt x="0" y="70866"/>
                  </a:moveTo>
                  <a:lnTo>
                    <a:pt x="5568" y="43291"/>
                  </a:lnTo>
                  <a:lnTo>
                    <a:pt x="20754" y="20764"/>
                  </a:lnTo>
                  <a:lnTo>
                    <a:pt x="43280" y="5572"/>
                  </a:lnTo>
                  <a:lnTo>
                    <a:pt x="70866" y="0"/>
                  </a:lnTo>
                  <a:lnTo>
                    <a:pt x="1230630" y="0"/>
                  </a:lnTo>
                  <a:lnTo>
                    <a:pt x="1258204" y="5572"/>
                  </a:lnTo>
                  <a:lnTo>
                    <a:pt x="1280731" y="20764"/>
                  </a:lnTo>
                  <a:lnTo>
                    <a:pt x="1295923" y="43291"/>
                  </a:lnTo>
                  <a:lnTo>
                    <a:pt x="1301496" y="70866"/>
                  </a:lnTo>
                  <a:lnTo>
                    <a:pt x="1301496" y="637794"/>
                  </a:lnTo>
                  <a:lnTo>
                    <a:pt x="1295923" y="665368"/>
                  </a:lnTo>
                  <a:lnTo>
                    <a:pt x="1280731" y="687895"/>
                  </a:lnTo>
                  <a:lnTo>
                    <a:pt x="1258204" y="703087"/>
                  </a:lnTo>
                  <a:lnTo>
                    <a:pt x="1230630" y="708660"/>
                  </a:lnTo>
                  <a:lnTo>
                    <a:pt x="70866" y="708660"/>
                  </a:lnTo>
                  <a:lnTo>
                    <a:pt x="43280" y="703087"/>
                  </a:lnTo>
                  <a:lnTo>
                    <a:pt x="20754" y="687895"/>
                  </a:lnTo>
                  <a:lnTo>
                    <a:pt x="5568" y="665368"/>
                  </a:lnTo>
                  <a:lnTo>
                    <a:pt x="0" y="637794"/>
                  </a:lnTo>
                  <a:lnTo>
                    <a:pt x="0" y="7086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55091" y="4681473"/>
            <a:ext cx="1153795" cy="488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825"/>
              </a:lnSpc>
              <a:spcBef>
                <a:spcPts val="95"/>
              </a:spcBef>
            </a:pPr>
            <a:r>
              <a:rPr dirty="0" sz="1600" spc="-65">
                <a:solidFill>
                  <a:srgbClr val="FFFFFF"/>
                </a:solidFill>
                <a:latin typeface="Arial"/>
                <a:cs typeface="Arial"/>
              </a:rPr>
              <a:t>Spezifikations</a:t>
            </a:r>
            <a:endParaRPr sz="1600">
              <a:latin typeface="Arial"/>
              <a:cs typeface="Arial"/>
            </a:endParaRPr>
          </a:p>
          <a:p>
            <a:pPr algn="ctr" marL="3175">
              <a:lnSpc>
                <a:spcPts val="1825"/>
              </a:lnSpc>
            </a:pPr>
            <a:r>
              <a:rPr dirty="0" sz="1600" spc="-55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sprachen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44267" y="1423416"/>
            <a:ext cx="2635250" cy="4215765"/>
          </a:xfrm>
          <a:custGeom>
            <a:avLst/>
            <a:gdLst/>
            <a:ahLst/>
            <a:cxnLst/>
            <a:rect l="l" t="t" r="r" b="b"/>
            <a:pathLst>
              <a:path w="2635250" h="4215765">
                <a:moveTo>
                  <a:pt x="2543048" y="0"/>
                </a:moveTo>
                <a:lnTo>
                  <a:pt x="91948" y="0"/>
                </a:lnTo>
                <a:lnTo>
                  <a:pt x="56149" y="7223"/>
                </a:lnTo>
                <a:lnTo>
                  <a:pt x="26924" y="26924"/>
                </a:lnTo>
                <a:lnTo>
                  <a:pt x="7223" y="56149"/>
                </a:lnTo>
                <a:lnTo>
                  <a:pt x="0" y="91948"/>
                </a:lnTo>
                <a:lnTo>
                  <a:pt x="0" y="4123436"/>
                </a:lnTo>
                <a:lnTo>
                  <a:pt x="7223" y="4159223"/>
                </a:lnTo>
                <a:lnTo>
                  <a:pt x="26924" y="4188450"/>
                </a:lnTo>
                <a:lnTo>
                  <a:pt x="56149" y="4208157"/>
                </a:lnTo>
                <a:lnTo>
                  <a:pt x="91948" y="4215384"/>
                </a:lnTo>
                <a:lnTo>
                  <a:pt x="2543048" y="4215384"/>
                </a:lnTo>
                <a:lnTo>
                  <a:pt x="2578846" y="4208157"/>
                </a:lnTo>
                <a:lnTo>
                  <a:pt x="2608072" y="4188450"/>
                </a:lnTo>
                <a:lnTo>
                  <a:pt x="2627772" y="4159223"/>
                </a:lnTo>
                <a:lnTo>
                  <a:pt x="2634996" y="4123436"/>
                </a:lnTo>
                <a:lnTo>
                  <a:pt x="2634996" y="91948"/>
                </a:lnTo>
                <a:lnTo>
                  <a:pt x="2627772" y="56149"/>
                </a:lnTo>
                <a:lnTo>
                  <a:pt x="2608072" y="26924"/>
                </a:lnTo>
                <a:lnTo>
                  <a:pt x="2578846" y="7223"/>
                </a:lnTo>
                <a:lnTo>
                  <a:pt x="2543048" y="0"/>
                </a:lnTo>
                <a:close/>
              </a:path>
            </a:pathLst>
          </a:custGeom>
          <a:solidFill>
            <a:srgbClr val="D2D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049016" y="1691767"/>
            <a:ext cx="8483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35">
                <a:latin typeface="Arial"/>
                <a:cs typeface="Arial"/>
              </a:rPr>
              <a:t>Entwurf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462529" y="2962401"/>
            <a:ext cx="1070610" cy="567690"/>
            <a:chOff x="2462529" y="2962401"/>
            <a:chExt cx="1070610" cy="567690"/>
          </a:xfrm>
        </p:grpSpPr>
        <p:sp>
          <p:nvSpPr>
            <p:cNvPr id="16" name="object 16"/>
            <p:cNvSpPr/>
            <p:nvPr/>
          </p:nvSpPr>
          <p:spPr>
            <a:xfrm>
              <a:off x="2468879" y="2968751"/>
              <a:ext cx="1057910" cy="554990"/>
            </a:xfrm>
            <a:custGeom>
              <a:avLst/>
              <a:gdLst/>
              <a:ahLst/>
              <a:cxnLst/>
              <a:rect l="l" t="t" r="r" b="b"/>
              <a:pathLst>
                <a:path w="1057910" h="554989">
                  <a:moveTo>
                    <a:pt x="1002157" y="0"/>
                  </a:moveTo>
                  <a:lnTo>
                    <a:pt x="55499" y="0"/>
                  </a:lnTo>
                  <a:lnTo>
                    <a:pt x="33914" y="4367"/>
                  </a:lnTo>
                  <a:lnTo>
                    <a:pt x="16271" y="16271"/>
                  </a:lnTo>
                  <a:lnTo>
                    <a:pt x="4367" y="33914"/>
                  </a:lnTo>
                  <a:lnTo>
                    <a:pt x="0" y="55499"/>
                  </a:lnTo>
                  <a:lnTo>
                    <a:pt x="0" y="499237"/>
                  </a:lnTo>
                  <a:lnTo>
                    <a:pt x="4367" y="520821"/>
                  </a:lnTo>
                  <a:lnTo>
                    <a:pt x="16271" y="538464"/>
                  </a:lnTo>
                  <a:lnTo>
                    <a:pt x="33914" y="550368"/>
                  </a:lnTo>
                  <a:lnTo>
                    <a:pt x="55499" y="554736"/>
                  </a:lnTo>
                  <a:lnTo>
                    <a:pt x="1002157" y="554736"/>
                  </a:lnTo>
                  <a:lnTo>
                    <a:pt x="1023741" y="550368"/>
                  </a:lnTo>
                  <a:lnTo>
                    <a:pt x="1041384" y="538464"/>
                  </a:lnTo>
                  <a:lnTo>
                    <a:pt x="1053288" y="520821"/>
                  </a:lnTo>
                  <a:lnTo>
                    <a:pt x="1057656" y="499237"/>
                  </a:lnTo>
                  <a:lnTo>
                    <a:pt x="1057656" y="55499"/>
                  </a:lnTo>
                  <a:lnTo>
                    <a:pt x="1053288" y="33914"/>
                  </a:lnTo>
                  <a:lnTo>
                    <a:pt x="1041384" y="16271"/>
                  </a:lnTo>
                  <a:lnTo>
                    <a:pt x="1023741" y="4367"/>
                  </a:lnTo>
                  <a:lnTo>
                    <a:pt x="100215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468879" y="2968751"/>
              <a:ext cx="1057910" cy="554990"/>
            </a:xfrm>
            <a:custGeom>
              <a:avLst/>
              <a:gdLst/>
              <a:ahLst/>
              <a:cxnLst/>
              <a:rect l="l" t="t" r="r" b="b"/>
              <a:pathLst>
                <a:path w="1057910" h="554989">
                  <a:moveTo>
                    <a:pt x="0" y="55499"/>
                  </a:moveTo>
                  <a:lnTo>
                    <a:pt x="4367" y="33914"/>
                  </a:lnTo>
                  <a:lnTo>
                    <a:pt x="16271" y="16271"/>
                  </a:lnTo>
                  <a:lnTo>
                    <a:pt x="33914" y="4367"/>
                  </a:lnTo>
                  <a:lnTo>
                    <a:pt x="55499" y="0"/>
                  </a:lnTo>
                  <a:lnTo>
                    <a:pt x="1002157" y="0"/>
                  </a:lnTo>
                  <a:lnTo>
                    <a:pt x="1023741" y="4367"/>
                  </a:lnTo>
                  <a:lnTo>
                    <a:pt x="1041384" y="16271"/>
                  </a:lnTo>
                  <a:lnTo>
                    <a:pt x="1053288" y="33914"/>
                  </a:lnTo>
                  <a:lnTo>
                    <a:pt x="1057656" y="55499"/>
                  </a:lnTo>
                  <a:lnTo>
                    <a:pt x="1057656" y="499237"/>
                  </a:lnTo>
                  <a:lnTo>
                    <a:pt x="1053288" y="520821"/>
                  </a:lnTo>
                  <a:lnTo>
                    <a:pt x="1041384" y="538464"/>
                  </a:lnTo>
                  <a:lnTo>
                    <a:pt x="1023741" y="550368"/>
                  </a:lnTo>
                  <a:lnTo>
                    <a:pt x="1002157" y="554736"/>
                  </a:lnTo>
                  <a:lnTo>
                    <a:pt x="55499" y="554736"/>
                  </a:lnTo>
                  <a:lnTo>
                    <a:pt x="33914" y="550368"/>
                  </a:lnTo>
                  <a:lnTo>
                    <a:pt x="16271" y="538464"/>
                  </a:lnTo>
                  <a:lnTo>
                    <a:pt x="4367" y="520821"/>
                  </a:lnTo>
                  <a:lnTo>
                    <a:pt x="0" y="499237"/>
                  </a:lnTo>
                  <a:lnTo>
                    <a:pt x="0" y="5549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2520823" y="2978911"/>
            <a:ext cx="955040" cy="48831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 marR="5080" indent="114300">
              <a:lnSpc>
                <a:spcPts val="1730"/>
              </a:lnSpc>
              <a:spcBef>
                <a:spcPts val="310"/>
              </a:spcBef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Endliche </a:t>
            </a:r>
            <a:r>
              <a:rPr dirty="0" sz="1600" spc="-60">
                <a:solidFill>
                  <a:srgbClr val="FFFFFF"/>
                </a:solidFill>
                <a:latin typeface="Arial"/>
                <a:cs typeface="Arial"/>
              </a:rPr>
              <a:t>Automaten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462529" y="3629914"/>
            <a:ext cx="1070610" cy="567690"/>
            <a:chOff x="2462529" y="3629914"/>
            <a:chExt cx="1070610" cy="567690"/>
          </a:xfrm>
        </p:grpSpPr>
        <p:sp>
          <p:nvSpPr>
            <p:cNvPr id="20" name="object 20"/>
            <p:cNvSpPr/>
            <p:nvPr/>
          </p:nvSpPr>
          <p:spPr>
            <a:xfrm>
              <a:off x="2468879" y="3636264"/>
              <a:ext cx="1057910" cy="554990"/>
            </a:xfrm>
            <a:custGeom>
              <a:avLst/>
              <a:gdLst/>
              <a:ahLst/>
              <a:cxnLst/>
              <a:rect l="l" t="t" r="r" b="b"/>
              <a:pathLst>
                <a:path w="1057910" h="554989">
                  <a:moveTo>
                    <a:pt x="1002157" y="0"/>
                  </a:moveTo>
                  <a:lnTo>
                    <a:pt x="55499" y="0"/>
                  </a:lnTo>
                  <a:lnTo>
                    <a:pt x="33914" y="4367"/>
                  </a:lnTo>
                  <a:lnTo>
                    <a:pt x="16271" y="16271"/>
                  </a:lnTo>
                  <a:lnTo>
                    <a:pt x="4367" y="33914"/>
                  </a:lnTo>
                  <a:lnTo>
                    <a:pt x="0" y="55499"/>
                  </a:lnTo>
                  <a:lnTo>
                    <a:pt x="0" y="499237"/>
                  </a:lnTo>
                  <a:lnTo>
                    <a:pt x="4367" y="520821"/>
                  </a:lnTo>
                  <a:lnTo>
                    <a:pt x="16271" y="538464"/>
                  </a:lnTo>
                  <a:lnTo>
                    <a:pt x="33914" y="550368"/>
                  </a:lnTo>
                  <a:lnTo>
                    <a:pt x="55499" y="554736"/>
                  </a:lnTo>
                  <a:lnTo>
                    <a:pt x="1002157" y="554736"/>
                  </a:lnTo>
                  <a:lnTo>
                    <a:pt x="1023741" y="550368"/>
                  </a:lnTo>
                  <a:lnTo>
                    <a:pt x="1041384" y="538464"/>
                  </a:lnTo>
                  <a:lnTo>
                    <a:pt x="1053288" y="520821"/>
                  </a:lnTo>
                  <a:lnTo>
                    <a:pt x="1057656" y="499237"/>
                  </a:lnTo>
                  <a:lnTo>
                    <a:pt x="1057656" y="55499"/>
                  </a:lnTo>
                  <a:lnTo>
                    <a:pt x="1053288" y="33914"/>
                  </a:lnTo>
                  <a:lnTo>
                    <a:pt x="1041384" y="16271"/>
                  </a:lnTo>
                  <a:lnTo>
                    <a:pt x="1023741" y="4367"/>
                  </a:lnTo>
                  <a:lnTo>
                    <a:pt x="100215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468879" y="3636264"/>
              <a:ext cx="1057910" cy="554990"/>
            </a:xfrm>
            <a:custGeom>
              <a:avLst/>
              <a:gdLst/>
              <a:ahLst/>
              <a:cxnLst/>
              <a:rect l="l" t="t" r="r" b="b"/>
              <a:pathLst>
                <a:path w="1057910" h="554989">
                  <a:moveTo>
                    <a:pt x="0" y="55499"/>
                  </a:moveTo>
                  <a:lnTo>
                    <a:pt x="4367" y="33914"/>
                  </a:lnTo>
                  <a:lnTo>
                    <a:pt x="16271" y="16271"/>
                  </a:lnTo>
                  <a:lnTo>
                    <a:pt x="33914" y="4367"/>
                  </a:lnTo>
                  <a:lnTo>
                    <a:pt x="55499" y="0"/>
                  </a:lnTo>
                  <a:lnTo>
                    <a:pt x="1002157" y="0"/>
                  </a:lnTo>
                  <a:lnTo>
                    <a:pt x="1023741" y="4367"/>
                  </a:lnTo>
                  <a:lnTo>
                    <a:pt x="1041384" y="16271"/>
                  </a:lnTo>
                  <a:lnTo>
                    <a:pt x="1053288" y="33914"/>
                  </a:lnTo>
                  <a:lnTo>
                    <a:pt x="1057656" y="55499"/>
                  </a:lnTo>
                  <a:lnTo>
                    <a:pt x="1057656" y="499237"/>
                  </a:lnTo>
                  <a:lnTo>
                    <a:pt x="1053288" y="520821"/>
                  </a:lnTo>
                  <a:lnTo>
                    <a:pt x="1041384" y="538464"/>
                  </a:lnTo>
                  <a:lnTo>
                    <a:pt x="1023741" y="550368"/>
                  </a:lnTo>
                  <a:lnTo>
                    <a:pt x="1002157" y="554736"/>
                  </a:lnTo>
                  <a:lnTo>
                    <a:pt x="55499" y="554736"/>
                  </a:lnTo>
                  <a:lnTo>
                    <a:pt x="33914" y="550368"/>
                  </a:lnTo>
                  <a:lnTo>
                    <a:pt x="16271" y="538464"/>
                  </a:lnTo>
                  <a:lnTo>
                    <a:pt x="4367" y="520821"/>
                  </a:lnTo>
                  <a:lnTo>
                    <a:pt x="0" y="499237"/>
                  </a:lnTo>
                  <a:lnTo>
                    <a:pt x="0" y="5549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2521076" y="3755593"/>
            <a:ext cx="9582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70">
                <a:solidFill>
                  <a:srgbClr val="FFFFFF"/>
                </a:solidFill>
                <a:latin typeface="Arial"/>
                <a:cs typeface="Arial"/>
              </a:rPr>
              <a:t>Statecharts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462529" y="4321809"/>
            <a:ext cx="1070610" cy="567690"/>
            <a:chOff x="2462529" y="4321809"/>
            <a:chExt cx="1070610" cy="567690"/>
          </a:xfrm>
        </p:grpSpPr>
        <p:sp>
          <p:nvSpPr>
            <p:cNvPr id="24" name="object 24"/>
            <p:cNvSpPr/>
            <p:nvPr/>
          </p:nvSpPr>
          <p:spPr>
            <a:xfrm>
              <a:off x="2468879" y="4328159"/>
              <a:ext cx="1057910" cy="554990"/>
            </a:xfrm>
            <a:custGeom>
              <a:avLst/>
              <a:gdLst/>
              <a:ahLst/>
              <a:cxnLst/>
              <a:rect l="l" t="t" r="r" b="b"/>
              <a:pathLst>
                <a:path w="1057910" h="554989">
                  <a:moveTo>
                    <a:pt x="1002157" y="0"/>
                  </a:moveTo>
                  <a:lnTo>
                    <a:pt x="55499" y="0"/>
                  </a:lnTo>
                  <a:lnTo>
                    <a:pt x="33914" y="4367"/>
                  </a:lnTo>
                  <a:lnTo>
                    <a:pt x="16271" y="16271"/>
                  </a:lnTo>
                  <a:lnTo>
                    <a:pt x="4367" y="33914"/>
                  </a:lnTo>
                  <a:lnTo>
                    <a:pt x="0" y="55499"/>
                  </a:lnTo>
                  <a:lnTo>
                    <a:pt x="0" y="499237"/>
                  </a:lnTo>
                  <a:lnTo>
                    <a:pt x="4367" y="520821"/>
                  </a:lnTo>
                  <a:lnTo>
                    <a:pt x="16271" y="538464"/>
                  </a:lnTo>
                  <a:lnTo>
                    <a:pt x="33914" y="550368"/>
                  </a:lnTo>
                  <a:lnTo>
                    <a:pt x="55499" y="554736"/>
                  </a:lnTo>
                  <a:lnTo>
                    <a:pt x="1002157" y="554736"/>
                  </a:lnTo>
                  <a:lnTo>
                    <a:pt x="1023741" y="550368"/>
                  </a:lnTo>
                  <a:lnTo>
                    <a:pt x="1041384" y="538464"/>
                  </a:lnTo>
                  <a:lnTo>
                    <a:pt x="1053288" y="520821"/>
                  </a:lnTo>
                  <a:lnTo>
                    <a:pt x="1057656" y="499237"/>
                  </a:lnTo>
                  <a:lnTo>
                    <a:pt x="1057656" y="55499"/>
                  </a:lnTo>
                  <a:lnTo>
                    <a:pt x="1053288" y="33914"/>
                  </a:lnTo>
                  <a:lnTo>
                    <a:pt x="1041384" y="16271"/>
                  </a:lnTo>
                  <a:lnTo>
                    <a:pt x="1023741" y="4367"/>
                  </a:lnTo>
                  <a:lnTo>
                    <a:pt x="100215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468879" y="4328159"/>
              <a:ext cx="1057910" cy="554990"/>
            </a:xfrm>
            <a:custGeom>
              <a:avLst/>
              <a:gdLst/>
              <a:ahLst/>
              <a:cxnLst/>
              <a:rect l="l" t="t" r="r" b="b"/>
              <a:pathLst>
                <a:path w="1057910" h="554989">
                  <a:moveTo>
                    <a:pt x="0" y="55499"/>
                  </a:moveTo>
                  <a:lnTo>
                    <a:pt x="4367" y="33914"/>
                  </a:lnTo>
                  <a:lnTo>
                    <a:pt x="16271" y="16271"/>
                  </a:lnTo>
                  <a:lnTo>
                    <a:pt x="33914" y="4367"/>
                  </a:lnTo>
                  <a:lnTo>
                    <a:pt x="55499" y="0"/>
                  </a:lnTo>
                  <a:lnTo>
                    <a:pt x="1002157" y="0"/>
                  </a:lnTo>
                  <a:lnTo>
                    <a:pt x="1023741" y="4367"/>
                  </a:lnTo>
                  <a:lnTo>
                    <a:pt x="1041384" y="16271"/>
                  </a:lnTo>
                  <a:lnTo>
                    <a:pt x="1053288" y="33914"/>
                  </a:lnTo>
                  <a:lnTo>
                    <a:pt x="1057656" y="55499"/>
                  </a:lnTo>
                  <a:lnTo>
                    <a:pt x="1057656" y="499237"/>
                  </a:lnTo>
                  <a:lnTo>
                    <a:pt x="1053288" y="520821"/>
                  </a:lnTo>
                  <a:lnTo>
                    <a:pt x="1041384" y="538464"/>
                  </a:lnTo>
                  <a:lnTo>
                    <a:pt x="1023741" y="550368"/>
                  </a:lnTo>
                  <a:lnTo>
                    <a:pt x="1002157" y="554736"/>
                  </a:lnTo>
                  <a:lnTo>
                    <a:pt x="55499" y="554736"/>
                  </a:lnTo>
                  <a:lnTo>
                    <a:pt x="33914" y="550368"/>
                  </a:lnTo>
                  <a:lnTo>
                    <a:pt x="16271" y="538464"/>
                  </a:lnTo>
                  <a:lnTo>
                    <a:pt x="4367" y="520821"/>
                  </a:lnTo>
                  <a:lnTo>
                    <a:pt x="0" y="499237"/>
                  </a:lnTo>
                  <a:lnTo>
                    <a:pt x="0" y="5549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490215" y="4344923"/>
              <a:ext cx="1013460" cy="521334"/>
            </a:xfrm>
            <a:custGeom>
              <a:avLst/>
              <a:gdLst/>
              <a:ahLst/>
              <a:cxnLst/>
              <a:rect l="l" t="t" r="r" b="b"/>
              <a:pathLst>
                <a:path w="1013460" h="521335">
                  <a:moveTo>
                    <a:pt x="1013459" y="0"/>
                  </a:moveTo>
                  <a:lnTo>
                    <a:pt x="0" y="0"/>
                  </a:lnTo>
                  <a:lnTo>
                    <a:pt x="0" y="521207"/>
                  </a:lnTo>
                  <a:lnTo>
                    <a:pt x="1013459" y="521207"/>
                  </a:lnTo>
                  <a:lnTo>
                    <a:pt x="101345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2575941" y="4337380"/>
            <a:ext cx="843280" cy="488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825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Timed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ts val="1825"/>
              </a:lnSpc>
            </a:pPr>
            <a:r>
              <a:rPr dirty="0" sz="1600" spc="-40">
                <a:solidFill>
                  <a:srgbClr val="FFFFFF"/>
                </a:solidFill>
                <a:latin typeface="Arial"/>
                <a:cs typeface="Arial"/>
              </a:rPr>
              <a:t>Automata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597909" y="4321809"/>
            <a:ext cx="1070610" cy="567690"/>
            <a:chOff x="3597909" y="4321809"/>
            <a:chExt cx="1070610" cy="567690"/>
          </a:xfrm>
        </p:grpSpPr>
        <p:sp>
          <p:nvSpPr>
            <p:cNvPr id="29" name="object 29"/>
            <p:cNvSpPr/>
            <p:nvPr/>
          </p:nvSpPr>
          <p:spPr>
            <a:xfrm>
              <a:off x="3604259" y="4328159"/>
              <a:ext cx="1057910" cy="554990"/>
            </a:xfrm>
            <a:custGeom>
              <a:avLst/>
              <a:gdLst/>
              <a:ahLst/>
              <a:cxnLst/>
              <a:rect l="l" t="t" r="r" b="b"/>
              <a:pathLst>
                <a:path w="1057910" h="554989">
                  <a:moveTo>
                    <a:pt x="1002157" y="0"/>
                  </a:moveTo>
                  <a:lnTo>
                    <a:pt x="55499" y="0"/>
                  </a:lnTo>
                  <a:lnTo>
                    <a:pt x="33914" y="4367"/>
                  </a:lnTo>
                  <a:lnTo>
                    <a:pt x="16271" y="16271"/>
                  </a:lnTo>
                  <a:lnTo>
                    <a:pt x="4367" y="33914"/>
                  </a:lnTo>
                  <a:lnTo>
                    <a:pt x="0" y="55499"/>
                  </a:lnTo>
                  <a:lnTo>
                    <a:pt x="0" y="499237"/>
                  </a:lnTo>
                  <a:lnTo>
                    <a:pt x="4367" y="520821"/>
                  </a:lnTo>
                  <a:lnTo>
                    <a:pt x="16271" y="538464"/>
                  </a:lnTo>
                  <a:lnTo>
                    <a:pt x="33914" y="550368"/>
                  </a:lnTo>
                  <a:lnTo>
                    <a:pt x="55499" y="554736"/>
                  </a:lnTo>
                  <a:lnTo>
                    <a:pt x="1002157" y="554736"/>
                  </a:lnTo>
                  <a:lnTo>
                    <a:pt x="1023741" y="550368"/>
                  </a:lnTo>
                  <a:lnTo>
                    <a:pt x="1041384" y="538464"/>
                  </a:lnTo>
                  <a:lnTo>
                    <a:pt x="1053288" y="520821"/>
                  </a:lnTo>
                  <a:lnTo>
                    <a:pt x="1057656" y="499237"/>
                  </a:lnTo>
                  <a:lnTo>
                    <a:pt x="1057656" y="55499"/>
                  </a:lnTo>
                  <a:lnTo>
                    <a:pt x="1053288" y="33914"/>
                  </a:lnTo>
                  <a:lnTo>
                    <a:pt x="1041384" y="16271"/>
                  </a:lnTo>
                  <a:lnTo>
                    <a:pt x="1023741" y="4367"/>
                  </a:lnTo>
                  <a:lnTo>
                    <a:pt x="100215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604259" y="4328159"/>
              <a:ext cx="1057910" cy="554990"/>
            </a:xfrm>
            <a:custGeom>
              <a:avLst/>
              <a:gdLst/>
              <a:ahLst/>
              <a:cxnLst/>
              <a:rect l="l" t="t" r="r" b="b"/>
              <a:pathLst>
                <a:path w="1057910" h="554989">
                  <a:moveTo>
                    <a:pt x="0" y="55499"/>
                  </a:moveTo>
                  <a:lnTo>
                    <a:pt x="4367" y="33914"/>
                  </a:lnTo>
                  <a:lnTo>
                    <a:pt x="16271" y="16271"/>
                  </a:lnTo>
                  <a:lnTo>
                    <a:pt x="33914" y="4367"/>
                  </a:lnTo>
                  <a:lnTo>
                    <a:pt x="55499" y="0"/>
                  </a:lnTo>
                  <a:lnTo>
                    <a:pt x="1002157" y="0"/>
                  </a:lnTo>
                  <a:lnTo>
                    <a:pt x="1023741" y="4367"/>
                  </a:lnTo>
                  <a:lnTo>
                    <a:pt x="1041384" y="16271"/>
                  </a:lnTo>
                  <a:lnTo>
                    <a:pt x="1053288" y="33914"/>
                  </a:lnTo>
                  <a:lnTo>
                    <a:pt x="1057656" y="55499"/>
                  </a:lnTo>
                  <a:lnTo>
                    <a:pt x="1057656" y="499237"/>
                  </a:lnTo>
                  <a:lnTo>
                    <a:pt x="1053288" y="520821"/>
                  </a:lnTo>
                  <a:lnTo>
                    <a:pt x="1041384" y="538464"/>
                  </a:lnTo>
                  <a:lnTo>
                    <a:pt x="1023741" y="550368"/>
                  </a:lnTo>
                  <a:lnTo>
                    <a:pt x="1002157" y="554736"/>
                  </a:lnTo>
                  <a:lnTo>
                    <a:pt x="55499" y="554736"/>
                  </a:lnTo>
                  <a:lnTo>
                    <a:pt x="33914" y="550368"/>
                  </a:lnTo>
                  <a:lnTo>
                    <a:pt x="16271" y="538464"/>
                  </a:lnTo>
                  <a:lnTo>
                    <a:pt x="4367" y="520821"/>
                  </a:lnTo>
                  <a:lnTo>
                    <a:pt x="0" y="499237"/>
                  </a:lnTo>
                  <a:lnTo>
                    <a:pt x="0" y="5549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3772915" y="4447108"/>
            <a:ext cx="7207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45">
                <a:solidFill>
                  <a:srgbClr val="FFFFFF"/>
                </a:solidFill>
                <a:latin typeface="Arial"/>
                <a:cs typeface="Arial"/>
              </a:rPr>
              <a:t>SystemC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597909" y="2965450"/>
            <a:ext cx="1070610" cy="1231900"/>
            <a:chOff x="3597909" y="2965450"/>
            <a:chExt cx="1070610" cy="1231900"/>
          </a:xfrm>
        </p:grpSpPr>
        <p:sp>
          <p:nvSpPr>
            <p:cNvPr id="33" name="object 33"/>
            <p:cNvSpPr/>
            <p:nvPr/>
          </p:nvSpPr>
          <p:spPr>
            <a:xfrm>
              <a:off x="3604259" y="2971800"/>
              <a:ext cx="1057910" cy="1219200"/>
            </a:xfrm>
            <a:custGeom>
              <a:avLst/>
              <a:gdLst/>
              <a:ahLst/>
              <a:cxnLst/>
              <a:rect l="l" t="t" r="r" b="b"/>
              <a:pathLst>
                <a:path w="1057910" h="1219200">
                  <a:moveTo>
                    <a:pt x="951865" y="0"/>
                  </a:moveTo>
                  <a:lnTo>
                    <a:pt x="105791" y="0"/>
                  </a:lnTo>
                  <a:lnTo>
                    <a:pt x="64615" y="8314"/>
                  </a:lnTo>
                  <a:lnTo>
                    <a:pt x="30988" y="30987"/>
                  </a:lnTo>
                  <a:lnTo>
                    <a:pt x="8314" y="64615"/>
                  </a:lnTo>
                  <a:lnTo>
                    <a:pt x="0" y="105790"/>
                  </a:lnTo>
                  <a:lnTo>
                    <a:pt x="0" y="1113408"/>
                  </a:lnTo>
                  <a:lnTo>
                    <a:pt x="8314" y="1154584"/>
                  </a:lnTo>
                  <a:lnTo>
                    <a:pt x="30988" y="1188211"/>
                  </a:lnTo>
                  <a:lnTo>
                    <a:pt x="64615" y="1210885"/>
                  </a:lnTo>
                  <a:lnTo>
                    <a:pt x="105791" y="1219199"/>
                  </a:lnTo>
                  <a:lnTo>
                    <a:pt x="951865" y="1219199"/>
                  </a:lnTo>
                  <a:lnTo>
                    <a:pt x="993040" y="1210885"/>
                  </a:lnTo>
                  <a:lnTo>
                    <a:pt x="1026668" y="1188211"/>
                  </a:lnTo>
                  <a:lnTo>
                    <a:pt x="1049341" y="1154584"/>
                  </a:lnTo>
                  <a:lnTo>
                    <a:pt x="1057656" y="1113408"/>
                  </a:lnTo>
                  <a:lnTo>
                    <a:pt x="1057656" y="105790"/>
                  </a:lnTo>
                  <a:lnTo>
                    <a:pt x="1049341" y="64615"/>
                  </a:lnTo>
                  <a:lnTo>
                    <a:pt x="1026668" y="30987"/>
                  </a:lnTo>
                  <a:lnTo>
                    <a:pt x="993040" y="8314"/>
                  </a:lnTo>
                  <a:lnTo>
                    <a:pt x="951865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604259" y="2971800"/>
              <a:ext cx="1057910" cy="1219200"/>
            </a:xfrm>
            <a:custGeom>
              <a:avLst/>
              <a:gdLst/>
              <a:ahLst/>
              <a:cxnLst/>
              <a:rect l="l" t="t" r="r" b="b"/>
              <a:pathLst>
                <a:path w="1057910" h="1219200">
                  <a:moveTo>
                    <a:pt x="0" y="105790"/>
                  </a:moveTo>
                  <a:lnTo>
                    <a:pt x="8314" y="64615"/>
                  </a:lnTo>
                  <a:lnTo>
                    <a:pt x="30988" y="30987"/>
                  </a:lnTo>
                  <a:lnTo>
                    <a:pt x="64615" y="8314"/>
                  </a:lnTo>
                  <a:lnTo>
                    <a:pt x="105791" y="0"/>
                  </a:lnTo>
                  <a:lnTo>
                    <a:pt x="951865" y="0"/>
                  </a:lnTo>
                  <a:lnTo>
                    <a:pt x="993040" y="8314"/>
                  </a:lnTo>
                  <a:lnTo>
                    <a:pt x="1026668" y="30987"/>
                  </a:lnTo>
                  <a:lnTo>
                    <a:pt x="1049341" y="64615"/>
                  </a:lnTo>
                  <a:lnTo>
                    <a:pt x="1057656" y="105790"/>
                  </a:lnTo>
                  <a:lnTo>
                    <a:pt x="1057656" y="1113408"/>
                  </a:lnTo>
                  <a:lnTo>
                    <a:pt x="1049341" y="1154584"/>
                  </a:lnTo>
                  <a:lnTo>
                    <a:pt x="1026668" y="1188211"/>
                  </a:lnTo>
                  <a:lnTo>
                    <a:pt x="993040" y="1210885"/>
                  </a:lnTo>
                  <a:lnTo>
                    <a:pt x="951865" y="1219199"/>
                  </a:lnTo>
                  <a:lnTo>
                    <a:pt x="105791" y="1219199"/>
                  </a:lnTo>
                  <a:lnTo>
                    <a:pt x="64615" y="1210885"/>
                  </a:lnTo>
                  <a:lnTo>
                    <a:pt x="30988" y="1188211"/>
                  </a:lnTo>
                  <a:lnTo>
                    <a:pt x="8314" y="1154584"/>
                  </a:lnTo>
                  <a:lnTo>
                    <a:pt x="0" y="1113408"/>
                  </a:lnTo>
                  <a:lnTo>
                    <a:pt x="0" y="10579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3658615" y="3160902"/>
            <a:ext cx="948690" cy="793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825"/>
              </a:lnSpc>
              <a:spcBef>
                <a:spcPts val="95"/>
              </a:spcBef>
            </a:pPr>
            <a:r>
              <a:rPr dirty="0" sz="1600" spc="-85">
                <a:solidFill>
                  <a:srgbClr val="FFFFFF"/>
                </a:solidFill>
                <a:latin typeface="Arial"/>
                <a:cs typeface="Arial"/>
              </a:rPr>
              <a:t>Signalfluss-</a:t>
            </a:r>
            <a:endParaRPr sz="1600">
              <a:latin typeface="Arial"/>
              <a:cs typeface="Arial"/>
            </a:endParaRPr>
          </a:p>
          <a:p>
            <a:pPr marL="32384">
              <a:lnSpc>
                <a:spcPts val="1825"/>
              </a:lnSpc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orientierte</a:t>
            </a:r>
            <a:endParaRPr sz="160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Sprachen</a:t>
            </a:r>
            <a:endParaRPr sz="1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94179" y="2924671"/>
            <a:ext cx="228600" cy="196215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 spc="-65">
                <a:solidFill>
                  <a:srgbClr val="1F4E79"/>
                </a:solidFill>
                <a:latin typeface="Arial"/>
                <a:cs typeface="Arial"/>
              </a:rPr>
              <a:t>Modellierungssprachen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867655" y="1423416"/>
            <a:ext cx="1952625" cy="4215765"/>
          </a:xfrm>
          <a:custGeom>
            <a:avLst/>
            <a:gdLst/>
            <a:ahLst/>
            <a:cxnLst/>
            <a:rect l="l" t="t" r="r" b="b"/>
            <a:pathLst>
              <a:path w="1952625" h="4215765">
                <a:moveTo>
                  <a:pt x="1853692" y="0"/>
                </a:moveTo>
                <a:lnTo>
                  <a:pt x="98552" y="0"/>
                </a:lnTo>
                <a:lnTo>
                  <a:pt x="60168" y="7737"/>
                </a:lnTo>
                <a:lnTo>
                  <a:pt x="28844" y="28844"/>
                </a:lnTo>
                <a:lnTo>
                  <a:pt x="7737" y="60168"/>
                </a:lnTo>
                <a:lnTo>
                  <a:pt x="0" y="98551"/>
                </a:lnTo>
                <a:lnTo>
                  <a:pt x="0" y="4116831"/>
                </a:lnTo>
                <a:lnTo>
                  <a:pt x="7737" y="4155194"/>
                </a:lnTo>
                <a:lnTo>
                  <a:pt x="28844" y="4186520"/>
                </a:lnTo>
                <a:lnTo>
                  <a:pt x="60168" y="4207639"/>
                </a:lnTo>
                <a:lnTo>
                  <a:pt x="98552" y="4215384"/>
                </a:lnTo>
                <a:lnTo>
                  <a:pt x="1853692" y="4215384"/>
                </a:lnTo>
                <a:lnTo>
                  <a:pt x="1892075" y="4207639"/>
                </a:lnTo>
                <a:lnTo>
                  <a:pt x="1923399" y="4186520"/>
                </a:lnTo>
                <a:lnTo>
                  <a:pt x="1944506" y="4155194"/>
                </a:lnTo>
                <a:lnTo>
                  <a:pt x="1952244" y="4116831"/>
                </a:lnTo>
                <a:lnTo>
                  <a:pt x="1952244" y="98551"/>
                </a:lnTo>
                <a:lnTo>
                  <a:pt x="1944506" y="60168"/>
                </a:lnTo>
                <a:lnTo>
                  <a:pt x="1923399" y="28844"/>
                </a:lnTo>
                <a:lnTo>
                  <a:pt x="1892075" y="7737"/>
                </a:lnTo>
                <a:lnTo>
                  <a:pt x="1853692" y="0"/>
                </a:lnTo>
                <a:close/>
              </a:path>
            </a:pathLst>
          </a:custGeom>
          <a:solidFill>
            <a:srgbClr val="D2D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934839" y="1672844"/>
            <a:ext cx="181800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5">
                <a:latin typeface="Arial"/>
                <a:cs typeface="Arial"/>
              </a:rPr>
              <a:t>Implementierung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475478" y="2387854"/>
            <a:ext cx="1170940" cy="520700"/>
            <a:chOff x="5475478" y="2387854"/>
            <a:chExt cx="1170940" cy="520700"/>
          </a:xfrm>
        </p:grpSpPr>
        <p:sp>
          <p:nvSpPr>
            <p:cNvPr id="40" name="object 40"/>
            <p:cNvSpPr/>
            <p:nvPr/>
          </p:nvSpPr>
          <p:spPr>
            <a:xfrm>
              <a:off x="5481828" y="2394204"/>
              <a:ext cx="1158240" cy="508000"/>
            </a:xfrm>
            <a:custGeom>
              <a:avLst/>
              <a:gdLst/>
              <a:ahLst/>
              <a:cxnLst/>
              <a:rect l="l" t="t" r="r" b="b"/>
              <a:pathLst>
                <a:path w="1158240" h="508000">
                  <a:moveTo>
                    <a:pt x="1107440" y="0"/>
                  </a:moveTo>
                  <a:lnTo>
                    <a:pt x="50800" y="0"/>
                  </a:lnTo>
                  <a:lnTo>
                    <a:pt x="31021" y="3990"/>
                  </a:lnTo>
                  <a:lnTo>
                    <a:pt x="14874" y="14874"/>
                  </a:lnTo>
                  <a:lnTo>
                    <a:pt x="3990" y="31021"/>
                  </a:lnTo>
                  <a:lnTo>
                    <a:pt x="0" y="50800"/>
                  </a:lnTo>
                  <a:lnTo>
                    <a:pt x="0" y="456692"/>
                  </a:lnTo>
                  <a:lnTo>
                    <a:pt x="3990" y="476470"/>
                  </a:lnTo>
                  <a:lnTo>
                    <a:pt x="14874" y="492617"/>
                  </a:lnTo>
                  <a:lnTo>
                    <a:pt x="31021" y="503501"/>
                  </a:lnTo>
                  <a:lnTo>
                    <a:pt x="50800" y="507492"/>
                  </a:lnTo>
                  <a:lnTo>
                    <a:pt x="1107440" y="507492"/>
                  </a:lnTo>
                  <a:lnTo>
                    <a:pt x="1127218" y="503501"/>
                  </a:lnTo>
                  <a:lnTo>
                    <a:pt x="1143365" y="492617"/>
                  </a:lnTo>
                  <a:lnTo>
                    <a:pt x="1154249" y="476470"/>
                  </a:lnTo>
                  <a:lnTo>
                    <a:pt x="1158240" y="456692"/>
                  </a:lnTo>
                  <a:lnTo>
                    <a:pt x="1158240" y="50800"/>
                  </a:lnTo>
                  <a:lnTo>
                    <a:pt x="1154249" y="31021"/>
                  </a:lnTo>
                  <a:lnTo>
                    <a:pt x="1143365" y="14874"/>
                  </a:lnTo>
                  <a:lnTo>
                    <a:pt x="1127218" y="3990"/>
                  </a:lnTo>
                  <a:lnTo>
                    <a:pt x="110744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481828" y="2394204"/>
              <a:ext cx="1158240" cy="508000"/>
            </a:xfrm>
            <a:custGeom>
              <a:avLst/>
              <a:gdLst/>
              <a:ahLst/>
              <a:cxnLst/>
              <a:rect l="l" t="t" r="r" b="b"/>
              <a:pathLst>
                <a:path w="1158240" h="508000">
                  <a:moveTo>
                    <a:pt x="0" y="50800"/>
                  </a:moveTo>
                  <a:lnTo>
                    <a:pt x="3990" y="31021"/>
                  </a:lnTo>
                  <a:lnTo>
                    <a:pt x="14874" y="14874"/>
                  </a:lnTo>
                  <a:lnTo>
                    <a:pt x="31021" y="3990"/>
                  </a:lnTo>
                  <a:lnTo>
                    <a:pt x="50800" y="0"/>
                  </a:lnTo>
                  <a:lnTo>
                    <a:pt x="1107440" y="0"/>
                  </a:lnTo>
                  <a:lnTo>
                    <a:pt x="1127218" y="3990"/>
                  </a:lnTo>
                  <a:lnTo>
                    <a:pt x="1143365" y="14874"/>
                  </a:lnTo>
                  <a:lnTo>
                    <a:pt x="1154249" y="31021"/>
                  </a:lnTo>
                  <a:lnTo>
                    <a:pt x="1158240" y="50800"/>
                  </a:lnTo>
                  <a:lnTo>
                    <a:pt x="1158240" y="456692"/>
                  </a:lnTo>
                  <a:lnTo>
                    <a:pt x="1154249" y="476470"/>
                  </a:lnTo>
                  <a:lnTo>
                    <a:pt x="1143365" y="492617"/>
                  </a:lnTo>
                  <a:lnTo>
                    <a:pt x="1127218" y="503501"/>
                  </a:lnTo>
                  <a:lnTo>
                    <a:pt x="1107440" y="507492"/>
                  </a:lnTo>
                  <a:lnTo>
                    <a:pt x="50800" y="507492"/>
                  </a:lnTo>
                  <a:lnTo>
                    <a:pt x="31021" y="503501"/>
                  </a:lnTo>
                  <a:lnTo>
                    <a:pt x="14874" y="492617"/>
                  </a:lnTo>
                  <a:lnTo>
                    <a:pt x="3990" y="476470"/>
                  </a:lnTo>
                  <a:lnTo>
                    <a:pt x="0" y="456692"/>
                  </a:lnTo>
                  <a:lnTo>
                    <a:pt x="0" y="508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5490173" y="2483865"/>
            <a:ext cx="11417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Ada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012182" y="4276090"/>
            <a:ext cx="1660525" cy="889000"/>
            <a:chOff x="5012182" y="4276090"/>
            <a:chExt cx="1660525" cy="889000"/>
          </a:xfrm>
        </p:grpSpPr>
        <p:sp>
          <p:nvSpPr>
            <p:cNvPr id="44" name="object 44"/>
            <p:cNvSpPr/>
            <p:nvPr/>
          </p:nvSpPr>
          <p:spPr>
            <a:xfrm>
              <a:off x="5018532" y="4282440"/>
              <a:ext cx="1647825" cy="876300"/>
            </a:xfrm>
            <a:custGeom>
              <a:avLst/>
              <a:gdLst/>
              <a:ahLst/>
              <a:cxnLst/>
              <a:rect l="l" t="t" r="r" b="b"/>
              <a:pathLst>
                <a:path w="1647825" h="876300">
                  <a:moveTo>
                    <a:pt x="1559814" y="0"/>
                  </a:moveTo>
                  <a:lnTo>
                    <a:pt x="87630" y="0"/>
                  </a:lnTo>
                  <a:lnTo>
                    <a:pt x="53524" y="6887"/>
                  </a:lnTo>
                  <a:lnTo>
                    <a:pt x="25669" y="25669"/>
                  </a:lnTo>
                  <a:lnTo>
                    <a:pt x="6887" y="53524"/>
                  </a:lnTo>
                  <a:lnTo>
                    <a:pt x="0" y="87630"/>
                  </a:lnTo>
                  <a:lnTo>
                    <a:pt x="0" y="788670"/>
                  </a:lnTo>
                  <a:lnTo>
                    <a:pt x="6887" y="822775"/>
                  </a:lnTo>
                  <a:lnTo>
                    <a:pt x="25669" y="850630"/>
                  </a:lnTo>
                  <a:lnTo>
                    <a:pt x="53524" y="869412"/>
                  </a:lnTo>
                  <a:lnTo>
                    <a:pt x="87630" y="876300"/>
                  </a:lnTo>
                  <a:lnTo>
                    <a:pt x="1559814" y="876300"/>
                  </a:lnTo>
                  <a:lnTo>
                    <a:pt x="1593919" y="869412"/>
                  </a:lnTo>
                  <a:lnTo>
                    <a:pt x="1621774" y="850630"/>
                  </a:lnTo>
                  <a:lnTo>
                    <a:pt x="1640556" y="822775"/>
                  </a:lnTo>
                  <a:lnTo>
                    <a:pt x="1647444" y="788670"/>
                  </a:lnTo>
                  <a:lnTo>
                    <a:pt x="1647444" y="87630"/>
                  </a:lnTo>
                  <a:lnTo>
                    <a:pt x="1640556" y="53524"/>
                  </a:lnTo>
                  <a:lnTo>
                    <a:pt x="1621774" y="25669"/>
                  </a:lnTo>
                  <a:lnTo>
                    <a:pt x="1593919" y="6887"/>
                  </a:lnTo>
                  <a:lnTo>
                    <a:pt x="155981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018532" y="4282440"/>
              <a:ext cx="1647825" cy="876300"/>
            </a:xfrm>
            <a:custGeom>
              <a:avLst/>
              <a:gdLst/>
              <a:ahLst/>
              <a:cxnLst/>
              <a:rect l="l" t="t" r="r" b="b"/>
              <a:pathLst>
                <a:path w="1647825" h="876300">
                  <a:moveTo>
                    <a:pt x="0" y="87630"/>
                  </a:moveTo>
                  <a:lnTo>
                    <a:pt x="6887" y="53524"/>
                  </a:lnTo>
                  <a:lnTo>
                    <a:pt x="25669" y="25669"/>
                  </a:lnTo>
                  <a:lnTo>
                    <a:pt x="53524" y="6887"/>
                  </a:lnTo>
                  <a:lnTo>
                    <a:pt x="87630" y="0"/>
                  </a:lnTo>
                  <a:lnTo>
                    <a:pt x="1559814" y="0"/>
                  </a:lnTo>
                  <a:lnTo>
                    <a:pt x="1593919" y="6887"/>
                  </a:lnTo>
                  <a:lnTo>
                    <a:pt x="1621774" y="25669"/>
                  </a:lnTo>
                  <a:lnTo>
                    <a:pt x="1640556" y="53524"/>
                  </a:lnTo>
                  <a:lnTo>
                    <a:pt x="1647444" y="87630"/>
                  </a:lnTo>
                  <a:lnTo>
                    <a:pt x="1647444" y="788670"/>
                  </a:lnTo>
                  <a:lnTo>
                    <a:pt x="1640556" y="822775"/>
                  </a:lnTo>
                  <a:lnTo>
                    <a:pt x="1621774" y="850630"/>
                  </a:lnTo>
                  <a:lnTo>
                    <a:pt x="1593919" y="869412"/>
                  </a:lnTo>
                  <a:lnTo>
                    <a:pt x="1559814" y="876300"/>
                  </a:lnTo>
                  <a:lnTo>
                    <a:pt x="87630" y="876300"/>
                  </a:lnTo>
                  <a:lnTo>
                    <a:pt x="53524" y="869412"/>
                  </a:lnTo>
                  <a:lnTo>
                    <a:pt x="25669" y="850630"/>
                  </a:lnTo>
                  <a:lnTo>
                    <a:pt x="6887" y="822775"/>
                  </a:lnTo>
                  <a:lnTo>
                    <a:pt x="0" y="788670"/>
                  </a:lnTo>
                  <a:lnTo>
                    <a:pt x="0" y="8763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5474970" y="4404182"/>
            <a:ext cx="7353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75">
                <a:solidFill>
                  <a:srgbClr val="FFFFFF"/>
                </a:solidFill>
                <a:latin typeface="Arial"/>
                <a:cs typeface="Arial"/>
              </a:rPr>
              <a:t>Echtzeit-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154929" y="4709540"/>
            <a:ext cx="137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70">
                <a:solidFill>
                  <a:srgbClr val="FFFFFF"/>
                </a:solidFill>
                <a:latin typeface="Arial"/>
                <a:cs typeface="Arial"/>
              </a:rPr>
              <a:t>betriebssysteme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908292" y="1423416"/>
            <a:ext cx="1321435" cy="4215765"/>
          </a:xfrm>
          <a:custGeom>
            <a:avLst/>
            <a:gdLst/>
            <a:ahLst/>
            <a:cxnLst/>
            <a:rect l="l" t="t" r="r" b="b"/>
            <a:pathLst>
              <a:path w="1321434" h="4215765">
                <a:moveTo>
                  <a:pt x="1189228" y="0"/>
                </a:moveTo>
                <a:lnTo>
                  <a:pt x="132080" y="0"/>
                </a:lnTo>
                <a:lnTo>
                  <a:pt x="90350" y="6738"/>
                </a:lnTo>
                <a:lnTo>
                  <a:pt x="54095" y="25497"/>
                </a:lnTo>
                <a:lnTo>
                  <a:pt x="25497" y="54095"/>
                </a:lnTo>
                <a:lnTo>
                  <a:pt x="6738" y="90350"/>
                </a:lnTo>
                <a:lnTo>
                  <a:pt x="0" y="132079"/>
                </a:lnTo>
                <a:lnTo>
                  <a:pt x="0" y="4083304"/>
                </a:lnTo>
                <a:lnTo>
                  <a:pt x="6738" y="4125033"/>
                </a:lnTo>
                <a:lnTo>
                  <a:pt x="25497" y="4161288"/>
                </a:lnTo>
                <a:lnTo>
                  <a:pt x="54095" y="4189886"/>
                </a:lnTo>
                <a:lnTo>
                  <a:pt x="90350" y="4208645"/>
                </a:lnTo>
                <a:lnTo>
                  <a:pt x="132080" y="4215383"/>
                </a:lnTo>
                <a:lnTo>
                  <a:pt x="1189228" y="4215383"/>
                </a:lnTo>
                <a:lnTo>
                  <a:pt x="1230957" y="4208645"/>
                </a:lnTo>
                <a:lnTo>
                  <a:pt x="1267212" y="4189886"/>
                </a:lnTo>
                <a:lnTo>
                  <a:pt x="1295810" y="4161288"/>
                </a:lnTo>
                <a:lnTo>
                  <a:pt x="1314569" y="4125033"/>
                </a:lnTo>
                <a:lnTo>
                  <a:pt x="1321308" y="4083304"/>
                </a:lnTo>
                <a:lnTo>
                  <a:pt x="1321308" y="132079"/>
                </a:lnTo>
                <a:lnTo>
                  <a:pt x="1314569" y="90350"/>
                </a:lnTo>
                <a:lnTo>
                  <a:pt x="1295810" y="54095"/>
                </a:lnTo>
                <a:lnTo>
                  <a:pt x="1267212" y="25497"/>
                </a:lnTo>
                <a:lnTo>
                  <a:pt x="1230957" y="6738"/>
                </a:lnTo>
                <a:lnTo>
                  <a:pt x="1189228" y="0"/>
                </a:lnTo>
                <a:close/>
              </a:path>
            </a:pathLst>
          </a:custGeom>
          <a:solidFill>
            <a:srgbClr val="D2D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7025385" y="1443939"/>
            <a:ext cx="1087755" cy="79438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algn="ctr" marL="12700" marR="5080" indent="1270">
              <a:lnSpc>
                <a:spcPts val="1939"/>
              </a:lnSpc>
              <a:spcBef>
                <a:spcPts val="350"/>
              </a:spcBef>
            </a:pPr>
            <a:r>
              <a:rPr dirty="0" sz="1800" spc="-70">
                <a:latin typeface="Arial"/>
                <a:cs typeface="Arial"/>
              </a:rPr>
              <a:t>Validierung </a:t>
            </a:r>
            <a:r>
              <a:rPr dirty="0" sz="1800" spc="-25">
                <a:latin typeface="Arial"/>
                <a:cs typeface="Arial"/>
              </a:rPr>
              <a:t>und </a:t>
            </a:r>
            <a:r>
              <a:rPr dirty="0" sz="1800" spc="-55">
                <a:latin typeface="Arial"/>
                <a:cs typeface="Arial"/>
              </a:rPr>
              <a:t>Verifikation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7029957" y="3436365"/>
            <a:ext cx="1069340" cy="817880"/>
            <a:chOff x="7029957" y="3436365"/>
            <a:chExt cx="1069340" cy="817880"/>
          </a:xfrm>
        </p:grpSpPr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6307" y="3442715"/>
              <a:ext cx="1056131" cy="804671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7036307" y="3442715"/>
              <a:ext cx="1056640" cy="805180"/>
            </a:xfrm>
            <a:custGeom>
              <a:avLst/>
              <a:gdLst/>
              <a:ahLst/>
              <a:cxnLst/>
              <a:rect l="l" t="t" r="r" b="b"/>
              <a:pathLst>
                <a:path w="1056640" h="805179">
                  <a:moveTo>
                    <a:pt x="0" y="80517"/>
                  </a:moveTo>
                  <a:lnTo>
                    <a:pt x="6330" y="49184"/>
                  </a:lnTo>
                  <a:lnTo>
                    <a:pt x="23590" y="23590"/>
                  </a:lnTo>
                  <a:lnTo>
                    <a:pt x="49184" y="6330"/>
                  </a:lnTo>
                  <a:lnTo>
                    <a:pt x="80518" y="0"/>
                  </a:lnTo>
                  <a:lnTo>
                    <a:pt x="975613" y="0"/>
                  </a:lnTo>
                  <a:lnTo>
                    <a:pt x="1006947" y="6330"/>
                  </a:lnTo>
                  <a:lnTo>
                    <a:pt x="1032541" y="23590"/>
                  </a:lnTo>
                  <a:lnTo>
                    <a:pt x="1049801" y="49184"/>
                  </a:lnTo>
                  <a:lnTo>
                    <a:pt x="1056132" y="80517"/>
                  </a:lnTo>
                  <a:lnTo>
                    <a:pt x="1056132" y="724153"/>
                  </a:lnTo>
                  <a:lnTo>
                    <a:pt x="1049801" y="755487"/>
                  </a:lnTo>
                  <a:lnTo>
                    <a:pt x="1032541" y="781081"/>
                  </a:lnTo>
                  <a:lnTo>
                    <a:pt x="1006947" y="798341"/>
                  </a:lnTo>
                  <a:lnTo>
                    <a:pt x="975613" y="804671"/>
                  </a:lnTo>
                  <a:lnTo>
                    <a:pt x="80518" y="804671"/>
                  </a:lnTo>
                  <a:lnTo>
                    <a:pt x="49184" y="798341"/>
                  </a:lnTo>
                  <a:lnTo>
                    <a:pt x="23590" y="781081"/>
                  </a:lnTo>
                  <a:lnTo>
                    <a:pt x="6330" y="755487"/>
                  </a:lnTo>
                  <a:lnTo>
                    <a:pt x="0" y="724153"/>
                  </a:lnTo>
                  <a:lnTo>
                    <a:pt x="0" y="8051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7112634" y="3687317"/>
            <a:ext cx="90614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5">
                <a:solidFill>
                  <a:srgbClr val="FFFFFF"/>
                </a:solidFill>
                <a:latin typeface="Arial"/>
                <a:cs typeface="Arial"/>
              </a:rPr>
              <a:t>Simulation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61162" y="2233929"/>
            <a:ext cx="1314450" cy="622300"/>
            <a:chOff x="661162" y="2233929"/>
            <a:chExt cx="1314450" cy="622300"/>
          </a:xfrm>
        </p:grpSpPr>
        <p:sp>
          <p:nvSpPr>
            <p:cNvPr id="55" name="object 55"/>
            <p:cNvSpPr/>
            <p:nvPr/>
          </p:nvSpPr>
          <p:spPr>
            <a:xfrm>
              <a:off x="667512" y="2240279"/>
              <a:ext cx="1301750" cy="609600"/>
            </a:xfrm>
            <a:custGeom>
              <a:avLst/>
              <a:gdLst/>
              <a:ahLst/>
              <a:cxnLst/>
              <a:rect l="l" t="t" r="r" b="b"/>
              <a:pathLst>
                <a:path w="1301750" h="609600">
                  <a:moveTo>
                    <a:pt x="1240536" y="0"/>
                  </a:moveTo>
                  <a:lnTo>
                    <a:pt x="60960" y="0"/>
                  </a:lnTo>
                  <a:lnTo>
                    <a:pt x="37231" y="4792"/>
                  </a:lnTo>
                  <a:lnTo>
                    <a:pt x="17854" y="17859"/>
                  </a:lnTo>
                  <a:lnTo>
                    <a:pt x="4790" y="37236"/>
                  </a:lnTo>
                  <a:lnTo>
                    <a:pt x="0" y="60960"/>
                  </a:lnTo>
                  <a:lnTo>
                    <a:pt x="0" y="548640"/>
                  </a:lnTo>
                  <a:lnTo>
                    <a:pt x="4790" y="572363"/>
                  </a:lnTo>
                  <a:lnTo>
                    <a:pt x="17854" y="591740"/>
                  </a:lnTo>
                  <a:lnTo>
                    <a:pt x="37231" y="604807"/>
                  </a:lnTo>
                  <a:lnTo>
                    <a:pt x="60960" y="609600"/>
                  </a:lnTo>
                  <a:lnTo>
                    <a:pt x="1240536" y="609600"/>
                  </a:lnTo>
                  <a:lnTo>
                    <a:pt x="1264259" y="604807"/>
                  </a:lnTo>
                  <a:lnTo>
                    <a:pt x="1283636" y="591740"/>
                  </a:lnTo>
                  <a:lnTo>
                    <a:pt x="1296703" y="572363"/>
                  </a:lnTo>
                  <a:lnTo>
                    <a:pt x="1301496" y="548640"/>
                  </a:lnTo>
                  <a:lnTo>
                    <a:pt x="1301496" y="60960"/>
                  </a:lnTo>
                  <a:lnTo>
                    <a:pt x="1296703" y="37236"/>
                  </a:lnTo>
                  <a:lnTo>
                    <a:pt x="1283636" y="17859"/>
                  </a:lnTo>
                  <a:lnTo>
                    <a:pt x="1264259" y="4792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67512" y="2240279"/>
              <a:ext cx="1301750" cy="609600"/>
            </a:xfrm>
            <a:custGeom>
              <a:avLst/>
              <a:gdLst/>
              <a:ahLst/>
              <a:cxnLst/>
              <a:rect l="l" t="t" r="r" b="b"/>
              <a:pathLst>
                <a:path w="1301750" h="609600">
                  <a:moveTo>
                    <a:pt x="0" y="60960"/>
                  </a:moveTo>
                  <a:lnTo>
                    <a:pt x="4790" y="37236"/>
                  </a:lnTo>
                  <a:lnTo>
                    <a:pt x="17854" y="17859"/>
                  </a:lnTo>
                  <a:lnTo>
                    <a:pt x="37231" y="4792"/>
                  </a:lnTo>
                  <a:lnTo>
                    <a:pt x="60960" y="0"/>
                  </a:lnTo>
                  <a:lnTo>
                    <a:pt x="1240536" y="0"/>
                  </a:lnTo>
                  <a:lnTo>
                    <a:pt x="1264259" y="4792"/>
                  </a:lnTo>
                  <a:lnTo>
                    <a:pt x="1283636" y="17859"/>
                  </a:lnTo>
                  <a:lnTo>
                    <a:pt x="1296703" y="37236"/>
                  </a:lnTo>
                  <a:lnTo>
                    <a:pt x="1301496" y="60960"/>
                  </a:lnTo>
                  <a:lnTo>
                    <a:pt x="1301496" y="548640"/>
                  </a:lnTo>
                  <a:lnTo>
                    <a:pt x="1296703" y="572363"/>
                  </a:lnTo>
                  <a:lnTo>
                    <a:pt x="1283636" y="591740"/>
                  </a:lnTo>
                  <a:lnTo>
                    <a:pt x="1264259" y="604807"/>
                  </a:lnTo>
                  <a:lnTo>
                    <a:pt x="1240536" y="609600"/>
                  </a:lnTo>
                  <a:lnTo>
                    <a:pt x="60960" y="609600"/>
                  </a:lnTo>
                  <a:lnTo>
                    <a:pt x="37231" y="604807"/>
                  </a:lnTo>
                  <a:lnTo>
                    <a:pt x="17854" y="591740"/>
                  </a:lnTo>
                  <a:lnTo>
                    <a:pt x="4790" y="572363"/>
                  </a:lnTo>
                  <a:lnTo>
                    <a:pt x="0" y="548640"/>
                  </a:lnTo>
                  <a:lnTo>
                    <a:pt x="0" y="609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777951" y="2277236"/>
            <a:ext cx="1079500" cy="488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825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Arial"/>
                <a:cs typeface="Arial"/>
              </a:rPr>
              <a:t>Eingebettete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ts val="1825"/>
              </a:lnSpc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Systeme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45591" y="5725667"/>
            <a:ext cx="3794760" cy="376555"/>
          </a:xfrm>
          <a:custGeom>
            <a:avLst/>
            <a:gdLst/>
            <a:ahLst/>
            <a:cxnLst/>
            <a:rect l="l" t="t" r="r" b="b"/>
            <a:pathLst>
              <a:path w="3794760" h="376554">
                <a:moveTo>
                  <a:pt x="3757167" y="0"/>
                </a:moveTo>
                <a:lnTo>
                  <a:pt x="37642" y="0"/>
                </a:lnTo>
                <a:lnTo>
                  <a:pt x="22990" y="2958"/>
                </a:lnTo>
                <a:lnTo>
                  <a:pt x="11025" y="11025"/>
                </a:lnTo>
                <a:lnTo>
                  <a:pt x="2958" y="22990"/>
                </a:lnTo>
                <a:lnTo>
                  <a:pt x="0" y="37642"/>
                </a:lnTo>
                <a:lnTo>
                  <a:pt x="0" y="338785"/>
                </a:lnTo>
                <a:lnTo>
                  <a:pt x="2958" y="353437"/>
                </a:lnTo>
                <a:lnTo>
                  <a:pt x="11025" y="365402"/>
                </a:lnTo>
                <a:lnTo>
                  <a:pt x="22990" y="373469"/>
                </a:lnTo>
                <a:lnTo>
                  <a:pt x="37642" y="376427"/>
                </a:lnTo>
                <a:lnTo>
                  <a:pt x="3757167" y="376427"/>
                </a:lnTo>
                <a:lnTo>
                  <a:pt x="3771774" y="373469"/>
                </a:lnTo>
                <a:lnTo>
                  <a:pt x="3783726" y="365402"/>
                </a:lnTo>
                <a:lnTo>
                  <a:pt x="3791797" y="353437"/>
                </a:lnTo>
                <a:lnTo>
                  <a:pt x="3794760" y="338785"/>
                </a:lnTo>
                <a:lnTo>
                  <a:pt x="3794760" y="37642"/>
                </a:lnTo>
                <a:lnTo>
                  <a:pt x="3791797" y="22990"/>
                </a:lnTo>
                <a:lnTo>
                  <a:pt x="3783726" y="11025"/>
                </a:lnTo>
                <a:lnTo>
                  <a:pt x="3771774" y="2958"/>
                </a:lnTo>
                <a:lnTo>
                  <a:pt x="375716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997711" y="5718454"/>
            <a:ext cx="28898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85">
                <a:solidFill>
                  <a:srgbClr val="FFFFFF"/>
                </a:solidFill>
                <a:latin typeface="Arial"/>
                <a:cs typeface="Arial"/>
              </a:rPr>
              <a:t>Schwerpunkte/Vorlesungen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334002" y="5722365"/>
            <a:ext cx="3902075" cy="387985"/>
            <a:chOff x="4334002" y="5722365"/>
            <a:chExt cx="3902075" cy="387985"/>
          </a:xfrm>
        </p:grpSpPr>
        <p:pic>
          <p:nvPicPr>
            <p:cNvPr id="61" name="object 6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0352" y="5728715"/>
              <a:ext cx="3889248" cy="374903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340352" y="5728715"/>
              <a:ext cx="3889375" cy="375285"/>
            </a:xfrm>
            <a:custGeom>
              <a:avLst/>
              <a:gdLst/>
              <a:ahLst/>
              <a:cxnLst/>
              <a:rect l="l" t="t" r="r" b="b"/>
              <a:pathLst>
                <a:path w="3889375" h="375285">
                  <a:moveTo>
                    <a:pt x="0" y="37490"/>
                  </a:moveTo>
                  <a:lnTo>
                    <a:pt x="2942" y="22899"/>
                  </a:lnTo>
                  <a:lnTo>
                    <a:pt x="10969" y="10982"/>
                  </a:lnTo>
                  <a:lnTo>
                    <a:pt x="22877" y="2946"/>
                  </a:lnTo>
                  <a:lnTo>
                    <a:pt x="37465" y="0"/>
                  </a:lnTo>
                  <a:lnTo>
                    <a:pt x="3851783" y="0"/>
                  </a:lnTo>
                  <a:lnTo>
                    <a:pt x="3866370" y="2946"/>
                  </a:lnTo>
                  <a:lnTo>
                    <a:pt x="3878278" y="10982"/>
                  </a:lnTo>
                  <a:lnTo>
                    <a:pt x="3886305" y="22899"/>
                  </a:lnTo>
                  <a:lnTo>
                    <a:pt x="3889248" y="37490"/>
                  </a:lnTo>
                  <a:lnTo>
                    <a:pt x="3889248" y="337413"/>
                  </a:lnTo>
                  <a:lnTo>
                    <a:pt x="3886305" y="352004"/>
                  </a:lnTo>
                  <a:lnTo>
                    <a:pt x="3878278" y="363921"/>
                  </a:lnTo>
                  <a:lnTo>
                    <a:pt x="3866370" y="371957"/>
                  </a:lnTo>
                  <a:lnTo>
                    <a:pt x="3851783" y="374904"/>
                  </a:lnTo>
                  <a:lnTo>
                    <a:pt x="37465" y="374904"/>
                  </a:lnTo>
                  <a:lnTo>
                    <a:pt x="22877" y="371957"/>
                  </a:lnTo>
                  <a:lnTo>
                    <a:pt x="10969" y="363921"/>
                  </a:lnTo>
                  <a:lnTo>
                    <a:pt x="2942" y="352004"/>
                  </a:lnTo>
                  <a:lnTo>
                    <a:pt x="0" y="337413"/>
                  </a:lnTo>
                  <a:lnTo>
                    <a:pt x="0" y="3749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/>
          <p:nvPr/>
        </p:nvSpPr>
        <p:spPr>
          <a:xfrm>
            <a:off x="5359146" y="5738876"/>
            <a:ext cx="1851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Zusätzliche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Aspekte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4" name="object 6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59735" y="2382011"/>
            <a:ext cx="2197608" cy="434339"/>
          </a:xfrm>
          <a:prstGeom prst="rect">
            <a:avLst/>
          </a:prstGeom>
        </p:spPr>
      </p:pic>
      <p:sp>
        <p:nvSpPr>
          <p:cNvPr id="65" name="object 65"/>
          <p:cNvSpPr/>
          <p:nvPr/>
        </p:nvSpPr>
        <p:spPr>
          <a:xfrm>
            <a:off x="2459735" y="2382011"/>
            <a:ext cx="2197735" cy="434340"/>
          </a:xfrm>
          <a:custGeom>
            <a:avLst/>
            <a:gdLst/>
            <a:ahLst/>
            <a:cxnLst/>
            <a:rect l="l" t="t" r="r" b="b"/>
            <a:pathLst>
              <a:path w="2197735" h="434339">
                <a:moveTo>
                  <a:pt x="0" y="43434"/>
                </a:moveTo>
                <a:lnTo>
                  <a:pt x="3411" y="26521"/>
                </a:lnTo>
                <a:lnTo>
                  <a:pt x="12715" y="12715"/>
                </a:lnTo>
                <a:lnTo>
                  <a:pt x="26521" y="3411"/>
                </a:lnTo>
                <a:lnTo>
                  <a:pt x="43434" y="0"/>
                </a:lnTo>
                <a:lnTo>
                  <a:pt x="2154174" y="0"/>
                </a:lnTo>
                <a:lnTo>
                  <a:pt x="2171086" y="3411"/>
                </a:lnTo>
                <a:lnTo>
                  <a:pt x="2184892" y="12715"/>
                </a:lnTo>
                <a:lnTo>
                  <a:pt x="2194196" y="26521"/>
                </a:lnTo>
                <a:lnTo>
                  <a:pt x="2197608" y="43434"/>
                </a:lnTo>
                <a:lnTo>
                  <a:pt x="2197608" y="390906"/>
                </a:lnTo>
                <a:lnTo>
                  <a:pt x="2194196" y="407818"/>
                </a:lnTo>
                <a:lnTo>
                  <a:pt x="2184892" y="421624"/>
                </a:lnTo>
                <a:lnTo>
                  <a:pt x="2171086" y="430928"/>
                </a:lnTo>
                <a:lnTo>
                  <a:pt x="2154174" y="434340"/>
                </a:lnTo>
                <a:lnTo>
                  <a:pt x="43434" y="434340"/>
                </a:lnTo>
                <a:lnTo>
                  <a:pt x="26521" y="430928"/>
                </a:lnTo>
                <a:lnTo>
                  <a:pt x="12715" y="421624"/>
                </a:lnTo>
                <a:lnTo>
                  <a:pt x="3411" y="407818"/>
                </a:lnTo>
                <a:lnTo>
                  <a:pt x="0" y="390906"/>
                </a:lnTo>
                <a:lnTo>
                  <a:pt x="0" y="43434"/>
                </a:lnTo>
                <a:close/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2978276" y="2331211"/>
            <a:ext cx="1162685" cy="48831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91440" marR="5080" indent="-79375">
              <a:lnSpc>
                <a:spcPts val="1730"/>
              </a:lnSpc>
              <a:spcBef>
                <a:spcPts val="310"/>
              </a:spcBef>
            </a:pPr>
            <a:r>
              <a:rPr dirty="0" sz="1600" spc="-45">
                <a:solidFill>
                  <a:srgbClr val="FFFFFF"/>
                </a:solidFill>
                <a:latin typeface="Arial"/>
                <a:cs typeface="Arial"/>
              </a:rPr>
              <a:t>Model-</a:t>
            </a:r>
            <a:r>
              <a:rPr dirty="0" sz="1600" spc="-65">
                <a:solidFill>
                  <a:srgbClr val="FFFFFF"/>
                </a:solidFill>
                <a:latin typeface="Arial"/>
                <a:cs typeface="Arial"/>
              </a:rPr>
              <a:t>Driven 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7036054" y="4522978"/>
            <a:ext cx="1069340" cy="819150"/>
            <a:chOff x="7036054" y="4522978"/>
            <a:chExt cx="1069340" cy="819150"/>
          </a:xfrm>
        </p:grpSpPr>
        <p:sp>
          <p:nvSpPr>
            <p:cNvPr id="68" name="object 68"/>
            <p:cNvSpPr/>
            <p:nvPr/>
          </p:nvSpPr>
          <p:spPr>
            <a:xfrm>
              <a:off x="7042404" y="4529328"/>
              <a:ext cx="1056640" cy="806450"/>
            </a:xfrm>
            <a:custGeom>
              <a:avLst/>
              <a:gdLst/>
              <a:ahLst/>
              <a:cxnLst/>
              <a:rect l="l" t="t" r="r" b="b"/>
              <a:pathLst>
                <a:path w="1056640" h="806450">
                  <a:moveTo>
                    <a:pt x="975487" y="0"/>
                  </a:moveTo>
                  <a:lnTo>
                    <a:pt x="80645" y="0"/>
                  </a:lnTo>
                  <a:lnTo>
                    <a:pt x="49238" y="6332"/>
                  </a:lnTo>
                  <a:lnTo>
                    <a:pt x="23606" y="23606"/>
                  </a:lnTo>
                  <a:lnTo>
                    <a:pt x="6332" y="49238"/>
                  </a:lnTo>
                  <a:lnTo>
                    <a:pt x="0" y="80645"/>
                  </a:lnTo>
                  <a:lnTo>
                    <a:pt x="0" y="725551"/>
                  </a:lnTo>
                  <a:lnTo>
                    <a:pt x="6332" y="756957"/>
                  </a:lnTo>
                  <a:lnTo>
                    <a:pt x="23606" y="782589"/>
                  </a:lnTo>
                  <a:lnTo>
                    <a:pt x="49238" y="799863"/>
                  </a:lnTo>
                  <a:lnTo>
                    <a:pt x="80645" y="806196"/>
                  </a:lnTo>
                  <a:lnTo>
                    <a:pt x="975487" y="806196"/>
                  </a:lnTo>
                  <a:lnTo>
                    <a:pt x="1006893" y="799863"/>
                  </a:lnTo>
                  <a:lnTo>
                    <a:pt x="1032525" y="782589"/>
                  </a:lnTo>
                  <a:lnTo>
                    <a:pt x="1049799" y="756957"/>
                  </a:lnTo>
                  <a:lnTo>
                    <a:pt x="1056132" y="725551"/>
                  </a:lnTo>
                  <a:lnTo>
                    <a:pt x="1056132" y="80645"/>
                  </a:lnTo>
                  <a:lnTo>
                    <a:pt x="1049799" y="49238"/>
                  </a:lnTo>
                  <a:lnTo>
                    <a:pt x="1032525" y="23606"/>
                  </a:lnTo>
                  <a:lnTo>
                    <a:pt x="1006893" y="6332"/>
                  </a:lnTo>
                  <a:lnTo>
                    <a:pt x="97548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7042404" y="4529328"/>
              <a:ext cx="1056640" cy="806450"/>
            </a:xfrm>
            <a:custGeom>
              <a:avLst/>
              <a:gdLst/>
              <a:ahLst/>
              <a:cxnLst/>
              <a:rect l="l" t="t" r="r" b="b"/>
              <a:pathLst>
                <a:path w="1056640" h="806450">
                  <a:moveTo>
                    <a:pt x="0" y="80645"/>
                  </a:moveTo>
                  <a:lnTo>
                    <a:pt x="6332" y="49238"/>
                  </a:lnTo>
                  <a:lnTo>
                    <a:pt x="23606" y="23606"/>
                  </a:lnTo>
                  <a:lnTo>
                    <a:pt x="49238" y="6332"/>
                  </a:lnTo>
                  <a:lnTo>
                    <a:pt x="80645" y="0"/>
                  </a:lnTo>
                  <a:lnTo>
                    <a:pt x="975487" y="0"/>
                  </a:lnTo>
                  <a:lnTo>
                    <a:pt x="1006893" y="6332"/>
                  </a:lnTo>
                  <a:lnTo>
                    <a:pt x="1032525" y="23606"/>
                  </a:lnTo>
                  <a:lnTo>
                    <a:pt x="1049799" y="49238"/>
                  </a:lnTo>
                  <a:lnTo>
                    <a:pt x="1056132" y="80645"/>
                  </a:lnTo>
                  <a:lnTo>
                    <a:pt x="1056132" y="725551"/>
                  </a:lnTo>
                  <a:lnTo>
                    <a:pt x="1049799" y="756957"/>
                  </a:lnTo>
                  <a:lnTo>
                    <a:pt x="1032525" y="782589"/>
                  </a:lnTo>
                  <a:lnTo>
                    <a:pt x="1006893" y="799863"/>
                  </a:lnTo>
                  <a:lnTo>
                    <a:pt x="975487" y="806196"/>
                  </a:lnTo>
                  <a:lnTo>
                    <a:pt x="80645" y="806196"/>
                  </a:lnTo>
                  <a:lnTo>
                    <a:pt x="49238" y="799863"/>
                  </a:lnTo>
                  <a:lnTo>
                    <a:pt x="23606" y="782589"/>
                  </a:lnTo>
                  <a:lnTo>
                    <a:pt x="6332" y="756957"/>
                  </a:lnTo>
                  <a:lnTo>
                    <a:pt x="0" y="725551"/>
                  </a:lnTo>
                  <a:lnTo>
                    <a:pt x="0" y="806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7085456" y="4786629"/>
            <a:ext cx="9690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>
                <a:solidFill>
                  <a:srgbClr val="FFFFFF"/>
                </a:solidFill>
                <a:latin typeface="Arial"/>
                <a:cs typeface="Arial"/>
              </a:rPr>
              <a:t>Verifikation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7029957" y="2369566"/>
            <a:ext cx="1069340" cy="819150"/>
            <a:chOff x="7029957" y="2369566"/>
            <a:chExt cx="1069340" cy="819150"/>
          </a:xfrm>
        </p:grpSpPr>
        <p:sp>
          <p:nvSpPr>
            <p:cNvPr id="72" name="object 72"/>
            <p:cNvSpPr/>
            <p:nvPr/>
          </p:nvSpPr>
          <p:spPr>
            <a:xfrm>
              <a:off x="7036307" y="2375916"/>
              <a:ext cx="1056640" cy="806450"/>
            </a:xfrm>
            <a:custGeom>
              <a:avLst/>
              <a:gdLst/>
              <a:ahLst/>
              <a:cxnLst/>
              <a:rect l="l" t="t" r="r" b="b"/>
              <a:pathLst>
                <a:path w="1056640" h="806450">
                  <a:moveTo>
                    <a:pt x="975487" y="0"/>
                  </a:moveTo>
                  <a:lnTo>
                    <a:pt x="80645" y="0"/>
                  </a:lnTo>
                  <a:lnTo>
                    <a:pt x="49238" y="6332"/>
                  </a:lnTo>
                  <a:lnTo>
                    <a:pt x="23606" y="23606"/>
                  </a:lnTo>
                  <a:lnTo>
                    <a:pt x="6332" y="49238"/>
                  </a:lnTo>
                  <a:lnTo>
                    <a:pt x="0" y="80645"/>
                  </a:lnTo>
                  <a:lnTo>
                    <a:pt x="0" y="725551"/>
                  </a:lnTo>
                  <a:lnTo>
                    <a:pt x="6332" y="756957"/>
                  </a:lnTo>
                  <a:lnTo>
                    <a:pt x="23606" y="782589"/>
                  </a:lnTo>
                  <a:lnTo>
                    <a:pt x="49238" y="799863"/>
                  </a:lnTo>
                  <a:lnTo>
                    <a:pt x="80645" y="806196"/>
                  </a:lnTo>
                  <a:lnTo>
                    <a:pt x="975487" y="806196"/>
                  </a:lnTo>
                  <a:lnTo>
                    <a:pt x="1006893" y="799863"/>
                  </a:lnTo>
                  <a:lnTo>
                    <a:pt x="1032525" y="782589"/>
                  </a:lnTo>
                  <a:lnTo>
                    <a:pt x="1049799" y="756957"/>
                  </a:lnTo>
                  <a:lnTo>
                    <a:pt x="1056132" y="725551"/>
                  </a:lnTo>
                  <a:lnTo>
                    <a:pt x="1056132" y="80645"/>
                  </a:lnTo>
                  <a:lnTo>
                    <a:pt x="1049799" y="49238"/>
                  </a:lnTo>
                  <a:lnTo>
                    <a:pt x="1032525" y="23606"/>
                  </a:lnTo>
                  <a:lnTo>
                    <a:pt x="1006893" y="6332"/>
                  </a:lnTo>
                  <a:lnTo>
                    <a:pt x="97548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7036307" y="2375916"/>
              <a:ext cx="1056640" cy="806450"/>
            </a:xfrm>
            <a:custGeom>
              <a:avLst/>
              <a:gdLst/>
              <a:ahLst/>
              <a:cxnLst/>
              <a:rect l="l" t="t" r="r" b="b"/>
              <a:pathLst>
                <a:path w="1056640" h="806450">
                  <a:moveTo>
                    <a:pt x="0" y="80645"/>
                  </a:moveTo>
                  <a:lnTo>
                    <a:pt x="6332" y="49238"/>
                  </a:lnTo>
                  <a:lnTo>
                    <a:pt x="23606" y="23606"/>
                  </a:lnTo>
                  <a:lnTo>
                    <a:pt x="49238" y="6332"/>
                  </a:lnTo>
                  <a:lnTo>
                    <a:pt x="80645" y="0"/>
                  </a:lnTo>
                  <a:lnTo>
                    <a:pt x="975487" y="0"/>
                  </a:lnTo>
                  <a:lnTo>
                    <a:pt x="1006893" y="6332"/>
                  </a:lnTo>
                  <a:lnTo>
                    <a:pt x="1032525" y="23606"/>
                  </a:lnTo>
                  <a:lnTo>
                    <a:pt x="1049799" y="49238"/>
                  </a:lnTo>
                  <a:lnTo>
                    <a:pt x="1056132" y="80645"/>
                  </a:lnTo>
                  <a:lnTo>
                    <a:pt x="1056132" y="725551"/>
                  </a:lnTo>
                  <a:lnTo>
                    <a:pt x="1049799" y="756957"/>
                  </a:lnTo>
                  <a:lnTo>
                    <a:pt x="1032525" y="782589"/>
                  </a:lnTo>
                  <a:lnTo>
                    <a:pt x="1006893" y="799863"/>
                  </a:lnTo>
                  <a:lnTo>
                    <a:pt x="975487" y="806196"/>
                  </a:lnTo>
                  <a:lnTo>
                    <a:pt x="80645" y="806196"/>
                  </a:lnTo>
                  <a:lnTo>
                    <a:pt x="49238" y="799863"/>
                  </a:lnTo>
                  <a:lnTo>
                    <a:pt x="23606" y="782589"/>
                  </a:lnTo>
                  <a:lnTo>
                    <a:pt x="6332" y="756957"/>
                  </a:lnTo>
                  <a:lnTo>
                    <a:pt x="0" y="725551"/>
                  </a:lnTo>
                  <a:lnTo>
                    <a:pt x="0" y="806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/>
          <p:cNvSpPr txBox="1"/>
          <p:nvPr/>
        </p:nvSpPr>
        <p:spPr>
          <a:xfrm>
            <a:off x="7252843" y="2614929"/>
            <a:ext cx="6248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Testen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5480050" y="2986785"/>
            <a:ext cx="1166495" cy="518795"/>
            <a:chOff x="5480050" y="2986785"/>
            <a:chExt cx="1166495" cy="518795"/>
          </a:xfrm>
        </p:grpSpPr>
        <p:sp>
          <p:nvSpPr>
            <p:cNvPr id="76" name="object 76"/>
            <p:cNvSpPr/>
            <p:nvPr/>
          </p:nvSpPr>
          <p:spPr>
            <a:xfrm>
              <a:off x="5486400" y="2993135"/>
              <a:ext cx="1153795" cy="506095"/>
            </a:xfrm>
            <a:custGeom>
              <a:avLst/>
              <a:gdLst/>
              <a:ahLst/>
              <a:cxnLst/>
              <a:rect l="l" t="t" r="r" b="b"/>
              <a:pathLst>
                <a:path w="1153795" h="506095">
                  <a:moveTo>
                    <a:pt x="1103122" y="0"/>
                  </a:moveTo>
                  <a:lnTo>
                    <a:pt x="50546" y="0"/>
                  </a:lnTo>
                  <a:lnTo>
                    <a:pt x="30861" y="3968"/>
                  </a:lnTo>
                  <a:lnTo>
                    <a:pt x="14795" y="14795"/>
                  </a:lnTo>
                  <a:lnTo>
                    <a:pt x="3968" y="30861"/>
                  </a:lnTo>
                  <a:lnTo>
                    <a:pt x="0" y="50546"/>
                  </a:lnTo>
                  <a:lnTo>
                    <a:pt x="0" y="455422"/>
                  </a:lnTo>
                  <a:lnTo>
                    <a:pt x="3968" y="475107"/>
                  </a:lnTo>
                  <a:lnTo>
                    <a:pt x="14795" y="491172"/>
                  </a:lnTo>
                  <a:lnTo>
                    <a:pt x="30860" y="501999"/>
                  </a:lnTo>
                  <a:lnTo>
                    <a:pt x="50546" y="505968"/>
                  </a:lnTo>
                  <a:lnTo>
                    <a:pt x="1103122" y="505968"/>
                  </a:lnTo>
                  <a:lnTo>
                    <a:pt x="1122807" y="501999"/>
                  </a:lnTo>
                  <a:lnTo>
                    <a:pt x="1138872" y="491172"/>
                  </a:lnTo>
                  <a:lnTo>
                    <a:pt x="1149699" y="475107"/>
                  </a:lnTo>
                  <a:lnTo>
                    <a:pt x="1153668" y="455422"/>
                  </a:lnTo>
                  <a:lnTo>
                    <a:pt x="1153668" y="50546"/>
                  </a:lnTo>
                  <a:lnTo>
                    <a:pt x="1149699" y="30861"/>
                  </a:lnTo>
                  <a:lnTo>
                    <a:pt x="1138872" y="14795"/>
                  </a:lnTo>
                  <a:lnTo>
                    <a:pt x="1122807" y="3968"/>
                  </a:lnTo>
                  <a:lnTo>
                    <a:pt x="110312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5486400" y="2993135"/>
              <a:ext cx="1153795" cy="506095"/>
            </a:xfrm>
            <a:custGeom>
              <a:avLst/>
              <a:gdLst/>
              <a:ahLst/>
              <a:cxnLst/>
              <a:rect l="l" t="t" r="r" b="b"/>
              <a:pathLst>
                <a:path w="1153795" h="506095">
                  <a:moveTo>
                    <a:pt x="0" y="50546"/>
                  </a:moveTo>
                  <a:lnTo>
                    <a:pt x="3968" y="30861"/>
                  </a:lnTo>
                  <a:lnTo>
                    <a:pt x="14795" y="14795"/>
                  </a:lnTo>
                  <a:lnTo>
                    <a:pt x="30861" y="3968"/>
                  </a:lnTo>
                  <a:lnTo>
                    <a:pt x="50546" y="0"/>
                  </a:lnTo>
                  <a:lnTo>
                    <a:pt x="1103122" y="0"/>
                  </a:lnTo>
                  <a:lnTo>
                    <a:pt x="1122807" y="3968"/>
                  </a:lnTo>
                  <a:lnTo>
                    <a:pt x="1138872" y="14795"/>
                  </a:lnTo>
                  <a:lnTo>
                    <a:pt x="1149699" y="30861"/>
                  </a:lnTo>
                  <a:lnTo>
                    <a:pt x="1153668" y="50546"/>
                  </a:lnTo>
                  <a:lnTo>
                    <a:pt x="1153668" y="455422"/>
                  </a:lnTo>
                  <a:lnTo>
                    <a:pt x="1149699" y="475107"/>
                  </a:lnTo>
                  <a:lnTo>
                    <a:pt x="1138872" y="491172"/>
                  </a:lnTo>
                  <a:lnTo>
                    <a:pt x="1122807" y="501999"/>
                  </a:lnTo>
                  <a:lnTo>
                    <a:pt x="1103122" y="505968"/>
                  </a:lnTo>
                  <a:lnTo>
                    <a:pt x="50546" y="505968"/>
                  </a:lnTo>
                  <a:lnTo>
                    <a:pt x="30860" y="501999"/>
                  </a:lnTo>
                  <a:lnTo>
                    <a:pt x="14795" y="491172"/>
                  </a:lnTo>
                  <a:lnTo>
                    <a:pt x="3968" y="475107"/>
                  </a:lnTo>
                  <a:lnTo>
                    <a:pt x="0" y="455422"/>
                  </a:lnTo>
                  <a:lnTo>
                    <a:pt x="0" y="5054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/>
          <p:cNvSpPr txBox="1"/>
          <p:nvPr/>
        </p:nvSpPr>
        <p:spPr>
          <a:xfrm>
            <a:off x="5494734" y="3081909"/>
            <a:ext cx="11372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2725">
              <a:lnSpc>
                <a:spcPct val="100000"/>
              </a:lnSpc>
              <a:spcBef>
                <a:spcPts val="100"/>
              </a:spcBef>
            </a:pPr>
            <a:r>
              <a:rPr dirty="0" sz="1800" spc="-355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für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390">
                <a:solidFill>
                  <a:srgbClr val="FFFFFF"/>
                </a:solidFill>
                <a:latin typeface="Arial"/>
                <a:cs typeface="Arial"/>
              </a:rPr>
              <a:t>ES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5480050" y="3617721"/>
            <a:ext cx="1166495" cy="518795"/>
            <a:chOff x="5480050" y="3617721"/>
            <a:chExt cx="1166495" cy="518795"/>
          </a:xfrm>
        </p:grpSpPr>
        <p:sp>
          <p:nvSpPr>
            <p:cNvPr id="80" name="object 80"/>
            <p:cNvSpPr/>
            <p:nvPr/>
          </p:nvSpPr>
          <p:spPr>
            <a:xfrm>
              <a:off x="5486400" y="3624071"/>
              <a:ext cx="1153795" cy="506095"/>
            </a:xfrm>
            <a:custGeom>
              <a:avLst/>
              <a:gdLst/>
              <a:ahLst/>
              <a:cxnLst/>
              <a:rect l="l" t="t" r="r" b="b"/>
              <a:pathLst>
                <a:path w="1153795" h="506095">
                  <a:moveTo>
                    <a:pt x="1103122" y="0"/>
                  </a:moveTo>
                  <a:lnTo>
                    <a:pt x="50546" y="0"/>
                  </a:lnTo>
                  <a:lnTo>
                    <a:pt x="30861" y="3968"/>
                  </a:lnTo>
                  <a:lnTo>
                    <a:pt x="14795" y="14795"/>
                  </a:lnTo>
                  <a:lnTo>
                    <a:pt x="3968" y="30860"/>
                  </a:lnTo>
                  <a:lnTo>
                    <a:pt x="0" y="50545"/>
                  </a:lnTo>
                  <a:lnTo>
                    <a:pt x="0" y="455421"/>
                  </a:lnTo>
                  <a:lnTo>
                    <a:pt x="3968" y="475106"/>
                  </a:lnTo>
                  <a:lnTo>
                    <a:pt x="14795" y="491172"/>
                  </a:lnTo>
                  <a:lnTo>
                    <a:pt x="30860" y="501999"/>
                  </a:lnTo>
                  <a:lnTo>
                    <a:pt x="50546" y="505967"/>
                  </a:lnTo>
                  <a:lnTo>
                    <a:pt x="1103122" y="505967"/>
                  </a:lnTo>
                  <a:lnTo>
                    <a:pt x="1122807" y="501999"/>
                  </a:lnTo>
                  <a:lnTo>
                    <a:pt x="1138872" y="491172"/>
                  </a:lnTo>
                  <a:lnTo>
                    <a:pt x="1149699" y="475106"/>
                  </a:lnTo>
                  <a:lnTo>
                    <a:pt x="1153668" y="455421"/>
                  </a:lnTo>
                  <a:lnTo>
                    <a:pt x="1153668" y="50545"/>
                  </a:lnTo>
                  <a:lnTo>
                    <a:pt x="1149699" y="30860"/>
                  </a:lnTo>
                  <a:lnTo>
                    <a:pt x="1138872" y="14795"/>
                  </a:lnTo>
                  <a:lnTo>
                    <a:pt x="1122807" y="3968"/>
                  </a:lnTo>
                  <a:lnTo>
                    <a:pt x="110312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5486400" y="3624071"/>
              <a:ext cx="1153795" cy="506095"/>
            </a:xfrm>
            <a:custGeom>
              <a:avLst/>
              <a:gdLst/>
              <a:ahLst/>
              <a:cxnLst/>
              <a:rect l="l" t="t" r="r" b="b"/>
              <a:pathLst>
                <a:path w="1153795" h="506095">
                  <a:moveTo>
                    <a:pt x="0" y="50545"/>
                  </a:moveTo>
                  <a:lnTo>
                    <a:pt x="3968" y="30860"/>
                  </a:lnTo>
                  <a:lnTo>
                    <a:pt x="14795" y="14795"/>
                  </a:lnTo>
                  <a:lnTo>
                    <a:pt x="30861" y="3968"/>
                  </a:lnTo>
                  <a:lnTo>
                    <a:pt x="50546" y="0"/>
                  </a:lnTo>
                  <a:lnTo>
                    <a:pt x="1103122" y="0"/>
                  </a:lnTo>
                  <a:lnTo>
                    <a:pt x="1122807" y="3968"/>
                  </a:lnTo>
                  <a:lnTo>
                    <a:pt x="1138872" y="14795"/>
                  </a:lnTo>
                  <a:lnTo>
                    <a:pt x="1149699" y="30860"/>
                  </a:lnTo>
                  <a:lnTo>
                    <a:pt x="1153668" y="50545"/>
                  </a:lnTo>
                  <a:lnTo>
                    <a:pt x="1153668" y="455421"/>
                  </a:lnTo>
                  <a:lnTo>
                    <a:pt x="1149699" y="475106"/>
                  </a:lnTo>
                  <a:lnTo>
                    <a:pt x="1138872" y="491172"/>
                  </a:lnTo>
                  <a:lnTo>
                    <a:pt x="1122807" y="501999"/>
                  </a:lnTo>
                  <a:lnTo>
                    <a:pt x="1103122" y="505967"/>
                  </a:lnTo>
                  <a:lnTo>
                    <a:pt x="50546" y="505967"/>
                  </a:lnTo>
                  <a:lnTo>
                    <a:pt x="30860" y="501999"/>
                  </a:lnTo>
                  <a:lnTo>
                    <a:pt x="14795" y="491172"/>
                  </a:lnTo>
                  <a:lnTo>
                    <a:pt x="3968" y="475106"/>
                  </a:lnTo>
                  <a:lnTo>
                    <a:pt x="0" y="455421"/>
                  </a:lnTo>
                  <a:lnTo>
                    <a:pt x="0" y="505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/>
          <p:cNvSpPr txBox="1"/>
          <p:nvPr/>
        </p:nvSpPr>
        <p:spPr>
          <a:xfrm>
            <a:off x="5494734" y="3712845"/>
            <a:ext cx="11372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5125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Rust</a:t>
            </a:r>
            <a:endParaRPr sz="18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123560" y="2348275"/>
            <a:ext cx="228600" cy="18497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 spc="-80">
                <a:solidFill>
                  <a:srgbClr val="1F4E79"/>
                </a:solidFill>
                <a:latin typeface="Arial"/>
                <a:cs typeface="Arial"/>
              </a:rPr>
              <a:t>Programmiersprachen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676401" y="3853941"/>
            <a:ext cx="1314450" cy="622300"/>
            <a:chOff x="676401" y="3853941"/>
            <a:chExt cx="1314450" cy="622300"/>
          </a:xfrm>
        </p:grpSpPr>
        <p:sp>
          <p:nvSpPr>
            <p:cNvPr id="85" name="object 85"/>
            <p:cNvSpPr/>
            <p:nvPr/>
          </p:nvSpPr>
          <p:spPr>
            <a:xfrm>
              <a:off x="682751" y="3860291"/>
              <a:ext cx="1301750" cy="609600"/>
            </a:xfrm>
            <a:custGeom>
              <a:avLst/>
              <a:gdLst/>
              <a:ahLst/>
              <a:cxnLst/>
              <a:rect l="l" t="t" r="r" b="b"/>
              <a:pathLst>
                <a:path w="1301750" h="609600">
                  <a:moveTo>
                    <a:pt x="1240536" y="0"/>
                  </a:moveTo>
                  <a:lnTo>
                    <a:pt x="60960" y="0"/>
                  </a:lnTo>
                  <a:lnTo>
                    <a:pt x="37231" y="4792"/>
                  </a:lnTo>
                  <a:lnTo>
                    <a:pt x="17854" y="17859"/>
                  </a:lnTo>
                  <a:lnTo>
                    <a:pt x="4790" y="37236"/>
                  </a:lnTo>
                  <a:lnTo>
                    <a:pt x="0" y="60960"/>
                  </a:lnTo>
                  <a:lnTo>
                    <a:pt x="0" y="548640"/>
                  </a:lnTo>
                  <a:lnTo>
                    <a:pt x="4790" y="572363"/>
                  </a:lnTo>
                  <a:lnTo>
                    <a:pt x="17854" y="591740"/>
                  </a:lnTo>
                  <a:lnTo>
                    <a:pt x="37231" y="604807"/>
                  </a:lnTo>
                  <a:lnTo>
                    <a:pt x="60960" y="609600"/>
                  </a:lnTo>
                  <a:lnTo>
                    <a:pt x="1240536" y="609600"/>
                  </a:lnTo>
                  <a:lnTo>
                    <a:pt x="1264259" y="604807"/>
                  </a:lnTo>
                  <a:lnTo>
                    <a:pt x="1283636" y="591740"/>
                  </a:lnTo>
                  <a:lnTo>
                    <a:pt x="1296703" y="572363"/>
                  </a:lnTo>
                  <a:lnTo>
                    <a:pt x="1301496" y="548640"/>
                  </a:lnTo>
                  <a:lnTo>
                    <a:pt x="1301496" y="60960"/>
                  </a:lnTo>
                  <a:lnTo>
                    <a:pt x="1296703" y="37236"/>
                  </a:lnTo>
                  <a:lnTo>
                    <a:pt x="1283636" y="17859"/>
                  </a:lnTo>
                  <a:lnTo>
                    <a:pt x="1264259" y="4792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682751" y="3860291"/>
              <a:ext cx="1301750" cy="609600"/>
            </a:xfrm>
            <a:custGeom>
              <a:avLst/>
              <a:gdLst/>
              <a:ahLst/>
              <a:cxnLst/>
              <a:rect l="l" t="t" r="r" b="b"/>
              <a:pathLst>
                <a:path w="1301750" h="609600">
                  <a:moveTo>
                    <a:pt x="0" y="60960"/>
                  </a:moveTo>
                  <a:lnTo>
                    <a:pt x="4790" y="37236"/>
                  </a:lnTo>
                  <a:lnTo>
                    <a:pt x="17854" y="17859"/>
                  </a:lnTo>
                  <a:lnTo>
                    <a:pt x="37231" y="4792"/>
                  </a:lnTo>
                  <a:lnTo>
                    <a:pt x="60960" y="0"/>
                  </a:lnTo>
                  <a:lnTo>
                    <a:pt x="1240536" y="0"/>
                  </a:lnTo>
                  <a:lnTo>
                    <a:pt x="1264259" y="4792"/>
                  </a:lnTo>
                  <a:lnTo>
                    <a:pt x="1283636" y="17859"/>
                  </a:lnTo>
                  <a:lnTo>
                    <a:pt x="1296703" y="37236"/>
                  </a:lnTo>
                  <a:lnTo>
                    <a:pt x="1301496" y="60960"/>
                  </a:lnTo>
                  <a:lnTo>
                    <a:pt x="1301496" y="548640"/>
                  </a:lnTo>
                  <a:lnTo>
                    <a:pt x="1296703" y="572363"/>
                  </a:lnTo>
                  <a:lnTo>
                    <a:pt x="1283636" y="591740"/>
                  </a:lnTo>
                  <a:lnTo>
                    <a:pt x="1264259" y="604807"/>
                  </a:lnTo>
                  <a:lnTo>
                    <a:pt x="1240536" y="609600"/>
                  </a:lnTo>
                  <a:lnTo>
                    <a:pt x="60960" y="609600"/>
                  </a:lnTo>
                  <a:lnTo>
                    <a:pt x="37231" y="604807"/>
                  </a:lnTo>
                  <a:lnTo>
                    <a:pt x="17854" y="591740"/>
                  </a:lnTo>
                  <a:lnTo>
                    <a:pt x="4790" y="572363"/>
                  </a:lnTo>
                  <a:lnTo>
                    <a:pt x="0" y="548640"/>
                  </a:lnTo>
                  <a:lnTo>
                    <a:pt x="0" y="609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702563" y="3878579"/>
              <a:ext cx="1262380" cy="573405"/>
            </a:xfrm>
            <a:custGeom>
              <a:avLst/>
              <a:gdLst/>
              <a:ahLst/>
              <a:cxnLst/>
              <a:rect l="l" t="t" r="r" b="b"/>
              <a:pathLst>
                <a:path w="1262380" h="573404">
                  <a:moveTo>
                    <a:pt x="1261872" y="0"/>
                  </a:moveTo>
                  <a:lnTo>
                    <a:pt x="0" y="0"/>
                  </a:lnTo>
                  <a:lnTo>
                    <a:pt x="0" y="573024"/>
                  </a:lnTo>
                  <a:lnTo>
                    <a:pt x="1261872" y="573024"/>
                  </a:lnTo>
                  <a:lnTo>
                    <a:pt x="126187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>
            <a:off x="830986" y="3897248"/>
            <a:ext cx="1002030" cy="48831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 marR="5080" indent="118745">
              <a:lnSpc>
                <a:spcPts val="1730"/>
              </a:lnSpc>
              <a:spcBef>
                <a:spcPts val="310"/>
              </a:spcBef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1600" spc="-85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2184400" y="4066794"/>
            <a:ext cx="469900" cy="440690"/>
            <a:chOff x="2184400" y="4066794"/>
            <a:chExt cx="469900" cy="440690"/>
          </a:xfrm>
        </p:grpSpPr>
        <p:sp>
          <p:nvSpPr>
            <p:cNvPr id="90" name="object 90"/>
            <p:cNvSpPr/>
            <p:nvPr/>
          </p:nvSpPr>
          <p:spPr>
            <a:xfrm>
              <a:off x="2190750" y="4073144"/>
              <a:ext cx="457200" cy="427990"/>
            </a:xfrm>
            <a:custGeom>
              <a:avLst/>
              <a:gdLst/>
              <a:ahLst/>
              <a:cxnLst/>
              <a:rect l="l" t="t" r="r" b="b"/>
              <a:pathLst>
                <a:path w="457200" h="427989">
                  <a:moveTo>
                    <a:pt x="129667" y="0"/>
                  </a:moveTo>
                  <a:lnTo>
                    <a:pt x="0" y="160019"/>
                  </a:lnTo>
                  <a:lnTo>
                    <a:pt x="231902" y="347979"/>
                  </a:lnTo>
                  <a:lnTo>
                    <a:pt x="167132" y="427989"/>
                  </a:lnTo>
                  <a:lnTo>
                    <a:pt x="456819" y="397636"/>
                  </a:lnTo>
                  <a:lnTo>
                    <a:pt x="426466" y="107949"/>
                  </a:lnTo>
                  <a:lnTo>
                    <a:pt x="361569" y="187959"/>
                  </a:lnTo>
                  <a:lnTo>
                    <a:pt x="12966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2190750" y="4073144"/>
              <a:ext cx="457200" cy="427990"/>
            </a:xfrm>
            <a:custGeom>
              <a:avLst/>
              <a:gdLst/>
              <a:ahLst/>
              <a:cxnLst/>
              <a:rect l="l" t="t" r="r" b="b"/>
              <a:pathLst>
                <a:path w="457200" h="427989">
                  <a:moveTo>
                    <a:pt x="129667" y="0"/>
                  </a:moveTo>
                  <a:lnTo>
                    <a:pt x="361569" y="187959"/>
                  </a:lnTo>
                  <a:lnTo>
                    <a:pt x="426466" y="107949"/>
                  </a:lnTo>
                  <a:lnTo>
                    <a:pt x="456819" y="397636"/>
                  </a:lnTo>
                  <a:lnTo>
                    <a:pt x="167132" y="427989"/>
                  </a:lnTo>
                  <a:lnTo>
                    <a:pt x="231902" y="347979"/>
                  </a:lnTo>
                  <a:lnTo>
                    <a:pt x="0" y="160019"/>
                  </a:lnTo>
                  <a:lnTo>
                    <a:pt x="129667" y="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2" name="object 92"/>
          <p:cNvGrpSpPr/>
          <p:nvPr/>
        </p:nvGrpSpPr>
        <p:grpSpPr>
          <a:xfrm>
            <a:off x="6773671" y="4334890"/>
            <a:ext cx="469900" cy="440690"/>
            <a:chOff x="6773671" y="4334890"/>
            <a:chExt cx="469900" cy="440690"/>
          </a:xfrm>
        </p:grpSpPr>
        <p:sp>
          <p:nvSpPr>
            <p:cNvPr id="93" name="object 93"/>
            <p:cNvSpPr/>
            <p:nvPr/>
          </p:nvSpPr>
          <p:spPr>
            <a:xfrm>
              <a:off x="6780021" y="4341240"/>
              <a:ext cx="457200" cy="427990"/>
            </a:xfrm>
            <a:custGeom>
              <a:avLst/>
              <a:gdLst/>
              <a:ahLst/>
              <a:cxnLst/>
              <a:rect l="l" t="t" r="r" b="b"/>
              <a:pathLst>
                <a:path w="457200" h="427989">
                  <a:moveTo>
                    <a:pt x="129794" y="0"/>
                  </a:moveTo>
                  <a:lnTo>
                    <a:pt x="0" y="160019"/>
                  </a:lnTo>
                  <a:lnTo>
                    <a:pt x="232029" y="347979"/>
                  </a:lnTo>
                  <a:lnTo>
                    <a:pt x="167132" y="427989"/>
                  </a:lnTo>
                  <a:lnTo>
                    <a:pt x="456819" y="397636"/>
                  </a:lnTo>
                  <a:lnTo>
                    <a:pt x="426466" y="107949"/>
                  </a:lnTo>
                  <a:lnTo>
                    <a:pt x="361696" y="187959"/>
                  </a:lnTo>
                  <a:lnTo>
                    <a:pt x="12979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80021" y="4341240"/>
              <a:ext cx="457200" cy="427990"/>
            </a:xfrm>
            <a:custGeom>
              <a:avLst/>
              <a:gdLst/>
              <a:ahLst/>
              <a:cxnLst/>
              <a:rect l="l" t="t" r="r" b="b"/>
              <a:pathLst>
                <a:path w="457200" h="427989">
                  <a:moveTo>
                    <a:pt x="129794" y="0"/>
                  </a:moveTo>
                  <a:lnTo>
                    <a:pt x="361696" y="187959"/>
                  </a:lnTo>
                  <a:lnTo>
                    <a:pt x="426466" y="107949"/>
                  </a:lnTo>
                  <a:lnTo>
                    <a:pt x="456819" y="397636"/>
                  </a:lnTo>
                  <a:lnTo>
                    <a:pt x="167132" y="427989"/>
                  </a:lnTo>
                  <a:lnTo>
                    <a:pt x="232029" y="347979"/>
                  </a:lnTo>
                  <a:lnTo>
                    <a:pt x="0" y="160019"/>
                  </a:lnTo>
                  <a:lnTo>
                    <a:pt x="129794" y="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0584" y="266192"/>
            <a:ext cx="121666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5"/>
              <a:t>Inhalt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25360"/>
            <a:ext cx="2714625" cy="260921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4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dirty="0" sz="2400" spc="-10">
                <a:latin typeface="Arial"/>
                <a:cs typeface="Arial"/>
              </a:rPr>
              <a:t>Einführung</a:t>
            </a:r>
            <a:endParaRPr sz="24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25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dirty="0" sz="2400" spc="-45">
                <a:latin typeface="Arial"/>
                <a:cs typeface="Arial"/>
              </a:rPr>
              <a:t>Temporallogik</a:t>
            </a:r>
            <a:endParaRPr sz="2400">
              <a:latin typeface="Arial"/>
              <a:cs typeface="Arial"/>
            </a:endParaRPr>
          </a:p>
          <a:p>
            <a:pPr lvl="1" marL="697865" indent="-227965">
              <a:lnSpc>
                <a:spcPct val="100000"/>
              </a:lnSpc>
              <a:spcBef>
                <a:spcPts val="20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697865" algn="l"/>
              </a:tabLst>
            </a:pPr>
            <a:r>
              <a:rPr dirty="0" sz="2400" spc="-30">
                <a:latin typeface="Arial"/>
                <a:cs typeface="Arial"/>
              </a:rPr>
              <a:t>Grundlagen</a:t>
            </a:r>
            <a:endParaRPr sz="2400">
              <a:latin typeface="Arial"/>
              <a:cs typeface="Arial"/>
            </a:endParaRPr>
          </a:p>
          <a:p>
            <a:pPr lvl="1" marL="697865" indent="-227965">
              <a:lnSpc>
                <a:spcPct val="100000"/>
              </a:lnSpc>
              <a:spcBef>
                <a:spcPts val="219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697865" algn="l"/>
              </a:tabLst>
            </a:pPr>
            <a:r>
              <a:rPr dirty="0" sz="2400" spc="-325">
                <a:latin typeface="Arial"/>
                <a:cs typeface="Arial"/>
              </a:rPr>
              <a:t>UPPAAL</a:t>
            </a:r>
            <a:r>
              <a:rPr dirty="0" sz="2400" spc="-105">
                <a:latin typeface="Arial"/>
                <a:cs typeface="Arial"/>
              </a:rPr>
              <a:t> Queries</a:t>
            </a:r>
            <a:endParaRPr sz="24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1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dirty="0" sz="2400" spc="-70">
                <a:latin typeface="Arial"/>
                <a:cs typeface="Arial"/>
              </a:rPr>
              <a:t>Verifikation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von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390">
                <a:latin typeface="Arial"/>
                <a:cs typeface="Arial"/>
              </a:rPr>
              <a:t>TA</a:t>
            </a:r>
            <a:endParaRPr sz="24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2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dirty="0" sz="2400" spc="-145">
                <a:latin typeface="Arial"/>
                <a:cs typeface="Arial"/>
              </a:rPr>
              <a:t>Fazit</a:t>
            </a:r>
            <a:r>
              <a:rPr dirty="0" sz="2400" spc="-140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+</a:t>
            </a:r>
            <a:r>
              <a:rPr dirty="0" sz="2400" spc="-13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Literatur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81125"/>
            <a:ext cx="7186295" cy="41929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95">
                <a:latin typeface="Arial"/>
                <a:cs typeface="Arial"/>
              </a:rPr>
              <a:t>Bis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jetzt: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Validierung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+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70">
                <a:latin typeface="Arial"/>
                <a:cs typeface="Arial"/>
              </a:rPr>
              <a:t>Verifikation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mit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Tests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spc="-229">
                <a:latin typeface="Arial"/>
                <a:cs typeface="Arial"/>
              </a:rPr>
              <a:t>Tests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130">
                <a:latin typeface="Arial"/>
                <a:cs typeface="Arial"/>
              </a:rPr>
              <a:t>haben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65" b="1">
                <a:latin typeface="Arial"/>
                <a:cs typeface="Arial"/>
              </a:rPr>
              <a:t>Grenzen:</a:t>
            </a:r>
            <a:endParaRPr sz="24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Clr>
                <a:srgbClr val="2D75B6"/>
              </a:buClr>
              <a:buSzPct val="109523"/>
              <a:buFont typeface="Wingdings"/>
              <a:buChar char=""/>
              <a:tabLst>
                <a:tab pos="240665" algn="l"/>
              </a:tabLst>
            </a:pPr>
            <a:r>
              <a:rPr dirty="0" sz="2100" spc="-204" b="1">
                <a:latin typeface="Arial"/>
                <a:cs typeface="Arial"/>
              </a:rPr>
              <a:t>Explosion</a:t>
            </a:r>
            <a:r>
              <a:rPr dirty="0" sz="2100" spc="-100" b="1">
                <a:latin typeface="Arial"/>
                <a:cs typeface="Arial"/>
              </a:rPr>
              <a:t> </a:t>
            </a:r>
            <a:r>
              <a:rPr dirty="0" sz="2100" spc="-130" b="1">
                <a:latin typeface="Arial"/>
                <a:cs typeface="Arial"/>
              </a:rPr>
              <a:t>der</a:t>
            </a:r>
            <a:r>
              <a:rPr dirty="0" sz="2100" spc="-70" b="1">
                <a:latin typeface="Arial"/>
                <a:cs typeface="Arial"/>
              </a:rPr>
              <a:t> </a:t>
            </a:r>
            <a:r>
              <a:rPr dirty="0" sz="2100" spc="-175" b="1">
                <a:latin typeface="Arial"/>
                <a:cs typeface="Arial"/>
              </a:rPr>
              <a:t>Anzahl</a:t>
            </a:r>
            <a:r>
              <a:rPr dirty="0" sz="2100" spc="-90" b="1">
                <a:latin typeface="Arial"/>
                <a:cs typeface="Arial"/>
              </a:rPr>
              <a:t> </a:t>
            </a:r>
            <a:r>
              <a:rPr dirty="0" sz="2100" spc="-130" b="1">
                <a:latin typeface="Arial"/>
                <a:cs typeface="Arial"/>
              </a:rPr>
              <a:t>der</a:t>
            </a:r>
            <a:r>
              <a:rPr dirty="0" sz="2100" spc="-80" b="1">
                <a:latin typeface="Arial"/>
                <a:cs typeface="Arial"/>
              </a:rPr>
              <a:t> </a:t>
            </a:r>
            <a:r>
              <a:rPr dirty="0" sz="2100" spc="-155" b="1">
                <a:latin typeface="Arial"/>
                <a:cs typeface="Arial"/>
              </a:rPr>
              <a:t>Testfälle</a:t>
            </a:r>
            <a:r>
              <a:rPr dirty="0" sz="2100" spc="-60" b="1">
                <a:latin typeface="Arial"/>
                <a:cs typeface="Arial"/>
              </a:rPr>
              <a:t> </a:t>
            </a:r>
            <a:r>
              <a:rPr dirty="0" sz="2100" spc="-65">
                <a:latin typeface="Arial"/>
                <a:cs typeface="Arial"/>
              </a:rPr>
              <a:t>bei</a:t>
            </a:r>
            <a:r>
              <a:rPr dirty="0" sz="2100" spc="-85">
                <a:latin typeface="Arial"/>
                <a:cs typeface="Arial"/>
              </a:rPr>
              <a:t> </a:t>
            </a:r>
            <a:r>
              <a:rPr dirty="0" sz="2100" spc="-10">
                <a:latin typeface="Arial"/>
                <a:cs typeface="Arial"/>
              </a:rPr>
              <a:t>Nebenläufigkeit</a:t>
            </a:r>
            <a:endParaRPr sz="2100">
              <a:latin typeface="Arial"/>
              <a:cs typeface="Arial"/>
            </a:endParaRPr>
          </a:p>
          <a:p>
            <a:pPr marL="241300" marR="603885" indent="-228600">
              <a:lnSpc>
                <a:spcPts val="2270"/>
              </a:lnSpc>
              <a:spcBef>
                <a:spcPts val="1030"/>
              </a:spcBef>
              <a:buClr>
                <a:srgbClr val="2D75B6"/>
              </a:buClr>
              <a:buSzPct val="109523"/>
              <a:buFont typeface="Wingdings"/>
              <a:buChar char=""/>
              <a:tabLst>
                <a:tab pos="241300" algn="l"/>
              </a:tabLst>
            </a:pPr>
            <a:r>
              <a:rPr dirty="0" sz="2100" spc="-165" b="1">
                <a:latin typeface="Arial"/>
                <a:cs typeface="Arial"/>
              </a:rPr>
              <a:t>Unendliches</a:t>
            </a:r>
            <a:r>
              <a:rPr dirty="0" sz="2100" spc="-75" b="1">
                <a:latin typeface="Arial"/>
                <a:cs typeface="Arial"/>
              </a:rPr>
              <a:t> </a:t>
            </a:r>
            <a:r>
              <a:rPr dirty="0" sz="2100" spc="-125" b="1">
                <a:latin typeface="Arial"/>
                <a:cs typeface="Arial"/>
              </a:rPr>
              <a:t>Verhalten</a:t>
            </a:r>
            <a:r>
              <a:rPr dirty="0" sz="2100" spc="-45" b="1">
                <a:latin typeface="Arial"/>
                <a:cs typeface="Arial"/>
              </a:rPr>
              <a:t> </a:t>
            </a:r>
            <a:r>
              <a:rPr dirty="0" sz="2100" spc="-50">
                <a:latin typeface="Arial"/>
                <a:cs typeface="Arial"/>
              </a:rPr>
              <a:t>nichtterminierender</a:t>
            </a:r>
            <a:r>
              <a:rPr dirty="0" sz="2100" spc="-40">
                <a:latin typeface="Arial"/>
                <a:cs typeface="Arial"/>
              </a:rPr>
              <a:t> </a:t>
            </a:r>
            <a:r>
              <a:rPr dirty="0" sz="2100" spc="-160">
                <a:latin typeface="Arial"/>
                <a:cs typeface="Arial"/>
              </a:rPr>
              <a:t>Systeme</a:t>
            </a:r>
            <a:r>
              <a:rPr dirty="0" sz="2100" spc="-45">
                <a:latin typeface="Arial"/>
                <a:cs typeface="Arial"/>
              </a:rPr>
              <a:t> </a:t>
            </a:r>
            <a:r>
              <a:rPr dirty="0" sz="2100" spc="-100" b="1">
                <a:latin typeface="Arial"/>
                <a:cs typeface="Arial"/>
              </a:rPr>
              <a:t>nicht </a:t>
            </a:r>
            <a:r>
              <a:rPr dirty="0" sz="2100" spc="-60" b="1">
                <a:latin typeface="Arial"/>
                <a:cs typeface="Arial"/>
              </a:rPr>
              <a:t>abgedeckt</a:t>
            </a:r>
            <a:endParaRPr sz="21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10"/>
              </a:spcBef>
              <a:buClr>
                <a:srgbClr val="2D75B6"/>
              </a:buClr>
              <a:buSzPct val="109523"/>
              <a:buFont typeface="Wingdings"/>
              <a:buChar char=""/>
              <a:tabLst>
                <a:tab pos="240665" algn="l"/>
              </a:tabLst>
            </a:pPr>
            <a:r>
              <a:rPr dirty="0" sz="2100" spc="-204">
                <a:latin typeface="Arial"/>
                <a:cs typeface="Arial"/>
              </a:rPr>
              <a:t>Tests</a:t>
            </a:r>
            <a:r>
              <a:rPr dirty="0" sz="2100" spc="-65">
                <a:latin typeface="Arial"/>
                <a:cs typeface="Arial"/>
              </a:rPr>
              <a:t> </a:t>
            </a:r>
            <a:r>
              <a:rPr dirty="0" sz="2100" spc="-105">
                <a:latin typeface="Arial"/>
                <a:cs typeface="Arial"/>
              </a:rPr>
              <a:t>können</a:t>
            </a:r>
            <a:r>
              <a:rPr dirty="0" sz="2100" spc="-95">
                <a:latin typeface="Arial"/>
                <a:cs typeface="Arial"/>
              </a:rPr>
              <a:t> </a:t>
            </a:r>
            <a:r>
              <a:rPr dirty="0" sz="2100" spc="-35">
                <a:latin typeface="Arial"/>
                <a:cs typeface="Arial"/>
              </a:rPr>
              <a:t>nur</a:t>
            </a:r>
            <a:r>
              <a:rPr dirty="0" sz="2100" spc="-90">
                <a:latin typeface="Arial"/>
                <a:cs typeface="Arial"/>
              </a:rPr>
              <a:t> </a:t>
            </a:r>
            <a:r>
              <a:rPr dirty="0" sz="2100" spc="-120">
                <a:latin typeface="Arial"/>
                <a:cs typeface="Arial"/>
              </a:rPr>
              <a:t>Fehler</a:t>
            </a:r>
            <a:r>
              <a:rPr dirty="0" sz="2100" spc="-65">
                <a:latin typeface="Arial"/>
                <a:cs typeface="Arial"/>
              </a:rPr>
              <a:t> </a:t>
            </a:r>
            <a:r>
              <a:rPr dirty="0" sz="2100" spc="-45">
                <a:latin typeface="Arial"/>
                <a:cs typeface="Arial"/>
              </a:rPr>
              <a:t>finden,</a:t>
            </a:r>
            <a:r>
              <a:rPr dirty="0" sz="2100" spc="-75">
                <a:latin typeface="Arial"/>
                <a:cs typeface="Arial"/>
              </a:rPr>
              <a:t> </a:t>
            </a:r>
            <a:r>
              <a:rPr dirty="0" sz="2100" spc="-125" b="1">
                <a:latin typeface="Arial"/>
                <a:cs typeface="Arial"/>
              </a:rPr>
              <a:t>nie</a:t>
            </a:r>
            <a:r>
              <a:rPr dirty="0" sz="2100" spc="-95" b="1">
                <a:latin typeface="Arial"/>
                <a:cs typeface="Arial"/>
              </a:rPr>
              <a:t> </a:t>
            </a:r>
            <a:r>
              <a:rPr dirty="0" sz="2100" spc="-75" b="1">
                <a:latin typeface="Arial"/>
                <a:cs typeface="Arial"/>
              </a:rPr>
              <a:t>ausschließen!</a:t>
            </a:r>
            <a:endParaRPr sz="21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7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80">
                <a:latin typeface="Arial"/>
                <a:cs typeface="Arial"/>
              </a:rPr>
              <a:t>Bestimmte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114">
                <a:latin typeface="Arial"/>
                <a:cs typeface="Arial"/>
              </a:rPr>
              <a:t>Eigenschaften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sind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35" b="1">
                <a:latin typeface="Arial"/>
                <a:cs typeface="Arial"/>
              </a:rPr>
              <a:t>nicht</a:t>
            </a:r>
            <a:r>
              <a:rPr dirty="0" sz="2000" spc="-95" b="1">
                <a:latin typeface="Arial"/>
                <a:cs typeface="Arial"/>
              </a:rPr>
              <a:t> </a:t>
            </a:r>
            <a:r>
              <a:rPr dirty="0" sz="2000" spc="-155" b="1">
                <a:latin typeface="Arial"/>
                <a:cs typeface="Arial"/>
              </a:rPr>
              <a:t>bzw.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 spc="-175" b="1">
                <a:latin typeface="Arial"/>
                <a:cs typeface="Arial"/>
              </a:rPr>
              <a:t>schwer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130" b="1">
                <a:latin typeface="Arial"/>
                <a:cs typeface="Arial"/>
              </a:rPr>
              <a:t>testbar.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Beispiele:</a:t>
            </a:r>
            <a:endParaRPr sz="2000">
              <a:latin typeface="Arial"/>
              <a:cs typeface="Arial"/>
            </a:endParaRPr>
          </a:p>
          <a:p>
            <a:pPr lvl="1" marL="697865" indent="-227965">
              <a:lnSpc>
                <a:spcPct val="100000"/>
              </a:lnSpc>
              <a:spcBef>
                <a:spcPts val="26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697865" algn="l"/>
              </a:tabLst>
            </a:pPr>
            <a:r>
              <a:rPr dirty="0" sz="2000" spc="-130">
                <a:latin typeface="Arial"/>
                <a:cs typeface="Arial"/>
              </a:rPr>
              <a:t>Keine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125">
                <a:latin typeface="Arial"/>
                <a:cs typeface="Arial"/>
              </a:rPr>
              <a:t>Deadlocks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vorhanden</a:t>
            </a:r>
            <a:endParaRPr sz="2000">
              <a:latin typeface="Arial"/>
              <a:cs typeface="Arial"/>
            </a:endParaRPr>
          </a:p>
          <a:p>
            <a:pPr lvl="1" marL="697865" indent="-227965">
              <a:lnSpc>
                <a:spcPts val="2280"/>
              </a:lnSpc>
              <a:spcBef>
                <a:spcPts val="254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697865" algn="l"/>
              </a:tabLst>
            </a:pPr>
            <a:r>
              <a:rPr dirty="0" sz="2000" spc="-295">
                <a:latin typeface="Arial"/>
                <a:cs typeface="Arial"/>
              </a:rPr>
              <a:t>Es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ist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70" i="1">
                <a:latin typeface="Arial"/>
                <a:cs typeface="Arial"/>
              </a:rPr>
              <a:t>immer</a:t>
            </a:r>
            <a:r>
              <a:rPr dirty="0" sz="2000" spc="-90" i="1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möglich,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160">
                <a:latin typeface="Arial"/>
                <a:cs typeface="Arial"/>
              </a:rPr>
              <a:t>das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155">
                <a:latin typeface="Arial"/>
                <a:cs typeface="Arial"/>
              </a:rPr>
              <a:t>System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in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einen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sicheren</a:t>
            </a:r>
            <a:endParaRPr sz="2000">
              <a:latin typeface="Arial"/>
              <a:cs typeface="Arial"/>
            </a:endParaRPr>
          </a:p>
          <a:p>
            <a:pPr marL="697865">
              <a:lnSpc>
                <a:spcPts val="2280"/>
              </a:lnSpc>
            </a:pPr>
            <a:r>
              <a:rPr dirty="0" sz="2000" spc="-95">
                <a:latin typeface="Arial"/>
                <a:cs typeface="Arial"/>
              </a:rPr>
              <a:t>Operationsmodus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55">
                <a:latin typeface="Arial"/>
                <a:cs typeface="Arial"/>
              </a:rPr>
              <a:t>zu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bringen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35"/>
              <a:t>Modelchecking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281125"/>
            <a:ext cx="6842759" cy="2016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40"/>
              </a:lnSpc>
              <a:spcBef>
                <a:spcPts val="100"/>
              </a:spcBef>
            </a:pPr>
            <a:r>
              <a:rPr dirty="0" sz="2400" spc="-170" b="1">
                <a:latin typeface="Arial"/>
                <a:cs typeface="Arial"/>
              </a:rPr>
              <a:t>Modelchecker</a:t>
            </a:r>
            <a:r>
              <a:rPr dirty="0" sz="2400" spc="-114" b="1">
                <a:latin typeface="Arial"/>
                <a:cs typeface="Arial"/>
              </a:rPr>
              <a:t> </a:t>
            </a:r>
            <a:r>
              <a:rPr dirty="0" sz="2400" spc="-70">
                <a:latin typeface="Arial"/>
                <a:cs typeface="Arial"/>
              </a:rPr>
              <a:t>prüfen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100">
                <a:latin typeface="Arial"/>
                <a:cs typeface="Arial"/>
              </a:rPr>
              <a:t>einen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100">
                <a:latin typeface="Arial"/>
                <a:cs typeface="Arial"/>
              </a:rPr>
              <a:t>endlichen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Zustandsraum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40"/>
              </a:lnSpc>
            </a:pPr>
            <a:r>
              <a:rPr dirty="0" sz="2400" spc="-95">
                <a:latin typeface="Arial"/>
                <a:cs typeface="Arial"/>
              </a:rPr>
              <a:t>vollständig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80">
                <a:latin typeface="Arial"/>
                <a:cs typeface="Arial"/>
              </a:rPr>
              <a:t>auf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00">
                <a:latin typeface="Arial"/>
                <a:cs typeface="Arial"/>
              </a:rPr>
              <a:t>mögliche</a:t>
            </a:r>
            <a:r>
              <a:rPr dirty="0" sz="2400" spc="-114">
                <a:latin typeface="Arial"/>
                <a:cs typeface="Arial"/>
              </a:rPr>
              <a:t> Verletzung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65">
                <a:latin typeface="Arial"/>
                <a:cs typeface="Arial"/>
              </a:rPr>
              <a:t>einer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Spezifikation:</a:t>
            </a:r>
            <a:endParaRPr sz="24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lr>
                <a:srgbClr val="2D75B6"/>
              </a:buClr>
              <a:buSzPct val="109090"/>
              <a:buFont typeface="Wingdings"/>
              <a:buChar char=""/>
              <a:tabLst>
                <a:tab pos="240665" algn="l"/>
              </a:tabLst>
            </a:pPr>
            <a:r>
              <a:rPr dirty="0" sz="2200" spc="-95">
                <a:latin typeface="Arial"/>
                <a:cs typeface="Arial"/>
              </a:rPr>
              <a:t>mathematisch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fundiert</a:t>
            </a:r>
            <a:endParaRPr sz="22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Clr>
                <a:srgbClr val="2D75B6"/>
              </a:buClr>
              <a:buSzPct val="109090"/>
              <a:buFont typeface="Wingdings"/>
              <a:buChar char=""/>
              <a:tabLst>
                <a:tab pos="240665" algn="l"/>
              </a:tabLst>
            </a:pPr>
            <a:r>
              <a:rPr dirty="0" sz="2200" spc="-10">
                <a:latin typeface="Arial"/>
                <a:cs typeface="Arial"/>
              </a:rPr>
              <a:t>vollautomatisch</a:t>
            </a:r>
            <a:endParaRPr sz="22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Clr>
                <a:srgbClr val="2D75B6"/>
              </a:buClr>
              <a:buSzPct val="109090"/>
              <a:buFont typeface="Wingdings"/>
              <a:buChar char=""/>
              <a:tabLst>
                <a:tab pos="240665" algn="l"/>
              </a:tabLst>
            </a:pPr>
            <a:r>
              <a:rPr dirty="0" sz="2200" spc="-85">
                <a:latin typeface="Arial"/>
                <a:cs typeface="Arial"/>
              </a:rPr>
              <a:t>In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295">
                <a:latin typeface="Arial"/>
                <a:cs typeface="Arial"/>
              </a:rPr>
              <a:t>UPPAAL</a:t>
            </a:r>
            <a:r>
              <a:rPr dirty="0" sz="2200" spc="-8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für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 spc="-120">
                <a:latin typeface="Arial"/>
                <a:cs typeface="Arial"/>
              </a:rPr>
              <a:t>Timed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 spc="-90">
                <a:latin typeface="Arial"/>
                <a:cs typeface="Arial"/>
              </a:rPr>
              <a:t>Automata</a:t>
            </a:r>
            <a:r>
              <a:rPr dirty="0" sz="2200" spc="-6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implementiert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4" name="object 4" descr="Ein Bild, das Screenshot enthält.  Automatisch generierte Beschreibu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412" y="3486911"/>
            <a:ext cx="3601208" cy="26898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45"/>
              <a:t>Modelchecking</a:t>
            </a:r>
            <a:r>
              <a:rPr dirty="0" sz="3600" spc="-160"/>
              <a:t> </a:t>
            </a:r>
            <a:r>
              <a:rPr dirty="0" sz="3600"/>
              <a:t>mit</a:t>
            </a:r>
            <a:r>
              <a:rPr dirty="0" sz="3600" spc="-135"/>
              <a:t> </a:t>
            </a:r>
            <a:r>
              <a:rPr dirty="0" sz="3600" spc="-190"/>
              <a:t>Timed</a:t>
            </a:r>
            <a:r>
              <a:rPr dirty="0" sz="3600" spc="-145"/>
              <a:t> </a:t>
            </a:r>
            <a:r>
              <a:rPr dirty="0" sz="3600" spc="-90"/>
              <a:t>Automata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290574"/>
            <a:ext cx="7353300" cy="605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dirty="0" sz="2000" spc="-215">
                <a:latin typeface="Arial"/>
                <a:cs typeface="Arial"/>
              </a:rPr>
              <a:t>Das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45" b="1">
                <a:latin typeface="Arial"/>
                <a:cs typeface="Arial"/>
              </a:rPr>
              <a:t>endliche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spc="-180" b="1">
                <a:latin typeface="Arial"/>
                <a:cs typeface="Arial"/>
              </a:rPr>
              <a:t>Transitionssystem</a:t>
            </a:r>
            <a:r>
              <a:rPr dirty="0" sz="2000" spc="-105" b="1">
                <a:latin typeface="Arial"/>
                <a:cs typeface="Arial"/>
              </a:rPr>
              <a:t> </a:t>
            </a:r>
            <a:r>
              <a:rPr dirty="0" sz="2000" spc="-110">
                <a:latin typeface="Arial"/>
                <a:cs typeface="Arial"/>
              </a:rPr>
              <a:t>eines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endlichen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60">
                <a:latin typeface="Arial"/>
                <a:cs typeface="Arial"/>
              </a:rPr>
              <a:t>Automaten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100" i="1">
                <a:latin typeface="Arial"/>
                <a:cs typeface="Arial"/>
              </a:rPr>
              <a:t>(ohne</a:t>
            </a:r>
            <a:r>
              <a:rPr dirty="0" sz="2000" spc="-95" i="1">
                <a:latin typeface="Arial"/>
                <a:cs typeface="Arial"/>
              </a:rPr>
              <a:t> </a:t>
            </a:r>
            <a:r>
              <a:rPr dirty="0" sz="2000" spc="-10" i="1">
                <a:latin typeface="Arial"/>
                <a:cs typeface="Arial"/>
              </a:rPr>
              <a:t>Zeit)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</a:pPr>
            <a:r>
              <a:rPr dirty="0" sz="2000" spc="-55">
                <a:latin typeface="Arial"/>
                <a:cs typeface="Arial"/>
              </a:rPr>
              <a:t>generiert</a:t>
            </a:r>
            <a:r>
              <a:rPr dirty="0" sz="2000" spc="-80">
                <a:latin typeface="Arial"/>
                <a:cs typeface="Arial"/>
              </a:rPr>
              <a:t> einen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45" b="1">
                <a:latin typeface="Arial"/>
                <a:cs typeface="Arial"/>
              </a:rPr>
              <a:t>unendlichen</a:t>
            </a:r>
            <a:r>
              <a:rPr dirty="0" sz="2000" spc="-105" b="1">
                <a:latin typeface="Arial"/>
                <a:cs typeface="Arial"/>
              </a:rPr>
              <a:t> </a:t>
            </a:r>
            <a:r>
              <a:rPr dirty="0" sz="2000" spc="-200" b="1">
                <a:latin typeface="Arial"/>
                <a:cs typeface="Arial"/>
              </a:rPr>
              <a:t>Baum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(mögliche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Pfade):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30570" y="2396998"/>
            <a:ext cx="1363345" cy="543560"/>
            <a:chOff x="5830570" y="2396998"/>
            <a:chExt cx="1363345" cy="543560"/>
          </a:xfrm>
        </p:grpSpPr>
        <p:sp>
          <p:nvSpPr>
            <p:cNvPr id="5" name="object 5"/>
            <p:cNvSpPr/>
            <p:nvPr/>
          </p:nvSpPr>
          <p:spPr>
            <a:xfrm>
              <a:off x="5836920" y="2403348"/>
              <a:ext cx="535305" cy="203200"/>
            </a:xfrm>
            <a:custGeom>
              <a:avLst/>
              <a:gdLst/>
              <a:ahLst/>
              <a:cxnLst/>
              <a:rect l="l" t="t" r="r" b="b"/>
              <a:pathLst>
                <a:path w="535304" h="203200">
                  <a:moveTo>
                    <a:pt x="534924" y="0"/>
                  </a:moveTo>
                  <a:lnTo>
                    <a:pt x="0" y="202946"/>
                  </a:lnTo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71844" y="2403348"/>
              <a:ext cx="486409" cy="203200"/>
            </a:xfrm>
            <a:custGeom>
              <a:avLst/>
              <a:gdLst/>
              <a:ahLst/>
              <a:cxnLst/>
              <a:rect l="l" t="t" r="r" b="b"/>
              <a:pathLst>
                <a:path w="486409" h="203200">
                  <a:moveTo>
                    <a:pt x="0" y="0"/>
                  </a:moveTo>
                  <a:lnTo>
                    <a:pt x="486283" y="202946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528816" y="2607564"/>
              <a:ext cx="658495" cy="326390"/>
            </a:xfrm>
            <a:custGeom>
              <a:avLst/>
              <a:gdLst/>
              <a:ahLst/>
              <a:cxnLst/>
              <a:rect l="l" t="t" r="r" b="b"/>
              <a:pathLst>
                <a:path w="658495" h="326389">
                  <a:moveTo>
                    <a:pt x="604012" y="0"/>
                  </a:moveTo>
                  <a:lnTo>
                    <a:pt x="54356" y="0"/>
                  </a:lnTo>
                  <a:lnTo>
                    <a:pt x="33218" y="4278"/>
                  </a:lnTo>
                  <a:lnTo>
                    <a:pt x="15938" y="15938"/>
                  </a:lnTo>
                  <a:lnTo>
                    <a:pt x="4278" y="33218"/>
                  </a:lnTo>
                  <a:lnTo>
                    <a:pt x="0" y="54355"/>
                  </a:lnTo>
                  <a:lnTo>
                    <a:pt x="0" y="271779"/>
                  </a:lnTo>
                  <a:lnTo>
                    <a:pt x="4278" y="292917"/>
                  </a:lnTo>
                  <a:lnTo>
                    <a:pt x="15938" y="310197"/>
                  </a:lnTo>
                  <a:lnTo>
                    <a:pt x="33218" y="321857"/>
                  </a:lnTo>
                  <a:lnTo>
                    <a:pt x="54356" y="326135"/>
                  </a:lnTo>
                  <a:lnTo>
                    <a:pt x="604012" y="326135"/>
                  </a:lnTo>
                  <a:lnTo>
                    <a:pt x="625149" y="321857"/>
                  </a:lnTo>
                  <a:lnTo>
                    <a:pt x="642429" y="310197"/>
                  </a:lnTo>
                  <a:lnTo>
                    <a:pt x="654089" y="292917"/>
                  </a:lnTo>
                  <a:lnTo>
                    <a:pt x="658368" y="271779"/>
                  </a:lnTo>
                  <a:lnTo>
                    <a:pt x="658368" y="54355"/>
                  </a:lnTo>
                  <a:lnTo>
                    <a:pt x="654089" y="33218"/>
                  </a:lnTo>
                  <a:lnTo>
                    <a:pt x="642429" y="15938"/>
                  </a:lnTo>
                  <a:lnTo>
                    <a:pt x="625149" y="4278"/>
                  </a:lnTo>
                  <a:lnTo>
                    <a:pt x="604012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528816" y="2607564"/>
              <a:ext cx="658495" cy="326390"/>
            </a:xfrm>
            <a:custGeom>
              <a:avLst/>
              <a:gdLst/>
              <a:ahLst/>
              <a:cxnLst/>
              <a:rect l="l" t="t" r="r" b="b"/>
              <a:pathLst>
                <a:path w="658495" h="326389">
                  <a:moveTo>
                    <a:pt x="0" y="54355"/>
                  </a:moveTo>
                  <a:lnTo>
                    <a:pt x="4278" y="33218"/>
                  </a:lnTo>
                  <a:lnTo>
                    <a:pt x="15938" y="15938"/>
                  </a:lnTo>
                  <a:lnTo>
                    <a:pt x="33218" y="4278"/>
                  </a:lnTo>
                  <a:lnTo>
                    <a:pt x="54356" y="0"/>
                  </a:lnTo>
                  <a:lnTo>
                    <a:pt x="604012" y="0"/>
                  </a:lnTo>
                  <a:lnTo>
                    <a:pt x="625149" y="4278"/>
                  </a:lnTo>
                  <a:lnTo>
                    <a:pt x="642429" y="15938"/>
                  </a:lnTo>
                  <a:lnTo>
                    <a:pt x="654089" y="33218"/>
                  </a:lnTo>
                  <a:lnTo>
                    <a:pt x="658368" y="54355"/>
                  </a:lnTo>
                  <a:lnTo>
                    <a:pt x="658368" y="271779"/>
                  </a:lnTo>
                  <a:lnTo>
                    <a:pt x="654089" y="292917"/>
                  </a:lnTo>
                  <a:lnTo>
                    <a:pt x="642429" y="310197"/>
                  </a:lnTo>
                  <a:lnTo>
                    <a:pt x="625149" y="321857"/>
                  </a:lnTo>
                  <a:lnTo>
                    <a:pt x="604012" y="326135"/>
                  </a:lnTo>
                  <a:lnTo>
                    <a:pt x="54356" y="326135"/>
                  </a:lnTo>
                  <a:lnTo>
                    <a:pt x="33218" y="321857"/>
                  </a:lnTo>
                  <a:lnTo>
                    <a:pt x="15938" y="310197"/>
                  </a:lnTo>
                  <a:lnTo>
                    <a:pt x="4278" y="292917"/>
                  </a:lnTo>
                  <a:lnTo>
                    <a:pt x="0" y="271779"/>
                  </a:lnTo>
                  <a:lnTo>
                    <a:pt x="0" y="54355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975230" y="2754883"/>
            <a:ext cx="1651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on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" y="2423032"/>
            <a:ext cx="3609086" cy="104228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929129" y="3265170"/>
            <a:ext cx="2190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aus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77361" y="2748787"/>
            <a:ext cx="1651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15310" y="2418714"/>
            <a:ext cx="2190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aus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53053" y="2821051"/>
            <a:ext cx="3962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bright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06167" y="2822575"/>
            <a:ext cx="2501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low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17497" y="2843910"/>
            <a:ext cx="1987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off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84346" y="3253232"/>
            <a:ext cx="17399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latin typeface="Tahoma"/>
                <a:cs typeface="Tahoma"/>
              </a:rPr>
              <a:t>on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34936" y="2657602"/>
            <a:ext cx="2501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low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36309" y="2070861"/>
            <a:ext cx="671195" cy="339090"/>
            <a:chOff x="6036309" y="2070861"/>
            <a:chExt cx="671195" cy="339090"/>
          </a:xfrm>
        </p:grpSpPr>
        <p:sp>
          <p:nvSpPr>
            <p:cNvPr id="20" name="object 20"/>
            <p:cNvSpPr/>
            <p:nvPr/>
          </p:nvSpPr>
          <p:spPr>
            <a:xfrm>
              <a:off x="6042659" y="2077211"/>
              <a:ext cx="658495" cy="326390"/>
            </a:xfrm>
            <a:custGeom>
              <a:avLst/>
              <a:gdLst/>
              <a:ahLst/>
              <a:cxnLst/>
              <a:rect l="l" t="t" r="r" b="b"/>
              <a:pathLst>
                <a:path w="658495" h="326389">
                  <a:moveTo>
                    <a:pt x="604012" y="0"/>
                  </a:moveTo>
                  <a:lnTo>
                    <a:pt x="54356" y="0"/>
                  </a:lnTo>
                  <a:lnTo>
                    <a:pt x="33218" y="4278"/>
                  </a:lnTo>
                  <a:lnTo>
                    <a:pt x="15938" y="15938"/>
                  </a:lnTo>
                  <a:lnTo>
                    <a:pt x="4278" y="33218"/>
                  </a:lnTo>
                  <a:lnTo>
                    <a:pt x="0" y="54355"/>
                  </a:lnTo>
                  <a:lnTo>
                    <a:pt x="0" y="271779"/>
                  </a:lnTo>
                  <a:lnTo>
                    <a:pt x="4278" y="292917"/>
                  </a:lnTo>
                  <a:lnTo>
                    <a:pt x="15938" y="310197"/>
                  </a:lnTo>
                  <a:lnTo>
                    <a:pt x="33218" y="321857"/>
                  </a:lnTo>
                  <a:lnTo>
                    <a:pt x="54356" y="326135"/>
                  </a:lnTo>
                  <a:lnTo>
                    <a:pt x="604012" y="326135"/>
                  </a:lnTo>
                  <a:lnTo>
                    <a:pt x="625149" y="321857"/>
                  </a:lnTo>
                  <a:lnTo>
                    <a:pt x="642429" y="310197"/>
                  </a:lnTo>
                  <a:lnTo>
                    <a:pt x="654089" y="292917"/>
                  </a:lnTo>
                  <a:lnTo>
                    <a:pt x="658368" y="271779"/>
                  </a:lnTo>
                  <a:lnTo>
                    <a:pt x="658368" y="54355"/>
                  </a:lnTo>
                  <a:lnTo>
                    <a:pt x="654089" y="33218"/>
                  </a:lnTo>
                  <a:lnTo>
                    <a:pt x="642429" y="15938"/>
                  </a:lnTo>
                  <a:lnTo>
                    <a:pt x="625149" y="4278"/>
                  </a:lnTo>
                  <a:lnTo>
                    <a:pt x="604012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042659" y="2077211"/>
              <a:ext cx="658495" cy="326390"/>
            </a:xfrm>
            <a:custGeom>
              <a:avLst/>
              <a:gdLst/>
              <a:ahLst/>
              <a:cxnLst/>
              <a:rect l="l" t="t" r="r" b="b"/>
              <a:pathLst>
                <a:path w="658495" h="326389">
                  <a:moveTo>
                    <a:pt x="0" y="54355"/>
                  </a:moveTo>
                  <a:lnTo>
                    <a:pt x="4278" y="33218"/>
                  </a:lnTo>
                  <a:lnTo>
                    <a:pt x="15938" y="15938"/>
                  </a:lnTo>
                  <a:lnTo>
                    <a:pt x="33218" y="4278"/>
                  </a:lnTo>
                  <a:lnTo>
                    <a:pt x="54356" y="0"/>
                  </a:lnTo>
                  <a:lnTo>
                    <a:pt x="604012" y="0"/>
                  </a:lnTo>
                  <a:lnTo>
                    <a:pt x="625149" y="4278"/>
                  </a:lnTo>
                  <a:lnTo>
                    <a:pt x="642429" y="15938"/>
                  </a:lnTo>
                  <a:lnTo>
                    <a:pt x="654089" y="33218"/>
                  </a:lnTo>
                  <a:lnTo>
                    <a:pt x="658368" y="54355"/>
                  </a:lnTo>
                  <a:lnTo>
                    <a:pt x="658368" y="271779"/>
                  </a:lnTo>
                  <a:lnTo>
                    <a:pt x="654089" y="292917"/>
                  </a:lnTo>
                  <a:lnTo>
                    <a:pt x="642429" y="310197"/>
                  </a:lnTo>
                  <a:lnTo>
                    <a:pt x="625149" y="321857"/>
                  </a:lnTo>
                  <a:lnTo>
                    <a:pt x="604012" y="326135"/>
                  </a:lnTo>
                  <a:lnTo>
                    <a:pt x="54356" y="326135"/>
                  </a:lnTo>
                  <a:lnTo>
                    <a:pt x="33218" y="321857"/>
                  </a:lnTo>
                  <a:lnTo>
                    <a:pt x="15938" y="310197"/>
                  </a:lnTo>
                  <a:lnTo>
                    <a:pt x="4278" y="292917"/>
                  </a:lnTo>
                  <a:lnTo>
                    <a:pt x="0" y="271779"/>
                  </a:lnTo>
                  <a:lnTo>
                    <a:pt x="0" y="54355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272910" y="2127884"/>
            <a:ext cx="1987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off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501385" y="2601214"/>
            <a:ext cx="671195" cy="339090"/>
            <a:chOff x="5501385" y="2601214"/>
            <a:chExt cx="671195" cy="339090"/>
          </a:xfrm>
        </p:grpSpPr>
        <p:sp>
          <p:nvSpPr>
            <p:cNvPr id="24" name="object 24"/>
            <p:cNvSpPr/>
            <p:nvPr/>
          </p:nvSpPr>
          <p:spPr>
            <a:xfrm>
              <a:off x="5507735" y="2607564"/>
              <a:ext cx="658495" cy="326390"/>
            </a:xfrm>
            <a:custGeom>
              <a:avLst/>
              <a:gdLst/>
              <a:ahLst/>
              <a:cxnLst/>
              <a:rect l="l" t="t" r="r" b="b"/>
              <a:pathLst>
                <a:path w="658495" h="326389">
                  <a:moveTo>
                    <a:pt x="604012" y="0"/>
                  </a:moveTo>
                  <a:lnTo>
                    <a:pt x="54356" y="0"/>
                  </a:lnTo>
                  <a:lnTo>
                    <a:pt x="33218" y="4278"/>
                  </a:lnTo>
                  <a:lnTo>
                    <a:pt x="15938" y="15938"/>
                  </a:lnTo>
                  <a:lnTo>
                    <a:pt x="4278" y="33218"/>
                  </a:lnTo>
                  <a:lnTo>
                    <a:pt x="0" y="54355"/>
                  </a:lnTo>
                  <a:lnTo>
                    <a:pt x="0" y="271779"/>
                  </a:lnTo>
                  <a:lnTo>
                    <a:pt x="4278" y="292917"/>
                  </a:lnTo>
                  <a:lnTo>
                    <a:pt x="15938" y="310197"/>
                  </a:lnTo>
                  <a:lnTo>
                    <a:pt x="33218" y="321857"/>
                  </a:lnTo>
                  <a:lnTo>
                    <a:pt x="54356" y="326135"/>
                  </a:lnTo>
                  <a:lnTo>
                    <a:pt x="604012" y="326135"/>
                  </a:lnTo>
                  <a:lnTo>
                    <a:pt x="625149" y="321857"/>
                  </a:lnTo>
                  <a:lnTo>
                    <a:pt x="642429" y="310197"/>
                  </a:lnTo>
                  <a:lnTo>
                    <a:pt x="654089" y="292917"/>
                  </a:lnTo>
                  <a:lnTo>
                    <a:pt x="658368" y="271779"/>
                  </a:lnTo>
                  <a:lnTo>
                    <a:pt x="658368" y="54355"/>
                  </a:lnTo>
                  <a:lnTo>
                    <a:pt x="654089" y="33218"/>
                  </a:lnTo>
                  <a:lnTo>
                    <a:pt x="642429" y="15938"/>
                  </a:lnTo>
                  <a:lnTo>
                    <a:pt x="625149" y="4278"/>
                  </a:lnTo>
                  <a:lnTo>
                    <a:pt x="604012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507735" y="2607564"/>
              <a:ext cx="658495" cy="326390"/>
            </a:xfrm>
            <a:custGeom>
              <a:avLst/>
              <a:gdLst/>
              <a:ahLst/>
              <a:cxnLst/>
              <a:rect l="l" t="t" r="r" b="b"/>
              <a:pathLst>
                <a:path w="658495" h="326389">
                  <a:moveTo>
                    <a:pt x="0" y="54355"/>
                  </a:moveTo>
                  <a:lnTo>
                    <a:pt x="4278" y="33218"/>
                  </a:lnTo>
                  <a:lnTo>
                    <a:pt x="15938" y="15938"/>
                  </a:lnTo>
                  <a:lnTo>
                    <a:pt x="33218" y="4278"/>
                  </a:lnTo>
                  <a:lnTo>
                    <a:pt x="54356" y="0"/>
                  </a:lnTo>
                  <a:lnTo>
                    <a:pt x="604012" y="0"/>
                  </a:lnTo>
                  <a:lnTo>
                    <a:pt x="625149" y="4278"/>
                  </a:lnTo>
                  <a:lnTo>
                    <a:pt x="642429" y="15938"/>
                  </a:lnTo>
                  <a:lnTo>
                    <a:pt x="654089" y="33218"/>
                  </a:lnTo>
                  <a:lnTo>
                    <a:pt x="658368" y="54355"/>
                  </a:lnTo>
                  <a:lnTo>
                    <a:pt x="658368" y="271779"/>
                  </a:lnTo>
                  <a:lnTo>
                    <a:pt x="654089" y="292917"/>
                  </a:lnTo>
                  <a:lnTo>
                    <a:pt x="642429" y="310197"/>
                  </a:lnTo>
                  <a:lnTo>
                    <a:pt x="625149" y="321857"/>
                  </a:lnTo>
                  <a:lnTo>
                    <a:pt x="604012" y="326135"/>
                  </a:lnTo>
                  <a:lnTo>
                    <a:pt x="54356" y="326135"/>
                  </a:lnTo>
                  <a:lnTo>
                    <a:pt x="33218" y="321857"/>
                  </a:lnTo>
                  <a:lnTo>
                    <a:pt x="15938" y="310197"/>
                  </a:lnTo>
                  <a:lnTo>
                    <a:pt x="4278" y="292917"/>
                  </a:lnTo>
                  <a:lnTo>
                    <a:pt x="0" y="271779"/>
                  </a:lnTo>
                  <a:lnTo>
                    <a:pt x="0" y="54355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5737986" y="2657602"/>
            <a:ext cx="1987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off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766817" y="3166617"/>
            <a:ext cx="1508125" cy="340360"/>
            <a:chOff x="4766817" y="3166617"/>
            <a:chExt cx="1508125" cy="340360"/>
          </a:xfrm>
        </p:grpSpPr>
        <p:sp>
          <p:nvSpPr>
            <p:cNvPr id="28" name="object 28"/>
            <p:cNvSpPr/>
            <p:nvPr/>
          </p:nvSpPr>
          <p:spPr>
            <a:xfrm>
              <a:off x="5609843" y="3172967"/>
              <a:ext cx="658495" cy="327660"/>
            </a:xfrm>
            <a:custGeom>
              <a:avLst/>
              <a:gdLst/>
              <a:ahLst/>
              <a:cxnLst/>
              <a:rect l="l" t="t" r="r" b="b"/>
              <a:pathLst>
                <a:path w="658495" h="327660">
                  <a:moveTo>
                    <a:pt x="603758" y="0"/>
                  </a:moveTo>
                  <a:lnTo>
                    <a:pt x="54610" y="0"/>
                  </a:lnTo>
                  <a:lnTo>
                    <a:pt x="33379" y="4300"/>
                  </a:lnTo>
                  <a:lnTo>
                    <a:pt x="16017" y="16017"/>
                  </a:lnTo>
                  <a:lnTo>
                    <a:pt x="4300" y="33379"/>
                  </a:lnTo>
                  <a:lnTo>
                    <a:pt x="0" y="54610"/>
                  </a:lnTo>
                  <a:lnTo>
                    <a:pt x="0" y="273050"/>
                  </a:lnTo>
                  <a:lnTo>
                    <a:pt x="4300" y="294280"/>
                  </a:lnTo>
                  <a:lnTo>
                    <a:pt x="16017" y="311642"/>
                  </a:lnTo>
                  <a:lnTo>
                    <a:pt x="33379" y="323359"/>
                  </a:lnTo>
                  <a:lnTo>
                    <a:pt x="54610" y="327660"/>
                  </a:lnTo>
                  <a:lnTo>
                    <a:pt x="603758" y="327660"/>
                  </a:lnTo>
                  <a:lnTo>
                    <a:pt x="624988" y="323359"/>
                  </a:lnTo>
                  <a:lnTo>
                    <a:pt x="642350" y="311642"/>
                  </a:lnTo>
                  <a:lnTo>
                    <a:pt x="654067" y="294280"/>
                  </a:lnTo>
                  <a:lnTo>
                    <a:pt x="658368" y="273050"/>
                  </a:lnTo>
                  <a:lnTo>
                    <a:pt x="658368" y="54610"/>
                  </a:lnTo>
                  <a:lnTo>
                    <a:pt x="654067" y="33379"/>
                  </a:lnTo>
                  <a:lnTo>
                    <a:pt x="642350" y="16017"/>
                  </a:lnTo>
                  <a:lnTo>
                    <a:pt x="624988" y="4300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609843" y="3172967"/>
              <a:ext cx="658495" cy="327660"/>
            </a:xfrm>
            <a:custGeom>
              <a:avLst/>
              <a:gdLst/>
              <a:ahLst/>
              <a:cxnLst/>
              <a:rect l="l" t="t" r="r" b="b"/>
              <a:pathLst>
                <a:path w="658495" h="327660">
                  <a:moveTo>
                    <a:pt x="0" y="54610"/>
                  </a:moveTo>
                  <a:lnTo>
                    <a:pt x="4300" y="33379"/>
                  </a:lnTo>
                  <a:lnTo>
                    <a:pt x="16017" y="16017"/>
                  </a:lnTo>
                  <a:lnTo>
                    <a:pt x="33379" y="4300"/>
                  </a:lnTo>
                  <a:lnTo>
                    <a:pt x="54610" y="0"/>
                  </a:lnTo>
                  <a:lnTo>
                    <a:pt x="603758" y="0"/>
                  </a:lnTo>
                  <a:lnTo>
                    <a:pt x="624988" y="4300"/>
                  </a:lnTo>
                  <a:lnTo>
                    <a:pt x="642350" y="16017"/>
                  </a:lnTo>
                  <a:lnTo>
                    <a:pt x="654067" y="33379"/>
                  </a:lnTo>
                  <a:lnTo>
                    <a:pt x="658368" y="54610"/>
                  </a:lnTo>
                  <a:lnTo>
                    <a:pt x="658368" y="273050"/>
                  </a:lnTo>
                  <a:lnTo>
                    <a:pt x="654067" y="294280"/>
                  </a:lnTo>
                  <a:lnTo>
                    <a:pt x="642350" y="311642"/>
                  </a:lnTo>
                  <a:lnTo>
                    <a:pt x="624988" y="323359"/>
                  </a:lnTo>
                  <a:lnTo>
                    <a:pt x="603758" y="327660"/>
                  </a:lnTo>
                  <a:lnTo>
                    <a:pt x="54610" y="327660"/>
                  </a:lnTo>
                  <a:lnTo>
                    <a:pt x="33379" y="323359"/>
                  </a:lnTo>
                  <a:lnTo>
                    <a:pt x="16017" y="311642"/>
                  </a:lnTo>
                  <a:lnTo>
                    <a:pt x="4300" y="294280"/>
                  </a:lnTo>
                  <a:lnTo>
                    <a:pt x="0" y="273050"/>
                  </a:lnTo>
                  <a:lnTo>
                    <a:pt x="0" y="54610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773167" y="3172967"/>
              <a:ext cx="658495" cy="327660"/>
            </a:xfrm>
            <a:custGeom>
              <a:avLst/>
              <a:gdLst/>
              <a:ahLst/>
              <a:cxnLst/>
              <a:rect l="l" t="t" r="r" b="b"/>
              <a:pathLst>
                <a:path w="658495" h="327660">
                  <a:moveTo>
                    <a:pt x="603758" y="0"/>
                  </a:moveTo>
                  <a:lnTo>
                    <a:pt x="54610" y="0"/>
                  </a:lnTo>
                  <a:lnTo>
                    <a:pt x="33379" y="4300"/>
                  </a:lnTo>
                  <a:lnTo>
                    <a:pt x="16017" y="16017"/>
                  </a:lnTo>
                  <a:lnTo>
                    <a:pt x="4300" y="33379"/>
                  </a:lnTo>
                  <a:lnTo>
                    <a:pt x="0" y="54610"/>
                  </a:lnTo>
                  <a:lnTo>
                    <a:pt x="0" y="273050"/>
                  </a:lnTo>
                  <a:lnTo>
                    <a:pt x="4300" y="294280"/>
                  </a:lnTo>
                  <a:lnTo>
                    <a:pt x="16017" y="311642"/>
                  </a:lnTo>
                  <a:lnTo>
                    <a:pt x="33379" y="323359"/>
                  </a:lnTo>
                  <a:lnTo>
                    <a:pt x="54610" y="327660"/>
                  </a:lnTo>
                  <a:lnTo>
                    <a:pt x="603758" y="327660"/>
                  </a:lnTo>
                  <a:lnTo>
                    <a:pt x="624988" y="323359"/>
                  </a:lnTo>
                  <a:lnTo>
                    <a:pt x="642350" y="311642"/>
                  </a:lnTo>
                  <a:lnTo>
                    <a:pt x="654067" y="294280"/>
                  </a:lnTo>
                  <a:lnTo>
                    <a:pt x="658368" y="273050"/>
                  </a:lnTo>
                  <a:lnTo>
                    <a:pt x="658368" y="54610"/>
                  </a:lnTo>
                  <a:lnTo>
                    <a:pt x="654067" y="33379"/>
                  </a:lnTo>
                  <a:lnTo>
                    <a:pt x="642350" y="16017"/>
                  </a:lnTo>
                  <a:lnTo>
                    <a:pt x="624988" y="4300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773167" y="3172967"/>
              <a:ext cx="658495" cy="327660"/>
            </a:xfrm>
            <a:custGeom>
              <a:avLst/>
              <a:gdLst/>
              <a:ahLst/>
              <a:cxnLst/>
              <a:rect l="l" t="t" r="r" b="b"/>
              <a:pathLst>
                <a:path w="658495" h="327660">
                  <a:moveTo>
                    <a:pt x="0" y="54610"/>
                  </a:moveTo>
                  <a:lnTo>
                    <a:pt x="4300" y="33379"/>
                  </a:lnTo>
                  <a:lnTo>
                    <a:pt x="16017" y="16017"/>
                  </a:lnTo>
                  <a:lnTo>
                    <a:pt x="33379" y="4300"/>
                  </a:lnTo>
                  <a:lnTo>
                    <a:pt x="54610" y="0"/>
                  </a:lnTo>
                  <a:lnTo>
                    <a:pt x="603758" y="0"/>
                  </a:lnTo>
                  <a:lnTo>
                    <a:pt x="624988" y="4300"/>
                  </a:lnTo>
                  <a:lnTo>
                    <a:pt x="642350" y="16017"/>
                  </a:lnTo>
                  <a:lnTo>
                    <a:pt x="654067" y="33379"/>
                  </a:lnTo>
                  <a:lnTo>
                    <a:pt x="658368" y="54610"/>
                  </a:lnTo>
                  <a:lnTo>
                    <a:pt x="658368" y="273050"/>
                  </a:lnTo>
                  <a:lnTo>
                    <a:pt x="654067" y="294280"/>
                  </a:lnTo>
                  <a:lnTo>
                    <a:pt x="642350" y="311642"/>
                  </a:lnTo>
                  <a:lnTo>
                    <a:pt x="624988" y="323359"/>
                  </a:lnTo>
                  <a:lnTo>
                    <a:pt x="603758" y="327660"/>
                  </a:lnTo>
                  <a:lnTo>
                    <a:pt x="54610" y="327660"/>
                  </a:lnTo>
                  <a:lnTo>
                    <a:pt x="33379" y="323359"/>
                  </a:lnTo>
                  <a:lnTo>
                    <a:pt x="16017" y="311642"/>
                  </a:lnTo>
                  <a:lnTo>
                    <a:pt x="4300" y="294280"/>
                  </a:lnTo>
                  <a:lnTo>
                    <a:pt x="0" y="273050"/>
                  </a:lnTo>
                  <a:lnTo>
                    <a:pt x="0" y="54610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5003038" y="3224529"/>
            <a:ext cx="1987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off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096002" y="2927350"/>
            <a:ext cx="2862580" cy="579755"/>
            <a:chOff x="5096002" y="2927350"/>
            <a:chExt cx="2862580" cy="579755"/>
          </a:xfrm>
        </p:grpSpPr>
        <p:sp>
          <p:nvSpPr>
            <p:cNvPr id="34" name="object 34"/>
            <p:cNvSpPr/>
            <p:nvPr/>
          </p:nvSpPr>
          <p:spPr>
            <a:xfrm>
              <a:off x="7293864" y="3172968"/>
              <a:ext cx="658495" cy="327660"/>
            </a:xfrm>
            <a:custGeom>
              <a:avLst/>
              <a:gdLst/>
              <a:ahLst/>
              <a:cxnLst/>
              <a:rect l="l" t="t" r="r" b="b"/>
              <a:pathLst>
                <a:path w="658495" h="327660">
                  <a:moveTo>
                    <a:pt x="603758" y="0"/>
                  </a:moveTo>
                  <a:lnTo>
                    <a:pt x="54610" y="0"/>
                  </a:lnTo>
                  <a:lnTo>
                    <a:pt x="33379" y="4300"/>
                  </a:lnTo>
                  <a:lnTo>
                    <a:pt x="16017" y="16017"/>
                  </a:lnTo>
                  <a:lnTo>
                    <a:pt x="4300" y="33379"/>
                  </a:lnTo>
                  <a:lnTo>
                    <a:pt x="0" y="54610"/>
                  </a:lnTo>
                  <a:lnTo>
                    <a:pt x="0" y="273050"/>
                  </a:lnTo>
                  <a:lnTo>
                    <a:pt x="4300" y="294280"/>
                  </a:lnTo>
                  <a:lnTo>
                    <a:pt x="16017" y="311642"/>
                  </a:lnTo>
                  <a:lnTo>
                    <a:pt x="33379" y="323359"/>
                  </a:lnTo>
                  <a:lnTo>
                    <a:pt x="54610" y="327660"/>
                  </a:lnTo>
                  <a:lnTo>
                    <a:pt x="603758" y="327660"/>
                  </a:lnTo>
                  <a:lnTo>
                    <a:pt x="624988" y="323359"/>
                  </a:lnTo>
                  <a:lnTo>
                    <a:pt x="642350" y="311642"/>
                  </a:lnTo>
                  <a:lnTo>
                    <a:pt x="654067" y="294280"/>
                  </a:lnTo>
                  <a:lnTo>
                    <a:pt x="658368" y="273050"/>
                  </a:lnTo>
                  <a:lnTo>
                    <a:pt x="658368" y="54610"/>
                  </a:lnTo>
                  <a:lnTo>
                    <a:pt x="654067" y="33379"/>
                  </a:lnTo>
                  <a:lnTo>
                    <a:pt x="642350" y="16017"/>
                  </a:lnTo>
                  <a:lnTo>
                    <a:pt x="624988" y="4300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293864" y="3172968"/>
              <a:ext cx="658495" cy="327660"/>
            </a:xfrm>
            <a:custGeom>
              <a:avLst/>
              <a:gdLst/>
              <a:ahLst/>
              <a:cxnLst/>
              <a:rect l="l" t="t" r="r" b="b"/>
              <a:pathLst>
                <a:path w="658495" h="327660">
                  <a:moveTo>
                    <a:pt x="0" y="54610"/>
                  </a:moveTo>
                  <a:lnTo>
                    <a:pt x="4300" y="33379"/>
                  </a:lnTo>
                  <a:lnTo>
                    <a:pt x="16017" y="16017"/>
                  </a:lnTo>
                  <a:lnTo>
                    <a:pt x="33379" y="4300"/>
                  </a:lnTo>
                  <a:lnTo>
                    <a:pt x="54610" y="0"/>
                  </a:lnTo>
                  <a:lnTo>
                    <a:pt x="603758" y="0"/>
                  </a:lnTo>
                  <a:lnTo>
                    <a:pt x="624988" y="4300"/>
                  </a:lnTo>
                  <a:lnTo>
                    <a:pt x="642350" y="16017"/>
                  </a:lnTo>
                  <a:lnTo>
                    <a:pt x="654067" y="33379"/>
                  </a:lnTo>
                  <a:lnTo>
                    <a:pt x="658368" y="54610"/>
                  </a:lnTo>
                  <a:lnTo>
                    <a:pt x="658368" y="273050"/>
                  </a:lnTo>
                  <a:lnTo>
                    <a:pt x="654067" y="294280"/>
                  </a:lnTo>
                  <a:lnTo>
                    <a:pt x="642350" y="311642"/>
                  </a:lnTo>
                  <a:lnTo>
                    <a:pt x="624988" y="323359"/>
                  </a:lnTo>
                  <a:lnTo>
                    <a:pt x="603758" y="327660"/>
                  </a:lnTo>
                  <a:lnTo>
                    <a:pt x="54610" y="327660"/>
                  </a:lnTo>
                  <a:lnTo>
                    <a:pt x="33379" y="323359"/>
                  </a:lnTo>
                  <a:lnTo>
                    <a:pt x="16017" y="311642"/>
                  </a:lnTo>
                  <a:lnTo>
                    <a:pt x="4300" y="294280"/>
                  </a:lnTo>
                  <a:lnTo>
                    <a:pt x="0" y="273050"/>
                  </a:lnTo>
                  <a:lnTo>
                    <a:pt x="0" y="54610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455664" y="3172968"/>
              <a:ext cx="657225" cy="327660"/>
            </a:xfrm>
            <a:custGeom>
              <a:avLst/>
              <a:gdLst/>
              <a:ahLst/>
              <a:cxnLst/>
              <a:rect l="l" t="t" r="r" b="b"/>
              <a:pathLst>
                <a:path w="657225" h="327660">
                  <a:moveTo>
                    <a:pt x="602234" y="0"/>
                  </a:moveTo>
                  <a:lnTo>
                    <a:pt x="54610" y="0"/>
                  </a:lnTo>
                  <a:lnTo>
                    <a:pt x="33379" y="4300"/>
                  </a:lnTo>
                  <a:lnTo>
                    <a:pt x="16017" y="16017"/>
                  </a:lnTo>
                  <a:lnTo>
                    <a:pt x="4300" y="33379"/>
                  </a:lnTo>
                  <a:lnTo>
                    <a:pt x="0" y="54610"/>
                  </a:lnTo>
                  <a:lnTo>
                    <a:pt x="0" y="273050"/>
                  </a:lnTo>
                  <a:lnTo>
                    <a:pt x="4300" y="294280"/>
                  </a:lnTo>
                  <a:lnTo>
                    <a:pt x="16017" y="311642"/>
                  </a:lnTo>
                  <a:lnTo>
                    <a:pt x="33379" y="323359"/>
                  </a:lnTo>
                  <a:lnTo>
                    <a:pt x="54610" y="327660"/>
                  </a:lnTo>
                  <a:lnTo>
                    <a:pt x="602234" y="327660"/>
                  </a:lnTo>
                  <a:lnTo>
                    <a:pt x="623464" y="323359"/>
                  </a:lnTo>
                  <a:lnTo>
                    <a:pt x="640826" y="311642"/>
                  </a:lnTo>
                  <a:lnTo>
                    <a:pt x="652543" y="294280"/>
                  </a:lnTo>
                  <a:lnTo>
                    <a:pt x="656844" y="273050"/>
                  </a:lnTo>
                  <a:lnTo>
                    <a:pt x="656844" y="54610"/>
                  </a:lnTo>
                  <a:lnTo>
                    <a:pt x="652543" y="33379"/>
                  </a:lnTo>
                  <a:lnTo>
                    <a:pt x="640826" y="16017"/>
                  </a:lnTo>
                  <a:lnTo>
                    <a:pt x="623464" y="4300"/>
                  </a:lnTo>
                  <a:lnTo>
                    <a:pt x="60223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455664" y="3172968"/>
              <a:ext cx="657225" cy="327660"/>
            </a:xfrm>
            <a:custGeom>
              <a:avLst/>
              <a:gdLst/>
              <a:ahLst/>
              <a:cxnLst/>
              <a:rect l="l" t="t" r="r" b="b"/>
              <a:pathLst>
                <a:path w="657225" h="327660">
                  <a:moveTo>
                    <a:pt x="0" y="54610"/>
                  </a:moveTo>
                  <a:lnTo>
                    <a:pt x="4300" y="33379"/>
                  </a:lnTo>
                  <a:lnTo>
                    <a:pt x="16017" y="16017"/>
                  </a:lnTo>
                  <a:lnTo>
                    <a:pt x="33379" y="4300"/>
                  </a:lnTo>
                  <a:lnTo>
                    <a:pt x="54610" y="0"/>
                  </a:lnTo>
                  <a:lnTo>
                    <a:pt x="602234" y="0"/>
                  </a:lnTo>
                  <a:lnTo>
                    <a:pt x="623464" y="4300"/>
                  </a:lnTo>
                  <a:lnTo>
                    <a:pt x="640826" y="16017"/>
                  </a:lnTo>
                  <a:lnTo>
                    <a:pt x="652543" y="33379"/>
                  </a:lnTo>
                  <a:lnTo>
                    <a:pt x="656844" y="54610"/>
                  </a:lnTo>
                  <a:lnTo>
                    <a:pt x="656844" y="273050"/>
                  </a:lnTo>
                  <a:lnTo>
                    <a:pt x="652543" y="294280"/>
                  </a:lnTo>
                  <a:lnTo>
                    <a:pt x="640826" y="311642"/>
                  </a:lnTo>
                  <a:lnTo>
                    <a:pt x="623464" y="323359"/>
                  </a:lnTo>
                  <a:lnTo>
                    <a:pt x="602234" y="327660"/>
                  </a:lnTo>
                  <a:lnTo>
                    <a:pt x="54610" y="327660"/>
                  </a:lnTo>
                  <a:lnTo>
                    <a:pt x="33379" y="323359"/>
                  </a:lnTo>
                  <a:lnTo>
                    <a:pt x="16017" y="311642"/>
                  </a:lnTo>
                  <a:lnTo>
                    <a:pt x="4300" y="294280"/>
                  </a:lnTo>
                  <a:lnTo>
                    <a:pt x="0" y="273050"/>
                  </a:lnTo>
                  <a:lnTo>
                    <a:pt x="0" y="54610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102352" y="2933700"/>
              <a:ext cx="735330" cy="240029"/>
            </a:xfrm>
            <a:custGeom>
              <a:avLst/>
              <a:gdLst/>
              <a:ahLst/>
              <a:cxnLst/>
              <a:rect l="l" t="t" r="r" b="b"/>
              <a:pathLst>
                <a:path w="735329" h="240030">
                  <a:moveTo>
                    <a:pt x="734822" y="0"/>
                  </a:moveTo>
                  <a:lnTo>
                    <a:pt x="0" y="240029"/>
                  </a:lnTo>
                </a:path>
              </a:pathLst>
            </a:custGeom>
            <a:ln w="12699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784848" y="2933700"/>
              <a:ext cx="74295" cy="240029"/>
            </a:xfrm>
            <a:custGeom>
              <a:avLst/>
              <a:gdLst/>
              <a:ahLst/>
              <a:cxnLst/>
              <a:rect l="l" t="t" r="r" b="b"/>
              <a:pathLst>
                <a:path w="74295" h="240030">
                  <a:moveTo>
                    <a:pt x="74041" y="0"/>
                  </a:moveTo>
                  <a:lnTo>
                    <a:pt x="0" y="240029"/>
                  </a:lnTo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836920" y="2933700"/>
              <a:ext cx="102870" cy="240029"/>
            </a:xfrm>
            <a:custGeom>
              <a:avLst/>
              <a:gdLst/>
              <a:ahLst/>
              <a:cxnLst/>
              <a:rect l="l" t="t" r="r" b="b"/>
              <a:pathLst>
                <a:path w="102870" h="240030">
                  <a:moveTo>
                    <a:pt x="0" y="0"/>
                  </a:moveTo>
                  <a:lnTo>
                    <a:pt x="102362" y="240029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858000" y="2933700"/>
              <a:ext cx="765175" cy="240029"/>
            </a:xfrm>
            <a:custGeom>
              <a:avLst/>
              <a:gdLst/>
              <a:ahLst/>
              <a:cxnLst/>
              <a:rect l="l" t="t" r="r" b="b"/>
              <a:pathLst>
                <a:path w="765175" h="240030">
                  <a:moveTo>
                    <a:pt x="0" y="0"/>
                  </a:moveTo>
                  <a:lnTo>
                    <a:pt x="765048" y="240029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5815965" y="3160361"/>
            <a:ext cx="250190" cy="60134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low</a:t>
            </a:r>
            <a:endParaRPr sz="1200">
              <a:latin typeface="Arial"/>
              <a:cs typeface="Arial"/>
            </a:endParaRPr>
          </a:p>
          <a:p>
            <a:pPr algn="ctr" marL="22860">
              <a:lnSpc>
                <a:spcPct val="100000"/>
              </a:lnSpc>
              <a:spcBef>
                <a:spcPts val="665"/>
              </a:spcBef>
            </a:pPr>
            <a:r>
              <a:rPr dirty="0" sz="1600" spc="-50">
                <a:latin typeface="Arial"/>
                <a:cs typeface="Arial"/>
              </a:rPr>
              <a:t>⁞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685280" y="3159597"/>
            <a:ext cx="198755" cy="60325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off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dirty="0" sz="1600" spc="-50">
                <a:latin typeface="Arial"/>
                <a:cs typeface="Arial"/>
              </a:rPr>
              <a:t>⁞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425308" y="3160361"/>
            <a:ext cx="396240" cy="60134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bright</a:t>
            </a:r>
            <a:endParaRPr sz="1200">
              <a:latin typeface="Arial"/>
              <a:cs typeface="Arial"/>
            </a:endParaRPr>
          </a:p>
          <a:p>
            <a:pPr algn="ctr" marL="10160">
              <a:lnSpc>
                <a:spcPct val="100000"/>
              </a:lnSpc>
              <a:spcBef>
                <a:spcPts val="665"/>
              </a:spcBef>
            </a:pPr>
            <a:r>
              <a:rPr dirty="0" sz="1600" spc="-50">
                <a:latin typeface="Arial"/>
                <a:cs typeface="Arial"/>
              </a:rPr>
              <a:t>⁞</a:t>
            </a:r>
            <a:endParaRPr sz="16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082666" y="3511041"/>
            <a:ext cx="800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Arial"/>
                <a:cs typeface="Arial"/>
              </a:rPr>
              <a:t>⁞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95985" y="4824284"/>
            <a:ext cx="4841875" cy="54737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500" spc="-100">
                <a:latin typeface="Arial"/>
                <a:cs typeface="Arial"/>
              </a:rPr>
              <a:t>Wenn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 spc="-70">
                <a:latin typeface="Arial"/>
                <a:cs typeface="Arial"/>
              </a:rPr>
              <a:t>kein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 spc="-90">
                <a:latin typeface="Arial"/>
                <a:cs typeface="Arial"/>
              </a:rPr>
              <a:t>Gegenbeispiel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 spc="-70">
                <a:latin typeface="Arial"/>
                <a:cs typeface="Arial"/>
              </a:rPr>
              <a:t>gefunden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 spc="-25">
                <a:latin typeface="Arial"/>
                <a:cs typeface="Arial"/>
              </a:rPr>
              <a:t>wird,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 spc="-35">
                <a:latin typeface="Arial"/>
                <a:cs typeface="Arial"/>
              </a:rPr>
              <a:t>ist</a:t>
            </a:r>
            <a:r>
              <a:rPr dirty="0" sz="1500" spc="-70">
                <a:latin typeface="Arial"/>
                <a:cs typeface="Arial"/>
              </a:rPr>
              <a:t> </a:t>
            </a:r>
            <a:r>
              <a:rPr dirty="0" sz="1500" spc="-50">
                <a:latin typeface="Arial"/>
                <a:cs typeface="Arial"/>
              </a:rPr>
              <a:t>die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 spc="-135">
                <a:latin typeface="Arial"/>
                <a:cs typeface="Arial"/>
              </a:rPr>
              <a:t>Aussage</a:t>
            </a:r>
            <a:r>
              <a:rPr dirty="0" sz="1500" spc="-7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wahr.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400">
                <a:latin typeface="Wingdings"/>
                <a:cs typeface="Wingdings"/>
              </a:rPr>
              <a:t></a:t>
            </a:r>
            <a:r>
              <a:rPr dirty="0" sz="1400" spc="50">
                <a:latin typeface="Times New Roman"/>
                <a:cs typeface="Times New Roman"/>
              </a:rPr>
              <a:t> </a:t>
            </a:r>
            <a:r>
              <a:rPr dirty="0" sz="1400" spc="-85">
                <a:latin typeface="Arial"/>
                <a:cs typeface="Arial"/>
              </a:rPr>
              <a:t>Bei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 spc="-75">
                <a:latin typeface="Arial"/>
                <a:cs typeface="Arial"/>
              </a:rPr>
              <a:t>großen</a:t>
            </a:r>
            <a:r>
              <a:rPr dirty="0" sz="1400" spc="-90">
                <a:latin typeface="Arial"/>
                <a:cs typeface="Arial"/>
              </a:rPr>
              <a:t> </a:t>
            </a:r>
            <a:r>
              <a:rPr dirty="0" sz="1400" spc="-40">
                <a:latin typeface="Arial"/>
                <a:cs typeface="Arial"/>
              </a:rPr>
              <a:t>Modellen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70">
                <a:latin typeface="Arial"/>
                <a:cs typeface="Arial"/>
              </a:rPr>
              <a:t>sehr </a:t>
            </a:r>
            <a:r>
              <a:rPr dirty="0" sz="1400" spc="-25" b="1">
                <a:latin typeface="Arial"/>
                <a:cs typeface="Arial"/>
              </a:rPr>
              <a:t>rechenintensiv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95985" y="5630367"/>
            <a:ext cx="5313680" cy="613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290"/>
              </a:lnSpc>
              <a:spcBef>
                <a:spcPts val="100"/>
              </a:spcBef>
            </a:pPr>
            <a:r>
              <a:rPr dirty="0" sz="2000" spc="-114">
                <a:latin typeface="Arial"/>
                <a:cs typeface="Arial"/>
              </a:rPr>
              <a:t>Für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114">
                <a:latin typeface="Arial"/>
                <a:cs typeface="Arial"/>
              </a:rPr>
              <a:t>Timed</a:t>
            </a:r>
            <a:r>
              <a:rPr dirty="0" sz="2000" spc="-65">
                <a:latin typeface="Arial"/>
                <a:cs typeface="Arial"/>
              </a:rPr>
              <a:t> Automata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155">
                <a:latin typeface="Arial"/>
                <a:cs typeface="Arial"/>
              </a:rPr>
              <a:t>muss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90">
                <a:latin typeface="Arial"/>
                <a:cs typeface="Arial"/>
              </a:rPr>
              <a:t>Zeit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diskretisiert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werden</a:t>
            </a:r>
            <a:endParaRPr sz="2000">
              <a:latin typeface="Arial"/>
              <a:cs typeface="Arial"/>
            </a:endParaRPr>
          </a:p>
          <a:p>
            <a:pPr marL="697865" indent="-227965">
              <a:lnSpc>
                <a:spcPts val="2290"/>
              </a:lnSpc>
              <a:buClr>
                <a:srgbClr val="2D75B6"/>
              </a:buClr>
              <a:buSzPct val="110000"/>
              <a:buFont typeface="Wingdings"/>
              <a:buChar char=""/>
              <a:tabLst>
                <a:tab pos="697865" algn="l"/>
              </a:tabLst>
            </a:pPr>
            <a:r>
              <a:rPr dirty="0" sz="2000" spc="-25">
                <a:latin typeface="Arial"/>
                <a:cs typeface="Arial"/>
              </a:rPr>
              <a:t>Mehr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dazu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später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516498" y="4745482"/>
            <a:ext cx="2113280" cy="628650"/>
            <a:chOff x="5516498" y="4745482"/>
            <a:chExt cx="2113280" cy="628650"/>
          </a:xfrm>
        </p:grpSpPr>
        <p:sp>
          <p:nvSpPr>
            <p:cNvPr id="49" name="object 49"/>
            <p:cNvSpPr/>
            <p:nvPr/>
          </p:nvSpPr>
          <p:spPr>
            <a:xfrm>
              <a:off x="5522848" y="4751832"/>
              <a:ext cx="2100580" cy="615950"/>
            </a:xfrm>
            <a:custGeom>
              <a:avLst/>
              <a:gdLst/>
              <a:ahLst/>
              <a:cxnLst/>
              <a:rect l="l" t="t" r="r" b="b"/>
              <a:pathLst>
                <a:path w="2100579" h="615950">
                  <a:moveTo>
                    <a:pt x="1997583" y="0"/>
                  </a:moveTo>
                  <a:lnTo>
                    <a:pt x="716915" y="0"/>
                  </a:lnTo>
                  <a:lnTo>
                    <a:pt x="676985" y="8068"/>
                  </a:lnTo>
                  <a:lnTo>
                    <a:pt x="644366" y="30067"/>
                  </a:lnTo>
                  <a:lnTo>
                    <a:pt x="622367" y="62686"/>
                  </a:lnTo>
                  <a:lnTo>
                    <a:pt x="614299" y="102616"/>
                  </a:lnTo>
                  <a:lnTo>
                    <a:pt x="0" y="263906"/>
                  </a:lnTo>
                  <a:lnTo>
                    <a:pt x="614299" y="256540"/>
                  </a:lnTo>
                  <a:lnTo>
                    <a:pt x="614299" y="513080"/>
                  </a:lnTo>
                  <a:lnTo>
                    <a:pt x="622367" y="553009"/>
                  </a:lnTo>
                  <a:lnTo>
                    <a:pt x="644366" y="585628"/>
                  </a:lnTo>
                  <a:lnTo>
                    <a:pt x="676985" y="607627"/>
                  </a:lnTo>
                  <a:lnTo>
                    <a:pt x="716915" y="615696"/>
                  </a:lnTo>
                  <a:lnTo>
                    <a:pt x="1997583" y="615696"/>
                  </a:lnTo>
                  <a:lnTo>
                    <a:pt x="2037512" y="607627"/>
                  </a:lnTo>
                  <a:lnTo>
                    <a:pt x="2070131" y="585628"/>
                  </a:lnTo>
                  <a:lnTo>
                    <a:pt x="2092130" y="553009"/>
                  </a:lnTo>
                  <a:lnTo>
                    <a:pt x="2100199" y="513080"/>
                  </a:lnTo>
                  <a:lnTo>
                    <a:pt x="2100199" y="102616"/>
                  </a:lnTo>
                  <a:lnTo>
                    <a:pt x="2092130" y="62686"/>
                  </a:lnTo>
                  <a:lnTo>
                    <a:pt x="2070131" y="30067"/>
                  </a:lnTo>
                  <a:lnTo>
                    <a:pt x="2037512" y="8068"/>
                  </a:lnTo>
                  <a:lnTo>
                    <a:pt x="19975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522848" y="4751832"/>
              <a:ext cx="2100580" cy="615950"/>
            </a:xfrm>
            <a:custGeom>
              <a:avLst/>
              <a:gdLst/>
              <a:ahLst/>
              <a:cxnLst/>
              <a:rect l="l" t="t" r="r" b="b"/>
              <a:pathLst>
                <a:path w="2100579" h="615950">
                  <a:moveTo>
                    <a:pt x="614299" y="102616"/>
                  </a:moveTo>
                  <a:lnTo>
                    <a:pt x="622367" y="62686"/>
                  </a:lnTo>
                  <a:lnTo>
                    <a:pt x="644366" y="30067"/>
                  </a:lnTo>
                  <a:lnTo>
                    <a:pt x="676985" y="8068"/>
                  </a:lnTo>
                  <a:lnTo>
                    <a:pt x="716915" y="0"/>
                  </a:lnTo>
                  <a:lnTo>
                    <a:pt x="861949" y="0"/>
                  </a:lnTo>
                  <a:lnTo>
                    <a:pt x="1233424" y="0"/>
                  </a:lnTo>
                  <a:lnTo>
                    <a:pt x="1997583" y="0"/>
                  </a:lnTo>
                  <a:lnTo>
                    <a:pt x="2037512" y="8068"/>
                  </a:lnTo>
                  <a:lnTo>
                    <a:pt x="2070131" y="30067"/>
                  </a:lnTo>
                  <a:lnTo>
                    <a:pt x="2092130" y="62686"/>
                  </a:lnTo>
                  <a:lnTo>
                    <a:pt x="2100199" y="102616"/>
                  </a:lnTo>
                  <a:lnTo>
                    <a:pt x="2100199" y="256540"/>
                  </a:lnTo>
                  <a:lnTo>
                    <a:pt x="2100199" y="513080"/>
                  </a:lnTo>
                  <a:lnTo>
                    <a:pt x="2092130" y="553009"/>
                  </a:lnTo>
                  <a:lnTo>
                    <a:pt x="2070131" y="585628"/>
                  </a:lnTo>
                  <a:lnTo>
                    <a:pt x="2037512" y="607627"/>
                  </a:lnTo>
                  <a:lnTo>
                    <a:pt x="1997583" y="615696"/>
                  </a:lnTo>
                  <a:lnTo>
                    <a:pt x="1233424" y="615696"/>
                  </a:lnTo>
                  <a:lnTo>
                    <a:pt x="861949" y="615696"/>
                  </a:lnTo>
                  <a:lnTo>
                    <a:pt x="716915" y="615696"/>
                  </a:lnTo>
                  <a:lnTo>
                    <a:pt x="676985" y="607627"/>
                  </a:lnTo>
                  <a:lnTo>
                    <a:pt x="644366" y="585628"/>
                  </a:lnTo>
                  <a:lnTo>
                    <a:pt x="622367" y="553009"/>
                  </a:lnTo>
                  <a:lnTo>
                    <a:pt x="614299" y="513080"/>
                  </a:lnTo>
                  <a:lnTo>
                    <a:pt x="614299" y="256540"/>
                  </a:lnTo>
                  <a:lnTo>
                    <a:pt x="0" y="263906"/>
                  </a:lnTo>
                  <a:lnTo>
                    <a:pt x="614299" y="102616"/>
                  </a:lnTo>
                  <a:close/>
                </a:path>
              </a:pathLst>
            </a:custGeom>
            <a:ln w="12699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595985" y="4083001"/>
            <a:ext cx="6583680" cy="890269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700" spc="-180">
                <a:latin typeface="Arial"/>
                <a:cs typeface="Arial"/>
              </a:rPr>
              <a:t>Das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endliche</a:t>
            </a:r>
            <a:r>
              <a:rPr dirty="0" sz="1700" spc="-8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Modell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deckt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also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unendlich viele,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beliebig </a:t>
            </a:r>
            <a:r>
              <a:rPr dirty="0" sz="1700" spc="-105">
                <a:latin typeface="Arial"/>
                <a:cs typeface="Arial"/>
              </a:rPr>
              <a:t>lange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Pfade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ab.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70000"/>
              </a:lnSpc>
              <a:spcBef>
                <a:spcPts val="805"/>
              </a:spcBef>
            </a:pPr>
            <a:r>
              <a:rPr dirty="0" sz="1700" spc="-114">
                <a:latin typeface="Arial"/>
                <a:cs typeface="Arial"/>
              </a:rPr>
              <a:t>Bei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einem </a:t>
            </a:r>
            <a:r>
              <a:rPr dirty="0" sz="1700" spc="-70">
                <a:latin typeface="Arial"/>
                <a:cs typeface="Arial"/>
              </a:rPr>
              <a:t>endlichen</a:t>
            </a:r>
            <a:r>
              <a:rPr dirty="0" sz="1700" spc="-8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Transitionssystem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sucht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Model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Checking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im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-105" b="1">
                <a:latin typeface="Arial"/>
                <a:cs typeface="Arial"/>
              </a:rPr>
              <a:t>gesamten </a:t>
            </a:r>
            <a:r>
              <a:rPr dirty="0" sz="1700" spc="-155" b="1">
                <a:latin typeface="Arial"/>
                <a:cs typeface="Arial"/>
              </a:rPr>
              <a:t>Zustandsraum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nach</a:t>
            </a:r>
            <a:r>
              <a:rPr dirty="0" sz="1700" spc="-70">
                <a:latin typeface="Arial"/>
                <a:cs typeface="Arial"/>
              </a:rPr>
              <a:t> einen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145" b="1">
                <a:latin typeface="Arial"/>
                <a:cs typeface="Arial"/>
              </a:rPr>
              <a:t>Gegenbeispiel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-80" b="1">
                <a:latin typeface="Arial"/>
                <a:cs typeface="Arial"/>
              </a:rPr>
              <a:t>für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spc="-100" b="1">
                <a:latin typeface="Arial"/>
                <a:cs typeface="Arial"/>
              </a:rPr>
              <a:t>eine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Aussage</a:t>
            </a:r>
            <a:r>
              <a:rPr dirty="0" sz="1700" spc="-45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  <a:p>
            <a:pPr algn="r" marR="79375">
              <a:lnSpc>
                <a:spcPts val="910"/>
              </a:lnSpc>
            </a:pPr>
            <a:r>
              <a:rPr dirty="0" sz="1200" spc="-110">
                <a:latin typeface="Arial"/>
                <a:cs typeface="Arial"/>
              </a:rPr>
              <a:t>Da</a:t>
            </a:r>
            <a:r>
              <a:rPr dirty="0" sz="1200" spc="-7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alle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293865" y="4947920"/>
            <a:ext cx="11722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3398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Möglichkeiten </a:t>
            </a:r>
            <a:r>
              <a:rPr dirty="0" sz="1200" spc="-20">
                <a:latin typeface="Arial"/>
                <a:cs typeface="Arial"/>
              </a:rPr>
              <a:t>überprüft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-35">
                <a:latin typeface="Arial"/>
                <a:cs typeface="Arial"/>
              </a:rPr>
              <a:t>wurden.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73952"/>
            <a:ext cx="9144000" cy="384175"/>
          </a:xfrm>
          <a:custGeom>
            <a:avLst/>
            <a:gdLst/>
            <a:ahLst/>
            <a:cxnLst/>
            <a:rect l="l" t="t" r="r" b="b"/>
            <a:pathLst>
              <a:path w="9144000" h="384175">
                <a:moveTo>
                  <a:pt x="9144000" y="0"/>
                </a:moveTo>
                <a:lnTo>
                  <a:pt x="0" y="0"/>
                </a:lnTo>
                <a:lnTo>
                  <a:pt x="0" y="384048"/>
                </a:lnTo>
                <a:lnTo>
                  <a:pt x="9144000" y="384048"/>
                </a:lnTo>
                <a:lnTo>
                  <a:pt x="9144000" y="0"/>
                </a:lnTo>
                <a:close/>
              </a:path>
            </a:pathLst>
          </a:custGeom>
          <a:solidFill>
            <a:srgbClr val="2B54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4329" y="3603497"/>
            <a:ext cx="8437245" cy="0"/>
          </a:xfrm>
          <a:custGeom>
            <a:avLst/>
            <a:gdLst/>
            <a:ahLst/>
            <a:cxnLst/>
            <a:rect l="l" t="t" r="r" b="b"/>
            <a:pathLst>
              <a:path w="8437245" h="0">
                <a:moveTo>
                  <a:pt x="0" y="0"/>
                </a:moveTo>
                <a:lnTo>
                  <a:pt x="8436864" y="0"/>
                </a:lnTo>
              </a:path>
            </a:pathLst>
          </a:custGeom>
          <a:ln w="31750">
            <a:solidFill>
              <a:srgbClr val="2B54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58697" y="2842005"/>
            <a:ext cx="121666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5"/>
              <a:t>Inhalt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26844" y="3680563"/>
            <a:ext cx="2827655" cy="241554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1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400" spc="-10">
                <a:solidFill>
                  <a:srgbClr val="7E7E7E"/>
                </a:solidFill>
                <a:latin typeface="Arial"/>
                <a:cs typeface="Arial"/>
              </a:rPr>
              <a:t>Einführung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ts val="2845"/>
              </a:lnSpc>
              <a:spcBef>
                <a:spcPts val="42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400" spc="-45">
                <a:latin typeface="Arial"/>
                <a:cs typeface="Arial"/>
              </a:rPr>
              <a:t>Temporallogik</a:t>
            </a:r>
            <a:endParaRPr sz="2400">
              <a:latin typeface="Arial"/>
              <a:cs typeface="Arial"/>
            </a:endParaRPr>
          </a:p>
          <a:p>
            <a:pPr lvl="1" marL="812165" indent="-342265">
              <a:lnSpc>
                <a:spcPts val="2810"/>
              </a:lnSpc>
              <a:buFont typeface="Wingdings"/>
              <a:buChar char=""/>
              <a:tabLst>
                <a:tab pos="812165" algn="l"/>
              </a:tabLst>
            </a:pPr>
            <a:r>
              <a:rPr dirty="0" sz="2400" spc="-30">
                <a:latin typeface="Arial"/>
                <a:cs typeface="Arial"/>
              </a:rPr>
              <a:t>Grundlagen</a:t>
            </a:r>
            <a:endParaRPr sz="2400">
              <a:latin typeface="Arial"/>
              <a:cs typeface="Arial"/>
            </a:endParaRPr>
          </a:p>
          <a:p>
            <a:pPr lvl="1" marL="812165" indent="-342265">
              <a:lnSpc>
                <a:spcPts val="2845"/>
              </a:lnSpc>
              <a:buFont typeface="Wingdings"/>
              <a:buChar char=""/>
              <a:tabLst>
                <a:tab pos="812165" algn="l"/>
              </a:tabLst>
            </a:pPr>
            <a:r>
              <a:rPr dirty="0" sz="2400" spc="-325">
                <a:solidFill>
                  <a:srgbClr val="7E7E7E"/>
                </a:solidFill>
                <a:latin typeface="Arial"/>
                <a:cs typeface="Arial"/>
              </a:rPr>
              <a:t>UPPAAL</a:t>
            </a:r>
            <a:r>
              <a:rPr dirty="0" sz="2400" spc="-9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spc="-105">
                <a:solidFill>
                  <a:srgbClr val="7E7E7E"/>
                </a:solidFill>
                <a:latin typeface="Arial"/>
                <a:cs typeface="Arial"/>
              </a:rPr>
              <a:t>Queries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2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400" spc="-70">
                <a:solidFill>
                  <a:srgbClr val="7E7E7E"/>
                </a:solidFill>
                <a:latin typeface="Arial"/>
                <a:cs typeface="Arial"/>
              </a:rPr>
              <a:t>Verifikation</a:t>
            </a:r>
            <a:r>
              <a:rPr dirty="0" sz="2400" spc="-11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spc="-114">
                <a:solidFill>
                  <a:srgbClr val="7E7E7E"/>
                </a:solidFill>
                <a:latin typeface="Arial"/>
                <a:cs typeface="Arial"/>
              </a:rPr>
              <a:t>von</a:t>
            </a:r>
            <a:r>
              <a:rPr dirty="0" sz="2400" spc="-8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spc="-385">
                <a:solidFill>
                  <a:srgbClr val="7E7E7E"/>
                </a:solidFill>
                <a:latin typeface="Arial"/>
                <a:cs typeface="Arial"/>
              </a:rPr>
              <a:t>TA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2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400" spc="-145">
                <a:solidFill>
                  <a:srgbClr val="7E7E7E"/>
                </a:solidFill>
                <a:latin typeface="Arial"/>
                <a:cs typeface="Arial"/>
              </a:rPr>
              <a:t>Fazit</a:t>
            </a:r>
            <a:r>
              <a:rPr dirty="0" sz="2400" spc="-1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spc="-210">
                <a:solidFill>
                  <a:srgbClr val="7E7E7E"/>
                </a:solidFill>
                <a:latin typeface="Arial"/>
                <a:cs typeface="Arial"/>
              </a:rPr>
              <a:t>+</a:t>
            </a:r>
            <a:r>
              <a:rPr dirty="0" sz="2400" spc="-1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7E7E7E"/>
                </a:solidFill>
                <a:latin typeface="Arial"/>
                <a:cs typeface="Arial"/>
              </a:rPr>
              <a:t>Literatur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10"/>
              <a:t>Eigenschaften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90574"/>
            <a:ext cx="7116445" cy="111760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dirty="0" sz="2000" spc="-114">
                <a:latin typeface="Arial"/>
                <a:cs typeface="Arial"/>
              </a:rPr>
              <a:t>Eigenschaften</a:t>
            </a:r>
            <a:r>
              <a:rPr dirty="0" sz="2000" spc="-95">
                <a:latin typeface="Arial"/>
                <a:cs typeface="Arial"/>
              </a:rPr>
              <a:t> von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305">
                <a:latin typeface="Arial"/>
                <a:cs typeface="Arial"/>
              </a:rPr>
              <a:t>TA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werden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als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zeitliche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14">
                <a:latin typeface="Arial"/>
                <a:cs typeface="Arial"/>
              </a:rPr>
              <a:t>Eigenschaften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60">
                <a:latin typeface="Arial"/>
                <a:cs typeface="Arial"/>
              </a:rPr>
              <a:t>über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Pfaden </a:t>
            </a:r>
            <a:r>
              <a:rPr dirty="0" sz="2000" spc="-10">
                <a:latin typeface="Arial"/>
                <a:cs typeface="Arial"/>
              </a:rPr>
              <a:t>formuliert:</a:t>
            </a:r>
            <a:endParaRPr sz="20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845"/>
              </a:spcBef>
              <a:tabLst>
                <a:tab pos="4161790" algn="l"/>
              </a:tabLst>
            </a:pPr>
            <a:r>
              <a:rPr dirty="0" sz="1800" spc="-135" b="1">
                <a:latin typeface="Arial"/>
                <a:cs typeface="Arial"/>
              </a:rPr>
              <a:t>Linear-</a:t>
            </a:r>
            <a:r>
              <a:rPr dirty="0" sz="1800" spc="-85" b="1">
                <a:latin typeface="Arial"/>
                <a:cs typeface="Arial"/>
              </a:rPr>
              <a:t>time</a:t>
            </a:r>
            <a:r>
              <a:rPr dirty="0" sz="1800" spc="-80" b="1">
                <a:latin typeface="Arial"/>
                <a:cs typeface="Arial"/>
              </a:rPr>
              <a:t> </a:t>
            </a:r>
            <a:r>
              <a:rPr dirty="0" sz="1800" spc="-150" b="1">
                <a:latin typeface="Arial"/>
                <a:cs typeface="Arial"/>
              </a:rPr>
              <a:t>Temporal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215" b="1">
                <a:latin typeface="Arial"/>
                <a:cs typeface="Arial"/>
              </a:rPr>
              <a:t>Logic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(LTL)</a:t>
            </a:r>
            <a:r>
              <a:rPr dirty="0" sz="1800" b="1">
                <a:latin typeface="Arial"/>
                <a:cs typeface="Arial"/>
              </a:rPr>
              <a:t>	</a:t>
            </a:r>
            <a:r>
              <a:rPr dirty="0" sz="1800" spc="-135" b="1">
                <a:latin typeface="Arial"/>
                <a:cs typeface="Arial"/>
              </a:rPr>
              <a:t>Computation</a:t>
            </a:r>
            <a:r>
              <a:rPr dirty="0" sz="1800" spc="-100" b="1">
                <a:latin typeface="Arial"/>
                <a:cs typeface="Arial"/>
              </a:rPr>
              <a:t> </a:t>
            </a:r>
            <a:r>
              <a:rPr dirty="0" sz="1800" spc="-160" b="1">
                <a:latin typeface="Arial"/>
                <a:cs typeface="Arial"/>
              </a:rPr>
              <a:t>Tree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215" b="1">
                <a:latin typeface="Arial"/>
                <a:cs typeface="Arial"/>
              </a:rPr>
              <a:t>Logic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(CTL)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0977" y="3497960"/>
            <a:ext cx="253746" cy="25374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605653" y="3512057"/>
            <a:ext cx="106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91908" y="3497960"/>
            <a:ext cx="255270" cy="254000"/>
            <a:chOff x="6891908" y="3497960"/>
            <a:chExt cx="255270" cy="254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1433" y="3507485"/>
              <a:ext cx="236220" cy="23469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901433" y="3507485"/>
              <a:ext cx="236220" cy="234950"/>
            </a:xfrm>
            <a:custGeom>
              <a:avLst/>
              <a:gdLst/>
              <a:ahLst/>
              <a:cxnLst/>
              <a:rect l="l" t="t" r="r" b="b"/>
              <a:pathLst>
                <a:path w="236220" h="234950">
                  <a:moveTo>
                    <a:pt x="0" y="117347"/>
                  </a:moveTo>
                  <a:lnTo>
                    <a:pt x="9274" y="71687"/>
                  </a:lnTo>
                  <a:lnTo>
                    <a:pt x="34575" y="34385"/>
                  </a:lnTo>
                  <a:lnTo>
                    <a:pt x="72116" y="9227"/>
                  </a:lnTo>
                  <a:lnTo>
                    <a:pt x="118110" y="0"/>
                  </a:lnTo>
                  <a:lnTo>
                    <a:pt x="164103" y="9227"/>
                  </a:lnTo>
                  <a:lnTo>
                    <a:pt x="201644" y="34385"/>
                  </a:lnTo>
                  <a:lnTo>
                    <a:pt x="226945" y="71687"/>
                  </a:lnTo>
                  <a:lnTo>
                    <a:pt x="236220" y="117347"/>
                  </a:lnTo>
                  <a:lnTo>
                    <a:pt x="226945" y="163008"/>
                  </a:lnTo>
                  <a:lnTo>
                    <a:pt x="201644" y="200310"/>
                  </a:lnTo>
                  <a:lnTo>
                    <a:pt x="164103" y="225468"/>
                  </a:lnTo>
                  <a:lnTo>
                    <a:pt x="118110" y="234695"/>
                  </a:lnTo>
                  <a:lnTo>
                    <a:pt x="72116" y="225468"/>
                  </a:lnTo>
                  <a:lnTo>
                    <a:pt x="34575" y="200310"/>
                  </a:lnTo>
                  <a:lnTo>
                    <a:pt x="9274" y="163008"/>
                  </a:lnTo>
                  <a:lnTo>
                    <a:pt x="0" y="117347"/>
                  </a:lnTo>
                  <a:close/>
                </a:path>
              </a:pathLst>
            </a:custGeom>
            <a:ln w="19049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974585" y="3512057"/>
            <a:ext cx="90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880228" y="2728341"/>
            <a:ext cx="2681605" cy="1793239"/>
            <a:chOff x="4880228" y="2728341"/>
            <a:chExt cx="2681605" cy="1793239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0228" y="4267580"/>
              <a:ext cx="253746" cy="2537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15961" y="4277105"/>
              <a:ext cx="236220" cy="23469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315961" y="4277105"/>
              <a:ext cx="236220" cy="234950"/>
            </a:xfrm>
            <a:custGeom>
              <a:avLst/>
              <a:gdLst/>
              <a:ahLst/>
              <a:cxnLst/>
              <a:rect l="l" t="t" r="r" b="b"/>
              <a:pathLst>
                <a:path w="236220" h="234950">
                  <a:moveTo>
                    <a:pt x="0" y="117348"/>
                  </a:moveTo>
                  <a:lnTo>
                    <a:pt x="9274" y="71687"/>
                  </a:lnTo>
                  <a:lnTo>
                    <a:pt x="34575" y="34385"/>
                  </a:lnTo>
                  <a:lnTo>
                    <a:pt x="72116" y="9227"/>
                  </a:lnTo>
                  <a:lnTo>
                    <a:pt x="118110" y="0"/>
                  </a:lnTo>
                  <a:lnTo>
                    <a:pt x="164103" y="9227"/>
                  </a:lnTo>
                  <a:lnTo>
                    <a:pt x="201644" y="34385"/>
                  </a:lnTo>
                  <a:lnTo>
                    <a:pt x="226945" y="71687"/>
                  </a:lnTo>
                  <a:lnTo>
                    <a:pt x="236220" y="117348"/>
                  </a:lnTo>
                  <a:lnTo>
                    <a:pt x="226945" y="163008"/>
                  </a:lnTo>
                  <a:lnTo>
                    <a:pt x="201644" y="200310"/>
                  </a:lnTo>
                  <a:lnTo>
                    <a:pt x="164103" y="225468"/>
                  </a:lnTo>
                  <a:lnTo>
                    <a:pt x="118110" y="234696"/>
                  </a:lnTo>
                  <a:lnTo>
                    <a:pt x="72116" y="225468"/>
                  </a:lnTo>
                  <a:lnTo>
                    <a:pt x="34575" y="200310"/>
                  </a:lnTo>
                  <a:lnTo>
                    <a:pt x="9274" y="163008"/>
                  </a:lnTo>
                  <a:lnTo>
                    <a:pt x="0" y="117348"/>
                  </a:lnTo>
                  <a:close/>
                </a:path>
              </a:pathLst>
            </a:custGeom>
            <a:ln w="19049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30976" y="4267580"/>
              <a:ext cx="253746" cy="25374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31813" y="4277105"/>
              <a:ext cx="236220" cy="23469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131813" y="4277105"/>
              <a:ext cx="236220" cy="234950"/>
            </a:xfrm>
            <a:custGeom>
              <a:avLst/>
              <a:gdLst/>
              <a:ahLst/>
              <a:cxnLst/>
              <a:rect l="l" t="t" r="r" b="b"/>
              <a:pathLst>
                <a:path w="236220" h="234950">
                  <a:moveTo>
                    <a:pt x="0" y="117348"/>
                  </a:moveTo>
                  <a:lnTo>
                    <a:pt x="9274" y="71687"/>
                  </a:lnTo>
                  <a:lnTo>
                    <a:pt x="34575" y="34385"/>
                  </a:lnTo>
                  <a:lnTo>
                    <a:pt x="72116" y="9227"/>
                  </a:lnTo>
                  <a:lnTo>
                    <a:pt x="118110" y="0"/>
                  </a:lnTo>
                  <a:lnTo>
                    <a:pt x="164103" y="9227"/>
                  </a:lnTo>
                  <a:lnTo>
                    <a:pt x="201644" y="34385"/>
                  </a:lnTo>
                  <a:lnTo>
                    <a:pt x="226945" y="71687"/>
                  </a:lnTo>
                  <a:lnTo>
                    <a:pt x="236220" y="117348"/>
                  </a:lnTo>
                  <a:lnTo>
                    <a:pt x="226945" y="163008"/>
                  </a:lnTo>
                  <a:lnTo>
                    <a:pt x="201644" y="200310"/>
                  </a:lnTo>
                  <a:lnTo>
                    <a:pt x="164103" y="225468"/>
                  </a:lnTo>
                  <a:lnTo>
                    <a:pt x="118110" y="234696"/>
                  </a:lnTo>
                  <a:lnTo>
                    <a:pt x="72116" y="225468"/>
                  </a:lnTo>
                  <a:lnTo>
                    <a:pt x="34575" y="200310"/>
                  </a:lnTo>
                  <a:lnTo>
                    <a:pt x="9274" y="163008"/>
                  </a:lnTo>
                  <a:lnTo>
                    <a:pt x="0" y="117348"/>
                  </a:lnTo>
                  <a:close/>
                </a:path>
              </a:pathLst>
            </a:custGeom>
            <a:ln w="19049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96252" y="4267580"/>
              <a:ext cx="253746" cy="25374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41160" y="2728341"/>
              <a:ext cx="253746" cy="25374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319265" y="2741752"/>
            <a:ext cx="990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992814" y="2924746"/>
            <a:ext cx="2455545" cy="1367790"/>
            <a:chOff x="4992814" y="2924746"/>
            <a:chExt cx="2455545" cy="1367790"/>
          </a:xfrm>
        </p:grpSpPr>
        <p:sp>
          <p:nvSpPr>
            <p:cNvPr id="21" name="object 21"/>
            <p:cNvSpPr/>
            <p:nvPr/>
          </p:nvSpPr>
          <p:spPr>
            <a:xfrm>
              <a:off x="5657850" y="2939033"/>
              <a:ext cx="627380" cy="569595"/>
            </a:xfrm>
            <a:custGeom>
              <a:avLst/>
              <a:gdLst/>
              <a:ahLst/>
              <a:cxnLst/>
              <a:rect l="l" t="t" r="r" b="b"/>
              <a:pathLst>
                <a:path w="627379" h="569595">
                  <a:moveTo>
                    <a:pt x="627379" y="0"/>
                  </a:moveTo>
                  <a:lnTo>
                    <a:pt x="0" y="569087"/>
                  </a:lnTo>
                </a:path>
              </a:pathLst>
            </a:custGeom>
            <a:ln w="2857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451854" y="2939033"/>
              <a:ext cx="568325" cy="569595"/>
            </a:xfrm>
            <a:custGeom>
              <a:avLst/>
              <a:gdLst/>
              <a:ahLst/>
              <a:cxnLst/>
              <a:rect l="l" t="t" r="r" b="b"/>
              <a:pathLst>
                <a:path w="568325" h="569595">
                  <a:moveTo>
                    <a:pt x="0" y="0"/>
                  </a:moveTo>
                  <a:lnTo>
                    <a:pt x="568198" y="569087"/>
                  </a:lnTo>
                </a:path>
              </a:pathLst>
            </a:custGeom>
            <a:ln w="2857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740146" y="3708653"/>
              <a:ext cx="509270" cy="569595"/>
            </a:xfrm>
            <a:custGeom>
              <a:avLst/>
              <a:gdLst/>
              <a:ahLst/>
              <a:cxnLst/>
              <a:rect l="l" t="t" r="r" b="b"/>
              <a:pathLst>
                <a:path w="509270" h="569595">
                  <a:moveTo>
                    <a:pt x="0" y="0"/>
                  </a:moveTo>
                  <a:lnTo>
                    <a:pt x="509016" y="569087"/>
                  </a:lnTo>
                </a:path>
              </a:pathLst>
            </a:custGeom>
            <a:ln w="2857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657850" y="3742181"/>
              <a:ext cx="0" cy="535305"/>
            </a:xfrm>
            <a:custGeom>
              <a:avLst/>
              <a:gdLst/>
              <a:ahLst/>
              <a:cxnLst/>
              <a:rect l="l" t="t" r="r" b="b"/>
              <a:pathLst>
                <a:path w="0" h="535304">
                  <a:moveTo>
                    <a:pt x="0" y="0"/>
                  </a:moveTo>
                  <a:lnTo>
                    <a:pt x="0" y="534797"/>
                  </a:lnTo>
                </a:path>
              </a:pathLst>
            </a:custGeom>
            <a:ln w="2857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007102" y="3708653"/>
              <a:ext cx="568325" cy="569595"/>
            </a:xfrm>
            <a:custGeom>
              <a:avLst/>
              <a:gdLst/>
              <a:ahLst/>
              <a:cxnLst/>
              <a:rect l="l" t="t" r="r" b="b"/>
              <a:pathLst>
                <a:path w="568325" h="569595">
                  <a:moveTo>
                    <a:pt x="568198" y="0"/>
                  </a:moveTo>
                  <a:lnTo>
                    <a:pt x="0" y="569087"/>
                  </a:lnTo>
                </a:path>
              </a:pathLst>
            </a:custGeom>
            <a:ln w="2857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723126" y="3708653"/>
              <a:ext cx="213360" cy="569595"/>
            </a:xfrm>
            <a:custGeom>
              <a:avLst/>
              <a:gdLst/>
              <a:ahLst/>
              <a:cxnLst/>
              <a:rect l="l" t="t" r="r" b="b"/>
              <a:pathLst>
                <a:path w="213359" h="569595">
                  <a:moveTo>
                    <a:pt x="212978" y="0"/>
                  </a:moveTo>
                  <a:lnTo>
                    <a:pt x="0" y="569087"/>
                  </a:lnTo>
                </a:path>
              </a:pathLst>
            </a:custGeom>
            <a:ln w="2857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102602" y="3708653"/>
              <a:ext cx="331470" cy="569595"/>
            </a:xfrm>
            <a:custGeom>
              <a:avLst/>
              <a:gdLst/>
              <a:ahLst/>
              <a:cxnLst/>
              <a:rect l="l" t="t" r="r" b="b"/>
              <a:pathLst>
                <a:path w="331470" h="569595">
                  <a:moveTo>
                    <a:pt x="0" y="0"/>
                  </a:moveTo>
                  <a:lnTo>
                    <a:pt x="331343" y="569087"/>
                  </a:lnTo>
                </a:path>
              </a:pathLst>
            </a:custGeom>
            <a:ln w="2857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4806822" y="4281932"/>
            <a:ext cx="3728085" cy="1193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9385">
              <a:lnSpc>
                <a:spcPct val="100000"/>
              </a:lnSpc>
              <a:spcBef>
                <a:spcPts val="100"/>
              </a:spcBef>
              <a:tabLst>
                <a:tab pos="812800" algn="l"/>
                <a:tab pos="1419860" algn="l"/>
                <a:tab pos="1880870" algn="l"/>
                <a:tab pos="2587625" algn="l"/>
              </a:tabLst>
            </a:pPr>
            <a:r>
              <a:rPr dirty="0" sz="1200" spc="-50">
                <a:latin typeface="Arial"/>
                <a:cs typeface="Arial"/>
              </a:rPr>
              <a:t>d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50">
                <a:latin typeface="Arial"/>
                <a:cs typeface="Arial"/>
              </a:rPr>
              <a:t>e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50">
                <a:latin typeface="Arial"/>
                <a:cs typeface="Arial"/>
              </a:rPr>
              <a:t>f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50">
                <a:latin typeface="Arial"/>
                <a:cs typeface="Arial"/>
              </a:rPr>
              <a:t>g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50"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600" spc="-120" b="1">
                <a:latin typeface="Arial"/>
                <a:cs typeface="Arial"/>
              </a:rPr>
              <a:t>Verzweigte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spc="-60">
                <a:latin typeface="Arial"/>
                <a:cs typeface="Arial"/>
              </a:rPr>
              <a:t>Zeit: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80">
                <a:latin typeface="Arial"/>
                <a:cs typeface="Arial"/>
              </a:rPr>
              <a:t>verschiedene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95">
                <a:latin typeface="Arial"/>
                <a:cs typeface="Arial"/>
              </a:rPr>
              <a:t>Folgezustände </a:t>
            </a:r>
            <a:r>
              <a:rPr dirty="0" sz="1600" spc="-65">
                <a:latin typeface="Arial"/>
                <a:cs typeface="Arial"/>
              </a:rPr>
              <a:t>möglich.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245">
                <a:latin typeface="Arial"/>
                <a:cs typeface="Arial"/>
              </a:rPr>
              <a:t>CTL</a:t>
            </a:r>
            <a:r>
              <a:rPr dirty="0" sz="1600" spc="-80">
                <a:latin typeface="Arial"/>
                <a:cs typeface="Arial"/>
              </a:rPr>
              <a:t> </a:t>
            </a:r>
            <a:r>
              <a:rPr dirty="0" sz="1600" spc="-50">
                <a:latin typeface="Arial"/>
                <a:cs typeface="Arial"/>
              </a:rPr>
              <a:t>spricht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 spc="-50">
                <a:latin typeface="Arial"/>
                <a:cs typeface="Arial"/>
              </a:rPr>
              <a:t>über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den </a:t>
            </a:r>
            <a:r>
              <a:rPr dirty="0" sz="1600" spc="-95">
                <a:latin typeface="Arial"/>
                <a:cs typeface="Arial"/>
              </a:rPr>
              <a:t>Berechnungsbaum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 spc="-45">
                <a:latin typeface="Arial"/>
                <a:cs typeface="Arial"/>
              </a:rPr>
              <a:t>(computation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tree).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51712" y="3438525"/>
            <a:ext cx="255270" cy="255270"/>
            <a:chOff x="751712" y="3438525"/>
            <a:chExt cx="255270" cy="255270"/>
          </a:xfrm>
        </p:grpSpPr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1237" y="3448050"/>
              <a:ext cx="236219" cy="23622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61237" y="3448050"/>
              <a:ext cx="236220" cy="236220"/>
            </a:xfrm>
            <a:custGeom>
              <a:avLst/>
              <a:gdLst/>
              <a:ahLst/>
              <a:cxnLst/>
              <a:rect l="l" t="t" r="r" b="b"/>
              <a:pathLst>
                <a:path w="236219" h="236220">
                  <a:moveTo>
                    <a:pt x="0" y="118110"/>
                  </a:moveTo>
                  <a:lnTo>
                    <a:pt x="9282" y="72116"/>
                  </a:lnTo>
                  <a:lnTo>
                    <a:pt x="34594" y="34575"/>
                  </a:lnTo>
                  <a:lnTo>
                    <a:pt x="72137" y="9274"/>
                  </a:lnTo>
                  <a:lnTo>
                    <a:pt x="118110" y="0"/>
                  </a:lnTo>
                  <a:lnTo>
                    <a:pt x="164082" y="9274"/>
                  </a:lnTo>
                  <a:lnTo>
                    <a:pt x="201625" y="34575"/>
                  </a:lnTo>
                  <a:lnTo>
                    <a:pt x="226937" y="72116"/>
                  </a:lnTo>
                  <a:lnTo>
                    <a:pt x="236220" y="118110"/>
                  </a:lnTo>
                  <a:lnTo>
                    <a:pt x="226937" y="164103"/>
                  </a:lnTo>
                  <a:lnTo>
                    <a:pt x="201625" y="201644"/>
                  </a:lnTo>
                  <a:lnTo>
                    <a:pt x="164082" y="226945"/>
                  </a:lnTo>
                  <a:lnTo>
                    <a:pt x="118110" y="236220"/>
                  </a:lnTo>
                  <a:lnTo>
                    <a:pt x="72137" y="226945"/>
                  </a:lnTo>
                  <a:lnTo>
                    <a:pt x="34594" y="201644"/>
                  </a:lnTo>
                  <a:lnTo>
                    <a:pt x="9282" y="164103"/>
                  </a:lnTo>
                  <a:lnTo>
                    <a:pt x="0" y="118110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827024" y="3453510"/>
            <a:ext cx="106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51712" y="2725292"/>
            <a:ext cx="255270" cy="1800860"/>
            <a:chOff x="751712" y="2725292"/>
            <a:chExt cx="255270" cy="1800860"/>
          </a:xfrm>
        </p:grpSpPr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1237" y="4280153"/>
              <a:ext cx="236219" cy="23622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61237" y="4280153"/>
              <a:ext cx="236220" cy="236220"/>
            </a:xfrm>
            <a:custGeom>
              <a:avLst/>
              <a:gdLst/>
              <a:ahLst/>
              <a:cxnLst/>
              <a:rect l="l" t="t" r="r" b="b"/>
              <a:pathLst>
                <a:path w="236219" h="236220">
                  <a:moveTo>
                    <a:pt x="0" y="118110"/>
                  </a:moveTo>
                  <a:lnTo>
                    <a:pt x="9282" y="72116"/>
                  </a:lnTo>
                  <a:lnTo>
                    <a:pt x="34594" y="34575"/>
                  </a:lnTo>
                  <a:lnTo>
                    <a:pt x="72137" y="9274"/>
                  </a:lnTo>
                  <a:lnTo>
                    <a:pt x="118110" y="0"/>
                  </a:lnTo>
                  <a:lnTo>
                    <a:pt x="164082" y="9274"/>
                  </a:lnTo>
                  <a:lnTo>
                    <a:pt x="201625" y="34575"/>
                  </a:lnTo>
                  <a:lnTo>
                    <a:pt x="226937" y="72116"/>
                  </a:lnTo>
                  <a:lnTo>
                    <a:pt x="236220" y="118110"/>
                  </a:lnTo>
                  <a:lnTo>
                    <a:pt x="226937" y="164103"/>
                  </a:lnTo>
                  <a:lnTo>
                    <a:pt x="201625" y="201644"/>
                  </a:lnTo>
                  <a:lnTo>
                    <a:pt x="164082" y="226945"/>
                  </a:lnTo>
                  <a:lnTo>
                    <a:pt x="118110" y="236220"/>
                  </a:lnTo>
                  <a:lnTo>
                    <a:pt x="72137" y="226945"/>
                  </a:lnTo>
                  <a:lnTo>
                    <a:pt x="34594" y="201644"/>
                  </a:lnTo>
                  <a:lnTo>
                    <a:pt x="9282" y="164103"/>
                  </a:lnTo>
                  <a:lnTo>
                    <a:pt x="0" y="118110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1237" y="2734817"/>
              <a:ext cx="236219" cy="23622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61237" y="2734817"/>
              <a:ext cx="236220" cy="236220"/>
            </a:xfrm>
            <a:custGeom>
              <a:avLst/>
              <a:gdLst/>
              <a:ahLst/>
              <a:cxnLst/>
              <a:rect l="l" t="t" r="r" b="b"/>
              <a:pathLst>
                <a:path w="236219" h="236219">
                  <a:moveTo>
                    <a:pt x="0" y="118110"/>
                  </a:moveTo>
                  <a:lnTo>
                    <a:pt x="9282" y="72116"/>
                  </a:lnTo>
                  <a:lnTo>
                    <a:pt x="34594" y="34575"/>
                  </a:lnTo>
                  <a:lnTo>
                    <a:pt x="72137" y="9274"/>
                  </a:lnTo>
                  <a:lnTo>
                    <a:pt x="118110" y="0"/>
                  </a:lnTo>
                  <a:lnTo>
                    <a:pt x="164082" y="9274"/>
                  </a:lnTo>
                  <a:lnTo>
                    <a:pt x="201625" y="34575"/>
                  </a:lnTo>
                  <a:lnTo>
                    <a:pt x="226937" y="72116"/>
                  </a:lnTo>
                  <a:lnTo>
                    <a:pt x="236220" y="118110"/>
                  </a:lnTo>
                  <a:lnTo>
                    <a:pt x="226937" y="164103"/>
                  </a:lnTo>
                  <a:lnTo>
                    <a:pt x="201625" y="201644"/>
                  </a:lnTo>
                  <a:lnTo>
                    <a:pt x="164082" y="226945"/>
                  </a:lnTo>
                  <a:lnTo>
                    <a:pt x="118110" y="236220"/>
                  </a:lnTo>
                  <a:lnTo>
                    <a:pt x="72137" y="226945"/>
                  </a:lnTo>
                  <a:lnTo>
                    <a:pt x="34594" y="201644"/>
                  </a:lnTo>
                  <a:lnTo>
                    <a:pt x="9282" y="164103"/>
                  </a:lnTo>
                  <a:lnTo>
                    <a:pt x="0" y="118110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830072" y="2739897"/>
            <a:ext cx="984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65822" y="2971038"/>
            <a:ext cx="28575" cy="1310005"/>
            <a:chOff x="865822" y="2971038"/>
            <a:chExt cx="28575" cy="1310005"/>
          </a:xfrm>
        </p:grpSpPr>
        <p:sp>
          <p:nvSpPr>
            <p:cNvPr id="40" name="object 40"/>
            <p:cNvSpPr/>
            <p:nvPr/>
          </p:nvSpPr>
          <p:spPr>
            <a:xfrm>
              <a:off x="880110" y="2971038"/>
              <a:ext cx="0" cy="477520"/>
            </a:xfrm>
            <a:custGeom>
              <a:avLst/>
              <a:gdLst/>
              <a:ahLst/>
              <a:cxnLst/>
              <a:rect l="l" t="t" r="r" b="b"/>
              <a:pathLst>
                <a:path w="0" h="477520">
                  <a:moveTo>
                    <a:pt x="0" y="0"/>
                  </a:moveTo>
                  <a:lnTo>
                    <a:pt x="0" y="477393"/>
                  </a:lnTo>
                </a:path>
              </a:pathLst>
            </a:custGeom>
            <a:ln w="2857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80110" y="3684270"/>
              <a:ext cx="0" cy="596265"/>
            </a:xfrm>
            <a:custGeom>
              <a:avLst/>
              <a:gdLst/>
              <a:ahLst/>
              <a:cxnLst/>
              <a:rect l="l" t="t" r="r" b="b"/>
              <a:pathLst>
                <a:path w="0" h="596264">
                  <a:moveTo>
                    <a:pt x="0" y="0"/>
                  </a:moveTo>
                  <a:lnTo>
                    <a:pt x="0" y="596264"/>
                  </a:lnTo>
                </a:path>
              </a:pathLst>
            </a:custGeom>
            <a:ln w="2857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/>
          <p:cNvGrpSpPr/>
          <p:nvPr/>
        </p:nvGrpSpPr>
        <p:grpSpPr>
          <a:xfrm>
            <a:off x="1167764" y="3438525"/>
            <a:ext cx="255270" cy="255270"/>
            <a:chOff x="1167764" y="3438525"/>
            <a:chExt cx="255270" cy="255270"/>
          </a:xfrm>
        </p:grpSpPr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77289" y="3448050"/>
              <a:ext cx="236220" cy="23622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177289" y="3448050"/>
              <a:ext cx="236220" cy="236220"/>
            </a:xfrm>
            <a:custGeom>
              <a:avLst/>
              <a:gdLst/>
              <a:ahLst/>
              <a:cxnLst/>
              <a:rect l="l" t="t" r="r" b="b"/>
              <a:pathLst>
                <a:path w="236219" h="236220">
                  <a:moveTo>
                    <a:pt x="0" y="118110"/>
                  </a:moveTo>
                  <a:lnTo>
                    <a:pt x="9282" y="72116"/>
                  </a:lnTo>
                  <a:lnTo>
                    <a:pt x="34594" y="34575"/>
                  </a:lnTo>
                  <a:lnTo>
                    <a:pt x="72137" y="9274"/>
                  </a:lnTo>
                  <a:lnTo>
                    <a:pt x="118110" y="0"/>
                  </a:lnTo>
                  <a:lnTo>
                    <a:pt x="164103" y="9274"/>
                  </a:lnTo>
                  <a:lnTo>
                    <a:pt x="201644" y="34575"/>
                  </a:lnTo>
                  <a:lnTo>
                    <a:pt x="226945" y="72116"/>
                  </a:lnTo>
                  <a:lnTo>
                    <a:pt x="236220" y="118110"/>
                  </a:lnTo>
                  <a:lnTo>
                    <a:pt x="226945" y="164103"/>
                  </a:lnTo>
                  <a:lnTo>
                    <a:pt x="201644" y="201644"/>
                  </a:lnTo>
                  <a:lnTo>
                    <a:pt x="164103" y="226945"/>
                  </a:lnTo>
                  <a:lnTo>
                    <a:pt x="118110" y="236220"/>
                  </a:lnTo>
                  <a:lnTo>
                    <a:pt x="72137" y="226945"/>
                  </a:lnTo>
                  <a:lnTo>
                    <a:pt x="34594" y="201644"/>
                  </a:lnTo>
                  <a:lnTo>
                    <a:pt x="9282" y="164103"/>
                  </a:lnTo>
                  <a:lnTo>
                    <a:pt x="0" y="118110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1243075" y="3453510"/>
            <a:ext cx="106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167764" y="2725292"/>
            <a:ext cx="255270" cy="1800860"/>
            <a:chOff x="1167764" y="2725292"/>
            <a:chExt cx="255270" cy="1800860"/>
          </a:xfrm>
        </p:grpSpPr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77289" y="4280153"/>
              <a:ext cx="236220" cy="23622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177289" y="4280153"/>
              <a:ext cx="236220" cy="236220"/>
            </a:xfrm>
            <a:custGeom>
              <a:avLst/>
              <a:gdLst/>
              <a:ahLst/>
              <a:cxnLst/>
              <a:rect l="l" t="t" r="r" b="b"/>
              <a:pathLst>
                <a:path w="236219" h="236220">
                  <a:moveTo>
                    <a:pt x="0" y="118110"/>
                  </a:moveTo>
                  <a:lnTo>
                    <a:pt x="9282" y="72116"/>
                  </a:lnTo>
                  <a:lnTo>
                    <a:pt x="34594" y="34575"/>
                  </a:lnTo>
                  <a:lnTo>
                    <a:pt x="72137" y="9274"/>
                  </a:lnTo>
                  <a:lnTo>
                    <a:pt x="118110" y="0"/>
                  </a:lnTo>
                  <a:lnTo>
                    <a:pt x="164103" y="9274"/>
                  </a:lnTo>
                  <a:lnTo>
                    <a:pt x="201644" y="34575"/>
                  </a:lnTo>
                  <a:lnTo>
                    <a:pt x="226945" y="72116"/>
                  </a:lnTo>
                  <a:lnTo>
                    <a:pt x="236220" y="118110"/>
                  </a:lnTo>
                  <a:lnTo>
                    <a:pt x="226945" y="164103"/>
                  </a:lnTo>
                  <a:lnTo>
                    <a:pt x="201644" y="201644"/>
                  </a:lnTo>
                  <a:lnTo>
                    <a:pt x="164103" y="226945"/>
                  </a:lnTo>
                  <a:lnTo>
                    <a:pt x="118110" y="236220"/>
                  </a:lnTo>
                  <a:lnTo>
                    <a:pt x="72137" y="226945"/>
                  </a:lnTo>
                  <a:lnTo>
                    <a:pt x="34594" y="201644"/>
                  </a:lnTo>
                  <a:lnTo>
                    <a:pt x="9282" y="164103"/>
                  </a:lnTo>
                  <a:lnTo>
                    <a:pt x="0" y="118110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77289" y="2734817"/>
              <a:ext cx="236220" cy="23622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177289" y="2734817"/>
              <a:ext cx="236220" cy="236220"/>
            </a:xfrm>
            <a:custGeom>
              <a:avLst/>
              <a:gdLst/>
              <a:ahLst/>
              <a:cxnLst/>
              <a:rect l="l" t="t" r="r" b="b"/>
              <a:pathLst>
                <a:path w="236219" h="236219">
                  <a:moveTo>
                    <a:pt x="0" y="118110"/>
                  </a:moveTo>
                  <a:lnTo>
                    <a:pt x="9282" y="72116"/>
                  </a:lnTo>
                  <a:lnTo>
                    <a:pt x="34594" y="34575"/>
                  </a:lnTo>
                  <a:lnTo>
                    <a:pt x="72137" y="9274"/>
                  </a:lnTo>
                  <a:lnTo>
                    <a:pt x="118110" y="0"/>
                  </a:lnTo>
                  <a:lnTo>
                    <a:pt x="164103" y="9274"/>
                  </a:lnTo>
                  <a:lnTo>
                    <a:pt x="201644" y="34575"/>
                  </a:lnTo>
                  <a:lnTo>
                    <a:pt x="226945" y="72116"/>
                  </a:lnTo>
                  <a:lnTo>
                    <a:pt x="236220" y="118110"/>
                  </a:lnTo>
                  <a:lnTo>
                    <a:pt x="226945" y="164103"/>
                  </a:lnTo>
                  <a:lnTo>
                    <a:pt x="201644" y="201644"/>
                  </a:lnTo>
                  <a:lnTo>
                    <a:pt x="164103" y="226945"/>
                  </a:lnTo>
                  <a:lnTo>
                    <a:pt x="118110" y="236220"/>
                  </a:lnTo>
                  <a:lnTo>
                    <a:pt x="72137" y="226945"/>
                  </a:lnTo>
                  <a:lnTo>
                    <a:pt x="34594" y="201644"/>
                  </a:lnTo>
                  <a:lnTo>
                    <a:pt x="9282" y="164103"/>
                  </a:lnTo>
                  <a:lnTo>
                    <a:pt x="0" y="118110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1246124" y="2739897"/>
            <a:ext cx="984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281874" y="2971038"/>
            <a:ext cx="28575" cy="1310005"/>
            <a:chOff x="1281874" y="2971038"/>
            <a:chExt cx="28575" cy="1310005"/>
          </a:xfrm>
        </p:grpSpPr>
        <p:sp>
          <p:nvSpPr>
            <p:cNvPr id="53" name="object 53"/>
            <p:cNvSpPr/>
            <p:nvPr/>
          </p:nvSpPr>
          <p:spPr>
            <a:xfrm>
              <a:off x="1296161" y="2971038"/>
              <a:ext cx="0" cy="477520"/>
            </a:xfrm>
            <a:custGeom>
              <a:avLst/>
              <a:gdLst/>
              <a:ahLst/>
              <a:cxnLst/>
              <a:rect l="l" t="t" r="r" b="b"/>
              <a:pathLst>
                <a:path w="0" h="477520">
                  <a:moveTo>
                    <a:pt x="0" y="0"/>
                  </a:moveTo>
                  <a:lnTo>
                    <a:pt x="0" y="477393"/>
                  </a:lnTo>
                </a:path>
              </a:pathLst>
            </a:custGeom>
            <a:ln w="2857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296161" y="3684270"/>
              <a:ext cx="0" cy="596265"/>
            </a:xfrm>
            <a:custGeom>
              <a:avLst/>
              <a:gdLst/>
              <a:ahLst/>
              <a:cxnLst/>
              <a:rect l="l" t="t" r="r" b="b"/>
              <a:pathLst>
                <a:path w="0" h="596264">
                  <a:moveTo>
                    <a:pt x="0" y="0"/>
                  </a:moveTo>
                  <a:lnTo>
                    <a:pt x="0" y="596264"/>
                  </a:lnTo>
                </a:path>
              </a:pathLst>
            </a:custGeom>
            <a:ln w="2857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/>
          <p:cNvGrpSpPr/>
          <p:nvPr/>
        </p:nvGrpSpPr>
        <p:grpSpPr>
          <a:xfrm>
            <a:off x="1583816" y="3438525"/>
            <a:ext cx="255270" cy="255270"/>
            <a:chOff x="1583816" y="3438525"/>
            <a:chExt cx="255270" cy="255270"/>
          </a:xfrm>
        </p:grpSpPr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93341" y="3448050"/>
              <a:ext cx="236220" cy="23622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593341" y="3448050"/>
              <a:ext cx="236220" cy="236220"/>
            </a:xfrm>
            <a:custGeom>
              <a:avLst/>
              <a:gdLst/>
              <a:ahLst/>
              <a:cxnLst/>
              <a:rect l="l" t="t" r="r" b="b"/>
              <a:pathLst>
                <a:path w="236219" h="236220">
                  <a:moveTo>
                    <a:pt x="0" y="118110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10" y="0"/>
                  </a:lnTo>
                  <a:lnTo>
                    <a:pt x="164103" y="9274"/>
                  </a:lnTo>
                  <a:lnTo>
                    <a:pt x="201644" y="34575"/>
                  </a:lnTo>
                  <a:lnTo>
                    <a:pt x="226945" y="72116"/>
                  </a:lnTo>
                  <a:lnTo>
                    <a:pt x="236220" y="118110"/>
                  </a:lnTo>
                  <a:lnTo>
                    <a:pt x="226945" y="164103"/>
                  </a:lnTo>
                  <a:lnTo>
                    <a:pt x="201644" y="201644"/>
                  </a:lnTo>
                  <a:lnTo>
                    <a:pt x="164103" y="226945"/>
                  </a:lnTo>
                  <a:lnTo>
                    <a:pt x="118110" y="236220"/>
                  </a:lnTo>
                  <a:lnTo>
                    <a:pt x="72116" y="226945"/>
                  </a:lnTo>
                  <a:lnTo>
                    <a:pt x="34575" y="201644"/>
                  </a:lnTo>
                  <a:lnTo>
                    <a:pt x="9274" y="164103"/>
                  </a:lnTo>
                  <a:lnTo>
                    <a:pt x="0" y="118110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1659127" y="3453510"/>
            <a:ext cx="106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583816" y="2725292"/>
            <a:ext cx="255270" cy="1800860"/>
            <a:chOff x="1583816" y="2725292"/>
            <a:chExt cx="255270" cy="1800860"/>
          </a:xfrm>
        </p:grpSpPr>
        <p:pic>
          <p:nvPicPr>
            <p:cNvPr id="60" name="object 6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93341" y="4280153"/>
              <a:ext cx="236220" cy="23622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593341" y="4280153"/>
              <a:ext cx="236220" cy="236220"/>
            </a:xfrm>
            <a:custGeom>
              <a:avLst/>
              <a:gdLst/>
              <a:ahLst/>
              <a:cxnLst/>
              <a:rect l="l" t="t" r="r" b="b"/>
              <a:pathLst>
                <a:path w="236219" h="236220">
                  <a:moveTo>
                    <a:pt x="0" y="118110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10" y="0"/>
                  </a:lnTo>
                  <a:lnTo>
                    <a:pt x="164103" y="9274"/>
                  </a:lnTo>
                  <a:lnTo>
                    <a:pt x="201644" y="34575"/>
                  </a:lnTo>
                  <a:lnTo>
                    <a:pt x="226945" y="72116"/>
                  </a:lnTo>
                  <a:lnTo>
                    <a:pt x="236220" y="118110"/>
                  </a:lnTo>
                  <a:lnTo>
                    <a:pt x="226945" y="164103"/>
                  </a:lnTo>
                  <a:lnTo>
                    <a:pt x="201644" y="201644"/>
                  </a:lnTo>
                  <a:lnTo>
                    <a:pt x="164103" y="226945"/>
                  </a:lnTo>
                  <a:lnTo>
                    <a:pt x="118110" y="236220"/>
                  </a:lnTo>
                  <a:lnTo>
                    <a:pt x="72116" y="226945"/>
                  </a:lnTo>
                  <a:lnTo>
                    <a:pt x="34575" y="201644"/>
                  </a:lnTo>
                  <a:lnTo>
                    <a:pt x="9274" y="164103"/>
                  </a:lnTo>
                  <a:lnTo>
                    <a:pt x="0" y="118110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93341" y="2734817"/>
              <a:ext cx="236220" cy="23622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1593341" y="2734817"/>
              <a:ext cx="236220" cy="236220"/>
            </a:xfrm>
            <a:custGeom>
              <a:avLst/>
              <a:gdLst/>
              <a:ahLst/>
              <a:cxnLst/>
              <a:rect l="l" t="t" r="r" b="b"/>
              <a:pathLst>
                <a:path w="236219" h="236219">
                  <a:moveTo>
                    <a:pt x="0" y="118110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10" y="0"/>
                  </a:lnTo>
                  <a:lnTo>
                    <a:pt x="164103" y="9274"/>
                  </a:lnTo>
                  <a:lnTo>
                    <a:pt x="201644" y="34575"/>
                  </a:lnTo>
                  <a:lnTo>
                    <a:pt x="226945" y="72116"/>
                  </a:lnTo>
                  <a:lnTo>
                    <a:pt x="236220" y="118110"/>
                  </a:lnTo>
                  <a:lnTo>
                    <a:pt x="226945" y="164103"/>
                  </a:lnTo>
                  <a:lnTo>
                    <a:pt x="201644" y="201644"/>
                  </a:lnTo>
                  <a:lnTo>
                    <a:pt x="164103" y="226945"/>
                  </a:lnTo>
                  <a:lnTo>
                    <a:pt x="118110" y="236220"/>
                  </a:lnTo>
                  <a:lnTo>
                    <a:pt x="72116" y="226945"/>
                  </a:lnTo>
                  <a:lnTo>
                    <a:pt x="34575" y="201644"/>
                  </a:lnTo>
                  <a:lnTo>
                    <a:pt x="9274" y="164103"/>
                  </a:lnTo>
                  <a:lnTo>
                    <a:pt x="0" y="118110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1662429" y="2739897"/>
            <a:ext cx="984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1697926" y="2971038"/>
            <a:ext cx="28575" cy="1310005"/>
            <a:chOff x="1697926" y="2971038"/>
            <a:chExt cx="28575" cy="1310005"/>
          </a:xfrm>
        </p:grpSpPr>
        <p:sp>
          <p:nvSpPr>
            <p:cNvPr id="66" name="object 66"/>
            <p:cNvSpPr/>
            <p:nvPr/>
          </p:nvSpPr>
          <p:spPr>
            <a:xfrm>
              <a:off x="1712214" y="2971038"/>
              <a:ext cx="0" cy="477520"/>
            </a:xfrm>
            <a:custGeom>
              <a:avLst/>
              <a:gdLst/>
              <a:ahLst/>
              <a:cxnLst/>
              <a:rect l="l" t="t" r="r" b="b"/>
              <a:pathLst>
                <a:path w="0" h="477520">
                  <a:moveTo>
                    <a:pt x="0" y="0"/>
                  </a:moveTo>
                  <a:lnTo>
                    <a:pt x="0" y="477393"/>
                  </a:lnTo>
                </a:path>
              </a:pathLst>
            </a:custGeom>
            <a:ln w="2857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712214" y="3684270"/>
              <a:ext cx="0" cy="596265"/>
            </a:xfrm>
            <a:custGeom>
              <a:avLst/>
              <a:gdLst/>
              <a:ahLst/>
              <a:cxnLst/>
              <a:rect l="l" t="t" r="r" b="b"/>
              <a:pathLst>
                <a:path w="0" h="596264">
                  <a:moveTo>
                    <a:pt x="0" y="0"/>
                  </a:moveTo>
                  <a:lnTo>
                    <a:pt x="0" y="596264"/>
                  </a:lnTo>
                </a:path>
              </a:pathLst>
            </a:custGeom>
            <a:ln w="2857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" name="object 68"/>
          <p:cNvGrpSpPr/>
          <p:nvPr/>
        </p:nvGrpSpPr>
        <p:grpSpPr>
          <a:xfrm>
            <a:off x="1999869" y="3438525"/>
            <a:ext cx="255270" cy="255270"/>
            <a:chOff x="1999869" y="3438525"/>
            <a:chExt cx="255270" cy="255270"/>
          </a:xfrm>
        </p:grpSpPr>
        <p:pic>
          <p:nvPicPr>
            <p:cNvPr id="69" name="object 6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09394" y="3448050"/>
              <a:ext cx="236219" cy="23622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2009394" y="3448050"/>
              <a:ext cx="236220" cy="236220"/>
            </a:xfrm>
            <a:custGeom>
              <a:avLst/>
              <a:gdLst/>
              <a:ahLst/>
              <a:cxnLst/>
              <a:rect l="l" t="t" r="r" b="b"/>
              <a:pathLst>
                <a:path w="236219" h="236220">
                  <a:moveTo>
                    <a:pt x="0" y="118110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10" y="0"/>
                  </a:lnTo>
                  <a:lnTo>
                    <a:pt x="164103" y="9274"/>
                  </a:lnTo>
                  <a:lnTo>
                    <a:pt x="201644" y="34575"/>
                  </a:lnTo>
                  <a:lnTo>
                    <a:pt x="226945" y="72116"/>
                  </a:lnTo>
                  <a:lnTo>
                    <a:pt x="236220" y="118110"/>
                  </a:lnTo>
                  <a:lnTo>
                    <a:pt x="226945" y="164103"/>
                  </a:lnTo>
                  <a:lnTo>
                    <a:pt x="201644" y="201644"/>
                  </a:lnTo>
                  <a:lnTo>
                    <a:pt x="164103" y="226945"/>
                  </a:lnTo>
                  <a:lnTo>
                    <a:pt x="118110" y="236220"/>
                  </a:lnTo>
                  <a:lnTo>
                    <a:pt x="72116" y="226945"/>
                  </a:lnTo>
                  <a:lnTo>
                    <a:pt x="34575" y="201644"/>
                  </a:lnTo>
                  <a:lnTo>
                    <a:pt x="9274" y="164103"/>
                  </a:lnTo>
                  <a:lnTo>
                    <a:pt x="0" y="118110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2076957" y="3458082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1999869" y="2725292"/>
            <a:ext cx="255270" cy="1800860"/>
            <a:chOff x="1999869" y="2725292"/>
            <a:chExt cx="255270" cy="1800860"/>
          </a:xfrm>
        </p:grpSpPr>
        <p:pic>
          <p:nvPicPr>
            <p:cNvPr id="73" name="object 7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09394" y="4280153"/>
              <a:ext cx="236219" cy="23622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2009394" y="4280153"/>
              <a:ext cx="236220" cy="236220"/>
            </a:xfrm>
            <a:custGeom>
              <a:avLst/>
              <a:gdLst/>
              <a:ahLst/>
              <a:cxnLst/>
              <a:rect l="l" t="t" r="r" b="b"/>
              <a:pathLst>
                <a:path w="236219" h="236220">
                  <a:moveTo>
                    <a:pt x="0" y="118110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10" y="0"/>
                  </a:lnTo>
                  <a:lnTo>
                    <a:pt x="164103" y="9274"/>
                  </a:lnTo>
                  <a:lnTo>
                    <a:pt x="201644" y="34575"/>
                  </a:lnTo>
                  <a:lnTo>
                    <a:pt x="226945" y="72116"/>
                  </a:lnTo>
                  <a:lnTo>
                    <a:pt x="236220" y="118110"/>
                  </a:lnTo>
                  <a:lnTo>
                    <a:pt x="226945" y="164103"/>
                  </a:lnTo>
                  <a:lnTo>
                    <a:pt x="201644" y="201644"/>
                  </a:lnTo>
                  <a:lnTo>
                    <a:pt x="164103" y="226945"/>
                  </a:lnTo>
                  <a:lnTo>
                    <a:pt x="118110" y="236220"/>
                  </a:lnTo>
                  <a:lnTo>
                    <a:pt x="72116" y="226945"/>
                  </a:lnTo>
                  <a:lnTo>
                    <a:pt x="34575" y="201644"/>
                  </a:lnTo>
                  <a:lnTo>
                    <a:pt x="9274" y="164103"/>
                  </a:lnTo>
                  <a:lnTo>
                    <a:pt x="0" y="118110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09394" y="2734817"/>
              <a:ext cx="236219" cy="236220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2009394" y="2734817"/>
              <a:ext cx="236220" cy="236220"/>
            </a:xfrm>
            <a:custGeom>
              <a:avLst/>
              <a:gdLst/>
              <a:ahLst/>
              <a:cxnLst/>
              <a:rect l="l" t="t" r="r" b="b"/>
              <a:pathLst>
                <a:path w="236219" h="236219">
                  <a:moveTo>
                    <a:pt x="0" y="118110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10" y="0"/>
                  </a:lnTo>
                  <a:lnTo>
                    <a:pt x="164103" y="9274"/>
                  </a:lnTo>
                  <a:lnTo>
                    <a:pt x="201644" y="34575"/>
                  </a:lnTo>
                  <a:lnTo>
                    <a:pt x="226945" y="72116"/>
                  </a:lnTo>
                  <a:lnTo>
                    <a:pt x="236220" y="118110"/>
                  </a:lnTo>
                  <a:lnTo>
                    <a:pt x="226945" y="164103"/>
                  </a:lnTo>
                  <a:lnTo>
                    <a:pt x="201644" y="201644"/>
                  </a:lnTo>
                  <a:lnTo>
                    <a:pt x="164103" y="226945"/>
                  </a:lnTo>
                  <a:lnTo>
                    <a:pt x="118110" y="236220"/>
                  </a:lnTo>
                  <a:lnTo>
                    <a:pt x="72116" y="226945"/>
                  </a:lnTo>
                  <a:lnTo>
                    <a:pt x="34575" y="201644"/>
                  </a:lnTo>
                  <a:lnTo>
                    <a:pt x="9274" y="164103"/>
                  </a:lnTo>
                  <a:lnTo>
                    <a:pt x="0" y="118110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2078482" y="2739897"/>
            <a:ext cx="984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2113978" y="2971038"/>
            <a:ext cx="28575" cy="1310005"/>
            <a:chOff x="2113978" y="2971038"/>
            <a:chExt cx="28575" cy="1310005"/>
          </a:xfrm>
        </p:grpSpPr>
        <p:sp>
          <p:nvSpPr>
            <p:cNvPr id="79" name="object 79"/>
            <p:cNvSpPr/>
            <p:nvPr/>
          </p:nvSpPr>
          <p:spPr>
            <a:xfrm>
              <a:off x="2128266" y="2971038"/>
              <a:ext cx="0" cy="477520"/>
            </a:xfrm>
            <a:custGeom>
              <a:avLst/>
              <a:gdLst/>
              <a:ahLst/>
              <a:cxnLst/>
              <a:rect l="l" t="t" r="r" b="b"/>
              <a:pathLst>
                <a:path w="0" h="477520">
                  <a:moveTo>
                    <a:pt x="0" y="0"/>
                  </a:moveTo>
                  <a:lnTo>
                    <a:pt x="0" y="477393"/>
                  </a:lnTo>
                </a:path>
              </a:pathLst>
            </a:custGeom>
            <a:ln w="2857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128266" y="3684270"/>
              <a:ext cx="0" cy="596265"/>
            </a:xfrm>
            <a:custGeom>
              <a:avLst/>
              <a:gdLst/>
              <a:ahLst/>
              <a:cxnLst/>
              <a:rect l="l" t="t" r="r" b="b"/>
              <a:pathLst>
                <a:path w="0" h="596264">
                  <a:moveTo>
                    <a:pt x="0" y="0"/>
                  </a:moveTo>
                  <a:lnTo>
                    <a:pt x="0" y="596264"/>
                  </a:lnTo>
                </a:path>
              </a:pathLst>
            </a:custGeom>
            <a:ln w="2857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1" name="object 81"/>
          <p:cNvGrpSpPr/>
          <p:nvPr/>
        </p:nvGrpSpPr>
        <p:grpSpPr>
          <a:xfrm>
            <a:off x="2417445" y="3438525"/>
            <a:ext cx="254000" cy="255270"/>
            <a:chOff x="2417445" y="3438525"/>
            <a:chExt cx="254000" cy="255270"/>
          </a:xfrm>
        </p:grpSpPr>
        <p:pic>
          <p:nvPicPr>
            <p:cNvPr id="82" name="object 8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26970" y="3448050"/>
              <a:ext cx="234695" cy="236220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2426970" y="3448050"/>
              <a:ext cx="234950" cy="236220"/>
            </a:xfrm>
            <a:custGeom>
              <a:avLst/>
              <a:gdLst/>
              <a:ahLst/>
              <a:cxnLst/>
              <a:rect l="l" t="t" r="r" b="b"/>
              <a:pathLst>
                <a:path w="234950" h="236220">
                  <a:moveTo>
                    <a:pt x="0" y="118110"/>
                  </a:moveTo>
                  <a:lnTo>
                    <a:pt x="9227" y="72116"/>
                  </a:lnTo>
                  <a:lnTo>
                    <a:pt x="34385" y="34575"/>
                  </a:lnTo>
                  <a:lnTo>
                    <a:pt x="71687" y="9274"/>
                  </a:lnTo>
                  <a:lnTo>
                    <a:pt x="117348" y="0"/>
                  </a:lnTo>
                  <a:lnTo>
                    <a:pt x="163008" y="9274"/>
                  </a:lnTo>
                  <a:lnTo>
                    <a:pt x="200310" y="34575"/>
                  </a:lnTo>
                  <a:lnTo>
                    <a:pt x="225468" y="72116"/>
                  </a:lnTo>
                  <a:lnTo>
                    <a:pt x="234696" y="118110"/>
                  </a:lnTo>
                  <a:lnTo>
                    <a:pt x="225468" y="164103"/>
                  </a:lnTo>
                  <a:lnTo>
                    <a:pt x="200310" y="201644"/>
                  </a:lnTo>
                  <a:lnTo>
                    <a:pt x="163008" y="226945"/>
                  </a:lnTo>
                  <a:lnTo>
                    <a:pt x="117348" y="236220"/>
                  </a:lnTo>
                  <a:lnTo>
                    <a:pt x="71687" y="226945"/>
                  </a:lnTo>
                  <a:lnTo>
                    <a:pt x="34385" y="201644"/>
                  </a:lnTo>
                  <a:lnTo>
                    <a:pt x="9227" y="164103"/>
                  </a:lnTo>
                  <a:lnTo>
                    <a:pt x="0" y="118110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/>
          <p:cNvSpPr txBox="1"/>
          <p:nvPr/>
        </p:nvSpPr>
        <p:spPr>
          <a:xfrm>
            <a:off x="2498598" y="3453510"/>
            <a:ext cx="90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2417445" y="2725292"/>
            <a:ext cx="254000" cy="1800860"/>
            <a:chOff x="2417445" y="2725292"/>
            <a:chExt cx="254000" cy="1800860"/>
          </a:xfrm>
        </p:grpSpPr>
        <p:pic>
          <p:nvPicPr>
            <p:cNvPr id="86" name="object 8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26970" y="4280153"/>
              <a:ext cx="234695" cy="236220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2426970" y="4280153"/>
              <a:ext cx="234950" cy="236220"/>
            </a:xfrm>
            <a:custGeom>
              <a:avLst/>
              <a:gdLst/>
              <a:ahLst/>
              <a:cxnLst/>
              <a:rect l="l" t="t" r="r" b="b"/>
              <a:pathLst>
                <a:path w="234950" h="236220">
                  <a:moveTo>
                    <a:pt x="0" y="118110"/>
                  </a:moveTo>
                  <a:lnTo>
                    <a:pt x="9227" y="72116"/>
                  </a:lnTo>
                  <a:lnTo>
                    <a:pt x="34385" y="34575"/>
                  </a:lnTo>
                  <a:lnTo>
                    <a:pt x="71687" y="9274"/>
                  </a:lnTo>
                  <a:lnTo>
                    <a:pt x="117348" y="0"/>
                  </a:lnTo>
                  <a:lnTo>
                    <a:pt x="163008" y="9274"/>
                  </a:lnTo>
                  <a:lnTo>
                    <a:pt x="200310" y="34575"/>
                  </a:lnTo>
                  <a:lnTo>
                    <a:pt x="225468" y="72116"/>
                  </a:lnTo>
                  <a:lnTo>
                    <a:pt x="234696" y="118110"/>
                  </a:lnTo>
                  <a:lnTo>
                    <a:pt x="225468" y="164103"/>
                  </a:lnTo>
                  <a:lnTo>
                    <a:pt x="200310" y="201644"/>
                  </a:lnTo>
                  <a:lnTo>
                    <a:pt x="163008" y="226945"/>
                  </a:lnTo>
                  <a:lnTo>
                    <a:pt x="117348" y="236220"/>
                  </a:lnTo>
                  <a:lnTo>
                    <a:pt x="71687" y="226945"/>
                  </a:lnTo>
                  <a:lnTo>
                    <a:pt x="34385" y="201644"/>
                  </a:lnTo>
                  <a:lnTo>
                    <a:pt x="9227" y="164103"/>
                  </a:lnTo>
                  <a:lnTo>
                    <a:pt x="0" y="118110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26970" y="2734817"/>
              <a:ext cx="234695" cy="236220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2426970" y="2734817"/>
              <a:ext cx="234950" cy="236220"/>
            </a:xfrm>
            <a:custGeom>
              <a:avLst/>
              <a:gdLst/>
              <a:ahLst/>
              <a:cxnLst/>
              <a:rect l="l" t="t" r="r" b="b"/>
              <a:pathLst>
                <a:path w="234950" h="236219">
                  <a:moveTo>
                    <a:pt x="0" y="118110"/>
                  </a:moveTo>
                  <a:lnTo>
                    <a:pt x="9227" y="72116"/>
                  </a:lnTo>
                  <a:lnTo>
                    <a:pt x="34385" y="34575"/>
                  </a:lnTo>
                  <a:lnTo>
                    <a:pt x="71687" y="9274"/>
                  </a:lnTo>
                  <a:lnTo>
                    <a:pt x="117348" y="0"/>
                  </a:lnTo>
                  <a:lnTo>
                    <a:pt x="163008" y="9274"/>
                  </a:lnTo>
                  <a:lnTo>
                    <a:pt x="200310" y="34575"/>
                  </a:lnTo>
                  <a:lnTo>
                    <a:pt x="225468" y="72116"/>
                  </a:lnTo>
                  <a:lnTo>
                    <a:pt x="234696" y="118110"/>
                  </a:lnTo>
                  <a:lnTo>
                    <a:pt x="225468" y="164103"/>
                  </a:lnTo>
                  <a:lnTo>
                    <a:pt x="200310" y="201644"/>
                  </a:lnTo>
                  <a:lnTo>
                    <a:pt x="163008" y="226945"/>
                  </a:lnTo>
                  <a:lnTo>
                    <a:pt x="117348" y="236220"/>
                  </a:lnTo>
                  <a:lnTo>
                    <a:pt x="71687" y="226945"/>
                  </a:lnTo>
                  <a:lnTo>
                    <a:pt x="34385" y="201644"/>
                  </a:lnTo>
                  <a:lnTo>
                    <a:pt x="9227" y="164103"/>
                  </a:lnTo>
                  <a:lnTo>
                    <a:pt x="0" y="118110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/>
          <p:cNvSpPr txBox="1"/>
          <p:nvPr/>
        </p:nvSpPr>
        <p:spPr>
          <a:xfrm>
            <a:off x="2494533" y="2739897"/>
            <a:ext cx="984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2530030" y="2971038"/>
            <a:ext cx="28575" cy="1310005"/>
            <a:chOff x="2530030" y="2971038"/>
            <a:chExt cx="28575" cy="1310005"/>
          </a:xfrm>
        </p:grpSpPr>
        <p:sp>
          <p:nvSpPr>
            <p:cNvPr id="92" name="object 92"/>
            <p:cNvSpPr/>
            <p:nvPr/>
          </p:nvSpPr>
          <p:spPr>
            <a:xfrm>
              <a:off x="2544317" y="2971038"/>
              <a:ext cx="0" cy="477520"/>
            </a:xfrm>
            <a:custGeom>
              <a:avLst/>
              <a:gdLst/>
              <a:ahLst/>
              <a:cxnLst/>
              <a:rect l="l" t="t" r="r" b="b"/>
              <a:pathLst>
                <a:path w="0" h="477520">
                  <a:moveTo>
                    <a:pt x="0" y="0"/>
                  </a:moveTo>
                  <a:lnTo>
                    <a:pt x="0" y="477393"/>
                  </a:lnTo>
                </a:path>
              </a:pathLst>
            </a:custGeom>
            <a:ln w="2857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2544317" y="3684270"/>
              <a:ext cx="0" cy="596265"/>
            </a:xfrm>
            <a:custGeom>
              <a:avLst/>
              <a:gdLst/>
              <a:ahLst/>
              <a:cxnLst/>
              <a:rect l="l" t="t" r="r" b="b"/>
              <a:pathLst>
                <a:path w="0" h="596264">
                  <a:moveTo>
                    <a:pt x="0" y="0"/>
                  </a:moveTo>
                  <a:lnTo>
                    <a:pt x="0" y="596264"/>
                  </a:lnTo>
                </a:path>
              </a:pathLst>
            </a:custGeom>
            <a:ln w="2857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4" name="object 94"/>
          <p:cNvSpPr txBox="1"/>
          <p:nvPr/>
        </p:nvSpPr>
        <p:spPr>
          <a:xfrm>
            <a:off x="709676" y="4289882"/>
            <a:ext cx="3032125" cy="1184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9539">
              <a:lnSpc>
                <a:spcPct val="100000"/>
              </a:lnSpc>
              <a:spcBef>
                <a:spcPts val="100"/>
              </a:spcBef>
              <a:tabLst>
                <a:tab pos="547370" algn="l"/>
                <a:tab pos="979805" algn="l"/>
                <a:tab pos="1375410" algn="l"/>
                <a:tab pos="1793875" algn="l"/>
              </a:tabLst>
            </a:pPr>
            <a:r>
              <a:rPr dirty="0" baseline="2314" sz="1800" spc="-75">
                <a:latin typeface="Arial"/>
                <a:cs typeface="Arial"/>
              </a:rPr>
              <a:t>d</a:t>
            </a:r>
            <a:r>
              <a:rPr dirty="0" baseline="2314" sz="1800">
                <a:latin typeface="Arial"/>
                <a:cs typeface="Arial"/>
              </a:rPr>
              <a:t>	</a:t>
            </a:r>
            <a:r>
              <a:rPr dirty="0" baseline="2314" sz="1800" spc="-75">
                <a:latin typeface="Arial"/>
                <a:cs typeface="Arial"/>
              </a:rPr>
              <a:t>e</a:t>
            </a:r>
            <a:r>
              <a:rPr dirty="0" baseline="2314" sz="1800">
                <a:latin typeface="Arial"/>
                <a:cs typeface="Arial"/>
              </a:rPr>
              <a:t>	</a:t>
            </a:r>
            <a:r>
              <a:rPr dirty="0" sz="1200" spc="-50">
                <a:latin typeface="Arial"/>
                <a:cs typeface="Arial"/>
              </a:rPr>
              <a:t>f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50">
                <a:latin typeface="Arial"/>
                <a:cs typeface="Arial"/>
              </a:rPr>
              <a:t>g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baseline="2314" sz="1800" spc="-75">
                <a:latin typeface="Arial"/>
                <a:cs typeface="Arial"/>
              </a:rPr>
              <a:t>h</a:t>
            </a:r>
            <a:endParaRPr baseline="2314"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600" spc="-125" b="1">
                <a:latin typeface="Arial"/>
                <a:cs typeface="Arial"/>
              </a:rPr>
              <a:t>Lineare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(total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 spc="-65">
                <a:latin typeface="Arial"/>
                <a:cs typeface="Arial"/>
              </a:rPr>
              <a:t>geordnete)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110">
                <a:latin typeface="Arial"/>
                <a:cs typeface="Arial"/>
              </a:rPr>
              <a:t>Folge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von </a:t>
            </a:r>
            <a:r>
              <a:rPr dirty="0" sz="1600" spc="-60">
                <a:latin typeface="Arial"/>
                <a:cs typeface="Arial"/>
              </a:rPr>
              <a:t>Zeitpunkten.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 spc="-260">
                <a:latin typeface="Arial"/>
                <a:cs typeface="Arial"/>
              </a:rPr>
              <a:t>LTL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 spc="-50">
                <a:latin typeface="Arial"/>
                <a:cs typeface="Arial"/>
              </a:rPr>
              <a:t>spricht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 spc="-50">
                <a:latin typeface="Arial"/>
                <a:cs typeface="Arial"/>
              </a:rPr>
              <a:t>über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 spc="-50">
                <a:latin typeface="Arial"/>
                <a:cs typeface="Arial"/>
              </a:rPr>
              <a:t>Menge </a:t>
            </a:r>
            <a:r>
              <a:rPr dirty="0" sz="1600" spc="-65">
                <a:latin typeface="Arial"/>
                <a:cs typeface="Arial"/>
              </a:rPr>
              <a:t>einzelner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Pfade.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07542" y="5837935"/>
            <a:ext cx="64782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5">
                <a:solidFill>
                  <a:srgbClr val="4471C4"/>
                </a:solidFill>
                <a:latin typeface="Arial"/>
                <a:cs typeface="Arial"/>
              </a:rPr>
              <a:t>Timed</a:t>
            </a:r>
            <a:r>
              <a:rPr dirty="0" sz="1800" spc="-55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4471C4"/>
                </a:solidFill>
                <a:latin typeface="Arial"/>
                <a:cs typeface="Arial"/>
              </a:rPr>
              <a:t>Automata:</a:t>
            </a:r>
            <a:r>
              <a:rPr dirty="0" sz="1800" spc="-85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1800" spc="-95">
                <a:solidFill>
                  <a:srgbClr val="4471C4"/>
                </a:solidFill>
                <a:latin typeface="Arial"/>
                <a:cs typeface="Arial"/>
              </a:rPr>
              <a:t>zusätzlich</a:t>
            </a:r>
            <a:r>
              <a:rPr dirty="0" sz="1800" spc="-45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1800" spc="-95">
                <a:solidFill>
                  <a:srgbClr val="4471C4"/>
                </a:solidFill>
                <a:latin typeface="Arial"/>
                <a:cs typeface="Arial"/>
              </a:rPr>
              <a:t>Zeiteinschränkungen</a:t>
            </a:r>
            <a:r>
              <a:rPr dirty="0" sz="1800" spc="-55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471C4"/>
                </a:solidFill>
                <a:latin typeface="Wingdings 3"/>
                <a:cs typeface="Wingdings 3"/>
              </a:rPr>
              <a:t></a:t>
            </a:r>
            <a:r>
              <a:rPr dirty="0" sz="1800" spc="-2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dirty="0" sz="1800" spc="-95">
                <a:solidFill>
                  <a:srgbClr val="4471C4"/>
                </a:solidFill>
                <a:latin typeface="Arial"/>
                <a:cs typeface="Arial"/>
              </a:rPr>
              <a:t>Timed</a:t>
            </a:r>
            <a:r>
              <a:rPr dirty="0" sz="1800" spc="-5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1800" spc="-280">
                <a:solidFill>
                  <a:srgbClr val="4471C4"/>
                </a:solidFill>
                <a:latin typeface="Arial"/>
                <a:cs typeface="Arial"/>
              </a:rPr>
              <a:t>CTL</a:t>
            </a:r>
            <a:r>
              <a:rPr dirty="0" sz="1800" spc="-6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1800" spc="-130">
                <a:solidFill>
                  <a:srgbClr val="4471C4"/>
                </a:solidFill>
                <a:latin typeface="Arial"/>
                <a:cs typeface="Arial"/>
              </a:rPr>
              <a:t>(TCTL)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0"/>
              <a:t>Linear-</a:t>
            </a:r>
            <a:r>
              <a:rPr dirty="0" spc="-30"/>
              <a:t>time</a:t>
            </a:r>
            <a:r>
              <a:rPr dirty="0" spc="-180"/>
              <a:t> </a:t>
            </a:r>
            <a:r>
              <a:rPr dirty="0" spc="-240"/>
              <a:t>Temporal</a:t>
            </a:r>
            <a:r>
              <a:rPr dirty="0" spc="-165"/>
              <a:t> </a:t>
            </a:r>
            <a:r>
              <a:rPr dirty="0" spc="-28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81125"/>
            <a:ext cx="7665084" cy="2292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ts val="2740"/>
              </a:lnSpc>
              <a:spcBef>
                <a:spcPts val="10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dirty="0" sz="2400" spc="-114">
                <a:latin typeface="Arial"/>
                <a:cs typeface="Arial"/>
              </a:rPr>
              <a:t>Beschreibt </a:t>
            </a:r>
            <a:r>
              <a:rPr dirty="0" sz="2400" spc="-190">
                <a:latin typeface="Arial"/>
                <a:cs typeface="Arial"/>
              </a:rPr>
              <a:t>Aussagen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80">
                <a:latin typeface="Arial"/>
                <a:cs typeface="Arial"/>
              </a:rPr>
              <a:t>über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einzelne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65">
                <a:latin typeface="Arial"/>
                <a:cs typeface="Arial"/>
              </a:rPr>
              <a:t>Pfade</a:t>
            </a:r>
            <a:r>
              <a:rPr dirty="0" sz="2400" spc="-80">
                <a:latin typeface="Arial"/>
                <a:cs typeface="Arial"/>
              </a:rPr>
              <a:t> oder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00">
                <a:latin typeface="Arial"/>
                <a:cs typeface="Arial"/>
              </a:rPr>
              <a:t>eine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Menge</a:t>
            </a:r>
            <a:endParaRPr sz="2400">
              <a:latin typeface="Arial"/>
              <a:cs typeface="Arial"/>
            </a:endParaRPr>
          </a:p>
          <a:p>
            <a:pPr marL="241300">
              <a:lnSpc>
                <a:spcPts val="2740"/>
              </a:lnSpc>
            </a:pPr>
            <a:r>
              <a:rPr dirty="0" sz="2400" spc="-114">
                <a:latin typeface="Arial"/>
                <a:cs typeface="Arial"/>
              </a:rPr>
              <a:t>von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Pfaden</a:t>
            </a:r>
            <a:endParaRPr sz="2400">
              <a:latin typeface="Arial"/>
              <a:cs typeface="Arial"/>
            </a:endParaRPr>
          </a:p>
          <a:p>
            <a:pPr marL="241300" marR="5080" indent="-228600">
              <a:lnSpc>
                <a:spcPts val="2590"/>
              </a:lnSpc>
              <a:spcBef>
                <a:spcPts val="105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1300" algn="l"/>
              </a:tabLst>
            </a:pPr>
            <a:r>
              <a:rPr dirty="0" sz="2400" spc="-175">
                <a:latin typeface="Arial"/>
                <a:cs typeface="Arial"/>
              </a:rPr>
              <a:t>Eine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315">
                <a:latin typeface="Arial"/>
                <a:cs typeface="Arial"/>
              </a:rPr>
              <a:t>LTL-</a:t>
            </a:r>
            <a:r>
              <a:rPr dirty="0" sz="2400" spc="-125">
                <a:latin typeface="Arial"/>
                <a:cs typeface="Arial"/>
              </a:rPr>
              <a:t>Formel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60">
                <a:latin typeface="Arial"/>
                <a:cs typeface="Arial"/>
              </a:rPr>
              <a:t>ist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55">
                <a:latin typeface="Arial"/>
                <a:cs typeface="Arial"/>
              </a:rPr>
              <a:t>genau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20">
                <a:latin typeface="Arial"/>
                <a:cs typeface="Arial"/>
              </a:rPr>
              <a:t>dann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80">
                <a:latin typeface="Arial"/>
                <a:cs typeface="Arial"/>
              </a:rPr>
              <a:t>auf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95">
                <a:latin typeface="Arial"/>
                <a:cs typeface="Arial"/>
              </a:rPr>
              <a:t>einem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60">
                <a:latin typeface="Arial"/>
                <a:cs typeface="Arial"/>
              </a:rPr>
              <a:t>Pfad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erfüllt,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wenn </a:t>
            </a:r>
            <a:r>
              <a:rPr dirty="0" sz="2400" spc="-140">
                <a:latin typeface="Arial"/>
                <a:cs typeface="Arial"/>
              </a:rPr>
              <a:t>sie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80">
                <a:latin typeface="Arial"/>
                <a:cs typeface="Arial"/>
              </a:rPr>
              <a:t>auf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Position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40">
                <a:latin typeface="Arial"/>
                <a:cs typeface="Arial"/>
              </a:rPr>
              <a:t>0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80">
                <a:latin typeface="Arial"/>
                <a:cs typeface="Arial"/>
              </a:rPr>
              <a:t>des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75">
                <a:latin typeface="Arial"/>
                <a:cs typeface="Arial"/>
              </a:rPr>
              <a:t>Pfades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erfüllt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ist.</a:t>
            </a:r>
            <a:endParaRPr sz="2400">
              <a:latin typeface="Arial"/>
              <a:cs typeface="Arial"/>
            </a:endParaRPr>
          </a:p>
          <a:p>
            <a:pPr marL="241300" marR="236854" indent="-228600">
              <a:lnSpc>
                <a:spcPts val="2590"/>
              </a:lnSpc>
              <a:spcBef>
                <a:spcPts val="100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1300" algn="l"/>
              </a:tabLst>
            </a:pPr>
            <a:r>
              <a:rPr dirty="0" sz="2400" spc="-100">
                <a:latin typeface="Arial"/>
                <a:cs typeface="Arial"/>
              </a:rPr>
              <a:t>Operatoren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der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55">
                <a:latin typeface="Arial"/>
                <a:cs typeface="Arial"/>
              </a:rPr>
              <a:t>Aussagenlogik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95">
                <a:latin typeface="Arial"/>
                <a:cs typeface="Arial"/>
              </a:rPr>
              <a:t>werden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95">
                <a:latin typeface="Arial"/>
                <a:cs typeface="Arial"/>
              </a:rPr>
              <a:t>durch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95">
                <a:latin typeface="Arial"/>
                <a:cs typeface="Arial"/>
              </a:rPr>
              <a:t>ne</a:t>
            </a:r>
            <a:r>
              <a:rPr dirty="0" sz="2400" spc="-95" b="1">
                <a:latin typeface="Arial"/>
                <a:cs typeface="Arial"/>
              </a:rPr>
              <a:t>X</a:t>
            </a:r>
            <a:r>
              <a:rPr dirty="0" sz="2400" spc="-95">
                <a:latin typeface="Arial"/>
                <a:cs typeface="Arial"/>
              </a:rPr>
              <a:t>t, </a:t>
            </a:r>
            <a:r>
              <a:rPr dirty="0" sz="2400" spc="-75" b="1">
                <a:latin typeface="Arial"/>
                <a:cs typeface="Arial"/>
              </a:rPr>
              <a:t>F</a:t>
            </a:r>
            <a:r>
              <a:rPr dirty="0" sz="2400" spc="-75">
                <a:latin typeface="Arial"/>
                <a:cs typeface="Arial"/>
              </a:rPr>
              <a:t>inally, </a:t>
            </a:r>
            <a:r>
              <a:rPr dirty="0" sz="2400" spc="-105" b="1">
                <a:latin typeface="Arial"/>
                <a:cs typeface="Arial"/>
              </a:rPr>
              <a:t>G</a:t>
            </a:r>
            <a:r>
              <a:rPr dirty="0" sz="2400" spc="-105">
                <a:latin typeface="Arial"/>
                <a:cs typeface="Arial"/>
              </a:rPr>
              <a:t>lobally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und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30" b="1">
                <a:latin typeface="Arial"/>
                <a:cs typeface="Arial"/>
              </a:rPr>
              <a:t>U</a:t>
            </a:r>
            <a:r>
              <a:rPr dirty="0" sz="2400" spc="-30">
                <a:latin typeface="Arial"/>
                <a:cs typeface="Arial"/>
              </a:rPr>
              <a:t>ntil</a:t>
            </a:r>
            <a:r>
              <a:rPr dirty="0" sz="2400" spc="-13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ergänzt.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40"/>
              <a:t>LTL</a:t>
            </a:r>
            <a:r>
              <a:rPr dirty="0" spc="-210"/>
              <a:t> </a:t>
            </a:r>
            <a:r>
              <a:rPr dirty="0" spc="-30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2142" y="1179550"/>
            <a:ext cx="7018655" cy="858519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75"/>
              </a:spcBef>
            </a:pPr>
            <a:r>
              <a:rPr dirty="0" sz="2000" spc="-60">
                <a:latin typeface="Arial"/>
                <a:cs typeface="Arial"/>
              </a:rPr>
              <a:t>Induktive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Definition</a:t>
            </a:r>
            <a:r>
              <a:rPr dirty="0" sz="2000" spc="-90">
                <a:latin typeface="Arial"/>
                <a:cs typeface="Arial"/>
              </a:rPr>
              <a:t> von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325">
                <a:latin typeface="Arial"/>
                <a:cs typeface="Arial"/>
              </a:rPr>
              <a:t>LTL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Formeln:</a:t>
            </a:r>
            <a:endParaRPr sz="2000">
              <a:latin typeface="Arial"/>
              <a:cs typeface="Arial"/>
            </a:endParaRPr>
          </a:p>
          <a:p>
            <a:pPr marL="495300">
              <a:lnSpc>
                <a:spcPct val="100000"/>
              </a:lnSpc>
              <a:spcBef>
                <a:spcPts val="880"/>
              </a:spcBef>
              <a:tabLst>
                <a:tab pos="1866900" algn="l"/>
              </a:tabLst>
            </a:pPr>
            <a:r>
              <a:rPr dirty="0" sz="2000">
                <a:latin typeface="Arial"/>
                <a:cs typeface="Arial"/>
              </a:rPr>
              <a:t>φ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::=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114">
                <a:latin typeface="STIX Two Math"/>
                <a:cs typeface="STIX Two Math"/>
              </a:rPr>
              <a:t>⊥</a:t>
            </a:r>
            <a:r>
              <a:rPr dirty="0" sz="2000" spc="-15">
                <a:latin typeface="STIX Two Math"/>
                <a:cs typeface="STIX Two Math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14">
                <a:latin typeface="STIX Two Math"/>
                <a:cs typeface="STIX Two Math"/>
              </a:rPr>
              <a:t>⊤</a:t>
            </a:r>
            <a:r>
              <a:rPr dirty="0" sz="2000" spc="-15">
                <a:latin typeface="STIX Two Math"/>
                <a:cs typeface="STIX Two Math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p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(¬φ)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(φ</a:t>
            </a:r>
            <a:r>
              <a:rPr dirty="0" baseline="-21367" sz="1950" spc="-67">
                <a:latin typeface="Arial"/>
                <a:cs typeface="Arial"/>
              </a:rPr>
              <a:t>1</a:t>
            </a:r>
            <a:r>
              <a:rPr dirty="0" baseline="-21367" sz="1950" spc="-82">
                <a:latin typeface="Arial"/>
                <a:cs typeface="Arial"/>
              </a:rPr>
              <a:t> </a:t>
            </a:r>
            <a:r>
              <a:rPr dirty="0" sz="2000" spc="-55">
                <a:latin typeface="STIX Two Math"/>
                <a:cs typeface="STIX Two Math"/>
              </a:rPr>
              <a:t>∧</a:t>
            </a:r>
            <a:r>
              <a:rPr dirty="0" sz="2000" spc="-55">
                <a:latin typeface="Arial"/>
                <a:cs typeface="Arial"/>
              </a:rPr>
              <a:t>φ</a:t>
            </a:r>
            <a:r>
              <a:rPr dirty="0" baseline="-21367" sz="1950" spc="-82">
                <a:latin typeface="Arial"/>
                <a:cs typeface="Arial"/>
              </a:rPr>
              <a:t>2</a:t>
            </a:r>
            <a:r>
              <a:rPr dirty="0" sz="2000" spc="-55">
                <a:latin typeface="Arial"/>
                <a:cs typeface="Arial"/>
              </a:rPr>
              <a:t>)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(φ</a:t>
            </a:r>
            <a:r>
              <a:rPr dirty="0" baseline="-21367" sz="1950" spc="-52">
                <a:latin typeface="Arial"/>
                <a:cs typeface="Arial"/>
              </a:rPr>
              <a:t>1</a:t>
            </a:r>
            <a:r>
              <a:rPr dirty="0" baseline="-21367" sz="1950" spc="-112">
                <a:latin typeface="Arial"/>
                <a:cs typeface="Arial"/>
              </a:rPr>
              <a:t> </a:t>
            </a:r>
            <a:r>
              <a:rPr dirty="0" sz="2000" spc="-55">
                <a:latin typeface="STIX Two Math"/>
                <a:cs typeface="STIX Two Math"/>
              </a:rPr>
              <a:t>∨</a:t>
            </a:r>
            <a:r>
              <a:rPr dirty="0" sz="2000" spc="-55">
                <a:latin typeface="Arial"/>
                <a:cs typeface="Arial"/>
              </a:rPr>
              <a:t>φ</a:t>
            </a:r>
            <a:r>
              <a:rPr dirty="0" baseline="-21367" sz="1950" spc="-82">
                <a:latin typeface="Arial"/>
                <a:cs typeface="Arial"/>
              </a:rPr>
              <a:t>2</a:t>
            </a:r>
            <a:r>
              <a:rPr dirty="0" sz="2000" spc="-55">
                <a:latin typeface="Arial"/>
                <a:cs typeface="Arial"/>
              </a:rPr>
              <a:t>)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(φ</a:t>
            </a:r>
            <a:r>
              <a:rPr dirty="0" baseline="-21367" sz="1950" spc="-67">
                <a:latin typeface="Arial"/>
                <a:cs typeface="Arial"/>
              </a:rPr>
              <a:t>1</a:t>
            </a:r>
            <a:r>
              <a:rPr dirty="0" baseline="-21367" sz="1950" spc="-89">
                <a:latin typeface="Arial"/>
                <a:cs typeface="Arial"/>
              </a:rPr>
              <a:t> </a:t>
            </a:r>
            <a:r>
              <a:rPr dirty="0" sz="2000" spc="-45">
                <a:latin typeface="STIX Two Math"/>
                <a:cs typeface="STIX Two Math"/>
              </a:rPr>
              <a:t>⇒</a:t>
            </a:r>
            <a:r>
              <a:rPr dirty="0" sz="2000" spc="-45">
                <a:latin typeface="Arial"/>
                <a:cs typeface="Arial"/>
              </a:rPr>
              <a:t>φ</a:t>
            </a:r>
            <a:r>
              <a:rPr dirty="0" baseline="-21367" sz="1950" spc="-67">
                <a:latin typeface="Arial"/>
                <a:cs typeface="Arial"/>
              </a:rPr>
              <a:t>2</a:t>
            </a:r>
            <a:r>
              <a:rPr dirty="0" sz="2000" spc="-45">
                <a:latin typeface="Arial"/>
                <a:cs typeface="Arial"/>
              </a:rPr>
              <a:t>)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340">
                <a:latin typeface="Arial"/>
                <a:cs typeface="Arial"/>
              </a:rPr>
              <a:t>|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9342" y="2024394"/>
            <a:ext cx="5481320" cy="1597025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1409700">
              <a:lnSpc>
                <a:spcPct val="100000"/>
              </a:lnSpc>
              <a:spcBef>
                <a:spcPts val="244"/>
              </a:spcBef>
            </a:pPr>
            <a:r>
              <a:rPr dirty="0" sz="2000" spc="-310">
                <a:latin typeface="Arial"/>
                <a:cs typeface="Arial"/>
              </a:rPr>
              <a:t>X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φ</a:t>
            </a:r>
            <a:r>
              <a:rPr dirty="0" sz="2000" spc="-140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310">
                <a:latin typeface="Arial"/>
                <a:cs typeface="Arial"/>
              </a:rPr>
              <a:t>F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φ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295">
                <a:latin typeface="Arial"/>
                <a:cs typeface="Arial"/>
              </a:rPr>
              <a:t>G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φ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φ</a:t>
            </a:r>
            <a:r>
              <a:rPr dirty="0" baseline="-21367" sz="1950">
                <a:latin typeface="Arial"/>
                <a:cs typeface="Arial"/>
              </a:rPr>
              <a:t>1</a:t>
            </a:r>
            <a:r>
              <a:rPr dirty="0" baseline="-21367" sz="1950" spc="104">
                <a:latin typeface="Arial"/>
                <a:cs typeface="Arial"/>
              </a:rPr>
              <a:t> </a:t>
            </a:r>
            <a:r>
              <a:rPr dirty="0" sz="2000" spc="-180">
                <a:latin typeface="Arial"/>
                <a:cs typeface="Arial"/>
              </a:rPr>
              <a:t>U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φ</a:t>
            </a:r>
            <a:r>
              <a:rPr dirty="0" baseline="-21367" sz="1950">
                <a:latin typeface="Arial"/>
                <a:cs typeface="Arial"/>
              </a:rPr>
              <a:t>2</a:t>
            </a:r>
            <a:r>
              <a:rPr dirty="0" baseline="-21367" sz="1950" spc="97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φ</a:t>
            </a:r>
            <a:r>
              <a:rPr dirty="0" baseline="-21367" sz="1950">
                <a:latin typeface="Arial"/>
                <a:cs typeface="Arial"/>
              </a:rPr>
              <a:t>1</a:t>
            </a:r>
            <a:r>
              <a:rPr dirty="0" baseline="-21367" sz="1950" spc="104">
                <a:latin typeface="Arial"/>
                <a:cs typeface="Arial"/>
              </a:rPr>
              <a:t> </a:t>
            </a:r>
            <a:r>
              <a:rPr dirty="0" sz="2000" spc="-120">
                <a:latin typeface="Arial"/>
                <a:cs typeface="Arial"/>
              </a:rPr>
              <a:t>W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φ</a:t>
            </a:r>
            <a:r>
              <a:rPr dirty="0" baseline="-21367" sz="1950" spc="-37">
                <a:latin typeface="Arial"/>
                <a:cs typeface="Arial"/>
              </a:rPr>
              <a:t>2</a:t>
            </a:r>
            <a:endParaRPr baseline="-21367" sz="1950">
              <a:latin typeface="Arial"/>
              <a:cs typeface="Arial"/>
            </a:endParaRPr>
          </a:p>
          <a:p>
            <a:pPr marL="266065" indent="-227965">
              <a:lnSpc>
                <a:spcPct val="100000"/>
              </a:lnSpc>
              <a:spcBef>
                <a:spcPts val="32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66065" algn="l"/>
              </a:tabLst>
            </a:pPr>
            <a:r>
              <a:rPr dirty="0" sz="1800" spc="-125">
                <a:latin typeface="STIX Two Math"/>
                <a:cs typeface="STIX Two Math"/>
              </a:rPr>
              <a:t>⊥</a:t>
            </a:r>
            <a:r>
              <a:rPr dirty="0" sz="1800" spc="-25">
                <a:latin typeface="STIX Two Math"/>
                <a:cs typeface="STIX Two Math"/>
              </a:rPr>
              <a:t> </a:t>
            </a:r>
            <a:r>
              <a:rPr dirty="0" sz="1800" spc="-65">
                <a:latin typeface="Arial"/>
                <a:cs typeface="Arial"/>
              </a:rPr>
              <a:t>und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25">
                <a:latin typeface="STIX Two Math"/>
                <a:cs typeface="STIX Two Math"/>
              </a:rPr>
              <a:t>⊤</a:t>
            </a:r>
            <a:r>
              <a:rPr dirty="0" sz="1800" spc="-10">
                <a:latin typeface="STIX Two Math"/>
                <a:cs typeface="STIX Two Math"/>
              </a:rPr>
              <a:t> </a:t>
            </a:r>
            <a:r>
              <a:rPr dirty="0" sz="1800" spc="-80">
                <a:latin typeface="Arial"/>
                <a:cs typeface="Arial"/>
              </a:rPr>
              <a:t>stehen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für</a:t>
            </a:r>
            <a:r>
              <a:rPr dirty="0" sz="1800" spc="-125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falsch</a:t>
            </a:r>
            <a:r>
              <a:rPr dirty="0" sz="1800" spc="180">
                <a:latin typeface="Arial"/>
                <a:cs typeface="Arial"/>
              </a:rPr>
              <a:t> </a:t>
            </a:r>
            <a:r>
              <a:rPr dirty="0" sz="1800" spc="-70">
                <a:latin typeface="Arial"/>
                <a:cs typeface="Arial"/>
              </a:rPr>
              <a:t>und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wahr</a:t>
            </a:r>
            <a:endParaRPr sz="1800">
              <a:latin typeface="Arial"/>
              <a:cs typeface="Arial"/>
            </a:endParaRPr>
          </a:p>
          <a:p>
            <a:pPr marL="266065" indent="-227965">
              <a:lnSpc>
                <a:spcPct val="100000"/>
              </a:lnSpc>
              <a:spcBef>
                <a:spcPts val="26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66065" algn="l"/>
              </a:tabLst>
            </a:pPr>
            <a:r>
              <a:rPr dirty="0" sz="1800" spc="-60">
                <a:latin typeface="Arial"/>
                <a:cs typeface="Arial"/>
              </a:rPr>
              <a:t>p </a:t>
            </a:r>
            <a:r>
              <a:rPr dirty="0" sz="1800" spc="-55">
                <a:latin typeface="Arial"/>
                <a:cs typeface="Arial"/>
              </a:rPr>
              <a:t>steht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für</a:t>
            </a:r>
            <a:r>
              <a:rPr dirty="0" sz="1800" spc="-75">
                <a:latin typeface="Arial"/>
                <a:cs typeface="Arial"/>
              </a:rPr>
              <a:t> eine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70">
                <a:latin typeface="Arial"/>
                <a:cs typeface="Arial"/>
              </a:rPr>
              <a:t>atomare </a:t>
            </a:r>
            <a:r>
              <a:rPr dirty="0" sz="1800" spc="-90">
                <a:latin typeface="Arial"/>
                <a:cs typeface="Arial"/>
              </a:rPr>
              <a:t>Formel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(Prädikat)</a:t>
            </a:r>
            <a:endParaRPr sz="1800">
              <a:latin typeface="Arial"/>
              <a:cs typeface="Arial"/>
            </a:endParaRPr>
          </a:p>
          <a:p>
            <a:pPr marL="266065" indent="-227965">
              <a:lnSpc>
                <a:spcPct val="100000"/>
              </a:lnSpc>
              <a:spcBef>
                <a:spcPts val="29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66065" algn="l"/>
              </a:tabLst>
            </a:pPr>
            <a:r>
              <a:rPr dirty="0" sz="1800" spc="-65">
                <a:latin typeface="Arial"/>
                <a:cs typeface="Arial"/>
              </a:rPr>
              <a:t>die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114">
                <a:latin typeface="Arial"/>
                <a:cs typeface="Arial"/>
              </a:rPr>
              <a:t>aussagenlogischen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90">
                <a:latin typeface="Arial"/>
                <a:cs typeface="Arial"/>
              </a:rPr>
              <a:t>Verknüpfungen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85">
                <a:latin typeface="Arial"/>
                <a:cs typeface="Arial"/>
              </a:rPr>
              <a:t>sind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55">
                <a:latin typeface="Arial"/>
                <a:cs typeface="Arial"/>
              </a:rPr>
              <a:t>die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üblichen</a:t>
            </a:r>
            <a:endParaRPr sz="1800">
              <a:latin typeface="Arial"/>
              <a:cs typeface="Arial"/>
            </a:endParaRPr>
          </a:p>
          <a:p>
            <a:pPr marL="266065" indent="-227965">
              <a:lnSpc>
                <a:spcPct val="100000"/>
              </a:lnSpc>
              <a:spcBef>
                <a:spcPts val="28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66065" algn="l"/>
              </a:tabLst>
            </a:pPr>
            <a:r>
              <a:rPr dirty="0" sz="1800" spc="-150" b="1">
                <a:solidFill>
                  <a:srgbClr val="3366FF"/>
                </a:solidFill>
                <a:latin typeface="Arial"/>
                <a:cs typeface="Arial"/>
              </a:rPr>
              <a:t>Temporale</a:t>
            </a:r>
            <a:r>
              <a:rPr dirty="0" sz="1800" spc="-45" b="1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dirty="0" sz="1800" spc="-30" b="1">
                <a:solidFill>
                  <a:srgbClr val="3366FF"/>
                </a:solidFill>
                <a:latin typeface="Arial"/>
                <a:cs typeface="Arial"/>
              </a:rPr>
              <a:t>Operatoren</a:t>
            </a:r>
            <a:r>
              <a:rPr dirty="0" sz="1800" spc="-30" b="1">
                <a:solidFill>
                  <a:srgbClr val="44536A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36698" y="3627501"/>
            <a:ext cx="4134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5">
                <a:latin typeface="Arial"/>
                <a:cs typeface="Arial"/>
              </a:rPr>
              <a:t>“φ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140">
                <a:latin typeface="Arial"/>
                <a:cs typeface="Arial"/>
              </a:rPr>
              <a:t>muss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35">
                <a:latin typeface="Arial"/>
                <a:cs typeface="Arial"/>
              </a:rPr>
              <a:t>im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100">
                <a:latin typeface="Arial"/>
                <a:cs typeface="Arial"/>
              </a:rPr>
              <a:t>nächsten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70">
                <a:latin typeface="Arial"/>
                <a:cs typeface="Arial"/>
              </a:rPr>
              <a:t>(ne</a:t>
            </a:r>
            <a:r>
              <a:rPr dirty="0" sz="1800" spc="-70" b="1">
                <a:solidFill>
                  <a:srgbClr val="3366FF"/>
                </a:solidFill>
                <a:latin typeface="Arial"/>
                <a:cs typeface="Arial"/>
              </a:rPr>
              <a:t>X</a:t>
            </a:r>
            <a:r>
              <a:rPr dirty="0" sz="1800" spc="-70">
                <a:latin typeface="Arial"/>
                <a:cs typeface="Arial"/>
              </a:rPr>
              <a:t>t) </a:t>
            </a:r>
            <a:r>
              <a:rPr dirty="0" sz="1800" spc="-110">
                <a:latin typeface="Arial"/>
                <a:cs typeface="Arial"/>
              </a:rPr>
              <a:t>Zustand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gelten”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6261" y="3591278"/>
            <a:ext cx="6797040" cy="182562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85"/>
              </a:spcBef>
            </a:pPr>
            <a:r>
              <a:rPr dirty="0" sz="1800" spc="-225" b="1">
                <a:latin typeface="Arial"/>
                <a:cs typeface="Arial"/>
              </a:rPr>
              <a:t>X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φ</a:t>
            </a:r>
            <a:endParaRPr sz="18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285"/>
              </a:spcBef>
              <a:tabLst>
                <a:tab pos="1223010" algn="l"/>
              </a:tabLst>
            </a:pPr>
            <a:r>
              <a:rPr dirty="0" sz="1800" spc="-275" b="1">
                <a:latin typeface="Arial"/>
                <a:cs typeface="Arial"/>
              </a:rPr>
              <a:t>F</a:t>
            </a:r>
            <a:r>
              <a:rPr dirty="0" sz="1800" spc="-95" b="1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φ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75">
                <a:latin typeface="Arial"/>
                <a:cs typeface="Arial"/>
              </a:rPr>
              <a:t>“φ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135">
                <a:latin typeface="Arial"/>
                <a:cs typeface="Arial"/>
              </a:rPr>
              <a:t>muss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75">
                <a:latin typeface="Arial"/>
                <a:cs typeface="Arial"/>
              </a:rPr>
              <a:t>irgendwann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in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45">
                <a:latin typeface="Arial"/>
                <a:cs typeface="Arial"/>
              </a:rPr>
              <a:t>der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Zukunft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(</a:t>
            </a:r>
            <a:r>
              <a:rPr dirty="0" sz="1800" spc="-60" b="1">
                <a:solidFill>
                  <a:srgbClr val="3366FF"/>
                </a:solidFill>
                <a:latin typeface="Arial"/>
                <a:cs typeface="Arial"/>
              </a:rPr>
              <a:t>F</a:t>
            </a:r>
            <a:r>
              <a:rPr dirty="0" sz="1800" spc="-60">
                <a:latin typeface="Arial"/>
                <a:cs typeface="Arial"/>
              </a:rPr>
              <a:t>uture/</a:t>
            </a:r>
            <a:r>
              <a:rPr dirty="0" sz="1800" spc="-60" b="1">
                <a:solidFill>
                  <a:srgbClr val="3366FF"/>
                </a:solidFill>
                <a:latin typeface="Arial"/>
                <a:cs typeface="Arial"/>
              </a:rPr>
              <a:t>F</a:t>
            </a:r>
            <a:r>
              <a:rPr dirty="0" sz="1800" spc="-60">
                <a:latin typeface="Arial"/>
                <a:cs typeface="Arial"/>
              </a:rPr>
              <a:t>inally)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gelten”</a:t>
            </a:r>
            <a:endParaRPr sz="18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280"/>
              </a:spcBef>
              <a:tabLst>
                <a:tab pos="1223010" algn="l"/>
              </a:tabLst>
            </a:pPr>
            <a:r>
              <a:rPr dirty="0" sz="1800" spc="-270" b="1">
                <a:latin typeface="Arial"/>
                <a:cs typeface="Arial"/>
              </a:rPr>
              <a:t>G</a:t>
            </a:r>
            <a:r>
              <a:rPr dirty="0" sz="1800" spc="-90" b="1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φ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75">
                <a:latin typeface="Arial"/>
                <a:cs typeface="Arial"/>
              </a:rPr>
              <a:t>“φ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45">
                <a:latin typeface="Arial"/>
                <a:cs typeface="Arial"/>
              </a:rPr>
              <a:t>muss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85" b="1">
                <a:solidFill>
                  <a:srgbClr val="3366FF"/>
                </a:solidFill>
                <a:latin typeface="Arial"/>
                <a:cs typeface="Arial"/>
              </a:rPr>
              <a:t>G</a:t>
            </a:r>
            <a:r>
              <a:rPr dirty="0" sz="1800" spc="-85">
                <a:latin typeface="Arial"/>
                <a:cs typeface="Arial"/>
              </a:rPr>
              <a:t>lobal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in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all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künftigen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05">
                <a:latin typeface="Arial"/>
                <a:cs typeface="Arial"/>
              </a:rPr>
              <a:t>Zuständen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gelten”</a:t>
            </a:r>
            <a:endParaRPr sz="1800">
              <a:latin typeface="Arial"/>
              <a:cs typeface="Arial"/>
            </a:endParaRPr>
          </a:p>
          <a:p>
            <a:pPr marL="50800" marR="602615">
              <a:lnSpc>
                <a:spcPct val="113300"/>
              </a:lnSpc>
              <a:tabLst>
                <a:tab pos="918210" algn="l"/>
              </a:tabLst>
            </a:pPr>
            <a:r>
              <a:rPr dirty="0" sz="1800">
                <a:latin typeface="Arial"/>
                <a:cs typeface="Arial"/>
              </a:rPr>
              <a:t>φ</a:t>
            </a:r>
            <a:r>
              <a:rPr dirty="0" baseline="-20833" sz="1800">
                <a:latin typeface="Arial"/>
                <a:cs typeface="Arial"/>
              </a:rPr>
              <a:t>1</a:t>
            </a:r>
            <a:r>
              <a:rPr dirty="0" baseline="-20833" sz="1800" spc="22">
                <a:latin typeface="Arial"/>
                <a:cs typeface="Arial"/>
              </a:rPr>
              <a:t> </a:t>
            </a:r>
            <a:r>
              <a:rPr dirty="0" sz="1800" spc="-130" b="1">
                <a:latin typeface="Arial"/>
                <a:cs typeface="Arial"/>
              </a:rPr>
              <a:t>U</a:t>
            </a:r>
            <a:r>
              <a:rPr dirty="0" sz="1800" spc="-80" b="1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φ</a:t>
            </a:r>
            <a:r>
              <a:rPr dirty="0" baseline="-20833" sz="1800" spc="-37">
                <a:latin typeface="Arial"/>
                <a:cs typeface="Arial"/>
              </a:rPr>
              <a:t>2</a:t>
            </a:r>
            <a:r>
              <a:rPr dirty="0" baseline="-20833" sz="1800">
                <a:latin typeface="Arial"/>
                <a:cs typeface="Arial"/>
              </a:rPr>
              <a:t>	</a:t>
            </a:r>
            <a:r>
              <a:rPr dirty="0" sz="1800">
                <a:latin typeface="Arial"/>
                <a:cs typeface="Arial"/>
              </a:rPr>
              <a:t>“φ</a:t>
            </a:r>
            <a:r>
              <a:rPr dirty="0" baseline="-20833" sz="1800">
                <a:latin typeface="Arial"/>
                <a:cs typeface="Arial"/>
              </a:rPr>
              <a:t>1</a:t>
            </a:r>
            <a:r>
              <a:rPr dirty="0" baseline="-20833" sz="1800" spc="34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gilt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in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70">
                <a:latin typeface="Arial"/>
                <a:cs typeface="Arial"/>
              </a:rPr>
              <a:t>allen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105">
                <a:latin typeface="Arial"/>
                <a:cs typeface="Arial"/>
              </a:rPr>
              <a:t>Zuständen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95">
                <a:latin typeface="Arial"/>
                <a:cs typeface="Arial"/>
              </a:rPr>
              <a:t>bis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30">
                <a:latin typeface="Arial"/>
                <a:cs typeface="Arial"/>
              </a:rPr>
              <a:t>(</a:t>
            </a:r>
            <a:r>
              <a:rPr dirty="0" sz="1800" spc="-30" b="1">
                <a:solidFill>
                  <a:srgbClr val="3366FF"/>
                </a:solidFill>
                <a:latin typeface="Arial"/>
                <a:cs typeface="Arial"/>
              </a:rPr>
              <a:t>U</a:t>
            </a:r>
            <a:r>
              <a:rPr dirty="0" sz="1800" spc="-30">
                <a:latin typeface="Arial"/>
                <a:cs typeface="Arial"/>
              </a:rPr>
              <a:t>ntil)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φ</a:t>
            </a:r>
            <a:r>
              <a:rPr dirty="0" baseline="-20833" sz="1800">
                <a:latin typeface="Arial"/>
                <a:cs typeface="Arial"/>
              </a:rPr>
              <a:t>2</a:t>
            </a:r>
            <a:r>
              <a:rPr dirty="0" baseline="-20833" sz="1800" spc="135">
                <a:latin typeface="Arial"/>
                <a:cs typeface="Arial"/>
              </a:rPr>
              <a:t> </a:t>
            </a:r>
            <a:r>
              <a:rPr dirty="0" sz="1800" spc="-80">
                <a:latin typeface="Arial"/>
                <a:cs typeface="Arial"/>
              </a:rPr>
              <a:t>irgendwann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gilt” </a:t>
            </a:r>
            <a:r>
              <a:rPr dirty="0" sz="1800">
                <a:solidFill>
                  <a:srgbClr val="7E7E7E"/>
                </a:solidFill>
                <a:latin typeface="Arial"/>
                <a:cs typeface="Arial"/>
              </a:rPr>
              <a:t>φ</a:t>
            </a:r>
            <a:r>
              <a:rPr dirty="0" baseline="-20833" sz="1800">
                <a:solidFill>
                  <a:srgbClr val="7E7E7E"/>
                </a:solidFill>
                <a:latin typeface="Arial"/>
                <a:cs typeface="Arial"/>
              </a:rPr>
              <a:t>1</a:t>
            </a:r>
            <a:r>
              <a:rPr dirty="0" baseline="-20833" sz="1800" spc="112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 spc="-90" b="1">
                <a:solidFill>
                  <a:srgbClr val="7E7E7E"/>
                </a:solidFill>
                <a:latin typeface="Arial"/>
                <a:cs typeface="Arial"/>
              </a:rPr>
              <a:t>W</a:t>
            </a:r>
            <a:r>
              <a:rPr dirty="0" sz="1800" spc="-75" b="1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7E7E7E"/>
                </a:solidFill>
                <a:latin typeface="Arial"/>
                <a:cs typeface="Arial"/>
              </a:rPr>
              <a:t>φ</a:t>
            </a:r>
            <a:r>
              <a:rPr dirty="0" baseline="-20833" sz="1800">
                <a:solidFill>
                  <a:srgbClr val="7E7E7E"/>
                </a:solidFill>
                <a:latin typeface="Arial"/>
                <a:cs typeface="Arial"/>
              </a:rPr>
              <a:t>2</a:t>
            </a:r>
            <a:r>
              <a:rPr dirty="0" baseline="-20833" sz="1800" spc="697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7E7E7E"/>
                </a:solidFill>
                <a:latin typeface="Arial"/>
                <a:cs typeface="Arial"/>
              </a:rPr>
              <a:t>“φ</a:t>
            </a:r>
            <a:r>
              <a:rPr dirty="0" baseline="-20833" sz="1800">
                <a:solidFill>
                  <a:srgbClr val="7E7E7E"/>
                </a:solidFill>
                <a:latin typeface="Arial"/>
                <a:cs typeface="Arial"/>
              </a:rPr>
              <a:t>1</a:t>
            </a:r>
            <a:r>
              <a:rPr dirty="0" baseline="-20833" sz="1800" spc="1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7E7E7E"/>
                </a:solidFill>
                <a:latin typeface="Arial"/>
                <a:cs typeface="Arial"/>
              </a:rPr>
              <a:t>gilt</a:t>
            </a:r>
            <a:r>
              <a:rPr dirty="0" sz="1800" spc="-8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7E7E7E"/>
                </a:solidFill>
                <a:latin typeface="Arial"/>
                <a:cs typeface="Arial"/>
              </a:rPr>
              <a:t>in</a:t>
            </a:r>
            <a:r>
              <a:rPr dirty="0" sz="1800" spc="-7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7E7E7E"/>
                </a:solidFill>
                <a:latin typeface="Arial"/>
                <a:cs typeface="Arial"/>
              </a:rPr>
              <a:t>allen</a:t>
            </a:r>
            <a:r>
              <a:rPr dirty="0" sz="1800" spc="-8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 spc="-105">
                <a:solidFill>
                  <a:srgbClr val="7E7E7E"/>
                </a:solidFill>
                <a:latin typeface="Arial"/>
                <a:cs typeface="Arial"/>
              </a:rPr>
              <a:t>Zuständen</a:t>
            </a:r>
            <a:r>
              <a:rPr dirty="0" sz="1800" spc="-8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 spc="-95">
                <a:solidFill>
                  <a:srgbClr val="7E7E7E"/>
                </a:solidFill>
                <a:latin typeface="Arial"/>
                <a:cs typeface="Arial"/>
              </a:rPr>
              <a:t>bis</a:t>
            </a:r>
            <a:r>
              <a:rPr dirty="0" sz="1800" spc="-6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7E7E7E"/>
                </a:solidFill>
                <a:latin typeface="Arial"/>
                <a:cs typeface="Arial"/>
              </a:rPr>
              <a:t>φ</a:t>
            </a:r>
            <a:r>
              <a:rPr dirty="0" baseline="-20833" sz="1800">
                <a:solidFill>
                  <a:srgbClr val="7E7E7E"/>
                </a:solidFill>
                <a:latin typeface="Arial"/>
                <a:cs typeface="Arial"/>
              </a:rPr>
              <a:t>2</a:t>
            </a:r>
            <a:r>
              <a:rPr dirty="0" baseline="-20833" sz="1800" spc="1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 spc="-80">
                <a:solidFill>
                  <a:srgbClr val="7E7E7E"/>
                </a:solidFill>
                <a:latin typeface="Arial"/>
                <a:cs typeface="Arial"/>
              </a:rPr>
              <a:t>irgendwann</a:t>
            </a:r>
            <a:r>
              <a:rPr dirty="0" sz="1800" spc="-6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7E7E7E"/>
                </a:solidFill>
                <a:latin typeface="Arial"/>
                <a:cs typeface="Arial"/>
              </a:rPr>
              <a:t>gilt</a:t>
            </a:r>
            <a:r>
              <a:rPr dirty="0" sz="1800" spc="-8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7E7E7E"/>
                </a:solidFill>
                <a:latin typeface="Arial"/>
                <a:cs typeface="Arial"/>
              </a:rPr>
              <a:t>oder</a:t>
            </a:r>
            <a:endParaRPr sz="1800">
              <a:latin typeface="Arial"/>
              <a:cs typeface="Arial"/>
            </a:endParaRPr>
          </a:p>
          <a:p>
            <a:pPr marL="1527810">
              <a:lnSpc>
                <a:spcPts val="1945"/>
              </a:lnSpc>
              <a:tabLst>
                <a:tab pos="3966210" algn="l"/>
              </a:tabLst>
            </a:pPr>
            <a:r>
              <a:rPr dirty="0" sz="1800">
                <a:solidFill>
                  <a:srgbClr val="7E7E7E"/>
                </a:solidFill>
                <a:latin typeface="Arial"/>
                <a:cs typeface="Arial"/>
              </a:rPr>
              <a:t>φ</a:t>
            </a:r>
            <a:r>
              <a:rPr dirty="0" baseline="-20833" sz="1800">
                <a:solidFill>
                  <a:srgbClr val="7E7E7E"/>
                </a:solidFill>
                <a:latin typeface="Arial"/>
                <a:cs typeface="Arial"/>
              </a:rPr>
              <a:t>2</a:t>
            </a:r>
            <a:r>
              <a:rPr dirty="0" baseline="-20833" sz="1800" spc="2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7E7E7E"/>
                </a:solidFill>
                <a:latin typeface="Arial"/>
                <a:cs typeface="Arial"/>
              </a:rPr>
              <a:t>gilt</a:t>
            </a:r>
            <a:r>
              <a:rPr dirty="0" sz="1800" spc="-1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7E7E7E"/>
                </a:solidFill>
                <a:latin typeface="Arial"/>
                <a:cs typeface="Arial"/>
              </a:rPr>
              <a:t>niemals”</a:t>
            </a:r>
            <a:r>
              <a:rPr dirty="0" sz="1800">
                <a:solidFill>
                  <a:srgbClr val="7E7E7E"/>
                </a:solidFill>
                <a:latin typeface="Arial"/>
                <a:cs typeface="Arial"/>
              </a:rPr>
              <a:t>	</a:t>
            </a:r>
            <a:r>
              <a:rPr dirty="0" sz="1800" spc="-105">
                <a:solidFill>
                  <a:srgbClr val="7E7E7E"/>
                </a:solidFill>
                <a:latin typeface="Arial"/>
                <a:cs typeface="Arial"/>
              </a:rPr>
              <a:t>(</a:t>
            </a:r>
            <a:r>
              <a:rPr dirty="0" sz="1800" spc="-105" b="1">
                <a:solidFill>
                  <a:srgbClr val="7E7E7E"/>
                </a:solidFill>
                <a:latin typeface="Arial"/>
                <a:cs typeface="Arial"/>
              </a:rPr>
              <a:t>W</a:t>
            </a:r>
            <a:r>
              <a:rPr dirty="0" sz="1800" spc="-105">
                <a:solidFill>
                  <a:srgbClr val="7E7E7E"/>
                </a:solidFill>
                <a:latin typeface="Arial"/>
                <a:cs typeface="Arial"/>
              </a:rPr>
              <a:t>eak</a:t>
            </a:r>
            <a:r>
              <a:rPr dirty="0" sz="1800" spc="-5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7E7E7E"/>
                </a:solidFill>
                <a:latin typeface="Arial"/>
                <a:cs typeface="Arial"/>
              </a:rPr>
              <a:t>until)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42404" y="3339084"/>
            <a:ext cx="1781810" cy="643890"/>
          </a:xfrm>
          <a:custGeom>
            <a:avLst/>
            <a:gdLst/>
            <a:ahLst/>
            <a:cxnLst/>
            <a:rect l="l" t="t" r="r" b="b"/>
            <a:pathLst>
              <a:path w="1781809" h="643889">
                <a:moveTo>
                  <a:pt x="0" y="84582"/>
                </a:moveTo>
                <a:lnTo>
                  <a:pt x="6643" y="51649"/>
                </a:lnTo>
                <a:lnTo>
                  <a:pt x="24764" y="24765"/>
                </a:lnTo>
                <a:lnTo>
                  <a:pt x="51649" y="6643"/>
                </a:lnTo>
                <a:lnTo>
                  <a:pt x="84582" y="0"/>
                </a:lnTo>
                <a:lnTo>
                  <a:pt x="296926" y="0"/>
                </a:lnTo>
                <a:lnTo>
                  <a:pt x="742315" y="0"/>
                </a:lnTo>
                <a:lnTo>
                  <a:pt x="1696974" y="0"/>
                </a:lnTo>
                <a:lnTo>
                  <a:pt x="1729906" y="6643"/>
                </a:lnTo>
                <a:lnTo>
                  <a:pt x="1756791" y="24765"/>
                </a:lnTo>
                <a:lnTo>
                  <a:pt x="1774912" y="51649"/>
                </a:lnTo>
                <a:lnTo>
                  <a:pt x="1781556" y="84582"/>
                </a:lnTo>
                <a:lnTo>
                  <a:pt x="1781556" y="296037"/>
                </a:lnTo>
                <a:lnTo>
                  <a:pt x="1781556" y="422910"/>
                </a:lnTo>
                <a:lnTo>
                  <a:pt x="1774912" y="455842"/>
                </a:lnTo>
                <a:lnTo>
                  <a:pt x="1756791" y="482727"/>
                </a:lnTo>
                <a:lnTo>
                  <a:pt x="1729906" y="500848"/>
                </a:lnTo>
                <a:lnTo>
                  <a:pt x="1696974" y="507492"/>
                </a:lnTo>
                <a:lnTo>
                  <a:pt x="742315" y="507492"/>
                </a:lnTo>
                <a:lnTo>
                  <a:pt x="105791" y="643763"/>
                </a:lnTo>
                <a:lnTo>
                  <a:pt x="296926" y="507492"/>
                </a:lnTo>
                <a:lnTo>
                  <a:pt x="84582" y="507492"/>
                </a:lnTo>
                <a:lnTo>
                  <a:pt x="51649" y="500848"/>
                </a:lnTo>
                <a:lnTo>
                  <a:pt x="24764" y="482727"/>
                </a:lnTo>
                <a:lnTo>
                  <a:pt x="6643" y="455842"/>
                </a:lnTo>
                <a:lnTo>
                  <a:pt x="0" y="422910"/>
                </a:lnTo>
                <a:lnTo>
                  <a:pt x="0" y="296037"/>
                </a:lnTo>
                <a:lnTo>
                  <a:pt x="0" y="84582"/>
                </a:lnTo>
                <a:close/>
              </a:path>
            </a:pathLst>
          </a:custGeom>
          <a:ln w="12700">
            <a:solidFill>
              <a:srgbClr val="6FAC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157973" y="3355975"/>
            <a:ext cx="155257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252729">
              <a:lnSpc>
                <a:spcPct val="100000"/>
              </a:lnSpc>
              <a:spcBef>
                <a:spcPts val="105"/>
              </a:spcBef>
            </a:pPr>
            <a:r>
              <a:rPr dirty="0" sz="1400" spc="-80">
                <a:latin typeface="Arial"/>
                <a:cs typeface="Arial"/>
              </a:rPr>
              <a:t>kann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85">
                <a:latin typeface="Arial"/>
                <a:cs typeface="Arial"/>
              </a:rPr>
              <a:t>auch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der </a:t>
            </a:r>
            <a:r>
              <a:rPr dirty="0" sz="1400" spc="-40">
                <a:latin typeface="Arial"/>
                <a:cs typeface="Arial"/>
              </a:rPr>
              <a:t>aktuelle </a:t>
            </a:r>
            <a:r>
              <a:rPr dirty="0" sz="1400" spc="-85">
                <a:latin typeface="Arial"/>
                <a:cs typeface="Arial"/>
              </a:rPr>
              <a:t>Zustand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55">
                <a:latin typeface="Arial"/>
                <a:cs typeface="Arial"/>
              </a:rPr>
              <a:t>sein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9412" y="5756147"/>
            <a:ext cx="7451090" cy="504825"/>
          </a:xfrm>
          <a:custGeom>
            <a:avLst/>
            <a:gdLst/>
            <a:ahLst/>
            <a:cxnLst/>
            <a:rect l="l" t="t" r="r" b="b"/>
            <a:pathLst>
              <a:path w="7451090" h="504825">
                <a:moveTo>
                  <a:pt x="0" y="84073"/>
                </a:moveTo>
                <a:lnTo>
                  <a:pt x="6607" y="51349"/>
                </a:lnTo>
                <a:lnTo>
                  <a:pt x="24625" y="24625"/>
                </a:lnTo>
                <a:lnTo>
                  <a:pt x="51349" y="6607"/>
                </a:lnTo>
                <a:lnTo>
                  <a:pt x="84074" y="0"/>
                </a:lnTo>
                <a:lnTo>
                  <a:pt x="7366761" y="0"/>
                </a:lnTo>
                <a:lnTo>
                  <a:pt x="7399508" y="6607"/>
                </a:lnTo>
                <a:lnTo>
                  <a:pt x="7426229" y="24625"/>
                </a:lnTo>
                <a:lnTo>
                  <a:pt x="7444235" y="51349"/>
                </a:lnTo>
                <a:lnTo>
                  <a:pt x="7450835" y="84073"/>
                </a:lnTo>
                <a:lnTo>
                  <a:pt x="7450835" y="420369"/>
                </a:lnTo>
                <a:lnTo>
                  <a:pt x="7444235" y="453094"/>
                </a:lnTo>
                <a:lnTo>
                  <a:pt x="7426229" y="479818"/>
                </a:lnTo>
                <a:lnTo>
                  <a:pt x="7399508" y="497836"/>
                </a:lnTo>
                <a:lnTo>
                  <a:pt x="7366761" y="504443"/>
                </a:lnTo>
                <a:lnTo>
                  <a:pt x="84074" y="504443"/>
                </a:lnTo>
                <a:lnTo>
                  <a:pt x="51349" y="497836"/>
                </a:lnTo>
                <a:lnTo>
                  <a:pt x="24625" y="479818"/>
                </a:lnTo>
                <a:lnTo>
                  <a:pt x="6607" y="453094"/>
                </a:lnTo>
                <a:lnTo>
                  <a:pt x="0" y="420369"/>
                </a:lnTo>
                <a:lnTo>
                  <a:pt x="0" y="84073"/>
                </a:lnTo>
                <a:close/>
              </a:path>
            </a:pathLst>
          </a:custGeom>
          <a:ln w="12699">
            <a:solidFill>
              <a:srgbClr val="6FAC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75740" y="5847689"/>
            <a:ext cx="65582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40">
                <a:latin typeface="Arial"/>
                <a:cs typeface="Arial"/>
              </a:rPr>
              <a:t>Zum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95">
                <a:latin typeface="Arial"/>
                <a:cs typeface="Arial"/>
              </a:rPr>
              <a:t>Klammersparen: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114">
                <a:latin typeface="Arial"/>
                <a:cs typeface="Arial"/>
              </a:rPr>
              <a:t>¬,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70">
                <a:latin typeface="Arial"/>
                <a:cs typeface="Arial"/>
              </a:rPr>
              <a:t>X,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170">
                <a:latin typeface="Arial"/>
                <a:cs typeface="Arial"/>
              </a:rPr>
              <a:t>G,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275">
                <a:latin typeface="Arial"/>
                <a:cs typeface="Arial"/>
              </a:rPr>
              <a:t>F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55">
                <a:latin typeface="Arial"/>
                <a:cs typeface="Arial"/>
              </a:rPr>
              <a:t>binden</a:t>
            </a:r>
            <a:r>
              <a:rPr dirty="0" sz="1800" spc="-75">
                <a:latin typeface="Arial"/>
                <a:cs typeface="Arial"/>
              </a:rPr>
              <a:t> starker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120">
                <a:latin typeface="Arial"/>
                <a:cs typeface="Arial"/>
              </a:rPr>
              <a:t>als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165">
                <a:latin typeface="Arial"/>
                <a:cs typeface="Arial"/>
              </a:rPr>
              <a:t>U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70">
                <a:latin typeface="Arial"/>
                <a:cs typeface="Arial"/>
              </a:rPr>
              <a:t>und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85">
                <a:latin typeface="Arial"/>
                <a:cs typeface="Arial"/>
              </a:rPr>
              <a:t>dann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>
                <a:latin typeface="STIX Two Math"/>
                <a:cs typeface="STIX Two Math"/>
              </a:rPr>
              <a:t>∧ </a:t>
            </a:r>
            <a:r>
              <a:rPr dirty="0" sz="1800" spc="-60">
                <a:latin typeface="Arial"/>
                <a:cs typeface="Arial"/>
              </a:rPr>
              <a:t>und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25">
                <a:latin typeface="STIX Two Math"/>
                <a:cs typeface="STIX Two Math"/>
              </a:rPr>
              <a:t>∨</a:t>
            </a:r>
            <a:r>
              <a:rPr dirty="0" sz="1800" spc="-25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0584" y="266192"/>
            <a:ext cx="411162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40"/>
              <a:t>LTL</a:t>
            </a:r>
            <a:r>
              <a:rPr dirty="0" spc="-175"/>
              <a:t> Formeln:</a:t>
            </a:r>
            <a:r>
              <a:rPr dirty="0" spc="-150"/>
              <a:t> </a:t>
            </a:r>
            <a:r>
              <a:rPr dirty="0" spc="-170"/>
              <a:t>Übung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02818" y="2718561"/>
          <a:ext cx="1510665" cy="572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275"/>
                <a:gridCol w="422275"/>
                <a:gridCol w="422909"/>
                <a:gridCol w="294640"/>
              </a:tblGrid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8638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703195" y="2718561"/>
          <a:ext cx="1511300" cy="572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275"/>
                <a:gridCol w="422275"/>
                <a:gridCol w="422909"/>
                <a:gridCol w="294640"/>
              </a:tblGrid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8638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84700" y="2718561"/>
          <a:ext cx="1511300" cy="572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275"/>
                <a:gridCol w="422275"/>
                <a:gridCol w="422909"/>
                <a:gridCol w="294640"/>
              </a:tblGrid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8638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561708" y="2718561"/>
          <a:ext cx="1994535" cy="572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815"/>
                <a:gridCol w="427354"/>
                <a:gridCol w="427990"/>
                <a:gridCol w="427990"/>
                <a:gridCol w="334010"/>
              </a:tblGrid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8638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65">
                          <a:latin typeface="Arial"/>
                          <a:cs typeface="Arial"/>
                        </a:rPr>
                        <a:t>…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35965" y="1585340"/>
            <a:ext cx="787717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0"/>
              </a:spcBef>
              <a:buClr>
                <a:srgbClr val="4471C4"/>
              </a:buClr>
              <a:buFont typeface="Wingdings"/>
              <a:buChar char=""/>
              <a:tabLst>
                <a:tab pos="285115" algn="l"/>
              </a:tabLst>
            </a:pPr>
            <a:r>
              <a:rPr dirty="0" sz="2400" spc="-135">
                <a:latin typeface="Arial"/>
                <a:cs typeface="Arial"/>
              </a:rPr>
              <a:t>Welche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der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390">
                <a:latin typeface="Arial"/>
                <a:cs typeface="Arial"/>
              </a:rPr>
              <a:t>LTL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Formeln </a:t>
            </a:r>
            <a:r>
              <a:rPr dirty="0" sz="2400" spc="-370">
                <a:solidFill>
                  <a:srgbClr val="3366FF"/>
                </a:solidFill>
                <a:latin typeface="Arial"/>
                <a:cs typeface="Arial"/>
              </a:rPr>
              <a:t>X</a:t>
            </a:r>
            <a:r>
              <a:rPr dirty="0" sz="2400" spc="-114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dirty="0" sz="2400" spc="-95" i="1">
                <a:solidFill>
                  <a:srgbClr val="3366FF"/>
                </a:solidFill>
                <a:latin typeface="Arial"/>
                <a:cs typeface="Arial"/>
              </a:rPr>
              <a:t>p</a:t>
            </a:r>
            <a:r>
              <a:rPr dirty="0" sz="2400" spc="-95" i="1">
                <a:latin typeface="Arial"/>
                <a:cs typeface="Arial"/>
              </a:rPr>
              <a:t>,</a:t>
            </a:r>
            <a:r>
              <a:rPr dirty="0" sz="2400" spc="-120" i="1">
                <a:latin typeface="Arial"/>
                <a:cs typeface="Arial"/>
              </a:rPr>
              <a:t> </a:t>
            </a:r>
            <a:r>
              <a:rPr dirty="0" sz="2400" spc="-370">
                <a:solidFill>
                  <a:srgbClr val="3366FF"/>
                </a:solidFill>
                <a:latin typeface="Arial"/>
                <a:cs typeface="Arial"/>
              </a:rPr>
              <a:t>F</a:t>
            </a:r>
            <a:r>
              <a:rPr dirty="0" sz="2400" spc="-13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dirty="0" sz="2400" spc="-114" i="1">
                <a:solidFill>
                  <a:srgbClr val="3366FF"/>
                </a:solidFill>
                <a:latin typeface="Arial"/>
                <a:cs typeface="Arial"/>
              </a:rPr>
              <a:t>p </a:t>
            </a:r>
            <a:r>
              <a:rPr dirty="0" sz="2400" spc="-90">
                <a:latin typeface="Arial"/>
                <a:cs typeface="Arial"/>
              </a:rPr>
              <a:t>und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355">
                <a:solidFill>
                  <a:srgbClr val="3366FF"/>
                </a:solidFill>
                <a:latin typeface="Arial"/>
                <a:cs typeface="Arial"/>
              </a:rPr>
              <a:t>G</a:t>
            </a:r>
            <a:r>
              <a:rPr dirty="0" sz="2400" spc="-12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dirty="0" sz="2400" spc="-114" i="1">
                <a:solidFill>
                  <a:srgbClr val="3366FF"/>
                </a:solidFill>
                <a:latin typeface="Arial"/>
                <a:cs typeface="Arial"/>
              </a:rPr>
              <a:t>p </a:t>
            </a:r>
            <a:r>
              <a:rPr dirty="0" sz="2400" spc="-85">
                <a:latin typeface="Arial"/>
                <a:cs typeface="Arial"/>
              </a:rPr>
              <a:t>gelten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80">
                <a:latin typeface="Arial"/>
                <a:cs typeface="Arial"/>
              </a:rPr>
              <a:t>auf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55">
                <a:latin typeface="Arial"/>
                <a:cs typeface="Arial"/>
              </a:rPr>
              <a:t>folgenden </a:t>
            </a:r>
            <a:r>
              <a:rPr dirty="0" sz="2400" spc="-20">
                <a:latin typeface="Arial"/>
                <a:cs typeface="Arial"/>
              </a:rPr>
              <a:t>Pfaden?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703197" y="4889627"/>
          <a:ext cx="1510665" cy="943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275"/>
                <a:gridCol w="422275"/>
                <a:gridCol w="422909"/>
                <a:gridCol w="294640"/>
              </a:tblGrid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708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  <a:tr h="28638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q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584702" y="4889627"/>
          <a:ext cx="1510665" cy="943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275"/>
                <a:gridCol w="422275"/>
                <a:gridCol w="422909"/>
                <a:gridCol w="294640"/>
              </a:tblGrid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708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  <a:tr h="28638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q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442203" y="4862195"/>
          <a:ext cx="1510665" cy="943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275"/>
                <a:gridCol w="422275"/>
                <a:gridCol w="422909"/>
                <a:gridCol w="294640"/>
              </a:tblGrid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708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  <a:tr h="28638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q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435965" y="3683889"/>
            <a:ext cx="793369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0"/>
              </a:spcBef>
              <a:buClr>
                <a:srgbClr val="2D75B6"/>
              </a:buClr>
              <a:buFont typeface="Wingdings"/>
              <a:buChar char=""/>
              <a:tabLst>
                <a:tab pos="285115" algn="l"/>
              </a:tabLst>
            </a:pPr>
            <a:r>
              <a:rPr dirty="0" sz="2400" spc="-135">
                <a:latin typeface="Arial"/>
                <a:cs typeface="Arial"/>
              </a:rPr>
              <a:t>Welche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der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390">
                <a:latin typeface="Arial"/>
                <a:cs typeface="Arial"/>
              </a:rPr>
              <a:t>LTL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Formeln </a:t>
            </a:r>
            <a:r>
              <a:rPr dirty="0" sz="2400" spc="-114" i="1">
                <a:solidFill>
                  <a:srgbClr val="3366FF"/>
                </a:solidFill>
                <a:latin typeface="Arial"/>
                <a:cs typeface="Arial"/>
              </a:rPr>
              <a:t>p</a:t>
            </a:r>
            <a:r>
              <a:rPr dirty="0" sz="2400" spc="-110" i="1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dirty="0" sz="2400" spc="-215">
                <a:solidFill>
                  <a:srgbClr val="3366FF"/>
                </a:solidFill>
                <a:latin typeface="Arial"/>
                <a:cs typeface="Arial"/>
              </a:rPr>
              <a:t>U</a:t>
            </a:r>
            <a:r>
              <a:rPr dirty="0" sz="2400" spc="-125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dirty="0" sz="2400" spc="-114" i="1">
                <a:solidFill>
                  <a:srgbClr val="3366FF"/>
                </a:solidFill>
                <a:latin typeface="Arial"/>
                <a:cs typeface="Arial"/>
              </a:rPr>
              <a:t>q</a:t>
            </a:r>
            <a:r>
              <a:rPr dirty="0" sz="2400" spc="-130" i="1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und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14" i="1">
                <a:solidFill>
                  <a:srgbClr val="3366FF"/>
                </a:solidFill>
                <a:latin typeface="Arial"/>
                <a:cs typeface="Arial"/>
              </a:rPr>
              <a:t>p</a:t>
            </a:r>
            <a:r>
              <a:rPr dirty="0" sz="2400" spc="-110" i="1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dirty="0" sz="2400" spc="-145">
                <a:solidFill>
                  <a:srgbClr val="3366FF"/>
                </a:solidFill>
                <a:latin typeface="Arial"/>
                <a:cs typeface="Arial"/>
              </a:rPr>
              <a:t>W</a:t>
            </a:r>
            <a:r>
              <a:rPr dirty="0" sz="2400" spc="-12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dirty="0" sz="2400" spc="-114" i="1">
                <a:solidFill>
                  <a:srgbClr val="3366FF"/>
                </a:solidFill>
                <a:latin typeface="Arial"/>
                <a:cs typeface="Arial"/>
              </a:rPr>
              <a:t>q </a:t>
            </a:r>
            <a:r>
              <a:rPr dirty="0" sz="2400" spc="-85">
                <a:latin typeface="Arial"/>
                <a:cs typeface="Arial"/>
              </a:rPr>
              <a:t>gelten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80">
                <a:latin typeface="Arial"/>
                <a:cs typeface="Arial"/>
              </a:rPr>
              <a:t>auf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55">
                <a:latin typeface="Arial"/>
                <a:cs typeface="Arial"/>
              </a:rPr>
              <a:t>folgenden </a:t>
            </a:r>
            <a:r>
              <a:rPr dirty="0" sz="2400" spc="-20">
                <a:latin typeface="Arial"/>
                <a:cs typeface="Arial"/>
              </a:rPr>
              <a:t>Pfaden?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0584" y="266192"/>
            <a:ext cx="411162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40"/>
              <a:t>LTL</a:t>
            </a:r>
            <a:r>
              <a:rPr dirty="0" spc="-175"/>
              <a:t> Formeln:</a:t>
            </a:r>
            <a:r>
              <a:rPr dirty="0" spc="-150"/>
              <a:t> </a:t>
            </a:r>
            <a:r>
              <a:rPr dirty="0" spc="-170"/>
              <a:t>Übung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02818" y="2718561"/>
          <a:ext cx="1421765" cy="572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825"/>
                <a:gridCol w="377825"/>
                <a:gridCol w="422909"/>
                <a:gridCol w="294640"/>
              </a:tblGrid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7465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8638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4699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703195" y="2718561"/>
          <a:ext cx="1511300" cy="572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275"/>
                <a:gridCol w="422275"/>
                <a:gridCol w="422909"/>
                <a:gridCol w="294640"/>
              </a:tblGrid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8638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84700" y="2718561"/>
          <a:ext cx="1511300" cy="572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275"/>
                <a:gridCol w="422275"/>
                <a:gridCol w="422909"/>
                <a:gridCol w="294640"/>
              </a:tblGrid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8638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561708" y="2718561"/>
          <a:ext cx="1994535" cy="572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815"/>
                <a:gridCol w="427354"/>
                <a:gridCol w="427990"/>
                <a:gridCol w="427990"/>
                <a:gridCol w="334010"/>
              </a:tblGrid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8638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65">
                          <a:latin typeface="Arial"/>
                          <a:cs typeface="Arial"/>
                        </a:rPr>
                        <a:t>…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35965" y="1585340"/>
            <a:ext cx="7877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0"/>
              </a:spcBef>
              <a:buClr>
                <a:srgbClr val="4471C4"/>
              </a:buClr>
              <a:buFont typeface="Wingdings"/>
              <a:buChar char=""/>
              <a:tabLst>
                <a:tab pos="285115" algn="l"/>
              </a:tabLst>
            </a:pPr>
            <a:r>
              <a:rPr dirty="0" sz="2400" spc="-135">
                <a:latin typeface="Arial"/>
                <a:cs typeface="Arial"/>
              </a:rPr>
              <a:t>Welche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der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390">
                <a:latin typeface="Arial"/>
                <a:cs typeface="Arial"/>
              </a:rPr>
              <a:t>LTL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Formeln </a:t>
            </a:r>
            <a:r>
              <a:rPr dirty="0" sz="2400" spc="-370">
                <a:solidFill>
                  <a:srgbClr val="3366FF"/>
                </a:solidFill>
                <a:latin typeface="Arial"/>
                <a:cs typeface="Arial"/>
              </a:rPr>
              <a:t>X</a:t>
            </a:r>
            <a:r>
              <a:rPr dirty="0" sz="2400" spc="-114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dirty="0" sz="2400" spc="-95" i="1">
                <a:solidFill>
                  <a:srgbClr val="3366FF"/>
                </a:solidFill>
                <a:latin typeface="Arial"/>
                <a:cs typeface="Arial"/>
              </a:rPr>
              <a:t>p</a:t>
            </a:r>
            <a:r>
              <a:rPr dirty="0" sz="2400" spc="-95" i="1">
                <a:latin typeface="Arial"/>
                <a:cs typeface="Arial"/>
              </a:rPr>
              <a:t>,</a:t>
            </a:r>
            <a:r>
              <a:rPr dirty="0" sz="2400" spc="-120" i="1">
                <a:latin typeface="Arial"/>
                <a:cs typeface="Arial"/>
              </a:rPr>
              <a:t> </a:t>
            </a:r>
            <a:r>
              <a:rPr dirty="0" sz="2400" spc="-370">
                <a:solidFill>
                  <a:srgbClr val="3366FF"/>
                </a:solidFill>
                <a:latin typeface="Arial"/>
                <a:cs typeface="Arial"/>
              </a:rPr>
              <a:t>F</a:t>
            </a:r>
            <a:r>
              <a:rPr dirty="0" sz="2400" spc="-13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dirty="0" sz="2400" spc="-114" i="1">
                <a:solidFill>
                  <a:srgbClr val="3366FF"/>
                </a:solidFill>
                <a:latin typeface="Arial"/>
                <a:cs typeface="Arial"/>
              </a:rPr>
              <a:t>p </a:t>
            </a:r>
            <a:r>
              <a:rPr dirty="0" sz="2400" spc="-90">
                <a:latin typeface="Arial"/>
                <a:cs typeface="Arial"/>
              </a:rPr>
              <a:t>und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355">
                <a:solidFill>
                  <a:srgbClr val="3366FF"/>
                </a:solidFill>
                <a:latin typeface="Arial"/>
                <a:cs typeface="Arial"/>
              </a:rPr>
              <a:t>G</a:t>
            </a:r>
            <a:r>
              <a:rPr dirty="0" sz="2400" spc="-12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dirty="0" sz="2400" spc="-114" i="1">
                <a:solidFill>
                  <a:srgbClr val="3366FF"/>
                </a:solidFill>
                <a:latin typeface="Arial"/>
                <a:cs typeface="Arial"/>
              </a:rPr>
              <a:t>p </a:t>
            </a:r>
            <a:r>
              <a:rPr dirty="0" sz="2400" spc="-85">
                <a:latin typeface="Arial"/>
                <a:cs typeface="Arial"/>
              </a:rPr>
              <a:t>gelten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80">
                <a:latin typeface="Arial"/>
                <a:cs typeface="Arial"/>
              </a:rPr>
              <a:t>auf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45">
                <a:latin typeface="Arial"/>
                <a:cs typeface="Arial"/>
              </a:rPr>
              <a:t>folgenden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703197" y="4889627"/>
          <a:ext cx="1510665" cy="943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275"/>
                <a:gridCol w="422275"/>
                <a:gridCol w="422909"/>
                <a:gridCol w="294640"/>
              </a:tblGrid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708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  <a:tr h="28638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q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584702" y="4889627"/>
          <a:ext cx="1510665" cy="943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275"/>
                <a:gridCol w="422275"/>
                <a:gridCol w="422909"/>
                <a:gridCol w="294640"/>
              </a:tblGrid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708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  <a:tr h="28638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q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442203" y="4862195"/>
          <a:ext cx="1510665" cy="943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275"/>
                <a:gridCol w="422275"/>
                <a:gridCol w="422909"/>
                <a:gridCol w="294640"/>
              </a:tblGrid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15"/>
                        </a:lnSpc>
                      </a:pPr>
                      <a:r>
                        <a:rPr dirty="0" sz="1600" spc="-50" b="1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708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  <a:tr h="28638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 i="1">
                          <a:latin typeface="Arial"/>
                          <a:cs typeface="Arial"/>
                        </a:rPr>
                        <a:t>q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900"/>
                        </a:lnSpc>
                        <a:spcBef>
                          <a:spcPts val="259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3019"/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435965" y="3683889"/>
            <a:ext cx="7933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0"/>
              </a:spcBef>
              <a:buClr>
                <a:srgbClr val="2D75B6"/>
              </a:buClr>
              <a:buFont typeface="Wingdings"/>
              <a:buChar char=""/>
              <a:tabLst>
                <a:tab pos="285115" algn="l"/>
              </a:tabLst>
            </a:pPr>
            <a:r>
              <a:rPr dirty="0" sz="2400" spc="-135">
                <a:latin typeface="Arial"/>
                <a:cs typeface="Arial"/>
              </a:rPr>
              <a:t>Welche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der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390">
                <a:latin typeface="Arial"/>
                <a:cs typeface="Arial"/>
              </a:rPr>
              <a:t>LTL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Formeln </a:t>
            </a:r>
            <a:r>
              <a:rPr dirty="0" sz="2400" spc="-114" i="1">
                <a:solidFill>
                  <a:srgbClr val="3366FF"/>
                </a:solidFill>
                <a:latin typeface="Arial"/>
                <a:cs typeface="Arial"/>
              </a:rPr>
              <a:t>p</a:t>
            </a:r>
            <a:r>
              <a:rPr dirty="0" sz="2400" spc="-110" i="1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dirty="0" sz="2400" spc="-215">
                <a:solidFill>
                  <a:srgbClr val="3366FF"/>
                </a:solidFill>
                <a:latin typeface="Arial"/>
                <a:cs typeface="Arial"/>
              </a:rPr>
              <a:t>U</a:t>
            </a:r>
            <a:r>
              <a:rPr dirty="0" sz="2400" spc="-125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dirty="0" sz="2400" spc="-114" i="1">
                <a:solidFill>
                  <a:srgbClr val="3366FF"/>
                </a:solidFill>
                <a:latin typeface="Arial"/>
                <a:cs typeface="Arial"/>
              </a:rPr>
              <a:t>q</a:t>
            </a:r>
            <a:r>
              <a:rPr dirty="0" sz="2400" spc="-130" i="1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und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14" i="1">
                <a:solidFill>
                  <a:srgbClr val="3366FF"/>
                </a:solidFill>
                <a:latin typeface="Arial"/>
                <a:cs typeface="Arial"/>
              </a:rPr>
              <a:t>p</a:t>
            </a:r>
            <a:r>
              <a:rPr dirty="0" sz="2400" spc="-110" i="1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dirty="0" sz="2400" spc="-145">
                <a:solidFill>
                  <a:srgbClr val="3366FF"/>
                </a:solidFill>
                <a:latin typeface="Arial"/>
                <a:cs typeface="Arial"/>
              </a:rPr>
              <a:t>W</a:t>
            </a:r>
            <a:r>
              <a:rPr dirty="0" sz="2400" spc="-12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dirty="0" sz="2400" spc="-114" i="1">
                <a:solidFill>
                  <a:srgbClr val="3366FF"/>
                </a:solidFill>
                <a:latin typeface="Arial"/>
                <a:cs typeface="Arial"/>
              </a:rPr>
              <a:t>q </a:t>
            </a:r>
            <a:r>
              <a:rPr dirty="0" sz="2400" spc="-85">
                <a:latin typeface="Arial"/>
                <a:cs typeface="Arial"/>
              </a:rPr>
              <a:t>gelten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80">
                <a:latin typeface="Arial"/>
                <a:cs typeface="Arial"/>
              </a:rPr>
              <a:t>auf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45">
                <a:latin typeface="Arial"/>
                <a:cs typeface="Arial"/>
              </a:rPr>
              <a:t>folgenden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83716" y="2283332"/>
            <a:ext cx="1418590" cy="735965"/>
            <a:chOff x="783716" y="2283332"/>
            <a:chExt cx="1418590" cy="735965"/>
          </a:xfrm>
        </p:grpSpPr>
        <p:sp>
          <p:nvSpPr>
            <p:cNvPr id="13" name="object 13"/>
            <p:cNvSpPr/>
            <p:nvPr/>
          </p:nvSpPr>
          <p:spPr>
            <a:xfrm>
              <a:off x="793241" y="2292857"/>
              <a:ext cx="1399540" cy="716915"/>
            </a:xfrm>
            <a:custGeom>
              <a:avLst/>
              <a:gdLst/>
              <a:ahLst/>
              <a:cxnLst/>
              <a:rect l="l" t="t" r="r" b="b"/>
              <a:pathLst>
                <a:path w="1399539" h="716914">
                  <a:moveTo>
                    <a:pt x="1165860" y="423672"/>
                  </a:moveTo>
                  <a:lnTo>
                    <a:pt x="816102" y="423672"/>
                  </a:lnTo>
                  <a:lnTo>
                    <a:pt x="934974" y="716788"/>
                  </a:lnTo>
                  <a:lnTo>
                    <a:pt x="1165860" y="423672"/>
                  </a:lnTo>
                  <a:close/>
                </a:path>
                <a:path w="1399539" h="716914">
                  <a:moveTo>
                    <a:pt x="1328420" y="0"/>
                  </a:moveTo>
                  <a:lnTo>
                    <a:pt x="70612" y="0"/>
                  </a:lnTo>
                  <a:lnTo>
                    <a:pt x="43125" y="5550"/>
                  </a:lnTo>
                  <a:lnTo>
                    <a:pt x="20680" y="20685"/>
                  </a:lnTo>
                  <a:lnTo>
                    <a:pt x="5548" y="43130"/>
                  </a:lnTo>
                  <a:lnTo>
                    <a:pt x="0" y="70612"/>
                  </a:lnTo>
                  <a:lnTo>
                    <a:pt x="0" y="353060"/>
                  </a:lnTo>
                  <a:lnTo>
                    <a:pt x="5548" y="380541"/>
                  </a:lnTo>
                  <a:lnTo>
                    <a:pt x="20680" y="402986"/>
                  </a:lnTo>
                  <a:lnTo>
                    <a:pt x="43125" y="418121"/>
                  </a:lnTo>
                  <a:lnTo>
                    <a:pt x="70612" y="423672"/>
                  </a:lnTo>
                  <a:lnTo>
                    <a:pt x="1328420" y="423672"/>
                  </a:lnTo>
                  <a:lnTo>
                    <a:pt x="1355901" y="418121"/>
                  </a:lnTo>
                  <a:lnTo>
                    <a:pt x="1378346" y="402986"/>
                  </a:lnTo>
                  <a:lnTo>
                    <a:pt x="1393481" y="380541"/>
                  </a:lnTo>
                  <a:lnTo>
                    <a:pt x="1399032" y="353060"/>
                  </a:lnTo>
                  <a:lnTo>
                    <a:pt x="1399032" y="70612"/>
                  </a:lnTo>
                  <a:lnTo>
                    <a:pt x="1393481" y="43130"/>
                  </a:lnTo>
                  <a:lnTo>
                    <a:pt x="1378346" y="20685"/>
                  </a:lnTo>
                  <a:lnTo>
                    <a:pt x="1355901" y="5550"/>
                  </a:lnTo>
                  <a:lnTo>
                    <a:pt x="13284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93241" y="2292857"/>
              <a:ext cx="1399540" cy="716915"/>
            </a:xfrm>
            <a:custGeom>
              <a:avLst/>
              <a:gdLst/>
              <a:ahLst/>
              <a:cxnLst/>
              <a:rect l="l" t="t" r="r" b="b"/>
              <a:pathLst>
                <a:path w="1399539" h="716914">
                  <a:moveTo>
                    <a:pt x="0" y="70612"/>
                  </a:moveTo>
                  <a:lnTo>
                    <a:pt x="5548" y="43130"/>
                  </a:lnTo>
                  <a:lnTo>
                    <a:pt x="20680" y="20685"/>
                  </a:lnTo>
                  <a:lnTo>
                    <a:pt x="43125" y="5550"/>
                  </a:lnTo>
                  <a:lnTo>
                    <a:pt x="70612" y="0"/>
                  </a:lnTo>
                  <a:lnTo>
                    <a:pt x="816102" y="0"/>
                  </a:lnTo>
                  <a:lnTo>
                    <a:pt x="1165860" y="0"/>
                  </a:lnTo>
                  <a:lnTo>
                    <a:pt x="1328420" y="0"/>
                  </a:lnTo>
                  <a:lnTo>
                    <a:pt x="1355901" y="5550"/>
                  </a:lnTo>
                  <a:lnTo>
                    <a:pt x="1378346" y="20685"/>
                  </a:lnTo>
                  <a:lnTo>
                    <a:pt x="1393481" y="43130"/>
                  </a:lnTo>
                  <a:lnTo>
                    <a:pt x="1399032" y="70612"/>
                  </a:lnTo>
                  <a:lnTo>
                    <a:pt x="1399032" y="247142"/>
                  </a:lnTo>
                  <a:lnTo>
                    <a:pt x="1399032" y="353060"/>
                  </a:lnTo>
                  <a:lnTo>
                    <a:pt x="1393481" y="380541"/>
                  </a:lnTo>
                  <a:lnTo>
                    <a:pt x="1378346" y="402986"/>
                  </a:lnTo>
                  <a:lnTo>
                    <a:pt x="1355901" y="418121"/>
                  </a:lnTo>
                  <a:lnTo>
                    <a:pt x="1328420" y="423672"/>
                  </a:lnTo>
                  <a:lnTo>
                    <a:pt x="1165860" y="423672"/>
                  </a:lnTo>
                  <a:lnTo>
                    <a:pt x="934974" y="716788"/>
                  </a:lnTo>
                  <a:lnTo>
                    <a:pt x="816102" y="423672"/>
                  </a:lnTo>
                  <a:lnTo>
                    <a:pt x="70612" y="423672"/>
                  </a:lnTo>
                  <a:lnTo>
                    <a:pt x="43125" y="418121"/>
                  </a:lnTo>
                  <a:lnTo>
                    <a:pt x="20680" y="402986"/>
                  </a:lnTo>
                  <a:lnTo>
                    <a:pt x="5548" y="380541"/>
                  </a:lnTo>
                  <a:lnTo>
                    <a:pt x="0" y="353060"/>
                  </a:lnTo>
                  <a:lnTo>
                    <a:pt x="0" y="247142"/>
                  </a:lnTo>
                  <a:lnTo>
                    <a:pt x="0" y="70612"/>
                  </a:lnTo>
                  <a:close/>
                </a:path>
              </a:pathLst>
            </a:custGeom>
            <a:ln w="190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08761" y="1951101"/>
            <a:ext cx="1276985" cy="76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685"/>
              </a:lnSpc>
              <a:spcBef>
                <a:spcPts val="100"/>
              </a:spcBef>
            </a:pPr>
            <a:r>
              <a:rPr dirty="0" sz="2400" spc="-20">
                <a:latin typeface="Arial"/>
                <a:cs typeface="Arial"/>
              </a:rPr>
              <a:t>Pfaden?</a:t>
            </a:r>
            <a:endParaRPr sz="2400">
              <a:latin typeface="Arial"/>
              <a:cs typeface="Arial"/>
            </a:endParaRPr>
          </a:p>
          <a:p>
            <a:pPr marL="341630">
              <a:lnSpc>
                <a:spcPts val="1485"/>
              </a:lnSpc>
            </a:pPr>
            <a:r>
              <a:rPr dirty="0" sz="1400" spc="-10">
                <a:latin typeface="Arial"/>
                <a:cs typeface="Arial"/>
              </a:rPr>
              <a:t>gilt: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225">
                <a:latin typeface="Arial"/>
                <a:cs typeface="Arial"/>
              </a:rPr>
              <a:t>X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45">
                <a:latin typeface="Arial"/>
                <a:cs typeface="Arial"/>
              </a:rPr>
              <a:t>p,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220">
                <a:latin typeface="Arial"/>
                <a:cs typeface="Arial"/>
              </a:rPr>
              <a:t>F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p,</a:t>
            </a:r>
            <a:endParaRPr sz="14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gilt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nicht: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215">
                <a:latin typeface="Arial"/>
                <a:cs typeface="Arial"/>
              </a:rPr>
              <a:t>G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p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665857" y="2184273"/>
            <a:ext cx="1621155" cy="873125"/>
            <a:chOff x="2665857" y="2184273"/>
            <a:chExt cx="1621155" cy="873125"/>
          </a:xfrm>
        </p:grpSpPr>
        <p:sp>
          <p:nvSpPr>
            <p:cNvPr id="17" name="object 17"/>
            <p:cNvSpPr/>
            <p:nvPr/>
          </p:nvSpPr>
          <p:spPr>
            <a:xfrm>
              <a:off x="2675382" y="2193798"/>
              <a:ext cx="1602105" cy="854075"/>
            </a:xfrm>
            <a:custGeom>
              <a:avLst/>
              <a:gdLst/>
              <a:ahLst/>
              <a:cxnLst/>
              <a:rect l="l" t="t" r="r" b="b"/>
              <a:pathLst>
                <a:path w="1602104" h="854075">
                  <a:moveTo>
                    <a:pt x="1334770" y="423672"/>
                  </a:moveTo>
                  <a:lnTo>
                    <a:pt x="934338" y="423672"/>
                  </a:lnTo>
                  <a:lnTo>
                    <a:pt x="1237488" y="854075"/>
                  </a:lnTo>
                  <a:lnTo>
                    <a:pt x="1334770" y="423672"/>
                  </a:lnTo>
                  <a:close/>
                </a:path>
                <a:path w="1602104" h="854075">
                  <a:moveTo>
                    <a:pt x="1531112" y="0"/>
                  </a:moveTo>
                  <a:lnTo>
                    <a:pt x="70612" y="0"/>
                  </a:lnTo>
                  <a:lnTo>
                    <a:pt x="43130" y="5550"/>
                  </a:lnTo>
                  <a:lnTo>
                    <a:pt x="20685" y="20685"/>
                  </a:lnTo>
                  <a:lnTo>
                    <a:pt x="5550" y="43130"/>
                  </a:lnTo>
                  <a:lnTo>
                    <a:pt x="0" y="70612"/>
                  </a:lnTo>
                  <a:lnTo>
                    <a:pt x="0" y="353060"/>
                  </a:lnTo>
                  <a:lnTo>
                    <a:pt x="5550" y="380541"/>
                  </a:lnTo>
                  <a:lnTo>
                    <a:pt x="20685" y="402986"/>
                  </a:lnTo>
                  <a:lnTo>
                    <a:pt x="43130" y="418121"/>
                  </a:lnTo>
                  <a:lnTo>
                    <a:pt x="70612" y="423672"/>
                  </a:lnTo>
                  <a:lnTo>
                    <a:pt x="1531112" y="423672"/>
                  </a:lnTo>
                  <a:lnTo>
                    <a:pt x="1558593" y="418121"/>
                  </a:lnTo>
                  <a:lnTo>
                    <a:pt x="1581038" y="402986"/>
                  </a:lnTo>
                  <a:lnTo>
                    <a:pt x="1596173" y="380541"/>
                  </a:lnTo>
                  <a:lnTo>
                    <a:pt x="1601724" y="353060"/>
                  </a:lnTo>
                  <a:lnTo>
                    <a:pt x="1601724" y="70612"/>
                  </a:lnTo>
                  <a:lnTo>
                    <a:pt x="1596173" y="43130"/>
                  </a:lnTo>
                  <a:lnTo>
                    <a:pt x="1581038" y="20685"/>
                  </a:lnTo>
                  <a:lnTo>
                    <a:pt x="1558593" y="5550"/>
                  </a:lnTo>
                  <a:lnTo>
                    <a:pt x="15311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75382" y="2193798"/>
              <a:ext cx="1602105" cy="854075"/>
            </a:xfrm>
            <a:custGeom>
              <a:avLst/>
              <a:gdLst/>
              <a:ahLst/>
              <a:cxnLst/>
              <a:rect l="l" t="t" r="r" b="b"/>
              <a:pathLst>
                <a:path w="1602104" h="854075">
                  <a:moveTo>
                    <a:pt x="0" y="70612"/>
                  </a:moveTo>
                  <a:lnTo>
                    <a:pt x="5550" y="43130"/>
                  </a:lnTo>
                  <a:lnTo>
                    <a:pt x="20685" y="20685"/>
                  </a:lnTo>
                  <a:lnTo>
                    <a:pt x="43130" y="5550"/>
                  </a:lnTo>
                  <a:lnTo>
                    <a:pt x="70612" y="0"/>
                  </a:lnTo>
                  <a:lnTo>
                    <a:pt x="934338" y="0"/>
                  </a:lnTo>
                  <a:lnTo>
                    <a:pt x="1334770" y="0"/>
                  </a:lnTo>
                  <a:lnTo>
                    <a:pt x="1531112" y="0"/>
                  </a:lnTo>
                  <a:lnTo>
                    <a:pt x="1558593" y="5550"/>
                  </a:lnTo>
                  <a:lnTo>
                    <a:pt x="1581038" y="20685"/>
                  </a:lnTo>
                  <a:lnTo>
                    <a:pt x="1596173" y="43130"/>
                  </a:lnTo>
                  <a:lnTo>
                    <a:pt x="1601724" y="70612"/>
                  </a:lnTo>
                  <a:lnTo>
                    <a:pt x="1601724" y="247142"/>
                  </a:lnTo>
                  <a:lnTo>
                    <a:pt x="1601724" y="353060"/>
                  </a:lnTo>
                  <a:lnTo>
                    <a:pt x="1596173" y="380541"/>
                  </a:lnTo>
                  <a:lnTo>
                    <a:pt x="1581038" y="402986"/>
                  </a:lnTo>
                  <a:lnTo>
                    <a:pt x="1558593" y="418121"/>
                  </a:lnTo>
                  <a:lnTo>
                    <a:pt x="1531112" y="423672"/>
                  </a:lnTo>
                  <a:lnTo>
                    <a:pt x="1334770" y="423672"/>
                  </a:lnTo>
                  <a:lnTo>
                    <a:pt x="1237488" y="854075"/>
                  </a:lnTo>
                  <a:lnTo>
                    <a:pt x="934338" y="423672"/>
                  </a:lnTo>
                  <a:lnTo>
                    <a:pt x="70612" y="423672"/>
                  </a:lnTo>
                  <a:lnTo>
                    <a:pt x="43130" y="418121"/>
                  </a:lnTo>
                  <a:lnTo>
                    <a:pt x="20685" y="402986"/>
                  </a:lnTo>
                  <a:lnTo>
                    <a:pt x="5550" y="380541"/>
                  </a:lnTo>
                  <a:lnTo>
                    <a:pt x="0" y="353060"/>
                  </a:lnTo>
                  <a:lnTo>
                    <a:pt x="0" y="247142"/>
                  </a:lnTo>
                  <a:lnTo>
                    <a:pt x="0" y="70612"/>
                  </a:lnTo>
                  <a:close/>
                </a:path>
              </a:pathLst>
            </a:custGeom>
            <a:ln w="190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827147" y="2167508"/>
            <a:ext cx="129730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Arial"/>
                <a:cs typeface="Arial"/>
              </a:rPr>
              <a:t>gilt: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215">
                <a:latin typeface="Arial"/>
                <a:cs typeface="Arial"/>
              </a:rPr>
              <a:t>F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p,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gilt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nicht: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225">
                <a:latin typeface="Arial"/>
                <a:cs typeface="Arial"/>
              </a:rPr>
              <a:t>X</a:t>
            </a:r>
            <a:r>
              <a:rPr dirty="0" sz="1400" spc="-90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p,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215">
                <a:latin typeface="Arial"/>
                <a:cs typeface="Arial"/>
              </a:rPr>
              <a:t>G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p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552569" y="2155317"/>
            <a:ext cx="1622425" cy="873125"/>
            <a:chOff x="4552569" y="2155317"/>
            <a:chExt cx="1622425" cy="873125"/>
          </a:xfrm>
        </p:grpSpPr>
        <p:sp>
          <p:nvSpPr>
            <p:cNvPr id="21" name="object 21"/>
            <p:cNvSpPr/>
            <p:nvPr/>
          </p:nvSpPr>
          <p:spPr>
            <a:xfrm>
              <a:off x="4562094" y="2164842"/>
              <a:ext cx="1603375" cy="854075"/>
            </a:xfrm>
            <a:custGeom>
              <a:avLst/>
              <a:gdLst/>
              <a:ahLst/>
              <a:cxnLst/>
              <a:rect l="l" t="t" r="r" b="b"/>
              <a:pathLst>
                <a:path w="1603375" h="854075">
                  <a:moveTo>
                    <a:pt x="1336040" y="423672"/>
                  </a:moveTo>
                  <a:lnTo>
                    <a:pt x="935228" y="423672"/>
                  </a:lnTo>
                  <a:lnTo>
                    <a:pt x="1238631" y="854075"/>
                  </a:lnTo>
                  <a:lnTo>
                    <a:pt x="1336040" y="423672"/>
                  </a:lnTo>
                  <a:close/>
                </a:path>
                <a:path w="1603375" h="854075">
                  <a:moveTo>
                    <a:pt x="1532636" y="0"/>
                  </a:moveTo>
                  <a:lnTo>
                    <a:pt x="70612" y="0"/>
                  </a:lnTo>
                  <a:lnTo>
                    <a:pt x="43130" y="5550"/>
                  </a:lnTo>
                  <a:lnTo>
                    <a:pt x="20685" y="20685"/>
                  </a:lnTo>
                  <a:lnTo>
                    <a:pt x="5550" y="43130"/>
                  </a:lnTo>
                  <a:lnTo>
                    <a:pt x="0" y="70612"/>
                  </a:lnTo>
                  <a:lnTo>
                    <a:pt x="0" y="353060"/>
                  </a:lnTo>
                  <a:lnTo>
                    <a:pt x="5550" y="380541"/>
                  </a:lnTo>
                  <a:lnTo>
                    <a:pt x="20685" y="402986"/>
                  </a:lnTo>
                  <a:lnTo>
                    <a:pt x="43130" y="418121"/>
                  </a:lnTo>
                  <a:lnTo>
                    <a:pt x="70612" y="423672"/>
                  </a:lnTo>
                  <a:lnTo>
                    <a:pt x="1532636" y="423672"/>
                  </a:lnTo>
                  <a:lnTo>
                    <a:pt x="1560117" y="418121"/>
                  </a:lnTo>
                  <a:lnTo>
                    <a:pt x="1582562" y="402986"/>
                  </a:lnTo>
                  <a:lnTo>
                    <a:pt x="1597697" y="380541"/>
                  </a:lnTo>
                  <a:lnTo>
                    <a:pt x="1603248" y="353060"/>
                  </a:lnTo>
                  <a:lnTo>
                    <a:pt x="1603248" y="70612"/>
                  </a:lnTo>
                  <a:lnTo>
                    <a:pt x="1597697" y="43130"/>
                  </a:lnTo>
                  <a:lnTo>
                    <a:pt x="1582562" y="20685"/>
                  </a:lnTo>
                  <a:lnTo>
                    <a:pt x="1560117" y="5550"/>
                  </a:lnTo>
                  <a:lnTo>
                    <a:pt x="15326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562094" y="2164842"/>
              <a:ext cx="1603375" cy="854075"/>
            </a:xfrm>
            <a:custGeom>
              <a:avLst/>
              <a:gdLst/>
              <a:ahLst/>
              <a:cxnLst/>
              <a:rect l="l" t="t" r="r" b="b"/>
              <a:pathLst>
                <a:path w="1603375" h="854075">
                  <a:moveTo>
                    <a:pt x="0" y="70612"/>
                  </a:moveTo>
                  <a:lnTo>
                    <a:pt x="5550" y="43130"/>
                  </a:lnTo>
                  <a:lnTo>
                    <a:pt x="20685" y="20685"/>
                  </a:lnTo>
                  <a:lnTo>
                    <a:pt x="43130" y="5550"/>
                  </a:lnTo>
                  <a:lnTo>
                    <a:pt x="70612" y="0"/>
                  </a:lnTo>
                  <a:lnTo>
                    <a:pt x="935228" y="0"/>
                  </a:lnTo>
                  <a:lnTo>
                    <a:pt x="1336040" y="0"/>
                  </a:lnTo>
                  <a:lnTo>
                    <a:pt x="1532636" y="0"/>
                  </a:lnTo>
                  <a:lnTo>
                    <a:pt x="1560117" y="5550"/>
                  </a:lnTo>
                  <a:lnTo>
                    <a:pt x="1582562" y="20685"/>
                  </a:lnTo>
                  <a:lnTo>
                    <a:pt x="1597697" y="43130"/>
                  </a:lnTo>
                  <a:lnTo>
                    <a:pt x="1603248" y="70612"/>
                  </a:lnTo>
                  <a:lnTo>
                    <a:pt x="1603248" y="247142"/>
                  </a:lnTo>
                  <a:lnTo>
                    <a:pt x="1603248" y="353060"/>
                  </a:lnTo>
                  <a:lnTo>
                    <a:pt x="1597697" y="380541"/>
                  </a:lnTo>
                  <a:lnTo>
                    <a:pt x="1582562" y="402986"/>
                  </a:lnTo>
                  <a:lnTo>
                    <a:pt x="1560117" y="418121"/>
                  </a:lnTo>
                  <a:lnTo>
                    <a:pt x="1532636" y="423672"/>
                  </a:lnTo>
                  <a:lnTo>
                    <a:pt x="1336040" y="423672"/>
                  </a:lnTo>
                  <a:lnTo>
                    <a:pt x="1238631" y="854075"/>
                  </a:lnTo>
                  <a:lnTo>
                    <a:pt x="935228" y="423672"/>
                  </a:lnTo>
                  <a:lnTo>
                    <a:pt x="70612" y="423672"/>
                  </a:lnTo>
                  <a:lnTo>
                    <a:pt x="43130" y="418121"/>
                  </a:lnTo>
                  <a:lnTo>
                    <a:pt x="20685" y="402986"/>
                  </a:lnTo>
                  <a:lnTo>
                    <a:pt x="5550" y="380541"/>
                  </a:lnTo>
                  <a:lnTo>
                    <a:pt x="0" y="353060"/>
                  </a:lnTo>
                  <a:lnTo>
                    <a:pt x="0" y="247142"/>
                  </a:lnTo>
                  <a:lnTo>
                    <a:pt x="0" y="70612"/>
                  </a:lnTo>
                  <a:close/>
                </a:path>
              </a:pathLst>
            </a:custGeom>
            <a:ln w="190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870196" y="2138552"/>
            <a:ext cx="98806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3937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Arial"/>
                <a:cs typeface="Arial"/>
              </a:rPr>
              <a:t>gilt: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225">
                <a:latin typeface="Arial"/>
                <a:cs typeface="Arial"/>
              </a:rPr>
              <a:t>X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45">
                <a:latin typeface="Arial"/>
                <a:cs typeface="Arial"/>
              </a:rPr>
              <a:t>p,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220">
                <a:latin typeface="Arial"/>
                <a:cs typeface="Arial"/>
              </a:rPr>
              <a:t>F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p, </a:t>
            </a:r>
            <a:r>
              <a:rPr dirty="0" sz="1400">
                <a:latin typeface="Arial"/>
                <a:cs typeface="Arial"/>
              </a:rPr>
              <a:t>gilt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nicht: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215">
                <a:latin typeface="Arial"/>
                <a:cs typeface="Arial"/>
              </a:rPr>
              <a:t>G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p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558153" y="2182748"/>
            <a:ext cx="1621155" cy="869950"/>
            <a:chOff x="6558153" y="2182748"/>
            <a:chExt cx="1621155" cy="869950"/>
          </a:xfrm>
        </p:grpSpPr>
        <p:sp>
          <p:nvSpPr>
            <p:cNvPr id="25" name="object 25"/>
            <p:cNvSpPr/>
            <p:nvPr/>
          </p:nvSpPr>
          <p:spPr>
            <a:xfrm>
              <a:off x="6567678" y="2192273"/>
              <a:ext cx="1602105" cy="850900"/>
            </a:xfrm>
            <a:custGeom>
              <a:avLst/>
              <a:gdLst/>
              <a:ahLst/>
              <a:cxnLst/>
              <a:rect l="l" t="t" r="r" b="b"/>
              <a:pathLst>
                <a:path w="1602104" h="850900">
                  <a:moveTo>
                    <a:pt x="1334770" y="422148"/>
                  </a:moveTo>
                  <a:lnTo>
                    <a:pt x="934338" y="422148"/>
                  </a:lnTo>
                  <a:lnTo>
                    <a:pt x="1237488" y="850900"/>
                  </a:lnTo>
                  <a:lnTo>
                    <a:pt x="1334770" y="422148"/>
                  </a:lnTo>
                  <a:close/>
                </a:path>
                <a:path w="1602104" h="850900">
                  <a:moveTo>
                    <a:pt x="1531366" y="0"/>
                  </a:moveTo>
                  <a:lnTo>
                    <a:pt x="70358" y="0"/>
                  </a:lnTo>
                  <a:lnTo>
                    <a:pt x="42969" y="5528"/>
                  </a:lnTo>
                  <a:lnTo>
                    <a:pt x="20605" y="20605"/>
                  </a:lnTo>
                  <a:lnTo>
                    <a:pt x="5528" y="42969"/>
                  </a:lnTo>
                  <a:lnTo>
                    <a:pt x="0" y="70358"/>
                  </a:lnTo>
                  <a:lnTo>
                    <a:pt x="0" y="351790"/>
                  </a:lnTo>
                  <a:lnTo>
                    <a:pt x="5528" y="379178"/>
                  </a:lnTo>
                  <a:lnTo>
                    <a:pt x="20605" y="401542"/>
                  </a:lnTo>
                  <a:lnTo>
                    <a:pt x="42969" y="416619"/>
                  </a:lnTo>
                  <a:lnTo>
                    <a:pt x="70358" y="422148"/>
                  </a:lnTo>
                  <a:lnTo>
                    <a:pt x="1531366" y="422148"/>
                  </a:lnTo>
                  <a:lnTo>
                    <a:pt x="1558754" y="416619"/>
                  </a:lnTo>
                  <a:lnTo>
                    <a:pt x="1581118" y="401542"/>
                  </a:lnTo>
                  <a:lnTo>
                    <a:pt x="1596195" y="379178"/>
                  </a:lnTo>
                  <a:lnTo>
                    <a:pt x="1601724" y="351790"/>
                  </a:lnTo>
                  <a:lnTo>
                    <a:pt x="1601724" y="70358"/>
                  </a:lnTo>
                  <a:lnTo>
                    <a:pt x="1596195" y="42969"/>
                  </a:lnTo>
                  <a:lnTo>
                    <a:pt x="1581118" y="20605"/>
                  </a:lnTo>
                  <a:lnTo>
                    <a:pt x="1558754" y="5528"/>
                  </a:lnTo>
                  <a:lnTo>
                    <a:pt x="15313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567678" y="2192273"/>
              <a:ext cx="1602105" cy="850900"/>
            </a:xfrm>
            <a:custGeom>
              <a:avLst/>
              <a:gdLst/>
              <a:ahLst/>
              <a:cxnLst/>
              <a:rect l="l" t="t" r="r" b="b"/>
              <a:pathLst>
                <a:path w="1602104" h="850900">
                  <a:moveTo>
                    <a:pt x="0" y="70358"/>
                  </a:moveTo>
                  <a:lnTo>
                    <a:pt x="5528" y="42969"/>
                  </a:lnTo>
                  <a:lnTo>
                    <a:pt x="20605" y="20605"/>
                  </a:lnTo>
                  <a:lnTo>
                    <a:pt x="42969" y="5528"/>
                  </a:lnTo>
                  <a:lnTo>
                    <a:pt x="70358" y="0"/>
                  </a:lnTo>
                  <a:lnTo>
                    <a:pt x="934338" y="0"/>
                  </a:lnTo>
                  <a:lnTo>
                    <a:pt x="1334770" y="0"/>
                  </a:lnTo>
                  <a:lnTo>
                    <a:pt x="1531366" y="0"/>
                  </a:lnTo>
                  <a:lnTo>
                    <a:pt x="1558754" y="5528"/>
                  </a:lnTo>
                  <a:lnTo>
                    <a:pt x="1581118" y="20605"/>
                  </a:lnTo>
                  <a:lnTo>
                    <a:pt x="1596195" y="42969"/>
                  </a:lnTo>
                  <a:lnTo>
                    <a:pt x="1601724" y="70358"/>
                  </a:lnTo>
                  <a:lnTo>
                    <a:pt x="1601724" y="246253"/>
                  </a:lnTo>
                  <a:lnTo>
                    <a:pt x="1601724" y="351790"/>
                  </a:lnTo>
                  <a:lnTo>
                    <a:pt x="1596195" y="379178"/>
                  </a:lnTo>
                  <a:lnTo>
                    <a:pt x="1581118" y="401542"/>
                  </a:lnTo>
                  <a:lnTo>
                    <a:pt x="1558754" y="416619"/>
                  </a:lnTo>
                  <a:lnTo>
                    <a:pt x="1531366" y="422148"/>
                  </a:lnTo>
                  <a:lnTo>
                    <a:pt x="1334770" y="422148"/>
                  </a:lnTo>
                  <a:lnTo>
                    <a:pt x="1237488" y="850900"/>
                  </a:lnTo>
                  <a:lnTo>
                    <a:pt x="934338" y="422148"/>
                  </a:lnTo>
                  <a:lnTo>
                    <a:pt x="70358" y="422148"/>
                  </a:lnTo>
                  <a:lnTo>
                    <a:pt x="42969" y="416619"/>
                  </a:lnTo>
                  <a:lnTo>
                    <a:pt x="20605" y="401542"/>
                  </a:lnTo>
                  <a:lnTo>
                    <a:pt x="5528" y="379178"/>
                  </a:lnTo>
                  <a:lnTo>
                    <a:pt x="0" y="351790"/>
                  </a:lnTo>
                  <a:lnTo>
                    <a:pt x="0" y="246253"/>
                  </a:lnTo>
                  <a:lnTo>
                    <a:pt x="0" y="70358"/>
                  </a:lnTo>
                  <a:close/>
                </a:path>
              </a:pathLst>
            </a:custGeom>
            <a:ln w="190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772147" y="2271776"/>
            <a:ext cx="11938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Arial"/>
                <a:cs typeface="Arial"/>
              </a:rPr>
              <a:t>gilt: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225">
                <a:latin typeface="Arial"/>
                <a:cs typeface="Arial"/>
              </a:rPr>
              <a:t>X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45">
                <a:latin typeface="Arial"/>
                <a:cs typeface="Arial"/>
              </a:rPr>
              <a:t>p,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220">
                <a:latin typeface="Arial"/>
                <a:cs typeface="Arial"/>
              </a:rPr>
              <a:t>F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45">
                <a:latin typeface="Arial"/>
                <a:cs typeface="Arial"/>
              </a:rPr>
              <a:t>p,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215">
                <a:latin typeface="Arial"/>
                <a:cs typeface="Arial"/>
              </a:rPr>
              <a:t>G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p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20648" y="4491609"/>
            <a:ext cx="1621155" cy="838835"/>
            <a:chOff x="620648" y="4491609"/>
            <a:chExt cx="1621155" cy="838835"/>
          </a:xfrm>
        </p:grpSpPr>
        <p:sp>
          <p:nvSpPr>
            <p:cNvPr id="29" name="object 29"/>
            <p:cNvSpPr/>
            <p:nvPr/>
          </p:nvSpPr>
          <p:spPr>
            <a:xfrm>
              <a:off x="630173" y="4501134"/>
              <a:ext cx="1602105" cy="819785"/>
            </a:xfrm>
            <a:custGeom>
              <a:avLst/>
              <a:gdLst/>
              <a:ahLst/>
              <a:cxnLst/>
              <a:rect l="l" t="t" r="r" b="b"/>
              <a:pathLst>
                <a:path w="1602105" h="819785">
                  <a:moveTo>
                    <a:pt x="1334770" y="423672"/>
                  </a:moveTo>
                  <a:lnTo>
                    <a:pt x="934338" y="423672"/>
                  </a:lnTo>
                  <a:lnTo>
                    <a:pt x="1443228" y="819658"/>
                  </a:lnTo>
                  <a:lnTo>
                    <a:pt x="1334770" y="423672"/>
                  </a:lnTo>
                  <a:close/>
                </a:path>
                <a:path w="1602105" h="819785">
                  <a:moveTo>
                    <a:pt x="1531112" y="0"/>
                  </a:moveTo>
                  <a:lnTo>
                    <a:pt x="70612" y="0"/>
                  </a:lnTo>
                  <a:lnTo>
                    <a:pt x="43125" y="5550"/>
                  </a:lnTo>
                  <a:lnTo>
                    <a:pt x="20680" y="20685"/>
                  </a:lnTo>
                  <a:lnTo>
                    <a:pt x="5548" y="43130"/>
                  </a:lnTo>
                  <a:lnTo>
                    <a:pt x="0" y="70612"/>
                  </a:lnTo>
                  <a:lnTo>
                    <a:pt x="0" y="353060"/>
                  </a:lnTo>
                  <a:lnTo>
                    <a:pt x="5548" y="380541"/>
                  </a:lnTo>
                  <a:lnTo>
                    <a:pt x="20680" y="402986"/>
                  </a:lnTo>
                  <a:lnTo>
                    <a:pt x="43125" y="418121"/>
                  </a:lnTo>
                  <a:lnTo>
                    <a:pt x="70612" y="423672"/>
                  </a:lnTo>
                  <a:lnTo>
                    <a:pt x="1531112" y="423672"/>
                  </a:lnTo>
                  <a:lnTo>
                    <a:pt x="1558593" y="418121"/>
                  </a:lnTo>
                  <a:lnTo>
                    <a:pt x="1581038" y="402986"/>
                  </a:lnTo>
                  <a:lnTo>
                    <a:pt x="1596173" y="380541"/>
                  </a:lnTo>
                  <a:lnTo>
                    <a:pt x="1601724" y="353060"/>
                  </a:lnTo>
                  <a:lnTo>
                    <a:pt x="1601724" y="70612"/>
                  </a:lnTo>
                  <a:lnTo>
                    <a:pt x="1596173" y="43130"/>
                  </a:lnTo>
                  <a:lnTo>
                    <a:pt x="1581038" y="20685"/>
                  </a:lnTo>
                  <a:lnTo>
                    <a:pt x="1558593" y="5550"/>
                  </a:lnTo>
                  <a:lnTo>
                    <a:pt x="15311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30173" y="4501134"/>
              <a:ext cx="1602105" cy="819785"/>
            </a:xfrm>
            <a:custGeom>
              <a:avLst/>
              <a:gdLst/>
              <a:ahLst/>
              <a:cxnLst/>
              <a:rect l="l" t="t" r="r" b="b"/>
              <a:pathLst>
                <a:path w="1602105" h="819785">
                  <a:moveTo>
                    <a:pt x="0" y="70612"/>
                  </a:moveTo>
                  <a:lnTo>
                    <a:pt x="5548" y="43130"/>
                  </a:lnTo>
                  <a:lnTo>
                    <a:pt x="20680" y="20685"/>
                  </a:lnTo>
                  <a:lnTo>
                    <a:pt x="43125" y="5550"/>
                  </a:lnTo>
                  <a:lnTo>
                    <a:pt x="70612" y="0"/>
                  </a:lnTo>
                  <a:lnTo>
                    <a:pt x="934338" y="0"/>
                  </a:lnTo>
                  <a:lnTo>
                    <a:pt x="1334770" y="0"/>
                  </a:lnTo>
                  <a:lnTo>
                    <a:pt x="1531112" y="0"/>
                  </a:lnTo>
                  <a:lnTo>
                    <a:pt x="1558593" y="5550"/>
                  </a:lnTo>
                  <a:lnTo>
                    <a:pt x="1581038" y="20685"/>
                  </a:lnTo>
                  <a:lnTo>
                    <a:pt x="1596173" y="43130"/>
                  </a:lnTo>
                  <a:lnTo>
                    <a:pt x="1601724" y="70612"/>
                  </a:lnTo>
                  <a:lnTo>
                    <a:pt x="1601724" y="247142"/>
                  </a:lnTo>
                  <a:lnTo>
                    <a:pt x="1601724" y="353060"/>
                  </a:lnTo>
                  <a:lnTo>
                    <a:pt x="1596173" y="380541"/>
                  </a:lnTo>
                  <a:lnTo>
                    <a:pt x="1581038" y="402986"/>
                  </a:lnTo>
                  <a:lnTo>
                    <a:pt x="1558593" y="418121"/>
                  </a:lnTo>
                  <a:lnTo>
                    <a:pt x="1531112" y="423672"/>
                  </a:lnTo>
                  <a:lnTo>
                    <a:pt x="1334770" y="423672"/>
                  </a:lnTo>
                  <a:lnTo>
                    <a:pt x="1443228" y="819658"/>
                  </a:lnTo>
                  <a:lnTo>
                    <a:pt x="934338" y="423672"/>
                  </a:lnTo>
                  <a:lnTo>
                    <a:pt x="70612" y="423672"/>
                  </a:lnTo>
                  <a:lnTo>
                    <a:pt x="43125" y="418121"/>
                  </a:lnTo>
                  <a:lnTo>
                    <a:pt x="20680" y="402986"/>
                  </a:lnTo>
                  <a:lnTo>
                    <a:pt x="5548" y="380541"/>
                  </a:lnTo>
                  <a:lnTo>
                    <a:pt x="0" y="353060"/>
                  </a:lnTo>
                  <a:lnTo>
                    <a:pt x="0" y="247142"/>
                  </a:lnTo>
                  <a:lnTo>
                    <a:pt x="0" y="70612"/>
                  </a:lnTo>
                  <a:close/>
                </a:path>
              </a:pathLst>
            </a:custGeom>
            <a:ln w="1904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708761" y="4049648"/>
            <a:ext cx="1335405" cy="772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Arial"/>
                <a:cs typeface="Arial"/>
              </a:rPr>
              <a:t>Pfaden?</a:t>
            </a:r>
            <a:endParaRPr sz="2400">
              <a:latin typeface="Arial"/>
              <a:cs typeface="Arial"/>
            </a:endParaRPr>
          </a:p>
          <a:p>
            <a:pPr marL="118110">
              <a:lnSpc>
                <a:spcPct val="100000"/>
              </a:lnSpc>
              <a:spcBef>
                <a:spcPts val="1315"/>
              </a:spcBef>
            </a:pPr>
            <a:r>
              <a:rPr dirty="0" sz="1400" spc="-10">
                <a:latin typeface="Arial"/>
                <a:cs typeface="Arial"/>
              </a:rPr>
              <a:t>gilt: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40">
                <a:latin typeface="Arial"/>
                <a:cs typeface="Arial"/>
              </a:rPr>
              <a:t>p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130">
                <a:latin typeface="Arial"/>
                <a:cs typeface="Arial"/>
              </a:rPr>
              <a:t>U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45">
                <a:latin typeface="Arial"/>
                <a:cs typeface="Arial"/>
              </a:rPr>
              <a:t>q,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40">
                <a:latin typeface="Arial"/>
                <a:cs typeface="Arial"/>
              </a:rPr>
              <a:t>p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85">
                <a:latin typeface="Arial"/>
                <a:cs typeface="Arial"/>
              </a:rPr>
              <a:t>W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q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624453" y="4327016"/>
            <a:ext cx="1877060" cy="838835"/>
            <a:chOff x="3624453" y="4327016"/>
            <a:chExt cx="1877060" cy="838835"/>
          </a:xfrm>
        </p:grpSpPr>
        <p:sp>
          <p:nvSpPr>
            <p:cNvPr id="33" name="object 33"/>
            <p:cNvSpPr/>
            <p:nvPr/>
          </p:nvSpPr>
          <p:spPr>
            <a:xfrm>
              <a:off x="3633978" y="4336541"/>
              <a:ext cx="1858010" cy="819785"/>
            </a:xfrm>
            <a:custGeom>
              <a:avLst/>
              <a:gdLst/>
              <a:ahLst/>
              <a:cxnLst/>
              <a:rect l="l" t="t" r="r" b="b"/>
              <a:pathLst>
                <a:path w="1858010" h="819785">
                  <a:moveTo>
                    <a:pt x="774065" y="423671"/>
                  </a:moveTo>
                  <a:lnTo>
                    <a:pt x="309625" y="423671"/>
                  </a:lnTo>
                  <a:lnTo>
                    <a:pt x="818007" y="819657"/>
                  </a:lnTo>
                  <a:lnTo>
                    <a:pt x="774065" y="423671"/>
                  </a:lnTo>
                  <a:close/>
                </a:path>
                <a:path w="1858010" h="819785">
                  <a:moveTo>
                    <a:pt x="1787144" y="0"/>
                  </a:moveTo>
                  <a:lnTo>
                    <a:pt x="70612" y="0"/>
                  </a:lnTo>
                  <a:lnTo>
                    <a:pt x="43130" y="5550"/>
                  </a:lnTo>
                  <a:lnTo>
                    <a:pt x="20685" y="20685"/>
                  </a:lnTo>
                  <a:lnTo>
                    <a:pt x="5550" y="43130"/>
                  </a:lnTo>
                  <a:lnTo>
                    <a:pt x="0" y="70611"/>
                  </a:lnTo>
                  <a:lnTo>
                    <a:pt x="0" y="353059"/>
                  </a:lnTo>
                  <a:lnTo>
                    <a:pt x="5550" y="380541"/>
                  </a:lnTo>
                  <a:lnTo>
                    <a:pt x="20685" y="402986"/>
                  </a:lnTo>
                  <a:lnTo>
                    <a:pt x="43130" y="418121"/>
                  </a:lnTo>
                  <a:lnTo>
                    <a:pt x="70612" y="423671"/>
                  </a:lnTo>
                  <a:lnTo>
                    <a:pt x="1787144" y="423671"/>
                  </a:lnTo>
                  <a:lnTo>
                    <a:pt x="1814625" y="418121"/>
                  </a:lnTo>
                  <a:lnTo>
                    <a:pt x="1837070" y="402986"/>
                  </a:lnTo>
                  <a:lnTo>
                    <a:pt x="1852205" y="380541"/>
                  </a:lnTo>
                  <a:lnTo>
                    <a:pt x="1857756" y="353059"/>
                  </a:lnTo>
                  <a:lnTo>
                    <a:pt x="1857756" y="70611"/>
                  </a:lnTo>
                  <a:lnTo>
                    <a:pt x="1852205" y="43130"/>
                  </a:lnTo>
                  <a:lnTo>
                    <a:pt x="1837070" y="20685"/>
                  </a:lnTo>
                  <a:lnTo>
                    <a:pt x="1814625" y="5550"/>
                  </a:lnTo>
                  <a:lnTo>
                    <a:pt x="17871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633978" y="4336541"/>
              <a:ext cx="1858010" cy="819785"/>
            </a:xfrm>
            <a:custGeom>
              <a:avLst/>
              <a:gdLst/>
              <a:ahLst/>
              <a:cxnLst/>
              <a:rect l="l" t="t" r="r" b="b"/>
              <a:pathLst>
                <a:path w="1858010" h="819785">
                  <a:moveTo>
                    <a:pt x="0" y="70611"/>
                  </a:moveTo>
                  <a:lnTo>
                    <a:pt x="5550" y="43130"/>
                  </a:lnTo>
                  <a:lnTo>
                    <a:pt x="20685" y="20685"/>
                  </a:lnTo>
                  <a:lnTo>
                    <a:pt x="43130" y="5550"/>
                  </a:lnTo>
                  <a:lnTo>
                    <a:pt x="70612" y="0"/>
                  </a:lnTo>
                  <a:lnTo>
                    <a:pt x="309626" y="0"/>
                  </a:lnTo>
                  <a:lnTo>
                    <a:pt x="774065" y="0"/>
                  </a:lnTo>
                  <a:lnTo>
                    <a:pt x="1787144" y="0"/>
                  </a:lnTo>
                  <a:lnTo>
                    <a:pt x="1814625" y="5550"/>
                  </a:lnTo>
                  <a:lnTo>
                    <a:pt x="1837070" y="20685"/>
                  </a:lnTo>
                  <a:lnTo>
                    <a:pt x="1852205" y="43130"/>
                  </a:lnTo>
                  <a:lnTo>
                    <a:pt x="1857756" y="70611"/>
                  </a:lnTo>
                  <a:lnTo>
                    <a:pt x="1857756" y="247141"/>
                  </a:lnTo>
                  <a:lnTo>
                    <a:pt x="1857756" y="353059"/>
                  </a:lnTo>
                  <a:lnTo>
                    <a:pt x="1852205" y="380541"/>
                  </a:lnTo>
                  <a:lnTo>
                    <a:pt x="1837070" y="402986"/>
                  </a:lnTo>
                  <a:lnTo>
                    <a:pt x="1814625" y="418121"/>
                  </a:lnTo>
                  <a:lnTo>
                    <a:pt x="1787144" y="423671"/>
                  </a:lnTo>
                  <a:lnTo>
                    <a:pt x="774065" y="423671"/>
                  </a:lnTo>
                  <a:lnTo>
                    <a:pt x="818007" y="819657"/>
                  </a:lnTo>
                  <a:lnTo>
                    <a:pt x="309626" y="423671"/>
                  </a:lnTo>
                  <a:lnTo>
                    <a:pt x="70612" y="423671"/>
                  </a:lnTo>
                  <a:lnTo>
                    <a:pt x="43130" y="418121"/>
                  </a:lnTo>
                  <a:lnTo>
                    <a:pt x="20685" y="402986"/>
                  </a:lnTo>
                  <a:lnTo>
                    <a:pt x="5550" y="380541"/>
                  </a:lnTo>
                  <a:lnTo>
                    <a:pt x="0" y="353059"/>
                  </a:lnTo>
                  <a:lnTo>
                    <a:pt x="0" y="247141"/>
                  </a:lnTo>
                  <a:lnTo>
                    <a:pt x="0" y="70611"/>
                  </a:lnTo>
                  <a:close/>
                </a:path>
              </a:pathLst>
            </a:custGeom>
            <a:ln w="190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3746119" y="4416933"/>
            <a:ext cx="16319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gilt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nicht: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45">
                <a:latin typeface="Arial"/>
                <a:cs typeface="Arial"/>
              </a:rPr>
              <a:t>p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 spc="-130">
                <a:latin typeface="Arial"/>
                <a:cs typeface="Arial"/>
              </a:rPr>
              <a:t>U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q,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45">
                <a:latin typeface="Arial"/>
                <a:cs typeface="Arial"/>
              </a:rPr>
              <a:t>p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85">
                <a:latin typeface="Arial"/>
                <a:cs typeface="Arial"/>
              </a:rPr>
              <a:t>W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q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553581" y="4279772"/>
            <a:ext cx="1877060" cy="1285240"/>
            <a:chOff x="6553581" y="4279772"/>
            <a:chExt cx="1877060" cy="1285240"/>
          </a:xfrm>
        </p:grpSpPr>
        <p:sp>
          <p:nvSpPr>
            <p:cNvPr id="37" name="object 37"/>
            <p:cNvSpPr/>
            <p:nvPr/>
          </p:nvSpPr>
          <p:spPr>
            <a:xfrm>
              <a:off x="6563106" y="4289297"/>
              <a:ext cx="1858010" cy="1266190"/>
            </a:xfrm>
            <a:custGeom>
              <a:avLst/>
              <a:gdLst/>
              <a:ahLst/>
              <a:cxnLst/>
              <a:rect l="l" t="t" r="r" b="b"/>
              <a:pathLst>
                <a:path w="1858009" h="1266189">
                  <a:moveTo>
                    <a:pt x="774065" y="423672"/>
                  </a:moveTo>
                  <a:lnTo>
                    <a:pt x="309626" y="423672"/>
                  </a:lnTo>
                  <a:lnTo>
                    <a:pt x="372110" y="1265682"/>
                  </a:lnTo>
                  <a:lnTo>
                    <a:pt x="774065" y="423672"/>
                  </a:lnTo>
                  <a:close/>
                </a:path>
                <a:path w="1858009" h="1266189">
                  <a:moveTo>
                    <a:pt x="1787144" y="0"/>
                  </a:moveTo>
                  <a:lnTo>
                    <a:pt x="70612" y="0"/>
                  </a:lnTo>
                  <a:lnTo>
                    <a:pt x="43130" y="5550"/>
                  </a:lnTo>
                  <a:lnTo>
                    <a:pt x="20685" y="20685"/>
                  </a:lnTo>
                  <a:lnTo>
                    <a:pt x="5550" y="43130"/>
                  </a:lnTo>
                  <a:lnTo>
                    <a:pt x="0" y="70612"/>
                  </a:lnTo>
                  <a:lnTo>
                    <a:pt x="0" y="353060"/>
                  </a:lnTo>
                  <a:lnTo>
                    <a:pt x="5550" y="380541"/>
                  </a:lnTo>
                  <a:lnTo>
                    <a:pt x="20685" y="402986"/>
                  </a:lnTo>
                  <a:lnTo>
                    <a:pt x="43130" y="418121"/>
                  </a:lnTo>
                  <a:lnTo>
                    <a:pt x="70612" y="423672"/>
                  </a:lnTo>
                  <a:lnTo>
                    <a:pt x="1787144" y="423672"/>
                  </a:lnTo>
                  <a:lnTo>
                    <a:pt x="1814625" y="418121"/>
                  </a:lnTo>
                  <a:lnTo>
                    <a:pt x="1837070" y="402986"/>
                  </a:lnTo>
                  <a:lnTo>
                    <a:pt x="1852205" y="380541"/>
                  </a:lnTo>
                  <a:lnTo>
                    <a:pt x="1857756" y="353060"/>
                  </a:lnTo>
                  <a:lnTo>
                    <a:pt x="1857756" y="70612"/>
                  </a:lnTo>
                  <a:lnTo>
                    <a:pt x="1852205" y="43130"/>
                  </a:lnTo>
                  <a:lnTo>
                    <a:pt x="1837070" y="20685"/>
                  </a:lnTo>
                  <a:lnTo>
                    <a:pt x="1814625" y="5550"/>
                  </a:lnTo>
                  <a:lnTo>
                    <a:pt x="17871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563106" y="4289297"/>
              <a:ext cx="1858010" cy="1266190"/>
            </a:xfrm>
            <a:custGeom>
              <a:avLst/>
              <a:gdLst/>
              <a:ahLst/>
              <a:cxnLst/>
              <a:rect l="l" t="t" r="r" b="b"/>
              <a:pathLst>
                <a:path w="1858009" h="1266189">
                  <a:moveTo>
                    <a:pt x="0" y="70612"/>
                  </a:moveTo>
                  <a:lnTo>
                    <a:pt x="5550" y="43130"/>
                  </a:lnTo>
                  <a:lnTo>
                    <a:pt x="20685" y="20685"/>
                  </a:lnTo>
                  <a:lnTo>
                    <a:pt x="43130" y="5550"/>
                  </a:lnTo>
                  <a:lnTo>
                    <a:pt x="70612" y="0"/>
                  </a:lnTo>
                  <a:lnTo>
                    <a:pt x="309626" y="0"/>
                  </a:lnTo>
                  <a:lnTo>
                    <a:pt x="774065" y="0"/>
                  </a:lnTo>
                  <a:lnTo>
                    <a:pt x="1787144" y="0"/>
                  </a:lnTo>
                  <a:lnTo>
                    <a:pt x="1814625" y="5550"/>
                  </a:lnTo>
                  <a:lnTo>
                    <a:pt x="1837070" y="20685"/>
                  </a:lnTo>
                  <a:lnTo>
                    <a:pt x="1852205" y="43130"/>
                  </a:lnTo>
                  <a:lnTo>
                    <a:pt x="1857756" y="70612"/>
                  </a:lnTo>
                  <a:lnTo>
                    <a:pt x="1857756" y="247142"/>
                  </a:lnTo>
                  <a:lnTo>
                    <a:pt x="1857756" y="353060"/>
                  </a:lnTo>
                  <a:lnTo>
                    <a:pt x="1852205" y="380541"/>
                  </a:lnTo>
                  <a:lnTo>
                    <a:pt x="1837070" y="402986"/>
                  </a:lnTo>
                  <a:lnTo>
                    <a:pt x="1814625" y="418121"/>
                  </a:lnTo>
                  <a:lnTo>
                    <a:pt x="1787144" y="423672"/>
                  </a:lnTo>
                  <a:lnTo>
                    <a:pt x="774065" y="423672"/>
                  </a:lnTo>
                  <a:lnTo>
                    <a:pt x="372110" y="1265682"/>
                  </a:lnTo>
                  <a:lnTo>
                    <a:pt x="309626" y="423672"/>
                  </a:lnTo>
                  <a:lnTo>
                    <a:pt x="70612" y="423672"/>
                  </a:lnTo>
                  <a:lnTo>
                    <a:pt x="43130" y="418121"/>
                  </a:lnTo>
                  <a:lnTo>
                    <a:pt x="20685" y="402986"/>
                  </a:lnTo>
                  <a:lnTo>
                    <a:pt x="5550" y="380541"/>
                  </a:lnTo>
                  <a:lnTo>
                    <a:pt x="0" y="353060"/>
                  </a:lnTo>
                  <a:lnTo>
                    <a:pt x="0" y="247142"/>
                  </a:lnTo>
                  <a:lnTo>
                    <a:pt x="0" y="70612"/>
                  </a:lnTo>
                  <a:close/>
                </a:path>
              </a:pathLst>
            </a:custGeom>
            <a:ln w="190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6931532" y="4263390"/>
            <a:ext cx="1124585" cy="453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</a:rPr>
              <a:t>gilt: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40">
                <a:latin typeface="Arial"/>
                <a:cs typeface="Arial"/>
              </a:rPr>
              <a:t>p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85">
                <a:latin typeface="Arial"/>
                <a:cs typeface="Arial"/>
              </a:rPr>
              <a:t>W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q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gilt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nicht: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45">
                <a:latin typeface="Arial"/>
                <a:cs typeface="Arial"/>
              </a:rPr>
              <a:t>p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120">
                <a:latin typeface="Arial"/>
                <a:cs typeface="Arial"/>
              </a:rPr>
              <a:t>U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q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600" spc="-555"/>
              <a:t>CTL</a:t>
            </a:r>
            <a:r>
              <a:rPr dirty="0" sz="3600" spc="-185"/>
              <a:t> </a:t>
            </a:r>
            <a:r>
              <a:rPr dirty="0" spc="-300"/>
              <a:t>Syntax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290574"/>
            <a:ext cx="213360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60">
                <a:latin typeface="Arial"/>
                <a:cs typeface="Arial"/>
              </a:rPr>
              <a:t>Induktive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Definition: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4742" y="1707007"/>
            <a:ext cx="511809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"/>
                <a:cs typeface="Arial"/>
              </a:rPr>
              <a:t>φ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::=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36698" y="1677136"/>
            <a:ext cx="4485005" cy="69596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2000" spc="-114">
                <a:latin typeface="STIX Two Math"/>
                <a:cs typeface="STIX Two Math"/>
              </a:rPr>
              <a:t>⊥</a:t>
            </a:r>
            <a:r>
              <a:rPr dirty="0" sz="2000" spc="-20">
                <a:latin typeface="STIX Two Math"/>
                <a:cs typeface="STIX Two Math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114">
                <a:latin typeface="STIX Two Math"/>
                <a:cs typeface="STIX Two Math"/>
              </a:rPr>
              <a:t>⊤</a:t>
            </a:r>
            <a:r>
              <a:rPr dirty="0" sz="2000" spc="-15">
                <a:latin typeface="STIX Two Math"/>
                <a:cs typeface="STIX Two Math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p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(¬φ)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(φ</a:t>
            </a:r>
            <a:r>
              <a:rPr dirty="0" sz="2000" spc="-45">
                <a:latin typeface="STIX Two Math"/>
                <a:cs typeface="STIX Two Math"/>
              </a:rPr>
              <a:t>∧</a:t>
            </a:r>
            <a:r>
              <a:rPr dirty="0" sz="2000" spc="-45">
                <a:latin typeface="Arial"/>
                <a:cs typeface="Arial"/>
              </a:rPr>
              <a:t>φ)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(φ</a:t>
            </a:r>
            <a:r>
              <a:rPr dirty="0" sz="2000" spc="-50">
                <a:latin typeface="STIX Two Math"/>
                <a:cs typeface="STIX Two Math"/>
              </a:rPr>
              <a:t>∨</a:t>
            </a:r>
            <a:r>
              <a:rPr dirty="0" sz="2000" spc="-50">
                <a:latin typeface="Arial"/>
                <a:cs typeface="Arial"/>
              </a:rPr>
              <a:t>φ)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(φ</a:t>
            </a:r>
            <a:r>
              <a:rPr dirty="0" sz="2000" spc="-35">
                <a:latin typeface="STIX Two Math"/>
                <a:cs typeface="STIX Two Math"/>
              </a:rPr>
              <a:t>⇒</a:t>
            </a:r>
            <a:r>
              <a:rPr dirty="0" sz="2000" spc="-35">
                <a:latin typeface="Arial"/>
                <a:cs typeface="Arial"/>
              </a:rPr>
              <a:t>φ)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340">
                <a:latin typeface="Arial"/>
                <a:cs typeface="Arial"/>
              </a:rPr>
              <a:t>|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000" spc="-250">
                <a:latin typeface="Arial"/>
                <a:cs typeface="Arial"/>
              </a:rPr>
              <a:t>AX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φ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335">
                <a:latin typeface="Arial"/>
                <a:cs typeface="Arial"/>
              </a:rPr>
              <a:t>EX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φ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254">
                <a:latin typeface="Arial"/>
                <a:cs typeface="Arial"/>
              </a:rPr>
              <a:t>AG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φ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340">
                <a:latin typeface="Arial"/>
                <a:cs typeface="Arial"/>
              </a:rPr>
              <a:t>EG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φ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340">
                <a:latin typeface="Arial"/>
                <a:cs typeface="Arial"/>
              </a:rPr>
              <a:t>|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9342" y="2287562"/>
            <a:ext cx="5476875" cy="174815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409700">
              <a:lnSpc>
                <a:spcPct val="100000"/>
              </a:lnSpc>
              <a:spcBef>
                <a:spcPts val="835"/>
              </a:spcBef>
            </a:pPr>
            <a:r>
              <a:rPr dirty="0" sz="2000" spc="-254">
                <a:latin typeface="Arial"/>
                <a:cs typeface="Arial"/>
              </a:rPr>
              <a:t>AF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φ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340">
                <a:latin typeface="Arial"/>
                <a:cs typeface="Arial"/>
              </a:rPr>
              <a:t>EF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φ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95">
                <a:latin typeface="Arial"/>
                <a:cs typeface="Arial"/>
              </a:rPr>
              <a:t>A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[φ</a:t>
            </a:r>
            <a:r>
              <a:rPr dirty="0" baseline="-21367" sz="1950">
                <a:latin typeface="Arial"/>
                <a:cs typeface="Arial"/>
              </a:rPr>
              <a:t>1</a:t>
            </a:r>
            <a:r>
              <a:rPr dirty="0" baseline="-21367" sz="1950" spc="120">
                <a:latin typeface="Arial"/>
                <a:cs typeface="Arial"/>
              </a:rPr>
              <a:t> </a:t>
            </a:r>
            <a:r>
              <a:rPr dirty="0" sz="2000" spc="-180">
                <a:latin typeface="Arial"/>
                <a:cs typeface="Arial"/>
              </a:rPr>
              <a:t>U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φ</a:t>
            </a:r>
            <a:r>
              <a:rPr dirty="0" baseline="-21367" sz="1950">
                <a:latin typeface="Arial"/>
                <a:cs typeface="Arial"/>
              </a:rPr>
              <a:t>2</a:t>
            </a:r>
            <a:r>
              <a:rPr dirty="0" sz="2000">
                <a:latin typeface="Arial"/>
                <a:cs typeface="Arial"/>
              </a:rPr>
              <a:t>]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365">
                <a:latin typeface="Arial"/>
                <a:cs typeface="Arial"/>
              </a:rPr>
              <a:t>E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[φ</a:t>
            </a:r>
            <a:r>
              <a:rPr dirty="0" baseline="-21367" sz="1950">
                <a:latin typeface="Arial"/>
                <a:cs typeface="Arial"/>
              </a:rPr>
              <a:t>1</a:t>
            </a:r>
            <a:r>
              <a:rPr dirty="0" baseline="-21367" sz="1950" spc="120">
                <a:latin typeface="Arial"/>
                <a:cs typeface="Arial"/>
              </a:rPr>
              <a:t> </a:t>
            </a:r>
            <a:r>
              <a:rPr dirty="0" sz="2000" spc="-180">
                <a:latin typeface="Arial"/>
                <a:cs typeface="Arial"/>
              </a:rPr>
              <a:t>U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φ</a:t>
            </a:r>
            <a:r>
              <a:rPr dirty="0" baseline="-21367" sz="1950" spc="-37">
                <a:latin typeface="Arial"/>
                <a:cs typeface="Arial"/>
              </a:rPr>
              <a:t>2</a:t>
            </a:r>
            <a:r>
              <a:rPr dirty="0" sz="2000" spc="-25">
                <a:latin typeface="Arial"/>
                <a:cs typeface="Arial"/>
              </a:rPr>
              <a:t>]</a:t>
            </a:r>
            <a:endParaRPr sz="2000">
              <a:latin typeface="Arial"/>
              <a:cs typeface="Arial"/>
            </a:endParaRPr>
          </a:p>
          <a:p>
            <a:pPr marL="266065" indent="-227965">
              <a:lnSpc>
                <a:spcPct val="100000"/>
              </a:lnSpc>
              <a:spcBef>
                <a:spcPts val="91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66065" algn="l"/>
              </a:tabLst>
            </a:pPr>
            <a:r>
              <a:rPr dirty="0" sz="1800" spc="-125">
                <a:latin typeface="STIX Two Math"/>
                <a:cs typeface="STIX Two Math"/>
              </a:rPr>
              <a:t>⊥</a:t>
            </a:r>
            <a:r>
              <a:rPr dirty="0" sz="1800" spc="-15">
                <a:latin typeface="STIX Two Math"/>
                <a:cs typeface="STIX Two Math"/>
              </a:rPr>
              <a:t> </a:t>
            </a:r>
            <a:r>
              <a:rPr dirty="0" sz="1800" spc="-60">
                <a:latin typeface="Arial"/>
                <a:cs typeface="Arial"/>
              </a:rPr>
              <a:t>und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125">
                <a:latin typeface="STIX Two Math"/>
                <a:cs typeface="STIX Two Math"/>
              </a:rPr>
              <a:t>⊤</a:t>
            </a:r>
            <a:r>
              <a:rPr dirty="0" sz="1800">
                <a:latin typeface="STIX Two Math"/>
                <a:cs typeface="STIX Two Math"/>
              </a:rPr>
              <a:t> </a:t>
            </a:r>
            <a:r>
              <a:rPr dirty="0" sz="1800" spc="-80">
                <a:latin typeface="Arial"/>
                <a:cs typeface="Arial"/>
              </a:rPr>
              <a:t>stehen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für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90">
                <a:latin typeface="Arial"/>
                <a:cs typeface="Arial"/>
              </a:rPr>
              <a:t>falsch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70">
                <a:latin typeface="Arial"/>
                <a:cs typeface="Arial"/>
              </a:rPr>
              <a:t>und</a:t>
            </a:r>
            <a:r>
              <a:rPr dirty="0" sz="1800" spc="-65">
                <a:latin typeface="Arial"/>
                <a:cs typeface="Arial"/>
              </a:rPr>
              <a:t> wahr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(</a:t>
            </a:r>
            <a:r>
              <a:rPr dirty="0" sz="1800" spc="-10" b="1">
                <a:solidFill>
                  <a:srgbClr val="5B9BD4"/>
                </a:solidFill>
                <a:latin typeface="Arial"/>
                <a:cs typeface="Arial"/>
              </a:rPr>
              <a:t>T</a:t>
            </a:r>
            <a:r>
              <a:rPr dirty="0" sz="1800" spc="-10">
                <a:latin typeface="Arial"/>
                <a:cs typeface="Arial"/>
              </a:rPr>
              <a:t>rue)</a:t>
            </a:r>
            <a:endParaRPr sz="1800">
              <a:latin typeface="Arial"/>
              <a:cs typeface="Arial"/>
            </a:endParaRPr>
          </a:p>
          <a:p>
            <a:pPr marL="266065" indent="-227965">
              <a:lnSpc>
                <a:spcPct val="100000"/>
              </a:lnSpc>
              <a:spcBef>
                <a:spcPts val="27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66065" algn="l"/>
              </a:tabLst>
            </a:pPr>
            <a:r>
              <a:rPr dirty="0" sz="1800" spc="-60">
                <a:latin typeface="Arial"/>
                <a:cs typeface="Arial"/>
              </a:rPr>
              <a:t>p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45">
                <a:latin typeface="Arial"/>
                <a:cs typeface="Arial"/>
              </a:rPr>
              <a:t>steht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für</a:t>
            </a:r>
            <a:r>
              <a:rPr dirty="0" sz="1800" spc="-75">
                <a:latin typeface="Arial"/>
                <a:cs typeface="Arial"/>
              </a:rPr>
              <a:t> eine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70">
                <a:latin typeface="Arial"/>
                <a:cs typeface="Arial"/>
              </a:rPr>
              <a:t>atomare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85">
                <a:latin typeface="Arial"/>
                <a:cs typeface="Arial"/>
              </a:rPr>
              <a:t>Formel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(</a:t>
            </a:r>
            <a:r>
              <a:rPr dirty="0" sz="1800" spc="-10" b="1">
                <a:solidFill>
                  <a:srgbClr val="5B9BD4"/>
                </a:solidFill>
                <a:latin typeface="Arial"/>
                <a:cs typeface="Arial"/>
              </a:rPr>
              <a:t>P</a:t>
            </a:r>
            <a:r>
              <a:rPr dirty="0" sz="1800" spc="-10">
                <a:latin typeface="Arial"/>
                <a:cs typeface="Arial"/>
              </a:rPr>
              <a:t>rädikat)</a:t>
            </a:r>
            <a:endParaRPr sz="1800">
              <a:latin typeface="Arial"/>
              <a:cs typeface="Arial"/>
            </a:endParaRPr>
          </a:p>
          <a:p>
            <a:pPr marL="266065" indent="-227965">
              <a:lnSpc>
                <a:spcPct val="100000"/>
              </a:lnSpc>
              <a:spcBef>
                <a:spcPts val="27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66065" algn="l"/>
              </a:tabLst>
            </a:pPr>
            <a:r>
              <a:rPr dirty="0" sz="1800" spc="-60">
                <a:latin typeface="Arial"/>
                <a:cs typeface="Arial"/>
              </a:rPr>
              <a:t>die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120">
                <a:latin typeface="Arial"/>
                <a:cs typeface="Arial"/>
              </a:rPr>
              <a:t>aussagenlogischen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85">
                <a:latin typeface="Arial"/>
                <a:cs typeface="Arial"/>
              </a:rPr>
              <a:t>Verknüpfungen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80">
                <a:latin typeface="Arial"/>
                <a:cs typeface="Arial"/>
              </a:rPr>
              <a:t>sind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die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üblichen</a:t>
            </a:r>
            <a:endParaRPr sz="1800">
              <a:latin typeface="Arial"/>
              <a:cs typeface="Arial"/>
            </a:endParaRPr>
          </a:p>
          <a:p>
            <a:pPr marL="266065" indent="-227965">
              <a:lnSpc>
                <a:spcPct val="100000"/>
              </a:lnSpc>
              <a:spcBef>
                <a:spcPts val="29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66065" algn="l"/>
              </a:tabLst>
            </a:pPr>
            <a:r>
              <a:rPr dirty="0" sz="1800" spc="-75">
                <a:latin typeface="Arial"/>
                <a:cs typeface="Arial"/>
              </a:rPr>
              <a:t>temporallogische</a:t>
            </a:r>
            <a:r>
              <a:rPr dirty="0" sz="1800" spc="-10">
                <a:latin typeface="Arial"/>
                <a:cs typeface="Arial"/>
              </a:rPr>
              <a:t> Verknüpfungen: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21916" y="4028806"/>
            <a:ext cx="369570" cy="154305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80"/>
              </a:spcBef>
              <a:buClr>
                <a:srgbClr val="2D75B6"/>
              </a:buClr>
              <a:buSzPct val="107142"/>
              <a:buFont typeface="Wingdings"/>
              <a:buChar char=""/>
              <a:tabLst>
                <a:tab pos="241300" algn="l"/>
              </a:tabLst>
            </a:pPr>
            <a:r>
              <a:rPr dirty="0" sz="1400" spc="-5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Clr>
                <a:srgbClr val="2D75B6"/>
              </a:buClr>
              <a:buSzPct val="107142"/>
              <a:buFont typeface="Wingdings"/>
              <a:buChar char=""/>
              <a:tabLst>
                <a:tab pos="241300" algn="l"/>
              </a:tabLst>
            </a:pPr>
            <a:r>
              <a:rPr dirty="0" sz="1400" spc="-305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Clr>
                <a:srgbClr val="2D75B6"/>
              </a:buClr>
              <a:buSzPct val="107142"/>
              <a:buFont typeface="Wingdings"/>
              <a:buChar char=""/>
              <a:tabLst>
                <a:tab pos="241300" algn="l"/>
              </a:tabLst>
            </a:pPr>
            <a:r>
              <a:rPr dirty="0" sz="1400" spc="-5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Clr>
                <a:srgbClr val="2D75B6"/>
              </a:buClr>
              <a:buSzPct val="107142"/>
              <a:buFont typeface="Wingdings"/>
              <a:buChar char=""/>
              <a:tabLst>
                <a:tab pos="241300" algn="l"/>
              </a:tabLst>
            </a:pPr>
            <a:r>
              <a:rPr dirty="0" sz="1400" spc="-50">
                <a:latin typeface="Arial"/>
                <a:cs typeface="Arial"/>
              </a:rPr>
              <a:t>F</a:t>
            </a:r>
            <a:endParaRPr sz="1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320"/>
              </a:spcBef>
              <a:buClr>
                <a:srgbClr val="2D75B6"/>
              </a:buClr>
              <a:buSzPct val="107142"/>
              <a:buFont typeface="Wingdings"/>
              <a:buChar char=""/>
              <a:tabLst>
                <a:tab pos="241300" algn="l"/>
              </a:tabLst>
            </a:pPr>
            <a:r>
              <a:rPr dirty="0" sz="1400" spc="-135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Clr>
                <a:srgbClr val="2D75B6"/>
              </a:buClr>
              <a:buSzPct val="107142"/>
              <a:buFont typeface="Wingdings"/>
              <a:buChar char=""/>
              <a:tabLst>
                <a:tab pos="241300" algn="l"/>
              </a:tabLst>
            </a:pPr>
            <a:r>
              <a:rPr dirty="0" sz="1400" spc="-60">
                <a:latin typeface="Arial"/>
                <a:cs typeface="Arial"/>
              </a:rPr>
              <a:t>U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36698" y="4009939"/>
            <a:ext cx="4859655" cy="155829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400" spc="-35">
                <a:latin typeface="Arial"/>
                <a:cs typeface="Arial"/>
              </a:rPr>
              <a:t>“entlang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30">
                <a:latin typeface="Arial"/>
                <a:cs typeface="Arial"/>
              </a:rPr>
              <a:t>aller</a:t>
            </a:r>
            <a:r>
              <a:rPr dirty="0" sz="1400" spc="-55">
                <a:latin typeface="Arial"/>
                <a:cs typeface="Arial"/>
              </a:rPr>
              <a:t> Pfade”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(</a:t>
            </a:r>
            <a:r>
              <a:rPr dirty="0" sz="1400" spc="-10" b="1">
                <a:solidFill>
                  <a:srgbClr val="5B9BD4"/>
                </a:solidFill>
                <a:latin typeface="Arial"/>
                <a:cs typeface="Arial"/>
              </a:rPr>
              <a:t>A</a:t>
            </a:r>
            <a:r>
              <a:rPr dirty="0" sz="1400" spc="-10">
                <a:latin typeface="Arial"/>
                <a:cs typeface="Arial"/>
              </a:rPr>
              <a:t>lways)</a:t>
            </a:r>
            <a:endParaRPr sz="1400">
              <a:latin typeface="Arial"/>
              <a:cs typeface="Arial"/>
            </a:endParaRPr>
          </a:p>
          <a:p>
            <a:pPr marL="12700" marR="1778635">
              <a:lnSpc>
                <a:spcPts val="2020"/>
              </a:lnSpc>
              <a:spcBef>
                <a:spcPts val="115"/>
              </a:spcBef>
            </a:pPr>
            <a:r>
              <a:rPr dirty="0" sz="1400" spc="-40">
                <a:latin typeface="Arial"/>
                <a:cs typeface="Arial"/>
              </a:rPr>
              <a:t>“entlang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65">
                <a:latin typeface="Arial"/>
                <a:cs typeface="Arial"/>
              </a:rPr>
              <a:t>mindestens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75">
                <a:latin typeface="Arial"/>
                <a:cs typeface="Arial"/>
              </a:rPr>
              <a:t>eines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75">
                <a:latin typeface="Arial"/>
                <a:cs typeface="Arial"/>
              </a:rPr>
              <a:t>Pfades”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60">
                <a:latin typeface="Arial"/>
                <a:cs typeface="Arial"/>
              </a:rPr>
              <a:t>(</a:t>
            </a:r>
            <a:r>
              <a:rPr dirty="0" sz="1400" spc="-60" b="1">
                <a:solidFill>
                  <a:srgbClr val="5B9BD4"/>
                </a:solidFill>
                <a:latin typeface="Arial"/>
                <a:cs typeface="Arial"/>
              </a:rPr>
              <a:t>E</a:t>
            </a:r>
            <a:r>
              <a:rPr dirty="0" sz="1400" spc="-60">
                <a:latin typeface="Arial"/>
                <a:cs typeface="Arial"/>
              </a:rPr>
              <a:t>xists) </a:t>
            </a:r>
            <a:r>
              <a:rPr dirty="0" sz="1400" spc="-45">
                <a:latin typeface="Arial"/>
                <a:cs typeface="Arial"/>
              </a:rPr>
              <a:t>“nächster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60">
                <a:latin typeface="Arial"/>
                <a:cs typeface="Arial"/>
              </a:rPr>
              <a:t>Zustand”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(ne</a:t>
            </a:r>
            <a:r>
              <a:rPr dirty="0" sz="1400" spc="-10" b="1">
                <a:solidFill>
                  <a:srgbClr val="5B9BD4"/>
                </a:solidFill>
                <a:latin typeface="Arial"/>
                <a:cs typeface="Arial"/>
              </a:rPr>
              <a:t>X</a:t>
            </a:r>
            <a:r>
              <a:rPr dirty="0" sz="1400" spc="-10">
                <a:latin typeface="Arial"/>
                <a:cs typeface="Arial"/>
              </a:rPr>
              <a:t>t)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400">
                <a:latin typeface="Arial"/>
                <a:cs typeface="Arial"/>
              </a:rPr>
              <a:t>“im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85">
                <a:latin typeface="Arial"/>
                <a:cs typeface="Arial"/>
              </a:rPr>
              <a:t>Anfangszustand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40">
                <a:latin typeface="Arial"/>
                <a:cs typeface="Arial"/>
              </a:rPr>
              <a:t>oder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in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u="sng" sz="1400" spc="-9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einem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zukünftigen</a:t>
            </a:r>
            <a:r>
              <a:rPr dirty="0" sz="1400">
                <a:latin typeface="Arial"/>
                <a:cs typeface="Arial"/>
              </a:rPr>
              <a:t> </a:t>
            </a:r>
            <a:r>
              <a:rPr dirty="0" sz="1400" spc="-60">
                <a:latin typeface="Arial"/>
                <a:cs typeface="Arial"/>
              </a:rPr>
              <a:t>Zustand”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(</a:t>
            </a:r>
            <a:r>
              <a:rPr dirty="0" sz="1400" spc="-10" b="1">
                <a:solidFill>
                  <a:srgbClr val="5B9BD4"/>
                </a:solidFill>
                <a:latin typeface="Arial"/>
                <a:cs typeface="Arial"/>
              </a:rPr>
              <a:t>F</a:t>
            </a:r>
            <a:r>
              <a:rPr dirty="0" sz="1400" spc="-10">
                <a:latin typeface="Arial"/>
                <a:cs typeface="Arial"/>
              </a:rPr>
              <a:t>uture)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400">
                <a:latin typeface="Arial"/>
                <a:cs typeface="Arial"/>
              </a:rPr>
              <a:t>“im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85">
                <a:latin typeface="Arial"/>
                <a:cs typeface="Arial"/>
              </a:rPr>
              <a:t>Anfangszustand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55">
                <a:latin typeface="Arial"/>
                <a:cs typeface="Arial"/>
              </a:rPr>
              <a:t>und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in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u="sng" sz="1400" spc="-7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allen</a:t>
            </a:r>
            <a:r>
              <a:rPr dirty="0" sz="1400" spc="-75" b="1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zukünftigen</a:t>
            </a:r>
            <a:r>
              <a:rPr dirty="0" sz="1400" spc="5">
                <a:latin typeface="Arial"/>
                <a:cs typeface="Arial"/>
              </a:rPr>
              <a:t> </a:t>
            </a:r>
            <a:r>
              <a:rPr dirty="0" sz="1400" spc="-65">
                <a:latin typeface="Arial"/>
                <a:cs typeface="Arial"/>
              </a:rPr>
              <a:t>Zuständen”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(</a:t>
            </a:r>
            <a:r>
              <a:rPr dirty="0" sz="1400" spc="-20" b="1">
                <a:solidFill>
                  <a:srgbClr val="5B9BD4"/>
                </a:solidFill>
                <a:latin typeface="Arial"/>
                <a:cs typeface="Arial"/>
              </a:rPr>
              <a:t>G</a:t>
            </a:r>
            <a:r>
              <a:rPr dirty="0" sz="1400" spc="-20">
                <a:latin typeface="Arial"/>
                <a:cs typeface="Arial"/>
              </a:rPr>
              <a:t>lobally)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latin typeface="Arial"/>
                <a:cs typeface="Arial"/>
              </a:rPr>
              <a:t>“bis”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(</a:t>
            </a:r>
            <a:r>
              <a:rPr dirty="0" sz="1400" spc="-10" b="1">
                <a:solidFill>
                  <a:srgbClr val="5B9BD4"/>
                </a:solidFill>
                <a:latin typeface="Arial"/>
                <a:cs typeface="Arial"/>
              </a:rPr>
              <a:t>U</a:t>
            </a:r>
            <a:r>
              <a:rPr dirty="0" sz="1400" spc="-10">
                <a:latin typeface="Arial"/>
                <a:cs typeface="Arial"/>
              </a:rPr>
              <a:t>ntil)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45807" y="2101595"/>
            <a:ext cx="1965960" cy="1397635"/>
          </a:xfrm>
          <a:custGeom>
            <a:avLst/>
            <a:gdLst/>
            <a:ahLst/>
            <a:cxnLst/>
            <a:rect l="l" t="t" r="r" b="b"/>
            <a:pathLst>
              <a:path w="1965959" h="1397635">
                <a:moveTo>
                  <a:pt x="0" y="149860"/>
                </a:moveTo>
                <a:lnTo>
                  <a:pt x="7636" y="102477"/>
                </a:lnTo>
                <a:lnTo>
                  <a:pt x="28903" y="61337"/>
                </a:lnTo>
                <a:lnTo>
                  <a:pt x="61337" y="28903"/>
                </a:lnTo>
                <a:lnTo>
                  <a:pt x="102477" y="7636"/>
                </a:lnTo>
                <a:lnTo>
                  <a:pt x="149860" y="0"/>
                </a:lnTo>
                <a:lnTo>
                  <a:pt x="1816100" y="0"/>
                </a:lnTo>
                <a:lnTo>
                  <a:pt x="1863482" y="7636"/>
                </a:lnTo>
                <a:lnTo>
                  <a:pt x="1904622" y="28903"/>
                </a:lnTo>
                <a:lnTo>
                  <a:pt x="1937056" y="61337"/>
                </a:lnTo>
                <a:lnTo>
                  <a:pt x="1958323" y="102477"/>
                </a:lnTo>
                <a:lnTo>
                  <a:pt x="1965960" y="149860"/>
                </a:lnTo>
                <a:lnTo>
                  <a:pt x="1965960" y="1247648"/>
                </a:lnTo>
                <a:lnTo>
                  <a:pt x="1958323" y="1295030"/>
                </a:lnTo>
                <a:lnTo>
                  <a:pt x="1937056" y="1336170"/>
                </a:lnTo>
                <a:lnTo>
                  <a:pt x="1904622" y="1368604"/>
                </a:lnTo>
                <a:lnTo>
                  <a:pt x="1863482" y="1389871"/>
                </a:lnTo>
                <a:lnTo>
                  <a:pt x="1816100" y="1397508"/>
                </a:lnTo>
                <a:lnTo>
                  <a:pt x="149860" y="1397508"/>
                </a:lnTo>
                <a:lnTo>
                  <a:pt x="102477" y="1389871"/>
                </a:lnTo>
                <a:lnTo>
                  <a:pt x="61337" y="1368604"/>
                </a:lnTo>
                <a:lnTo>
                  <a:pt x="28903" y="1336170"/>
                </a:lnTo>
                <a:lnTo>
                  <a:pt x="7636" y="1295030"/>
                </a:lnTo>
                <a:lnTo>
                  <a:pt x="0" y="1247648"/>
                </a:lnTo>
                <a:lnTo>
                  <a:pt x="0" y="149860"/>
                </a:lnTo>
                <a:close/>
              </a:path>
            </a:pathLst>
          </a:custGeom>
          <a:ln w="12700">
            <a:solidFill>
              <a:srgbClr val="6FAC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157084" y="2166366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5">
                <a:latin typeface="Arial"/>
                <a:cs typeface="Arial"/>
              </a:rPr>
              <a:t>Jeder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 spc="-85">
                <a:latin typeface="Arial"/>
                <a:cs typeface="Arial"/>
              </a:rPr>
              <a:t>Temporal-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89444" y="2410205"/>
            <a:ext cx="1680845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40">
                <a:latin typeface="Arial"/>
                <a:cs typeface="Arial"/>
              </a:rPr>
              <a:t>operator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wird</a:t>
            </a:r>
            <a:r>
              <a:rPr dirty="0" sz="1600" spc="-90">
                <a:latin typeface="Arial"/>
                <a:cs typeface="Arial"/>
              </a:rPr>
              <a:t> </a:t>
            </a:r>
            <a:r>
              <a:rPr dirty="0" sz="1600" spc="-60">
                <a:latin typeface="Arial"/>
                <a:cs typeface="Arial"/>
              </a:rPr>
              <a:t>durch </a:t>
            </a:r>
            <a:r>
              <a:rPr dirty="0" sz="1600" spc="-100">
                <a:latin typeface="Arial"/>
                <a:cs typeface="Arial"/>
              </a:rPr>
              <a:t>genau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einen Pfadquantor quantifiziert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65913" y="2224849"/>
            <a:ext cx="690245" cy="468630"/>
            <a:chOff x="6165913" y="2224849"/>
            <a:chExt cx="690245" cy="468630"/>
          </a:xfrm>
        </p:grpSpPr>
        <p:sp>
          <p:nvSpPr>
            <p:cNvPr id="13" name="object 13"/>
            <p:cNvSpPr/>
            <p:nvPr/>
          </p:nvSpPr>
          <p:spPr>
            <a:xfrm>
              <a:off x="6510528" y="2595371"/>
              <a:ext cx="340360" cy="93345"/>
            </a:xfrm>
            <a:custGeom>
              <a:avLst/>
              <a:gdLst/>
              <a:ahLst/>
              <a:cxnLst/>
              <a:rect l="l" t="t" r="r" b="b"/>
              <a:pathLst>
                <a:path w="340359" h="93344">
                  <a:moveTo>
                    <a:pt x="0" y="0"/>
                  </a:moveTo>
                  <a:lnTo>
                    <a:pt x="340360" y="93345"/>
                  </a:lnTo>
                </a:path>
              </a:pathLst>
            </a:custGeom>
            <a:ln w="952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170676" y="2229611"/>
              <a:ext cx="680720" cy="173355"/>
            </a:xfrm>
            <a:custGeom>
              <a:avLst/>
              <a:gdLst/>
              <a:ahLst/>
              <a:cxnLst/>
              <a:rect l="l" t="t" r="r" b="b"/>
              <a:pathLst>
                <a:path w="680720" h="173355">
                  <a:moveTo>
                    <a:pt x="0" y="0"/>
                  </a:moveTo>
                  <a:lnTo>
                    <a:pt x="680720" y="173101"/>
                  </a:lnTo>
                </a:path>
              </a:pathLst>
            </a:custGeom>
            <a:ln w="9524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35"/>
              <a:t>Temporale</a:t>
            </a:r>
            <a:r>
              <a:rPr dirty="0" spc="-175"/>
              <a:t> </a:t>
            </a:r>
            <a:r>
              <a:rPr dirty="0" spc="-165"/>
              <a:t>Operatoren</a:t>
            </a:r>
            <a:r>
              <a:rPr dirty="0" spc="-175"/>
              <a:t> </a:t>
            </a:r>
            <a:r>
              <a:rPr dirty="0" spc="-65"/>
              <a:t>in</a:t>
            </a:r>
            <a:r>
              <a:rPr dirty="0" spc="-175"/>
              <a:t> </a:t>
            </a:r>
            <a:r>
              <a:rPr dirty="0" spc="-645"/>
              <a:t>CTL</a:t>
            </a:r>
          </a:p>
        </p:txBody>
      </p:sp>
      <p:sp>
        <p:nvSpPr>
          <p:cNvPr id="3" name="object 3"/>
          <p:cNvSpPr/>
          <p:nvPr/>
        </p:nvSpPr>
        <p:spPr>
          <a:xfrm>
            <a:off x="4211828" y="2607309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4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31242" y="8890"/>
                </a:lnTo>
                <a:lnTo>
                  <a:pt x="31242" y="20447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99942" y="2607309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4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18542" y="204470"/>
                </a:lnTo>
                <a:lnTo>
                  <a:pt x="18542" y="889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65852" y="2607309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4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31242" y="8890"/>
                </a:lnTo>
                <a:lnTo>
                  <a:pt x="31242" y="20447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55490" y="2607309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4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18542" y="204470"/>
                </a:lnTo>
                <a:lnTo>
                  <a:pt x="18542" y="889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667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1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dirty="0" spc="-110"/>
              <a:t>Die</a:t>
            </a:r>
            <a:r>
              <a:rPr dirty="0" spc="-50"/>
              <a:t> </a:t>
            </a:r>
            <a:r>
              <a:rPr dirty="0" spc="-135"/>
              <a:t>Syntax</a:t>
            </a:r>
            <a:r>
              <a:rPr dirty="0" spc="-70"/>
              <a:t> </a:t>
            </a:r>
            <a:r>
              <a:rPr dirty="0" spc="-50"/>
              <a:t>der</a:t>
            </a:r>
            <a:r>
              <a:rPr dirty="0" spc="-60"/>
              <a:t> </a:t>
            </a:r>
            <a:r>
              <a:rPr dirty="0" spc="-114"/>
              <a:t>Aussagenlogik</a:t>
            </a:r>
            <a:r>
              <a:rPr dirty="0" spc="-75"/>
              <a:t> </a:t>
            </a:r>
            <a:r>
              <a:rPr dirty="0" spc="-20"/>
              <a:t>wird</a:t>
            </a:r>
            <a:r>
              <a:rPr dirty="0" spc="-50"/>
              <a:t> </a:t>
            </a:r>
            <a:r>
              <a:rPr dirty="0"/>
              <a:t>mit</a:t>
            </a:r>
            <a:r>
              <a:rPr dirty="0" spc="-55"/>
              <a:t> </a:t>
            </a:r>
            <a:r>
              <a:rPr dirty="0" spc="-60"/>
              <a:t>temporalen</a:t>
            </a:r>
            <a:r>
              <a:rPr dirty="0" spc="-45"/>
              <a:t> </a:t>
            </a:r>
            <a:r>
              <a:rPr dirty="0" spc="-75"/>
              <a:t>Operatoren</a:t>
            </a:r>
            <a:r>
              <a:rPr dirty="0" spc="-60"/>
              <a:t> </a:t>
            </a:r>
            <a:r>
              <a:rPr dirty="0" spc="-10"/>
              <a:t>erweitert.</a:t>
            </a:r>
          </a:p>
          <a:p>
            <a:pPr lvl="1" marL="697865" indent="-227965">
              <a:lnSpc>
                <a:spcPct val="100000"/>
              </a:lnSpc>
              <a:spcBef>
                <a:spcPts val="30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697865" algn="l"/>
                <a:tab pos="3670300" algn="l"/>
              </a:tabLst>
            </a:pPr>
            <a:r>
              <a:rPr dirty="0" sz="1800" spc="-60">
                <a:latin typeface="Arial"/>
                <a:cs typeface="Arial"/>
              </a:rPr>
              <a:t>Im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95">
                <a:latin typeface="Arial"/>
                <a:cs typeface="Arial"/>
              </a:rPr>
              <a:t>nächsten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90">
                <a:latin typeface="Arial"/>
                <a:cs typeface="Arial"/>
              </a:rPr>
              <a:t>(neXt)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Zustand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305">
                <a:latin typeface="Arial"/>
                <a:cs typeface="Arial"/>
              </a:rPr>
              <a:t>EX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>
                <a:latin typeface="STIX Two Math"/>
                <a:cs typeface="STIX Two Math"/>
              </a:rPr>
              <a:t>𝑃</a:t>
            </a:r>
            <a:r>
              <a:rPr dirty="0" sz="1800">
                <a:latin typeface="Arial"/>
                <a:cs typeface="Arial"/>
              </a:rPr>
              <a:t>,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225">
                <a:latin typeface="Arial"/>
                <a:cs typeface="Arial"/>
              </a:rPr>
              <a:t>AX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30">
                <a:latin typeface="STIX Two Math"/>
                <a:cs typeface="STIX Two Math"/>
              </a:rPr>
              <a:t>𝑃</a:t>
            </a:r>
            <a:endParaRPr sz="1800">
              <a:latin typeface="STIX Two Math"/>
              <a:cs typeface="STIX Two Math"/>
            </a:endParaRPr>
          </a:p>
          <a:p>
            <a:pPr lvl="1" marL="697865" indent="-227965">
              <a:lnSpc>
                <a:spcPct val="100000"/>
              </a:lnSpc>
              <a:spcBef>
                <a:spcPts val="27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697865" algn="l"/>
                <a:tab pos="2755900" algn="l"/>
              </a:tabLst>
            </a:pPr>
            <a:r>
              <a:rPr dirty="0" sz="1800" spc="-80">
                <a:solidFill>
                  <a:srgbClr val="A4A4A4"/>
                </a:solidFill>
                <a:latin typeface="Arial"/>
                <a:cs typeface="Arial"/>
              </a:rPr>
              <a:t>Irgendwann</a:t>
            </a:r>
            <a:r>
              <a:rPr dirty="0" sz="1800" spc="-4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A4A4A4"/>
                </a:solidFill>
                <a:latin typeface="Arial"/>
                <a:cs typeface="Arial"/>
              </a:rPr>
              <a:t>(Future)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	</a:t>
            </a:r>
            <a:r>
              <a:rPr dirty="0" sz="1800" spc="-305">
                <a:solidFill>
                  <a:srgbClr val="A4A4A4"/>
                </a:solidFill>
                <a:latin typeface="Arial"/>
                <a:cs typeface="Arial"/>
              </a:rPr>
              <a:t>EF</a:t>
            </a:r>
            <a:r>
              <a:rPr dirty="0" sz="1800" spc="-7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,</a:t>
            </a:r>
            <a:r>
              <a:rPr dirty="0" sz="1800" spc="-6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229">
                <a:solidFill>
                  <a:srgbClr val="A4A4A4"/>
                </a:solidFill>
                <a:latin typeface="Arial"/>
                <a:cs typeface="Arial"/>
              </a:rPr>
              <a:t>AF</a:t>
            </a:r>
            <a:r>
              <a:rPr dirty="0" sz="1800" spc="-7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endParaRPr sz="1800">
              <a:latin typeface="STIX Two Math"/>
              <a:cs typeface="STIX Two Math"/>
            </a:endParaRPr>
          </a:p>
          <a:p>
            <a:pPr lvl="1" marL="697865" indent="-227965">
              <a:lnSpc>
                <a:spcPct val="100000"/>
              </a:lnSpc>
              <a:spcBef>
                <a:spcPts val="28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697865" algn="l"/>
                <a:tab pos="2755900" algn="l"/>
              </a:tabLst>
            </a:pPr>
            <a:r>
              <a:rPr dirty="0" sz="1800" spc="-55">
                <a:solidFill>
                  <a:srgbClr val="A4A4A4"/>
                </a:solidFill>
                <a:latin typeface="Arial"/>
                <a:cs typeface="Arial"/>
              </a:rPr>
              <a:t>Immer</a:t>
            </a:r>
            <a:r>
              <a:rPr dirty="0" sz="1800" spc="-7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A4A4A4"/>
                </a:solidFill>
                <a:latin typeface="Arial"/>
                <a:cs typeface="Arial"/>
              </a:rPr>
              <a:t>(Global)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	</a:t>
            </a:r>
            <a:r>
              <a:rPr dirty="0" sz="1800" spc="-300">
                <a:solidFill>
                  <a:srgbClr val="A4A4A4"/>
                </a:solidFill>
                <a:latin typeface="Arial"/>
                <a:cs typeface="Arial"/>
              </a:rPr>
              <a:t>EG</a:t>
            </a:r>
            <a:r>
              <a:rPr dirty="0" sz="1800" spc="-6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,</a:t>
            </a:r>
            <a:r>
              <a:rPr dirty="0" sz="1800" spc="-6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225">
                <a:solidFill>
                  <a:srgbClr val="A4A4A4"/>
                </a:solidFill>
                <a:latin typeface="Arial"/>
                <a:cs typeface="Arial"/>
              </a:rPr>
              <a:t>AG</a:t>
            </a:r>
            <a:r>
              <a:rPr dirty="0" sz="1800" spc="-7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endParaRPr sz="1800">
              <a:latin typeface="STIX Two Math"/>
              <a:cs typeface="STIX Two Math"/>
            </a:endParaRPr>
          </a:p>
          <a:p>
            <a:pPr lvl="1" marL="697865" indent="-227965">
              <a:lnSpc>
                <a:spcPct val="100000"/>
              </a:lnSpc>
              <a:spcBef>
                <a:spcPts val="29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697865" algn="l"/>
              </a:tabLst>
            </a:pPr>
            <a:r>
              <a:rPr dirty="0" sz="1800" spc="-135">
                <a:solidFill>
                  <a:srgbClr val="A4A4A4"/>
                </a:solidFill>
                <a:latin typeface="Arial"/>
                <a:cs typeface="Arial"/>
              </a:rPr>
              <a:t>Von</a:t>
            </a:r>
            <a:r>
              <a:rPr dirty="0" sz="1800" spc="-8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A4A4A4"/>
                </a:solidFill>
                <a:latin typeface="Arial"/>
                <a:cs typeface="Arial"/>
              </a:rPr>
              <a:t>nun</a:t>
            </a:r>
            <a:r>
              <a:rPr dirty="0" sz="1800" spc="-8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110">
                <a:solidFill>
                  <a:srgbClr val="A4A4A4"/>
                </a:solidFill>
                <a:latin typeface="Arial"/>
                <a:cs typeface="Arial"/>
              </a:rPr>
              <a:t>an</a:t>
            </a:r>
            <a:r>
              <a:rPr dirty="0" sz="1800" spc="-95">
                <a:solidFill>
                  <a:srgbClr val="A4A4A4"/>
                </a:solidFill>
                <a:latin typeface="Arial"/>
                <a:cs typeface="Arial"/>
              </a:rPr>
              <a:t> bis </a:t>
            </a:r>
            <a:r>
              <a:rPr dirty="0" sz="1800" spc="-40">
                <a:solidFill>
                  <a:srgbClr val="A4A4A4"/>
                </a:solidFill>
                <a:latin typeface="Arial"/>
                <a:cs typeface="Arial"/>
              </a:rPr>
              <a:t>(Until)</a:t>
            </a:r>
            <a:r>
              <a:rPr dirty="0" sz="1800" spc="-11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325">
                <a:solidFill>
                  <a:srgbClr val="A4A4A4"/>
                </a:solidFill>
                <a:latin typeface="Arial"/>
                <a:cs typeface="Arial"/>
              </a:rPr>
              <a:t>E</a:t>
            </a:r>
            <a:r>
              <a:rPr dirty="0" sz="1800" spc="13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r>
              <a:rPr dirty="0" sz="1800" spc="-80">
                <a:solidFill>
                  <a:srgbClr val="A4A4A4"/>
                </a:solidFill>
                <a:latin typeface="STIX Two Math"/>
                <a:cs typeface="STIX Two Math"/>
              </a:rPr>
              <a:t> </a:t>
            </a:r>
            <a:r>
              <a:rPr dirty="0" sz="1800" spc="-165">
                <a:solidFill>
                  <a:srgbClr val="A4A4A4"/>
                </a:solidFill>
                <a:latin typeface="Arial"/>
                <a:cs typeface="Arial"/>
              </a:rPr>
              <a:t>U</a:t>
            </a:r>
            <a:r>
              <a:rPr dirty="0" sz="1800" spc="-9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4A4A4"/>
                </a:solidFill>
                <a:latin typeface="STIX Two Math"/>
                <a:cs typeface="STIX Two Math"/>
              </a:rPr>
              <a:t>𝑄</a:t>
            </a:r>
            <a:r>
              <a:rPr dirty="0" sz="1800" spc="245">
                <a:solidFill>
                  <a:srgbClr val="A4A4A4"/>
                </a:solidFill>
                <a:latin typeface="STIX Two Math"/>
                <a:cs typeface="STIX Two Math"/>
              </a:rPr>
              <a:t> </a:t>
            </a:r>
            <a:r>
              <a:rPr dirty="0" sz="1800" spc="-55">
                <a:solidFill>
                  <a:srgbClr val="A4A4A4"/>
                </a:solidFill>
                <a:latin typeface="Arial"/>
                <a:cs typeface="Arial"/>
              </a:rPr>
              <a:t>,</a:t>
            </a:r>
            <a:r>
              <a:rPr dirty="0" sz="1800" spc="-9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A</a:t>
            </a:r>
            <a:r>
              <a:rPr dirty="0" sz="1800" spc="12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r>
              <a:rPr dirty="0" sz="1800" spc="-25">
                <a:solidFill>
                  <a:srgbClr val="A4A4A4"/>
                </a:solidFill>
                <a:latin typeface="STIX Two Math"/>
                <a:cs typeface="STIX Two Math"/>
              </a:rPr>
              <a:t> </a:t>
            </a:r>
            <a:r>
              <a:rPr dirty="0" sz="1800" spc="-165">
                <a:solidFill>
                  <a:srgbClr val="A4A4A4"/>
                </a:solidFill>
                <a:latin typeface="Arial"/>
                <a:cs typeface="Arial"/>
              </a:rPr>
              <a:t>U</a:t>
            </a:r>
            <a:r>
              <a:rPr dirty="0" sz="1800" spc="-9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A4A4A4"/>
                </a:solidFill>
                <a:latin typeface="STIX Two Math"/>
                <a:cs typeface="STIX Two Math"/>
              </a:rPr>
              <a:t>𝑄</a:t>
            </a:r>
            <a:endParaRPr sz="1800">
              <a:latin typeface="STIX Two Math"/>
              <a:cs typeface="STIX Two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4854" y="4895545"/>
            <a:ext cx="7308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25">
                <a:latin typeface="STIX Two Math"/>
                <a:cs typeface="STIX Two Math"/>
              </a:rPr>
              <a:t>EX</a:t>
            </a:r>
            <a:r>
              <a:rPr dirty="0" sz="2800" spc="-40">
                <a:latin typeface="STIX Two Math"/>
                <a:cs typeface="STIX Two Math"/>
              </a:rPr>
              <a:t> </a:t>
            </a:r>
            <a:r>
              <a:rPr dirty="0" sz="2800" spc="90">
                <a:solidFill>
                  <a:srgbClr val="538235"/>
                </a:solidFill>
                <a:latin typeface="STIX Two Math"/>
                <a:cs typeface="STIX Two Math"/>
              </a:rPr>
              <a:t>𝑃</a:t>
            </a:r>
            <a:endParaRPr sz="2800">
              <a:latin typeface="STIX Two Math"/>
              <a:cs typeface="STIX Two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9865" y="5327396"/>
            <a:ext cx="2449830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295">
                <a:latin typeface="Arial"/>
                <a:cs typeface="Arial"/>
              </a:rPr>
              <a:t>Es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110" b="1">
                <a:latin typeface="Arial"/>
                <a:cs typeface="Arial"/>
              </a:rPr>
              <a:t>existiert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ein </a:t>
            </a:r>
            <a:r>
              <a:rPr dirty="0" sz="2000" spc="-135">
                <a:latin typeface="Arial"/>
                <a:cs typeface="Arial"/>
              </a:rPr>
              <a:t>Pfad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auf </a:t>
            </a:r>
            <a:r>
              <a:rPr dirty="0" sz="2000" spc="-100">
                <a:latin typeface="Arial"/>
                <a:cs typeface="Arial"/>
              </a:rPr>
              <a:t>dem </a:t>
            </a:r>
            <a:r>
              <a:rPr dirty="0" sz="2000" spc="100">
                <a:latin typeface="STIX Two Math"/>
                <a:cs typeface="STIX Two Math"/>
              </a:rPr>
              <a:t>𝑃</a:t>
            </a:r>
            <a:r>
              <a:rPr dirty="0" sz="2000" spc="20">
                <a:latin typeface="STIX Two Math"/>
                <a:cs typeface="STIX Two Math"/>
              </a:rPr>
              <a:t> </a:t>
            </a:r>
            <a:r>
              <a:rPr dirty="0" sz="2000" spc="-30">
                <a:latin typeface="Arial"/>
                <a:cs typeface="Arial"/>
              </a:rPr>
              <a:t>im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40" b="1">
                <a:latin typeface="Arial"/>
                <a:cs typeface="Arial"/>
              </a:rPr>
              <a:t>nächsten </a:t>
            </a:r>
            <a:r>
              <a:rPr dirty="0" sz="2000" spc="-120">
                <a:latin typeface="Arial"/>
                <a:cs typeface="Arial"/>
              </a:rPr>
              <a:t>Zustand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gilt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44465" y="4895545"/>
            <a:ext cx="2566035" cy="1068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spc="-275">
                <a:latin typeface="STIX Two Math"/>
                <a:cs typeface="STIX Two Math"/>
              </a:rPr>
              <a:t>AX</a:t>
            </a:r>
            <a:r>
              <a:rPr dirty="0" sz="2800" spc="-35">
                <a:latin typeface="STIX Two Math"/>
                <a:cs typeface="STIX Two Math"/>
              </a:rPr>
              <a:t> </a:t>
            </a:r>
            <a:r>
              <a:rPr dirty="0" sz="2800" spc="90">
                <a:solidFill>
                  <a:srgbClr val="538235"/>
                </a:solidFill>
                <a:latin typeface="STIX Two Math"/>
                <a:cs typeface="STIX Two Math"/>
              </a:rPr>
              <a:t>𝑃</a:t>
            </a:r>
            <a:endParaRPr sz="2800">
              <a:latin typeface="STIX Two Math"/>
              <a:cs typeface="STIX Two Math"/>
            </a:endParaRPr>
          </a:p>
          <a:p>
            <a:pPr algn="ctr">
              <a:lnSpc>
                <a:spcPts val="2395"/>
              </a:lnSpc>
              <a:spcBef>
                <a:spcPts val="60"/>
              </a:spcBef>
            </a:pPr>
            <a:r>
              <a:rPr dirty="0" sz="2000" spc="-105">
                <a:latin typeface="Arial"/>
                <a:cs typeface="Arial"/>
              </a:rPr>
              <a:t>Entlang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90" b="1">
                <a:latin typeface="Arial"/>
                <a:cs typeface="Arial"/>
              </a:rPr>
              <a:t>aller</a:t>
            </a:r>
            <a:r>
              <a:rPr dirty="0" sz="2000" spc="-95" b="1">
                <a:latin typeface="Arial"/>
                <a:cs typeface="Arial"/>
              </a:rPr>
              <a:t> </a:t>
            </a:r>
            <a:r>
              <a:rPr dirty="0" sz="2000" spc="-125">
                <a:latin typeface="Arial"/>
                <a:cs typeface="Arial"/>
              </a:rPr>
              <a:t>Pfade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gilt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50">
                <a:latin typeface="STIX Two Math"/>
                <a:cs typeface="STIX Two Math"/>
              </a:rPr>
              <a:t>𝑃</a:t>
            </a:r>
            <a:endParaRPr sz="2000">
              <a:latin typeface="STIX Two Math"/>
              <a:cs typeface="STIX Two Math"/>
            </a:endParaRPr>
          </a:p>
          <a:p>
            <a:pPr algn="ctr" marL="2540">
              <a:lnSpc>
                <a:spcPts val="2395"/>
              </a:lnSpc>
            </a:pPr>
            <a:r>
              <a:rPr dirty="0" sz="2000" spc="-35">
                <a:latin typeface="Arial"/>
                <a:cs typeface="Arial"/>
              </a:rPr>
              <a:t>im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70" b="1">
                <a:latin typeface="Arial"/>
                <a:cs typeface="Arial"/>
              </a:rPr>
              <a:t>nächsten</a:t>
            </a:r>
            <a:r>
              <a:rPr dirty="0" sz="2000" spc="-100" b="1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Zustand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680" y="3016376"/>
            <a:ext cx="2876549" cy="1745742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020436" y="3016376"/>
            <a:ext cx="2876550" cy="1746250"/>
            <a:chOff x="5020436" y="3016376"/>
            <a:chExt cx="2876550" cy="1746250"/>
          </a:xfrm>
        </p:grpSpPr>
        <p:sp>
          <p:nvSpPr>
            <p:cNvPr id="13" name="object 13"/>
            <p:cNvSpPr/>
            <p:nvPr/>
          </p:nvSpPr>
          <p:spPr>
            <a:xfrm>
              <a:off x="5173218" y="3257930"/>
              <a:ext cx="2571115" cy="1209675"/>
            </a:xfrm>
            <a:custGeom>
              <a:avLst/>
              <a:gdLst/>
              <a:ahLst/>
              <a:cxnLst/>
              <a:rect l="l" t="t" r="r" b="b"/>
              <a:pathLst>
                <a:path w="2571115" h="1209675">
                  <a:moveTo>
                    <a:pt x="480568" y="736727"/>
                  </a:moveTo>
                  <a:lnTo>
                    <a:pt x="460375" y="716407"/>
                  </a:lnTo>
                  <a:lnTo>
                    <a:pt x="47256" y="1129525"/>
                  </a:lnTo>
                  <a:lnTo>
                    <a:pt x="59055" y="1084707"/>
                  </a:lnTo>
                  <a:lnTo>
                    <a:pt x="60985" y="1077468"/>
                  </a:lnTo>
                  <a:lnTo>
                    <a:pt x="61087" y="1077087"/>
                  </a:lnTo>
                  <a:lnTo>
                    <a:pt x="56515" y="1069213"/>
                  </a:lnTo>
                  <a:lnTo>
                    <a:pt x="48895" y="1067181"/>
                  </a:lnTo>
                  <a:lnTo>
                    <a:pt x="41275" y="1065276"/>
                  </a:lnTo>
                  <a:lnTo>
                    <a:pt x="33401" y="1069848"/>
                  </a:lnTo>
                  <a:lnTo>
                    <a:pt x="31584" y="1077087"/>
                  </a:lnTo>
                  <a:lnTo>
                    <a:pt x="0" y="1197102"/>
                  </a:lnTo>
                  <a:lnTo>
                    <a:pt x="37617" y="1187196"/>
                  </a:lnTo>
                  <a:lnTo>
                    <a:pt x="127254" y="1163574"/>
                  </a:lnTo>
                  <a:lnTo>
                    <a:pt x="131826" y="1155827"/>
                  </a:lnTo>
                  <a:lnTo>
                    <a:pt x="129794" y="1148207"/>
                  </a:lnTo>
                  <a:lnTo>
                    <a:pt x="127762" y="1140460"/>
                  </a:lnTo>
                  <a:lnTo>
                    <a:pt x="120015" y="1136015"/>
                  </a:lnTo>
                  <a:lnTo>
                    <a:pt x="112395" y="1137920"/>
                  </a:lnTo>
                  <a:lnTo>
                    <a:pt x="67576" y="1149718"/>
                  </a:lnTo>
                  <a:lnTo>
                    <a:pt x="480568" y="736727"/>
                  </a:lnTo>
                  <a:close/>
                </a:path>
                <a:path w="2571115" h="1209675">
                  <a:moveTo>
                    <a:pt x="636778" y="1084453"/>
                  </a:moveTo>
                  <a:lnTo>
                    <a:pt x="634492" y="1075690"/>
                  </a:lnTo>
                  <a:lnTo>
                    <a:pt x="627634" y="1071753"/>
                  </a:lnTo>
                  <a:lnTo>
                    <a:pt x="620903" y="1067689"/>
                  </a:lnTo>
                  <a:lnTo>
                    <a:pt x="612140" y="1069975"/>
                  </a:lnTo>
                  <a:lnTo>
                    <a:pt x="608076" y="1076833"/>
                  </a:lnTo>
                  <a:lnTo>
                    <a:pt x="584517" y="1116863"/>
                  </a:lnTo>
                  <a:lnTo>
                    <a:pt x="585851" y="769239"/>
                  </a:lnTo>
                  <a:lnTo>
                    <a:pt x="557276" y="769239"/>
                  </a:lnTo>
                  <a:lnTo>
                    <a:pt x="556133" y="1067308"/>
                  </a:lnTo>
                  <a:lnTo>
                    <a:pt x="556069" y="1083945"/>
                  </a:lnTo>
                  <a:lnTo>
                    <a:pt x="555942" y="1116609"/>
                  </a:lnTo>
                  <a:lnTo>
                    <a:pt x="532765" y="1076452"/>
                  </a:lnTo>
                  <a:lnTo>
                    <a:pt x="528828" y="1069721"/>
                  </a:lnTo>
                  <a:lnTo>
                    <a:pt x="520065" y="1067308"/>
                  </a:lnTo>
                  <a:lnTo>
                    <a:pt x="513207" y="1071245"/>
                  </a:lnTo>
                  <a:lnTo>
                    <a:pt x="506349" y="1075309"/>
                  </a:lnTo>
                  <a:lnTo>
                    <a:pt x="504063" y="1083945"/>
                  </a:lnTo>
                  <a:lnTo>
                    <a:pt x="508000" y="1090803"/>
                  </a:lnTo>
                  <a:lnTo>
                    <a:pt x="569976" y="1197991"/>
                  </a:lnTo>
                  <a:lnTo>
                    <a:pt x="586625" y="1169670"/>
                  </a:lnTo>
                  <a:lnTo>
                    <a:pt x="632714" y="1091311"/>
                  </a:lnTo>
                  <a:lnTo>
                    <a:pt x="636778" y="1084453"/>
                  </a:lnTo>
                  <a:close/>
                </a:path>
                <a:path w="2571115" h="1209675">
                  <a:moveTo>
                    <a:pt x="1142619" y="1209294"/>
                  </a:moveTo>
                  <a:lnTo>
                    <a:pt x="1140040" y="1199007"/>
                  </a:lnTo>
                  <a:lnTo>
                    <a:pt x="1110742" y="1081659"/>
                  </a:lnTo>
                  <a:lnTo>
                    <a:pt x="1102995" y="1076960"/>
                  </a:lnTo>
                  <a:lnTo>
                    <a:pt x="1087628" y="1080770"/>
                  </a:lnTo>
                  <a:lnTo>
                    <a:pt x="1083056" y="1088517"/>
                  </a:lnTo>
                  <a:lnTo>
                    <a:pt x="1084961" y="1096264"/>
                  </a:lnTo>
                  <a:lnTo>
                    <a:pt x="1096149" y="1141171"/>
                  </a:lnTo>
                  <a:lnTo>
                    <a:pt x="682371" y="716534"/>
                  </a:lnTo>
                  <a:lnTo>
                    <a:pt x="661797" y="736600"/>
                  </a:lnTo>
                  <a:lnTo>
                    <a:pt x="1075639" y="1161186"/>
                  </a:lnTo>
                  <a:lnTo>
                    <a:pt x="1023366" y="1146683"/>
                  </a:lnTo>
                  <a:lnTo>
                    <a:pt x="1015492" y="1151128"/>
                  </a:lnTo>
                  <a:lnTo>
                    <a:pt x="1013460" y="1158748"/>
                  </a:lnTo>
                  <a:lnTo>
                    <a:pt x="1011301" y="1166368"/>
                  </a:lnTo>
                  <a:lnTo>
                    <a:pt x="1015746" y="1174242"/>
                  </a:lnTo>
                  <a:lnTo>
                    <a:pt x="1023366" y="1176274"/>
                  </a:lnTo>
                  <a:lnTo>
                    <a:pt x="1142619" y="1209294"/>
                  </a:lnTo>
                  <a:close/>
                </a:path>
                <a:path w="2571115" h="1209675">
                  <a:moveTo>
                    <a:pt x="1264412" y="23622"/>
                  </a:moveTo>
                  <a:lnTo>
                    <a:pt x="1248156" y="0"/>
                  </a:lnTo>
                  <a:lnTo>
                    <a:pt x="630250" y="424637"/>
                  </a:lnTo>
                  <a:lnTo>
                    <a:pt x="650113" y="382651"/>
                  </a:lnTo>
                  <a:lnTo>
                    <a:pt x="653415" y="375412"/>
                  </a:lnTo>
                  <a:lnTo>
                    <a:pt x="650367" y="366903"/>
                  </a:lnTo>
                  <a:lnTo>
                    <a:pt x="643255" y="363601"/>
                  </a:lnTo>
                  <a:lnTo>
                    <a:pt x="636143" y="360172"/>
                  </a:lnTo>
                  <a:lnTo>
                    <a:pt x="627634" y="363220"/>
                  </a:lnTo>
                  <a:lnTo>
                    <a:pt x="624205" y="370459"/>
                  </a:lnTo>
                  <a:lnTo>
                    <a:pt x="571500" y="482346"/>
                  </a:lnTo>
                  <a:lnTo>
                    <a:pt x="629729" y="478028"/>
                  </a:lnTo>
                  <a:lnTo>
                    <a:pt x="702691" y="472567"/>
                  </a:lnTo>
                  <a:lnTo>
                    <a:pt x="708660" y="465709"/>
                  </a:lnTo>
                  <a:lnTo>
                    <a:pt x="708025" y="457835"/>
                  </a:lnTo>
                  <a:lnTo>
                    <a:pt x="707644" y="451993"/>
                  </a:lnTo>
                  <a:lnTo>
                    <a:pt x="707529" y="450176"/>
                  </a:lnTo>
                  <a:lnTo>
                    <a:pt x="707517" y="449961"/>
                  </a:lnTo>
                  <a:lnTo>
                    <a:pt x="700659" y="444119"/>
                  </a:lnTo>
                  <a:lnTo>
                    <a:pt x="646480" y="448081"/>
                  </a:lnTo>
                  <a:lnTo>
                    <a:pt x="1264412" y="23622"/>
                  </a:lnTo>
                  <a:close/>
                </a:path>
                <a:path w="2571115" h="1209675">
                  <a:moveTo>
                    <a:pt x="2054860" y="733425"/>
                  </a:moveTo>
                  <a:lnTo>
                    <a:pt x="2029714" y="719709"/>
                  </a:lnTo>
                  <a:lnTo>
                    <a:pt x="1812378" y="1118984"/>
                  </a:lnTo>
                  <a:lnTo>
                    <a:pt x="1811045" y="1073404"/>
                  </a:lnTo>
                  <a:lnTo>
                    <a:pt x="1810791" y="1065530"/>
                  </a:lnTo>
                  <a:lnTo>
                    <a:pt x="1810766" y="1064641"/>
                  </a:lnTo>
                  <a:lnTo>
                    <a:pt x="1804162" y="1058418"/>
                  </a:lnTo>
                  <a:lnTo>
                    <a:pt x="1788414" y="1058926"/>
                  </a:lnTo>
                  <a:lnTo>
                    <a:pt x="1782191" y="1065530"/>
                  </a:lnTo>
                  <a:lnTo>
                    <a:pt x="1782406" y="1072515"/>
                  </a:lnTo>
                  <a:lnTo>
                    <a:pt x="1786128" y="1197102"/>
                  </a:lnTo>
                  <a:lnTo>
                    <a:pt x="1815922" y="1179068"/>
                  </a:lnTo>
                  <a:lnTo>
                    <a:pt x="1898777" y="1128903"/>
                  </a:lnTo>
                  <a:lnTo>
                    <a:pt x="1900936" y="1120140"/>
                  </a:lnTo>
                  <a:lnTo>
                    <a:pt x="1896745" y="1113409"/>
                  </a:lnTo>
                  <a:lnTo>
                    <a:pt x="1892681" y="1106678"/>
                  </a:lnTo>
                  <a:lnTo>
                    <a:pt x="1883918" y="1104519"/>
                  </a:lnTo>
                  <a:lnTo>
                    <a:pt x="1837436" y="1132649"/>
                  </a:lnTo>
                  <a:lnTo>
                    <a:pt x="2054860" y="733425"/>
                  </a:lnTo>
                  <a:close/>
                </a:path>
                <a:path w="2571115" h="1209675">
                  <a:moveTo>
                    <a:pt x="2143252" y="482346"/>
                  </a:moveTo>
                  <a:lnTo>
                    <a:pt x="2141207" y="478028"/>
                  </a:lnTo>
                  <a:lnTo>
                    <a:pt x="2090547" y="370459"/>
                  </a:lnTo>
                  <a:lnTo>
                    <a:pt x="2087118" y="363220"/>
                  </a:lnTo>
                  <a:lnTo>
                    <a:pt x="2078609" y="360172"/>
                  </a:lnTo>
                  <a:lnTo>
                    <a:pt x="2071497" y="363601"/>
                  </a:lnTo>
                  <a:lnTo>
                    <a:pt x="2064385" y="366903"/>
                  </a:lnTo>
                  <a:lnTo>
                    <a:pt x="2061337" y="375412"/>
                  </a:lnTo>
                  <a:lnTo>
                    <a:pt x="2064639" y="382651"/>
                  </a:lnTo>
                  <a:lnTo>
                    <a:pt x="2084489" y="424637"/>
                  </a:lnTo>
                  <a:lnTo>
                    <a:pt x="2096477" y="449961"/>
                  </a:lnTo>
                  <a:lnTo>
                    <a:pt x="2096579" y="450176"/>
                  </a:lnTo>
                  <a:lnTo>
                    <a:pt x="2084489" y="424637"/>
                  </a:lnTo>
                  <a:lnTo>
                    <a:pt x="1466583" y="0"/>
                  </a:lnTo>
                  <a:lnTo>
                    <a:pt x="1450327" y="23622"/>
                  </a:lnTo>
                  <a:lnTo>
                    <a:pt x="2068258" y="448081"/>
                  </a:lnTo>
                  <a:lnTo>
                    <a:pt x="2014093" y="444119"/>
                  </a:lnTo>
                  <a:lnTo>
                    <a:pt x="2007362" y="449961"/>
                  </a:lnTo>
                  <a:lnTo>
                    <a:pt x="2006092" y="465709"/>
                  </a:lnTo>
                  <a:lnTo>
                    <a:pt x="2012061" y="472567"/>
                  </a:lnTo>
                  <a:lnTo>
                    <a:pt x="2143252" y="482346"/>
                  </a:lnTo>
                  <a:close/>
                </a:path>
                <a:path w="2571115" h="1209675">
                  <a:moveTo>
                    <a:pt x="2570988" y="1167511"/>
                  </a:moveTo>
                  <a:lnTo>
                    <a:pt x="2569387" y="1153287"/>
                  </a:lnTo>
                  <a:lnTo>
                    <a:pt x="2556383" y="1036701"/>
                  </a:lnTo>
                  <a:lnTo>
                    <a:pt x="2549271" y="1030986"/>
                  </a:lnTo>
                  <a:lnTo>
                    <a:pt x="2533650" y="1032764"/>
                  </a:lnTo>
                  <a:lnTo>
                    <a:pt x="2527935" y="1039876"/>
                  </a:lnTo>
                  <a:lnTo>
                    <a:pt x="2533840" y="1092581"/>
                  </a:lnTo>
                  <a:lnTo>
                    <a:pt x="2533866" y="1092835"/>
                  </a:lnTo>
                  <a:lnTo>
                    <a:pt x="2533980" y="1093825"/>
                  </a:lnTo>
                  <a:lnTo>
                    <a:pt x="2254758" y="718058"/>
                  </a:lnTo>
                  <a:lnTo>
                    <a:pt x="2231898" y="735076"/>
                  </a:lnTo>
                  <a:lnTo>
                    <a:pt x="2510942" y="1110767"/>
                  </a:lnTo>
                  <a:lnTo>
                    <a:pt x="2461133" y="1089533"/>
                  </a:lnTo>
                  <a:lnTo>
                    <a:pt x="2452751" y="1092835"/>
                  </a:lnTo>
                  <a:lnTo>
                    <a:pt x="2449703" y="1100201"/>
                  </a:lnTo>
                  <a:lnTo>
                    <a:pt x="2446528" y="1107440"/>
                  </a:lnTo>
                  <a:lnTo>
                    <a:pt x="2449957" y="1115822"/>
                  </a:lnTo>
                  <a:lnTo>
                    <a:pt x="2570988" y="1167511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387845" y="3025901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5" h="287020">
                  <a:moveTo>
                    <a:pt x="142494" y="0"/>
                  </a:moveTo>
                  <a:lnTo>
                    <a:pt x="97438" y="7303"/>
                  </a:lnTo>
                  <a:lnTo>
                    <a:pt x="58320" y="27639"/>
                  </a:lnTo>
                  <a:lnTo>
                    <a:pt x="27480" y="58649"/>
                  </a:lnTo>
                  <a:lnTo>
                    <a:pt x="7260" y="97974"/>
                  </a:lnTo>
                  <a:lnTo>
                    <a:pt x="0" y="143255"/>
                  </a:lnTo>
                  <a:lnTo>
                    <a:pt x="7260" y="188537"/>
                  </a:lnTo>
                  <a:lnTo>
                    <a:pt x="27480" y="227862"/>
                  </a:lnTo>
                  <a:lnTo>
                    <a:pt x="58320" y="258872"/>
                  </a:lnTo>
                  <a:lnTo>
                    <a:pt x="97438" y="279208"/>
                  </a:lnTo>
                  <a:lnTo>
                    <a:pt x="142494" y="286511"/>
                  </a:lnTo>
                  <a:lnTo>
                    <a:pt x="187549" y="279208"/>
                  </a:lnTo>
                  <a:lnTo>
                    <a:pt x="226667" y="258872"/>
                  </a:lnTo>
                  <a:lnTo>
                    <a:pt x="257507" y="227862"/>
                  </a:lnTo>
                  <a:lnTo>
                    <a:pt x="277727" y="188537"/>
                  </a:lnTo>
                  <a:lnTo>
                    <a:pt x="284988" y="143255"/>
                  </a:lnTo>
                  <a:lnTo>
                    <a:pt x="277727" y="97974"/>
                  </a:lnTo>
                  <a:lnTo>
                    <a:pt x="257507" y="58649"/>
                  </a:lnTo>
                  <a:lnTo>
                    <a:pt x="226667" y="27639"/>
                  </a:lnTo>
                  <a:lnTo>
                    <a:pt x="187549" y="7303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387845" y="3025901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5" h="287020">
                  <a:moveTo>
                    <a:pt x="0" y="143255"/>
                  </a:moveTo>
                  <a:lnTo>
                    <a:pt x="7260" y="97974"/>
                  </a:lnTo>
                  <a:lnTo>
                    <a:pt x="27480" y="58649"/>
                  </a:lnTo>
                  <a:lnTo>
                    <a:pt x="58320" y="27639"/>
                  </a:lnTo>
                  <a:lnTo>
                    <a:pt x="97438" y="7303"/>
                  </a:lnTo>
                  <a:lnTo>
                    <a:pt x="142494" y="0"/>
                  </a:lnTo>
                  <a:lnTo>
                    <a:pt x="187549" y="7303"/>
                  </a:lnTo>
                  <a:lnTo>
                    <a:pt x="226667" y="27639"/>
                  </a:lnTo>
                  <a:lnTo>
                    <a:pt x="257507" y="58649"/>
                  </a:lnTo>
                  <a:lnTo>
                    <a:pt x="277727" y="97974"/>
                  </a:lnTo>
                  <a:lnTo>
                    <a:pt x="284988" y="143255"/>
                  </a:lnTo>
                  <a:lnTo>
                    <a:pt x="277727" y="188537"/>
                  </a:lnTo>
                  <a:lnTo>
                    <a:pt x="257507" y="227862"/>
                  </a:lnTo>
                  <a:lnTo>
                    <a:pt x="226667" y="258872"/>
                  </a:lnTo>
                  <a:lnTo>
                    <a:pt x="187549" y="279208"/>
                  </a:lnTo>
                  <a:lnTo>
                    <a:pt x="142494" y="286511"/>
                  </a:lnTo>
                  <a:lnTo>
                    <a:pt x="97438" y="279208"/>
                  </a:lnTo>
                  <a:lnTo>
                    <a:pt x="58320" y="258872"/>
                  </a:lnTo>
                  <a:lnTo>
                    <a:pt x="27480" y="227862"/>
                  </a:lnTo>
                  <a:lnTo>
                    <a:pt x="7260" y="188537"/>
                  </a:lnTo>
                  <a:lnTo>
                    <a:pt x="0" y="143255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601461" y="3740657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601461" y="3740657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905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172705" y="3740657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20" h="285114">
                  <a:moveTo>
                    <a:pt x="143256" y="0"/>
                  </a:moveTo>
                  <a:lnTo>
                    <a:pt x="97974" y="7260"/>
                  </a:lnTo>
                  <a:lnTo>
                    <a:pt x="58649" y="27480"/>
                  </a:lnTo>
                  <a:lnTo>
                    <a:pt x="27639" y="58320"/>
                  </a:lnTo>
                  <a:lnTo>
                    <a:pt x="7303" y="97438"/>
                  </a:lnTo>
                  <a:lnTo>
                    <a:pt x="0" y="142494"/>
                  </a:lnTo>
                  <a:lnTo>
                    <a:pt x="7303" y="187549"/>
                  </a:lnTo>
                  <a:lnTo>
                    <a:pt x="27639" y="226667"/>
                  </a:lnTo>
                  <a:lnTo>
                    <a:pt x="58649" y="257507"/>
                  </a:lnTo>
                  <a:lnTo>
                    <a:pt x="97974" y="277727"/>
                  </a:lnTo>
                  <a:lnTo>
                    <a:pt x="143256" y="284988"/>
                  </a:lnTo>
                  <a:lnTo>
                    <a:pt x="188537" y="277727"/>
                  </a:lnTo>
                  <a:lnTo>
                    <a:pt x="227862" y="257507"/>
                  </a:lnTo>
                  <a:lnTo>
                    <a:pt x="258872" y="226667"/>
                  </a:lnTo>
                  <a:lnTo>
                    <a:pt x="279208" y="187549"/>
                  </a:lnTo>
                  <a:lnTo>
                    <a:pt x="286512" y="142494"/>
                  </a:lnTo>
                  <a:lnTo>
                    <a:pt x="279208" y="97438"/>
                  </a:lnTo>
                  <a:lnTo>
                    <a:pt x="258872" y="58320"/>
                  </a:lnTo>
                  <a:lnTo>
                    <a:pt x="227862" y="27480"/>
                  </a:lnTo>
                  <a:lnTo>
                    <a:pt x="188537" y="7260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172705" y="3740657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20" h="285114">
                  <a:moveTo>
                    <a:pt x="0" y="142494"/>
                  </a:moveTo>
                  <a:lnTo>
                    <a:pt x="7303" y="97438"/>
                  </a:lnTo>
                  <a:lnTo>
                    <a:pt x="27639" y="58320"/>
                  </a:lnTo>
                  <a:lnTo>
                    <a:pt x="58649" y="27480"/>
                  </a:lnTo>
                  <a:lnTo>
                    <a:pt x="97974" y="7260"/>
                  </a:lnTo>
                  <a:lnTo>
                    <a:pt x="143256" y="0"/>
                  </a:lnTo>
                  <a:lnTo>
                    <a:pt x="188537" y="7260"/>
                  </a:lnTo>
                  <a:lnTo>
                    <a:pt x="227862" y="27480"/>
                  </a:lnTo>
                  <a:lnTo>
                    <a:pt x="258872" y="58320"/>
                  </a:lnTo>
                  <a:lnTo>
                    <a:pt x="279208" y="97438"/>
                  </a:lnTo>
                  <a:lnTo>
                    <a:pt x="286512" y="142494"/>
                  </a:lnTo>
                  <a:lnTo>
                    <a:pt x="279208" y="187549"/>
                  </a:lnTo>
                  <a:lnTo>
                    <a:pt x="258872" y="226667"/>
                  </a:lnTo>
                  <a:lnTo>
                    <a:pt x="227862" y="257507"/>
                  </a:lnTo>
                  <a:lnTo>
                    <a:pt x="188537" y="277727"/>
                  </a:lnTo>
                  <a:lnTo>
                    <a:pt x="143256" y="284988"/>
                  </a:lnTo>
                  <a:lnTo>
                    <a:pt x="97974" y="277727"/>
                  </a:lnTo>
                  <a:lnTo>
                    <a:pt x="58649" y="257507"/>
                  </a:lnTo>
                  <a:lnTo>
                    <a:pt x="27639" y="226667"/>
                  </a:lnTo>
                  <a:lnTo>
                    <a:pt x="7303" y="187549"/>
                  </a:lnTo>
                  <a:lnTo>
                    <a:pt x="0" y="142494"/>
                  </a:lnTo>
                  <a:close/>
                </a:path>
              </a:pathLst>
            </a:custGeom>
            <a:ln w="19049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816089" y="4455413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816089" y="4455413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602473" y="4424933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5" h="287020">
                  <a:moveTo>
                    <a:pt x="142494" y="0"/>
                  </a:moveTo>
                  <a:lnTo>
                    <a:pt x="97438" y="7303"/>
                  </a:lnTo>
                  <a:lnTo>
                    <a:pt x="58320" y="27639"/>
                  </a:lnTo>
                  <a:lnTo>
                    <a:pt x="27480" y="58649"/>
                  </a:lnTo>
                  <a:lnTo>
                    <a:pt x="7260" y="97974"/>
                  </a:lnTo>
                  <a:lnTo>
                    <a:pt x="0" y="143256"/>
                  </a:lnTo>
                  <a:lnTo>
                    <a:pt x="7260" y="188537"/>
                  </a:lnTo>
                  <a:lnTo>
                    <a:pt x="27480" y="227862"/>
                  </a:lnTo>
                  <a:lnTo>
                    <a:pt x="58320" y="258872"/>
                  </a:lnTo>
                  <a:lnTo>
                    <a:pt x="97438" y="279208"/>
                  </a:lnTo>
                  <a:lnTo>
                    <a:pt x="142494" y="286512"/>
                  </a:lnTo>
                  <a:lnTo>
                    <a:pt x="187549" y="279208"/>
                  </a:lnTo>
                  <a:lnTo>
                    <a:pt x="226667" y="258872"/>
                  </a:lnTo>
                  <a:lnTo>
                    <a:pt x="257507" y="227862"/>
                  </a:lnTo>
                  <a:lnTo>
                    <a:pt x="277727" y="188537"/>
                  </a:lnTo>
                  <a:lnTo>
                    <a:pt x="284988" y="143256"/>
                  </a:lnTo>
                  <a:lnTo>
                    <a:pt x="277727" y="97974"/>
                  </a:lnTo>
                  <a:lnTo>
                    <a:pt x="257507" y="58649"/>
                  </a:lnTo>
                  <a:lnTo>
                    <a:pt x="226667" y="27639"/>
                  </a:lnTo>
                  <a:lnTo>
                    <a:pt x="187549" y="7303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602473" y="4424933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5" h="287020">
                  <a:moveTo>
                    <a:pt x="0" y="143256"/>
                  </a:moveTo>
                  <a:lnTo>
                    <a:pt x="7260" y="97974"/>
                  </a:lnTo>
                  <a:lnTo>
                    <a:pt x="27480" y="58649"/>
                  </a:lnTo>
                  <a:lnTo>
                    <a:pt x="58320" y="27639"/>
                  </a:lnTo>
                  <a:lnTo>
                    <a:pt x="97438" y="7303"/>
                  </a:lnTo>
                  <a:lnTo>
                    <a:pt x="142494" y="0"/>
                  </a:lnTo>
                  <a:lnTo>
                    <a:pt x="187549" y="7303"/>
                  </a:lnTo>
                  <a:lnTo>
                    <a:pt x="226667" y="27639"/>
                  </a:lnTo>
                  <a:lnTo>
                    <a:pt x="257507" y="58649"/>
                  </a:lnTo>
                  <a:lnTo>
                    <a:pt x="277727" y="97974"/>
                  </a:lnTo>
                  <a:lnTo>
                    <a:pt x="284988" y="143256"/>
                  </a:lnTo>
                  <a:lnTo>
                    <a:pt x="277727" y="188537"/>
                  </a:lnTo>
                  <a:lnTo>
                    <a:pt x="257507" y="227862"/>
                  </a:lnTo>
                  <a:lnTo>
                    <a:pt x="226667" y="258872"/>
                  </a:lnTo>
                  <a:lnTo>
                    <a:pt x="187549" y="279208"/>
                  </a:lnTo>
                  <a:lnTo>
                    <a:pt x="142494" y="286512"/>
                  </a:lnTo>
                  <a:lnTo>
                    <a:pt x="97438" y="279208"/>
                  </a:lnTo>
                  <a:lnTo>
                    <a:pt x="58320" y="258872"/>
                  </a:lnTo>
                  <a:lnTo>
                    <a:pt x="27480" y="227862"/>
                  </a:lnTo>
                  <a:lnTo>
                    <a:pt x="7260" y="188537"/>
                  </a:lnTo>
                  <a:lnTo>
                    <a:pt x="0" y="143256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601461" y="4455413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601461" y="4455413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172961" y="4467605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20" h="285114">
                  <a:moveTo>
                    <a:pt x="143256" y="0"/>
                  </a:moveTo>
                  <a:lnTo>
                    <a:pt x="97974" y="7260"/>
                  </a:lnTo>
                  <a:lnTo>
                    <a:pt x="58649" y="27480"/>
                  </a:lnTo>
                  <a:lnTo>
                    <a:pt x="27639" y="58320"/>
                  </a:lnTo>
                  <a:lnTo>
                    <a:pt x="7303" y="97438"/>
                  </a:lnTo>
                  <a:lnTo>
                    <a:pt x="0" y="142494"/>
                  </a:lnTo>
                  <a:lnTo>
                    <a:pt x="7303" y="187549"/>
                  </a:lnTo>
                  <a:lnTo>
                    <a:pt x="27639" y="226667"/>
                  </a:lnTo>
                  <a:lnTo>
                    <a:pt x="58649" y="257507"/>
                  </a:lnTo>
                  <a:lnTo>
                    <a:pt x="97974" y="277727"/>
                  </a:lnTo>
                  <a:lnTo>
                    <a:pt x="143256" y="284988"/>
                  </a:lnTo>
                  <a:lnTo>
                    <a:pt x="188537" y="277727"/>
                  </a:lnTo>
                  <a:lnTo>
                    <a:pt x="227862" y="257507"/>
                  </a:lnTo>
                  <a:lnTo>
                    <a:pt x="258872" y="226667"/>
                  </a:lnTo>
                  <a:lnTo>
                    <a:pt x="279208" y="187549"/>
                  </a:lnTo>
                  <a:lnTo>
                    <a:pt x="286512" y="142494"/>
                  </a:lnTo>
                  <a:lnTo>
                    <a:pt x="279208" y="97438"/>
                  </a:lnTo>
                  <a:lnTo>
                    <a:pt x="258872" y="58320"/>
                  </a:lnTo>
                  <a:lnTo>
                    <a:pt x="227862" y="27480"/>
                  </a:lnTo>
                  <a:lnTo>
                    <a:pt x="188537" y="7260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172961" y="4467605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20" h="285114">
                  <a:moveTo>
                    <a:pt x="0" y="142494"/>
                  </a:moveTo>
                  <a:lnTo>
                    <a:pt x="7303" y="97438"/>
                  </a:lnTo>
                  <a:lnTo>
                    <a:pt x="27639" y="58320"/>
                  </a:lnTo>
                  <a:lnTo>
                    <a:pt x="58649" y="27480"/>
                  </a:lnTo>
                  <a:lnTo>
                    <a:pt x="97974" y="7260"/>
                  </a:lnTo>
                  <a:lnTo>
                    <a:pt x="143256" y="0"/>
                  </a:lnTo>
                  <a:lnTo>
                    <a:pt x="188537" y="7260"/>
                  </a:lnTo>
                  <a:lnTo>
                    <a:pt x="227862" y="27480"/>
                  </a:lnTo>
                  <a:lnTo>
                    <a:pt x="258872" y="58320"/>
                  </a:lnTo>
                  <a:lnTo>
                    <a:pt x="279208" y="97438"/>
                  </a:lnTo>
                  <a:lnTo>
                    <a:pt x="286512" y="142494"/>
                  </a:lnTo>
                  <a:lnTo>
                    <a:pt x="279208" y="187549"/>
                  </a:lnTo>
                  <a:lnTo>
                    <a:pt x="258872" y="226667"/>
                  </a:lnTo>
                  <a:lnTo>
                    <a:pt x="227862" y="257507"/>
                  </a:lnTo>
                  <a:lnTo>
                    <a:pt x="188537" y="277727"/>
                  </a:lnTo>
                  <a:lnTo>
                    <a:pt x="143256" y="284988"/>
                  </a:lnTo>
                  <a:lnTo>
                    <a:pt x="97974" y="277727"/>
                  </a:lnTo>
                  <a:lnTo>
                    <a:pt x="58649" y="257507"/>
                  </a:lnTo>
                  <a:lnTo>
                    <a:pt x="27639" y="226667"/>
                  </a:lnTo>
                  <a:lnTo>
                    <a:pt x="7303" y="187549"/>
                  </a:lnTo>
                  <a:lnTo>
                    <a:pt x="0" y="142494"/>
                  </a:lnTo>
                  <a:close/>
                </a:path>
              </a:pathLst>
            </a:custGeom>
            <a:ln w="19049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029961" y="4455413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029961" y="4455413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2697733" y="4961890"/>
            <a:ext cx="1991995" cy="469265"/>
            <a:chOff x="2697733" y="4961890"/>
            <a:chExt cx="1991995" cy="469265"/>
          </a:xfrm>
        </p:grpSpPr>
        <p:sp>
          <p:nvSpPr>
            <p:cNvPr id="31" name="object 31"/>
            <p:cNvSpPr/>
            <p:nvPr/>
          </p:nvSpPr>
          <p:spPr>
            <a:xfrm>
              <a:off x="2704083" y="4968240"/>
              <a:ext cx="1979295" cy="456565"/>
            </a:xfrm>
            <a:custGeom>
              <a:avLst/>
              <a:gdLst/>
              <a:ahLst/>
              <a:cxnLst/>
              <a:rect l="l" t="t" r="r" b="b"/>
              <a:pathLst>
                <a:path w="1979295" h="456564">
                  <a:moveTo>
                    <a:pt x="1918207" y="0"/>
                  </a:moveTo>
                  <a:lnTo>
                    <a:pt x="671575" y="0"/>
                  </a:lnTo>
                  <a:lnTo>
                    <a:pt x="647852" y="4792"/>
                  </a:lnTo>
                  <a:lnTo>
                    <a:pt x="628475" y="17859"/>
                  </a:lnTo>
                  <a:lnTo>
                    <a:pt x="615408" y="37236"/>
                  </a:lnTo>
                  <a:lnTo>
                    <a:pt x="610615" y="60960"/>
                  </a:lnTo>
                  <a:lnTo>
                    <a:pt x="610615" y="213360"/>
                  </a:lnTo>
                  <a:lnTo>
                    <a:pt x="0" y="456057"/>
                  </a:lnTo>
                  <a:lnTo>
                    <a:pt x="610615" y="304800"/>
                  </a:lnTo>
                  <a:lnTo>
                    <a:pt x="1979167" y="304800"/>
                  </a:lnTo>
                  <a:lnTo>
                    <a:pt x="1979167" y="60960"/>
                  </a:lnTo>
                  <a:lnTo>
                    <a:pt x="1974375" y="37236"/>
                  </a:lnTo>
                  <a:lnTo>
                    <a:pt x="1961308" y="17859"/>
                  </a:lnTo>
                  <a:lnTo>
                    <a:pt x="1941931" y="4792"/>
                  </a:lnTo>
                  <a:lnTo>
                    <a:pt x="1918207" y="0"/>
                  </a:lnTo>
                  <a:close/>
                </a:path>
                <a:path w="1979295" h="456564">
                  <a:moveTo>
                    <a:pt x="1979167" y="304800"/>
                  </a:moveTo>
                  <a:lnTo>
                    <a:pt x="610615" y="304800"/>
                  </a:lnTo>
                  <a:lnTo>
                    <a:pt x="615408" y="328523"/>
                  </a:lnTo>
                  <a:lnTo>
                    <a:pt x="628475" y="347900"/>
                  </a:lnTo>
                  <a:lnTo>
                    <a:pt x="647852" y="360967"/>
                  </a:lnTo>
                  <a:lnTo>
                    <a:pt x="671575" y="365760"/>
                  </a:lnTo>
                  <a:lnTo>
                    <a:pt x="1918207" y="365760"/>
                  </a:lnTo>
                  <a:lnTo>
                    <a:pt x="1941931" y="360967"/>
                  </a:lnTo>
                  <a:lnTo>
                    <a:pt x="1961308" y="347900"/>
                  </a:lnTo>
                  <a:lnTo>
                    <a:pt x="1974375" y="328523"/>
                  </a:lnTo>
                  <a:lnTo>
                    <a:pt x="1979167" y="304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704083" y="4968240"/>
              <a:ext cx="1979295" cy="456565"/>
            </a:xfrm>
            <a:custGeom>
              <a:avLst/>
              <a:gdLst/>
              <a:ahLst/>
              <a:cxnLst/>
              <a:rect l="l" t="t" r="r" b="b"/>
              <a:pathLst>
                <a:path w="1979295" h="456564">
                  <a:moveTo>
                    <a:pt x="610615" y="60960"/>
                  </a:moveTo>
                  <a:lnTo>
                    <a:pt x="615408" y="37236"/>
                  </a:lnTo>
                  <a:lnTo>
                    <a:pt x="628475" y="17859"/>
                  </a:lnTo>
                  <a:lnTo>
                    <a:pt x="647852" y="4792"/>
                  </a:lnTo>
                  <a:lnTo>
                    <a:pt x="671575" y="0"/>
                  </a:lnTo>
                  <a:lnTo>
                    <a:pt x="838707" y="0"/>
                  </a:lnTo>
                  <a:lnTo>
                    <a:pt x="1180845" y="0"/>
                  </a:lnTo>
                  <a:lnTo>
                    <a:pt x="1918207" y="0"/>
                  </a:lnTo>
                  <a:lnTo>
                    <a:pt x="1941931" y="4792"/>
                  </a:lnTo>
                  <a:lnTo>
                    <a:pt x="1961308" y="17859"/>
                  </a:lnTo>
                  <a:lnTo>
                    <a:pt x="1974375" y="37236"/>
                  </a:lnTo>
                  <a:lnTo>
                    <a:pt x="1979167" y="60960"/>
                  </a:lnTo>
                  <a:lnTo>
                    <a:pt x="1979167" y="213360"/>
                  </a:lnTo>
                  <a:lnTo>
                    <a:pt x="1979167" y="304800"/>
                  </a:lnTo>
                  <a:lnTo>
                    <a:pt x="1974375" y="328523"/>
                  </a:lnTo>
                  <a:lnTo>
                    <a:pt x="1961308" y="347900"/>
                  </a:lnTo>
                  <a:lnTo>
                    <a:pt x="1941931" y="360967"/>
                  </a:lnTo>
                  <a:lnTo>
                    <a:pt x="1918207" y="365760"/>
                  </a:lnTo>
                  <a:lnTo>
                    <a:pt x="1180845" y="365760"/>
                  </a:lnTo>
                  <a:lnTo>
                    <a:pt x="838707" y="365760"/>
                  </a:lnTo>
                  <a:lnTo>
                    <a:pt x="671575" y="365760"/>
                  </a:lnTo>
                  <a:lnTo>
                    <a:pt x="647852" y="360967"/>
                  </a:lnTo>
                  <a:lnTo>
                    <a:pt x="628475" y="347900"/>
                  </a:lnTo>
                  <a:lnTo>
                    <a:pt x="615408" y="328523"/>
                  </a:lnTo>
                  <a:lnTo>
                    <a:pt x="610615" y="304800"/>
                  </a:lnTo>
                  <a:lnTo>
                    <a:pt x="0" y="456057"/>
                  </a:lnTo>
                  <a:lnTo>
                    <a:pt x="610615" y="213360"/>
                  </a:lnTo>
                  <a:lnTo>
                    <a:pt x="610615" y="60960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3448558" y="4987544"/>
            <a:ext cx="10991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>
                <a:latin typeface="Arial"/>
                <a:cs typeface="Arial"/>
              </a:rPr>
              <a:t>mindestens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35"/>
              <a:t>Temporale</a:t>
            </a:r>
            <a:r>
              <a:rPr dirty="0" spc="-175"/>
              <a:t> </a:t>
            </a:r>
            <a:r>
              <a:rPr dirty="0" spc="-165"/>
              <a:t>Operatoren</a:t>
            </a:r>
            <a:r>
              <a:rPr dirty="0" spc="-175"/>
              <a:t> </a:t>
            </a:r>
            <a:r>
              <a:rPr dirty="0" spc="-65"/>
              <a:t>in</a:t>
            </a:r>
            <a:r>
              <a:rPr dirty="0" spc="-175"/>
              <a:t> </a:t>
            </a:r>
            <a:r>
              <a:rPr dirty="0" spc="-645"/>
              <a:t>CTL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84300" y="2216276"/>
            <a:ext cx="7020559" cy="3782060"/>
            <a:chOff x="884300" y="2216276"/>
            <a:chExt cx="7020559" cy="37820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4300" y="2216276"/>
              <a:ext cx="7020306" cy="37814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65852" y="2607309"/>
              <a:ext cx="50165" cy="213360"/>
            </a:xfrm>
            <a:custGeom>
              <a:avLst/>
              <a:gdLst/>
              <a:ahLst/>
              <a:cxnLst/>
              <a:rect l="l" t="t" r="r" b="b"/>
              <a:pathLst>
                <a:path w="50164" h="213360">
                  <a:moveTo>
                    <a:pt x="49784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31242" y="8890"/>
                  </a:lnTo>
                  <a:lnTo>
                    <a:pt x="31242" y="204470"/>
                  </a:lnTo>
                  <a:lnTo>
                    <a:pt x="0" y="204470"/>
                  </a:lnTo>
                  <a:lnTo>
                    <a:pt x="0" y="213360"/>
                  </a:lnTo>
                  <a:lnTo>
                    <a:pt x="49784" y="213360"/>
                  </a:lnTo>
                  <a:lnTo>
                    <a:pt x="49784" y="204470"/>
                  </a:lnTo>
                  <a:lnTo>
                    <a:pt x="49784" y="8890"/>
                  </a:lnTo>
                  <a:lnTo>
                    <a:pt x="4978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667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1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dirty="0" spc="-110"/>
              <a:t>Die</a:t>
            </a:r>
            <a:r>
              <a:rPr dirty="0" spc="-50"/>
              <a:t> </a:t>
            </a:r>
            <a:r>
              <a:rPr dirty="0" spc="-135"/>
              <a:t>Syntax</a:t>
            </a:r>
            <a:r>
              <a:rPr dirty="0" spc="-70"/>
              <a:t> </a:t>
            </a:r>
            <a:r>
              <a:rPr dirty="0" spc="-50"/>
              <a:t>der</a:t>
            </a:r>
            <a:r>
              <a:rPr dirty="0" spc="-60"/>
              <a:t> </a:t>
            </a:r>
            <a:r>
              <a:rPr dirty="0" spc="-114"/>
              <a:t>Aussagenlogik</a:t>
            </a:r>
            <a:r>
              <a:rPr dirty="0" spc="-75"/>
              <a:t> </a:t>
            </a:r>
            <a:r>
              <a:rPr dirty="0" spc="-20"/>
              <a:t>wird</a:t>
            </a:r>
            <a:r>
              <a:rPr dirty="0" spc="-50"/>
              <a:t> </a:t>
            </a:r>
            <a:r>
              <a:rPr dirty="0"/>
              <a:t>mit</a:t>
            </a:r>
            <a:r>
              <a:rPr dirty="0" spc="-55"/>
              <a:t> </a:t>
            </a:r>
            <a:r>
              <a:rPr dirty="0" spc="-60"/>
              <a:t>temporalen</a:t>
            </a:r>
            <a:r>
              <a:rPr dirty="0" spc="-45"/>
              <a:t> </a:t>
            </a:r>
            <a:r>
              <a:rPr dirty="0" spc="-75"/>
              <a:t>Operatoren</a:t>
            </a:r>
            <a:r>
              <a:rPr dirty="0" spc="-60"/>
              <a:t> </a:t>
            </a:r>
            <a:r>
              <a:rPr dirty="0" spc="-10"/>
              <a:t>erweitert.</a:t>
            </a:r>
          </a:p>
          <a:p>
            <a:pPr lvl="1" marL="697865" indent="-227965">
              <a:lnSpc>
                <a:spcPct val="100000"/>
              </a:lnSpc>
              <a:spcBef>
                <a:spcPts val="30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697865" algn="l"/>
                <a:tab pos="3670300" algn="l"/>
              </a:tabLst>
            </a:pPr>
            <a:r>
              <a:rPr dirty="0" sz="1800" spc="-60">
                <a:solidFill>
                  <a:srgbClr val="A4A4A4"/>
                </a:solidFill>
                <a:latin typeface="Arial"/>
                <a:cs typeface="Arial"/>
              </a:rPr>
              <a:t>Im</a:t>
            </a:r>
            <a:r>
              <a:rPr dirty="0" sz="1800" spc="-7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95">
                <a:solidFill>
                  <a:srgbClr val="A4A4A4"/>
                </a:solidFill>
                <a:latin typeface="Arial"/>
                <a:cs typeface="Arial"/>
              </a:rPr>
              <a:t>nächsten</a:t>
            </a:r>
            <a:r>
              <a:rPr dirty="0" sz="1800" spc="-6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A4A4A4"/>
                </a:solidFill>
                <a:latin typeface="Arial"/>
                <a:cs typeface="Arial"/>
              </a:rPr>
              <a:t>(neXt)</a:t>
            </a:r>
            <a:r>
              <a:rPr dirty="0" sz="1800" spc="-5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A4A4A4"/>
                </a:solidFill>
                <a:latin typeface="Arial"/>
                <a:cs typeface="Arial"/>
              </a:rPr>
              <a:t>Zustand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	</a:t>
            </a:r>
            <a:r>
              <a:rPr dirty="0" sz="1800" spc="-305">
                <a:solidFill>
                  <a:srgbClr val="A4A4A4"/>
                </a:solidFill>
                <a:latin typeface="Arial"/>
                <a:cs typeface="Arial"/>
              </a:rPr>
              <a:t>EX</a:t>
            </a:r>
            <a:r>
              <a:rPr dirty="0" sz="1800" spc="-6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,</a:t>
            </a:r>
            <a:r>
              <a:rPr dirty="0" sz="1800" spc="-6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225">
                <a:solidFill>
                  <a:srgbClr val="A4A4A4"/>
                </a:solidFill>
                <a:latin typeface="Arial"/>
                <a:cs typeface="Arial"/>
              </a:rPr>
              <a:t>AX</a:t>
            </a:r>
            <a:r>
              <a:rPr dirty="0" sz="1800" spc="-7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endParaRPr sz="1800">
              <a:latin typeface="STIX Two Math"/>
              <a:cs typeface="STIX Two Math"/>
            </a:endParaRPr>
          </a:p>
          <a:p>
            <a:pPr lvl="1" marL="697865" indent="-227965">
              <a:lnSpc>
                <a:spcPct val="100000"/>
              </a:lnSpc>
              <a:spcBef>
                <a:spcPts val="27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697865" algn="l"/>
                <a:tab pos="2755900" algn="l"/>
              </a:tabLst>
            </a:pPr>
            <a:r>
              <a:rPr dirty="0" sz="1800" spc="-80">
                <a:latin typeface="Arial"/>
                <a:cs typeface="Arial"/>
              </a:rPr>
              <a:t>Irgendwann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(Future)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305">
                <a:latin typeface="Arial"/>
                <a:cs typeface="Arial"/>
              </a:rPr>
              <a:t>EF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>
                <a:latin typeface="STIX Two Math"/>
                <a:cs typeface="STIX Two Math"/>
              </a:rPr>
              <a:t>𝑃</a:t>
            </a:r>
            <a:r>
              <a:rPr dirty="0" sz="1800">
                <a:latin typeface="Arial"/>
                <a:cs typeface="Arial"/>
              </a:rPr>
              <a:t>,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229">
                <a:latin typeface="Arial"/>
                <a:cs typeface="Arial"/>
              </a:rPr>
              <a:t>AF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30">
                <a:latin typeface="STIX Two Math"/>
                <a:cs typeface="STIX Two Math"/>
              </a:rPr>
              <a:t>𝑃</a:t>
            </a:r>
            <a:endParaRPr sz="1800">
              <a:latin typeface="STIX Two Math"/>
              <a:cs typeface="STIX Two Math"/>
            </a:endParaRPr>
          </a:p>
          <a:p>
            <a:pPr lvl="1" marL="697865" indent="-227965">
              <a:lnSpc>
                <a:spcPct val="100000"/>
              </a:lnSpc>
              <a:spcBef>
                <a:spcPts val="28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697865" algn="l"/>
                <a:tab pos="2755900" algn="l"/>
              </a:tabLst>
            </a:pPr>
            <a:r>
              <a:rPr dirty="0" sz="1800" spc="-55">
                <a:solidFill>
                  <a:srgbClr val="A4A4A4"/>
                </a:solidFill>
                <a:latin typeface="Arial"/>
                <a:cs typeface="Arial"/>
              </a:rPr>
              <a:t>Immer</a:t>
            </a:r>
            <a:r>
              <a:rPr dirty="0" sz="1800" spc="-7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A4A4A4"/>
                </a:solidFill>
                <a:latin typeface="Arial"/>
                <a:cs typeface="Arial"/>
              </a:rPr>
              <a:t>(Global)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	</a:t>
            </a:r>
            <a:r>
              <a:rPr dirty="0" sz="1800" spc="-300">
                <a:solidFill>
                  <a:srgbClr val="A4A4A4"/>
                </a:solidFill>
                <a:latin typeface="Arial"/>
                <a:cs typeface="Arial"/>
              </a:rPr>
              <a:t>EG</a:t>
            </a:r>
            <a:r>
              <a:rPr dirty="0" sz="1800" spc="-6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,</a:t>
            </a:r>
            <a:r>
              <a:rPr dirty="0" sz="1800" spc="-6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225">
                <a:solidFill>
                  <a:srgbClr val="A4A4A4"/>
                </a:solidFill>
                <a:latin typeface="Arial"/>
                <a:cs typeface="Arial"/>
              </a:rPr>
              <a:t>AG</a:t>
            </a:r>
            <a:r>
              <a:rPr dirty="0" sz="1800" spc="-7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endParaRPr sz="1800">
              <a:latin typeface="STIX Two Math"/>
              <a:cs typeface="STIX Two Math"/>
            </a:endParaRPr>
          </a:p>
          <a:p>
            <a:pPr lvl="1" marL="697865" indent="-227965">
              <a:lnSpc>
                <a:spcPct val="100000"/>
              </a:lnSpc>
              <a:spcBef>
                <a:spcPts val="29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697865" algn="l"/>
              </a:tabLst>
            </a:pPr>
            <a:r>
              <a:rPr dirty="0" sz="1800" spc="-135">
                <a:solidFill>
                  <a:srgbClr val="A4A4A4"/>
                </a:solidFill>
                <a:latin typeface="Arial"/>
                <a:cs typeface="Arial"/>
              </a:rPr>
              <a:t>Von</a:t>
            </a:r>
            <a:r>
              <a:rPr dirty="0" sz="1800" spc="-8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A4A4A4"/>
                </a:solidFill>
                <a:latin typeface="Arial"/>
                <a:cs typeface="Arial"/>
              </a:rPr>
              <a:t>nun</a:t>
            </a:r>
            <a:r>
              <a:rPr dirty="0" sz="1800" spc="-8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110">
                <a:solidFill>
                  <a:srgbClr val="A4A4A4"/>
                </a:solidFill>
                <a:latin typeface="Arial"/>
                <a:cs typeface="Arial"/>
              </a:rPr>
              <a:t>an</a:t>
            </a:r>
            <a:r>
              <a:rPr dirty="0" sz="1800" spc="-95">
                <a:solidFill>
                  <a:srgbClr val="A4A4A4"/>
                </a:solidFill>
                <a:latin typeface="Arial"/>
                <a:cs typeface="Arial"/>
              </a:rPr>
              <a:t> bis </a:t>
            </a:r>
            <a:r>
              <a:rPr dirty="0" sz="1800" spc="-40">
                <a:solidFill>
                  <a:srgbClr val="A4A4A4"/>
                </a:solidFill>
                <a:latin typeface="Arial"/>
                <a:cs typeface="Arial"/>
              </a:rPr>
              <a:t>(Until)</a:t>
            </a:r>
            <a:r>
              <a:rPr dirty="0" sz="1800" spc="-11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325">
                <a:solidFill>
                  <a:srgbClr val="A4A4A4"/>
                </a:solidFill>
                <a:latin typeface="Arial"/>
                <a:cs typeface="Arial"/>
              </a:rPr>
              <a:t>E</a:t>
            </a:r>
            <a:r>
              <a:rPr dirty="0" sz="1800" spc="13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r>
              <a:rPr dirty="0" sz="1800" spc="-80">
                <a:solidFill>
                  <a:srgbClr val="A4A4A4"/>
                </a:solidFill>
                <a:latin typeface="STIX Two Math"/>
                <a:cs typeface="STIX Two Math"/>
              </a:rPr>
              <a:t> </a:t>
            </a:r>
            <a:r>
              <a:rPr dirty="0" sz="1800" spc="-165">
                <a:solidFill>
                  <a:srgbClr val="A4A4A4"/>
                </a:solidFill>
                <a:latin typeface="Arial"/>
                <a:cs typeface="Arial"/>
              </a:rPr>
              <a:t>U</a:t>
            </a:r>
            <a:r>
              <a:rPr dirty="0" sz="1800" spc="-9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4A4A4"/>
                </a:solidFill>
                <a:latin typeface="STIX Two Math"/>
                <a:cs typeface="STIX Two Math"/>
              </a:rPr>
              <a:t>𝑄</a:t>
            </a:r>
            <a:r>
              <a:rPr dirty="0" sz="1800" spc="245">
                <a:solidFill>
                  <a:srgbClr val="A4A4A4"/>
                </a:solidFill>
                <a:latin typeface="STIX Two Math"/>
                <a:cs typeface="STIX Two Math"/>
              </a:rPr>
              <a:t> </a:t>
            </a:r>
            <a:r>
              <a:rPr dirty="0" sz="1800" spc="-55">
                <a:solidFill>
                  <a:srgbClr val="A4A4A4"/>
                </a:solidFill>
                <a:latin typeface="Arial"/>
                <a:cs typeface="Arial"/>
              </a:rPr>
              <a:t>,</a:t>
            </a:r>
            <a:r>
              <a:rPr dirty="0" sz="1800" spc="-9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A</a:t>
            </a:r>
            <a:r>
              <a:rPr dirty="0" sz="1800" spc="12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r>
              <a:rPr dirty="0" sz="1800" spc="-25">
                <a:solidFill>
                  <a:srgbClr val="A4A4A4"/>
                </a:solidFill>
                <a:latin typeface="STIX Two Math"/>
                <a:cs typeface="STIX Two Math"/>
              </a:rPr>
              <a:t> </a:t>
            </a:r>
            <a:r>
              <a:rPr dirty="0" sz="1800" spc="-165">
                <a:solidFill>
                  <a:srgbClr val="A4A4A4"/>
                </a:solidFill>
                <a:latin typeface="Arial"/>
                <a:cs typeface="Arial"/>
              </a:rPr>
              <a:t>U</a:t>
            </a:r>
            <a:r>
              <a:rPr dirty="0" sz="1800" spc="-9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A4A4A4"/>
                </a:solidFill>
                <a:latin typeface="STIX Two Math"/>
                <a:cs typeface="STIX Two Math"/>
              </a:rPr>
              <a:t>𝑄</a:t>
            </a:r>
            <a:endParaRPr sz="1800">
              <a:latin typeface="STIX Two Math"/>
              <a:cs typeface="STIX Two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9072" y="5155438"/>
            <a:ext cx="3888104" cy="1067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spc="-160">
                <a:latin typeface="STIX Two Math"/>
                <a:cs typeface="STIX Two Math"/>
              </a:rPr>
              <a:t>EF</a:t>
            </a:r>
            <a:r>
              <a:rPr dirty="0" sz="2800" spc="-40">
                <a:latin typeface="STIX Two Math"/>
                <a:cs typeface="STIX Two Math"/>
              </a:rPr>
              <a:t> </a:t>
            </a:r>
            <a:r>
              <a:rPr dirty="0" sz="2800" spc="90">
                <a:solidFill>
                  <a:srgbClr val="538235"/>
                </a:solidFill>
                <a:latin typeface="STIX Two Math"/>
                <a:cs typeface="STIX Two Math"/>
              </a:rPr>
              <a:t>𝑃</a:t>
            </a:r>
            <a:endParaRPr sz="2800">
              <a:latin typeface="STIX Two Math"/>
              <a:cs typeface="STIX Two Math"/>
            </a:endParaRPr>
          </a:p>
          <a:p>
            <a:pPr algn="ctr" marL="12700" marR="5080" indent="1270">
              <a:lnSpc>
                <a:spcPts val="2390"/>
              </a:lnSpc>
              <a:spcBef>
                <a:spcPts val="145"/>
              </a:spcBef>
            </a:pPr>
            <a:r>
              <a:rPr dirty="0" sz="2000" spc="-295">
                <a:latin typeface="Arial"/>
                <a:cs typeface="Arial"/>
              </a:rPr>
              <a:t>Es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110" b="1">
                <a:latin typeface="Arial"/>
                <a:cs typeface="Arial"/>
              </a:rPr>
              <a:t>existiert</a:t>
            </a:r>
            <a:r>
              <a:rPr dirty="0" sz="2000" spc="-100" b="1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ein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135">
                <a:latin typeface="Arial"/>
                <a:cs typeface="Arial"/>
              </a:rPr>
              <a:t>Pfad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auf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95">
                <a:latin typeface="Arial"/>
                <a:cs typeface="Arial"/>
              </a:rPr>
              <a:t>dem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100">
                <a:solidFill>
                  <a:srgbClr val="538235"/>
                </a:solidFill>
                <a:latin typeface="STIX Two Math"/>
                <a:cs typeface="STIX Two Math"/>
              </a:rPr>
              <a:t>𝑃</a:t>
            </a:r>
            <a:r>
              <a:rPr dirty="0" sz="2000" spc="50">
                <a:solidFill>
                  <a:srgbClr val="538235"/>
                </a:solidFill>
                <a:latin typeface="STIX Two Math"/>
                <a:cs typeface="STIX Two Math"/>
              </a:rPr>
              <a:t> </a:t>
            </a:r>
            <a:r>
              <a:rPr dirty="0" sz="2000" spc="-25">
                <a:latin typeface="Arial"/>
                <a:cs typeface="Arial"/>
              </a:rPr>
              <a:t>in </a:t>
            </a:r>
            <a:r>
              <a:rPr dirty="0" sz="2000" spc="-80">
                <a:latin typeface="Arial"/>
                <a:cs typeface="Arial"/>
              </a:rPr>
              <a:t>irgendeinem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140" b="1">
                <a:latin typeface="Arial"/>
                <a:cs typeface="Arial"/>
              </a:rPr>
              <a:t>zukünftigen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spc="-120">
                <a:latin typeface="Arial"/>
                <a:cs typeface="Arial"/>
              </a:rPr>
              <a:t>Zustand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gilt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3244" y="5150358"/>
            <a:ext cx="3508375" cy="1067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635">
              <a:lnSpc>
                <a:spcPct val="100000"/>
              </a:lnSpc>
              <a:spcBef>
                <a:spcPts val="95"/>
              </a:spcBef>
            </a:pPr>
            <a:r>
              <a:rPr dirty="0" sz="2800" spc="-229">
                <a:latin typeface="STIX Two Math"/>
                <a:cs typeface="STIX Two Math"/>
              </a:rPr>
              <a:t>AF</a:t>
            </a:r>
            <a:r>
              <a:rPr dirty="0" sz="2800" spc="-40">
                <a:latin typeface="STIX Two Math"/>
                <a:cs typeface="STIX Two Math"/>
              </a:rPr>
              <a:t> </a:t>
            </a:r>
            <a:r>
              <a:rPr dirty="0" sz="2800" spc="90">
                <a:solidFill>
                  <a:srgbClr val="538235"/>
                </a:solidFill>
                <a:latin typeface="STIX Two Math"/>
                <a:cs typeface="STIX Two Math"/>
              </a:rPr>
              <a:t>𝑃</a:t>
            </a:r>
            <a:endParaRPr sz="2800">
              <a:latin typeface="STIX Two Math"/>
              <a:cs typeface="STIX Two Math"/>
            </a:endParaRPr>
          </a:p>
          <a:p>
            <a:pPr algn="ctr" marL="12700" marR="5080" indent="-635">
              <a:lnSpc>
                <a:spcPct val="100000"/>
              </a:lnSpc>
              <a:spcBef>
                <a:spcPts val="55"/>
              </a:spcBef>
            </a:pPr>
            <a:r>
              <a:rPr dirty="0" sz="2000" spc="-105">
                <a:latin typeface="Arial"/>
                <a:cs typeface="Arial"/>
              </a:rPr>
              <a:t>Entlang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90" b="1">
                <a:latin typeface="Arial"/>
                <a:cs typeface="Arial"/>
              </a:rPr>
              <a:t>aller</a:t>
            </a:r>
            <a:r>
              <a:rPr dirty="0" sz="2000" spc="-100" b="1">
                <a:latin typeface="Arial"/>
                <a:cs typeface="Arial"/>
              </a:rPr>
              <a:t> </a:t>
            </a:r>
            <a:r>
              <a:rPr dirty="0" sz="2000" spc="-125">
                <a:latin typeface="Arial"/>
                <a:cs typeface="Arial"/>
              </a:rPr>
              <a:t>Pfade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gilt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100">
                <a:solidFill>
                  <a:srgbClr val="538235"/>
                </a:solidFill>
                <a:latin typeface="STIX Two Math"/>
                <a:cs typeface="STIX Two Math"/>
              </a:rPr>
              <a:t>𝑃</a:t>
            </a:r>
            <a:r>
              <a:rPr dirty="0" sz="2000" spc="20">
                <a:solidFill>
                  <a:srgbClr val="538235"/>
                </a:solidFill>
                <a:latin typeface="STIX Two Math"/>
                <a:cs typeface="STIX Two Math"/>
              </a:rPr>
              <a:t> </a:t>
            </a:r>
            <a:r>
              <a:rPr dirty="0" sz="2000" spc="-25">
                <a:latin typeface="Arial"/>
                <a:cs typeface="Arial"/>
              </a:rPr>
              <a:t>in </a:t>
            </a:r>
            <a:r>
              <a:rPr dirty="0" sz="2000" spc="-80">
                <a:latin typeface="Arial"/>
                <a:cs typeface="Arial"/>
              </a:rPr>
              <a:t>irgendeinem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40" b="1">
                <a:latin typeface="Arial"/>
                <a:cs typeface="Arial"/>
              </a:rPr>
              <a:t>zukünftigen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Zustand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7734" y="3564127"/>
            <a:ext cx="1221105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-1270">
              <a:lnSpc>
                <a:spcPct val="100000"/>
              </a:lnSpc>
              <a:spcBef>
                <a:spcPts val="105"/>
              </a:spcBef>
            </a:pPr>
            <a:r>
              <a:rPr dirty="0" sz="1400" spc="-80">
                <a:latin typeface="Arial"/>
                <a:cs typeface="Arial"/>
              </a:rPr>
              <a:t>kann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85">
                <a:latin typeface="Arial"/>
                <a:cs typeface="Arial"/>
              </a:rPr>
              <a:t>auch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der </a:t>
            </a:r>
            <a:r>
              <a:rPr dirty="0" sz="1400" spc="-40">
                <a:latin typeface="Arial"/>
                <a:cs typeface="Arial"/>
              </a:rPr>
              <a:t>aktuelle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75">
                <a:latin typeface="Arial"/>
                <a:cs typeface="Arial"/>
              </a:rPr>
              <a:t>Zustand </a:t>
            </a:r>
            <a:r>
              <a:rPr dirty="0" sz="1400" spc="-20">
                <a:latin typeface="Arial"/>
                <a:cs typeface="Arial"/>
              </a:rPr>
              <a:t>sein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35"/>
              <a:t>Temporale</a:t>
            </a:r>
            <a:r>
              <a:rPr dirty="0" spc="-175"/>
              <a:t> </a:t>
            </a:r>
            <a:r>
              <a:rPr dirty="0" spc="-165"/>
              <a:t>Operatoren</a:t>
            </a:r>
            <a:r>
              <a:rPr dirty="0" spc="-175"/>
              <a:t> </a:t>
            </a:r>
            <a:r>
              <a:rPr dirty="0" spc="-65"/>
              <a:t>in</a:t>
            </a:r>
            <a:r>
              <a:rPr dirty="0" spc="-175"/>
              <a:t> </a:t>
            </a:r>
            <a:r>
              <a:rPr dirty="0" spc="-645"/>
              <a:t>CTL</a:t>
            </a:r>
          </a:p>
        </p:txBody>
      </p:sp>
      <p:sp>
        <p:nvSpPr>
          <p:cNvPr id="3" name="object 3"/>
          <p:cNvSpPr/>
          <p:nvPr/>
        </p:nvSpPr>
        <p:spPr>
          <a:xfrm>
            <a:off x="4211828" y="2607309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4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31242" y="8890"/>
                </a:lnTo>
                <a:lnTo>
                  <a:pt x="31242" y="20447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99942" y="2607309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4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18542" y="204470"/>
                </a:lnTo>
                <a:lnTo>
                  <a:pt x="18542" y="889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65852" y="2607309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4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31242" y="8890"/>
                </a:lnTo>
                <a:lnTo>
                  <a:pt x="31242" y="20447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55490" y="2607309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4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18542" y="204470"/>
                </a:lnTo>
                <a:lnTo>
                  <a:pt x="18542" y="889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667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1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dirty="0" spc="-110"/>
              <a:t>Die</a:t>
            </a:r>
            <a:r>
              <a:rPr dirty="0" spc="-50"/>
              <a:t> </a:t>
            </a:r>
            <a:r>
              <a:rPr dirty="0" spc="-135"/>
              <a:t>Syntax</a:t>
            </a:r>
            <a:r>
              <a:rPr dirty="0" spc="-70"/>
              <a:t> </a:t>
            </a:r>
            <a:r>
              <a:rPr dirty="0" spc="-50"/>
              <a:t>der</a:t>
            </a:r>
            <a:r>
              <a:rPr dirty="0" spc="-60"/>
              <a:t> </a:t>
            </a:r>
            <a:r>
              <a:rPr dirty="0" spc="-114"/>
              <a:t>Aussagenlogik</a:t>
            </a:r>
            <a:r>
              <a:rPr dirty="0" spc="-75"/>
              <a:t> </a:t>
            </a:r>
            <a:r>
              <a:rPr dirty="0" spc="-20"/>
              <a:t>wird</a:t>
            </a:r>
            <a:r>
              <a:rPr dirty="0" spc="-50"/>
              <a:t> </a:t>
            </a:r>
            <a:r>
              <a:rPr dirty="0"/>
              <a:t>mit</a:t>
            </a:r>
            <a:r>
              <a:rPr dirty="0" spc="-55"/>
              <a:t> </a:t>
            </a:r>
            <a:r>
              <a:rPr dirty="0" spc="-60"/>
              <a:t>temporalen</a:t>
            </a:r>
            <a:r>
              <a:rPr dirty="0" spc="-45"/>
              <a:t> </a:t>
            </a:r>
            <a:r>
              <a:rPr dirty="0" spc="-75"/>
              <a:t>Operatoren</a:t>
            </a:r>
            <a:r>
              <a:rPr dirty="0" spc="-60"/>
              <a:t> </a:t>
            </a:r>
            <a:r>
              <a:rPr dirty="0" spc="-10"/>
              <a:t>erweitert.</a:t>
            </a:r>
          </a:p>
          <a:p>
            <a:pPr lvl="1" marL="697865" indent="-227965">
              <a:lnSpc>
                <a:spcPct val="100000"/>
              </a:lnSpc>
              <a:spcBef>
                <a:spcPts val="30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697865" algn="l"/>
                <a:tab pos="3670300" algn="l"/>
              </a:tabLst>
            </a:pPr>
            <a:r>
              <a:rPr dirty="0" sz="1800" spc="-60">
                <a:solidFill>
                  <a:srgbClr val="A4A4A4"/>
                </a:solidFill>
                <a:latin typeface="Arial"/>
                <a:cs typeface="Arial"/>
              </a:rPr>
              <a:t>Im</a:t>
            </a:r>
            <a:r>
              <a:rPr dirty="0" sz="1800" spc="-7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95">
                <a:solidFill>
                  <a:srgbClr val="A4A4A4"/>
                </a:solidFill>
                <a:latin typeface="Arial"/>
                <a:cs typeface="Arial"/>
              </a:rPr>
              <a:t>nächsten</a:t>
            </a:r>
            <a:r>
              <a:rPr dirty="0" sz="1800" spc="-6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A4A4A4"/>
                </a:solidFill>
                <a:latin typeface="Arial"/>
                <a:cs typeface="Arial"/>
              </a:rPr>
              <a:t>(neXt)</a:t>
            </a:r>
            <a:r>
              <a:rPr dirty="0" sz="1800" spc="-5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A4A4A4"/>
                </a:solidFill>
                <a:latin typeface="Arial"/>
                <a:cs typeface="Arial"/>
              </a:rPr>
              <a:t>Zustand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	</a:t>
            </a:r>
            <a:r>
              <a:rPr dirty="0" sz="1800" spc="-305">
                <a:solidFill>
                  <a:srgbClr val="A4A4A4"/>
                </a:solidFill>
                <a:latin typeface="Arial"/>
                <a:cs typeface="Arial"/>
              </a:rPr>
              <a:t>EX</a:t>
            </a:r>
            <a:r>
              <a:rPr dirty="0" sz="1800" spc="-6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,</a:t>
            </a:r>
            <a:r>
              <a:rPr dirty="0" sz="1800" spc="-6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225">
                <a:solidFill>
                  <a:srgbClr val="A4A4A4"/>
                </a:solidFill>
                <a:latin typeface="Arial"/>
                <a:cs typeface="Arial"/>
              </a:rPr>
              <a:t>AX</a:t>
            </a:r>
            <a:r>
              <a:rPr dirty="0" sz="1800" spc="-7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endParaRPr sz="1800">
              <a:latin typeface="STIX Two Math"/>
              <a:cs typeface="STIX Two Math"/>
            </a:endParaRPr>
          </a:p>
          <a:p>
            <a:pPr lvl="1" marL="697865" indent="-227965">
              <a:lnSpc>
                <a:spcPct val="100000"/>
              </a:lnSpc>
              <a:spcBef>
                <a:spcPts val="27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697865" algn="l"/>
                <a:tab pos="2755900" algn="l"/>
              </a:tabLst>
            </a:pPr>
            <a:r>
              <a:rPr dirty="0" sz="1800" spc="-80">
                <a:solidFill>
                  <a:srgbClr val="A4A4A4"/>
                </a:solidFill>
                <a:latin typeface="Arial"/>
                <a:cs typeface="Arial"/>
              </a:rPr>
              <a:t>Irgendwann</a:t>
            </a:r>
            <a:r>
              <a:rPr dirty="0" sz="1800" spc="-4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A4A4A4"/>
                </a:solidFill>
                <a:latin typeface="Arial"/>
                <a:cs typeface="Arial"/>
              </a:rPr>
              <a:t>(Future)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	</a:t>
            </a:r>
            <a:r>
              <a:rPr dirty="0" sz="1800" spc="-305">
                <a:solidFill>
                  <a:srgbClr val="A4A4A4"/>
                </a:solidFill>
                <a:latin typeface="Arial"/>
                <a:cs typeface="Arial"/>
              </a:rPr>
              <a:t>EF</a:t>
            </a:r>
            <a:r>
              <a:rPr dirty="0" sz="1800" spc="-7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,</a:t>
            </a:r>
            <a:r>
              <a:rPr dirty="0" sz="1800" spc="-6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229">
                <a:solidFill>
                  <a:srgbClr val="A4A4A4"/>
                </a:solidFill>
                <a:latin typeface="Arial"/>
                <a:cs typeface="Arial"/>
              </a:rPr>
              <a:t>AF</a:t>
            </a:r>
            <a:r>
              <a:rPr dirty="0" sz="1800" spc="-7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endParaRPr sz="1800">
              <a:latin typeface="STIX Two Math"/>
              <a:cs typeface="STIX Two Math"/>
            </a:endParaRPr>
          </a:p>
          <a:p>
            <a:pPr lvl="1" marL="697865" indent="-227965">
              <a:lnSpc>
                <a:spcPct val="100000"/>
              </a:lnSpc>
              <a:spcBef>
                <a:spcPts val="28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697865" algn="l"/>
                <a:tab pos="2755900" algn="l"/>
              </a:tabLst>
            </a:pPr>
            <a:r>
              <a:rPr dirty="0" sz="1800" spc="-55">
                <a:latin typeface="Arial"/>
                <a:cs typeface="Arial"/>
              </a:rPr>
              <a:t>Immer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(Global)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300">
                <a:latin typeface="Arial"/>
                <a:cs typeface="Arial"/>
              </a:rPr>
              <a:t>EG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>
                <a:latin typeface="STIX Two Math"/>
                <a:cs typeface="STIX Two Math"/>
              </a:rPr>
              <a:t>𝑃</a:t>
            </a:r>
            <a:r>
              <a:rPr dirty="0" sz="1800">
                <a:latin typeface="Arial"/>
                <a:cs typeface="Arial"/>
              </a:rPr>
              <a:t>,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225">
                <a:latin typeface="Arial"/>
                <a:cs typeface="Arial"/>
              </a:rPr>
              <a:t>AG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30">
                <a:latin typeface="STIX Two Math"/>
                <a:cs typeface="STIX Two Math"/>
              </a:rPr>
              <a:t>𝑃</a:t>
            </a:r>
            <a:endParaRPr sz="1800">
              <a:latin typeface="STIX Two Math"/>
              <a:cs typeface="STIX Two Math"/>
            </a:endParaRPr>
          </a:p>
          <a:p>
            <a:pPr lvl="1" marL="697865" indent="-227965">
              <a:lnSpc>
                <a:spcPct val="100000"/>
              </a:lnSpc>
              <a:spcBef>
                <a:spcPts val="29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697865" algn="l"/>
              </a:tabLst>
            </a:pPr>
            <a:r>
              <a:rPr dirty="0" sz="1800" spc="-135">
                <a:solidFill>
                  <a:srgbClr val="A4A4A4"/>
                </a:solidFill>
                <a:latin typeface="Arial"/>
                <a:cs typeface="Arial"/>
              </a:rPr>
              <a:t>Von</a:t>
            </a:r>
            <a:r>
              <a:rPr dirty="0" sz="1800" spc="-8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A4A4A4"/>
                </a:solidFill>
                <a:latin typeface="Arial"/>
                <a:cs typeface="Arial"/>
              </a:rPr>
              <a:t>nun</a:t>
            </a:r>
            <a:r>
              <a:rPr dirty="0" sz="1800" spc="-8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110">
                <a:solidFill>
                  <a:srgbClr val="A4A4A4"/>
                </a:solidFill>
                <a:latin typeface="Arial"/>
                <a:cs typeface="Arial"/>
              </a:rPr>
              <a:t>an</a:t>
            </a:r>
            <a:r>
              <a:rPr dirty="0" sz="1800" spc="-95">
                <a:solidFill>
                  <a:srgbClr val="A4A4A4"/>
                </a:solidFill>
                <a:latin typeface="Arial"/>
                <a:cs typeface="Arial"/>
              </a:rPr>
              <a:t> bis </a:t>
            </a:r>
            <a:r>
              <a:rPr dirty="0" sz="1800" spc="-40">
                <a:solidFill>
                  <a:srgbClr val="A4A4A4"/>
                </a:solidFill>
                <a:latin typeface="Arial"/>
                <a:cs typeface="Arial"/>
              </a:rPr>
              <a:t>(Until)</a:t>
            </a:r>
            <a:r>
              <a:rPr dirty="0" sz="1800" spc="-11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325">
                <a:solidFill>
                  <a:srgbClr val="A4A4A4"/>
                </a:solidFill>
                <a:latin typeface="Arial"/>
                <a:cs typeface="Arial"/>
              </a:rPr>
              <a:t>E</a:t>
            </a:r>
            <a:r>
              <a:rPr dirty="0" sz="1800" spc="13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r>
              <a:rPr dirty="0" sz="1800" spc="-80">
                <a:solidFill>
                  <a:srgbClr val="A4A4A4"/>
                </a:solidFill>
                <a:latin typeface="STIX Two Math"/>
                <a:cs typeface="STIX Two Math"/>
              </a:rPr>
              <a:t> </a:t>
            </a:r>
            <a:r>
              <a:rPr dirty="0" sz="1800" spc="-165">
                <a:solidFill>
                  <a:srgbClr val="A4A4A4"/>
                </a:solidFill>
                <a:latin typeface="Arial"/>
                <a:cs typeface="Arial"/>
              </a:rPr>
              <a:t>U</a:t>
            </a:r>
            <a:r>
              <a:rPr dirty="0" sz="1800" spc="-9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4A4A4"/>
                </a:solidFill>
                <a:latin typeface="STIX Two Math"/>
                <a:cs typeface="STIX Two Math"/>
              </a:rPr>
              <a:t>𝑄</a:t>
            </a:r>
            <a:r>
              <a:rPr dirty="0" sz="1800" spc="245">
                <a:solidFill>
                  <a:srgbClr val="A4A4A4"/>
                </a:solidFill>
                <a:latin typeface="STIX Two Math"/>
                <a:cs typeface="STIX Two Math"/>
              </a:rPr>
              <a:t> </a:t>
            </a:r>
            <a:r>
              <a:rPr dirty="0" sz="1800" spc="-55">
                <a:solidFill>
                  <a:srgbClr val="A4A4A4"/>
                </a:solidFill>
                <a:latin typeface="Arial"/>
                <a:cs typeface="Arial"/>
              </a:rPr>
              <a:t>,</a:t>
            </a:r>
            <a:r>
              <a:rPr dirty="0" sz="1800" spc="-9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A</a:t>
            </a:r>
            <a:r>
              <a:rPr dirty="0" sz="1800" spc="12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r>
              <a:rPr dirty="0" sz="1800" spc="-25">
                <a:solidFill>
                  <a:srgbClr val="A4A4A4"/>
                </a:solidFill>
                <a:latin typeface="STIX Two Math"/>
                <a:cs typeface="STIX Two Math"/>
              </a:rPr>
              <a:t> </a:t>
            </a:r>
            <a:r>
              <a:rPr dirty="0" sz="1800" spc="-165">
                <a:solidFill>
                  <a:srgbClr val="A4A4A4"/>
                </a:solidFill>
                <a:latin typeface="Arial"/>
                <a:cs typeface="Arial"/>
              </a:rPr>
              <a:t>U</a:t>
            </a:r>
            <a:r>
              <a:rPr dirty="0" sz="1800" spc="-9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A4A4A4"/>
                </a:solidFill>
                <a:latin typeface="STIX Two Math"/>
                <a:cs typeface="STIX Two Math"/>
              </a:rPr>
              <a:t>𝑄</a:t>
            </a:r>
            <a:endParaRPr sz="1800">
              <a:latin typeface="STIX Two Math"/>
              <a:cs typeface="STIX Two Math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913" y="3141344"/>
            <a:ext cx="2876550" cy="174574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57580" y="4983302"/>
            <a:ext cx="3806190" cy="13728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spc="-235">
                <a:latin typeface="STIX Two Math"/>
                <a:cs typeface="STIX Two Math"/>
              </a:rPr>
              <a:t>EG</a:t>
            </a:r>
            <a:r>
              <a:rPr dirty="0" sz="2800" spc="-25">
                <a:latin typeface="STIX Two Math"/>
                <a:cs typeface="STIX Two Math"/>
              </a:rPr>
              <a:t> </a:t>
            </a:r>
            <a:r>
              <a:rPr dirty="0" sz="2800" spc="80">
                <a:solidFill>
                  <a:srgbClr val="538235"/>
                </a:solidFill>
                <a:latin typeface="STIX Two Math"/>
                <a:cs typeface="STIX Two Math"/>
              </a:rPr>
              <a:t>𝑃</a:t>
            </a:r>
            <a:endParaRPr sz="2800">
              <a:latin typeface="STIX Two Math"/>
              <a:cs typeface="STIX Two Math"/>
            </a:endParaRPr>
          </a:p>
          <a:p>
            <a:pPr algn="ctr" marL="3810">
              <a:lnSpc>
                <a:spcPct val="100000"/>
              </a:lnSpc>
              <a:spcBef>
                <a:spcPts val="50"/>
              </a:spcBef>
            </a:pPr>
            <a:r>
              <a:rPr dirty="0" sz="2000" spc="-295">
                <a:latin typeface="Arial"/>
                <a:cs typeface="Arial"/>
              </a:rPr>
              <a:t>Es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110" b="1">
                <a:latin typeface="Arial"/>
                <a:cs typeface="Arial"/>
              </a:rPr>
              <a:t>existiert</a:t>
            </a:r>
            <a:r>
              <a:rPr dirty="0" sz="2000" spc="-95" b="1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ein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114">
                <a:latin typeface="Arial"/>
                <a:cs typeface="Arial"/>
              </a:rPr>
              <a:t>Pfad,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entlang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dem</a:t>
            </a:r>
            <a:endParaRPr sz="2000">
              <a:latin typeface="Arial"/>
              <a:cs typeface="Arial"/>
            </a:endParaRPr>
          </a:p>
          <a:p>
            <a:pPr algn="ctr" marL="12065" marR="5080">
              <a:lnSpc>
                <a:spcPts val="2390"/>
              </a:lnSpc>
              <a:spcBef>
                <a:spcPts val="100"/>
              </a:spcBef>
            </a:pPr>
            <a:r>
              <a:rPr dirty="0" sz="2000" spc="100">
                <a:solidFill>
                  <a:srgbClr val="538235"/>
                </a:solidFill>
                <a:latin typeface="STIX Two Math"/>
                <a:cs typeface="STIX Two Math"/>
              </a:rPr>
              <a:t>𝑃</a:t>
            </a:r>
            <a:r>
              <a:rPr dirty="0" sz="2000" spc="40">
                <a:solidFill>
                  <a:srgbClr val="538235"/>
                </a:solidFill>
                <a:latin typeface="STIX Two Math"/>
                <a:cs typeface="STIX Two Math"/>
              </a:rPr>
              <a:t> </a:t>
            </a:r>
            <a:r>
              <a:rPr dirty="0" sz="2000" spc="-145" b="1">
                <a:latin typeface="Arial"/>
                <a:cs typeface="Arial"/>
              </a:rPr>
              <a:t>global</a:t>
            </a:r>
            <a:r>
              <a:rPr dirty="0" sz="2000" spc="-105" b="1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gilt</a:t>
            </a:r>
            <a:r>
              <a:rPr dirty="0" sz="2000" spc="-80">
                <a:latin typeface="Arial"/>
                <a:cs typeface="Arial"/>
              </a:rPr>
              <a:t> (=in </a:t>
            </a:r>
            <a:r>
              <a:rPr dirty="0" sz="2000" spc="-75">
                <a:latin typeface="Arial"/>
                <a:cs typeface="Arial"/>
              </a:rPr>
              <a:t>allen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114">
                <a:latin typeface="Arial"/>
                <a:cs typeface="Arial"/>
              </a:rPr>
              <a:t>Zuständen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auf </a:t>
            </a:r>
            <a:r>
              <a:rPr dirty="0" sz="2000" spc="-100">
                <a:latin typeface="Arial"/>
                <a:cs typeface="Arial"/>
              </a:rPr>
              <a:t>dem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Pfad)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71669" y="3141345"/>
            <a:ext cx="2876550" cy="1746250"/>
            <a:chOff x="4971669" y="3141345"/>
            <a:chExt cx="2876550" cy="1746250"/>
          </a:xfrm>
        </p:grpSpPr>
        <p:sp>
          <p:nvSpPr>
            <p:cNvPr id="11" name="object 11"/>
            <p:cNvSpPr/>
            <p:nvPr/>
          </p:nvSpPr>
          <p:spPr>
            <a:xfrm>
              <a:off x="5124450" y="3382898"/>
              <a:ext cx="2571115" cy="1207770"/>
            </a:xfrm>
            <a:custGeom>
              <a:avLst/>
              <a:gdLst/>
              <a:ahLst/>
              <a:cxnLst/>
              <a:rect l="l" t="t" r="r" b="b"/>
              <a:pathLst>
                <a:path w="2571115" h="1207770">
                  <a:moveTo>
                    <a:pt x="480568" y="735203"/>
                  </a:moveTo>
                  <a:lnTo>
                    <a:pt x="460375" y="714883"/>
                  </a:lnTo>
                  <a:lnTo>
                    <a:pt x="47256" y="1128001"/>
                  </a:lnTo>
                  <a:lnTo>
                    <a:pt x="59055" y="1083183"/>
                  </a:lnTo>
                  <a:lnTo>
                    <a:pt x="60985" y="1075944"/>
                  </a:lnTo>
                  <a:lnTo>
                    <a:pt x="61087" y="1075563"/>
                  </a:lnTo>
                  <a:lnTo>
                    <a:pt x="56515" y="1067689"/>
                  </a:lnTo>
                  <a:lnTo>
                    <a:pt x="48895" y="1065657"/>
                  </a:lnTo>
                  <a:lnTo>
                    <a:pt x="41275" y="1063752"/>
                  </a:lnTo>
                  <a:lnTo>
                    <a:pt x="33401" y="1068324"/>
                  </a:lnTo>
                  <a:lnTo>
                    <a:pt x="31584" y="1075563"/>
                  </a:lnTo>
                  <a:lnTo>
                    <a:pt x="0" y="1195578"/>
                  </a:lnTo>
                  <a:lnTo>
                    <a:pt x="37617" y="1185672"/>
                  </a:lnTo>
                  <a:lnTo>
                    <a:pt x="127254" y="1162050"/>
                  </a:lnTo>
                  <a:lnTo>
                    <a:pt x="131826" y="1154303"/>
                  </a:lnTo>
                  <a:lnTo>
                    <a:pt x="129794" y="1146683"/>
                  </a:lnTo>
                  <a:lnTo>
                    <a:pt x="127762" y="1138936"/>
                  </a:lnTo>
                  <a:lnTo>
                    <a:pt x="120015" y="1134491"/>
                  </a:lnTo>
                  <a:lnTo>
                    <a:pt x="112395" y="1136396"/>
                  </a:lnTo>
                  <a:lnTo>
                    <a:pt x="67576" y="1148194"/>
                  </a:lnTo>
                  <a:lnTo>
                    <a:pt x="480568" y="735203"/>
                  </a:lnTo>
                  <a:close/>
                </a:path>
                <a:path w="2571115" h="1207770">
                  <a:moveTo>
                    <a:pt x="637794" y="1081913"/>
                  </a:moveTo>
                  <a:lnTo>
                    <a:pt x="635508" y="1073150"/>
                  </a:lnTo>
                  <a:lnTo>
                    <a:pt x="621919" y="1065149"/>
                  </a:lnTo>
                  <a:lnTo>
                    <a:pt x="613156" y="1067435"/>
                  </a:lnTo>
                  <a:lnTo>
                    <a:pt x="609219" y="1074293"/>
                  </a:lnTo>
                  <a:lnTo>
                    <a:pt x="585825" y="1114361"/>
                  </a:lnTo>
                  <a:lnTo>
                    <a:pt x="585825" y="1114526"/>
                  </a:lnTo>
                  <a:lnTo>
                    <a:pt x="571500" y="1138923"/>
                  </a:lnTo>
                  <a:lnTo>
                    <a:pt x="585736" y="1114526"/>
                  </a:lnTo>
                  <a:lnTo>
                    <a:pt x="585724" y="767715"/>
                  </a:lnTo>
                  <a:lnTo>
                    <a:pt x="557149" y="767715"/>
                  </a:lnTo>
                  <a:lnTo>
                    <a:pt x="557250" y="1114526"/>
                  </a:lnTo>
                  <a:lnTo>
                    <a:pt x="557276" y="1167257"/>
                  </a:lnTo>
                  <a:lnTo>
                    <a:pt x="557161" y="1114361"/>
                  </a:lnTo>
                  <a:lnTo>
                    <a:pt x="533781" y="1074293"/>
                  </a:lnTo>
                  <a:lnTo>
                    <a:pt x="529844" y="1067435"/>
                  </a:lnTo>
                  <a:lnTo>
                    <a:pt x="521081" y="1065149"/>
                  </a:lnTo>
                  <a:lnTo>
                    <a:pt x="507492" y="1073150"/>
                  </a:lnTo>
                  <a:lnTo>
                    <a:pt x="505206" y="1081913"/>
                  </a:lnTo>
                  <a:lnTo>
                    <a:pt x="571500" y="1195578"/>
                  </a:lnTo>
                  <a:lnTo>
                    <a:pt x="588010" y="1167257"/>
                  </a:lnTo>
                  <a:lnTo>
                    <a:pt x="637794" y="1081913"/>
                  </a:lnTo>
                  <a:close/>
                </a:path>
                <a:path w="2571115" h="1207770">
                  <a:moveTo>
                    <a:pt x="1142619" y="1207770"/>
                  </a:moveTo>
                  <a:lnTo>
                    <a:pt x="1140040" y="1197483"/>
                  </a:lnTo>
                  <a:lnTo>
                    <a:pt x="1110742" y="1080135"/>
                  </a:lnTo>
                  <a:lnTo>
                    <a:pt x="1102995" y="1075436"/>
                  </a:lnTo>
                  <a:lnTo>
                    <a:pt x="1087628" y="1079246"/>
                  </a:lnTo>
                  <a:lnTo>
                    <a:pt x="1083056" y="1086993"/>
                  </a:lnTo>
                  <a:lnTo>
                    <a:pt x="1084961" y="1094740"/>
                  </a:lnTo>
                  <a:lnTo>
                    <a:pt x="1096149" y="1139647"/>
                  </a:lnTo>
                  <a:lnTo>
                    <a:pt x="682371" y="715010"/>
                  </a:lnTo>
                  <a:lnTo>
                    <a:pt x="661797" y="735076"/>
                  </a:lnTo>
                  <a:lnTo>
                    <a:pt x="1075639" y="1159662"/>
                  </a:lnTo>
                  <a:lnTo>
                    <a:pt x="1023366" y="1145159"/>
                  </a:lnTo>
                  <a:lnTo>
                    <a:pt x="1015492" y="1149604"/>
                  </a:lnTo>
                  <a:lnTo>
                    <a:pt x="1013460" y="1157224"/>
                  </a:lnTo>
                  <a:lnTo>
                    <a:pt x="1011301" y="1164844"/>
                  </a:lnTo>
                  <a:lnTo>
                    <a:pt x="1015746" y="1172718"/>
                  </a:lnTo>
                  <a:lnTo>
                    <a:pt x="1023366" y="1174750"/>
                  </a:lnTo>
                  <a:lnTo>
                    <a:pt x="1142619" y="1207770"/>
                  </a:lnTo>
                  <a:close/>
                </a:path>
                <a:path w="2571115" h="1207770">
                  <a:moveTo>
                    <a:pt x="1264412" y="23622"/>
                  </a:moveTo>
                  <a:lnTo>
                    <a:pt x="1248156" y="0"/>
                  </a:lnTo>
                  <a:lnTo>
                    <a:pt x="630250" y="424637"/>
                  </a:lnTo>
                  <a:lnTo>
                    <a:pt x="650113" y="382651"/>
                  </a:lnTo>
                  <a:lnTo>
                    <a:pt x="653415" y="375412"/>
                  </a:lnTo>
                  <a:lnTo>
                    <a:pt x="650367" y="366903"/>
                  </a:lnTo>
                  <a:lnTo>
                    <a:pt x="643255" y="363601"/>
                  </a:lnTo>
                  <a:lnTo>
                    <a:pt x="636143" y="360172"/>
                  </a:lnTo>
                  <a:lnTo>
                    <a:pt x="627634" y="363220"/>
                  </a:lnTo>
                  <a:lnTo>
                    <a:pt x="624205" y="370459"/>
                  </a:lnTo>
                  <a:lnTo>
                    <a:pt x="571500" y="482346"/>
                  </a:lnTo>
                  <a:lnTo>
                    <a:pt x="629729" y="478028"/>
                  </a:lnTo>
                  <a:lnTo>
                    <a:pt x="702691" y="472567"/>
                  </a:lnTo>
                  <a:lnTo>
                    <a:pt x="708660" y="465709"/>
                  </a:lnTo>
                  <a:lnTo>
                    <a:pt x="708025" y="457835"/>
                  </a:lnTo>
                  <a:lnTo>
                    <a:pt x="707644" y="451993"/>
                  </a:lnTo>
                  <a:lnTo>
                    <a:pt x="707529" y="450176"/>
                  </a:lnTo>
                  <a:lnTo>
                    <a:pt x="707517" y="449961"/>
                  </a:lnTo>
                  <a:lnTo>
                    <a:pt x="700659" y="444119"/>
                  </a:lnTo>
                  <a:lnTo>
                    <a:pt x="646480" y="448081"/>
                  </a:lnTo>
                  <a:lnTo>
                    <a:pt x="1264412" y="23622"/>
                  </a:lnTo>
                  <a:close/>
                </a:path>
                <a:path w="2571115" h="1207770">
                  <a:moveTo>
                    <a:pt x="2053336" y="731901"/>
                  </a:moveTo>
                  <a:lnTo>
                    <a:pt x="2028190" y="718185"/>
                  </a:lnTo>
                  <a:lnTo>
                    <a:pt x="1810854" y="1117460"/>
                  </a:lnTo>
                  <a:lnTo>
                    <a:pt x="1809521" y="1071880"/>
                  </a:lnTo>
                  <a:lnTo>
                    <a:pt x="1809267" y="1064006"/>
                  </a:lnTo>
                  <a:lnTo>
                    <a:pt x="1809242" y="1063117"/>
                  </a:lnTo>
                  <a:lnTo>
                    <a:pt x="1802638" y="1056894"/>
                  </a:lnTo>
                  <a:lnTo>
                    <a:pt x="1786890" y="1057402"/>
                  </a:lnTo>
                  <a:lnTo>
                    <a:pt x="1780667" y="1064006"/>
                  </a:lnTo>
                  <a:lnTo>
                    <a:pt x="1780882" y="1070991"/>
                  </a:lnTo>
                  <a:lnTo>
                    <a:pt x="1784604" y="1195578"/>
                  </a:lnTo>
                  <a:lnTo>
                    <a:pt x="1814398" y="1177544"/>
                  </a:lnTo>
                  <a:lnTo>
                    <a:pt x="1890395" y="1131570"/>
                  </a:lnTo>
                  <a:lnTo>
                    <a:pt x="1897126" y="1127379"/>
                  </a:lnTo>
                  <a:lnTo>
                    <a:pt x="1899412" y="1118616"/>
                  </a:lnTo>
                  <a:lnTo>
                    <a:pt x="1895221" y="1111885"/>
                  </a:lnTo>
                  <a:lnTo>
                    <a:pt x="1891157" y="1105154"/>
                  </a:lnTo>
                  <a:lnTo>
                    <a:pt x="1882394" y="1102995"/>
                  </a:lnTo>
                  <a:lnTo>
                    <a:pt x="1835912" y="1131125"/>
                  </a:lnTo>
                  <a:lnTo>
                    <a:pt x="2053336" y="731901"/>
                  </a:lnTo>
                  <a:close/>
                </a:path>
                <a:path w="2571115" h="1207770">
                  <a:moveTo>
                    <a:pt x="2141728" y="482346"/>
                  </a:moveTo>
                  <a:lnTo>
                    <a:pt x="2139683" y="478028"/>
                  </a:lnTo>
                  <a:lnTo>
                    <a:pt x="2089023" y="370459"/>
                  </a:lnTo>
                  <a:lnTo>
                    <a:pt x="2085594" y="363220"/>
                  </a:lnTo>
                  <a:lnTo>
                    <a:pt x="2077085" y="360172"/>
                  </a:lnTo>
                  <a:lnTo>
                    <a:pt x="2069973" y="363601"/>
                  </a:lnTo>
                  <a:lnTo>
                    <a:pt x="2062861" y="366903"/>
                  </a:lnTo>
                  <a:lnTo>
                    <a:pt x="2059813" y="375412"/>
                  </a:lnTo>
                  <a:lnTo>
                    <a:pt x="2063115" y="382651"/>
                  </a:lnTo>
                  <a:lnTo>
                    <a:pt x="2082965" y="424637"/>
                  </a:lnTo>
                  <a:lnTo>
                    <a:pt x="2094953" y="449961"/>
                  </a:lnTo>
                  <a:lnTo>
                    <a:pt x="2095055" y="450176"/>
                  </a:lnTo>
                  <a:lnTo>
                    <a:pt x="2082965" y="424637"/>
                  </a:lnTo>
                  <a:lnTo>
                    <a:pt x="1465072" y="0"/>
                  </a:lnTo>
                  <a:lnTo>
                    <a:pt x="1448816" y="23622"/>
                  </a:lnTo>
                  <a:lnTo>
                    <a:pt x="2066734" y="448081"/>
                  </a:lnTo>
                  <a:lnTo>
                    <a:pt x="2012569" y="444119"/>
                  </a:lnTo>
                  <a:lnTo>
                    <a:pt x="2005838" y="449961"/>
                  </a:lnTo>
                  <a:lnTo>
                    <a:pt x="2004568" y="465709"/>
                  </a:lnTo>
                  <a:lnTo>
                    <a:pt x="2010537" y="472567"/>
                  </a:lnTo>
                  <a:lnTo>
                    <a:pt x="2141728" y="482346"/>
                  </a:lnTo>
                  <a:close/>
                </a:path>
                <a:path w="2571115" h="1207770">
                  <a:moveTo>
                    <a:pt x="2570988" y="1165987"/>
                  </a:moveTo>
                  <a:lnTo>
                    <a:pt x="2569387" y="1151763"/>
                  </a:lnTo>
                  <a:lnTo>
                    <a:pt x="2556383" y="1035177"/>
                  </a:lnTo>
                  <a:lnTo>
                    <a:pt x="2549271" y="1029462"/>
                  </a:lnTo>
                  <a:lnTo>
                    <a:pt x="2533650" y="1031240"/>
                  </a:lnTo>
                  <a:lnTo>
                    <a:pt x="2527935" y="1038352"/>
                  </a:lnTo>
                  <a:lnTo>
                    <a:pt x="2533840" y="1091057"/>
                  </a:lnTo>
                  <a:lnTo>
                    <a:pt x="2533866" y="1091311"/>
                  </a:lnTo>
                  <a:lnTo>
                    <a:pt x="2533980" y="1092301"/>
                  </a:lnTo>
                  <a:lnTo>
                    <a:pt x="2254758" y="716534"/>
                  </a:lnTo>
                  <a:lnTo>
                    <a:pt x="2231898" y="733552"/>
                  </a:lnTo>
                  <a:lnTo>
                    <a:pt x="2510942" y="1109243"/>
                  </a:lnTo>
                  <a:lnTo>
                    <a:pt x="2461133" y="1088009"/>
                  </a:lnTo>
                  <a:lnTo>
                    <a:pt x="2452751" y="1091311"/>
                  </a:lnTo>
                  <a:lnTo>
                    <a:pt x="2449703" y="1098677"/>
                  </a:lnTo>
                  <a:lnTo>
                    <a:pt x="2446528" y="1105916"/>
                  </a:lnTo>
                  <a:lnTo>
                    <a:pt x="2449957" y="1114298"/>
                  </a:lnTo>
                  <a:lnTo>
                    <a:pt x="2570988" y="1165987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337554" y="3150870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20" h="285114">
                  <a:moveTo>
                    <a:pt x="143256" y="0"/>
                  </a:moveTo>
                  <a:lnTo>
                    <a:pt x="97974" y="7260"/>
                  </a:lnTo>
                  <a:lnTo>
                    <a:pt x="58649" y="27480"/>
                  </a:lnTo>
                  <a:lnTo>
                    <a:pt x="27639" y="58320"/>
                  </a:lnTo>
                  <a:lnTo>
                    <a:pt x="7303" y="97438"/>
                  </a:lnTo>
                  <a:lnTo>
                    <a:pt x="0" y="142494"/>
                  </a:lnTo>
                  <a:lnTo>
                    <a:pt x="7303" y="187549"/>
                  </a:lnTo>
                  <a:lnTo>
                    <a:pt x="27639" y="226667"/>
                  </a:lnTo>
                  <a:lnTo>
                    <a:pt x="58649" y="257507"/>
                  </a:lnTo>
                  <a:lnTo>
                    <a:pt x="97974" y="277727"/>
                  </a:lnTo>
                  <a:lnTo>
                    <a:pt x="143256" y="284988"/>
                  </a:lnTo>
                  <a:lnTo>
                    <a:pt x="188537" y="277727"/>
                  </a:lnTo>
                  <a:lnTo>
                    <a:pt x="227862" y="257507"/>
                  </a:lnTo>
                  <a:lnTo>
                    <a:pt x="258872" y="226667"/>
                  </a:lnTo>
                  <a:lnTo>
                    <a:pt x="279208" y="187549"/>
                  </a:lnTo>
                  <a:lnTo>
                    <a:pt x="286512" y="142494"/>
                  </a:lnTo>
                  <a:lnTo>
                    <a:pt x="279208" y="97438"/>
                  </a:lnTo>
                  <a:lnTo>
                    <a:pt x="258872" y="58320"/>
                  </a:lnTo>
                  <a:lnTo>
                    <a:pt x="227862" y="27480"/>
                  </a:lnTo>
                  <a:lnTo>
                    <a:pt x="188537" y="7260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337554" y="3150870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20" h="285114">
                  <a:moveTo>
                    <a:pt x="0" y="142494"/>
                  </a:moveTo>
                  <a:lnTo>
                    <a:pt x="7303" y="97438"/>
                  </a:lnTo>
                  <a:lnTo>
                    <a:pt x="27639" y="58320"/>
                  </a:lnTo>
                  <a:lnTo>
                    <a:pt x="58649" y="27480"/>
                  </a:lnTo>
                  <a:lnTo>
                    <a:pt x="97974" y="7260"/>
                  </a:lnTo>
                  <a:lnTo>
                    <a:pt x="143256" y="0"/>
                  </a:lnTo>
                  <a:lnTo>
                    <a:pt x="188537" y="7260"/>
                  </a:lnTo>
                  <a:lnTo>
                    <a:pt x="227862" y="27480"/>
                  </a:lnTo>
                  <a:lnTo>
                    <a:pt x="258872" y="58320"/>
                  </a:lnTo>
                  <a:lnTo>
                    <a:pt x="279208" y="97438"/>
                  </a:lnTo>
                  <a:lnTo>
                    <a:pt x="286512" y="142494"/>
                  </a:lnTo>
                  <a:lnTo>
                    <a:pt x="279208" y="187549"/>
                  </a:lnTo>
                  <a:lnTo>
                    <a:pt x="258872" y="226667"/>
                  </a:lnTo>
                  <a:lnTo>
                    <a:pt x="227862" y="257507"/>
                  </a:lnTo>
                  <a:lnTo>
                    <a:pt x="188537" y="277727"/>
                  </a:lnTo>
                  <a:lnTo>
                    <a:pt x="143256" y="284988"/>
                  </a:lnTo>
                  <a:lnTo>
                    <a:pt x="97974" y="277727"/>
                  </a:lnTo>
                  <a:lnTo>
                    <a:pt x="58649" y="257507"/>
                  </a:lnTo>
                  <a:lnTo>
                    <a:pt x="27639" y="226667"/>
                  </a:lnTo>
                  <a:lnTo>
                    <a:pt x="7303" y="187549"/>
                  </a:lnTo>
                  <a:lnTo>
                    <a:pt x="0" y="142494"/>
                  </a:lnTo>
                  <a:close/>
                </a:path>
              </a:pathLst>
            </a:custGeom>
            <a:ln w="19049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552694" y="3864102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4" h="287020">
                  <a:moveTo>
                    <a:pt x="142494" y="0"/>
                  </a:moveTo>
                  <a:lnTo>
                    <a:pt x="97438" y="7303"/>
                  </a:lnTo>
                  <a:lnTo>
                    <a:pt x="58320" y="27639"/>
                  </a:lnTo>
                  <a:lnTo>
                    <a:pt x="27480" y="58649"/>
                  </a:lnTo>
                  <a:lnTo>
                    <a:pt x="7260" y="97974"/>
                  </a:lnTo>
                  <a:lnTo>
                    <a:pt x="0" y="143256"/>
                  </a:lnTo>
                  <a:lnTo>
                    <a:pt x="7260" y="188537"/>
                  </a:lnTo>
                  <a:lnTo>
                    <a:pt x="27480" y="227862"/>
                  </a:lnTo>
                  <a:lnTo>
                    <a:pt x="58320" y="258872"/>
                  </a:lnTo>
                  <a:lnTo>
                    <a:pt x="97438" y="279208"/>
                  </a:lnTo>
                  <a:lnTo>
                    <a:pt x="142494" y="286512"/>
                  </a:lnTo>
                  <a:lnTo>
                    <a:pt x="187549" y="279208"/>
                  </a:lnTo>
                  <a:lnTo>
                    <a:pt x="226667" y="258872"/>
                  </a:lnTo>
                  <a:lnTo>
                    <a:pt x="257507" y="227862"/>
                  </a:lnTo>
                  <a:lnTo>
                    <a:pt x="277727" y="188537"/>
                  </a:lnTo>
                  <a:lnTo>
                    <a:pt x="284988" y="143256"/>
                  </a:lnTo>
                  <a:lnTo>
                    <a:pt x="277727" y="97974"/>
                  </a:lnTo>
                  <a:lnTo>
                    <a:pt x="257507" y="58649"/>
                  </a:lnTo>
                  <a:lnTo>
                    <a:pt x="226667" y="27639"/>
                  </a:lnTo>
                  <a:lnTo>
                    <a:pt x="187549" y="7303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552694" y="3864102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4" h="287020">
                  <a:moveTo>
                    <a:pt x="0" y="143256"/>
                  </a:moveTo>
                  <a:lnTo>
                    <a:pt x="7260" y="97974"/>
                  </a:lnTo>
                  <a:lnTo>
                    <a:pt x="27480" y="58649"/>
                  </a:lnTo>
                  <a:lnTo>
                    <a:pt x="58320" y="27639"/>
                  </a:lnTo>
                  <a:lnTo>
                    <a:pt x="97438" y="7303"/>
                  </a:lnTo>
                  <a:lnTo>
                    <a:pt x="142494" y="0"/>
                  </a:lnTo>
                  <a:lnTo>
                    <a:pt x="187549" y="7303"/>
                  </a:lnTo>
                  <a:lnTo>
                    <a:pt x="226667" y="27639"/>
                  </a:lnTo>
                  <a:lnTo>
                    <a:pt x="257507" y="58649"/>
                  </a:lnTo>
                  <a:lnTo>
                    <a:pt x="277727" y="97974"/>
                  </a:lnTo>
                  <a:lnTo>
                    <a:pt x="284988" y="143256"/>
                  </a:lnTo>
                  <a:lnTo>
                    <a:pt x="277727" y="188537"/>
                  </a:lnTo>
                  <a:lnTo>
                    <a:pt x="257507" y="227862"/>
                  </a:lnTo>
                  <a:lnTo>
                    <a:pt x="226667" y="258872"/>
                  </a:lnTo>
                  <a:lnTo>
                    <a:pt x="187549" y="279208"/>
                  </a:lnTo>
                  <a:lnTo>
                    <a:pt x="142494" y="286512"/>
                  </a:lnTo>
                  <a:lnTo>
                    <a:pt x="97438" y="279208"/>
                  </a:lnTo>
                  <a:lnTo>
                    <a:pt x="58320" y="258872"/>
                  </a:lnTo>
                  <a:lnTo>
                    <a:pt x="27480" y="227862"/>
                  </a:lnTo>
                  <a:lnTo>
                    <a:pt x="7260" y="188537"/>
                  </a:lnTo>
                  <a:lnTo>
                    <a:pt x="0" y="143256"/>
                  </a:lnTo>
                  <a:close/>
                </a:path>
              </a:pathLst>
            </a:custGeom>
            <a:ln w="1905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123938" y="3864102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20">
                  <a:moveTo>
                    <a:pt x="143256" y="0"/>
                  </a:moveTo>
                  <a:lnTo>
                    <a:pt x="97974" y="7303"/>
                  </a:lnTo>
                  <a:lnTo>
                    <a:pt x="58649" y="27639"/>
                  </a:lnTo>
                  <a:lnTo>
                    <a:pt x="27639" y="58649"/>
                  </a:lnTo>
                  <a:lnTo>
                    <a:pt x="7303" y="97974"/>
                  </a:lnTo>
                  <a:lnTo>
                    <a:pt x="0" y="143256"/>
                  </a:lnTo>
                  <a:lnTo>
                    <a:pt x="7303" y="188537"/>
                  </a:lnTo>
                  <a:lnTo>
                    <a:pt x="27639" y="227862"/>
                  </a:lnTo>
                  <a:lnTo>
                    <a:pt x="58649" y="258872"/>
                  </a:lnTo>
                  <a:lnTo>
                    <a:pt x="97974" y="279208"/>
                  </a:lnTo>
                  <a:lnTo>
                    <a:pt x="143256" y="286512"/>
                  </a:lnTo>
                  <a:lnTo>
                    <a:pt x="188537" y="279208"/>
                  </a:lnTo>
                  <a:lnTo>
                    <a:pt x="227862" y="258872"/>
                  </a:lnTo>
                  <a:lnTo>
                    <a:pt x="258872" y="227862"/>
                  </a:lnTo>
                  <a:lnTo>
                    <a:pt x="279208" y="188537"/>
                  </a:lnTo>
                  <a:lnTo>
                    <a:pt x="286512" y="143256"/>
                  </a:lnTo>
                  <a:lnTo>
                    <a:pt x="279208" y="97974"/>
                  </a:lnTo>
                  <a:lnTo>
                    <a:pt x="258872" y="58649"/>
                  </a:lnTo>
                  <a:lnTo>
                    <a:pt x="227862" y="27639"/>
                  </a:lnTo>
                  <a:lnTo>
                    <a:pt x="188537" y="7303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123938" y="3864102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20">
                  <a:moveTo>
                    <a:pt x="0" y="143256"/>
                  </a:moveTo>
                  <a:lnTo>
                    <a:pt x="7303" y="97974"/>
                  </a:lnTo>
                  <a:lnTo>
                    <a:pt x="27639" y="58649"/>
                  </a:lnTo>
                  <a:lnTo>
                    <a:pt x="58649" y="27639"/>
                  </a:lnTo>
                  <a:lnTo>
                    <a:pt x="97974" y="7303"/>
                  </a:lnTo>
                  <a:lnTo>
                    <a:pt x="143256" y="0"/>
                  </a:lnTo>
                  <a:lnTo>
                    <a:pt x="188537" y="7303"/>
                  </a:lnTo>
                  <a:lnTo>
                    <a:pt x="227862" y="27639"/>
                  </a:lnTo>
                  <a:lnTo>
                    <a:pt x="258872" y="58649"/>
                  </a:lnTo>
                  <a:lnTo>
                    <a:pt x="279208" y="97974"/>
                  </a:lnTo>
                  <a:lnTo>
                    <a:pt x="286512" y="143256"/>
                  </a:lnTo>
                  <a:lnTo>
                    <a:pt x="279208" y="188537"/>
                  </a:lnTo>
                  <a:lnTo>
                    <a:pt x="258872" y="227862"/>
                  </a:lnTo>
                  <a:lnTo>
                    <a:pt x="227862" y="258872"/>
                  </a:lnTo>
                  <a:lnTo>
                    <a:pt x="188537" y="279208"/>
                  </a:lnTo>
                  <a:lnTo>
                    <a:pt x="143256" y="286512"/>
                  </a:lnTo>
                  <a:lnTo>
                    <a:pt x="97974" y="279208"/>
                  </a:lnTo>
                  <a:lnTo>
                    <a:pt x="58649" y="258872"/>
                  </a:lnTo>
                  <a:lnTo>
                    <a:pt x="27639" y="227862"/>
                  </a:lnTo>
                  <a:lnTo>
                    <a:pt x="7303" y="188537"/>
                  </a:lnTo>
                  <a:lnTo>
                    <a:pt x="0" y="143256"/>
                  </a:lnTo>
                  <a:close/>
                </a:path>
              </a:pathLst>
            </a:custGeom>
            <a:ln w="1905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767322" y="4578858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5" h="287020">
                  <a:moveTo>
                    <a:pt x="142494" y="0"/>
                  </a:moveTo>
                  <a:lnTo>
                    <a:pt x="97438" y="7303"/>
                  </a:lnTo>
                  <a:lnTo>
                    <a:pt x="58320" y="27639"/>
                  </a:lnTo>
                  <a:lnTo>
                    <a:pt x="27480" y="58649"/>
                  </a:lnTo>
                  <a:lnTo>
                    <a:pt x="7260" y="97974"/>
                  </a:lnTo>
                  <a:lnTo>
                    <a:pt x="0" y="143256"/>
                  </a:lnTo>
                  <a:lnTo>
                    <a:pt x="7260" y="188537"/>
                  </a:lnTo>
                  <a:lnTo>
                    <a:pt x="27480" y="227862"/>
                  </a:lnTo>
                  <a:lnTo>
                    <a:pt x="58320" y="258872"/>
                  </a:lnTo>
                  <a:lnTo>
                    <a:pt x="97438" y="279208"/>
                  </a:lnTo>
                  <a:lnTo>
                    <a:pt x="142494" y="286512"/>
                  </a:lnTo>
                  <a:lnTo>
                    <a:pt x="187549" y="279208"/>
                  </a:lnTo>
                  <a:lnTo>
                    <a:pt x="226667" y="258872"/>
                  </a:lnTo>
                  <a:lnTo>
                    <a:pt x="257507" y="227862"/>
                  </a:lnTo>
                  <a:lnTo>
                    <a:pt x="277727" y="188537"/>
                  </a:lnTo>
                  <a:lnTo>
                    <a:pt x="284988" y="143256"/>
                  </a:lnTo>
                  <a:lnTo>
                    <a:pt x="277727" y="97974"/>
                  </a:lnTo>
                  <a:lnTo>
                    <a:pt x="257507" y="58649"/>
                  </a:lnTo>
                  <a:lnTo>
                    <a:pt x="226667" y="27639"/>
                  </a:lnTo>
                  <a:lnTo>
                    <a:pt x="187549" y="7303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767322" y="4578858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5" h="287020">
                  <a:moveTo>
                    <a:pt x="0" y="143256"/>
                  </a:moveTo>
                  <a:lnTo>
                    <a:pt x="7260" y="97974"/>
                  </a:lnTo>
                  <a:lnTo>
                    <a:pt x="27480" y="58649"/>
                  </a:lnTo>
                  <a:lnTo>
                    <a:pt x="58320" y="27639"/>
                  </a:lnTo>
                  <a:lnTo>
                    <a:pt x="97438" y="7303"/>
                  </a:lnTo>
                  <a:lnTo>
                    <a:pt x="142494" y="0"/>
                  </a:lnTo>
                  <a:lnTo>
                    <a:pt x="187549" y="7303"/>
                  </a:lnTo>
                  <a:lnTo>
                    <a:pt x="226667" y="27639"/>
                  </a:lnTo>
                  <a:lnTo>
                    <a:pt x="257507" y="58649"/>
                  </a:lnTo>
                  <a:lnTo>
                    <a:pt x="277727" y="97974"/>
                  </a:lnTo>
                  <a:lnTo>
                    <a:pt x="284988" y="143256"/>
                  </a:lnTo>
                  <a:lnTo>
                    <a:pt x="277727" y="188537"/>
                  </a:lnTo>
                  <a:lnTo>
                    <a:pt x="257507" y="227862"/>
                  </a:lnTo>
                  <a:lnTo>
                    <a:pt x="226667" y="258872"/>
                  </a:lnTo>
                  <a:lnTo>
                    <a:pt x="187549" y="279208"/>
                  </a:lnTo>
                  <a:lnTo>
                    <a:pt x="142494" y="286512"/>
                  </a:lnTo>
                  <a:lnTo>
                    <a:pt x="97438" y="279208"/>
                  </a:lnTo>
                  <a:lnTo>
                    <a:pt x="58320" y="258872"/>
                  </a:lnTo>
                  <a:lnTo>
                    <a:pt x="27480" y="227862"/>
                  </a:lnTo>
                  <a:lnTo>
                    <a:pt x="7260" y="188537"/>
                  </a:lnTo>
                  <a:lnTo>
                    <a:pt x="0" y="143256"/>
                  </a:lnTo>
                  <a:close/>
                </a:path>
              </a:pathLst>
            </a:custGeom>
            <a:ln w="1905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552182" y="4549902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20" h="285114">
                  <a:moveTo>
                    <a:pt x="143256" y="0"/>
                  </a:moveTo>
                  <a:lnTo>
                    <a:pt x="97974" y="7260"/>
                  </a:lnTo>
                  <a:lnTo>
                    <a:pt x="58649" y="27480"/>
                  </a:lnTo>
                  <a:lnTo>
                    <a:pt x="27639" y="58320"/>
                  </a:lnTo>
                  <a:lnTo>
                    <a:pt x="7303" y="97438"/>
                  </a:lnTo>
                  <a:lnTo>
                    <a:pt x="0" y="142494"/>
                  </a:lnTo>
                  <a:lnTo>
                    <a:pt x="7303" y="187549"/>
                  </a:lnTo>
                  <a:lnTo>
                    <a:pt x="27639" y="226667"/>
                  </a:lnTo>
                  <a:lnTo>
                    <a:pt x="58649" y="257507"/>
                  </a:lnTo>
                  <a:lnTo>
                    <a:pt x="97974" y="277727"/>
                  </a:lnTo>
                  <a:lnTo>
                    <a:pt x="143256" y="284988"/>
                  </a:lnTo>
                  <a:lnTo>
                    <a:pt x="188537" y="277727"/>
                  </a:lnTo>
                  <a:lnTo>
                    <a:pt x="227862" y="257507"/>
                  </a:lnTo>
                  <a:lnTo>
                    <a:pt x="258872" y="226667"/>
                  </a:lnTo>
                  <a:lnTo>
                    <a:pt x="279208" y="187549"/>
                  </a:lnTo>
                  <a:lnTo>
                    <a:pt x="286512" y="142494"/>
                  </a:lnTo>
                  <a:lnTo>
                    <a:pt x="279208" y="97438"/>
                  </a:lnTo>
                  <a:lnTo>
                    <a:pt x="258872" y="58320"/>
                  </a:lnTo>
                  <a:lnTo>
                    <a:pt x="227862" y="27480"/>
                  </a:lnTo>
                  <a:lnTo>
                    <a:pt x="188537" y="7260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552182" y="4549902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20" h="285114">
                  <a:moveTo>
                    <a:pt x="0" y="142494"/>
                  </a:moveTo>
                  <a:lnTo>
                    <a:pt x="7303" y="97438"/>
                  </a:lnTo>
                  <a:lnTo>
                    <a:pt x="27639" y="58320"/>
                  </a:lnTo>
                  <a:lnTo>
                    <a:pt x="58649" y="27480"/>
                  </a:lnTo>
                  <a:lnTo>
                    <a:pt x="97974" y="7260"/>
                  </a:lnTo>
                  <a:lnTo>
                    <a:pt x="143256" y="0"/>
                  </a:lnTo>
                  <a:lnTo>
                    <a:pt x="188537" y="7260"/>
                  </a:lnTo>
                  <a:lnTo>
                    <a:pt x="227862" y="27480"/>
                  </a:lnTo>
                  <a:lnTo>
                    <a:pt x="258872" y="58320"/>
                  </a:lnTo>
                  <a:lnTo>
                    <a:pt x="279208" y="97438"/>
                  </a:lnTo>
                  <a:lnTo>
                    <a:pt x="286512" y="142494"/>
                  </a:lnTo>
                  <a:lnTo>
                    <a:pt x="279208" y="187549"/>
                  </a:lnTo>
                  <a:lnTo>
                    <a:pt x="258872" y="226667"/>
                  </a:lnTo>
                  <a:lnTo>
                    <a:pt x="227862" y="257507"/>
                  </a:lnTo>
                  <a:lnTo>
                    <a:pt x="188537" y="277727"/>
                  </a:lnTo>
                  <a:lnTo>
                    <a:pt x="143256" y="284988"/>
                  </a:lnTo>
                  <a:lnTo>
                    <a:pt x="97974" y="277727"/>
                  </a:lnTo>
                  <a:lnTo>
                    <a:pt x="58649" y="257507"/>
                  </a:lnTo>
                  <a:lnTo>
                    <a:pt x="27639" y="226667"/>
                  </a:lnTo>
                  <a:lnTo>
                    <a:pt x="7303" y="187549"/>
                  </a:lnTo>
                  <a:lnTo>
                    <a:pt x="0" y="142494"/>
                  </a:lnTo>
                  <a:close/>
                </a:path>
              </a:pathLst>
            </a:custGeom>
            <a:ln w="19049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552694" y="4578858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552694" y="4578858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905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124194" y="4591050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4" h="287020">
                  <a:moveTo>
                    <a:pt x="142494" y="0"/>
                  </a:moveTo>
                  <a:lnTo>
                    <a:pt x="97438" y="7303"/>
                  </a:lnTo>
                  <a:lnTo>
                    <a:pt x="58320" y="27639"/>
                  </a:lnTo>
                  <a:lnTo>
                    <a:pt x="27480" y="58649"/>
                  </a:lnTo>
                  <a:lnTo>
                    <a:pt x="7260" y="97974"/>
                  </a:lnTo>
                  <a:lnTo>
                    <a:pt x="0" y="143256"/>
                  </a:lnTo>
                  <a:lnTo>
                    <a:pt x="7260" y="188537"/>
                  </a:lnTo>
                  <a:lnTo>
                    <a:pt x="27480" y="227862"/>
                  </a:lnTo>
                  <a:lnTo>
                    <a:pt x="58320" y="258872"/>
                  </a:lnTo>
                  <a:lnTo>
                    <a:pt x="97438" y="279208"/>
                  </a:lnTo>
                  <a:lnTo>
                    <a:pt x="142494" y="286512"/>
                  </a:lnTo>
                  <a:lnTo>
                    <a:pt x="187549" y="279208"/>
                  </a:lnTo>
                  <a:lnTo>
                    <a:pt x="226667" y="258872"/>
                  </a:lnTo>
                  <a:lnTo>
                    <a:pt x="257507" y="227862"/>
                  </a:lnTo>
                  <a:lnTo>
                    <a:pt x="277727" y="188537"/>
                  </a:lnTo>
                  <a:lnTo>
                    <a:pt x="284988" y="143256"/>
                  </a:lnTo>
                  <a:lnTo>
                    <a:pt x="277727" y="97974"/>
                  </a:lnTo>
                  <a:lnTo>
                    <a:pt x="257507" y="58649"/>
                  </a:lnTo>
                  <a:lnTo>
                    <a:pt x="226667" y="27639"/>
                  </a:lnTo>
                  <a:lnTo>
                    <a:pt x="187549" y="7303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124194" y="4591050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4" h="287020">
                  <a:moveTo>
                    <a:pt x="0" y="143256"/>
                  </a:moveTo>
                  <a:lnTo>
                    <a:pt x="7260" y="97974"/>
                  </a:lnTo>
                  <a:lnTo>
                    <a:pt x="27480" y="58649"/>
                  </a:lnTo>
                  <a:lnTo>
                    <a:pt x="58320" y="27639"/>
                  </a:lnTo>
                  <a:lnTo>
                    <a:pt x="97438" y="7303"/>
                  </a:lnTo>
                  <a:lnTo>
                    <a:pt x="142494" y="0"/>
                  </a:lnTo>
                  <a:lnTo>
                    <a:pt x="187549" y="7303"/>
                  </a:lnTo>
                  <a:lnTo>
                    <a:pt x="226667" y="27639"/>
                  </a:lnTo>
                  <a:lnTo>
                    <a:pt x="257507" y="58649"/>
                  </a:lnTo>
                  <a:lnTo>
                    <a:pt x="277727" y="97974"/>
                  </a:lnTo>
                  <a:lnTo>
                    <a:pt x="284988" y="143256"/>
                  </a:lnTo>
                  <a:lnTo>
                    <a:pt x="277727" y="188537"/>
                  </a:lnTo>
                  <a:lnTo>
                    <a:pt x="257507" y="227862"/>
                  </a:lnTo>
                  <a:lnTo>
                    <a:pt x="226667" y="258872"/>
                  </a:lnTo>
                  <a:lnTo>
                    <a:pt x="187549" y="279208"/>
                  </a:lnTo>
                  <a:lnTo>
                    <a:pt x="142494" y="286512"/>
                  </a:lnTo>
                  <a:lnTo>
                    <a:pt x="97438" y="279208"/>
                  </a:lnTo>
                  <a:lnTo>
                    <a:pt x="58320" y="258872"/>
                  </a:lnTo>
                  <a:lnTo>
                    <a:pt x="27480" y="227862"/>
                  </a:lnTo>
                  <a:lnTo>
                    <a:pt x="7260" y="188537"/>
                  </a:lnTo>
                  <a:lnTo>
                    <a:pt x="0" y="143256"/>
                  </a:lnTo>
                  <a:close/>
                </a:path>
              </a:pathLst>
            </a:custGeom>
            <a:ln w="1905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981194" y="4578858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4" h="287020">
                  <a:moveTo>
                    <a:pt x="142494" y="0"/>
                  </a:moveTo>
                  <a:lnTo>
                    <a:pt x="97438" y="7303"/>
                  </a:lnTo>
                  <a:lnTo>
                    <a:pt x="58320" y="27639"/>
                  </a:lnTo>
                  <a:lnTo>
                    <a:pt x="27480" y="58649"/>
                  </a:lnTo>
                  <a:lnTo>
                    <a:pt x="7260" y="97974"/>
                  </a:lnTo>
                  <a:lnTo>
                    <a:pt x="0" y="143256"/>
                  </a:lnTo>
                  <a:lnTo>
                    <a:pt x="7260" y="188537"/>
                  </a:lnTo>
                  <a:lnTo>
                    <a:pt x="27480" y="227862"/>
                  </a:lnTo>
                  <a:lnTo>
                    <a:pt x="58320" y="258872"/>
                  </a:lnTo>
                  <a:lnTo>
                    <a:pt x="97438" y="279208"/>
                  </a:lnTo>
                  <a:lnTo>
                    <a:pt x="142494" y="286512"/>
                  </a:lnTo>
                  <a:lnTo>
                    <a:pt x="187549" y="279208"/>
                  </a:lnTo>
                  <a:lnTo>
                    <a:pt x="226667" y="258872"/>
                  </a:lnTo>
                  <a:lnTo>
                    <a:pt x="257507" y="227862"/>
                  </a:lnTo>
                  <a:lnTo>
                    <a:pt x="277727" y="188537"/>
                  </a:lnTo>
                  <a:lnTo>
                    <a:pt x="284988" y="143256"/>
                  </a:lnTo>
                  <a:lnTo>
                    <a:pt x="277727" y="97974"/>
                  </a:lnTo>
                  <a:lnTo>
                    <a:pt x="257507" y="58649"/>
                  </a:lnTo>
                  <a:lnTo>
                    <a:pt x="226667" y="27639"/>
                  </a:lnTo>
                  <a:lnTo>
                    <a:pt x="187549" y="7303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981194" y="4578858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4" h="287020">
                  <a:moveTo>
                    <a:pt x="0" y="143256"/>
                  </a:moveTo>
                  <a:lnTo>
                    <a:pt x="7260" y="97974"/>
                  </a:lnTo>
                  <a:lnTo>
                    <a:pt x="27480" y="58649"/>
                  </a:lnTo>
                  <a:lnTo>
                    <a:pt x="58320" y="27639"/>
                  </a:lnTo>
                  <a:lnTo>
                    <a:pt x="97438" y="7303"/>
                  </a:lnTo>
                  <a:lnTo>
                    <a:pt x="142494" y="0"/>
                  </a:lnTo>
                  <a:lnTo>
                    <a:pt x="187549" y="7303"/>
                  </a:lnTo>
                  <a:lnTo>
                    <a:pt x="226667" y="27639"/>
                  </a:lnTo>
                  <a:lnTo>
                    <a:pt x="257507" y="58649"/>
                  </a:lnTo>
                  <a:lnTo>
                    <a:pt x="277727" y="97974"/>
                  </a:lnTo>
                  <a:lnTo>
                    <a:pt x="284988" y="143256"/>
                  </a:lnTo>
                  <a:lnTo>
                    <a:pt x="277727" y="188537"/>
                  </a:lnTo>
                  <a:lnTo>
                    <a:pt x="257507" y="227862"/>
                  </a:lnTo>
                  <a:lnTo>
                    <a:pt x="226667" y="258872"/>
                  </a:lnTo>
                  <a:lnTo>
                    <a:pt x="187549" y="279208"/>
                  </a:lnTo>
                  <a:lnTo>
                    <a:pt x="142494" y="286512"/>
                  </a:lnTo>
                  <a:lnTo>
                    <a:pt x="97438" y="279208"/>
                  </a:lnTo>
                  <a:lnTo>
                    <a:pt x="58320" y="258872"/>
                  </a:lnTo>
                  <a:lnTo>
                    <a:pt x="27480" y="227862"/>
                  </a:lnTo>
                  <a:lnTo>
                    <a:pt x="7260" y="188537"/>
                  </a:lnTo>
                  <a:lnTo>
                    <a:pt x="0" y="143256"/>
                  </a:lnTo>
                  <a:close/>
                </a:path>
              </a:pathLst>
            </a:custGeom>
            <a:ln w="1905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4944871" y="4967477"/>
            <a:ext cx="3273425" cy="1067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2540">
              <a:lnSpc>
                <a:spcPct val="100000"/>
              </a:lnSpc>
              <a:spcBef>
                <a:spcPts val="95"/>
              </a:spcBef>
            </a:pPr>
            <a:r>
              <a:rPr dirty="0" sz="2800" spc="-305">
                <a:latin typeface="STIX Two Math"/>
                <a:cs typeface="STIX Two Math"/>
              </a:rPr>
              <a:t>AG</a:t>
            </a:r>
            <a:r>
              <a:rPr dirty="0" sz="2800" spc="-40">
                <a:latin typeface="STIX Two Math"/>
                <a:cs typeface="STIX Two Math"/>
              </a:rPr>
              <a:t> </a:t>
            </a:r>
            <a:r>
              <a:rPr dirty="0" sz="2800" spc="90">
                <a:solidFill>
                  <a:srgbClr val="538235"/>
                </a:solidFill>
                <a:latin typeface="STIX Two Math"/>
                <a:cs typeface="STIX Two Math"/>
              </a:rPr>
              <a:t>𝑃</a:t>
            </a:r>
            <a:endParaRPr sz="2800">
              <a:latin typeface="STIX Two Math"/>
              <a:cs typeface="STIX Two Math"/>
            </a:endParaRPr>
          </a:p>
          <a:p>
            <a:pPr algn="ctr">
              <a:lnSpc>
                <a:spcPts val="2395"/>
              </a:lnSpc>
              <a:spcBef>
                <a:spcPts val="55"/>
              </a:spcBef>
            </a:pPr>
            <a:r>
              <a:rPr dirty="0" sz="2000" spc="-105">
                <a:latin typeface="Arial"/>
                <a:cs typeface="Arial"/>
              </a:rPr>
              <a:t>Entlang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90" b="1">
                <a:latin typeface="Arial"/>
                <a:cs typeface="Arial"/>
              </a:rPr>
              <a:t>aller</a:t>
            </a:r>
            <a:r>
              <a:rPr dirty="0" sz="2000" spc="-100" b="1">
                <a:latin typeface="Arial"/>
                <a:cs typeface="Arial"/>
              </a:rPr>
              <a:t> </a:t>
            </a:r>
            <a:r>
              <a:rPr dirty="0" sz="2000" spc="-125">
                <a:latin typeface="Arial"/>
                <a:cs typeface="Arial"/>
              </a:rPr>
              <a:t>Pfade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gilt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100">
                <a:solidFill>
                  <a:srgbClr val="538235"/>
                </a:solidFill>
                <a:latin typeface="STIX Two Math"/>
                <a:cs typeface="STIX Two Math"/>
              </a:rPr>
              <a:t>𝑃</a:t>
            </a:r>
            <a:r>
              <a:rPr dirty="0" sz="2000" spc="20">
                <a:solidFill>
                  <a:srgbClr val="538235"/>
                </a:solidFill>
                <a:latin typeface="STIX Two Math"/>
                <a:cs typeface="STIX Two Math"/>
              </a:rPr>
              <a:t> </a:t>
            </a:r>
            <a:r>
              <a:rPr dirty="0" sz="2000" spc="-95" b="1">
                <a:latin typeface="Arial"/>
                <a:cs typeface="Arial"/>
              </a:rPr>
              <a:t>global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2395"/>
              </a:lnSpc>
            </a:pPr>
            <a:r>
              <a:rPr dirty="0" sz="2000" spc="-130">
                <a:latin typeface="Arial"/>
                <a:cs typeface="Arial"/>
              </a:rPr>
              <a:t>(=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gilt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immer)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35"/>
              <a:t>Temporale</a:t>
            </a:r>
            <a:r>
              <a:rPr dirty="0" spc="-175"/>
              <a:t> </a:t>
            </a:r>
            <a:r>
              <a:rPr dirty="0" spc="-165"/>
              <a:t>Operatoren</a:t>
            </a:r>
            <a:r>
              <a:rPr dirty="0" spc="-175"/>
              <a:t> </a:t>
            </a:r>
            <a:r>
              <a:rPr dirty="0" spc="-65"/>
              <a:t>in</a:t>
            </a:r>
            <a:r>
              <a:rPr dirty="0" spc="-175"/>
              <a:t> </a:t>
            </a:r>
            <a:r>
              <a:rPr dirty="0" spc="-645"/>
              <a:t>CTL</a:t>
            </a:r>
          </a:p>
        </p:txBody>
      </p:sp>
      <p:sp>
        <p:nvSpPr>
          <p:cNvPr id="3" name="object 3"/>
          <p:cNvSpPr/>
          <p:nvPr/>
        </p:nvSpPr>
        <p:spPr>
          <a:xfrm>
            <a:off x="4211828" y="2607309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4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31242" y="8890"/>
                </a:lnTo>
                <a:lnTo>
                  <a:pt x="31242" y="20447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99942" y="2607309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4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18542" y="204470"/>
                </a:lnTo>
                <a:lnTo>
                  <a:pt x="18542" y="889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65852" y="2607309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4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31242" y="8890"/>
                </a:lnTo>
                <a:lnTo>
                  <a:pt x="31242" y="20447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55490" y="2607309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4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18542" y="204470"/>
                </a:lnTo>
                <a:lnTo>
                  <a:pt x="18542" y="889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667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1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dirty="0" spc="-110"/>
              <a:t>Die</a:t>
            </a:r>
            <a:r>
              <a:rPr dirty="0" spc="-50"/>
              <a:t> </a:t>
            </a:r>
            <a:r>
              <a:rPr dirty="0" spc="-135"/>
              <a:t>Syntax</a:t>
            </a:r>
            <a:r>
              <a:rPr dirty="0" spc="-70"/>
              <a:t> </a:t>
            </a:r>
            <a:r>
              <a:rPr dirty="0" spc="-50"/>
              <a:t>der</a:t>
            </a:r>
            <a:r>
              <a:rPr dirty="0" spc="-60"/>
              <a:t> </a:t>
            </a:r>
            <a:r>
              <a:rPr dirty="0" spc="-114"/>
              <a:t>Aussagenlogik</a:t>
            </a:r>
            <a:r>
              <a:rPr dirty="0" spc="-75"/>
              <a:t> </a:t>
            </a:r>
            <a:r>
              <a:rPr dirty="0" spc="-20"/>
              <a:t>wird</a:t>
            </a:r>
            <a:r>
              <a:rPr dirty="0" spc="-50"/>
              <a:t> </a:t>
            </a:r>
            <a:r>
              <a:rPr dirty="0"/>
              <a:t>mit</a:t>
            </a:r>
            <a:r>
              <a:rPr dirty="0" spc="-55"/>
              <a:t> </a:t>
            </a:r>
            <a:r>
              <a:rPr dirty="0" spc="-60"/>
              <a:t>temporalen</a:t>
            </a:r>
            <a:r>
              <a:rPr dirty="0" spc="-45"/>
              <a:t> </a:t>
            </a:r>
            <a:r>
              <a:rPr dirty="0" spc="-75"/>
              <a:t>Operatoren</a:t>
            </a:r>
            <a:r>
              <a:rPr dirty="0" spc="-60"/>
              <a:t> </a:t>
            </a:r>
            <a:r>
              <a:rPr dirty="0" spc="-10"/>
              <a:t>erweitert.</a:t>
            </a:r>
          </a:p>
          <a:p>
            <a:pPr lvl="1" marL="697865" indent="-227965">
              <a:lnSpc>
                <a:spcPct val="100000"/>
              </a:lnSpc>
              <a:spcBef>
                <a:spcPts val="30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697865" algn="l"/>
                <a:tab pos="3670300" algn="l"/>
              </a:tabLst>
            </a:pPr>
            <a:r>
              <a:rPr dirty="0" sz="1800" spc="-60">
                <a:solidFill>
                  <a:srgbClr val="A4A4A4"/>
                </a:solidFill>
                <a:latin typeface="Arial"/>
                <a:cs typeface="Arial"/>
              </a:rPr>
              <a:t>Im</a:t>
            </a:r>
            <a:r>
              <a:rPr dirty="0" sz="1800" spc="-7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95">
                <a:solidFill>
                  <a:srgbClr val="A4A4A4"/>
                </a:solidFill>
                <a:latin typeface="Arial"/>
                <a:cs typeface="Arial"/>
              </a:rPr>
              <a:t>nächsten</a:t>
            </a:r>
            <a:r>
              <a:rPr dirty="0" sz="1800" spc="-6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A4A4A4"/>
                </a:solidFill>
                <a:latin typeface="Arial"/>
                <a:cs typeface="Arial"/>
              </a:rPr>
              <a:t>(neXt)</a:t>
            </a:r>
            <a:r>
              <a:rPr dirty="0" sz="1800" spc="-5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A4A4A4"/>
                </a:solidFill>
                <a:latin typeface="Arial"/>
                <a:cs typeface="Arial"/>
              </a:rPr>
              <a:t>Zustand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	</a:t>
            </a:r>
            <a:r>
              <a:rPr dirty="0" sz="1800" spc="-305">
                <a:solidFill>
                  <a:srgbClr val="A4A4A4"/>
                </a:solidFill>
                <a:latin typeface="Arial"/>
                <a:cs typeface="Arial"/>
              </a:rPr>
              <a:t>EX</a:t>
            </a:r>
            <a:r>
              <a:rPr dirty="0" sz="1800" spc="-6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,</a:t>
            </a:r>
            <a:r>
              <a:rPr dirty="0" sz="1800" spc="-6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225">
                <a:solidFill>
                  <a:srgbClr val="A4A4A4"/>
                </a:solidFill>
                <a:latin typeface="Arial"/>
                <a:cs typeface="Arial"/>
              </a:rPr>
              <a:t>AX</a:t>
            </a:r>
            <a:r>
              <a:rPr dirty="0" sz="1800" spc="-7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endParaRPr sz="1800">
              <a:latin typeface="STIX Two Math"/>
              <a:cs typeface="STIX Two Math"/>
            </a:endParaRPr>
          </a:p>
          <a:p>
            <a:pPr lvl="1" marL="697865" indent="-227965">
              <a:lnSpc>
                <a:spcPct val="100000"/>
              </a:lnSpc>
              <a:spcBef>
                <a:spcPts val="27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697865" algn="l"/>
                <a:tab pos="2755900" algn="l"/>
              </a:tabLst>
            </a:pPr>
            <a:r>
              <a:rPr dirty="0" sz="1800" spc="-80">
                <a:solidFill>
                  <a:srgbClr val="A4A4A4"/>
                </a:solidFill>
                <a:latin typeface="Arial"/>
                <a:cs typeface="Arial"/>
              </a:rPr>
              <a:t>Irgendwann</a:t>
            </a:r>
            <a:r>
              <a:rPr dirty="0" sz="1800" spc="-4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A4A4A4"/>
                </a:solidFill>
                <a:latin typeface="Arial"/>
                <a:cs typeface="Arial"/>
              </a:rPr>
              <a:t>(Future)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	</a:t>
            </a:r>
            <a:r>
              <a:rPr dirty="0" sz="1800" spc="-305">
                <a:solidFill>
                  <a:srgbClr val="A4A4A4"/>
                </a:solidFill>
                <a:latin typeface="Arial"/>
                <a:cs typeface="Arial"/>
              </a:rPr>
              <a:t>EF</a:t>
            </a:r>
            <a:r>
              <a:rPr dirty="0" sz="1800" spc="-7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,</a:t>
            </a:r>
            <a:r>
              <a:rPr dirty="0" sz="1800" spc="-6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229">
                <a:solidFill>
                  <a:srgbClr val="A4A4A4"/>
                </a:solidFill>
                <a:latin typeface="Arial"/>
                <a:cs typeface="Arial"/>
              </a:rPr>
              <a:t>AF</a:t>
            </a:r>
            <a:r>
              <a:rPr dirty="0" sz="1800" spc="-7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endParaRPr sz="1800">
              <a:latin typeface="STIX Two Math"/>
              <a:cs typeface="STIX Two Math"/>
            </a:endParaRPr>
          </a:p>
          <a:p>
            <a:pPr lvl="1" marL="697865" indent="-227965">
              <a:lnSpc>
                <a:spcPct val="100000"/>
              </a:lnSpc>
              <a:spcBef>
                <a:spcPts val="28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697865" algn="l"/>
                <a:tab pos="2755900" algn="l"/>
              </a:tabLst>
            </a:pPr>
            <a:r>
              <a:rPr dirty="0" sz="1800" spc="-55">
                <a:solidFill>
                  <a:srgbClr val="A4A4A4"/>
                </a:solidFill>
                <a:latin typeface="Arial"/>
                <a:cs typeface="Arial"/>
              </a:rPr>
              <a:t>Immer</a:t>
            </a:r>
            <a:r>
              <a:rPr dirty="0" sz="1800" spc="-7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A4A4A4"/>
                </a:solidFill>
                <a:latin typeface="Arial"/>
                <a:cs typeface="Arial"/>
              </a:rPr>
              <a:t>(Global)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	</a:t>
            </a:r>
            <a:r>
              <a:rPr dirty="0" sz="1800" spc="-300">
                <a:solidFill>
                  <a:srgbClr val="A4A4A4"/>
                </a:solidFill>
                <a:latin typeface="Arial"/>
                <a:cs typeface="Arial"/>
              </a:rPr>
              <a:t>EG</a:t>
            </a:r>
            <a:r>
              <a:rPr dirty="0" sz="1800" spc="-6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r>
              <a:rPr dirty="0" sz="1800">
                <a:solidFill>
                  <a:srgbClr val="A4A4A4"/>
                </a:solidFill>
                <a:latin typeface="Arial"/>
                <a:cs typeface="Arial"/>
              </a:rPr>
              <a:t>,</a:t>
            </a:r>
            <a:r>
              <a:rPr dirty="0" sz="1800" spc="-6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-225">
                <a:solidFill>
                  <a:srgbClr val="A4A4A4"/>
                </a:solidFill>
                <a:latin typeface="Arial"/>
                <a:cs typeface="Arial"/>
              </a:rPr>
              <a:t>AG</a:t>
            </a:r>
            <a:r>
              <a:rPr dirty="0" sz="1800" spc="-7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A4A4A4"/>
                </a:solidFill>
                <a:latin typeface="STIX Two Math"/>
                <a:cs typeface="STIX Two Math"/>
              </a:rPr>
              <a:t>𝑃</a:t>
            </a:r>
            <a:endParaRPr sz="1800">
              <a:latin typeface="STIX Two Math"/>
              <a:cs typeface="STIX Two Math"/>
            </a:endParaRPr>
          </a:p>
          <a:p>
            <a:pPr lvl="1" marL="697865" indent="-227965">
              <a:lnSpc>
                <a:spcPct val="100000"/>
              </a:lnSpc>
              <a:spcBef>
                <a:spcPts val="29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697865" algn="l"/>
              </a:tabLst>
            </a:pPr>
            <a:r>
              <a:rPr dirty="0" sz="1800" spc="-135">
                <a:latin typeface="Arial"/>
                <a:cs typeface="Arial"/>
              </a:rPr>
              <a:t>Von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70">
                <a:latin typeface="Arial"/>
                <a:cs typeface="Arial"/>
              </a:rPr>
              <a:t>nun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110">
                <a:latin typeface="Arial"/>
                <a:cs typeface="Arial"/>
              </a:rPr>
              <a:t>an</a:t>
            </a:r>
            <a:r>
              <a:rPr dirty="0" sz="1800" spc="-95">
                <a:latin typeface="Arial"/>
                <a:cs typeface="Arial"/>
              </a:rPr>
              <a:t> bis </a:t>
            </a:r>
            <a:r>
              <a:rPr dirty="0" sz="1800" spc="-40">
                <a:latin typeface="Arial"/>
                <a:cs typeface="Arial"/>
              </a:rPr>
              <a:t>(Until)</a:t>
            </a:r>
            <a:r>
              <a:rPr dirty="0" sz="1800" spc="-110">
                <a:latin typeface="Arial"/>
                <a:cs typeface="Arial"/>
              </a:rPr>
              <a:t> </a:t>
            </a:r>
            <a:r>
              <a:rPr dirty="0" sz="1800" spc="-325">
                <a:latin typeface="Arial"/>
                <a:cs typeface="Arial"/>
              </a:rPr>
              <a:t>E</a:t>
            </a:r>
            <a:r>
              <a:rPr dirty="0" sz="1800" spc="135">
                <a:latin typeface="Arial"/>
                <a:cs typeface="Arial"/>
              </a:rPr>
              <a:t> </a:t>
            </a:r>
            <a:r>
              <a:rPr dirty="0" sz="1800" spc="80">
                <a:latin typeface="STIX Two Math"/>
                <a:cs typeface="STIX Two Math"/>
              </a:rPr>
              <a:t>𝑃</a:t>
            </a:r>
            <a:r>
              <a:rPr dirty="0" sz="1800" spc="-80">
                <a:latin typeface="STIX Two Math"/>
                <a:cs typeface="STIX Two Math"/>
              </a:rPr>
              <a:t> </a:t>
            </a:r>
            <a:r>
              <a:rPr dirty="0" sz="1800" spc="-165">
                <a:latin typeface="Arial"/>
                <a:cs typeface="Arial"/>
              </a:rPr>
              <a:t>U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>
                <a:latin typeface="STIX Two Math"/>
                <a:cs typeface="STIX Two Math"/>
              </a:rPr>
              <a:t>𝑄</a:t>
            </a:r>
            <a:r>
              <a:rPr dirty="0" sz="1800" spc="245">
                <a:latin typeface="STIX Two Math"/>
                <a:cs typeface="STIX Two Math"/>
              </a:rPr>
              <a:t> </a:t>
            </a:r>
            <a:r>
              <a:rPr dirty="0" sz="1800" spc="-55">
                <a:latin typeface="Arial"/>
                <a:cs typeface="Arial"/>
              </a:rPr>
              <a:t>,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120">
                <a:latin typeface="Arial"/>
                <a:cs typeface="Arial"/>
              </a:rPr>
              <a:t> </a:t>
            </a:r>
            <a:r>
              <a:rPr dirty="0" sz="1800" spc="80">
                <a:latin typeface="STIX Two Math"/>
                <a:cs typeface="STIX Two Math"/>
              </a:rPr>
              <a:t>𝑃</a:t>
            </a:r>
            <a:r>
              <a:rPr dirty="0" sz="1800" spc="-25">
                <a:latin typeface="STIX Two Math"/>
                <a:cs typeface="STIX Two Math"/>
              </a:rPr>
              <a:t> </a:t>
            </a:r>
            <a:r>
              <a:rPr dirty="0" sz="1800" spc="-165">
                <a:latin typeface="Arial"/>
                <a:cs typeface="Arial"/>
              </a:rPr>
              <a:t>U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-50">
                <a:latin typeface="STIX Two Math"/>
                <a:cs typeface="STIX Two Math"/>
              </a:rPr>
              <a:t>𝑄</a:t>
            </a:r>
            <a:endParaRPr sz="1800">
              <a:latin typeface="STIX Two Math"/>
              <a:cs typeface="STIX Two Math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620" y="3124580"/>
            <a:ext cx="2876550" cy="1745742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810891" y="5096509"/>
            <a:ext cx="77470" cy="330200"/>
          </a:xfrm>
          <a:custGeom>
            <a:avLst/>
            <a:gdLst/>
            <a:ahLst/>
            <a:cxnLst/>
            <a:rect l="l" t="t" r="r" b="b"/>
            <a:pathLst>
              <a:path w="77469" h="330200">
                <a:moveTo>
                  <a:pt x="77343" y="0"/>
                </a:moveTo>
                <a:lnTo>
                  <a:pt x="0" y="0"/>
                </a:lnTo>
                <a:lnTo>
                  <a:pt x="0" y="13970"/>
                </a:lnTo>
                <a:lnTo>
                  <a:pt x="48514" y="13970"/>
                </a:lnTo>
                <a:lnTo>
                  <a:pt x="48514" y="317500"/>
                </a:lnTo>
                <a:lnTo>
                  <a:pt x="0" y="317500"/>
                </a:lnTo>
                <a:lnTo>
                  <a:pt x="0" y="330200"/>
                </a:lnTo>
                <a:lnTo>
                  <a:pt x="77343" y="330200"/>
                </a:lnTo>
                <a:lnTo>
                  <a:pt x="77343" y="317500"/>
                </a:lnTo>
                <a:lnTo>
                  <a:pt x="77343" y="13970"/>
                </a:lnTo>
                <a:lnTo>
                  <a:pt x="77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61439" y="5096509"/>
            <a:ext cx="77470" cy="330200"/>
          </a:xfrm>
          <a:custGeom>
            <a:avLst/>
            <a:gdLst/>
            <a:ahLst/>
            <a:cxnLst/>
            <a:rect l="l" t="t" r="r" b="b"/>
            <a:pathLst>
              <a:path w="77469" h="330200">
                <a:moveTo>
                  <a:pt x="77343" y="0"/>
                </a:moveTo>
                <a:lnTo>
                  <a:pt x="0" y="0"/>
                </a:lnTo>
                <a:lnTo>
                  <a:pt x="0" y="13970"/>
                </a:lnTo>
                <a:lnTo>
                  <a:pt x="0" y="317500"/>
                </a:lnTo>
                <a:lnTo>
                  <a:pt x="0" y="330200"/>
                </a:lnTo>
                <a:lnTo>
                  <a:pt x="77343" y="330200"/>
                </a:lnTo>
                <a:lnTo>
                  <a:pt x="77343" y="317500"/>
                </a:lnTo>
                <a:lnTo>
                  <a:pt x="28829" y="317500"/>
                </a:lnTo>
                <a:lnTo>
                  <a:pt x="28829" y="13970"/>
                </a:lnTo>
                <a:lnTo>
                  <a:pt x="77343" y="13970"/>
                </a:lnTo>
                <a:lnTo>
                  <a:pt x="77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603628" y="4996688"/>
            <a:ext cx="12020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STIX Two Math"/>
                <a:cs typeface="STIX Two Math"/>
              </a:rPr>
              <a:t>E</a:t>
            </a:r>
            <a:r>
              <a:rPr dirty="0" sz="2800" spc="225">
                <a:latin typeface="STIX Two Math"/>
                <a:cs typeface="STIX Two Math"/>
              </a:rPr>
              <a:t> </a:t>
            </a:r>
            <a:r>
              <a:rPr dirty="0" sz="2800" spc="140">
                <a:solidFill>
                  <a:srgbClr val="538235"/>
                </a:solidFill>
                <a:latin typeface="STIX Two Math"/>
                <a:cs typeface="STIX Two Math"/>
              </a:rPr>
              <a:t>𝑃</a:t>
            </a:r>
            <a:r>
              <a:rPr dirty="0" sz="2800" spc="-95">
                <a:solidFill>
                  <a:srgbClr val="538235"/>
                </a:solidFill>
                <a:latin typeface="STIX Two Math"/>
                <a:cs typeface="STIX Two Math"/>
              </a:rPr>
              <a:t> </a:t>
            </a:r>
            <a:r>
              <a:rPr dirty="0" sz="2800" spc="-295">
                <a:latin typeface="STIX Two Math"/>
                <a:cs typeface="STIX Two Math"/>
              </a:rPr>
              <a:t>U</a:t>
            </a:r>
            <a:r>
              <a:rPr dirty="0" sz="2800" spc="-50">
                <a:latin typeface="STIX Two Math"/>
                <a:cs typeface="STIX Two Math"/>
              </a:rPr>
              <a:t> </a:t>
            </a:r>
            <a:r>
              <a:rPr dirty="0" sz="2800" spc="-50">
                <a:solidFill>
                  <a:srgbClr val="2E5496"/>
                </a:solidFill>
                <a:latin typeface="STIX Two Math"/>
                <a:cs typeface="STIX Two Math"/>
              </a:rPr>
              <a:t>𝑄</a:t>
            </a:r>
            <a:endParaRPr sz="2800">
              <a:latin typeface="STIX Two Math"/>
              <a:cs typeface="STIX Two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2406" y="5427979"/>
            <a:ext cx="3018155" cy="6375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00330">
              <a:lnSpc>
                <a:spcPct val="100499"/>
              </a:lnSpc>
              <a:spcBef>
                <a:spcPts val="90"/>
              </a:spcBef>
            </a:pPr>
            <a:r>
              <a:rPr dirty="0" sz="2000" spc="-70">
                <a:latin typeface="Arial"/>
                <a:cs typeface="Arial"/>
              </a:rPr>
              <a:t>Auf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min.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einem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35">
                <a:latin typeface="Arial"/>
                <a:cs typeface="Arial"/>
              </a:rPr>
              <a:t>Pfad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gilt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ab </a:t>
            </a:r>
            <a:r>
              <a:rPr dirty="0" sz="2000" spc="-20">
                <a:latin typeface="Arial"/>
                <a:cs typeface="Arial"/>
              </a:rPr>
              <a:t>jetzt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38235"/>
                </a:solidFill>
                <a:latin typeface="STIX Two Math"/>
                <a:cs typeface="STIX Two Math"/>
              </a:rPr>
              <a:t>𝑃</a:t>
            </a:r>
            <a:r>
              <a:rPr dirty="0" sz="2000">
                <a:latin typeface="Arial"/>
                <a:cs typeface="Arial"/>
              </a:rPr>
              <a:t>,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185" b="1">
                <a:latin typeface="Arial"/>
                <a:cs typeface="Arial"/>
              </a:rPr>
              <a:t>bis</a:t>
            </a:r>
            <a:r>
              <a:rPr dirty="0" sz="2000" spc="-100" b="1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irgendwann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E5496"/>
                </a:solidFill>
                <a:latin typeface="STIX Two Math"/>
                <a:cs typeface="STIX Two Math"/>
              </a:rPr>
              <a:t>𝑄</a:t>
            </a:r>
            <a:r>
              <a:rPr dirty="0" sz="2000" spc="45">
                <a:solidFill>
                  <a:srgbClr val="2E5496"/>
                </a:solidFill>
                <a:latin typeface="STIX Two Math"/>
                <a:cs typeface="STIX Two Math"/>
              </a:rPr>
              <a:t> </a:t>
            </a:r>
            <a:r>
              <a:rPr dirty="0" sz="2000" spc="-20">
                <a:latin typeface="Arial"/>
                <a:cs typeface="Arial"/>
              </a:rPr>
              <a:t>gilt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919853" y="3124580"/>
            <a:ext cx="2876550" cy="1746250"/>
            <a:chOff x="4919853" y="3124580"/>
            <a:chExt cx="2876550" cy="1746250"/>
          </a:xfrm>
        </p:grpSpPr>
        <p:sp>
          <p:nvSpPr>
            <p:cNvPr id="14" name="object 14"/>
            <p:cNvSpPr/>
            <p:nvPr/>
          </p:nvSpPr>
          <p:spPr>
            <a:xfrm>
              <a:off x="5072634" y="3366134"/>
              <a:ext cx="2573020" cy="1207770"/>
            </a:xfrm>
            <a:custGeom>
              <a:avLst/>
              <a:gdLst/>
              <a:ahLst/>
              <a:cxnLst/>
              <a:rect l="l" t="t" r="r" b="b"/>
              <a:pathLst>
                <a:path w="2573020" h="1207770">
                  <a:moveTo>
                    <a:pt x="480568" y="735203"/>
                  </a:moveTo>
                  <a:lnTo>
                    <a:pt x="460375" y="714883"/>
                  </a:lnTo>
                  <a:lnTo>
                    <a:pt x="47256" y="1128001"/>
                  </a:lnTo>
                  <a:lnTo>
                    <a:pt x="59055" y="1083183"/>
                  </a:lnTo>
                  <a:lnTo>
                    <a:pt x="60985" y="1075944"/>
                  </a:lnTo>
                  <a:lnTo>
                    <a:pt x="61087" y="1075563"/>
                  </a:lnTo>
                  <a:lnTo>
                    <a:pt x="56515" y="1067689"/>
                  </a:lnTo>
                  <a:lnTo>
                    <a:pt x="48895" y="1065657"/>
                  </a:lnTo>
                  <a:lnTo>
                    <a:pt x="41275" y="1063752"/>
                  </a:lnTo>
                  <a:lnTo>
                    <a:pt x="33401" y="1068324"/>
                  </a:lnTo>
                  <a:lnTo>
                    <a:pt x="31584" y="1075563"/>
                  </a:lnTo>
                  <a:lnTo>
                    <a:pt x="0" y="1195578"/>
                  </a:lnTo>
                  <a:lnTo>
                    <a:pt x="37617" y="1185672"/>
                  </a:lnTo>
                  <a:lnTo>
                    <a:pt x="127254" y="1162050"/>
                  </a:lnTo>
                  <a:lnTo>
                    <a:pt x="131826" y="1154303"/>
                  </a:lnTo>
                  <a:lnTo>
                    <a:pt x="129794" y="1146683"/>
                  </a:lnTo>
                  <a:lnTo>
                    <a:pt x="127762" y="1138936"/>
                  </a:lnTo>
                  <a:lnTo>
                    <a:pt x="120015" y="1134491"/>
                  </a:lnTo>
                  <a:lnTo>
                    <a:pt x="112395" y="1136396"/>
                  </a:lnTo>
                  <a:lnTo>
                    <a:pt x="67576" y="1148194"/>
                  </a:lnTo>
                  <a:lnTo>
                    <a:pt x="480568" y="735203"/>
                  </a:lnTo>
                  <a:close/>
                </a:path>
                <a:path w="2573020" h="1207770">
                  <a:moveTo>
                    <a:pt x="637794" y="1081913"/>
                  </a:moveTo>
                  <a:lnTo>
                    <a:pt x="635508" y="1073150"/>
                  </a:lnTo>
                  <a:lnTo>
                    <a:pt x="621919" y="1065149"/>
                  </a:lnTo>
                  <a:lnTo>
                    <a:pt x="613156" y="1067435"/>
                  </a:lnTo>
                  <a:lnTo>
                    <a:pt x="609219" y="1074293"/>
                  </a:lnTo>
                  <a:lnTo>
                    <a:pt x="585825" y="1114361"/>
                  </a:lnTo>
                  <a:lnTo>
                    <a:pt x="585825" y="1114526"/>
                  </a:lnTo>
                  <a:lnTo>
                    <a:pt x="571500" y="1138923"/>
                  </a:lnTo>
                  <a:lnTo>
                    <a:pt x="585736" y="1114526"/>
                  </a:lnTo>
                  <a:lnTo>
                    <a:pt x="585724" y="767715"/>
                  </a:lnTo>
                  <a:lnTo>
                    <a:pt x="557149" y="767715"/>
                  </a:lnTo>
                  <a:lnTo>
                    <a:pt x="557250" y="1114526"/>
                  </a:lnTo>
                  <a:lnTo>
                    <a:pt x="557276" y="1167257"/>
                  </a:lnTo>
                  <a:lnTo>
                    <a:pt x="557161" y="1114361"/>
                  </a:lnTo>
                  <a:lnTo>
                    <a:pt x="533781" y="1074293"/>
                  </a:lnTo>
                  <a:lnTo>
                    <a:pt x="529844" y="1067435"/>
                  </a:lnTo>
                  <a:lnTo>
                    <a:pt x="521081" y="1065149"/>
                  </a:lnTo>
                  <a:lnTo>
                    <a:pt x="507492" y="1073150"/>
                  </a:lnTo>
                  <a:lnTo>
                    <a:pt x="505206" y="1081913"/>
                  </a:lnTo>
                  <a:lnTo>
                    <a:pt x="571500" y="1195578"/>
                  </a:lnTo>
                  <a:lnTo>
                    <a:pt x="588010" y="1167257"/>
                  </a:lnTo>
                  <a:lnTo>
                    <a:pt x="637794" y="1081913"/>
                  </a:lnTo>
                  <a:close/>
                </a:path>
                <a:path w="2573020" h="1207770">
                  <a:moveTo>
                    <a:pt x="1142619" y="1207770"/>
                  </a:moveTo>
                  <a:lnTo>
                    <a:pt x="1140040" y="1197483"/>
                  </a:lnTo>
                  <a:lnTo>
                    <a:pt x="1110742" y="1080135"/>
                  </a:lnTo>
                  <a:lnTo>
                    <a:pt x="1102995" y="1075436"/>
                  </a:lnTo>
                  <a:lnTo>
                    <a:pt x="1087628" y="1079246"/>
                  </a:lnTo>
                  <a:lnTo>
                    <a:pt x="1083056" y="1086993"/>
                  </a:lnTo>
                  <a:lnTo>
                    <a:pt x="1084961" y="1094740"/>
                  </a:lnTo>
                  <a:lnTo>
                    <a:pt x="1096149" y="1139647"/>
                  </a:lnTo>
                  <a:lnTo>
                    <a:pt x="682371" y="715010"/>
                  </a:lnTo>
                  <a:lnTo>
                    <a:pt x="661797" y="735076"/>
                  </a:lnTo>
                  <a:lnTo>
                    <a:pt x="1075639" y="1159662"/>
                  </a:lnTo>
                  <a:lnTo>
                    <a:pt x="1023366" y="1145159"/>
                  </a:lnTo>
                  <a:lnTo>
                    <a:pt x="1015492" y="1149604"/>
                  </a:lnTo>
                  <a:lnTo>
                    <a:pt x="1013460" y="1157224"/>
                  </a:lnTo>
                  <a:lnTo>
                    <a:pt x="1011301" y="1164844"/>
                  </a:lnTo>
                  <a:lnTo>
                    <a:pt x="1015746" y="1172718"/>
                  </a:lnTo>
                  <a:lnTo>
                    <a:pt x="1023366" y="1174750"/>
                  </a:lnTo>
                  <a:lnTo>
                    <a:pt x="1142619" y="1207770"/>
                  </a:lnTo>
                  <a:close/>
                </a:path>
                <a:path w="2573020" h="1207770">
                  <a:moveTo>
                    <a:pt x="1264412" y="23622"/>
                  </a:moveTo>
                  <a:lnTo>
                    <a:pt x="1248156" y="0"/>
                  </a:lnTo>
                  <a:lnTo>
                    <a:pt x="630250" y="424637"/>
                  </a:lnTo>
                  <a:lnTo>
                    <a:pt x="650113" y="382651"/>
                  </a:lnTo>
                  <a:lnTo>
                    <a:pt x="653415" y="375412"/>
                  </a:lnTo>
                  <a:lnTo>
                    <a:pt x="650367" y="366903"/>
                  </a:lnTo>
                  <a:lnTo>
                    <a:pt x="643255" y="363601"/>
                  </a:lnTo>
                  <a:lnTo>
                    <a:pt x="636143" y="360172"/>
                  </a:lnTo>
                  <a:lnTo>
                    <a:pt x="627634" y="363220"/>
                  </a:lnTo>
                  <a:lnTo>
                    <a:pt x="624205" y="370459"/>
                  </a:lnTo>
                  <a:lnTo>
                    <a:pt x="571500" y="482346"/>
                  </a:lnTo>
                  <a:lnTo>
                    <a:pt x="629729" y="478028"/>
                  </a:lnTo>
                  <a:lnTo>
                    <a:pt x="702691" y="472567"/>
                  </a:lnTo>
                  <a:lnTo>
                    <a:pt x="708660" y="465709"/>
                  </a:lnTo>
                  <a:lnTo>
                    <a:pt x="708025" y="457835"/>
                  </a:lnTo>
                  <a:lnTo>
                    <a:pt x="707644" y="451993"/>
                  </a:lnTo>
                  <a:lnTo>
                    <a:pt x="707529" y="450176"/>
                  </a:lnTo>
                  <a:lnTo>
                    <a:pt x="707517" y="449961"/>
                  </a:lnTo>
                  <a:lnTo>
                    <a:pt x="700659" y="444119"/>
                  </a:lnTo>
                  <a:lnTo>
                    <a:pt x="646480" y="448081"/>
                  </a:lnTo>
                  <a:lnTo>
                    <a:pt x="1264412" y="23622"/>
                  </a:lnTo>
                  <a:close/>
                </a:path>
                <a:path w="2573020" h="1207770">
                  <a:moveTo>
                    <a:pt x="2054860" y="731901"/>
                  </a:moveTo>
                  <a:lnTo>
                    <a:pt x="2029714" y="718185"/>
                  </a:lnTo>
                  <a:lnTo>
                    <a:pt x="1812378" y="1117460"/>
                  </a:lnTo>
                  <a:lnTo>
                    <a:pt x="1811045" y="1071880"/>
                  </a:lnTo>
                  <a:lnTo>
                    <a:pt x="1810791" y="1064006"/>
                  </a:lnTo>
                  <a:lnTo>
                    <a:pt x="1810766" y="1063117"/>
                  </a:lnTo>
                  <a:lnTo>
                    <a:pt x="1804162" y="1056894"/>
                  </a:lnTo>
                  <a:lnTo>
                    <a:pt x="1788414" y="1057402"/>
                  </a:lnTo>
                  <a:lnTo>
                    <a:pt x="1782191" y="1064006"/>
                  </a:lnTo>
                  <a:lnTo>
                    <a:pt x="1782406" y="1070991"/>
                  </a:lnTo>
                  <a:lnTo>
                    <a:pt x="1786128" y="1195578"/>
                  </a:lnTo>
                  <a:lnTo>
                    <a:pt x="1815922" y="1177544"/>
                  </a:lnTo>
                  <a:lnTo>
                    <a:pt x="1898777" y="1127379"/>
                  </a:lnTo>
                  <a:lnTo>
                    <a:pt x="1900936" y="1118616"/>
                  </a:lnTo>
                  <a:lnTo>
                    <a:pt x="1896745" y="1111885"/>
                  </a:lnTo>
                  <a:lnTo>
                    <a:pt x="1892681" y="1105154"/>
                  </a:lnTo>
                  <a:lnTo>
                    <a:pt x="1883918" y="1102995"/>
                  </a:lnTo>
                  <a:lnTo>
                    <a:pt x="1837436" y="1131125"/>
                  </a:lnTo>
                  <a:lnTo>
                    <a:pt x="2054860" y="731901"/>
                  </a:lnTo>
                  <a:close/>
                </a:path>
                <a:path w="2573020" h="1207770">
                  <a:moveTo>
                    <a:pt x="2143252" y="482346"/>
                  </a:moveTo>
                  <a:lnTo>
                    <a:pt x="2141207" y="478028"/>
                  </a:lnTo>
                  <a:lnTo>
                    <a:pt x="2090547" y="370459"/>
                  </a:lnTo>
                  <a:lnTo>
                    <a:pt x="2087118" y="363220"/>
                  </a:lnTo>
                  <a:lnTo>
                    <a:pt x="2078609" y="360172"/>
                  </a:lnTo>
                  <a:lnTo>
                    <a:pt x="2071497" y="363601"/>
                  </a:lnTo>
                  <a:lnTo>
                    <a:pt x="2064385" y="366903"/>
                  </a:lnTo>
                  <a:lnTo>
                    <a:pt x="2061337" y="375412"/>
                  </a:lnTo>
                  <a:lnTo>
                    <a:pt x="2064639" y="382651"/>
                  </a:lnTo>
                  <a:lnTo>
                    <a:pt x="2084489" y="424637"/>
                  </a:lnTo>
                  <a:lnTo>
                    <a:pt x="2096477" y="449961"/>
                  </a:lnTo>
                  <a:lnTo>
                    <a:pt x="2096579" y="450176"/>
                  </a:lnTo>
                  <a:lnTo>
                    <a:pt x="2084489" y="424637"/>
                  </a:lnTo>
                  <a:lnTo>
                    <a:pt x="1466596" y="0"/>
                  </a:lnTo>
                  <a:lnTo>
                    <a:pt x="1450340" y="23622"/>
                  </a:lnTo>
                  <a:lnTo>
                    <a:pt x="2068258" y="448081"/>
                  </a:lnTo>
                  <a:lnTo>
                    <a:pt x="2014093" y="444119"/>
                  </a:lnTo>
                  <a:lnTo>
                    <a:pt x="2007362" y="449961"/>
                  </a:lnTo>
                  <a:lnTo>
                    <a:pt x="2006092" y="465709"/>
                  </a:lnTo>
                  <a:lnTo>
                    <a:pt x="2012061" y="472567"/>
                  </a:lnTo>
                  <a:lnTo>
                    <a:pt x="2143252" y="482346"/>
                  </a:lnTo>
                  <a:close/>
                </a:path>
                <a:path w="2573020" h="1207770">
                  <a:moveTo>
                    <a:pt x="2572512" y="1165987"/>
                  </a:moveTo>
                  <a:lnTo>
                    <a:pt x="2570911" y="1151763"/>
                  </a:lnTo>
                  <a:lnTo>
                    <a:pt x="2557907" y="1035177"/>
                  </a:lnTo>
                  <a:lnTo>
                    <a:pt x="2550795" y="1029462"/>
                  </a:lnTo>
                  <a:lnTo>
                    <a:pt x="2535174" y="1031240"/>
                  </a:lnTo>
                  <a:lnTo>
                    <a:pt x="2529459" y="1038352"/>
                  </a:lnTo>
                  <a:lnTo>
                    <a:pt x="2535364" y="1091057"/>
                  </a:lnTo>
                  <a:lnTo>
                    <a:pt x="2535390" y="1091311"/>
                  </a:lnTo>
                  <a:lnTo>
                    <a:pt x="2535504" y="1092301"/>
                  </a:lnTo>
                  <a:lnTo>
                    <a:pt x="2256282" y="716534"/>
                  </a:lnTo>
                  <a:lnTo>
                    <a:pt x="2233422" y="733552"/>
                  </a:lnTo>
                  <a:lnTo>
                    <a:pt x="2512466" y="1109243"/>
                  </a:lnTo>
                  <a:lnTo>
                    <a:pt x="2462657" y="1088009"/>
                  </a:lnTo>
                  <a:lnTo>
                    <a:pt x="2454275" y="1091311"/>
                  </a:lnTo>
                  <a:lnTo>
                    <a:pt x="2451227" y="1098677"/>
                  </a:lnTo>
                  <a:lnTo>
                    <a:pt x="2448052" y="1105916"/>
                  </a:lnTo>
                  <a:lnTo>
                    <a:pt x="2451481" y="1114298"/>
                  </a:lnTo>
                  <a:lnTo>
                    <a:pt x="2572512" y="1165987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287262" y="3134105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20" h="285114">
                  <a:moveTo>
                    <a:pt x="143256" y="0"/>
                  </a:moveTo>
                  <a:lnTo>
                    <a:pt x="97974" y="7260"/>
                  </a:lnTo>
                  <a:lnTo>
                    <a:pt x="58649" y="27480"/>
                  </a:lnTo>
                  <a:lnTo>
                    <a:pt x="27639" y="58320"/>
                  </a:lnTo>
                  <a:lnTo>
                    <a:pt x="7303" y="97438"/>
                  </a:lnTo>
                  <a:lnTo>
                    <a:pt x="0" y="142494"/>
                  </a:lnTo>
                  <a:lnTo>
                    <a:pt x="7303" y="187549"/>
                  </a:lnTo>
                  <a:lnTo>
                    <a:pt x="27639" y="226667"/>
                  </a:lnTo>
                  <a:lnTo>
                    <a:pt x="58649" y="257507"/>
                  </a:lnTo>
                  <a:lnTo>
                    <a:pt x="97974" y="277727"/>
                  </a:lnTo>
                  <a:lnTo>
                    <a:pt x="143256" y="284988"/>
                  </a:lnTo>
                  <a:lnTo>
                    <a:pt x="188537" y="277727"/>
                  </a:lnTo>
                  <a:lnTo>
                    <a:pt x="227862" y="257507"/>
                  </a:lnTo>
                  <a:lnTo>
                    <a:pt x="258872" y="226667"/>
                  </a:lnTo>
                  <a:lnTo>
                    <a:pt x="279208" y="187549"/>
                  </a:lnTo>
                  <a:lnTo>
                    <a:pt x="286512" y="142494"/>
                  </a:lnTo>
                  <a:lnTo>
                    <a:pt x="279208" y="97438"/>
                  </a:lnTo>
                  <a:lnTo>
                    <a:pt x="258872" y="58320"/>
                  </a:lnTo>
                  <a:lnTo>
                    <a:pt x="227862" y="27480"/>
                  </a:lnTo>
                  <a:lnTo>
                    <a:pt x="188537" y="7260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287262" y="3134105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20" h="285114">
                  <a:moveTo>
                    <a:pt x="0" y="142494"/>
                  </a:moveTo>
                  <a:lnTo>
                    <a:pt x="7303" y="97438"/>
                  </a:lnTo>
                  <a:lnTo>
                    <a:pt x="27639" y="58320"/>
                  </a:lnTo>
                  <a:lnTo>
                    <a:pt x="58649" y="27480"/>
                  </a:lnTo>
                  <a:lnTo>
                    <a:pt x="97974" y="7260"/>
                  </a:lnTo>
                  <a:lnTo>
                    <a:pt x="143256" y="0"/>
                  </a:lnTo>
                  <a:lnTo>
                    <a:pt x="188537" y="7260"/>
                  </a:lnTo>
                  <a:lnTo>
                    <a:pt x="227862" y="27480"/>
                  </a:lnTo>
                  <a:lnTo>
                    <a:pt x="258872" y="58320"/>
                  </a:lnTo>
                  <a:lnTo>
                    <a:pt x="279208" y="97438"/>
                  </a:lnTo>
                  <a:lnTo>
                    <a:pt x="286512" y="142494"/>
                  </a:lnTo>
                  <a:lnTo>
                    <a:pt x="279208" y="187549"/>
                  </a:lnTo>
                  <a:lnTo>
                    <a:pt x="258872" y="226667"/>
                  </a:lnTo>
                  <a:lnTo>
                    <a:pt x="227862" y="257507"/>
                  </a:lnTo>
                  <a:lnTo>
                    <a:pt x="188537" y="277727"/>
                  </a:lnTo>
                  <a:lnTo>
                    <a:pt x="143256" y="284988"/>
                  </a:lnTo>
                  <a:lnTo>
                    <a:pt x="97974" y="277727"/>
                  </a:lnTo>
                  <a:lnTo>
                    <a:pt x="58649" y="257507"/>
                  </a:lnTo>
                  <a:lnTo>
                    <a:pt x="27639" y="226667"/>
                  </a:lnTo>
                  <a:lnTo>
                    <a:pt x="7303" y="187549"/>
                  </a:lnTo>
                  <a:lnTo>
                    <a:pt x="0" y="142494"/>
                  </a:lnTo>
                  <a:close/>
                </a:path>
              </a:pathLst>
            </a:custGeom>
            <a:ln w="19049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500878" y="3847337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20">
                  <a:moveTo>
                    <a:pt x="143256" y="0"/>
                  </a:moveTo>
                  <a:lnTo>
                    <a:pt x="97974" y="7303"/>
                  </a:lnTo>
                  <a:lnTo>
                    <a:pt x="58649" y="27639"/>
                  </a:lnTo>
                  <a:lnTo>
                    <a:pt x="27639" y="58649"/>
                  </a:lnTo>
                  <a:lnTo>
                    <a:pt x="7303" y="97974"/>
                  </a:lnTo>
                  <a:lnTo>
                    <a:pt x="0" y="143256"/>
                  </a:lnTo>
                  <a:lnTo>
                    <a:pt x="7303" y="188537"/>
                  </a:lnTo>
                  <a:lnTo>
                    <a:pt x="27639" y="227862"/>
                  </a:lnTo>
                  <a:lnTo>
                    <a:pt x="58649" y="258872"/>
                  </a:lnTo>
                  <a:lnTo>
                    <a:pt x="97974" y="279208"/>
                  </a:lnTo>
                  <a:lnTo>
                    <a:pt x="143256" y="286512"/>
                  </a:lnTo>
                  <a:lnTo>
                    <a:pt x="188537" y="279208"/>
                  </a:lnTo>
                  <a:lnTo>
                    <a:pt x="227862" y="258872"/>
                  </a:lnTo>
                  <a:lnTo>
                    <a:pt x="258872" y="227862"/>
                  </a:lnTo>
                  <a:lnTo>
                    <a:pt x="279208" y="188537"/>
                  </a:lnTo>
                  <a:lnTo>
                    <a:pt x="286512" y="143256"/>
                  </a:lnTo>
                  <a:lnTo>
                    <a:pt x="279208" y="97974"/>
                  </a:lnTo>
                  <a:lnTo>
                    <a:pt x="258872" y="58649"/>
                  </a:lnTo>
                  <a:lnTo>
                    <a:pt x="227862" y="27639"/>
                  </a:lnTo>
                  <a:lnTo>
                    <a:pt x="188537" y="7303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500878" y="3847337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20">
                  <a:moveTo>
                    <a:pt x="0" y="143256"/>
                  </a:moveTo>
                  <a:lnTo>
                    <a:pt x="7303" y="97974"/>
                  </a:lnTo>
                  <a:lnTo>
                    <a:pt x="27639" y="58649"/>
                  </a:lnTo>
                  <a:lnTo>
                    <a:pt x="58649" y="27639"/>
                  </a:lnTo>
                  <a:lnTo>
                    <a:pt x="97974" y="7303"/>
                  </a:lnTo>
                  <a:lnTo>
                    <a:pt x="143256" y="0"/>
                  </a:lnTo>
                  <a:lnTo>
                    <a:pt x="188537" y="7303"/>
                  </a:lnTo>
                  <a:lnTo>
                    <a:pt x="227862" y="27639"/>
                  </a:lnTo>
                  <a:lnTo>
                    <a:pt x="258872" y="58649"/>
                  </a:lnTo>
                  <a:lnTo>
                    <a:pt x="279208" y="97974"/>
                  </a:lnTo>
                  <a:lnTo>
                    <a:pt x="286512" y="143256"/>
                  </a:lnTo>
                  <a:lnTo>
                    <a:pt x="279208" y="188537"/>
                  </a:lnTo>
                  <a:lnTo>
                    <a:pt x="258872" y="227862"/>
                  </a:lnTo>
                  <a:lnTo>
                    <a:pt x="227862" y="258872"/>
                  </a:lnTo>
                  <a:lnTo>
                    <a:pt x="188537" y="279208"/>
                  </a:lnTo>
                  <a:lnTo>
                    <a:pt x="143256" y="286512"/>
                  </a:lnTo>
                  <a:lnTo>
                    <a:pt x="97974" y="279208"/>
                  </a:lnTo>
                  <a:lnTo>
                    <a:pt x="58649" y="258872"/>
                  </a:lnTo>
                  <a:lnTo>
                    <a:pt x="27639" y="227862"/>
                  </a:lnTo>
                  <a:lnTo>
                    <a:pt x="7303" y="188537"/>
                  </a:lnTo>
                  <a:lnTo>
                    <a:pt x="0" y="143256"/>
                  </a:lnTo>
                  <a:close/>
                </a:path>
              </a:pathLst>
            </a:custGeom>
            <a:ln w="1905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073646" y="3847337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5" h="287020">
                  <a:moveTo>
                    <a:pt x="142494" y="0"/>
                  </a:moveTo>
                  <a:lnTo>
                    <a:pt x="97438" y="7303"/>
                  </a:lnTo>
                  <a:lnTo>
                    <a:pt x="58320" y="27639"/>
                  </a:lnTo>
                  <a:lnTo>
                    <a:pt x="27480" y="58649"/>
                  </a:lnTo>
                  <a:lnTo>
                    <a:pt x="7260" y="97974"/>
                  </a:lnTo>
                  <a:lnTo>
                    <a:pt x="0" y="143256"/>
                  </a:lnTo>
                  <a:lnTo>
                    <a:pt x="7260" y="188537"/>
                  </a:lnTo>
                  <a:lnTo>
                    <a:pt x="27480" y="227862"/>
                  </a:lnTo>
                  <a:lnTo>
                    <a:pt x="58320" y="258872"/>
                  </a:lnTo>
                  <a:lnTo>
                    <a:pt x="97438" y="279208"/>
                  </a:lnTo>
                  <a:lnTo>
                    <a:pt x="142494" y="286512"/>
                  </a:lnTo>
                  <a:lnTo>
                    <a:pt x="187549" y="279208"/>
                  </a:lnTo>
                  <a:lnTo>
                    <a:pt x="226667" y="258872"/>
                  </a:lnTo>
                  <a:lnTo>
                    <a:pt x="257507" y="227862"/>
                  </a:lnTo>
                  <a:lnTo>
                    <a:pt x="277727" y="188537"/>
                  </a:lnTo>
                  <a:lnTo>
                    <a:pt x="284988" y="143256"/>
                  </a:lnTo>
                  <a:lnTo>
                    <a:pt x="277727" y="97974"/>
                  </a:lnTo>
                  <a:lnTo>
                    <a:pt x="257507" y="58649"/>
                  </a:lnTo>
                  <a:lnTo>
                    <a:pt x="226667" y="27639"/>
                  </a:lnTo>
                  <a:lnTo>
                    <a:pt x="187549" y="7303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073646" y="3847337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5" h="287020">
                  <a:moveTo>
                    <a:pt x="0" y="143256"/>
                  </a:moveTo>
                  <a:lnTo>
                    <a:pt x="7260" y="97974"/>
                  </a:lnTo>
                  <a:lnTo>
                    <a:pt x="27480" y="58649"/>
                  </a:lnTo>
                  <a:lnTo>
                    <a:pt x="58320" y="27639"/>
                  </a:lnTo>
                  <a:lnTo>
                    <a:pt x="97438" y="7303"/>
                  </a:lnTo>
                  <a:lnTo>
                    <a:pt x="142494" y="0"/>
                  </a:lnTo>
                  <a:lnTo>
                    <a:pt x="187549" y="7303"/>
                  </a:lnTo>
                  <a:lnTo>
                    <a:pt x="226667" y="27639"/>
                  </a:lnTo>
                  <a:lnTo>
                    <a:pt x="257507" y="58649"/>
                  </a:lnTo>
                  <a:lnTo>
                    <a:pt x="277727" y="97974"/>
                  </a:lnTo>
                  <a:lnTo>
                    <a:pt x="284988" y="143256"/>
                  </a:lnTo>
                  <a:lnTo>
                    <a:pt x="277727" y="188537"/>
                  </a:lnTo>
                  <a:lnTo>
                    <a:pt x="257507" y="227862"/>
                  </a:lnTo>
                  <a:lnTo>
                    <a:pt x="226667" y="258872"/>
                  </a:lnTo>
                  <a:lnTo>
                    <a:pt x="187549" y="279208"/>
                  </a:lnTo>
                  <a:lnTo>
                    <a:pt x="142494" y="286512"/>
                  </a:lnTo>
                  <a:lnTo>
                    <a:pt x="97438" y="279208"/>
                  </a:lnTo>
                  <a:lnTo>
                    <a:pt x="58320" y="258872"/>
                  </a:lnTo>
                  <a:lnTo>
                    <a:pt x="27480" y="227862"/>
                  </a:lnTo>
                  <a:lnTo>
                    <a:pt x="7260" y="188537"/>
                  </a:lnTo>
                  <a:lnTo>
                    <a:pt x="0" y="143256"/>
                  </a:lnTo>
                  <a:close/>
                </a:path>
              </a:pathLst>
            </a:custGeom>
            <a:ln w="1905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715506" y="4562094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20">
                  <a:moveTo>
                    <a:pt x="143256" y="0"/>
                  </a:moveTo>
                  <a:lnTo>
                    <a:pt x="97974" y="7303"/>
                  </a:lnTo>
                  <a:lnTo>
                    <a:pt x="58649" y="27639"/>
                  </a:lnTo>
                  <a:lnTo>
                    <a:pt x="27639" y="58649"/>
                  </a:lnTo>
                  <a:lnTo>
                    <a:pt x="7303" y="97974"/>
                  </a:lnTo>
                  <a:lnTo>
                    <a:pt x="0" y="143255"/>
                  </a:lnTo>
                  <a:lnTo>
                    <a:pt x="7303" y="188537"/>
                  </a:lnTo>
                  <a:lnTo>
                    <a:pt x="27639" y="227862"/>
                  </a:lnTo>
                  <a:lnTo>
                    <a:pt x="58649" y="258872"/>
                  </a:lnTo>
                  <a:lnTo>
                    <a:pt x="97974" y="279208"/>
                  </a:lnTo>
                  <a:lnTo>
                    <a:pt x="143256" y="286511"/>
                  </a:lnTo>
                  <a:lnTo>
                    <a:pt x="188537" y="279208"/>
                  </a:lnTo>
                  <a:lnTo>
                    <a:pt x="227862" y="258872"/>
                  </a:lnTo>
                  <a:lnTo>
                    <a:pt x="258872" y="227862"/>
                  </a:lnTo>
                  <a:lnTo>
                    <a:pt x="279208" y="188537"/>
                  </a:lnTo>
                  <a:lnTo>
                    <a:pt x="286512" y="143255"/>
                  </a:lnTo>
                  <a:lnTo>
                    <a:pt x="279208" y="97974"/>
                  </a:lnTo>
                  <a:lnTo>
                    <a:pt x="258872" y="58649"/>
                  </a:lnTo>
                  <a:lnTo>
                    <a:pt x="227862" y="27639"/>
                  </a:lnTo>
                  <a:lnTo>
                    <a:pt x="188537" y="7303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715506" y="4562094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20">
                  <a:moveTo>
                    <a:pt x="0" y="143255"/>
                  </a:moveTo>
                  <a:lnTo>
                    <a:pt x="7303" y="97974"/>
                  </a:lnTo>
                  <a:lnTo>
                    <a:pt x="27639" y="58649"/>
                  </a:lnTo>
                  <a:lnTo>
                    <a:pt x="58649" y="27639"/>
                  </a:lnTo>
                  <a:lnTo>
                    <a:pt x="97974" y="7303"/>
                  </a:lnTo>
                  <a:lnTo>
                    <a:pt x="143256" y="0"/>
                  </a:lnTo>
                  <a:lnTo>
                    <a:pt x="188537" y="7303"/>
                  </a:lnTo>
                  <a:lnTo>
                    <a:pt x="227862" y="27639"/>
                  </a:lnTo>
                  <a:lnTo>
                    <a:pt x="258872" y="58649"/>
                  </a:lnTo>
                  <a:lnTo>
                    <a:pt x="279208" y="97974"/>
                  </a:lnTo>
                  <a:lnTo>
                    <a:pt x="286512" y="143255"/>
                  </a:lnTo>
                  <a:lnTo>
                    <a:pt x="279208" y="188537"/>
                  </a:lnTo>
                  <a:lnTo>
                    <a:pt x="258872" y="227862"/>
                  </a:lnTo>
                  <a:lnTo>
                    <a:pt x="227862" y="258872"/>
                  </a:lnTo>
                  <a:lnTo>
                    <a:pt x="188537" y="279208"/>
                  </a:lnTo>
                  <a:lnTo>
                    <a:pt x="143256" y="286511"/>
                  </a:lnTo>
                  <a:lnTo>
                    <a:pt x="97974" y="279208"/>
                  </a:lnTo>
                  <a:lnTo>
                    <a:pt x="58649" y="258872"/>
                  </a:lnTo>
                  <a:lnTo>
                    <a:pt x="27639" y="227862"/>
                  </a:lnTo>
                  <a:lnTo>
                    <a:pt x="7303" y="188537"/>
                  </a:lnTo>
                  <a:lnTo>
                    <a:pt x="0" y="143255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501890" y="4533138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501890" y="4533138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500878" y="4560569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20">
                  <a:moveTo>
                    <a:pt x="143256" y="0"/>
                  </a:moveTo>
                  <a:lnTo>
                    <a:pt x="97974" y="7303"/>
                  </a:lnTo>
                  <a:lnTo>
                    <a:pt x="58649" y="27639"/>
                  </a:lnTo>
                  <a:lnTo>
                    <a:pt x="27639" y="58649"/>
                  </a:lnTo>
                  <a:lnTo>
                    <a:pt x="7303" y="97974"/>
                  </a:lnTo>
                  <a:lnTo>
                    <a:pt x="0" y="143255"/>
                  </a:lnTo>
                  <a:lnTo>
                    <a:pt x="7303" y="188537"/>
                  </a:lnTo>
                  <a:lnTo>
                    <a:pt x="27639" y="227862"/>
                  </a:lnTo>
                  <a:lnTo>
                    <a:pt x="58649" y="258872"/>
                  </a:lnTo>
                  <a:lnTo>
                    <a:pt x="97974" y="279208"/>
                  </a:lnTo>
                  <a:lnTo>
                    <a:pt x="143256" y="286511"/>
                  </a:lnTo>
                  <a:lnTo>
                    <a:pt x="188537" y="279208"/>
                  </a:lnTo>
                  <a:lnTo>
                    <a:pt x="227862" y="258872"/>
                  </a:lnTo>
                  <a:lnTo>
                    <a:pt x="258872" y="227862"/>
                  </a:lnTo>
                  <a:lnTo>
                    <a:pt x="279208" y="188537"/>
                  </a:lnTo>
                  <a:lnTo>
                    <a:pt x="286512" y="143255"/>
                  </a:lnTo>
                  <a:lnTo>
                    <a:pt x="279208" y="97974"/>
                  </a:lnTo>
                  <a:lnTo>
                    <a:pt x="258872" y="58649"/>
                  </a:lnTo>
                  <a:lnTo>
                    <a:pt x="227862" y="27639"/>
                  </a:lnTo>
                  <a:lnTo>
                    <a:pt x="188537" y="7303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500878" y="4560569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20">
                  <a:moveTo>
                    <a:pt x="0" y="143255"/>
                  </a:moveTo>
                  <a:lnTo>
                    <a:pt x="7303" y="97974"/>
                  </a:lnTo>
                  <a:lnTo>
                    <a:pt x="27639" y="58649"/>
                  </a:lnTo>
                  <a:lnTo>
                    <a:pt x="58649" y="27639"/>
                  </a:lnTo>
                  <a:lnTo>
                    <a:pt x="97974" y="7303"/>
                  </a:lnTo>
                  <a:lnTo>
                    <a:pt x="143256" y="0"/>
                  </a:lnTo>
                  <a:lnTo>
                    <a:pt x="188537" y="7303"/>
                  </a:lnTo>
                  <a:lnTo>
                    <a:pt x="227862" y="27639"/>
                  </a:lnTo>
                  <a:lnTo>
                    <a:pt x="258872" y="58649"/>
                  </a:lnTo>
                  <a:lnTo>
                    <a:pt x="279208" y="97974"/>
                  </a:lnTo>
                  <a:lnTo>
                    <a:pt x="286512" y="143255"/>
                  </a:lnTo>
                  <a:lnTo>
                    <a:pt x="279208" y="188537"/>
                  </a:lnTo>
                  <a:lnTo>
                    <a:pt x="258872" y="227862"/>
                  </a:lnTo>
                  <a:lnTo>
                    <a:pt x="227862" y="258872"/>
                  </a:lnTo>
                  <a:lnTo>
                    <a:pt x="188537" y="279208"/>
                  </a:lnTo>
                  <a:lnTo>
                    <a:pt x="143256" y="286511"/>
                  </a:lnTo>
                  <a:lnTo>
                    <a:pt x="97974" y="279208"/>
                  </a:lnTo>
                  <a:lnTo>
                    <a:pt x="58649" y="258872"/>
                  </a:lnTo>
                  <a:lnTo>
                    <a:pt x="27639" y="227862"/>
                  </a:lnTo>
                  <a:lnTo>
                    <a:pt x="7303" y="188537"/>
                  </a:lnTo>
                  <a:lnTo>
                    <a:pt x="0" y="143255"/>
                  </a:lnTo>
                  <a:close/>
                </a:path>
              </a:pathLst>
            </a:custGeom>
            <a:ln w="1905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072378" y="4574286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20">
                  <a:moveTo>
                    <a:pt x="143256" y="0"/>
                  </a:moveTo>
                  <a:lnTo>
                    <a:pt x="97974" y="7303"/>
                  </a:lnTo>
                  <a:lnTo>
                    <a:pt x="58649" y="27639"/>
                  </a:lnTo>
                  <a:lnTo>
                    <a:pt x="27639" y="58649"/>
                  </a:lnTo>
                  <a:lnTo>
                    <a:pt x="7303" y="97974"/>
                  </a:lnTo>
                  <a:lnTo>
                    <a:pt x="0" y="143256"/>
                  </a:lnTo>
                  <a:lnTo>
                    <a:pt x="7303" y="188537"/>
                  </a:lnTo>
                  <a:lnTo>
                    <a:pt x="27639" y="227862"/>
                  </a:lnTo>
                  <a:lnTo>
                    <a:pt x="58649" y="258872"/>
                  </a:lnTo>
                  <a:lnTo>
                    <a:pt x="97974" y="279208"/>
                  </a:lnTo>
                  <a:lnTo>
                    <a:pt x="143256" y="286512"/>
                  </a:lnTo>
                  <a:lnTo>
                    <a:pt x="188537" y="279208"/>
                  </a:lnTo>
                  <a:lnTo>
                    <a:pt x="227862" y="258872"/>
                  </a:lnTo>
                  <a:lnTo>
                    <a:pt x="258872" y="227862"/>
                  </a:lnTo>
                  <a:lnTo>
                    <a:pt x="279208" y="188537"/>
                  </a:lnTo>
                  <a:lnTo>
                    <a:pt x="286512" y="143256"/>
                  </a:lnTo>
                  <a:lnTo>
                    <a:pt x="279208" y="97974"/>
                  </a:lnTo>
                  <a:lnTo>
                    <a:pt x="258872" y="58649"/>
                  </a:lnTo>
                  <a:lnTo>
                    <a:pt x="227862" y="27639"/>
                  </a:lnTo>
                  <a:lnTo>
                    <a:pt x="188537" y="7303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072378" y="4574286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20">
                  <a:moveTo>
                    <a:pt x="0" y="143256"/>
                  </a:moveTo>
                  <a:lnTo>
                    <a:pt x="7303" y="97974"/>
                  </a:lnTo>
                  <a:lnTo>
                    <a:pt x="27639" y="58649"/>
                  </a:lnTo>
                  <a:lnTo>
                    <a:pt x="58649" y="27639"/>
                  </a:lnTo>
                  <a:lnTo>
                    <a:pt x="97974" y="7303"/>
                  </a:lnTo>
                  <a:lnTo>
                    <a:pt x="143256" y="0"/>
                  </a:lnTo>
                  <a:lnTo>
                    <a:pt x="188537" y="7303"/>
                  </a:lnTo>
                  <a:lnTo>
                    <a:pt x="227862" y="27639"/>
                  </a:lnTo>
                  <a:lnTo>
                    <a:pt x="258872" y="58649"/>
                  </a:lnTo>
                  <a:lnTo>
                    <a:pt x="279208" y="97974"/>
                  </a:lnTo>
                  <a:lnTo>
                    <a:pt x="286512" y="143256"/>
                  </a:lnTo>
                  <a:lnTo>
                    <a:pt x="279208" y="188537"/>
                  </a:lnTo>
                  <a:lnTo>
                    <a:pt x="258872" y="227862"/>
                  </a:lnTo>
                  <a:lnTo>
                    <a:pt x="227862" y="258872"/>
                  </a:lnTo>
                  <a:lnTo>
                    <a:pt x="188537" y="279208"/>
                  </a:lnTo>
                  <a:lnTo>
                    <a:pt x="143256" y="286512"/>
                  </a:lnTo>
                  <a:lnTo>
                    <a:pt x="97974" y="279208"/>
                  </a:lnTo>
                  <a:lnTo>
                    <a:pt x="58649" y="258872"/>
                  </a:lnTo>
                  <a:lnTo>
                    <a:pt x="27639" y="227862"/>
                  </a:lnTo>
                  <a:lnTo>
                    <a:pt x="7303" y="188537"/>
                  </a:lnTo>
                  <a:lnTo>
                    <a:pt x="0" y="143256"/>
                  </a:lnTo>
                  <a:close/>
                </a:path>
              </a:pathLst>
            </a:custGeom>
            <a:ln w="1905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29378" y="4562094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20">
                  <a:moveTo>
                    <a:pt x="143256" y="0"/>
                  </a:moveTo>
                  <a:lnTo>
                    <a:pt x="97974" y="7303"/>
                  </a:lnTo>
                  <a:lnTo>
                    <a:pt x="58649" y="27639"/>
                  </a:lnTo>
                  <a:lnTo>
                    <a:pt x="27639" y="58649"/>
                  </a:lnTo>
                  <a:lnTo>
                    <a:pt x="7303" y="97974"/>
                  </a:lnTo>
                  <a:lnTo>
                    <a:pt x="0" y="143255"/>
                  </a:lnTo>
                  <a:lnTo>
                    <a:pt x="7303" y="188537"/>
                  </a:lnTo>
                  <a:lnTo>
                    <a:pt x="27639" y="227862"/>
                  </a:lnTo>
                  <a:lnTo>
                    <a:pt x="58649" y="258872"/>
                  </a:lnTo>
                  <a:lnTo>
                    <a:pt x="97974" y="279208"/>
                  </a:lnTo>
                  <a:lnTo>
                    <a:pt x="143256" y="286511"/>
                  </a:lnTo>
                  <a:lnTo>
                    <a:pt x="188537" y="279208"/>
                  </a:lnTo>
                  <a:lnTo>
                    <a:pt x="227862" y="258872"/>
                  </a:lnTo>
                  <a:lnTo>
                    <a:pt x="258872" y="227862"/>
                  </a:lnTo>
                  <a:lnTo>
                    <a:pt x="279208" y="188537"/>
                  </a:lnTo>
                  <a:lnTo>
                    <a:pt x="286512" y="143255"/>
                  </a:lnTo>
                  <a:lnTo>
                    <a:pt x="279208" y="97974"/>
                  </a:lnTo>
                  <a:lnTo>
                    <a:pt x="258872" y="58649"/>
                  </a:lnTo>
                  <a:lnTo>
                    <a:pt x="227862" y="27639"/>
                  </a:lnTo>
                  <a:lnTo>
                    <a:pt x="188537" y="7303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929378" y="4562094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20">
                  <a:moveTo>
                    <a:pt x="0" y="143255"/>
                  </a:moveTo>
                  <a:lnTo>
                    <a:pt x="7303" y="97974"/>
                  </a:lnTo>
                  <a:lnTo>
                    <a:pt x="27639" y="58649"/>
                  </a:lnTo>
                  <a:lnTo>
                    <a:pt x="58649" y="27639"/>
                  </a:lnTo>
                  <a:lnTo>
                    <a:pt x="97974" y="7303"/>
                  </a:lnTo>
                  <a:lnTo>
                    <a:pt x="143256" y="0"/>
                  </a:lnTo>
                  <a:lnTo>
                    <a:pt x="188537" y="7303"/>
                  </a:lnTo>
                  <a:lnTo>
                    <a:pt x="227862" y="27639"/>
                  </a:lnTo>
                  <a:lnTo>
                    <a:pt x="258872" y="58649"/>
                  </a:lnTo>
                  <a:lnTo>
                    <a:pt x="279208" y="97974"/>
                  </a:lnTo>
                  <a:lnTo>
                    <a:pt x="286512" y="143255"/>
                  </a:lnTo>
                  <a:lnTo>
                    <a:pt x="279208" y="188537"/>
                  </a:lnTo>
                  <a:lnTo>
                    <a:pt x="258872" y="227862"/>
                  </a:lnTo>
                  <a:lnTo>
                    <a:pt x="227862" y="258872"/>
                  </a:lnTo>
                  <a:lnTo>
                    <a:pt x="188537" y="279208"/>
                  </a:lnTo>
                  <a:lnTo>
                    <a:pt x="143256" y="286511"/>
                  </a:lnTo>
                  <a:lnTo>
                    <a:pt x="97974" y="279208"/>
                  </a:lnTo>
                  <a:lnTo>
                    <a:pt x="58649" y="258872"/>
                  </a:lnTo>
                  <a:lnTo>
                    <a:pt x="27639" y="227862"/>
                  </a:lnTo>
                  <a:lnTo>
                    <a:pt x="7303" y="188537"/>
                  </a:lnTo>
                  <a:lnTo>
                    <a:pt x="0" y="143255"/>
                  </a:lnTo>
                  <a:close/>
                </a:path>
              </a:pathLst>
            </a:custGeom>
            <a:ln w="1905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/>
          <p:nvPr/>
        </p:nvSpPr>
        <p:spPr>
          <a:xfrm>
            <a:off x="6975729" y="5102986"/>
            <a:ext cx="77470" cy="330200"/>
          </a:xfrm>
          <a:custGeom>
            <a:avLst/>
            <a:gdLst/>
            <a:ahLst/>
            <a:cxnLst/>
            <a:rect l="l" t="t" r="r" b="b"/>
            <a:pathLst>
              <a:path w="77470" h="330200">
                <a:moveTo>
                  <a:pt x="77343" y="0"/>
                </a:moveTo>
                <a:lnTo>
                  <a:pt x="0" y="0"/>
                </a:lnTo>
                <a:lnTo>
                  <a:pt x="0" y="13970"/>
                </a:lnTo>
                <a:lnTo>
                  <a:pt x="48514" y="13970"/>
                </a:lnTo>
                <a:lnTo>
                  <a:pt x="48514" y="317500"/>
                </a:lnTo>
                <a:lnTo>
                  <a:pt x="0" y="317500"/>
                </a:lnTo>
                <a:lnTo>
                  <a:pt x="0" y="330200"/>
                </a:lnTo>
                <a:lnTo>
                  <a:pt x="77343" y="330200"/>
                </a:lnTo>
                <a:lnTo>
                  <a:pt x="77343" y="317500"/>
                </a:lnTo>
                <a:lnTo>
                  <a:pt x="77343" y="13970"/>
                </a:lnTo>
                <a:lnTo>
                  <a:pt x="77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026404" y="5102986"/>
            <a:ext cx="77470" cy="330200"/>
          </a:xfrm>
          <a:custGeom>
            <a:avLst/>
            <a:gdLst/>
            <a:ahLst/>
            <a:cxnLst/>
            <a:rect l="l" t="t" r="r" b="b"/>
            <a:pathLst>
              <a:path w="77470" h="330200">
                <a:moveTo>
                  <a:pt x="77343" y="0"/>
                </a:moveTo>
                <a:lnTo>
                  <a:pt x="0" y="0"/>
                </a:lnTo>
                <a:lnTo>
                  <a:pt x="0" y="13970"/>
                </a:lnTo>
                <a:lnTo>
                  <a:pt x="0" y="317500"/>
                </a:lnTo>
                <a:lnTo>
                  <a:pt x="0" y="330200"/>
                </a:lnTo>
                <a:lnTo>
                  <a:pt x="77343" y="330200"/>
                </a:lnTo>
                <a:lnTo>
                  <a:pt x="77343" y="317500"/>
                </a:lnTo>
                <a:lnTo>
                  <a:pt x="28702" y="317500"/>
                </a:lnTo>
                <a:lnTo>
                  <a:pt x="28702" y="13970"/>
                </a:lnTo>
                <a:lnTo>
                  <a:pt x="77343" y="13970"/>
                </a:lnTo>
                <a:lnTo>
                  <a:pt x="77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752591" y="5003038"/>
            <a:ext cx="12185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85">
                <a:latin typeface="STIX Two Math"/>
                <a:cs typeface="STIX Two Math"/>
              </a:rPr>
              <a:t>A</a:t>
            </a:r>
            <a:r>
              <a:rPr dirty="0" sz="2800" spc="335">
                <a:latin typeface="STIX Two Math"/>
                <a:cs typeface="STIX Two Math"/>
              </a:rPr>
              <a:t> </a:t>
            </a:r>
            <a:r>
              <a:rPr dirty="0" sz="2800" spc="140">
                <a:solidFill>
                  <a:srgbClr val="538235"/>
                </a:solidFill>
                <a:latin typeface="STIX Two Math"/>
                <a:cs typeface="STIX Two Math"/>
              </a:rPr>
              <a:t>𝑃</a:t>
            </a:r>
            <a:r>
              <a:rPr dirty="0" sz="2800" spc="-50">
                <a:solidFill>
                  <a:srgbClr val="538235"/>
                </a:solidFill>
                <a:latin typeface="STIX Two Math"/>
                <a:cs typeface="STIX Two Math"/>
              </a:rPr>
              <a:t> </a:t>
            </a:r>
            <a:r>
              <a:rPr dirty="0" sz="2800" spc="-295">
                <a:latin typeface="STIX Two Math"/>
                <a:cs typeface="STIX Two Math"/>
              </a:rPr>
              <a:t>U</a:t>
            </a:r>
            <a:r>
              <a:rPr dirty="0" sz="2800" spc="-45">
                <a:latin typeface="STIX Two Math"/>
                <a:cs typeface="STIX Two Math"/>
              </a:rPr>
              <a:t> </a:t>
            </a:r>
            <a:r>
              <a:rPr dirty="0" sz="2800" spc="-50">
                <a:solidFill>
                  <a:srgbClr val="2E5496"/>
                </a:solidFill>
                <a:latin typeface="STIX Two Math"/>
                <a:cs typeface="STIX Two Math"/>
              </a:rPr>
              <a:t>𝑄</a:t>
            </a:r>
            <a:endParaRPr sz="2800">
              <a:latin typeface="STIX Two Math"/>
              <a:cs typeface="STIX Two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103367" y="5434380"/>
            <a:ext cx="2649855" cy="941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110">
                <a:latin typeface="Arial"/>
                <a:cs typeface="Arial"/>
              </a:rPr>
              <a:t>Entlang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aller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25">
                <a:latin typeface="Arial"/>
                <a:cs typeface="Arial"/>
              </a:rPr>
              <a:t>Pfade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gilt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ab </a:t>
            </a:r>
            <a:r>
              <a:rPr dirty="0" sz="2000" spc="-20">
                <a:latin typeface="Arial"/>
                <a:cs typeface="Arial"/>
              </a:rPr>
              <a:t>jetzt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38235"/>
                </a:solidFill>
                <a:latin typeface="STIX Two Math"/>
                <a:cs typeface="STIX Two Math"/>
              </a:rPr>
              <a:t>𝑃,</a:t>
            </a:r>
            <a:r>
              <a:rPr dirty="0" sz="2000" spc="5">
                <a:solidFill>
                  <a:srgbClr val="538235"/>
                </a:solidFill>
                <a:latin typeface="STIX Two Math"/>
                <a:cs typeface="STIX Two Math"/>
              </a:rPr>
              <a:t> </a:t>
            </a:r>
            <a:r>
              <a:rPr dirty="0" sz="2000" spc="-105">
                <a:latin typeface="Arial"/>
                <a:cs typeface="Arial"/>
              </a:rPr>
              <a:t>bis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irgendwann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2E5496"/>
                </a:solidFill>
                <a:latin typeface="STIX Two Math"/>
                <a:cs typeface="STIX Two Math"/>
              </a:rPr>
              <a:t>𝑄 </a:t>
            </a:r>
            <a:r>
              <a:rPr dirty="0" sz="2000" spc="-20">
                <a:latin typeface="Arial"/>
                <a:cs typeface="Arial"/>
              </a:rPr>
              <a:t>gilt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45"/>
              <a:t>Abgrenzung</a:t>
            </a:r>
            <a:r>
              <a:rPr dirty="0" spc="-175"/>
              <a:t> </a:t>
            </a:r>
            <a:r>
              <a:rPr dirty="0" spc="-615"/>
              <a:t>CTL</a:t>
            </a:r>
            <a:r>
              <a:rPr dirty="0" spc="-165"/>
              <a:t> </a:t>
            </a:r>
            <a:r>
              <a:rPr dirty="0" spc="-130"/>
              <a:t>-</a:t>
            </a:r>
            <a:r>
              <a:rPr dirty="0" spc="-175"/>
              <a:t> </a:t>
            </a:r>
            <a:r>
              <a:rPr dirty="0" spc="-670"/>
              <a:t>LTL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36166" y="2204973"/>
            <a:ext cx="4366895" cy="1513840"/>
            <a:chOff x="1836166" y="2204973"/>
            <a:chExt cx="4366895" cy="1513840"/>
          </a:xfrm>
        </p:grpSpPr>
        <p:sp>
          <p:nvSpPr>
            <p:cNvPr id="4" name="object 4"/>
            <p:cNvSpPr/>
            <p:nvPr/>
          </p:nvSpPr>
          <p:spPr>
            <a:xfrm>
              <a:off x="1842516" y="2211323"/>
              <a:ext cx="2646045" cy="1470660"/>
            </a:xfrm>
            <a:custGeom>
              <a:avLst/>
              <a:gdLst/>
              <a:ahLst/>
              <a:cxnLst/>
              <a:rect l="l" t="t" r="r" b="b"/>
              <a:pathLst>
                <a:path w="2646045" h="1470660">
                  <a:moveTo>
                    <a:pt x="0" y="735329"/>
                  </a:moveTo>
                  <a:lnTo>
                    <a:pt x="5405" y="668394"/>
                  </a:lnTo>
                  <a:lnTo>
                    <a:pt x="21310" y="603144"/>
                  </a:lnTo>
                  <a:lnTo>
                    <a:pt x="47249" y="539838"/>
                  </a:lnTo>
                  <a:lnTo>
                    <a:pt x="82753" y="478735"/>
                  </a:lnTo>
                  <a:lnTo>
                    <a:pt x="127357" y="420096"/>
                  </a:lnTo>
                  <a:lnTo>
                    <a:pt x="152925" y="391781"/>
                  </a:lnTo>
                  <a:lnTo>
                    <a:pt x="180594" y="364179"/>
                  </a:lnTo>
                  <a:lnTo>
                    <a:pt x="210303" y="337323"/>
                  </a:lnTo>
                  <a:lnTo>
                    <a:pt x="241995" y="311244"/>
                  </a:lnTo>
                  <a:lnTo>
                    <a:pt x="275613" y="285977"/>
                  </a:lnTo>
                  <a:lnTo>
                    <a:pt x="311096" y="261552"/>
                  </a:lnTo>
                  <a:lnTo>
                    <a:pt x="348388" y="238002"/>
                  </a:lnTo>
                  <a:lnTo>
                    <a:pt x="387429" y="215360"/>
                  </a:lnTo>
                  <a:lnTo>
                    <a:pt x="428161" y="193658"/>
                  </a:lnTo>
                  <a:lnTo>
                    <a:pt x="470527" y="172929"/>
                  </a:lnTo>
                  <a:lnTo>
                    <a:pt x="514467" y="153204"/>
                  </a:lnTo>
                  <a:lnTo>
                    <a:pt x="559923" y="134517"/>
                  </a:lnTo>
                  <a:lnTo>
                    <a:pt x="606837" y="116901"/>
                  </a:lnTo>
                  <a:lnTo>
                    <a:pt x="655150" y="100386"/>
                  </a:lnTo>
                  <a:lnTo>
                    <a:pt x="704805" y="85006"/>
                  </a:lnTo>
                  <a:lnTo>
                    <a:pt x="755742" y="70794"/>
                  </a:lnTo>
                  <a:lnTo>
                    <a:pt x="807904" y="57781"/>
                  </a:lnTo>
                  <a:lnTo>
                    <a:pt x="861232" y="46000"/>
                  </a:lnTo>
                  <a:lnTo>
                    <a:pt x="915668" y="35483"/>
                  </a:lnTo>
                  <a:lnTo>
                    <a:pt x="971153" y="26264"/>
                  </a:lnTo>
                  <a:lnTo>
                    <a:pt x="1027629" y="18374"/>
                  </a:lnTo>
                  <a:lnTo>
                    <a:pt x="1085037" y="11846"/>
                  </a:lnTo>
                  <a:lnTo>
                    <a:pt x="1143320" y="6712"/>
                  </a:lnTo>
                  <a:lnTo>
                    <a:pt x="1202419" y="3004"/>
                  </a:lnTo>
                  <a:lnTo>
                    <a:pt x="1262276" y="756"/>
                  </a:lnTo>
                  <a:lnTo>
                    <a:pt x="1322832" y="0"/>
                  </a:lnTo>
                  <a:lnTo>
                    <a:pt x="1383387" y="756"/>
                  </a:lnTo>
                  <a:lnTo>
                    <a:pt x="1443244" y="3004"/>
                  </a:lnTo>
                  <a:lnTo>
                    <a:pt x="1502343" y="6712"/>
                  </a:lnTo>
                  <a:lnTo>
                    <a:pt x="1560626" y="11846"/>
                  </a:lnTo>
                  <a:lnTo>
                    <a:pt x="1618034" y="18374"/>
                  </a:lnTo>
                  <a:lnTo>
                    <a:pt x="1674510" y="26264"/>
                  </a:lnTo>
                  <a:lnTo>
                    <a:pt x="1729995" y="35483"/>
                  </a:lnTo>
                  <a:lnTo>
                    <a:pt x="1784431" y="46000"/>
                  </a:lnTo>
                  <a:lnTo>
                    <a:pt x="1837759" y="57781"/>
                  </a:lnTo>
                  <a:lnTo>
                    <a:pt x="1889921" y="70794"/>
                  </a:lnTo>
                  <a:lnTo>
                    <a:pt x="1940858" y="85006"/>
                  </a:lnTo>
                  <a:lnTo>
                    <a:pt x="1990513" y="100386"/>
                  </a:lnTo>
                  <a:lnTo>
                    <a:pt x="2038826" y="116901"/>
                  </a:lnTo>
                  <a:lnTo>
                    <a:pt x="2085740" y="134517"/>
                  </a:lnTo>
                  <a:lnTo>
                    <a:pt x="2131196" y="153204"/>
                  </a:lnTo>
                  <a:lnTo>
                    <a:pt x="2175136" y="172929"/>
                  </a:lnTo>
                  <a:lnTo>
                    <a:pt x="2217502" y="193658"/>
                  </a:lnTo>
                  <a:lnTo>
                    <a:pt x="2258234" y="215360"/>
                  </a:lnTo>
                  <a:lnTo>
                    <a:pt x="2297275" y="238002"/>
                  </a:lnTo>
                  <a:lnTo>
                    <a:pt x="2334567" y="261552"/>
                  </a:lnTo>
                  <a:lnTo>
                    <a:pt x="2370050" y="285977"/>
                  </a:lnTo>
                  <a:lnTo>
                    <a:pt x="2403668" y="311244"/>
                  </a:lnTo>
                  <a:lnTo>
                    <a:pt x="2435360" y="337323"/>
                  </a:lnTo>
                  <a:lnTo>
                    <a:pt x="2465069" y="364179"/>
                  </a:lnTo>
                  <a:lnTo>
                    <a:pt x="2492738" y="391781"/>
                  </a:lnTo>
                  <a:lnTo>
                    <a:pt x="2518306" y="420096"/>
                  </a:lnTo>
                  <a:lnTo>
                    <a:pt x="2562910" y="478735"/>
                  </a:lnTo>
                  <a:lnTo>
                    <a:pt x="2598414" y="539838"/>
                  </a:lnTo>
                  <a:lnTo>
                    <a:pt x="2624353" y="603144"/>
                  </a:lnTo>
                  <a:lnTo>
                    <a:pt x="2640258" y="668394"/>
                  </a:lnTo>
                  <a:lnTo>
                    <a:pt x="2645664" y="735329"/>
                  </a:lnTo>
                  <a:lnTo>
                    <a:pt x="2644302" y="768991"/>
                  </a:lnTo>
                  <a:lnTo>
                    <a:pt x="2633589" y="835117"/>
                  </a:lnTo>
                  <a:lnTo>
                    <a:pt x="2612608" y="899427"/>
                  </a:lnTo>
                  <a:lnTo>
                    <a:pt x="2581829" y="961664"/>
                  </a:lnTo>
                  <a:lnTo>
                    <a:pt x="2541716" y="1021568"/>
                  </a:lnTo>
                  <a:lnTo>
                    <a:pt x="2492738" y="1078878"/>
                  </a:lnTo>
                  <a:lnTo>
                    <a:pt x="2465070" y="1106480"/>
                  </a:lnTo>
                  <a:lnTo>
                    <a:pt x="2435360" y="1133336"/>
                  </a:lnTo>
                  <a:lnTo>
                    <a:pt x="2403668" y="1159415"/>
                  </a:lnTo>
                  <a:lnTo>
                    <a:pt x="2370050" y="1184682"/>
                  </a:lnTo>
                  <a:lnTo>
                    <a:pt x="2334567" y="1209107"/>
                  </a:lnTo>
                  <a:lnTo>
                    <a:pt x="2297275" y="1232657"/>
                  </a:lnTo>
                  <a:lnTo>
                    <a:pt x="2258234" y="1255299"/>
                  </a:lnTo>
                  <a:lnTo>
                    <a:pt x="2217502" y="1277001"/>
                  </a:lnTo>
                  <a:lnTo>
                    <a:pt x="2175136" y="1297730"/>
                  </a:lnTo>
                  <a:lnTo>
                    <a:pt x="2131196" y="1317455"/>
                  </a:lnTo>
                  <a:lnTo>
                    <a:pt x="2085740" y="1336142"/>
                  </a:lnTo>
                  <a:lnTo>
                    <a:pt x="2038826" y="1353758"/>
                  </a:lnTo>
                  <a:lnTo>
                    <a:pt x="1990513" y="1370273"/>
                  </a:lnTo>
                  <a:lnTo>
                    <a:pt x="1940858" y="1385653"/>
                  </a:lnTo>
                  <a:lnTo>
                    <a:pt x="1889921" y="1399865"/>
                  </a:lnTo>
                  <a:lnTo>
                    <a:pt x="1837759" y="1412878"/>
                  </a:lnTo>
                  <a:lnTo>
                    <a:pt x="1784431" y="1424659"/>
                  </a:lnTo>
                  <a:lnTo>
                    <a:pt x="1729995" y="1435176"/>
                  </a:lnTo>
                  <a:lnTo>
                    <a:pt x="1674510" y="1444395"/>
                  </a:lnTo>
                  <a:lnTo>
                    <a:pt x="1618034" y="1452285"/>
                  </a:lnTo>
                  <a:lnTo>
                    <a:pt x="1560626" y="1458813"/>
                  </a:lnTo>
                  <a:lnTo>
                    <a:pt x="1502343" y="1463947"/>
                  </a:lnTo>
                  <a:lnTo>
                    <a:pt x="1443244" y="1467655"/>
                  </a:lnTo>
                  <a:lnTo>
                    <a:pt x="1383387" y="1469903"/>
                  </a:lnTo>
                  <a:lnTo>
                    <a:pt x="1322832" y="1470659"/>
                  </a:lnTo>
                  <a:lnTo>
                    <a:pt x="1262276" y="1469903"/>
                  </a:lnTo>
                  <a:lnTo>
                    <a:pt x="1202419" y="1467655"/>
                  </a:lnTo>
                  <a:lnTo>
                    <a:pt x="1143320" y="1463947"/>
                  </a:lnTo>
                  <a:lnTo>
                    <a:pt x="1085037" y="1458813"/>
                  </a:lnTo>
                  <a:lnTo>
                    <a:pt x="1027629" y="1452285"/>
                  </a:lnTo>
                  <a:lnTo>
                    <a:pt x="971153" y="1444395"/>
                  </a:lnTo>
                  <a:lnTo>
                    <a:pt x="915668" y="1435176"/>
                  </a:lnTo>
                  <a:lnTo>
                    <a:pt x="861232" y="1424659"/>
                  </a:lnTo>
                  <a:lnTo>
                    <a:pt x="807904" y="1412878"/>
                  </a:lnTo>
                  <a:lnTo>
                    <a:pt x="755742" y="1399865"/>
                  </a:lnTo>
                  <a:lnTo>
                    <a:pt x="704805" y="1385653"/>
                  </a:lnTo>
                  <a:lnTo>
                    <a:pt x="655150" y="1370273"/>
                  </a:lnTo>
                  <a:lnTo>
                    <a:pt x="606837" y="1353758"/>
                  </a:lnTo>
                  <a:lnTo>
                    <a:pt x="559923" y="1336142"/>
                  </a:lnTo>
                  <a:lnTo>
                    <a:pt x="514467" y="1317455"/>
                  </a:lnTo>
                  <a:lnTo>
                    <a:pt x="470527" y="1297730"/>
                  </a:lnTo>
                  <a:lnTo>
                    <a:pt x="428161" y="1277001"/>
                  </a:lnTo>
                  <a:lnTo>
                    <a:pt x="387429" y="1255299"/>
                  </a:lnTo>
                  <a:lnTo>
                    <a:pt x="348388" y="1232657"/>
                  </a:lnTo>
                  <a:lnTo>
                    <a:pt x="311096" y="1209107"/>
                  </a:lnTo>
                  <a:lnTo>
                    <a:pt x="275613" y="1184682"/>
                  </a:lnTo>
                  <a:lnTo>
                    <a:pt x="241995" y="1159415"/>
                  </a:lnTo>
                  <a:lnTo>
                    <a:pt x="210303" y="1133336"/>
                  </a:lnTo>
                  <a:lnTo>
                    <a:pt x="180594" y="1106480"/>
                  </a:lnTo>
                  <a:lnTo>
                    <a:pt x="152925" y="1078878"/>
                  </a:lnTo>
                  <a:lnTo>
                    <a:pt x="127357" y="1050563"/>
                  </a:lnTo>
                  <a:lnTo>
                    <a:pt x="82753" y="991924"/>
                  </a:lnTo>
                  <a:lnTo>
                    <a:pt x="47249" y="930821"/>
                  </a:lnTo>
                  <a:lnTo>
                    <a:pt x="21310" y="867515"/>
                  </a:lnTo>
                  <a:lnTo>
                    <a:pt x="5405" y="802265"/>
                  </a:lnTo>
                  <a:lnTo>
                    <a:pt x="0" y="73532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550920" y="2240279"/>
              <a:ext cx="2646045" cy="1472565"/>
            </a:xfrm>
            <a:custGeom>
              <a:avLst/>
              <a:gdLst/>
              <a:ahLst/>
              <a:cxnLst/>
              <a:rect l="l" t="t" r="r" b="b"/>
              <a:pathLst>
                <a:path w="2646045" h="1472564">
                  <a:moveTo>
                    <a:pt x="0" y="736091"/>
                  </a:moveTo>
                  <a:lnTo>
                    <a:pt x="5405" y="669093"/>
                  </a:lnTo>
                  <a:lnTo>
                    <a:pt x="21310" y="603779"/>
                  </a:lnTo>
                  <a:lnTo>
                    <a:pt x="47249" y="540411"/>
                  </a:lnTo>
                  <a:lnTo>
                    <a:pt x="82753" y="479247"/>
                  </a:lnTo>
                  <a:lnTo>
                    <a:pt x="127357" y="420548"/>
                  </a:lnTo>
                  <a:lnTo>
                    <a:pt x="152925" y="392204"/>
                  </a:lnTo>
                  <a:lnTo>
                    <a:pt x="180594" y="364574"/>
                  </a:lnTo>
                  <a:lnTo>
                    <a:pt x="210303" y="337690"/>
                  </a:lnTo>
                  <a:lnTo>
                    <a:pt x="241995" y="311584"/>
                  </a:lnTo>
                  <a:lnTo>
                    <a:pt x="275613" y="286290"/>
                  </a:lnTo>
                  <a:lnTo>
                    <a:pt x="311096" y="261839"/>
                  </a:lnTo>
                  <a:lnTo>
                    <a:pt x="348388" y="238264"/>
                  </a:lnTo>
                  <a:lnTo>
                    <a:pt x="387429" y="215598"/>
                  </a:lnTo>
                  <a:lnTo>
                    <a:pt x="428161" y="193873"/>
                  </a:lnTo>
                  <a:lnTo>
                    <a:pt x="470527" y="173121"/>
                  </a:lnTo>
                  <a:lnTo>
                    <a:pt x="514467" y="153375"/>
                  </a:lnTo>
                  <a:lnTo>
                    <a:pt x="559923" y="134668"/>
                  </a:lnTo>
                  <a:lnTo>
                    <a:pt x="606837" y="117032"/>
                  </a:lnTo>
                  <a:lnTo>
                    <a:pt x="655150" y="100499"/>
                  </a:lnTo>
                  <a:lnTo>
                    <a:pt x="704805" y="85102"/>
                  </a:lnTo>
                  <a:lnTo>
                    <a:pt x="755742" y="70874"/>
                  </a:lnTo>
                  <a:lnTo>
                    <a:pt x="807904" y="57846"/>
                  </a:lnTo>
                  <a:lnTo>
                    <a:pt x="861232" y="46052"/>
                  </a:lnTo>
                  <a:lnTo>
                    <a:pt x="915668" y="35524"/>
                  </a:lnTo>
                  <a:lnTo>
                    <a:pt x="971153" y="26294"/>
                  </a:lnTo>
                  <a:lnTo>
                    <a:pt x="1027629" y="18395"/>
                  </a:lnTo>
                  <a:lnTo>
                    <a:pt x="1085037" y="11859"/>
                  </a:lnTo>
                  <a:lnTo>
                    <a:pt x="1143320" y="6719"/>
                  </a:lnTo>
                  <a:lnTo>
                    <a:pt x="1202419" y="3008"/>
                  </a:lnTo>
                  <a:lnTo>
                    <a:pt x="1262276" y="757"/>
                  </a:lnTo>
                  <a:lnTo>
                    <a:pt x="1322832" y="0"/>
                  </a:lnTo>
                  <a:lnTo>
                    <a:pt x="1383387" y="757"/>
                  </a:lnTo>
                  <a:lnTo>
                    <a:pt x="1443244" y="3008"/>
                  </a:lnTo>
                  <a:lnTo>
                    <a:pt x="1502343" y="6719"/>
                  </a:lnTo>
                  <a:lnTo>
                    <a:pt x="1560626" y="11859"/>
                  </a:lnTo>
                  <a:lnTo>
                    <a:pt x="1618034" y="18395"/>
                  </a:lnTo>
                  <a:lnTo>
                    <a:pt x="1674510" y="26294"/>
                  </a:lnTo>
                  <a:lnTo>
                    <a:pt x="1729995" y="35524"/>
                  </a:lnTo>
                  <a:lnTo>
                    <a:pt x="1784431" y="46052"/>
                  </a:lnTo>
                  <a:lnTo>
                    <a:pt x="1837759" y="57846"/>
                  </a:lnTo>
                  <a:lnTo>
                    <a:pt x="1889921" y="70874"/>
                  </a:lnTo>
                  <a:lnTo>
                    <a:pt x="1940858" y="85102"/>
                  </a:lnTo>
                  <a:lnTo>
                    <a:pt x="1990513" y="100499"/>
                  </a:lnTo>
                  <a:lnTo>
                    <a:pt x="2038826" y="117032"/>
                  </a:lnTo>
                  <a:lnTo>
                    <a:pt x="2085740" y="134668"/>
                  </a:lnTo>
                  <a:lnTo>
                    <a:pt x="2131196" y="153375"/>
                  </a:lnTo>
                  <a:lnTo>
                    <a:pt x="2175136" y="173121"/>
                  </a:lnTo>
                  <a:lnTo>
                    <a:pt x="2217502" y="193873"/>
                  </a:lnTo>
                  <a:lnTo>
                    <a:pt x="2258234" y="215598"/>
                  </a:lnTo>
                  <a:lnTo>
                    <a:pt x="2297275" y="238264"/>
                  </a:lnTo>
                  <a:lnTo>
                    <a:pt x="2334567" y="261839"/>
                  </a:lnTo>
                  <a:lnTo>
                    <a:pt x="2370050" y="286290"/>
                  </a:lnTo>
                  <a:lnTo>
                    <a:pt x="2403668" y="311584"/>
                  </a:lnTo>
                  <a:lnTo>
                    <a:pt x="2435360" y="337690"/>
                  </a:lnTo>
                  <a:lnTo>
                    <a:pt x="2465069" y="364574"/>
                  </a:lnTo>
                  <a:lnTo>
                    <a:pt x="2492738" y="392204"/>
                  </a:lnTo>
                  <a:lnTo>
                    <a:pt x="2518306" y="420548"/>
                  </a:lnTo>
                  <a:lnTo>
                    <a:pt x="2562910" y="479247"/>
                  </a:lnTo>
                  <a:lnTo>
                    <a:pt x="2598414" y="540411"/>
                  </a:lnTo>
                  <a:lnTo>
                    <a:pt x="2624353" y="603779"/>
                  </a:lnTo>
                  <a:lnTo>
                    <a:pt x="2640258" y="669093"/>
                  </a:lnTo>
                  <a:lnTo>
                    <a:pt x="2645664" y="736091"/>
                  </a:lnTo>
                  <a:lnTo>
                    <a:pt x="2644302" y="769785"/>
                  </a:lnTo>
                  <a:lnTo>
                    <a:pt x="2633589" y="835974"/>
                  </a:lnTo>
                  <a:lnTo>
                    <a:pt x="2612608" y="900347"/>
                  </a:lnTo>
                  <a:lnTo>
                    <a:pt x="2581829" y="962646"/>
                  </a:lnTo>
                  <a:lnTo>
                    <a:pt x="2541716" y="1022609"/>
                  </a:lnTo>
                  <a:lnTo>
                    <a:pt x="2492738" y="1079979"/>
                  </a:lnTo>
                  <a:lnTo>
                    <a:pt x="2465070" y="1107609"/>
                  </a:lnTo>
                  <a:lnTo>
                    <a:pt x="2435360" y="1134493"/>
                  </a:lnTo>
                  <a:lnTo>
                    <a:pt x="2403668" y="1160599"/>
                  </a:lnTo>
                  <a:lnTo>
                    <a:pt x="2370050" y="1185893"/>
                  </a:lnTo>
                  <a:lnTo>
                    <a:pt x="2334567" y="1210344"/>
                  </a:lnTo>
                  <a:lnTo>
                    <a:pt x="2297275" y="1233919"/>
                  </a:lnTo>
                  <a:lnTo>
                    <a:pt x="2258234" y="1256585"/>
                  </a:lnTo>
                  <a:lnTo>
                    <a:pt x="2217502" y="1278310"/>
                  </a:lnTo>
                  <a:lnTo>
                    <a:pt x="2175136" y="1299062"/>
                  </a:lnTo>
                  <a:lnTo>
                    <a:pt x="2131196" y="1318808"/>
                  </a:lnTo>
                  <a:lnTo>
                    <a:pt x="2085740" y="1337515"/>
                  </a:lnTo>
                  <a:lnTo>
                    <a:pt x="2038826" y="1355151"/>
                  </a:lnTo>
                  <a:lnTo>
                    <a:pt x="1990513" y="1371684"/>
                  </a:lnTo>
                  <a:lnTo>
                    <a:pt x="1940858" y="1387081"/>
                  </a:lnTo>
                  <a:lnTo>
                    <a:pt x="1889921" y="1401309"/>
                  </a:lnTo>
                  <a:lnTo>
                    <a:pt x="1837759" y="1414337"/>
                  </a:lnTo>
                  <a:lnTo>
                    <a:pt x="1784431" y="1426131"/>
                  </a:lnTo>
                  <a:lnTo>
                    <a:pt x="1729995" y="1436659"/>
                  </a:lnTo>
                  <a:lnTo>
                    <a:pt x="1674510" y="1445889"/>
                  </a:lnTo>
                  <a:lnTo>
                    <a:pt x="1618034" y="1453788"/>
                  </a:lnTo>
                  <a:lnTo>
                    <a:pt x="1560626" y="1460324"/>
                  </a:lnTo>
                  <a:lnTo>
                    <a:pt x="1502343" y="1465464"/>
                  </a:lnTo>
                  <a:lnTo>
                    <a:pt x="1443244" y="1469175"/>
                  </a:lnTo>
                  <a:lnTo>
                    <a:pt x="1383387" y="1471426"/>
                  </a:lnTo>
                  <a:lnTo>
                    <a:pt x="1322832" y="1472183"/>
                  </a:lnTo>
                  <a:lnTo>
                    <a:pt x="1262276" y="1471426"/>
                  </a:lnTo>
                  <a:lnTo>
                    <a:pt x="1202419" y="1469175"/>
                  </a:lnTo>
                  <a:lnTo>
                    <a:pt x="1143320" y="1465464"/>
                  </a:lnTo>
                  <a:lnTo>
                    <a:pt x="1085037" y="1460324"/>
                  </a:lnTo>
                  <a:lnTo>
                    <a:pt x="1027629" y="1453788"/>
                  </a:lnTo>
                  <a:lnTo>
                    <a:pt x="971153" y="1445889"/>
                  </a:lnTo>
                  <a:lnTo>
                    <a:pt x="915668" y="1436659"/>
                  </a:lnTo>
                  <a:lnTo>
                    <a:pt x="861232" y="1426131"/>
                  </a:lnTo>
                  <a:lnTo>
                    <a:pt x="807904" y="1414337"/>
                  </a:lnTo>
                  <a:lnTo>
                    <a:pt x="755742" y="1401309"/>
                  </a:lnTo>
                  <a:lnTo>
                    <a:pt x="704805" y="1387081"/>
                  </a:lnTo>
                  <a:lnTo>
                    <a:pt x="655150" y="1371684"/>
                  </a:lnTo>
                  <a:lnTo>
                    <a:pt x="606837" y="1355151"/>
                  </a:lnTo>
                  <a:lnTo>
                    <a:pt x="559923" y="1337515"/>
                  </a:lnTo>
                  <a:lnTo>
                    <a:pt x="514467" y="1318808"/>
                  </a:lnTo>
                  <a:lnTo>
                    <a:pt x="470527" y="1299062"/>
                  </a:lnTo>
                  <a:lnTo>
                    <a:pt x="428161" y="1278310"/>
                  </a:lnTo>
                  <a:lnTo>
                    <a:pt x="387429" y="1256585"/>
                  </a:lnTo>
                  <a:lnTo>
                    <a:pt x="348388" y="1233919"/>
                  </a:lnTo>
                  <a:lnTo>
                    <a:pt x="311096" y="1210344"/>
                  </a:lnTo>
                  <a:lnTo>
                    <a:pt x="275613" y="1185893"/>
                  </a:lnTo>
                  <a:lnTo>
                    <a:pt x="241995" y="1160599"/>
                  </a:lnTo>
                  <a:lnTo>
                    <a:pt x="210303" y="1134493"/>
                  </a:lnTo>
                  <a:lnTo>
                    <a:pt x="180594" y="1107609"/>
                  </a:lnTo>
                  <a:lnTo>
                    <a:pt x="152925" y="1079979"/>
                  </a:lnTo>
                  <a:lnTo>
                    <a:pt x="127357" y="1051635"/>
                  </a:lnTo>
                  <a:lnTo>
                    <a:pt x="82753" y="992936"/>
                  </a:lnTo>
                  <a:lnTo>
                    <a:pt x="47249" y="931772"/>
                  </a:lnTo>
                  <a:lnTo>
                    <a:pt x="21310" y="868404"/>
                  </a:lnTo>
                  <a:lnTo>
                    <a:pt x="5405" y="803090"/>
                  </a:lnTo>
                  <a:lnTo>
                    <a:pt x="0" y="736091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572257" y="2683891"/>
            <a:ext cx="5378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459">
                <a:latin typeface="Arial"/>
                <a:cs typeface="Arial"/>
              </a:rPr>
              <a:t>CTL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20183" y="2698191"/>
            <a:ext cx="4711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480">
                <a:latin typeface="Arial"/>
                <a:cs typeface="Arial"/>
              </a:rPr>
              <a:t>LTL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1453" y="4654677"/>
            <a:ext cx="469328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4471C4"/>
              </a:buClr>
              <a:buFont typeface="Wingdings"/>
              <a:buChar char=""/>
              <a:tabLst>
                <a:tab pos="354965" algn="l"/>
                <a:tab pos="3302635" algn="l"/>
              </a:tabLst>
            </a:pPr>
            <a:r>
              <a:rPr dirty="0" sz="2400" spc="-80">
                <a:latin typeface="Arial"/>
                <a:cs typeface="Arial"/>
              </a:rPr>
              <a:t>In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375">
                <a:latin typeface="Arial"/>
                <a:cs typeface="Arial"/>
              </a:rPr>
              <a:t>CTL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95">
                <a:latin typeface="Arial"/>
                <a:cs typeface="Arial"/>
              </a:rPr>
              <a:t>und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55">
                <a:latin typeface="Arial"/>
                <a:cs typeface="Arial"/>
              </a:rPr>
              <a:t>nicht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in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320">
                <a:latin typeface="Arial"/>
                <a:cs typeface="Arial"/>
              </a:rPr>
              <a:t>LTL:</a:t>
            </a:r>
            <a:r>
              <a:rPr dirty="0" sz="2400">
                <a:latin typeface="Arial"/>
                <a:cs typeface="Arial"/>
              </a:rPr>
              <a:t>	</a:t>
            </a:r>
            <a:r>
              <a:rPr dirty="0" sz="2400" spc="-295">
                <a:latin typeface="Arial"/>
                <a:cs typeface="Arial"/>
              </a:rPr>
              <a:t>AG</a:t>
            </a:r>
            <a:r>
              <a:rPr dirty="0" sz="2400" spc="-140">
                <a:latin typeface="Arial"/>
                <a:cs typeface="Arial"/>
              </a:rPr>
              <a:t> </a:t>
            </a:r>
            <a:r>
              <a:rPr dirty="0" sz="2400" spc="-405">
                <a:latin typeface="Arial"/>
                <a:cs typeface="Arial"/>
              </a:rPr>
              <a:t>EF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ts val="2870"/>
              </a:lnSpc>
              <a:spcBef>
                <a:spcPts val="25"/>
              </a:spcBef>
              <a:buClr>
                <a:srgbClr val="4471C4"/>
              </a:buClr>
              <a:buFont typeface="Wingdings"/>
              <a:buChar char=""/>
              <a:tabLst>
                <a:tab pos="354965" algn="l"/>
                <a:tab pos="4312285" algn="l"/>
              </a:tabLst>
            </a:pPr>
            <a:r>
              <a:rPr dirty="0" sz="2400" spc="-80">
                <a:latin typeface="Arial"/>
                <a:cs typeface="Arial"/>
              </a:rPr>
              <a:t>In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395">
                <a:latin typeface="Arial"/>
                <a:cs typeface="Arial"/>
              </a:rPr>
              <a:t>LTL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und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55">
                <a:latin typeface="Arial"/>
                <a:cs typeface="Arial"/>
              </a:rPr>
              <a:t>nicht</a:t>
            </a:r>
            <a:r>
              <a:rPr dirty="0" sz="2400" spc="-140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in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280">
                <a:latin typeface="Arial"/>
                <a:cs typeface="Arial"/>
              </a:rPr>
              <a:t>CTL: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370">
                <a:latin typeface="Arial"/>
                <a:cs typeface="Arial"/>
              </a:rPr>
              <a:t>GF</a:t>
            </a:r>
            <a:r>
              <a:rPr dirty="0" sz="2400" spc="-1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</a:t>
            </a:r>
            <a:r>
              <a:rPr dirty="0" sz="2400" spc="240">
                <a:latin typeface="Arial"/>
                <a:cs typeface="Arial"/>
              </a:rPr>
              <a:t> </a:t>
            </a:r>
            <a:r>
              <a:rPr dirty="0" sz="2400" spc="-50">
                <a:latin typeface="STIX Two Math"/>
                <a:cs typeface="STIX Two Math"/>
              </a:rPr>
              <a:t>⇒</a:t>
            </a:r>
            <a:r>
              <a:rPr dirty="0" sz="2400">
                <a:latin typeface="STIX Two Math"/>
                <a:cs typeface="STIX Two Math"/>
              </a:rPr>
              <a:t>	</a:t>
            </a:r>
            <a:r>
              <a:rPr dirty="0" sz="2400" spc="-370">
                <a:latin typeface="Arial"/>
                <a:cs typeface="Arial"/>
              </a:rPr>
              <a:t>F</a:t>
            </a:r>
            <a:r>
              <a:rPr dirty="0" sz="2400" spc="-140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q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ts val="2870"/>
              </a:lnSpc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sz="2400" spc="-80">
                <a:latin typeface="Arial"/>
                <a:cs typeface="Arial"/>
              </a:rPr>
              <a:t>Nicht</a:t>
            </a:r>
            <a:r>
              <a:rPr dirty="0" sz="2400" spc="-135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in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370">
                <a:latin typeface="Arial"/>
                <a:cs typeface="Arial"/>
              </a:rPr>
              <a:t>CTL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95">
                <a:latin typeface="Arial"/>
                <a:cs typeface="Arial"/>
              </a:rPr>
              <a:t>und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300">
                <a:latin typeface="Arial"/>
                <a:cs typeface="Arial"/>
              </a:rPr>
              <a:t>LTL: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434">
                <a:latin typeface="Arial"/>
                <a:cs typeface="Arial"/>
              </a:rPr>
              <a:t>E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265">
                <a:latin typeface="Arial"/>
                <a:cs typeface="Arial"/>
              </a:rPr>
              <a:t>(GF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p)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55775" y="1552955"/>
            <a:ext cx="5554980" cy="2664460"/>
          </a:xfrm>
          <a:custGeom>
            <a:avLst/>
            <a:gdLst/>
            <a:ahLst/>
            <a:cxnLst/>
            <a:rect l="l" t="t" r="r" b="b"/>
            <a:pathLst>
              <a:path w="5554980" h="2664460">
                <a:moveTo>
                  <a:pt x="0" y="1331976"/>
                </a:moveTo>
                <a:lnTo>
                  <a:pt x="2858" y="1271009"/>
                </a:lnTo>
                <a:lnTo>
                  <a:pt x="11351" y="1210745"/>
                </a:lnTo>
                <a:lnTo>
                  <a:pt x="25356" y="1151244"/>
                </a:lnTo>
                <a:lnTo>
                  <a:pt x="44751" y="1092563"/>
                </a:lnTo>
                <a:lnTo>
                  <a:pt x="69412" y="1034762"/>
                </a:lnTo>
                <a:lnTo>
                  <a:pt x="99218" y="977900"/>
                </a:lnTo>
                <a:lnTo>
                  <a:pt x="134046" y="922034"/>
                </a:lnTo>
                <a:lnTo>
                  <a:pt x="173773" y="867224"/>
                </a:lnTo>
                <a:lnTo>
                  <a:pt x="218277" y="813530"/>
                </a:lnTo>
                <a:lnTo>
                  <a:pt x="267434" y="761009"/>
                </a:lnTo>
                <a:lnTo>
                  <a:pt x="321124" y="709720"/>
                </a:lnTo>
                <a:lnTo>
                  <a:pt x="379222" y="659722"/>
                </a:lnTo>
                <a:lnTo>
                  <a:pt x="409885" y="635226"/>
                </a:lnTo>
                <a:lnTo>
                  <a:pt x="441606" y="611075"/>
                </a:lnTo>
                <a:lnTo>
                  <a:pt x="474367" y="587275"/>
                </a:lnTo>
                <a:lnTo>
                  <a:pt x="508154" y="563836"/>
                </a:lnTo>
                <a:lnTo>
                  <a:pt x="542951" y="540763"/>
                </a:lnTo>
                <a:lnTo>
                  <a:pt x="578742" y="518064"/>
                </a:lnTo>
                <a:lnTo>
                  <a:pt x="615514" y="495747"/>
                </a:lnTo>
                <a:lnTo>
                  <a:pt x="653250" y="473819"/>
                </a:lnTo>
                <a:lnTo>
                  <a:pt x="691935" y="452288"/>
                </a:lnTo>
                <a:lnTo>
                  <a:pt x="731553" y="431159"/>
                </a:lnTo>
                <a:lnTo>
                  <a:pt x="772090" y="410442"/>
                </a:lnTo>
                <a:lnTo>
                  <a:pt x="813530" y="390144"/>
                </a:lnTo>
                <a:lnTo>
                  <a:pt x="855857" y="370270"/>
                </a:lnTo>
                <a:lnTo>
                  <a:pt x="899057" y="350830"/>
                </a:lnTo>
                <a:lnTo>
                  <a:pt x="943114" y="331831"/>
                </a:lnTo>
                <a:lnTo>
                  <a:pt x="988012" y="313279"/>
                </a:lnTo>
                <a:lnTo>
                  <a:pt x="1033737" y="295182"/>
                </a:lnTo>
                <a:lnTo>
                  <a:pt x="1080273" y="277547"/>
                </a:lnTo>
                <a:lnTo>
                  <a:pt x="1127605" y="260383"/>
                </a:lnTo>
                <a:lnTo>
                  <a:pt x="1175717" y="243695"/>
                </a:lnTo>
                <a:lnTo>
                  <a:pt x="1224595" y="227492"/>
                </a:lnTo>
                <a:lnTo>
                  <a:pt x="1274222" y="211781"/>
                </a:lnTo>
                <a:lnTo>
                  <a:pt x="1324583" y="196569"/>
                </a:lnTo>
                <a:lnTo>
                  <a:pt x="1375664" y="181864"/>
                </a:lnTo>
                <a:lnTo>
                  <a:pt x="1427448" y="167672"/>
                </a:lnTo>
                <a:lnTo>
                  <a:pt x="1479921" y="154002"/>
                </a:lnTo>
                <a:lnTo>
                  <a:pt x="1533067" y="140860"/>
                </a:lnTo>
                <a:lnTo>
                  <a:pt x="1586870" y="128254"/>
                </a:lnTo>
                <a:lnTo>
                  <a:pt x="1641317" y="116191"/>
                </a:lnTo>
                <a:lnTo>
                  <a:pt x="1696390" y="104679"/>
                </a:lnTo>
                <a:lnTo>
                  <a:pt x="1752075" y="93725"/>
                </a:lnTo>
                <a:lnTo>
                  <a:pt x="1808357" y="83337"/>
                </a:lnTo>
                <a:lnTo>
                  <a:pt x="1865220" y="73521"/>
                </a:lnTo>
                <a:lnTo>
                  <a:pt x="1922649" y="64285"/>
                </a:lnTo>
                <a:lnTo>
                  <a:pt x="1980629" y="55636"/>
                </a:lnTo>
                <a:lnTo>
                  <a:pt x="2039143" y="47582"/>
                </a:lnTo>
                <a:lnTo>
                  <a:pt x="2098178" y="40130"/>
                </a:lnTo>
                <a:lnTo>
                  <a:pt x="2157717" y="33288"/>
                </a:lnTo>
                <a:lnTo>
                  <a:pt x="2217745" y="27062"/>
                </a:lnTo>
                <a:lnTo>
                  <a:pt x="2278248" y="21461"/>
                </a:lnTo>
                <a:lnTo>
                  <a:pt x="2339209" y="16491"/>
                </a:lnTo>
                <a:lnTo>
                  <a:pt x="2400613" y="12160"/>
                </a:lnTo>
                <a:lnTo>
                  <a:pt x="2462445" y="8475"/>
                </a:lnTo>
                <a:lnTo>
                  <a:pt x="2524690" y="5443"/>
                </a:lnTo>
                <a:lnTo>
                  <a:pt x="2587332" y="3073"/>
                </a:lnTo>
                <a:lnTo>
                  <a:pt x="2650356" y="1370"/>
                </a:lnTo>
                <a:lnTo>
                  <a:pt x="2713747" y="343"/>
                </a:lnTo>
                <a:lnTo>
                  <a:pt x="2777490" y="0"/>
                </a:lnTo>
                <a:lnTo>
                  <a:pt x="2841232" y="343"/>
                </a:lnTo>
                <a:lnTo>
                  <a:pt x="2904623" y="1370"/>
                </a:lnTo>
                <a:lnTo>
                  <a:pt x="2967647" y="3073"/>
                </a:lnTo>
                <a:lnTo>
                  <a:pt x="3030289" y="5443"/>
                </a:lnTo>
                <a:lnTo>
                  <a:pt x="3092534" y="8475"/>
                </a:lnTo>
                <a:lnTo>
                  <a:pt x="3154366" y="12160"/>
                </a:lnTo>
                <a:lnTo>
                  <a:pt x="3215770" y="16491"/>
                </a:lnTo>
                <a:lnTo>
                  <a:pt x="3276731" y="21461"/>
                </a:lnTo>
                <a:lnTo>
                  <a:pt x="3337234" y="27062"/>
                </a:lnTo>
                <a:lnTo>
                  <a:pt x="3397262" y="33288"/>
                </a:lnTo>
                <a:lnTo>
                  <a:pt x="3456801" y="40130"/>
                </a:lnTo>
                <a:lnTo>
                  <a:pt x="3515836" y="47582"/>
                </a:lnTo>
                <a:lnTo>
                  <a:pt x="3574350" y="55636"/>
                </a:lnTo>
                <a:lnTo>
                  <a:pt x="3632330" y="64285"/>
                </a:lnTo>
                <a:lnTo>
                  <a:pt x="3689759" y="73521"/>
                </a:lnTo>
                <a:lnTo>
                  <a:pt x="3746622" y="83337"/>
                </a:lnTo>
                <a:lnTo>
                  <a:pt x="3802904" y="93725"/>
                </a:lnTo>
                <a:lnTo>
                  <a:pt x="3858589" y="104679"/>
                </a:lnTo>
                <a:lnTo>
                  <a:pt x="3913662" y="116191"/>
                </a:lnTo>
                <a:lnTo>
                  <a:pt x="3968109" y="128254"/>
                </a:lnTo>
                <a:lnTo>
                  <a:pt x="4021912" y="140860"/>
                </a:lnTo>
                <a:lnTo>
                  <a:pt x="4075058" y="154002"/>
                </a:lnTo>
                <a:lnTo>
                  <a:pt x="4127531" y="167672"/>
                </a:lnTo>
                <a:lnTo>
                  <a:pt x="4179316" y="181863"/>
                </a:lnTo>
                <a:lnTo>
                  <a:pt x="4230396" y="196569"/>
                </a:lnTo>
                <a:lnTo>
                  <a:pt x="4280757" y="211781"/>
                </a:lnTo>
                <a:lnTo>
                  <a:pt x="4330384" y="227492"/>
                </a:lnTo>
                <a:lnTo>
                  <a:pt x="4379262" y="243695"/>
                </a:lnTo>
                <a:lnTo>
                  <a:pt x="4427374" y="260383"/>
                </a:lnTo>
                <a:lnTo>
                  <a:pt x="4474706" y="277547"/>
                </a:lnTo>
                <a:lnTo>
                  <a:pt x="4521242" y="295182"/>
                </a:lnTo>
                <a:lnTo>
                  <a:pt x="4566967" y="313279"/>
                </a:lnTo>
                <a:lnTo>
                  <a:pt x="4611865" y="331831"/>
                </a:lnTo>
                <a:lnTo>
                  <a:pt x="4655922" y="350830"/>
                </a:lnTo>
                <a:lnTo>
                  <a:pt x="4699122" y="370270"/>
                </a:lnTo>
                <a:lnTo>
                  <a:pt x="4741449" y="390143"/>
                </a:lnTo>
                <a:lnTo>
                  <a:pt x="4782889" y="410442"/>
                </a:lnTo>
                <a:lnTo>
                  <a:pt x="4823426" y="431159"/>
                </a:lnTo>
                <a:lnTo>
                  <a:pt x="4863044" y="452288"/>
                </a:lnTo>
                <a:lnTo>
                  <a:pt x="4901729" y="473819"/>
                </a:lnTo>
                <a:lnTo>
                  <a:pt x="4939465" y="495747"/>
                </a:lnTo>
                <a:lnTo>
                  <a:pt x="4976237" y="518064"/>
                </a:lnTo>
                <a:lnTo>
                  <a:pt x="5012028" y="540763"/>
                </a:lnTo>
                <a:lnTo>
                  <a:pt x="5046825" y="563836"/>
                </a:lnTo>
                <a:lnTo>
                  <a:pt x="5080612" y="587275"/>
                </a:lnTo>
                <a:lnTo>
                  <a:pt x="5113373" y="611075"/>
                </a:lnTo>
                <a:lnTo>
                  <a:pt x="5145094" y="635226"/>
                </a:lnTo>
                <a:lnTo>
                  <a:pt x="5175758" y="659722"/>
                </a:lnTo>
                <a:lnTo>
                  <a:pt x="5205350" y="684556"/>
                </a:lnTo>
                <a:lnTo>
                  <a:pt x="5261259" y="735206"/>
                </a:lnTo>
                <a:lnTo>
                  <a:pt x="5312697" y="787119"/>
                </a:lnTo>
                <a:lnTo>
                  <a:pt x="5359543" y="840234"/>
                </a:lnTo>
                <a:lnTo>
                  <a:pt x="5401674" y="894494"/>
                </a:lnTo>
                <a:lnTo>
                  <a:pt x="5438967" y="949838"/>
                </a:lnTo>
                <a:lnTo>
                  <a:pt x="5471299" y="1006210"/>
                </a:lnTo>
                <a:lnTo>
                  <a:pt x="5498548" y="1063549"/>
                </a:lnTo>
                <a:lnTo>
                  <a:pt x="5520592" y="1121797"/>
                </a:lnTo>
                <a:lnTo>
                  <a:pt x="5537307" y="1180896"/>
                </a:lnTo>
                <a:lnTo>
                  <a:pt x="5548571" y="1240786"/>
                </a:lnTo>
                <a:lnTo>
                  <a:pt x="5554262" y="1301408"/>
                </a:lnTo>
                <a:lnTo>
                  <a:pt x="5554980" y="1331976"/>
                </a:lnTo>
                <a:lnTo>
                  <a:pt x="5554262" y="1362543"/>
                </a:lnTo>
                <a:lnTo>
                  <a:pt x="5548571" y="1423165"/>
                </a:lnTo>
                <a:lnTo>
                  <a:pt x="5537307" y="1483055"/>
                </a:lnTo>
                <a:lnTo>
                  <a:pt x="5520592" y="1542154"/>
                </a:lnTo>
                <a:lnTo>
                  <a:pt x="5498548" y="1600402"/>
                </a:lnTo>
                <a:lnTo>
                  <a:pt x="5471299" y="1657741"/>
                </a:lnTo>
                <a:lnTo>
                  <a:pt x="5438967" y="1714113"/>
                </a:lnTo>
                <a:lnTo>
                  <a:pt x="5401674" y="1769457"/>
                </a:lnTo>
                <a:lnTo>
                  <a:pt x="5359543" y="1823717"/>
                </a:lnTo>
                <a:lnTo>
                  <a:pt x="5312697" y="1876832"/>
                </a:lnTo>
                <a:lnTo>
                  <a:pt x="5261259" y="1928745"/>
                </a:lnTo>
                <a:lnTo>
                  <a:pt x="5205350" y="1979395"/>
                </a:lnTo>
                <a:lnTo>
                  <a:pt x="5175757" y="2004229"/>
                </a:lnTo>
                <a:lnTo>
                  <a:pt x="5145094" y="2028725"/>
                </a:lnTo>
                <a:lnTo>
                  <a:pt x="5113373" y="2052876"/>
                </a:lnTo>
                <a:lnTo>
                  <a:pt x="5080612" y="2076676"/>
                </a:lnTo>
                <a:lnTo>
                  <a:pt x="5046825" y="2100115"/>
                </a:lnTo>
                <a:lnTo>
                  <a:pt x="5012028" y="2123188"/>
                </a:lnTo>
                <a:lnTo>
                  <a:pt x="4976237" y="2145887"/>
                </a:lnTo>
                <a:lnTo>
                  <a:pt x="4939465" y="2168204"/>
                </a:lnTo>
                <a:lnTo>
                  <a:pt x="4901729" y="2190132"/>
                </a:lnTo>
                <a:lnTo>
                  <a:pt x="4863044" y="2211663"/>
                </a:lnTo>
                <a:lnTo>
                  <a:pt x="4823426" y="2232792"/>
                </a:lnTo>
                <a:lnTo>
                  <a:pt x="4782889" y="2253509"/>
                </a:lnTo>
                <a:lnTo>
                  <a:pt x="4741449" y="2273807"/>
                </a:lnTo>
                <a:lnTo>
                  <a:pt x="4699122" y="2293681"/>
                </a:lnTo>
                <a:lnTo>
                  <a:pt x="4655922" y="2313121"/>
                </a:lnTo>
                <a:lnTo>
                  <a:pt x="4611865" y="2332120"/>
                </a:lnTo>
                <a:lnTo>
                  <a:pt x="4566967" y="2350672"/>
                </a:lnTo>
                <a:lnTo>
                  <a:pt x="4521242" y="2368769"/>
                </a:lnTo>
                <a:lnTo>
                  <a:pt x="4474706" y="2386404"/>
                </a:lnTo>
                <a:lnTo>
                  <a:pt x="4427374" y="2403568"/>
                </a:lnTo>
                <a:lnTo>
                  <a:pt x="4379262" y="2420256"/>
                </a:lnTo>
                <a:lnTo>
                  <a:pt x="4330384" y="2436459"/>
                </a:lnTo>
                <a:lnTo>
                  <a:pt x="4280757" y="2452170"/>
                </a:lnTo>
                <a:lnTo>
                  <a:pt x="4230396" y="2467382"/>
                </a:lnTo>
                <a:lnTo>
                  <a:pt x="4179315" y="2482087"/>
                </a:lnTo>
                <a:lnTo>
                  <a:pt x="4127531" y="2496279"/>
                </a:lnTo>
                <a:lnTo>
                  <a:pt x="4075058" y="2509949"/>
                </a:lnTo>
                <a:lnTo>
                  <a:pt x="4021912" y="2523091"/>
                </a:lnTo>
                <a:lnTo>
                  <a:pt x="3968109" y="2535697"/>
                </a:lnTo>
                <a:lnTo>
                  <a:pt x="3913662" y="2547760"/>
                </a:lnTo>
                <a:lnTo>
                  <a:pt x="3858589" y="2559272"/>
                </a:lnTo>
                <a:lnTo>
                  <a:pt x="3802904" y="2570226"/>
                </a:lnTo>
                <a:lnTo>
                  <a:pt x="3746622" y="2580614"/>
                </a:lnTo>
                <a:lnTo>
                  <a:pt x="3689759" y="2590430"/>
                </a:lnTo>
                <a:lnTo>
                  <a:pt x="3632330" y="2599666"/>
                </a:lnTo>
                <a:lnTo>
                  <a:pt x="3574350" y="2608315"/>
                </a:lnTo>
                <a:lnTo>
                  <a:pt x="3515836" y="2616369"/>
                </a:lnTo>
                <a:lnTo>
                  <a:pt x="3456801" y="2623821"/>
                </a:lnTo>
                <a:lnTo>
                  <a:pt x="3397262" y="2630663"/>
                </a:lnTo>
                <a:lnTo>
                  <a:pt x="3337234" y="2636889"/>
                </a:lnTo>
                <a:lnTo>
                  <a:pt x="3276731" y="2642490"/>
                </a:lnTo>
                <a:lnTo>
                  <a:pt x="3215770" y="2647460"/>
                </a:lnTo>
                <a:lnTo>
                  <a:pt x="3154366" y="2651791"/>
                </a:lnTo>
                <a:lnTo>
                  <a:pt x="3092534" y="2655476"/>
                </a:lnTo>
                <a:lnTo>
                  <a:pt x="3030289" y="2658508"/>
                </a:lnTo>
                <a:lnTo>
                  <a:pt x="2967647" y="2660878"/>
                </a:lnTo>
                <a:lnTo>
                  <a:pt x="2904623" y="2662581"/>
                </a:lnTo>
                <a:lnTo>
                  <a:pt x="2841232" y="2663608"/>
                </a:lnTo>
                <a:lnTo>
                  <a:pt x="2777490" y="2663952"/>
                </a:lnTo>
                <a:lnTo>
                  <a:pt x="2713747" y="2663608"/>
                </a:lnTo>
                <a:lnTo>
                  <a:pt x="2650356" y="2662581"/>
                </a:lnTo>
                <a:lnTo>
                  <a:pt x="2587332" y="2660878"/>
                </a:lnTo>
                <a:lnTo>
                  <a:pt x="2524690" y="2658508"/>
                </a:lnTo>
                <a:lnTo>
                  <a:pt x="2462445" y="2655476"/>
                </a:lnTo>
                <a:lnTo>
                  <a:pt x="2400613" y="2651791"/>
                </a:lnTo>
                <a:lnTo>
                  <a:pt x="2339209" y="2647460"/>
                </a:lnTo>
                <a:lnTo>
                  <a:pt x="2278248" y="2642490"/>
                </a:lnTo>
                <a:lnTo>
                  <a:pt x="2217745" y="2636889"/>
                </a:lnTo>
                <a:lnTo>
                  <a:pt x="2157717" y="2630663"/>
                </a:lnTo>
                <a:lnTo>
                  <a:pt x="2098178" y="2623821"/>
                </a:lnTo>
                <a:lnTo>
                  <a:pt x="2039143" y="2616369"/>
                </a:lnTo>
                <a:lnTo>
                  <a:pt x="1980629" y="2608315"/>
                </a:lnTo>
                <a:lnTo>
                  <a:pt x="1922649" y="2599666"/>
                </a:lnTo>
                <a:lnTo>
                  <a:pt x="1865220" y="2590430"/>
                </a:lnTo>
                <a:lnTo>
                  <a:pt x="1808357" y="2580614"/>
                </a:lnTo>
                <a:lnTo>
                  <a:pt x="1752075" y="2570226"/>
                </a:lnTo>
                <a:lnTo>
                  <a:pt x="1696390" y="2559272"/>
                </a:lnTo>
                <a:lnTo>
                  <a:pt x="1641317" y="2547760"/>
                </a:lnTo>
                <a:lnTo>
                  <a:pt x="1586870" y="2535697"/>
                </a:lnTo>
                <a:lnTo>
                  <a:pt x="1533067" y="2523091"/>
                </a:lnTo>
                <a:lnTo>
                  <a:pt x="1479921" y="2509949"/>
                </a:lnTo>
                <a:lnTo>
                  <a:pt x="1427448" y="2496279"/>
                </a:lnTo>
                <a:lnTo>
                  <a:pt x="1375664" y="2482088"/>
                </a:lnTo>
                <a:lnTo>
                  <a:pt x="1324583" y="2467382"/>
                </a:lnTo>
                <a:lnTo>
                  <a:pt x="1274222" y="2452170"/>
                </a:lnTo>
                <a:lnTo>
                  <a:pt x="1224595" y="2436459"/>
                </a:lnTo>
                <a:lnTo>
                  <a:pt x="1175717" y="2420256"/>
                </a:lnTo>
                <a:lnTo>
                  <a:pt x="1127605" y="2403568"/>
                </a:lnTo>
                <a:lnTo>
                  <a:pt x="1080273" y="2386404"/>
                </a:lnTo>
                <a:lnTo>
                  <a:pt x="1033737" y="2368769"/>
                </a:lnTo>
                <a:lnTo>
                  <a:pt x="988012" y="2350672"/>
                </a:lnTo>
                <a:lnTo>
                  <a:pt x="943114" y="2332120"/>
                </a:lnTo>
                <a:lnTo>
                  <a:pt x="899057" y="2313121"/>
                </a:lnTo>
                <a:lnTo>
                  <a:pt x="855857" y="2293681"/>
                </a:lnTo>
                <a:lnTo>
                  <a:pt x="813530" y="2273808"/>
                </a:lnTo>
                <a:lnTo>
                  <a:pt x="772090" y="2253509"/>
                </a:lnTo>
                <a:lnTo>
                  <a:pt x="731553" y="2232792"/>
                </a:lnTo>
                <a:lnTo>
                  <a:pt x="691935" y="2211663"/>
                </a:lnTo>
                <a:lnTo>
                  <a:pt x="653250" y="2190132"/>
                </a:lnTo>
                <a:lnTo>
                  <a:pt x="615514" y="2168204"/>
                </a:lnTo>
                <a:lnTo>
                  <a:pt x="578742" y="2145887"/>
                </a:lnTo>
                <a:lnTo>
                  <a:pt x="542951" y="2123188"/>
                </a:lnTo>
                <a:lnTo>
                  <a:pt x="508154" y="2100115"/>
                </a:lnTo>
                <a:lnTo>
                  <a:pt x="474367" y="2076676"/>
                </a:lnTo>
                <a:lnTo>
                  <a:pt x="441606" y="2052876"/>
                </a:lnTo>
                <a:lnTo>
                  <a:pt x="409885" y="2028725"/>
                </a:lnTo>
                <a:lnTo>
                  <a:pt x="379222" y="2004229"/>
                </a:lnTo>
                <a:lnTo>
                  <a:pt x="349629" y="1979395"/>
                </a:lnTo>
                <a:lnTo>
                  <a:pt x="293720" y="1928745"/>
                </a:lnTo>
                <a:lnTo>
                  <a:pt x="242282" y="1876832"/>
                </a:lnTo>
                <a:lnTo>
                  <a:pt x="195436" y="1823717"/>
                </a:lnTo>
                <a:lnTo>
                  <a:pt x="153305" y="1769457"/>
                </a:lnTo>
                <a:lnTo>
                  <a:pt x="116012" y="1714113"/>
                </a:lnTo>
                <a:lnTo>
                  <a:pt x="83680" y="1657741"/>
                </a:lnTo>
                <a:lnTo>
                  <a:pt x="56431" y="1600402"/>
                </a:lnTo>
                <a:lnTo>
                  <a:pt x="34387" y="1542154"/>
                </a:lnTo>
                <a:lnTo>
                  <a:pt x="17672" y="1483055"/>
                </a:lnTo>
                <a:lnTo>
                  <a:pt x="6408" y="1423165"/>
                </a:lnTo>
                <a:lnTo>
                  <a:pt x="717" y="1362543"/>
                </a:lnTo>
                <a:lnTo>
                  <a:pt x="0" y="1331976"/>
                </a:lnTo>
                <a:close/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794886" y="1749297"/>
            <a:ext cx="6184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95">
                <a:latin typeface="Arial"/>
                <a:cs typeface="Arial"/>
              </a:rPr>
              <a:t>CTL*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10"/>
              <a:t>Timed</a:t>
            </a:r>
            <a:r>
              <a:rPr dirty="0" spc="-175"/>
              <a:t> </a:t>
            </a:r>
            <a:r>
              <a:rPr dirty="0" spc="-640"/>
              <a:t>CTL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66189"/>
            <a:ext cx="55225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250">
                <a:latin typeface="Arial"/>
                <a:cs typeface="Arial"/>
              </a:rPr>
              <a:t>TCTL: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Erweiterung</a:t>
            </a:r>
            <a:r>
              <a:rPr dirty="0" sz="2000" spc="-95">
                <a:latin typeface="Arial"/>
                <a:cs typeface="Arial"/>
              </a:rPr>
              <a:t> von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315">
                <a:latin typeface="Arial"/>
                <a:cs typeface="Arial"/>
              </a:rPr>
              <a:t>CTL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um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Zeitbeschränkungen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93085" y="1713102"/>
            <a:ext cx="53435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70585" algn="l"/>
              </a:tabLst>
            </a:pPr>
            <a:r>
              <a:rPr dirty="0" sz="2000">
                <a:latin typeface="Arial"/>
                <a:cs typeface="Arial"/>
              </a:rPr>
              <a:t>φ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::=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114">
                <a:latin typeface="STIX Two Math"/>
                <a:cs typeface="STIX Two Math"/>
              </a:rPr>
              <a:t>⊥</a:t>
            </a:r>
            <a:r>
              <a:rPr dirty="0" sz="2000" spc="-20">
                <a:latin typeface="STIX Two Math"/>
                <a:cs typeface="STIX Two Math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114">
                <a:latin typeface="STIX Two Math"/>
                <a:cs typeface="STIX Two Math"/>
              </a:rPr>
              <a:t>⊤</a:t>
            </a:r>
            <a:r>
              <a:rPr dirty="0" sz="2000" spc="-15">
                <a:latin typeface="STIX Two Math"/>
                <a:cs typeface="STIX Two Math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p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(¬φ)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(φ</a:t>
            </a:r>
            <a:r>
              <a:rPr dirty="0" sz="2000" spc="-45">
                <a:latin typeface="STIX Two Math"/>
                <a:cs typeface="STIX Two Math"/>
              </a:rPr>
              <a:t>∧</a:t>
            </a:r>
            <a:r>
              <a:rPr dirty="0" sz="2000" spc="-45">
                <a:latin typeface="Arial"/>
                <a:cs typeface="Arial"/>
              </a:rPr>
              <a:t>φ)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(φ</a:t>
            </a:r>
            <a:r>
              <a:rPr dirty="0" sz="2000" spc="-50">
                <a:latin typeface="STIX Two Math"/>
                <a:cs typeface="STIX Two Math"/>
              </a:rPr>
              <a:t>∨</a:t>
            </a:r>
            <a:r>
              <a:rPr dirty="0" sz="2000" spc="-50">
                <a:latin typeface="Arial"/>
                <a:cs typeface="Arial"/>
              </a:rPr>
              <a:t>φ)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(φ</a:t>
            </a:r>
            <a:r>
              <a:rPr dirty="0" sz="2000" spc="-35">
                <a:latin typeface="STIX Two Math"/>
                <a:cs typeface="STIX Two Math"/>
              </a:rPr>
              <a:t>⇒</a:t>
            </a:r>
            <a:r>
              <a:rPr dirty="0" sz="2000" spc="-35">
                <a:latin typeface="Arial"/>
                <a:cs typeface="Arial"/>
              </a:rPr>
              <a:t>φ)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340">
                <a:latin typeface="Arial"/>
                <a:cs typeface="Arial"/>
              </a:rPr>
              <a:t>|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04438" y="2097151"/>
            <a:ext cx="13233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29920" algn="l"/>
              </a:tabLst>
            </a:pPr>
            <a:r>
              <a:rPr dirty="0" sz="2000" spc="-280">
                <a:latin typeface="Arial"/>
                <a:cs typeface="Arial"/>
              </a:rPr>
              <a:t>AG</a:t>
            </a:r>
            <a:r>
              <a:rPr dirty="0" sz="2000">
                <a:latin typeface="Arial"/>
                <a:cs typeface="Arial"/>
              </a:rPr>
              <a:t>	φ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365">
                <a:latin typeface="Arial"/>
                <a:cs typeface="Arial"/>
              </a:rPr>
              <a:t>EG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9115" y="2244978"/>
            <a:ext cx="216598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01394" algn="l"/>
                <a:tab pos="1937385" algn="l"/>
              </a:tabLst>
            </a:pPr>
            <a:r>
              <a:rPr dirty="0" sz="1300" spc="-25">
                <a:solidFill>
                  <a:srgbClr val="44536A"/>
                </a:solidFill>
                <a:latin typeface="STIX Two Math"/>
                <a:cs typeface="STIX Two Math"/>
              </a:rPr>
              <a:t>≃</a:t>
            </a:r>
            <a:r>
              <a:rPr dirty="0" sz="1300" spc="-25">
                <a:solidFill>
                  <a:srgbClr val="44536A"/>
                </a:solidFill>
                <a:latin typeface="Arial"/>
                <a:cs typeface="Arial"/>
              </a:rPr>
              <a:t>d</a:t>
            </a:r>
            <a:r>
              <a:rPr dirty="0" sz="1300">
                <a:solidFill>
                  <a:srgbClr val="44536A"/>
                </a:solidFill>
                <a:latin typeface="Arial"/>
                <a:cs typeface="Arial"/>
              </a:rPr>
              <a:t>	</a:t>
            </a:r>
            <a:r>
              <a:rPr dirty="0" sz="1300" spc="-25">
                <a:solidFill>
                  <a:srgbClr val="44536A"/>
                </a:solidFill>
                <a:latin typeface="STIX Two Math"/>
                <a:cs typeface="STIX Two Math"/>
              </a:rPr>
              <a:t>≃</a:t>
            </a:r>
            <a:r>
              <a:rPr dirty="0" sz="1300" spc="-25">
                <a:solidFill>
                  <a:srgbClr val="44536A"/>
                </a:solidFill>
                <a:latin typeface="Arial"/>
                <a:cs typeface="Arial"/>
              </a:rPr>
              <a:t>d</a:t>
            </a:r>
            <a:r>
              <a:rPr dirty="0" sz="1300">
                <a:solidFill>
                  <a:srgbClr val="44536A"/>
                </a:solidFill>
                <a:latin typeface="Arial"/>
                <a:cs typeface="Arial"/>
              </a:rPr>
              <a:t>	</a:t>
            </a:r>
            <a:r>
              <a:rPr dirty="0" sz="1300" spc="-25">
                <a:solidFill>
                  <a:srgbClr val="44536A"/>
                </a:solidFill>
                <a:latin typeface="STIX Two Math"/>
                <a:cs typeface="STIX Two Math"/>
              </a:rPr>
              <a:t>≃</a:t>
            </a:r>
            <a:r>
              <a:rPr dirty="0" sz="1300" spc="-25">
                <a:solidFill>
                  <a:srgbClr val="44536A"/>
                </a:solidFill>
                <a:latin typeface="Arial"/>
                <a:cs typeface="Arial"/>
              </a:rPr>
              <a:t>d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87057" y="2244978"/>
            <a:ext cx="24130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25">
                <a:solidFill>
                  <a:srgbClr val="44536A"/>
                </a:solidFill>
                <a:latin typeface="STIX Two Math"/>
                <a:cs typeface="STIX Two Math"/>
              </a:rPr>
              <a:t>≃</a:t>
            </a:r>
            <a:r>
              <a:rPr dirty="0" sz="1300" spc="-25">
                <a:solidFill>
                  <a:srgbClr val="44536A"/>
                </a:solidFill>
                <a:latin typeface="Arial"/>
                <a:cs typeface="Arial"/>
              </a:rPr>
              <a:t>d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12511" y="2097151"/>
            <a:ext cx="221170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46785" algn="l"/>
                <a:tab pos="1858010" algn="l"/>
              </a:tabLst>
            </a:pPr>
            <a:r>
              <a:rPr dirty="0" sz="2000">
                <a:latin typeface="Arial"/>
                <a:cs typeface="Arial"/>
              </a:rPr>
              <a:t>φ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AF</a:t>
            </a:r>
            <a:r>
              <a:rPr dirty="0" sz="2000">
                <a:latin typeface="Arial"/>
                <a:cs typeface="Arial"/>
              </a:rPr>
              <a:t>	φ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360">
                <a:latin typeface="Arial"/>
                <a:cs typeface="Arial"/>
              </a:rPr>
              <a:t>EF</a:t>
            </a:r>
            <a:r>
              <a:rPr dirty="0" sz="2000">
                <a:latin typeface="Arial"/>
                <a:cs typeface="Arial"/>
              </a:rPr>
              <a:t>	φ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340">
                <a:latin typeface="Arial"/>
                <a:cs typeface="Arial"/>
              </a:rPr>
              <a:t>|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25697" y="2404999"/>
            <a:ext cx="299720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spc="-195">
                <a:latin typeface="Arial"/>
                <a:cs typeface="Arial"/>
              </a:rPr>
              <a:t>A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[φ</a:t>
            </a:r>
            <a:r>
              <a:rPr dirty="0" baseline="-21367" sz="1950">
                <a:latin typeface="Arial"/>
                <a:cs typeface="Arial"/>
              </a:rPr>
              <a:t>1</a:t>
            </a:r>
            <a:r>
              <a:rPr dirty="0" baseline="-21367" sz="1950" spc="-67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</a:t>
            </a:r>
            <a:r>
              <a:rPr dirty="0" baseline="-21367" sz="1950">
                <a:solidFill>
                  <a:srgbClr val="44536A"/>
                </a:solidFill>
                <a:latin typeface="STIX Two Math"/>
                <a:cs typeface="STIX Two Math"/>
              </a:rPr>
              <a:t>≃</a:t>
            </a:r>
            <a:r>
              <a:rPr dirty="0" baseline="-21367" sz="1950">
                <a:solidFill>
                  <a:srgbClr val="44536A"/>
                </a:solidFill>
                <a:latin typeface="Arial"/>
                <a:cs typeface="Arial"/>
              </a:rPr>
              <a:t>d</a:t>
            </a:r>
            <a:r>
              <a:rPr dirty="0" baseline="-21367" sz="1950" spc="89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φ</a:t>
            </a:r>
            <a:r>
              <a:rPr dirty="0" baseline="-21367" sz="1950">
                <a:latin typeface="Arial"/>
                <a:cs typeface="Arial"/>
              </a:rPr>
              <a:t>2</a:t>
            </a:r>
            <a:r>
              <a:rPr dirty="0" sz="2000">
                <a:latin typeface="Arial"/>
                <a:cs typeface="Arial"/>
              </a:rPr>
              <a:t>]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140">
                <a:latin typeface="Arial"/>
                <a:cs typeface="Arial"/>
              </a:rPr>
              <a:t> </a:t>
            </a:r>
            <a:r>
              <a:rPr dirty="0" sz="2000" spc="-365">
                <a:latin typeface="Arial"/>
                <a:cs typeface="Arial"/>
              </a:rPr>
              <a:t>E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[φ</a:t>
            </a:r>
            <a:r>
              <a:rPr dirty="0" baseline="-21367" sz="1950">
                <a:latin typeface="Arial"/>
                <a:cs typeface="Arial"/>
              </a:rPr>
              <a:t>1</a:t>
            </a:r>
            <a:r>
              <a:rPr dirty="0" baseline="-21367" sz="1950" spc="82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</a:t>
            </a:r>
            <a:r>
              <a:rPr dirty="0" baseline="-21367" sz="1950">
                <a:solidFill>
                  <a:srgbClr val="44536A"/>
                </a:solidFill>
                <a:latin typeface="STIX Two Math"/>
                <a:cs typeface="STIX Two Math"/>
              </a:rPr>
              <a:t>≃</a:t>
            </a:r>
            <a:r>
              <a:rPr dirty="0" baseline="-21367" sz="1950">
                <a:solidFill>
                  <a:srgbClr val="44536A"/>
                </a:solidFill>
                <a:latin typeface="Arial"/>
                <a:cs typeface="Arial"/>
              </a:rPr>
              <a:t>d</a:t>
            </a:r>
            <a:r>
              <a:rPr dirty="0" baseline="-21367" sz="1950" spc="82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φ</a:t>
            </a:r>
            <a:r>
              <a:rPr dirty="0" baseline="-21367" sz="1950" spc="-37">
                <a:latin typeface="Arial"/>
                <a:cs typeface="Arial"/>
              </a:rPr>
              <a:t>2</a:t>
            </a:r>
            <a:r>
              <a:rPr dirty="0" sz="2000" spc="-25">
                <a:latin typeface="Arial"/>
                <a:cs typeface="Arial"/>
              </a:rPr>
              <a:t>]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2142" y="2787218"/>
            <a:ext cx="7742555" cy="3147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95300">
              <a:lnSpc>
                <a:spcPts val="2160"/>
              </a:lnSpc>
              <a:spcBef>
                <a:spcPts val="105"/>
              </a:spcBef>
            </a:pPr>
            <a:r>
              <a:rPr dirty="0" sz="2000">
                <a:latin typeface="STIX Two Math"/>
                <a:cs typeface="STIX Two Math"/>
              </a:rPr>
              <a:t>≃</a:t>
            </a:r>
            <a:r>
              <a:rPr dirty="0" sz="2000">
                <a:latin typeface="Arial"/>
                <a:cs typeface="Arial"/>
              </a:rPr>
              <a:t>d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: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entspricht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Uhrenbedingungen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in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110">
                <a:latin typeface="Arial"/>
                <a:cs typeface="Arial"/>
              </a:rPr>
              <a:t>Timed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Automata,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p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20">
                <a:latin typeface="Arial"/>
                <a:cs typeface="Arial"/>
              </a:rPr>
              <a:t>kann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auch</a:t>
            </a:r>
            <a:endParaRPr sz="2000">
              <a:latin typeface="Arial"/>
              <a:cs typeface="Arial"/>
            </a:endParaRPr>
          </a:p>
          <a:p>
            <a:pPr marL="723265">
              <a:lnSpc>
                <a:spcPts val="2160"/>
              </a:lnSpc>
            </a:pPr>
            <a:r>
              <a:rPr dirty="0" sz="2000" spc="-75">
                <a:latin typeface="Arial"/>
                <a:cs typeface="Arial"/>
              </a:rPr>
              <a:t>eine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95">
                <a:latin typeface="Arial"/>
                <a:cs typeface="Arial"/>
              </a:rPr>
              <a:t>Uhrenbedingung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110">
                <a:latin typeface="Arial"/>
                <a:cs typeface="Arial"/>
              </a:rPr>
              <a:t>sein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30">
                <a:latin typeface="Arial"/>
                <a:cs typeface="Arial"/>
              </a:rPr>
              <a:t>(z.B.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x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180">
                <a:latin typeface="Arial"/>
                <a:cs typeface="Arial"/>
              </a:rPr>
              <a:t>&gt;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10)</a:t>
            </a:r>
            <a:endParaRPr sz="2000">
              <a:latin typeface="Arial"/>
              <a:cs typeface="Arial"/>
            </a:endParaRPr>
          </a:p>
          <a:p>
            <a:pPr marL="266065" indent="-227965">
              <a:lnSpc>
                <a:spcPts val="2160"/>
              </a:lnSpc>
              <a:spcBef>
                <a:spcPts val="132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66065" algn="l"/>
              </a:tabLst>
            </a:pPr>
            <a:r>
              <a:rPr dirty="0" sz="2000">
                <a:latin typeface="Arial"/>
                <a:cs typeface="Arial"/>
              </a:rPr>
              <a:t>mit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310">
                <a:latin typeface="Arial"/>
                <a:cs typeface="Arial"/>
              </a:rPr>
              <a:t>TCTL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95">
                <a:latin typeface="Arial"/>
                <a:cs typeface="Arial"/>
              </a:rPr>
              <a:t>können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114">
                <a:latin typeface="Arial"/>
                <a:cs typeface="Arial"/>
              </a:rPr>
              <a:t>Eigenschaften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der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Form: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“etwas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105">
                <a:latin typeface="Arial"/>
                <a:cs typeface="Arial"/>
              </a:rPr>
              <a:t>geschieht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frühestens</a:t>
            </a:r>
            <a:endParaRPr sz="2000">
              <a:latin typeface="Arial"/>
              <a:cs typeface="Arial"/>
            </a:endParaRPr>
          </a:p>
          <a:p>
            <a:pPr marL="266700">
              <a:lnSpc>
                <a:spcPts val="2160"/>
              </a:lnSpc>
            </a:pPr>
            <a:r>
              <a:rPr dirty="0" sz="2000" spc="-120">
                <a:latin typeface="Arial"/>
                <a:cs typeface="Arial"/>
              </a:rPr>
              <a:t>nach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10">
                <a:latin typeface="Arial"/>
                <a:cs typeface="Arial"/>
              </a:rPr>
              <a:t>10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160">
                <a:latin typeface="Arial"/>
                <a:cs typeface="Arial"/>
              </a:rPr>
              <a:t>ms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und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110">
                <a:latin typeface="Arial"/>
                <a:cs typeface="Arial"/>
              </a:rPr>
              <a:t>spätestens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120">
                <a:latin typeface="Arial"/>
                <a:cs typeface="Arial"/>
              </a:rPr>
              <a:t>nach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05">
                <a:latin typeface="Arial"/>
                <a:cs typeface="Arial"/>
              </a:rPr>
              <a:t>200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60">
                <a:latin typeface="Arial"/>
                <a:cs typeface="Arial"/>
              </a:rPr>
              <a:t>ms“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ausgedrückt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werden</a:t>
            </a:r>
            <a:endParaRPr sz="2000">
              <a:latin typeface="Arial"/>
              <a:cs typeface="Arial"/>
            </a:endParaRPr>
          </a:p>
          <a:p>
            <a:pPr marL="266700" marR="30480">
              <a:lnSpc>
                <a:spcPct val="80000"/>
              </a:lnSpc>
              <a:spcBef>
                <a:spcPts val="1805"/>
              </a:spcBef>
            </a:pPr>
            <a:r>
              <a:rPr dirty="0" sz="2000" spc="-90">
                <a:latin typeface="Arial"/>
                <a:cs typeface="Arial"/>
              </a:rPr>
              <a:t>Beispiel: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wenn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Alarm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05">
                <a:latin typeface="Arial"/>
                <a:cs typeface="Arial"/>
              </a:rPr>
              <a:t>ausgelöst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wird,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geht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60">
                <a:latin typeface="Arial"/>
                <a:cs typeface="Arial"/>
              </a:rPr>
              <a:t>das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55">
                <a:latin typeface="Arial"/>
                <a:cs typeface="Arial"/>
              </a:rPr>
              <a:t>System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innerhalb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95">
                <a:latin typeface="Arial"/>
                <a:cs typeface="Arial"/>
              </a:rPr>
              <a:t>von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160 </a:t>
            </a:r>
            <a:r>
              <a:rPr dirty="0" sz="2000" spc="-160">
                <a:latin typeface="Arial"/>
                <a:cs typeface="Arial"/>
              </a:rPr>
              <a:t>ms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in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einen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110">
                <a:latin typeface="Arial"/>
                <a:cs typeface="Arial"/>
              </a:rPr>
              <a:t>Sicherheitszustand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über</a:t>
            </a:r>
            <a:endParaRPr sz="2000">
              <a:latin typeface="Arial"/>
              <a:cs typeface="Arial"/>
            </a:endParaRPr>
          </a:p>
          <a:p>
            <a:pPr marL="1008380">
              <a:lnSpc>
                <a:spcPct val="100000"/>
              </a:lnSpc>
              <a:spcBef>
                <a:spcPts val="1125"/>
              </a:spcBef>
            </a:pPr>
            <a:r>
              <a:rPr dirty="0" sz="2000" spc="-50" i="1">
                <a:solidFill>
                  <a:srgbClr val="44536A"/>
                </a:solidFill>
                <a:latin typeface="Arial"/>
                <a:cs typeface="Arial"/>
              </a:rPr>
              <a:t>alarm</a:t>
            </a:r>
            <a:r>
              <a:rPr dirty="0" sz="2000" spc="-105" i="1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4536A"/>
                </a:solidFill>
                <a:latin typeface="STIX Two Math"/>
                <a:cs typeface="STIX Two Math"/>
              </a:rPr>
              <a:t>⇒</a:t>
            </a:r>
            <a:r>
              <a:rPr dirty="0" sz="2000" spc="-95">
                <a:solidFill>
                  <a:srgbClr val="44536A"/>
                </a:solidFill>
                <a:latin typeface="STIX Two Math"/>
                <a:cs typeface="STIX Two Math"/>
              </a:rPr>
              <a:t> </a:t>
            </a:r>
            <a:r>
              <a:rPr dirty="0" sz="2000" spc="-95">
                <a:solidFill>
                  <a:srgbClr val="44536A"/>
                </a:solidFill>
                <a:latin typeface="Arial"/>
                <a:cs typeface="Arial"/>
              </a:rPr>
              <a:t>AG</a:t>
            </a:r>
            <a:r>
              <a:rPr dirty="0" baseline="-21367" sz="1950" spc="-142">
                <a:solidFill>
                  <a:srgbClr val="44536A"/>
                </a:solidFill>
                <a:latin typeface="Arial"/>
                <a:cs typeface="Arial"/>
              </a:rPr>
              <a:t>(≤160)</a:t>
            </a:r>
            <a:r>
              <a:rPr dirty="0" baseline="-21367" sz="1950" spc="82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z="2000" spc="-10" i="1">
                <a:solidFill>
                  <a:srgbClr val="44536A"/>
                </a:solidFill>
                <a:latin typeface="Arial"/>
                <a:cs typeface="Arial"/>
              </a:rPr>
              <a:t>safety_mode</a:t>
            </a:r>
            <a:endParaRPr sz="2000">
              <a:latin typeface="Arial"/>
              <a:cs typeface="Arial"/>
            </a:endParaRPr>
          </a:p>
          <a:p>
            <a:pPr marL="266700" marR="765810" indent="-228600">
              <a:lnSpc>
                <a:spcPct val="78700"/>
              </a:lnSpc>
              <a:spcBef>
                <a:spcPts val="1480"/>
              </a:spcBef>
              <a:buClr>
                <a:srgbClr val="2D75B6"/>
              </a:buClr>
              <a:buSzPct val="105000"/>
              <a:buFont typeface="Wingdings"/>
              <a:buChar char=""/>
              <a:tabLst>
                <a:tab pos="266700" algn="l"/>
              </a:tabLst>
            </a:pPr>
            <a:r>
              <a:rPr dirty="0" sz="2000" spc="-260">
                <a:latin typeface="Arial"/>
                <a:cs typeface="Arial"/>
              </a:rPr>
              <a:t>TCTL-</a:t>
            </a:r>
            <a:r>
              <a:rPr dirty="0" sz="2000" spc="-90">
                <a:latin typeface="Arial"/>
                <a:cs typeface="Arial"/>
              </a:rPr>
              <a:t>Formeln </a:t>
            </a:r>
            <a:r>
              <a:rPr dirty="0" sz="2000" spc="-55">
                <a:latin typeface="Arial"/>
                <a:cs typeface="Arial"/>
              </a:rPr>
              <a:t>über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14">
                <a:latin typeface="Arial"/>
                <a:cs typeface="Arial"/>
              </a:rPr>
              <a:t>Timed</a:t>
            </a:r>
            <a:r>
              <a:rPr dirty="0" sz="2000" spc="-65">
                <a:latin typeface="Arial"/>
                <a:cs typeface="Arial"/>
              </a:rPr>
              <a:t> Automata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dürfen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120">
                <a:latin typeface="Arial"/>
                <a:cs typeface="Arial"/>
              </a:rPr>
              <a:t>Zustände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(locations), </a:t>
            </a:r>
            <a:r>
              <a:rPr dirty="0" sz="2000" spc="-110">
                <a:latin typeface="Arial"/>
                <a:cs typeface="Arial"/>
              </a:rPr>
              <a:t>logische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Operatoren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und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4536A"/>
                </a:solidFill>
                <a:latin typeface="Arial"/>
                <a:cs typeface="Arial"/>
              </a:rPr>
              <a:t>Uhrenbedingungen</a:t>
            </a:r>
            <a:r>
              <a:rPr dirty="0" sz="2000" spc="-105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enthalten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3062" y="2086101"/>
            <a:ext cx="2668270" cy="833755"/>
            <a:chOff x="623062" y="2086101"/>
            <a:chExt cx="2668270" cy="833755"/>
          </a:xfrm>
        </p:grpSpPr>
        <p:sp>
          <p:nvSpPr>
            <p:cNvPr id="12" name="object 12"/>
            <p:cNvSpPr/>
            <p:nvPr/>
          </p:nvSpPr>
          <p:spPr>
            <a:xfrm>
              <a:off x="629412" y="2092451"/>
              <a:ext cx="2655570" cy="821055"/>
            </a:xfrm>
            <a:custGeom>
              <a:avLst/>
              <a:gdLst/>
              <a:ahLst/>
              <a:cxnLst/>
              <a:rect l="l" t="t" r="r" b="b"/>
              <a:pathLst>
                <a:path w="2655570" h="821055">
                  <a:moveTo>
                    <a:pt x="2136519" y="590550"/>
                  </a:moveTo>
                  <a:lnTo>
                    <a:pt x="1737360" y="590550"/>
                  </a:lnTo>
                  <a:lnTo>
                    <a:pt x="2655570" y="820928"/>
                  </a:lnTo>
                  <a:lnTo>
                    <a:pt x="2136519" y="590550"/>
                  </a:lnTo>
                  <a:close/>
                </a:path>
                <a:path w="2655570" h="821055">
                  <a:moveTo>
                    <a:pt x="1619250" y="0"/>
                  </a:moveTo>
                  <a:lnTo>
                    <a:pt x="118110" y="0"/>
                  </a:lnTo>
                  <a:lnTo>
                    <a:pt x="72137" y="9274"/>
                  </a:lnTo>
                  <a:lnTo>
                    <a:pt x="34594" y="34575"/>
                  </a:lnTo>
                  <a:lnTo>
                    <a:pt x="9282" y="72116"/>
                  </a:lnTo>
                  <a:lnTo>
                    <a:pt x="0" y="118110"/>
                  </a:lnTo>
                  <a:lnTo>
                    <a:pt x="0" y="590550"/>
                  </a:lnTo>
                  <a:lnTo>
                    <a:pt x="9282" y="636543"/>
                  </a:lnTo>
                  <a:lnTo>
                    <a:pt x="34594" y="674084"/>
                  </a:lnTo>
                  <a:lnTo>
                    <a:pt x="72137" y="699385"/>
                  </a:lnTo>
                  <a:lnTo>
                    <a:pt x="118110" y="708660"/>
                  </a:lnTo>
                  <a:lnTo>
                    <a:pt x="1619250" y="708660"/>
                  </a:lnTo>
                  <a:lnTo>
                    <a:pt x="1665243" y="699385"/>
                  </a:lnTo>
                  <a:lnTo>
                    <a:pt x="1702784" y="674084"/>
                  </a:lnTo>
                  <a:lnTo>
                    <a:pt x="1728085" y="636543"/>
                  </a:lnTo>
                  <a:lnTo>
                    <a:pt x="1737360" y="590550"/>
                  </a:lnTo>
                  <a:lnTo>
                    <a:pt x="2136519" y="590550"/>
                  </a:lnTo>
                  <a:lnTo>
                    <a:pt x="1737360" y="413385"/>
                  </a:lnTo>
                  <a:lnTo>
                    <a:pt x="1737360" y="118110"/>
                  </a:lnTo>
                  <a:lnTo>
                    <a:pt x="1728085" y="72116"/>
                  </a:lnTo>
                  <a:lnTo>
                    <a:pt x="1702784" y="34575"/>
                  </a:lnTo>
                  <a:lnTo>
                    <a:pt x="1665243" y="9274"/>
                  </a:lnTo>
                  <a:lnTo>
                    <a:pt x="1619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9412" y="2092451"/>
              <a:ext cx="2655570" cy="821055"/>
            </a:xfrm>
            <a:custGeom>
              <a:avLst/>
              <a:gdLst/>
              <a:ahLst/>
              <a:cxnLst/>
              <a:rect l="l" t="t" r="r" b="b"/>
              <a:pathLst>
                <a:path w="2655570" h="821055">
                  <a:moveTo>
                    <a:pt x="0" y="118110"/>
                  </a:moveTo>
                  <a:lnTo>
                    <a:pt x="9282" y="72116"/>
                  </a:lnTo>
                  <a:lnTo>
                    <a:pt x="34594" y="34575"/>
                  </a:lnTo>
                  <a:lnTo>
                    <a:pt x="72137" y="9274"/>
                  </a:lnTo>
                  <a:lnTo>
                    <a:pt x="118110" y="0"/>
                  </a:lnTo>
                  <a:lnTo>
                    <a:pt x="1013460" y="0"/>
                  </a:lnTo>
                  <a:lnTo>
                    <a:pt x="1447800" y="0"/>
                  </a:lnTo>
                  <a:lnTo>
                    <a:pt x="1619250" y="0"/>
                  </a:lnTo>
                  <a:lnTo>
                    <a:pt x="1665243" y="9274"/>
                  </a:lnTo>
                  <a:lnTo>
                    <a:pt x="1702784" y="34575"/>
                  </a:lnTo>
                  <a:lnTo>
                    <a:pt x="1728085" y="72116"/>
                  </a:lnTo>
                  <a:lnTo>
                    <a:pt x="1737360" y="118110"/>
                  </a:lnTo>
                  <a:lnTo>
                    <a:pt x="1737360" y="413385"/>
                  </a:lnTo>
                  <a:lnTo>
                    <a:pt x="2655570" y="820928"/>
                  </a:lnTo>
                  <a:lnTo>
                    <a:pt x="1737360" y="590550"/>
                  </a:lnTo>
                  <a:lnTo>
                    <a:pt x="1728085" y="636543"/>
                  </a:lnTo>
                  <a:lnTo>
                    <a:pt x="1702784" y="674084"/>
                  </a:lnTo>
                  <a:lnTo>
                    <a:pt x="1665243" y="699385"/>
                  </a:lnTo>
                  <a:lnTo>
                    <a:pt x="1619250" y="708660"/>
                  </a:lnTo>
                  <a:lnTo>
                    <a:pt x="1447800" y="708660"/>
                  </a:lnTo>
                  <a:lnTo>
                    <a:pt x="1013460" y="708660"/>
                  </a:lnTo>
                  <a:lnTo>
                    <a:pt x="118110" y="708660"/>
                  </a:lnTo>
                  <a:lnTo>
                    <a:pt x="72137" y="699385"/>
                  </a:lnTo>
                  <a:lnTo>
                    <a:pt x="34594" y="674084"/>
                  </a:lnTo>
                  <a:lnTo>
                    <a:pt x="9282" y="636543"/>
                  </a:lnTo>
                  <a:lnTo>
                    <a:pt x="0" y="590550"/>
                  </a:lnTo>
                  <a:lnTo>
                    <a:pt x="0" y="413385"/>
                  </a:lnTo>
                  <a:lnTo>
                    <a:pt x="0" y="118110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07542" y="1645403"/>
            <a:ext cx="1535430" cy="117094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3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10">
                <a:latin typeface="Arial"/>
                <a:cs typeface="Arial"/>
              </a:rPr>
              <a:t>Syntax:</a:t>
            </a:r>
            <a:endParaRPr sz="2000">
              <a:latin typeface="Arial"/>
              <a:cs typeface="Arial"/>
            </a:endParaRPr>
          </a:p>
          <a:p>
            <a:pPr marL="46990">
              <a:lnSpc>
                <a:spcPct val="100000"/>
              </a:lnSpc>
              <a:spcBef>
                <a:spcPts val="320"/>
              </a:spcBef>
            </a:pPr>
            <a:r>
              <a:rPr dirty="0" sz="1200">
                <a:latin typeface="STIX Two Math"/>
                <a:cs typeface="STIX Two Math"/>
              </a:rPr>
              <a:t>𝑑</a:t>
            </a:r>
            <a:r>
              <a:rPr dirty="0" sz="1200" spc="65">
                <a:latin typeface="STIX Two Math"/>
                <a:cs typeface="STIX Two Math"/>
              </a:rPr>
              <a:t> </a:t>
            </a:r>
            <a:r>
              <a:rPr dirty="0" sz="1200" spc="-20" b="1">
                <a:latin typeface="Arial"/>
                <a:cs typeface="Arial"/>
              </a:rPr>
              <a:t>ganzzahlig,</a:t>
            </a:r>
            <a:endParaRPr sz="1200">
              <a:latin typeface="Arial"/>
              <a:cs typeface="Arial"/>
            </a:endParaRPr>
          </a:p>
          <a:p>
            <a:pPr marL="46990">
              <a:lnSpc>
                <a:spcPts val="1435"/>
              </a:lnSpc>
              <a:spcBef>
                <a:spcPts val="15"/>
              </a:spcBef>
            </a:pPr>
            <a:r>
              <a:rPr dirty="0" sz="1200">
                <a:latin typeface="STIX Two Math"/>
                <a:cs typeface="STIX Two Math"/>
              </a:rPr>
              <a:t>≃ </a:t>
            </a:r>
            <a:r>
              <a:rPr dirty="0" sz="1200" spc="-195">
                <a:latin typeface="Apple SD Gothic Neo Light"/>
                <a:cs typeface="Apple SD Gothic Neo Light"/>
              </a:rPr>
              <a:t>∈</a:t>
            </a:r>
            <a:r>
              <a:rPr dirty="0" sz="1200" spc="-35">
                <a:latin typeface="Apple SD Gothic Neo Light"/>
                <a:cs typeface="Apple SD Gothic Neo Light"/>
              </a:rPr>
              <a:t> </a:t>
            </a:r>
            <a:r>
              <a:rPr dirty="0" sz="1200" spc="-60">
                <a:latin typeface="Arial"/>
                <a:cs typeface="Arial"/>
              </a:rPr>
              <a:t>{&lt;,</a:t>
            </a:r>
            <a:r>
              <a:rPr dirty="0" sz="1200" spc="-55">
                <a:latin typeface="Arial"/>
                <a:cs typeface="Arial"/>
              </a:rPr>
              <a:t> ≤,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 spc="-80">
                <a:latin typeface="Arial"/>
                <a:cs typeface="Arial"/>
              </a:rPr>
              <a:t>=,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 spc="-55">
                <a:latin typeface="Arial"/>
                <a:cs typeface="Arial"/>
              </a:rPr>
              <a:t>≥, </a:t>
            </a:r>
            <a:r>
              <a:rPr dirty="0" sz="1200" spc="-25">
                <a:latin typeface="Arial"/>
                <a:cs typeface="Arial"/>
              </a:rPr>
              <a:t>&gt;},</a:t>
            </a:r>
            <a:endParaRPr sz="1200">
              <a:latin typeface="Arial"/>
              <a:cs typeface="Arial"/>
            </a:endParaRPr>
          </a:p>
          <a:p>
            <a:pPr marL="46990">
              <a:lnSpc>
                <a:spcPts val="1435"/>
              </a:lnSpc>
            </a:pPr>
            <a:r>
              <a:rPr dirty="0" sz="1200" spc="-70">
                <a:latin typeface="Arial"/>
                <a:cs typeface="Arial"/>
              </a:rPr>
              <a:t>auch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40">
                <a:latin typeface="Arial"/>
                <a:cs typeface="Arial"/>
              </a:rPr>
              <a:t>Intervalle </a:t>
            </a:r>
            <a:r>
              <a:rPr dirty="0" sz="1200" spc="-25">
                <a:latin typeface="Arial"/>
                <a:cs typeface="Arial"/>
              </a:rPr>
              <a:t>möglich:</a:t>
            </a:r>
            <a:endParaRPr sz="1200">
              <a:latin typeface="Arial"/>
              <a:cs typeface="Arial"/>
            </a:endParaRPr>
          </a:p>
          <a:p>
            <a:pPr marL="46990">
              <a:lnSpc>
                <a:spcPct val="100000"/>
              </a:lnSpc>
            </a:pPr>
            <a:r>
              <a:rPr dirty="0" sz="1200" spc="-90">
                <a:latin typeface="Arial"/>
                <a:cs typeface="Arial"/>
              </a:rPr>
              <a:t>z.B.</a:t>
            </a:r>
            <a:r>
              <a:rPr dirty="0" sz="1200" spc="-6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[d1,d2]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266941" y="1147572"/>
            <a:ext cx="2511425" cy="513715"/>
          </a:xfrm>
          <a:custGeom>
            <a:avLst/>
            <a:gdLst/>
            <a:ahLst/>
            <a:cxnLst/>
            <a:rect l="l" t="t" r="r" b="b"/>
            <a:pathLst>
              <a:path w="2511425" h="513714">
                <a:moveTo>
                  <a:pt x="400558" y="85598"/>
                </a:moveTo>
                <a:lnTo>
                  <a:pt x="407289" y="52292"/>
                </a:lnTo>
                <a:lnTo>
                  <a:pt x="425640" y="25082"/>
                </a:lnTo>
                <a:lnTo>
                  <a:pt x="452850" y="6731"/>
                </a:lnTo>
                <a:lnTo>
                  <a:pt x="486156" y="0"/>
                </a:lnTo>
                <a:lnTo>
                  <a:pt x="752348" y="0"/>
                </a:lnTo>
                <a:lnTo>
                  <a:pt x="1280033" y="0"/>
                </a:lnTo>
                <a:lnTo>
                  <a:pt x="2425700" y="0"/>
                </a:lnTo>
                <a:lnTo>
                  <a:pt x="2459005" y="6731"/>
                </a:lnTo>
                <a:lnTo>
                  <a:pt x="2486215" y="25082"/>
                </a:lnTo>
                <a:lnTo>
                  <a:pt x="2504567" y="52292"/>
                </a:lnTo>
                <a:lnTo>
                  <a:pt x="2511298" y="85598"/>
                </a:lnTo>
                <a:lnTo>
                  <a:pt x="2511298" y="213995"/>
                </a:lnTo>
                <a:lnTo>
                  <a:pt x="2511298" y="427990"/>
                </a:lnTo>
                <a:lnTo>
                  <a:pt x="2504567" y="461295"/>
                </a:lnTo>
                <a:lnTo>
                  <a:pt x="2486215" y="488505"/>
                </a:lnTo>
                <a:lnTo>
                  <a:pt x="2459005" y="506857"/>
                </a:lnTo>
                <a:lnTo>
                  <a:pt x="2425700" y="513588"/>
                </a:lnTo>
                <a:lnTo>
                  <a:pt x="1280033" y="513588"/>
                </a:lnTo>
                <a:lnTo>
                  <a:pt x="752348" y="513588"/>
                </a:lnTo>
                <a:lnTo>
                  <a:pt x="486156" y="513588"/>
                </a:lnTo>
                <a:lnTo>
                  <a:pt x="452850" y="506857"/>
                </a:lnTo>
                <a:lnTo>
                  <a:pt x="425640" y="488505"/>
                </a:lnTo>
                <a:lnTo>
                  <a:pt x="407289" y="461295"/>
                </a:lnTo>
                <a:lnTo>
                  <a:pt x="400558" y="427990"/>
                </a:lnTo>
                <a:lnTo>
                  <a:pt x="400558" y="213995"/>
                </a:lnTo>
                <a:lnTo>
                  <a:pt x="0" y="252476"/>
                </a:lnTo>
                <a:lnTo>
                  <a:pt x="400558" y="85598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772402" y="1199210"/>
            <a:ext cx="18383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0">
                <a:latin typeface="Arial"/>
                <a:cs typeface="Arial"/>
              </a:rPr>
              <a:t>Uhr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wird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für</a:t>
            </a:r>
            <a:r>
              <a:rPr dirty="0" sz="1200" spc="-85">
                <a:latin typeface="Arial"/>
                <a:cs typeface="Arial"/>
              </a:rPr>
              <a:t> </a:t>
            </a:r>
            <a:r>
              <a:rPr dirty="0" sz="1200" spc="-60">
                <a:latin typeface="Arial"/>
                <a:cs typeface="Arial"/>
              </a:rPr>
              <a:t>Formel</a:t>
            </a:r>
            <a:r>
              <a:rPr dirty="0" sz="1200" spc="-5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gestartet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40">
                <a:latin typeface="Arial"/>
                <a:cs typeface="Arial"/>
              </a:rPr>
              <a:t>und</a:t>
            </a:r>
            <a:r>
              <a:rPr dirty="0" sz="1200" spc="-80">
                <a:latin typeface="Arial"/>
                <a:cs typeface="Arial"/>
              </a:rPr>
              <a:t> </a:t>
            </a:r>
            <a:r>
              <a:rPr dirty="0" sz="1200" spc="-45">
                <a:latin typeface="Arial"/>
                <a:cs typeface="Arial"/>
              </a:rPr>
              <a:t>durch</a:t>
            </a:r>
            <a:r>
              <a:rPr dirty="0" sz="1200" spc="-70"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4536A"/>
                </a:solidFill>
                <a:latin typeface="STIX Two Math"/>
                <a:cs typeface="STIX Two Math"/>
              </a:rPr>
              <a:t>≃</a:t>
            </a:r>
            <a:r>
              <a:rPr dirty="0" sz="1200">
                <a:solidFill>
                  <a:srgbClr val="44536A"/>
                </a:solidFill>
                <a:latin typeface="Arial"/>
                <a:cs typeface="Arial"/>
              </a:rPr>
              <a:t>d</a:t>
            </a:r>
            <a:r>
              <a:rPr dirty="0" sz="1200" spc="-55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beschränkt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73952"/>
            <a:ext cx="9144000" cy="384175"/>
          </a:xfrm>
          <a:custGeom>
            <a:avLst/>
            <a:gdLst/>
            <a:ahLst/>
            <a:cxnLst/>
            <a:rect l="l" t="t" r="r" b="b"/>
            <a:pathLst>
              <a:path w="9144000" h="384175">
                <a:moveTo>
                  <a:pt x="9144000" y="0"/>
                </a:moveTo>
                <a:lnTo>
                  <a:pt x="0" y="0"/>
                </a:lnTo>
                <a:lnTo>
                  <a:pt x="0" y="384048"/>
                </a:lnTo>
                <a:lnTo>
                  <a:pt x="9144000" y="384048"/>
                </a:lnTo>
                <a:lnTo>
                  <a:pt x="9144000" y="0"/>
                </a:lnTo>
                <a:close/>
              </a:path>
            </a:pathLst>
          </a:custGeom>
          <a:solidFill>
            <a:srgbClr val="2B54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4329" y="3603497"/>
            <a:ext cx="8437245" cy="0"/>
          </a:xfrm>
          <a:custGeom>
            <a:avLst/>
            <a:gdLst/>
            <a:ahLst/>
            <a:cxnLst/>
            <a:rect l="l" t="t" r="r" b="b"/>
            <a:pathLst>
              <a:path w="8437245" h="0">
                <a:moveTo>
                  <a:pt x="0" y="0"/>
                </a:moveTo>
                <a:lnTo>
                  <a:pt x="8436864" y="0"/>
                </a:lnTo>
              </a:path>
            </a:pathLst>
          </a:custGeom>
          <a:ln w="31750">
            <a:solidFill>
              <a:srgbClr val="2B54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58697" y="2842005"/>
            <a:ext cx="121666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5"/>
              <a:t>Inhalt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26844" y="3680563"/>
            <a:ext cx="2827655" cy="241554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1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400" spc="-10">
                <a:solidFill>
                  <a:srgbClr val="7E7E7E"/>
                </a:solidFill>
                <a:latin typeface="Arial"/>
                <a:cs typeface="Arial"/>
              </a:rPr>
              <a:t>Einführung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ts val="2845"/>
              </a:lnSpc>
              <a:spcBef>
                <a:spcPts val="42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400" spc="-45">
                <a:latin typeface="Arial"/>
                <a:cs typeface="Arial"/>
              </a:rPr>
              <a:t>Temporallogik</a:t>
            </a:r>
            <a:endParaRPr sz="2400">
              <a:latin typeface="Arial"/>
              <a:cs typeface="Arial"/>
            </a:endParaRPr>
          </a:p>
          <a:p>
            <a:pPr lvl="1" marL="812165" indent="-342265">
              <a:lnSpc>
                <a:spcPts val="2810"/>
              </a:lnSpc>
              <a:buFont typeface="Wingdings"/>
              <a:buChar char=""/>
              <a:tabLst>
                <a:tab pos="812165" algn="l"/>
              </a:tabLst>
            </a:pPr>
            <a:r>
              <a:rPr dirty="0" sz="2400" spc="-30">
                <a:solidFill>
                  <a:srgbClr val="7E7E7E"/>
                </a:solidFill>
                <a:latin typeface="Arial"/>
                <a:cs typeface="Arial"/>
              </a:rPr>
              <a:t>Grundlagen</a:t>
            </a:r>
            <a:endParaRPr sz="2400">
              <a:latin typeface="Arial"/>
              <a:cs typeface="Arial"/>
            </a:endParaRPr>
          </a:p>
          <a:p>
            <a:pPr lvl="1" marL="812165" indent="-342265">
              <a:lnSpc>
                <a:spcPts val="2845"/>
              </a:lnSpc>
              <a:buFont typeface="Wingdings"/>
              <a:buChar char=""/>
              <a:tabLst>
                <a:tab pos="812165" algn="l"/>
              </a:tabLst>
            </a:pPr>
            <a:r>
              <a:rPr dirty="0" sz="2400" spc="-325">
                <a:latin typeface="Arial"/>
                <a:cs typeface="Arial"/>
              </a:rPr>
              <a:t>UPPAAL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Queries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2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400" spc="-70">
                <a:solidFill>
                  <a:srgbClr val="7E7E7E"/>
                </a:solidFill>
                <a:latin typeface="Arial"/>
                <a:cs typeface="Arial"/>
              </a:rPr>
              <a:t>Verifikation</a:t>
            </a:r>
            <a:r>
              <a:rPr dirty="0" sz="2400" spc="-11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spc="-114">
                <a:solidFill>
                  <a:srgbClr val="7E7E7E"/>
                </a:solidFill>
                <a:latin typeface="Arial"/>
                <a:cs typeface="Arial"/>
              </a:rPr>
              <a:t>von</a:t>
            </a:r>
            <a:r>
              <a:rPr dirty="0" sz="2400" spc="-8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spc="-385">
                <a:solidFill>
                  <a:srgbClr val="7E7E7E"/>
                </a:solidFill>
                <a:latin typeface="Arial"/>
                <a:cs typeface="Arial"/>
              </a:rPr>
              <a:t>TA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2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400" spc="-145">
                <a:solidFill>
                  <a:srgbClr val="7E7E7E"/>
                </a:solidFill>
                <a:latin typeface="Arial"/>
                <a:cs typeface="Arial"/>
              </a:rPr>
              <a:t>Fazit</a:t>
            </a:r>
            <a:r>
              <a:rPr dirty="0" sz="2400" spc="-1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spc="-210">
                <a:solidFill>
                  <a:srgbClr val="7E7E7E"/>
                </a:solidFill>
                <a:latin typeface="Arial"/>
                <a:cs typeface="Arial"/>
              </a:rPr>
              <a:t>+</a:t>
            </a:r>
            <a:r>
              <a:rPr dirty="0" sz="2400" spc="-1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7E7E7E"/>
                </a:solidFill>
                <a:latin typeface="Arial"/>
                <a:cs typeface="Arial"/>
              </a:rPr>
              <a:t>Literatur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0584" y="266192"/>
            <a:ext cx="403796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30"/>
              <a:t>UPPAAL</a:t>
            </a:r>
            <a:r>
              <a:rPr dirty="0" spc="-180"/>
              <a:t> </a:t>
            </a:r>
            <a:r>
              <a:rPr dirty="0" spc="-210"/>
              <a:t>Queries</a:t>
            </a:r>
            <a:r>
              <a:rPr dirty="0" spc="-185"/>
              <a:t> </a:t>
            </a:r>
            <a:r>
              <a:rPr dirty="0" spc="-9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01380"/>
            <a:ext cx="1677670" cy="80137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000" spc="-125" b="1">
                <a:latin typeface="Arial"/>
                <a:cs typeface="Arial"/>
              </a:rPr>
              <a:t>Pfadquantoren</a:t>
            </a:r>
            <a:r>
              <a:rPr dirty="0" sz="2000" spc="-125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245">
                <a:latin typeface="Arial"/>
                <a:cs typeface="Arial"/>
              </a:rPr>
              <a:t>E&lt;&gt;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p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4994" y="1667001"/>
            <a:ext cx="4840605" cy="35858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dirty="0" sz="2000" spc="-65">
                <a:latin typeface="Arial"/>
                <a:cs typeface="Arial"/>
              </a:rPr>
              <a:t>auf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95">
                <a:latin typeface="Arial"/>
                <a:cs typeface="Arial"/>
              </a:rPr>
              <a:t>mindestens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einem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Ausführungspfad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gilt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p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</a:pPr>
            <a:r>
              <a:rPr dirty="0" sz="2000" spc="-90">
                <a:latin typeface="Arial"/>
                <a:cs typeface="Arial"/>
              </a:rPr>
              <a:t>irgendwann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(entspricht </a:t>
            </a:r>
            <a:r>
              <a:rPr dirty="0" sz="2000" spc="-340">
                <a:latin typeface="Arial"/>
                <a:cs typeface="Arial"/>
              </a:rPr>
              <a:t>EF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p)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ts val="2160"/>
              </a:lnSpc>
              <a:spcBef>
                <a:spcPts val="1040"/>
              </a:spcBef>
            </a:pPr>
            <a:r>
              <a:rPr dirty="0" sz="2000" spc="-65">
                <a:latin typeface="Arial"/>
                <a:cs typeface="Arial"/>
              </a:rPr>
              <a:t>auf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allen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Ausführungspfaden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gilt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p </a:t>
            </a:r>
            <a:r>
              <a:rPr dirty="0" sz="2000" spc="-55">
                <a:latin typeface="Arial"/>
                <a:cs typeface="Arial"/>
              </a:rPr>
              <a:t>irgendwann </a:t>
            </a:r>
            <a:r>
              <a:rPr dirty="0" sz="2000" spc="-50">
                <a:latin typeface="Arial"/>
                <a:cs typeface="Arial"/>
              </a:rPr>
              <a:t>(entspricht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254">
                <a:latin typeface="Arial"/>
                <a:cs typeface="Arial"/>
              </a:rPr>
              <a:t>AF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p)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  <a:spcBef>
                <a:spcPts val="725"/>
              </a:spcBef>
            </a:pPr>
            <a:r>
              <a:rPr dirty="0" sz="2000" spc="-65">
                <a:latin typeface="Arial"/>
                <a:cs typeface="Arial"/>
              </a:rPr>
              <a:t>auf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95">
                <a:latin typeface="Arial"/>
                <a:cs typeface="Arial"/>
              </a:rPr>
              <a:t>mindestens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einem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Ausführungspfad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gilt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p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</a:pPr>
            <a:r>
              <a:rPr dirty="0" sz="2000" spc="-50">
                <a:latin typeface="Arial"/>
                <a:cs typeface="Arial"/>
              </a:rPr>
              <a:t>immer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(entspricht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345">
                <a:latin typeface="Arial"/>
                <a:cs typeface="Arial"/>
              </a:rPr>
              <a:t>EG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p)</a:t>
            </a:r>
            <a:endParaRPr sz="2000">
              <a:latin typeface="Arial"/>
              <a:cs typeface="Arial"/>
            </a:endParaRPr>
          </a:p>
          <a:p>
            <a:pPr marL="12700" marR="550545">
              <a:lnSpc>
                <a:spcPts val="2160"/>
              </a:lnSpc>
              <a:spcBef>
                <a:spcPts val="1030"/>
              </a:spcBef>
            </a:pPr>
            <a:r>
              <a:rPr dirty="0" sz="2000" spc="-65">
                <a:latin typeface="Arial"/>
                <a:cs typeface="Arial"/>
              </a:rPr>
              <a:t>auf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allen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Ausführungspfaden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gilt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p </a:t>
            </a:r>
            <a:r>
              <a:rPr dirty="0" sz="2000" spc="-10">
                <a:latin typeface="Arial"/>
                <a:cs typeface="Arial"/>
              </a:rPr>
              <a:t>immer </a:t>
            </a:r>
            <a:r>
              <a:rPr dirty="0" sz="2000" spc="-50">
                <a:latin typeface="Arial"/>
                <a:cs typeface="Arial"/>
              </a:rPr>
              <a:t>(entspricht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254">
                <a:latin typeface="Arial"/>
                <a:cs typeface="Arial"/>
              </a:rPr>
              <a:t>AG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p)</a:t>
            </a:r>
            <a:endParaRPr sz="2000">
              <a:latin typeface="Arial"/>
              <a:cs typeface="Arial"/>
            </a:endParaRPr>
          </a:p>
          <a:p>
            <a:pPr marL="12700" marR="52069">
              <a:lnSpc>
                <a:spcPct val="90300"/>
              </a:lnSpc>
              <a:spcBef>
                <a:spcPts val="970"/>
              </a:spcBef>
            </a:pPr>
            <a:r>
              <a:rPr dirty="0" sz="2000" spc="-85">
                <a:latin typeface="Arial"/>
                <a:cs typeface="Arial"/>
              </a:rPr>
              <a:t>wenn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p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60">
                <a:latin typeface="Arial"/>
                <a:cs typeface="Arial"/>
              </a:rPr>
              <a:t>auf</a:t>
            </a:r>
            <a:r>
              <a:rPr dirty="0" sz="2000" spc="-85">
                <a:latin typeface="Arial"/>
                <a:cs typeface="Arial"/>
              </a:rPr>
              <a:t> einem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Ausführungspfad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gilt,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gilt </a:t>
            </a:r>
            <a:r>
              <a:rPr dirty="0" sz="2000" spc="-85">
                <a:latin typeface="Arial"/>
                <a:cs typeface="Arial"/>
              </a:rPr>
              <a:t>irgendwann später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114">
                <a:latin typeface="Arial"/>
                <a:cs typeface="Arial"/>
              </a:rPr>
              <a:t>auch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q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145">
                <a:latin typeface="Arial"/>
                <a:cs typeface="Arial"/>
              </a:rPr>
              <a:t>(</a:t>
            </a:r>
            <a:r>
              <a:rPr dirty="0" sz="2000" spc="-145" i="1">
                <a:latin typeface="Arial"/>
                <a:cs typeface="Arial"/>
              </a:rPr>
              <a:t>Leads-</a:t>
            </a:r>
            <a:r>
              <a:rPr dirty="0" sz="2000" spc="-200" i="1">
                <a:latin typeface="Arial"/>
                <a:cs typeface="Arial"/>
              </a:rPr>
              <a:t>To</a:t>
            </a:r>
            <a:r>
              <a:rPr dirty="0" sz="2000" spc="-200">
                <a:latin typeface="Arial"/>
                <a:cs typeface="Arial"/>
              </a:rPr>
              <a:t>-</a:t>
            </a:r>
            <a:r>
              <a:rPr dirty="0" sz="2000" spc="-60">
                <a:latin typeface="Arial"/>
                <a:cs typeface="Arial"/>
              </a:rPr>
              <a:t>Operator, </a:t>
            </a:r>
            <a:r>
              <a:rPr dirty="0" sz="2000" spc="-50">
                <a:latin typeface="Arial"/>
                <a:cs typeface="Arial"/>
              </a:rPr>
              <a:t>entspricht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254">
                <a:latin typeface="Arial"/>
                <a:cs typeface="Arial"/>
              </a:rPr>
              <a:t>AG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(p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>
                <a:latin typeface="STIX Two Math"/>
                <a:cs typeface="STIX Two Math"/>
              </a:rPr>
              <a:t>⇒</a:t>
            </a:r>
            <a:r>
              <a:rPr dirty="0" sz="2000" spc="-20">
                <a:latin typeface="STIX Two Math"/>
                <a:cs typeface="STIX Two Math"/>
              </a:rPr>
              <a:t> </a:t>
            </a:r>
            <a:r>
              <a:rPr dirty="0" sz="2000" spc="-254">
                <a:latin typeface="Arial"/>
                <a:cs typeface="Arial"/>
              </a:rPr>
              <a:t>AF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q)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344038"/>
            <a:ext cx="84709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190">
                <a:latin typeface="Arial"/>
                <a:cs typeface="Arial"/>
              </a:rPr>
              <a:t>A&lt;&gt;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p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019170"/>
            <a:ext cx="72580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80">
                <a:latin typeface="Arial"/>
                <a:cs typeface="Arial"/>
              </a:rPr>
              <a:t>E[]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p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3694557"/>
            <a:ext cx="7486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30">
                <a:latin typeface="Arial"/>
                <a:cs typeface="Arial"/>
              </a:rPr>
              <a:t>A[]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p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4371213"/>
            <a:ext cx="91884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75">
                <a:latin typeface="Arial"/>
                <a:cs typeface="Arial"/>
              </a:rPr>
              <a:t>p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--</a:t>
            </a:r>
            <a:r>
              <a:rPr dirty="0" sz="2000" spc="-180">
                <a:latin typeface="Arial"/>
                <a:cs typeface="Arial"/>
              </a:rPr>
              <a:t>&gt;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q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7200" y="5626608"/>
            <a:ext cx="8229600" cy="515620"/>
          </a:xfrm>
          <a:custGeom>
            <a:avLst/>
            <a:gdLst/>
            <a:ahLst/>
            <a:cxnLst/>
            <a:rect l="l" t="t" r="r" b="b"/>
            <a:pathLst>
              <a:path w="8229600" h="515620">
                <a:moveTo>
                  <a:pt x="0" y="85852"/>
                </a:moveTo>
                <a:lnTo>
                  <a:pt x="6747" y="52436"/>
                </a:lnTo>
                <a:lnTo>
                  <a:pt x="25147" y="25147"/>
                </a:lnTo>
                <a:lnTo>
                  <a:pt x="52436" y="6747"/>
                </a:lnTo>
                <a:lnTo>
                  <a:pt x="85852" y="0"/>
                </a:lnTo>
                <a:lnTo>
                  <a:pt x="8143748" y="0"/>
                </a:lnTo>
                <a:lnTo>
                  <a:pt x="8177147" y="6747"/>
                </a:lnTo>
                <a:lnTo>
                  <a:pt x="8204438" y="25147"/>
                </a:lnTo>
                <a:lnTo>
                  <a:pt x="8222847" y="52436"/>
                </a:lnTo>
                <a:lnTo>
                  <a:pt x="8229600" y="85852"/>
                </a:lnTo>
                <a:lnTo>
                  <a:pt x="8229600" y="429260"/>
                </a:lnTo>
                <a:lnTo>
                  <a:pt x="8222847" y="462675"/>
                </a:lnTo>
                <a:lnTo>
                  <a:pt x="8204438" y="489964"/>
                </a:lnTo>
                <a:lnTo>
                  <a:pt x="8177147" y="508364"/>
                </a:lnTo>
                <a:lnTo>
                  <a:pt x="8143748" y="515112"/>
                </a:lnTo>
                <a:lnTo>
                  <a:pt x="85852" y="515112"/>
                </a:lnTo>
                <a:lnTo>
                  <a:pt x="52436" y="508364"/>
                </a:lnTo>
                <a:lnTo>
                  <a:pt x="25147" y="489964"/>
                </a:lnTo>
                <a:lnTo>
                  <a:pt x="6747" y="462675"/>
                </a:lnTo>
                <a:lnTo>
                  <a:pt x="0" y="429260"/>
                </a:lnTo>
                <a:lnTo>
                  <a:pt x="0" y="85852"/>
                </a:lnTo>
                <a:close/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428750" y="5703214"/>
            <a:ext cx="62871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85">
                <a:latin typeface="Arial"/>
                <a:cs typeface="Arial"/>
              </a:rPr>
              <a:t>Pfadquantoren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dürfen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in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270">
                <a:latin typeface="Arial"/>
                <a:cs typeface="Arial"/>
              </a:rPr>
              <a:t>UPPAAL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nicht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95">
                <a:latin typeface="Arial"/>
                <a:cs typeface="Arial"/>
              </a:rPr>
              <a:t>geschachtelt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werden!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0584" y="266192"/>
            <a:ext cx="403796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30"/>
              <a:t>UPPAAL</a:t>
            </a:r>
            <a:r>
              <a:rPr dirty="0" spc="-180"/>
              <a:t> </a:t>
            </a:r>
            <a:r>
              <a:rPr dirty="0" spc="-210"/>
              <a:t>Queries</a:t>
            </a:r>
            <a:r>
              <a:rPr dirty="0" spc="-185"/>
              <a:t> </a:t>
            </a:r>
            <a:r>
              <a:rPr dirty="0" spc="-90"/>
              <a:t>(2)</a:t>
            </a:r>
          </a:p>
        </p:txBody>
      </p:sp>
      <p:sp>
        <p:nvSpPr>
          <p:cNvPr id="3" name="object 3"/>
          <p:cNvSpPr/>
          <p:nvPr/>
        </p:nvSpPr>
        <p:spPr>
          <a:xfrm>
            <a:off x="629412" y="1348739"/>
            <a:ext cx="8159750" cy="562610"/>
          </a:xfrm>
          <a:custGeom>
            <a:avLst/>
            <a:gdLst/>
            <a:ahLst/>
            <a:cxnLst/>
            <a:rect l="l" t="t" r="r" b="b"/>
            <a:pathLst>
              <a:path w="8159750" h="562610">
                <a:moveTo>
                  <a:pt x="0" y="93725"/>
                </a:moveTo>
                <a:lnTo>
                  <a:pt x="7365" y="57221"/>
                </a:lnTo>
                <a:lnTo>
                  <a:pt x="27451" y="27431"/>
                </a:lnTo>
                <a:lnTo>
                  <a:pt x="57242" y="7358"/>
                </a:lnTo>
                <a:lnTo>
                  <a:pt x="93726" y="0"/>
                </a:lnTo>
                <a:lnTo>
                  <a:pt x="8065770" y="0"/>
                </a:lnTo>
                <a:lnTo>
                  <a:pt x="8102274" y="7358"/>
                </a:lnTo>
                <a:lnTo>
                  <a:pt x="8132064" y="27431"/>
                </a:lnTo>
                <a:lnTo>
                  <a:pt x="8152137" y="57221"/>
                </a:lnTo>
                <a:lnTo>
                  <a:pt x="8159496" y="93725"/>
                </a:lnTo>
                <a:lnTo>
                  <a:pt x="8159496" y="468629"/>
                </a:lnTo>
                <a:lnTo>
                  <a:pt x="8152137" y="505134"/>
                </a:lnTo>
                <a:lnTo>
                  <a:pt x="8132063" y="534923"/>
                </a:lnTo>
                <a:lnTo>
                  <a:pt x="8102274" y="554997"/>
                </a:lnTo>
                <a:lnTo>
                  <a:pt x="8065770" y="562355"/>
                </a:lnTo>
                <a:lnTo>
                  <a:pt x="93726" y="562355"/>
                </a:lnTo>
                <a:lnTo>
                  <a:pt x="57242" y="554997"/>
                </a:lnTo>
                <a:lnTo>
                  <a:pt x="27451" y="534924"/>
                </a:lnTo>
                <a:lnTo>
                  <a:pt x="7365" y="505134"/>
                </a:lnTo>
                <a:lnTo>
                  <a:pt x="0" y="468629"/>
                </a:lnTo>
                <a:lnTo>
                  <a:pt x="0" y="93725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09016" y="5509259"/>
            <a:ext cx="8280400" cy="502920"/>
          </a:xfrm>
          <a:custGeom>
            <a:avLst/>
            <a:gdLst/>
            <a:ahLst/>
            <a:cxnLst/>
            <a:rect l="l" t="t" r="r" b="b"/>
            <a:pathLst>
              <a:path w="8280400" h="502920">
                <a:moveTo>
                  <a:pt x="0" y="83819"/>
                </a:moveTo>
                <a:lnTo>
                  <a:pt x="6587" y="51220"/>
                </a:lnTo>
                <a:lnTo>
                  <a:pt x="24550" y="24574"/>
                </a:lnTo>
                <a:lnTo>
                  <a:pt x="51193" y="6596"/>
                </a:lnTo>
                <a:lnTo>
                  <a:pt x="83820" y="0"/>
                </a:lnTo>
                <a:lnTo>
                  <a:pt x="8196072" y="0"/>
                </a:lnTo>
                <a:lnTo>
                  <a:pt x="8228724" y="6596"/>
                </a:lnTo>
                <a:lnTo>
                  <a:pt x="8255365" y="24574"/>
                </a:lnTo>
                <a:lnTo>
                  <a:pt x="8273313" y="51220"/>
                </a:lnTo>
                <a:lnTo>
                  <a:pt x="8279892" y="83819"/>
                </a:lnTo>
                <a:lnTo>
                  <a:pt x="8279892" y="419099"/>
                </a:lnTo>
                <a:lnTo>
                  <a:pt x="8273313" y="451726"/>
                </a:lnTo>
                <a:lnTo>
                  <a:pt x="8255365" y="478369"/>
                </a:lnTo>
                <a:lnTo>
                  <a:pt x="8228724" y="496332"/>
                </a:lnTo>
                <a:lnTo>
                  <a:pt x="8196072" y="502919"/>
                </a:lnTo>
                <a:lnTo>
                  <a:pt x="83820" y="502919"/>
                </a:lnTo>
                <a:lnTo>
                  <a:pt x="51193" y="496332"/>
                </a:lnTo>
                <a:lnTo>
                  <a:pt x="24550" y="478369"/>
                </a:lnTo>
                <a:lnTo>
                  <a:pt x="6587" y="451726"/>
                </a:lnTo>
                <a:lnTo>
                  <a:pt x="0" y="419099"/>
                </a:lnTo>
                <a:lnTo>
                  <a:pt x="0" y="83819"/>
                </a:lnTo>
                <a:close/>
              </a:path>
            </a:pathLst>
          </a:custGeom>
          <a:ln w="12699">
            <a:solidFill>
              <a:srgbClr val="EC7C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07542" y="1448562"/>
            <a:ext cx="6838315" cy="44627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7983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Arial"/>
                <a:cs typeface="Arial"/>
              </a:rPr>
              <a:t>A[]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90">
                <a:latin typeface="Arial"/>
                <a:cs typeface="Arial"/>
              </a:rPr>
              <a:t>expr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E[]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90">
                <a:latin typeface="Arial"/>
                <a:cs typeface="Arial"/>
              </a:rPr>
              <a:t>expr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180">
                <a:latin typeface="Arial"/>
                <a:cs typeface="Arial"/>
              </a:rPr>
              <a:t>A&lt;&gt;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90">
                <a:latin typeface="Arial"/>
                <a:cs typeface="Arial"/>
              </a:rPr>
              <a:t>expr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245">
                <a:latin typeface="Arial"/>
                <a:cs typeface="Arial"/>
              </a:rPr>
              <a:t>E&lt;&gt;</a:t>
            </a:r>
            <a:r>
              <a:rPr dirty="0" sz="2000" spc="-90">
                <a:latin typeface="Arial"/>
                <a:cs typeface="Arial"/>
              </a:rPr>
              <a:t> expr </a:t>
            </a:r>
            <a:r>
              <a:rPr dirty="0" sz="2000" spc="390">
                <a:latin typeface="Arial"/>
                <a:cs typeface="Arial"/>
              </a:rPr>
              <a:t>|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90">
                <a:latin typeface="Arial"/>
                <a:cs typeface="Arial"/>
              </a:rPr>
              <a:t>expr </a:t>
            </a:r>
            <a:r>
              <a:rPr dirty="0" sz="2000" spc="-65">
                <a:latin typeface="Arial"/>
                <a:cs typeface="Arial"/>
              </a:rPr>
              <a:t>--</a:t>
            </a:r>
            <a:r>
              <a:rPr dirty="0" sz="2000" spc="-180">
                <a:latin typeface="Arial"/>
                <a:cs typeface="Arial"/>
              </a:rPr>
              <a:t>&gt;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expr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spc="-180">
                <a:latin typeface="Arial"/>
                <a:cs typeface="Arial"/>
              </a:rPr>
              <a:t>Syntax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von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75">
                <a:latin typeface="Arial"/>
                <a:cs typeface="Arial"/>
              </a:rPr>
              <a:t>Expressions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ähnlich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C/C++</a:t>
            </a:r>
            <a:endParaRPr sz="24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25">
                <a:latin typeface="Arial"/>
                <a:cs typeface="Arial"/>
              </a:rPr>
              <a:t>Variablenzugriffe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95">
                <a:latin typeface="Arial"/>
                <a:cs typeface="Arial"/>
              </a:rPr>
              <a:t>and,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95">
                <a:latin typeface="Arial"/>
                <a:cs typeface="Arial"/>
              </a:rPr>
              <a:t>or,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not,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imply,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==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35">
                <a:solidFill>
                  <a:srgbClr val="44536A"/>
                </a:solidFill>
                <a:latin typeface="Arial"/>
                <a:cs typeface="Arial"/>
              </a:rPr>
              <a:t>forall</a:t>
            </a:r>
            <a:r>
              <a:rPr dirty="0" sz="2000" spc="-95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z="2000" spc="-105">
                <a:latin typeface="Arial"/>
                <a:cs typeface="Arial"/>
              </a:rPr>
              <a:t>and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120">
                <a:solidFill>
                  <a:srgbClr val="44536A"/>
                </a:solidFill>
                <a:latin typeface="Arial"/>
                <a:cs typeface="Arial"/>
              </a:rPr>
              <a:t>exists</a:t>
            </a:r>
            <a:r>
              <a:rPr dirty="0" sz="2000" spc="-45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(für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alle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Arrayelemente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gilt)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95">
                <a:solidFill>
                  <a:srgbClr val="44536A"/>
                </a:solidFill>
                <a:latin typeface="Arial"/>
                <a:cs typeface="Arial"/>
              </a:rPr>
              <a:t>deadlock </a:t>
            </a:r>
            <a:r>
              <a:rPr dirty="0" sz="2000" spc="-30">
                <a:latin typeface="Arial"/>
                <a:cs typeface="Arial"/>
              </a:rPr>
              <a:t>(A[]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not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deadlock)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35">
                <a:latin typeface="Arial"/>
                <a:cs typeface="Arial"/>
              </a:rPr>
              <a:t>Uhrenbedingungen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120">
                <a:latin typeface="Arial"/>
                <a:cs typeface="Arial"/>
              </a:rPr>
              <a:t>Zustände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(Automat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310">
                <a:latin typeface="Arial"/>
                <a:cs typeface="Arial"/>
              </a:rPr>
              <a:t>X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in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120">
                <a:latin typeface="Arial"/>
                <a:cs typeface="Arial"/>
              </a:rPr>
              <a:t>Zustand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y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80">
                <a:latin typeface="Arial"/>
                <a:cs typeface="Arial"/>
              </a:rPr>
              <a:t>=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X.y)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2000">
              <a:latin typeface="Arial"/>
              <a:cs typeface="Arial"/>
            </a:endParaRPr>
          </a:p>
          <a:p>
            <a:pPr marL="1552575">
              <a:lnSpc>
                <a:spcPct val="100000"/>
              </a:lnSpc>
            </a:pPr>
            <a:r>
              <a:rPr dirty="0" sz="2000" spc="-140">
                <a:latin typeface="Arial"/>
                <a:cs typeface="Arial"/>
              </a:rPr>
              <a:t>Expressions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dürfen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90">
                <a:latin typeface="Arial"/>
                <a:cs typeface="Arial"/>
              </a:rPr>
              <a:t>keine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Seiteneffekte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haben!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65"/>
              <a:t>Syntax-</a:t>
            </a:r>
            <a:r>
              <a:rPr dirty="0" spc="-150"/>
              <a:t>Übersicht:</a:t>
            </a:r>
            <a:r>
              <a:rPr dirty="0" spc="-204"/>
              <a:t> </a:t>
            </a:r>
            <a:r>
              <a:rPr dirty="0" spc="-530"/>
              <a:t>UPPAAL</a:t>
            </a:r>
            <a:r>
              <a:rPr dirty="0" spc="-200"/>
              <a:t> </a:t>
            </a:r>
            <a:r>
              <a:rPr dirty="0" spc="-265"/>
              <a:t>vs.</a:t>
            </a:r>
            <a:r>
              <a:rPr dirty="0" spc="-200"/>
              <a:t> </a:t>
            </a:r>
            <a:r>
              <a:rPr dirty="0" spc="-640"/>
              <a:t>CTL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82166" y="1849373"/>
          <a:ext cx="5734050" cy="3143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2575"/>
                <a:gridCol w="2822575"/>
              </a:tblGrid>
              <a:tr h="3879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3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CTL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26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UPPAAL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3879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325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65">
                          <a:latin typeface="Arial"/>
                          <a:cs typeface="Arial"/>
                        </a:rPr>
                        <a:t>&lt;</a:t>
                      </a:r>
                      <a:r>
                        <a:rPr dirty="0" sz="180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0">
                          <a:latin typeface="Arial"/>
                          <a:cs typeface="Arial"/>
                        </a:rPr>
                        <a:t>&gt;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3879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320">
                          <a:latin typeface="Arial"/>
                          <a:cs typeface="Arial"/>
                        </a:rPr>
                        <a:t>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50">
                          <a:latin typeface="Arial"/>
                          <a:cs typeface="Arial"/>
                        </a:rPr>
                        <a:t>[</a:t>
                      </a:r>
                      <a:r>
                        <a:rPr dirty="0" sz="1800" spc="-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]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229">
                          <a:latin typeface="Arial"/>
                          <a:cs typeface="Arial"/>
                        </a:rPr>
                        <a:t>AG</a:t>
                      </a:r>
                      <a:r>
                        <a:rPr dirty="0" sz="180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75">
                          <a:latin typeface="Arial"/>
                          <a:cs typeface="Arial"/>
                        </a:rPr>
                        <a:t>(</a:t>
                      </a:r>
                      <a:r>
                        <a:rPr dirty="0" sz="2000" spc="-75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2000" spc="-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>
                          <a:latin typeface="STIX Two Math"/>
                          <a:cs typeface="STIX Two Math"/>
                        </a:rPr>
                        <a:t>⇒</a:t>
                      </a:r>
                      <a:r>
                        <a:rPr dirty="0" sz="2000" spc="-2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dirty="0" sz="2000" spc="-254">
                          <a:latin typeface="Arial"/>
                          <a:cs typeface="Arial"/>
                        </a:rPr>
                        <a:t>AF</a:t>
                      </a:r>
                      <a:r>
                        <a:rPr dirty="0" sz="2000" spc="-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spc="-25">
                          <a:latin typeface="Arial"/>
                          <a:cs typeface="Arial"/>
                        </a:rPr>
                        <a:t>q)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75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2000" spc="-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spc="-65">
                          <a:latin typeface="Arial"/>
                          <a:cs typeface="Arial"/>
                        </a:rPr>
                        <a:t>--</a:t>
                      </a:r>
                      <a:r>
                        <a:rPr dirty="0" sz="2000" spc="-180">
                          <a:latin typeface="Arial"/>
                          <a:cs typeface="Arial"/>
                        </a:rPr>
                        <a:t>&gt;</a:t>
                      </a:r>
                      <a:r>
                        <a:rPr dirty="0" sz="200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spc="-50">
                          <a:latin typeface="Arial"/>
                          <a:cs typeface="Arial"/>
                        </a:rPr>
                        <a:t>q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80">
                          <a:latin typeface="Arial"/>
                          <a:cs typeface="Arial"/>
                        </a:rPr>
                        <a:t>¬</a:t>
                      </a:r>
                      <a:r>
                        <a:rPr dirty="0" sz="2000" spc="-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spc="-50">
                          <a:latin typeface="Arial"/>
                          <a:cs typeface="Arial"/>
                        </a:rPr>
                        <a:t>p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80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60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800" spc="-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5">
                          <a:latin typeface="Arial"/>
                          <a:cs typeface="Arial"/>
                        </a:rPr>
                        <a:t>(oder</a:t>
                      </a:r>
                      <a:r>
                        <a:rPr dirty="0" sz="18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!p)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000" spc="-75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2000" spc="-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spc="-110">
                          <a:latin typeface="STIX Two Math"/>
                          <a:cs typeface="STIX Two Math"/>
                        </a:rPr>
                        <a:t>∧</a:t>
                      </a:r>
                      <a:r>
                        <a:rPr dirty="0" sz="2000" spc="-25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dirty="0" sz="2000" spc="-50">
                          <a:latin typeface="Arial"/>
                          <a:cs typeface="Arial"/>
                        </a:rPr>
                        <a:t>q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60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8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8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60">
                          <a:latin typeface="Arial"/>
                          <a:cs typeface="Arial"/>
                        </a:rPr>
                        <a:t>q</a:t>
                      </a:r>
                      <a:r>
                        <a:rPr dirty="0" sz="18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60">
                          <a:latin typeface="Arial"/>
                          <a:cs typeface="Arial"/>
                        </a:rPr>
                        <a:t>(oder</a:t>
                      </a:r>
                      <a:r>
                        <a:rPr dirty="0" sz="18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60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8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&amp;&amp;</a:t>
                      </a:r>
                      <a:r>
                        <a:rPr dirty="0" sz="1800" spc="-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q)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000" spc="-75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2000" spc="-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spc="-110">
                          <a:latin typeface="STIX Two Math"/>
                          <a:cs typeface="STIX Two Math"/>
                        </a:rPr>
                        <a:t>∨</a:t>
                      </a:r>
                      <a:r>
                        <a:rPr dirty="0" sz="2000" spc="-25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dirty="0" sz="2000" spc="-50">
                          <a:latin typeface="Arial"/>
                          <a:cs typeface="Arial"/>
                        </a:rPr>
                        <a:t>q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60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80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800" spc="-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60">
                          <a:latin typeface="Arial"/>
                          <a:cs typeface="Arial"/>
                        </a:rPr>
                        <a:t>q</a:t>
                      </a:r>
                      <a:r>
                        <a:rPr dirty="0" sz="180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0">
                          <a:latin typeface="Arial"/>
                          <a:cs typeface="Arial"/>
                        </a:rPr>
                        <a:t>(oder</a:t>
                      </a:r>
                      <a:r>
                        <a:rPr dirty="0" sz="1800" spc="-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60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80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360">
                          <a:latin typeface="Arial"/>
                          <a:cs typeface="Arial"/>
                        </a:rPr>
                        <a:t>||</a:t>
                      </a:r>
                      <a:r>
                        <a:rPr dirty="0" sz="1800" spc="-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q)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2000" spc="-75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2000" spc="-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>
                          <a:latin typeface="STIX Two Math"/>
                          <a:cs typeface="STIX Two Math"/>
                        </a:rPr>
                        <a:t>⇒</a:t>
                      </a:r>
                      <a:r>
                        <a:rPr dirty="0" sz="2000" spc="-7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dirty="0" sz="2000" spc="-50">
                          <a:latin typeface="Arial"/>
                          <a:cs typeface="Arial"/>
                        </a:rPr>
                        <a:t>q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60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80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40">
                          <a:latin typeface="Arial"/>
                          <a:cs typeface="Arial"/>
                        </a:rPr>
                        <a:t>imply</a:t>
                      </a:r>
                      <a:r>
                        <a:rPr dirty="0" sz="1800" spc="-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60">
                          <a:latin typeface="Arial"/>
                          <a:cs typeface="Arial"/>
                        </a:rPr>
                        <a:t>q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0584" y="266192"/>
            <a:ext cx="524256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75"/>
              <a:t>Typische</a:t>
            </a:r>
            <a:r>
              <a:rPr dirty="0" spc="-195"/>
              <a:t> </a:t>
            </a:r>
            <a:r>
              <a:rPr dirty="0" spc="-530"/>
              <a:t>UPPAAL</a:t>
            </a:r>
            <a:r>
              <a:rPr dirty="0" spc="-185"/>
              <a:t> </a:t>
            </a:r>
            <a:r>
              <a:rPr dirty="0" spc="-165"/>
              <a:t>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90574"/>
            <a:ext cx="7586980" cy="40798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25">
                <a:latin typeface="Arial"/>
                <a:cs typeface="Arial"/>
              </a:rPr>
              <a:t>Einige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114">
                <a:latin typeface="Arial"/>
                <a:cs typeface="Arial"/>
              </a:rPr>
              <a:t>Eigenschaften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müssen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häufig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verifiziert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werden: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dirty="0" sz="1900" spc="-65" b="1">
                <a:latin typeface="Arial"/>
                <a:cs typeface="Arial"/>
              </a:rPr>
              <a:t>Erreichbarkeit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700" spc="-60">
                <a:solidFill>
                  <a:srgbClr val="5B9BD4"/>
                </a:solidFill>
                <a:latin typeface="Monaco"/>
                <a:cs typeface="Monaco"/>
              </a:rPr>
              <a:t>E&lt;&gt;</a:t>
            </a:r>
            <a:r>
              <a:rPr dirty="0" sz="1700" spc="-200">
                <a:solidFill>
                  <a:srgbClr val="5B9BD4"/>
                </a:solidFill>
                <a:latin typeface="Monaco"/>
                <a:cs typeface="Monaco"/>
              </a:rPr>
              <a:t> </a:t>
            </a:r>
            <a:r>
              <a:rPr dirty="0" sz="1700" spc="-105">
                <a:solidFill>
                  <a:srgbClr val="5B9BD4"/>
                </a:solidFill>
                <a:latin typeface="Monaco"/>
                <a:cs typeface="Monaco"/>
              </a:rPr>
              <a:t>D.s</a:t>
            </a:r>
            <a:r>
              <a:rPr dirty="0" sz="1700" spc="-630">
                <a:solidFill>
                  <a:srgbClr val="5B9BD4"/>
                </a:solidFill>
                <a:latin typeface="Monaco"/>
                <a:cs typeface="Monaco"/>
              </a:rPr>
              <a:t> </a:t>
            </a:r>
            <a:r>
              <a:rPr dirty="0" sz="1700" spc="-114">
                <a:solidFill>
                  <a:srgbClr val="A4A4A4"/>
                </a:solidFill>
                <a:latin typeface="Arial"/>
                <a:cs typeface="Arial"/>
              </a:rPr>
              <a:t>bzw.</a:t>
            </a:r>
            <a:r>
              <a:rPr dirty="0" sz="1700" spc="-95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700" spc="-60">
                <a:solidFill>
                  <a:srgbClr val="6FAC46"/>
                </a:solidFill>
                <a:latin typeface="Monaco"/>
                <a:cs typeface="Monaco"/>
              </a:rPr>
              <a:t>A&lt;&gt;</a:t>
            </a:r>
            <a:r>
              <a:rPr dirty="0" sz="1700" spc="-150">
                <a:solidFill>
                  <a:srgbClr val="6FAC46"/>
                </a:solidFill>
                <a:latin typeface="Monaco"/>
                <a:cs typeface="Monaco"/>
              </a:rPr>
              <a:t> </a:t>
            </a:r>
            <a:r>
              <a:rPr dirty="0" sz="1700" spc="-25">
                <a:solidFill>
                  <a:srgbClr val="6FAC46"/>
                </a:solidFill>
                <a:latin typeface="Monaco"/>
                <a:cs typeface="Monaco"/>
              </a:rPr>
              <a:t>D.s</a:t>
            </a:r>
            <a:endParaRPr sz="170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400" spc="-85">
                <a:latin typeface="Arial"/>
                <a:cs typeface="Arial"/>
              </a:rPr>
              <a:t>Zustand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155">
                <a:latin typeface="Arial"/>
                <a:cs typeface="Arial"/>
              </a:rPr>
              <a:t>s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105">
                <a:latin typeface="Arial"/>
                <a:cs typeface="Arial"/>
              </a:rPr>
              <a:t>des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45">
                <a:latin typeface="Arial"/>
                <a:cs typeface="Arial"/>
              </a:rPr>
              <a:t>Automaten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160">
                <a:latin typeface="Arial"/>
                <a:cs typeface="Arial"/>
              </a:rPr>
              <a:t>D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wird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auf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5B9BD4"/>
                </a:solidFill>
                <a:latin typeface="Arial"/>
                <a:cs typeface="Arial"/>
              </a:rPr>
              <a:t>mindestens</a:t>
            </a:r>
            <a:r>
              <a:rPr dirty="0" sz="1400" spc="-2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5B9BD4"/>
                </a:solidFill>
                <a:latin typeface="Arial"/>
                <a:cs typeface="Arial"/>
              </a:rPr>
              <a:t>einem</a:t>
            </a:r>
            <a:r>
              <a:rPr dirty="0" sz="1400" spc="-3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400" spc="-95">
                <a:latin typeface="Arial"/>
                <a:cs typeface="Arial"/>
              </a:rPr>
              <a:t>Pfad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105">
                <a:latin typeface="Arial"/>
                <a:cs typeface="Arial"/>
              </a:rPr>
              <a:t>des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85">
                <a:latin typeface="Arial"/>
                <a:cs typeface="Arial"/>
              </a:rPr>
              <a:t>Transitionssystems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 spc="-95">
                <a:latin typeface="Arial"/>
                <a:cs typeface="Arial"/>
              </a:rPr>
              <a:t>bzw.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6FAC46"/>
                </a:solidFill>
                <a:latin typeface="Arial"/>
                <a:cs typeface="Arial"/>
              </a:rPr>
              <a:t>immer</a:t>
            </a:r>
            <a:r>
              <a:rPr dirty="0" sz="1400" spc="-65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erreicht.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900" spc="-155" b="1">
                <a:latin typeface="Arial"/>
                <a:cs typeface="Arial"/>
              </a:rPr>
              <a:t>Lebendigkeit</a:t>
            </a:r>
            <a:r>
              <a:rPr dirty="0" sz="1900" spc="-50" b="1">
                <a:latin typeface="Arial"/>
                <a:cs typeface="Arial"/>
              </a:rPr>
              <a:t> </a:t>
            </a:r>
            <a:r>
              <a:rPr dirty="0" sz="1800" spc="-75" i="1">
                <a:latin typeface="Arial"/>
                <a:cs typeface="Arial"/>
              </a:rPr>
              <a:t>(„Etwas</a:t>
            </a:r>
            <a:r>
              <a:rPr dirty="0" sz="1800" spc="-65" i="1">
                <a:latin typeface="Arial"/>
                <a:cs typeface="Arial"/>
              </a:rPr>
              <a:t> </a:t>
            </a:r>
            <a:r>
              <a:rPr dirty="0" sz="1800" spc="-135" i="1">
                <a:latin typeface="Arial"/>
                <a:cs typeface="Arial"/>
              </a:rPr>
              <a:t>Gutes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spc="-25" i="1">
                <a:latin typeface="Arial"/>
                <a:cs typeface="Arial"/>
              </a:rPr>
              <a:t>wird</a:t>
            </a:r>
            <a:r>
              <a:rPr dirty="0" sz="1800" spc="-65" i="1">
                <a:latin typeface="Arial"/>
                <a:cs typeface="Arial"/>
              </a:rPr>
              <a:t> </a:t>
            </a:r>
            <a:r>
              <a:rPr dirty="0" sz="1800" spc="-60" i="1">
                <a:latin typeface="Arial"/>
                <a:cs typeface="Arial"/>
              </a:rPr>
              <a:t>immer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passieren“)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700" spc="-60">
                <a:latin typeface="Monaco"/>
                <a:cs typeface="Monaco"/>
              </a:rPr>
              <a:t>D.s</a:t>
            </a:r>
            <a:r>
              <a:rPr dirty="0" sz="1700" spc="-200">
                <a:latin typeface="Monaco"/>
                <a:cs typeface="Monaco"/>
              </a:rPr>
              <a:t> </a:t>
            </a:r>
            <a:r>
              <a:rPr dirty="0" sz="1700" spc="-105">
                <a:latin typeface="Monaco"/>
                <a:cs typeface="Monaco"/>
              </a:rPr>
              <a:t>--</a:t>
            </a:r>
            <a:r>
              <a:rPr dirty="0" sz="1700">
                <a:latin typeface="Monaco"/>
                <a:cs typeface="Monaco"/>
              </a:rPr>
              <a:t>&gt;</a:t>
            </a:r>
            <a:r>
              <a:rPr dirty="0" sz="1700" spc="-235">
                <a:latin typeface="Monaco"/>
                <a:cs typeface="Monaco"/>
              </a:rPr>
              <a:t> </a:t>
            </a:r>
            <a:r>
              <a:rPr dirty="0" sz="1700" spc="-65">
                <a:latin typeface="Monaco"/>
                <a:cs typeface="Monaco"/>
              </a:rPr>
              <a:t>z==3</a:t>
            </a:r>
            <a:r>
              <a:rPr dirty="0" sz="1700" spc="-170">
                <a:latin typeface="Monaco"/>
                <a:cs typeface="Monaco"/>
              </a:rPr>
              <a:t> </a:t>
            </a:r>
            <a:r>
              <a:rPr dirty="0" sz="1700" spc="-75" i="1">
                <a:solidFill>
                  <a:srgbClr val="A4A4A4"/>
                </a:solidFill>
                <a:latin typeface="Arial"/>
                <a:cs typeface="Arial"/>
              </a:rPr>
              <a:t>In</a:t>
            </a:r>
            <a:r>
              <a:rPr dirty="0" sz="1700" spc="-100" i="1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700" spc="-204" i="1">
                <a:solidFill>
                  <a:srgbClr val="A4A4A4"/>
                </a:solidFill>
                <a:latin typeface="Arial"/>
                <a:cs typeface="Arial"/>
              </a:rPr>
              <a:t>CTL:</a:t>
            </a:r>
            <a:r>
              <a:rPr dirty="0" sz="1700" spc="-100" i="1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700" i="1">
                <a:solidFill>
                  <a:srgbClr val="A4A4A4"/>
                </a:solidFill>
                <a:latin typeface="Arial"/>
                <a:cs typeface="Arial"/>
              </a:rPr>
              <a:t>AG(D.s</a:t>
            </a:r>
            <a:r>
              <a:rPr dirty="0" sz="1700" spc="380" i="1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700" i="1">
                <a:solidFill>
                  <a:srgbClr val="A4A4A4"/>
                </a:solidFill>
                <a:latin typeface="Arial"/>
                <a:cs typeface="Arial"/>
              </a:rPr>
              <a:t>=&gt;</a:t>
            </a:r>
            <a:r>
              <a:rPr dirty="0" sz="1700" spc="365" i="1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700" i="1">
                <a:solidFill>
                  <a:srgbClr val="A4A4A4"/>
                </a:solidFill>
                <a:latin typeface="Arial"/>
                <a:cs typeface="Arial"/>
              </a:rPr>
              <a:t>AF</a:t>
            </a:r>
            <a:r>
              <a:rPr dirty="0" sz="1700" spc="365" i="1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dirty="0" sz="1700" spc="55" i="1">
                <a:solidFill>
                  <a:srgbClr val="A4A4A4"/>
                </a:solidFill>
                <a:latin typeface="Arial"/>
                <a:cs typeface="Arial"/>
              </a:rPr>
              <a:t>D.z==3)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400" spc="-80">
                <a:latin typeface="Arial"/>
                <a:cs typeface="Arial"/>
              </a:rPr>
              <a:t>Wenn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160">
                <a:latin typeface="Arial"/>
                <a:cs typeface="Arial"/>
              </a:rPr>
              <a:t>s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in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160">
                <a:latin typeface="Arial"/>
                <a:cs typeface="Arial"/>
              </a:rPr>
              <a:t>D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30">
                <a:latin typeface="Arial"/>
                <a:cs typeface="Arial"/>
              </a:rPr>
              <a:t>erreicht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wird,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wird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60">
                <a:latin typeface="Arial"/>
                <a:cs typeface="Arial"/>
              </a:rPr>
              <a:t>irgendwann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155">
                <a:latin typeface="Arial"/>
                <a:cs typeface="Arial"/>
              </a:rPr>
              <a:t>z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60">
                <a:latin typeface="Arial"/>
                <a:cs typeface="Arial"/>
              </a:rPr>
              <a:t>den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Wert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75">
                <a:latin typeface="Arial"/>
                <a:cs typeface="Arial"/>
              </a:rPr>
              <a:t>3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annehmen.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900" spc="-135" b="1">
                <a:latin typeface="Arial"/>
                <a:cs typeface="Arial"/>
              </a:rPr>
              <a:t>Sicherheit</a:t>
            </a:r>
            <a:r>
              <a:rPr dirty="0" sz="1900" spc="-50" b="1">
                <a:latin typeface="Arial"/>
                <a:cs typeface="Arial"/>
              </a:rPr>
              <a:t> </a:t>
            </a:r>
            <a:r>
              <a:rPr dirty="0" sz="1800" spc="-70" i="1">
                <a:latin typeface="Arial"/>
                <a:cs typeface="Arial"/>
              </a:rPr>
              <a:t>(„Etwas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40" i="1">
                <a:latin typeface="Arial"/>
                <a:cs typeface="Arial"/>
              </a:rPr>
              <a:t>Schlechtes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20" i="1">
                <a:latin typeface="Arial"/>
                <a:cs typeface="Arial"/>
              </a:rPr>
              <a:t>wird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80" i="1">
                <a:latin typeface="Arial"/>
                <a:cs typeface="Arial"/>
              </a:rPr>
              <a:t>nie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80" i="1">
                <a:latin typeface="Arial"/>
                <a:cs typeface="Arial"/>
              </a:rPr>
              <a:t>passieren/etwas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spc="-135" i="1">
                <a:latin typeface="Arial"/>
                <a:cs typeface="Arial"/>
              </a:rPr>
              <a:t>Gutes</a:t>
            </a:r>
            <a:r>
              <a:rPr dirty="0" sz="1800" spc="-70" i="1">
                <a:latin typeface="Arial"/>
                <a:cs typeface="Arial"/>
              </a:rPr>
              <a:t> </a:t>
            </a:r>
            <a:r>
              <a:rPr dirty="0" sz="1800" spc="-45" i="1">
                <a:latin typeface="Arial"/>
                <a:cs typeface="Arial"/>
              </a:rPr>
              <a:t>ist</a:t>
            </a:r>
            <a:r>
              <a:rPr dirty="0" sz="1800" spc="-40" i="1">
                <a:latin typeface="Arial"/>
                <a:cs typeface="Arial"/>
              </a:rPr>
              <a:t> </a:t>
            </a:r>
            <a:r>
              <a:rPr dirty="0" sz="1800" spc="-70" i="1">
                <a:latin typeface="Arial"/>
                <a:cs typeface="Arial"/>
              </a:rPr>
              <a:t>immer </a:t>
            </a:r>
            <a:r>
              <a:rPr dirty="0" sz="1800" spc="-10" i="1">
                <a:latin typeface="Arial"/>
                <a:cs typeface="Arial"/>
              </a:rPr>
              <a:t>wahr.“)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700" spc="-55">
                <a:solidFill>
                  <a:srgbClr val="5B9BD4"/>
                </a:solidFill>
                <a:latin typeface="Monaco"/>
                <a:cs typeface="Monaco"/>
              </a:rPr>
              <a:t>E[]</a:t>
            </a:r>
            <a:r>
              <a:rPr dirty="0" sz="1700" spc="-190">
                <a:solidFill>
                  <a:srgbClr val="5B9BD4"/>
                </a:solidFill>
                <a:latin typeface="Monaco"/>
                <a:cs typeface="Monaco"/>
              </a:rPr>
              <a:t> </a:t>
            </a:r>
            <a:r>
              <a:rPr dirty="0" sz="1700">
                <a:solidFill>
                  <a:srgbClr val="5B9BD4"/>
                </a:solidFill>
                <a:latin typeface="Monaco"/>
                <a:cs typeface="Monaco"/>
              </a:rPr>
              <a:t>b</a:t>
            </a:r>
            <a:r>
              <a:rPr dirty="0" sz="1700" spc="-190">
                <a:solidFill>
                  <a:srgbClr val="5B9BD4"/>
                </a:solidFill>
                <a:latin typeface="Monaco"/>
                <a:cs typeface="Monaco"/>
              </a:rPr>
              <a:t> </a:t>
            </a:r>
            <a:r>
              <a:rPr dirty="0" sz="1700">
                <a:solidFill>
                  <a:srgbClr val="5B9BD4"/>
                </a:solidFill>
                <a:latin typeface="Monaco"/>
                <a:cs typeface="Monaco"/>
              </a:rPr>
              <a:t>&lt;</a:t>
            </a:r>
            <a:r>
              <a:rPr dirty="0" sz="1700" spc="-185">
                <a:solidFill>
                  <a:srgbClr val="5B9BD4"/>
                </a:solidFill>
                <a:latin typeface="Monaco"/>
                <a:cs typeface="Monaco"/>
              </a:rPr>
              <a:t> </a:t>
            </a:r>
            <a:r>
              <a:rPr dirty="0" sz="1700" spc="-20">
                <a:solidFill>
                  <a:srgbClr val="5B9BD4"/>
                </a:solidFill>
                <a:latin typeface="Monaco"/>
                <a:cs typeface="Monaco"/>
              </a:rPr>
              <a:t>10</a:t>
            </a:r>
            <a:r>
              <a:rPr dirty="0" sz="1700" spc="-190">
                <a:solidFill>
                  <a:srgbClr val="5B9BD4"/>
                </a:solidFill>
                <a:latin typeface="Monaco"/>
                <a:cs typeface="Monaco"/>
              </a:rPr>
              <a:t> </a:t>
            </a:r>
            <a:r>
              <a:rPr dirty="0" sz="1700" spc="-70">
                <a:solidFill>
                  <a:srgbClr val="A4A4A4"/>
                </a:solidFill>
                <a:latin typeface="Monaco"/>
                <a:cs typeface="Monaco"/>
              </a:rPr>
              <a:t>bzw.</a:t>
            </a:r>
            <a:r>
              <a:rPr dirty="0" sz="1700" spc="-180">
                <a:solidFill>
                  <a:srgbClr val="A4A4A4"/>
                </a:solidFill>
                <a:latin typeface="Monaco"/>
                <a:cs typeface="Monaco"/>
              </a:rPr>
              <a:t> </a:t>
            </a:r>
            <a:r>
              <a:rPr dirty="0" sz="1700" spc="-60">
                <a:solidFill>
                  <a:srgbClr val="6FAC46"/>
                </a:solidFill>
                <a:latin typeface="Monaco"/>
                <a:cs typeface="Monaco"/>
              </a:rPr>
              <a:t>A[]</a:t>
            </a:r>
            <a:r>
              <a:rPr dirty="0" sz="1700" spc="-180">
                <a:solidFill>
                  <a:srgbClr val="6FAC46"/>
                </a:solidFill>
                <a:latin typeface="Monaco"/>
                <a:cs typeface="Monaco"/>
              </a:rPr>
              <a:t> </a:t>
            </a:r>
            <a:r>
              <a:rPr dirty="0" sz="1700">
                <a:solidFill>
                  <a:srgbClr val="6FAC46"/>
                </a:solidFill>
                <a:latin typeface="Monaco"/>
                <a:cs typeface="Monaco"/>
              </a:rPr>
              <a:t>b</a:t>
            </a:r>
            <a:r>
              <a:rPr dirty="0" sz="1700" spc="-190">
                <a:solidFill>
                  <a:srgbClr val="6FAC46"/>
                </a:solidFill>
                <a:latin typeface="Monaco"/>
                <a:cs typeface="Monaco"/>
              </a:rPr>
              <a:t> </a:t>
            </a:r>
            <a:r>
              <a:rPr dirty="0" sz="1700">
                <a:solidFill>
                  <a:srgbClr val="6FAC46"/>
                </a:solidFill>
                <a:latin typeface="Monaco"/>
                <a:cs typeface="Monaco"/>
              </a:rPr>
              <a:t>&lt;</a:t>
            </a:r>
            <a:r>
              <a:rPr dirty="0" sz="1700" spc="-190">
                <a:solidFill>
                  <a:srgbClr val="6FAC46"/>
                </a:solidFill>
                <a:latin typeface="Monaco"/>
                <a:cs typeface="Monaco"/>
              </a:rPr>
              <a:t> </a:t>
            </a:r>
            <a:r>
              <a:rPr dirty="0" sz="1700" spc="-25">
                <a:solidFill>
                  <a:srgbClr val="6FAC46"/>
                </a:solidFill>
                <a:latin typeface="Monaco"/>
                <a:cs typeface="Monaco"/>
              </a:rPr>
              <a:t>10</a:t>
            </a:r>
            <a:endParaRPr sz="170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400" spc="-70">
                <a:latin typeface="Arial"/>
                <a:cs typeface="Arial"/>
              </a:rPr>
              <a:t>Der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30">
                <a:latin typeface="Arial"/>
                <a:cs typeface="Arial"/>
              </a:rPr>
              <a:t>Wert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60">
                <a:latin typeface="Arial"/>
                <a:cs typeface="Arial"/>
              </a:rPr>
              <a:t>von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40">
                <a:latin typeface="Arial"/>
                <a:cs typeface="Arial"/>
              </a:rPr>
              <a:t>b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80">
                <a:solidFill>
                  <a:srgbClr val="5B9BD4"/>
                </a:solidFill>
                <a:latin typeface="Arial"/>
                <a:cs typeface="Arial"/>
              </a:rPr>
              <a:t>kann</a:t>
            </a:r>
            <a:r>
              <a:rPr dirty="0" sz="1400" spc="-60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400" spc="-95">
                <a:latin typeface="Arial"/>
                <a:cs typeface="Arial"/>
              </a:rPr>
              <a:t>bzw.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105">
                <a:solidFill>
                  <a:srgbClr val="6FAC46"/>
                </a:solidFill>
                <a:latin typeface="Arial"/>
                <a:cs typeface="Arial"/>
              </a:rPr>
              <a:t>muss</a:t>
            </a:r>
            <a:r>
              <a:rPr dirty="0" sz="1400" spc="-6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dirty="0" sz="1400" spc="-40">
                <a:latin typeface="Arial"/>
                <a:cs typeface="Arial"/>
              </a:rPr>
              <a:t>dauerhaft kleiner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95">
                <a:latin typeface="Arial"/>
                <a:cs typeface="Arial"/>
              </a:rPr>
              <a:t>als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80">
                <a:latin typeface="Arial"/>
                <a:cs typeface="Arial"/>
              </a:rPr>
              <a:t>10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bleiben.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73952"/>
            <a:ext cx="9144000" cy="384175"/>
          </a:xfrm>
          <a:custGeom>
            <a:avLst/>
            <a:gdLst/>
            <a:ahLst/>
            <a:cxnLst/>
            <a:rect l="l" t="t" r="r" b="b"/>
            <a:pathLst>
              <a:path w="9144000" h="384175">
                <a:moveTo>
                  <a:pt x="9144000" y="0"/>
                </a:moveTo>
                <a:lnTo>
                  <a:pt x="0" y="0"/>
                </a:lnTo>
                <a:lnTo>
                  <a:pt x="0" y="384048"/>
                </a:lnTo>
                <a:lnTo>
                  <a:pt x="9144000" y="384048"/>
                </a:lnTo>
                <a:lnTo>
                  <a:pt x="9144000" y="0"/>
                </a:lnTo>
                <a:close/>
              </a:path>
            </a:pathLst>
          </a:custGeom>
          <a:solidFill>
            <a:srgbClr val="2B54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4329" y="3603497"/>
            <a:ext cx="8437245" cy="0"/>
          </a:xfrm>
          <a:custGeom>
            <a:avLst/>
            <a:gdLst/>
            <a:ahLst/>
            <a:cxnLst/>
            <a:rect l="l" t="t" r="r" b="b"/>
            <a:pathLst>
              <a:path w="8437245" h="0">
                <a:moveTo>
                  <a:pt x="0" y="0"/>
                </a:moveTo>
                <a:lnTo>
                  <a:pt x="8436864" y="0"/>
                </a:lnTo>
              </a:path>
            </a:pathLst>
          </a:custGeom>
          <a:ln w="31750">
            <a:solidFill>
              <a:srgbClr val="2B54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58697" y="2842005"/>
            <a:ext cx="121666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5"/>
              <a:t>Inhalt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26844" y="3680563"/>
            <a:ext cx="2827655" cy="241554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1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400" spc="-10">
                <a:solidFill>
                  <a:srgbClr val="7E7E7E"/>
                </a:solidFill>
                <a:latin typeface="Arial"/>
                <a:cs typeface="Arial"/>
              </a:rPr>
              <a:t>Einführung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ts val="2845"/>
              </a:lnSpc>
              <a:spcBef>
                <a:spcPts val="42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400" spc="-45">
                <a:solidFill>
                  <a:srgbClr val="7E7E7E"/>
                </a:solidFill>
                <a:latin typeface="Arial"/>
                <a:cs typeface="Arial"/>
              </a:rPr>
              <a:t>Temporallogik</a:t>
            </a:r>
            <a:endParaRPr sz="2400">
              <a:latin typeface="Arial"/>
              <a:cs typeface="Arial"/>
            </a:endParaRPr>
          </a:p>
          <a:p>
            <a:pPr lvl="1" marL="812165" indent="-342265">
              <a:lnSpc>
                <a:spcPts val="2810"/>
              </a:lnSpc>
              <a:buFont typeface="Wingdings"/>
              <a:buChar char=""/>
              <a:tabLst>
                <a:tab pos="812165" algn="l"/>
              </a:tabLst>
            </a:pPr>
            <a:r>
              <a:rPr dirty="0" sz="2400" spc="-30">
                <a:solidFill>
                  <a:srgbClr val="7E7E7E"/>
                </a:solidFill>
                <a:latin typeface="Arial"/>
                <a:cs typeface="Arial"/>
              </a:rPr>
              <a:t>Grundlagen</a:t>
            </a:r>
            <a:endParaRPr sz="2400">
              <a:latin typeface="Arial"/>
              <a:cs typeface="Arial"/>
            </a:endParaRPr>
          </a:p>
          <a:p>
            <a:pPr lvl="1" marL="812165" indent="-342265">
              <a:lnSpc>
                <a:spcPts val="2845"/>
              </a:lnSpc>
              <a:buFont typeface="Wingdings"/>
              <a:buChar char=""/>
              <a:tabLst>
                <a:tab pos="812165" algn="l"/>
              </a:tabLst>
            </a:pPr>
            <a:r>
              <a:rPr dirty="0" sz="2400" spc="-325">
                <a:solidFill>
                  <a:srgbClr val="7E7E7E"/>
                </a:solidFill>
                <a:latin typeface="Arial"/>
                <a:cs typeface="Arial"/>
              </a:rPr>
              <a:t>UPPAAL</a:t>
            </a:r>
            <a:r>
              <a:rPr dirty="0" sz="2400" spc="-9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spc="-105">
                <a:solidFill>
                  <a:srgbClr val="7E7E7E"/>
                </a:solidFill>
                <a:latin typeface="Arial"/>
                <a:cs typeface="Arial"/>
              </a:rPr>
              <a:t>Queries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2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400" spc="-70">
                <a:latin typeface="Arial"/>
                <a:cs typeface="Arial"/>
              </a:rPr>
              <a:t>Verifikation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von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385">
                <a:latin typeface="Arial"/>
                <a:cs typeface="Arial"/>
              </a:rPr>
              <a:t>TA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2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400" spc="-145">
                <a:solidFill>
                  <a:srgbClr val="7E7E7E"/>
                </a:solidFill>
                <a:latin typeface="Arial"/>
                <a:cs typeface="Arial"/>
              </a:rPr>
              <a:t>Fazit</a:t>
            </a:r>
            <a:r>
              <a:rPr dirty="0" sz="2400" spc="-14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spc="-210">
                <a:solidFill>
                  <a:srgbClr val="7E7E7E"/>
                </a:solidFill>
                <a:latin typeface="Arial"/>
                <a:cs typeface="Arial"/>
              </a:rPr>
              <a:t>+</a:t>
            </a:r>
            <a:r>
              <a:rPr dirty="0" sz="2400" spc="-1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7E7E7E"/>
                </a:solidFill>
                <a:latin typeface="Arial"/>
                <a:cs typeface="Arial"/>
              </a:rPr>
              <a:t>Literatur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50"/>
              <a:t>Zeit:</a:t>
            </a:r>
            <a:r>
              <a:rPr dirty="0" spc="-175"/>
              <a:t> </a:t>
            </a:r>
            <a:r>
              <a:rPr dirty="0" spc="-125"/>
              <a:t>diskret</a:t>
            </a:r>
            <a:r>
              <a:rPr dirty="0" spc="-170"/>
              <a:t> </a:t>
            </a:r>
            <a:r>
              <a:rPr dirty="0" spc="-265"/>
              <a:t>vs.</a:t>
            </a:r>
            <a:r>
              <a:rPr dirty="0" spc="-175"/>
              <a:t> </a:t>
            </a:r>
            <a:r>
              <a:rPr dirty="0" spc="-75"/>
              <a:t>kontinuierlich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188910"/>
            <a:ext cx="7607300" cy="462724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400" spc="-165" b="1">
                <a:latin typeface="Arial"/>
                <a:cs typeface="Arial"/>
              </a:rPr>
              <a:t>Diskrete</a:t>
            </a:r>
            <a:r>
              <a:rPr dirty="0" sz="2400" spc="-110" b="1">
                <a:latin typeface="Arial"/>
                <a:cs typeface="Arial"/>
              </a:rPr>
              <a:t> </a:t>
            </a:r>
            <a:r>
              <a:rPr dirty="0" sz="2400" spc="-20" b="1">
                <a:latin typeface="Arial"/>
                <a:cs typeface="Arial"/>
              </a:rPr>
              <a:t>Zeit</a:t>
            </a:r>
            <a:endParaRPr sz="24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59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dirty="0" sz="1800" spc="-75">
                <a:latin typeface="Arial"/>
                <a:cs typeface="Arial"/>
              </a:rPr>
              <a:t>Zeit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wird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30">
                <a:latin typeface="Arial"/>
                <a:cs typeface="Arial"/>
              </a:rPr>
              <a:t>in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65">
                <a:latin typeface="Arial"/>
                <a:cs typeface="Arial"/>
              </a:rPr>
              <a:t>diskreten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65">
                <a:latin typeface="Arial"/>
                <a:cs typeface="Arial"/>
              </a:rPr>
              <a:t>Schritten </a:t>
            </a:r>
            <a:r>
              <a:rPr dirty="0" sz="1800" spc="-10">
                <a:latin typeface="Arial"/>
                <a:cs typeface="Arial"/>
              </a:rPr>
              <a:t>gezählt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57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dirty="0" sz="1800" spc="-110">
                <a:latin typeface="Arial"/>
                <a:cs typeface="Arial"/>
              </a:rPr>
              <a:t>kann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auf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75">
                <a:latin typeface="Arial"/>
                <a:cs typeface="Arial"/>
              </a:rPr>
              <a:t>einen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140">
                <a:latin typeface="Arial"/>
                <a:cs typeface="Arial"/>
              </a:rPr>
              <a:t>Takt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90">
                <a:latin typeface="Arial"/>
                <a:cs typeface="Arial"/>
              </a:rPr>
              <a:t>(clock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70">
                <a:latin typeface="Arial"/>
                <a:cs typeface="Arial"/>
              </a:rPr>
              <a:t>ticks)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65">
                <a:latin typeface="Arial"/>
                <a:cs typeface="Arial"/>
              </a:rPr>
              <a:t>abgebildet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werden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56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dirty="0" sz="1800" spc="-110">
                <a:latin typeface="Arial"/>
                <a:cs typeface="Arial"/>
              </a:rPr>
              <a:t>kann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auf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75">
                <a:latin typeface="Arial"/>
                <a:cs typeface="Arial"/>
              </a:rPr>
              <a:t>endliche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85">
                <a:latin typeface="Arial"/>
                <a:cs typeface="Arial"/>
              </a:rPr>
              <a:t>Variablen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65">
                <a:latin typeface="Arial"/>
                <a:cs typeface="Arial"/>
              </a:rPr>
              <a:t>abgebildet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70">
                <a:latin typeface="Arial"/>
                <a:cs typeface="Arial"/>
              </a:rPr>
              <a:t>werden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65">
                <a:latin typeface="Arial"/>
                <a:cs typeface="Arial"/>
              </a:rPr>
              <a:t>(wenn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90">
                <a:latin typeface="Arial"/>
                <a:cs typeface="Arial"/>
              </a:rPr>
              <a:t>Ausführungszeit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endlich)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0"/>
              </a:spcBef>
              <a:buClr>
                <a:srgbClr val="2D75B6"/>
              </a:buClr>
              <a:buFont typeface="Wingdings"/>
              <a:buChar char=""/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spc="-165" b="1">
                <a:latin typeface="Arial"/>
                <a:cs typeface="Arial"/>
              </a:rPr>
              <a:t>Kontinuierliche</a:t>
            </a:r>
            <a:r>
              <a:rPr dirty="0" sz="2400" spc="-55" b="1">
                <a:latin typeface="Arial"/>
                <a:cs typeface="Arial"/>
              </a:rPr>
              <a:t> </a:t>
            </a:r>
            <a:r>
              <a:rPr dirty="0" sz="2400" spc="-20" b="1">
                <a:latin typeface="Arial"/>
                <a:cs typeface="Arial"/>
              </a:rPr>
              <a:t>Zeit</a:t>
            </a:r>
            <a:endParaRPr sz="24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59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dirty="0" sz="1800" spc="-45">
                <a:latin typeface="Arial"/>
                <a:cs typeface="Arial"/>
              </a:rPr>
              <a:t>kontinuierlicher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Zeitverlauf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57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dirty="0" sz="1800" spc="-125">
                <a:latin typeface="Arial"/>
                <a:cs typeface="Arial"/>
              </a:rPr>
              <a:t>Ereignisse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90">
                <a:latin typeface="Arial"/>
                <a:cs typeface="Arial"/>
              </a:rPr>
              <a:t>können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140">
                <a:latin typeface="Arial"/>
                <a:cs typeface="Arial"/>
              </a:rPr>
              <a:t>zu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65">
                <a:latin typeface="Arial"/>
                <a:cs typeface="Arial"/>
              </a:rPr>
              <a:t>beliebigen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65">
                <a:latin typeface="Arial"/>
                <a:cs typeface="Arial"/>
              </a:rPr>
              <a:t>Zeitpunkten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eintreten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57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dirty="0" sz="1800" spc="-75">
                <a:latin typeface="Arial"/>
                <a:cs typeface="Arial"/>
              </a:rPr>
              <a:t>Zeit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110">
                <a:latin typeface="Arial"/>
                <a:cs typeface="Arial"/>
              </a:rPr>
              <a:t>kann</a:t>
            </a:r>
            <a:r>
              <a:rPr dirty="0" sz="1800" spc="-70">
                <a:latin typeface="Arial"/>
                <a:cs typeface="Arial"/>
              </a:rPr>
              <a:t> um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65">
                <a:latin typeface="Arial"/>
                <a:cs typeface="Arial"/>
              </a:rPr>
              <a:t>beliebige</a:t>
            </a:r>
            <a:r>
              <a:rPr dirty="0" sz="1800" spc="-60">
                <a:latin typeface="Arial"/>
                <a:cs typeface="Arial"/>
              </a:rPr>
              <a:t> Werte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30">
                <a:latin typeface="Arial"/>
                <a:cs typeface="Arial"/>
              </a:rPr>
              <a:t>erhöht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werden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56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dirty="0" sz="1800" spc="-65">
                <a:latin typeface="Arial"/>
                <a:cs typeface="Arial"/>
              </a:rPr>
              <a:t>Wertebereich: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55">
                <a:latin typeface="Arial"/>
                <a:cs typeface="Arial"/>
              </a:rPr>
              <a:t>positive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reelle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65">
                <a:latin typeface="Arial"/>
                <a:cs typeface="Arial"/>
              </a:rPr>
              <a:t>Zahlen</a:t>
            </a:r>
            <a:r>
              <a:rPr dirty="0" sz="1800" spc="220">
                <a:latin typeface="Arial"/>
                <a:cs typeface="Arial"/>
              </a:rPr>
              <a:t> </a:t>
            </a:r>
            <a:r>
              <a:rPr dirty="0" sz="1800">
                <a:latin typeface="Wingdings 3"/>
                <a:cs typeface="Wingdings 3"/>
              </a:rPr>
              <a:t>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Arial"/>
                <a:cs typeface="Arial"/>
              </a:rPr>
              <a:t>unendlich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ts val="2595"/>
              </a:lnSpc>
            </a:pPr>
            <a:r>
              <a:rPr dirty="0" sz="2400" spc="-120" i="1">
                <a:solidFill>
                  <a:srgbClr val="4471C4"/>
                </a:solidFill>
                <a:latin typeface="Arial"/>
                <a:cs typeface="Arial"/>
              </a:rPr>
              <a:t>Wie</a:t>
            </a:r>
            <a:r>
              <a:rPr dirty="0" sz="2400" spc="-114" i="1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2400" spc="-140" i="1">
                <a:solidFill>
                  <a:srgbClr val="4471C4"/>
                </a:solidFill>
                <a:latin typeface="Arial"/>
                <a:cs typeface="Arial"/>
              </a:rPr>
              <a:t>können</a:t>
            </a:r>
            <a:r>
              <a:rPr dirty="0" sz="2400" spc="-125" i="1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2400" i="1">
                <a:solidFill>
                  <a:srgbClr val="4471C4"/>
                </a:solidFill>
                <a:latin typeface="Arial"/>
                <a:cs typeface="Arial"/>
              </a:rPr>
              <a:t>wir</a:t>
            </a:r>
            <a:r>
              <a:rPr dirty="0" sz="2400" spc="-114" i="1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2400" spc="-80" i="1">
                <a:solidFill>
                  <a:srgbClr val="4471C4"/>
                </a:solidFill>
                <a:latin typeface="Arial"/>
                <a:cs typeface="Arial"/>
              </a:rPr>
              <a:t>prüfen,</a:t>
            </a:r>
            <a:r>
              <a:rPr dirty="0" sz="2400" spc="-110" i="1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2400" spc="-114" i="1">
                <a:solidFill>
                  <a:srgbClr val="4471C4"/>
                </a:solidFill>
                <a:latin typeface="Arial"/>
                <a:cs typeface="Arial"/>
              </a:rPr>
              <a:t>ob </a:t>
            </a:r>
            <a:r>
              <a:rPr dirty="0" sz="2400" spc="-125" i="1">
                <a:solidFill>
                  <a:srgbClr val="4471C4"/>
                </a:solidFill>
                <a:latin typeface="Arial"/>
                <a:cs typeface="Arial"/>
              </a:rPr>
              <a:t>eine</a:t>
            </a:r>
            <a:r>
              <a:rPr dirty="0" sz="2400" spc="-120" i="1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2400" spc="-90" i="1">
                <a:solidFill>
                  <a:srgbClr val="4471C4"/>
                </a:solidFill>
                <a:latin typeface="Arial"/>
                <a:cs typeface="Arial"/>
              </a:rPr>
              <a:t>bestimmte</a:t>
            </a:r>
            <a:r>
              <a:rPr dirty="0" sz="2400" spc="-125" i="1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2400" spc="-20" i="1">
                <a:solidFill>
                  <a:srgbClr val="4471C4"/>
                </a:solidFill>
                <a:latin typeface="Arial"/>
                <a:cs typeface="Arial"/>
              </a:rPr>
              <a:t>Eigenschaft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595"/>
              </a:lnSpc>
            </a:pPr>
            <a:r>
              <a:rPr dirty="0" sz="2400" spc="-85" i="1">
                <a:solidFill>
                  <a:srgbClr val="4471C4"/>
                </a:solidFill>
                <a:latin typeface="Arial"/>
                <a:cs typeface="Arial"/>
              </a:rPr>
              <a:t>innerhalb </a:t>
            </a:r>
            <a:r>
              <a:rPr dirty="0" sz="2400" spc="-160" i="1">
                <a:solidFill>
                  <a:srgbClr val="4471C4"/>
                </a:solidFill>
                <a:latin typeface="Arial"/>
                <a:cs typeface="Arial"/>
              </a:rPr>
              <a:t>eines</a:t>
            </a:r>
            <a:r>
              <a:rPr dirty="0" sz="2400" spc="-85" i="1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2400" spc="-155" i="1">
                <a:solidFill>
                  <a:srgbClr val="4471C4"/>
                </a:solidFill>
                <a:latin typeface="Arial"/>
                <a:cs typeface="Arial"/>
              </a:rPr>
              <a:t>Timed</a:t>
            </a:r>
            <a:r>
              <a:rPr dirty="0" sz="2400" spc="-70" i="1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2400" spc="-80" i="1">
                <a:solidFill>
                  <a:srgbClr val="4471C4"/>
                </a:solidFill>
                <a:latin typeface="Arial"/>
                <a:cs typeface="Arial"/>
              </a:rPr>
              <a:t>Automaton</a:t>
            </a:r>
            <a:r>
              <a:rPr dirty="0" sz="2400" spc="-90" i="1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2400" spc="-10" i="1">
                <a:solidFill>
                  <a:srgbClr val="4471C4"/>
                </a:solidFill>
                <a:latin typeface="Arial"/>
                <a:cs typeface="Arial"/>
              </a:rPr>
              <a:t>gilt?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45"/>
              <a:t>Analyse</a:t>
            </a:r>
            <a:r>
              <a:rPr dirty="0" spc="-210"/>
              <a:t> </a:t>
            </a:r>
            <a:r>
              <a:rPr dirty="0" spc="-180"/>
              <a:t>von </a:t>
            </a:r>
            <a:r>
              <a:rPr dirty="0" spc="-210"/>
              <a:t>Timed</a:t>
            </a:r>
            <a:r>
              <a:rPr dirty="0" spc="-190"/>
              <a:t> </a:t>
            </a:r>
            <a:r>
              <a:rPr dirty="0" spc="-110"/>
              <a:t>Automata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81125"/>
            <a:ext cx="7011034" cy="721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40"/>
              </a:lnSpc>
              <a:spcBef>
                <a:spcPts val="100"/>
              </a:spcBef>
            </a:pPr>
            <a:r>
              <a:rPr dirty="0" sz="2400" spc="-254">
                <a:latin typeface="Arial"/>
                <a:cs typeface="Arial"/>
              </a:rPr>
              <a:t>Das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35">
                <a:latin typeface="Arial"/>
                <a:cs typeface="Arial"/>
              </a:rPr>
              <a:t>Transitionssystem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40">
                <a:latin typeface="Arial"/>
                <a:cs typeface="Arial"/>
              </a:rPr>
              <a:t>eines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125">
                <a:latin typeface="Arial"/>
                <a:cs typeface="Arial"/>
              </a:rPr>
              <a:t>Timed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Automaton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60">
                <a:latin typeface="Arial"/>
                <a:cs typeface="Arial"/>
              </a:rPr>
              <a:t>hat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einen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40"/>
              </a:lnSpc>
            </a:pPr>
            <a:r>
              <a:rPr dirty="0" sz="2400" spc="-90">
                <a:latin typeface="Arial"/>
                <a:cs typeface="Arial"/>
              </a:rPr>
              <a:t>unendlichen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55">
                <a:latin typeface="Arial"/>
                <a:cs typeface="Arial"/>
              </a:rPr>
              <a:t>Zustandsraum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4617" y="3895420"/>
            <a:ext cx="28702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Wingdings 3"/>
                <a:cs typeface="Wingdings 3"/>
              </a:rPr>
              <a:t></a:t>
            </a:r>
            <a:endParaRPr sz="2400">
              <a:latin typeface="Wingdings 3"/>
              <a:cs typeface="Wingdings 3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542" y="5723635"/>
            <a:ext cx="766000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10" i="1">
                <a:solidFill>
                  <a:srgbClr val="4471C4"/>
                </a:solidFill>
                <a:latin typeface="Arial"/>
                <a:cs typeface="Arial"/>
              </a:rPr>
              <a:t>Wie</a:t>
            </a:r>
            <a:r>
              <a:rPr dirty="0" sz="2200" spc="-90" i="1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4471C4"/>
                </a:solidFill>
                <a:latin typeface="Arial"/>
                <a:cs typeface="Arial"/>
              </a:rPr>
              <a:t>prüft</a:t>
            </a:r>
            <a:r>
              <a:rPr dirty="0" sz="2200" spc="-85" i="1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2200" spc="-110" i="1">
                <a:solidFill>
                  <a:srgbClr val="4471C4"/>
                </a:solidFill>
                <a:latin typeface="Arial"/>
                <a:cs typeface="Arial"/>
              </a:rPr>
              <a:t>man</a:t>
            </a:r>
            <a:r>
              <a:rPr dirty="0" sz="2200" spc="-90" i="1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2200" spc="-170" i="1">
                <a:solidFill>
                  <a:srgbClr val="4471C4"/>
                </a:solidFill>
                <a:latin typeface="Arial"/>
                <a:cs typeface="Arial"/>
              </a:rPr>
              <a:t>z.B.</a:t>
            </a:r>
            <a:r>
              <a:rPr dirty="0" sz="2200" spc="-85" i="1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2200" spc="-125" i="1">
                <a:solidFill>
                  <a:srgbClr val="4471C4"/>
                </a:solidFill>
                <a:latin typeface="Arial"/>
                <a:cs typeface="Arial"/>
              </a:rPr>
              <a:t>Eigenschaften</a:t>
            </a:r>
            <a:r>
              <a:rPr dirty="0" sz="2200" spc="-90" i="1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2200" spc="-105" i="1">
                <a:solidFill>
                  <a:srgbClr val="4471C4"/>
                </a:solidFill>
                <a:latin typeface="Arial"/>
                <a:cs typeface="Arial"/>
              </a:rPr>
              <a:t>der</a:t>
            </a:r>
            <a:r>
              <a:rPr dirty="0" sz="2200" spc="-90" i="1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2200" spc="-150" i="1">
                <a:solidFill>
                  <a:srgbClr val="4471C4"/>
                </a:solidFill>
                <a:latin typeface="Arial"/>
                <a:cs typeface="Arial"/>
              </a:rPr>
              <a:t>Form</a:t>
            </a:r>
            <a:r>
              <a:rPr dirty="0" sz="2200" spc="-90" i="1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4471C4"/>
                </a:solidFill>
                <a:latin typeface="Arial"/>
                <a:cs typeface="Arial"/>
              </a:rPr>
              <a:t>„auf</a:t>
            </a:r>
            <a:r>
              <a:rPr dirty="0" sz="2200" spc="-90" i="1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2200" spc="-70" i="1">
                <a:solidFill>
                  <a:srgbClr val="4471C4"/>
                </a:solidFill>
                <a:latin typeface="Arial"/>
                <a:cs typeface="Arial"/>
              </a:rPr>
              <a:t>allen</a:t>
            </a:r>
            <a:r>
              <a:rPr dirty="0" sz="2200" spc="-95" i="1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2200" spc="-145" i="1">
                <a:solidFill>
                  <a:srgbClr val="4471C4"/>
                </a:solidFill>
                <a:latin typeface="Arial"/>
                <a:cs typeface="Arial"/>
              </a:rPr>
              <a:t>Pfaden</a:t>
            </a:r>
            <a:r>
              <a:rPr dirty="0" sz="2200" spc="-85" i="1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2200" spc="-10" i="1">
                <a:solidFill>
                  <a:srgbClr val="4471C4"/>
                </a:solidFill>
                <a:latin typeface="Arial"/>
                <a:cs typeface="Arial"/>
              </a:rPr>
              <a:t>gilt..“?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72005" y="2458973"/>
            <a:ext cx="576580" cy="576580"/>
          </a:xfrm>
          <a:custGeom>
            <a:avLst/>
            <a:gdLst/>
            <a:ahLst/>
            <a:cxnLst/>
            <a:rect l="l" t="t" r="r" b="b"/>
            <a:pathLst>
              <a:path w="576580" h="576580">
                <a:moveTo>
                  <a:pt x="0" y="288036"/>
                </a:moveTo>
                <a:lnTo>
                  <a:pt x="3768" y="241302"/>
                </a:lnTo>
                <a:lnTo>
                  <a:pt x="14679" y="196973"/>
                </a:lnTo>
                <a:lnTo>
                  <a:pt x="32140" y="155643"/>
                </a:lnTo>
                <a:lnTo>
                  <a:pt x="55558" y="117902"/>
                </a:lnTo>
                <a:lnTo>
                  <a:pt x="84343" y="84343"/>
                </a:lnTo>
                <a:lnTo>
                  <a:pt x="117902" y="55558"/>
                </a:lnTo>
                <a:lnTo>
                  <a:pt x="155643" y="32140"/>
                </a:lnTo>
                <a:lnTo>
                  <a:pt x="196973" y="14679"/>
                </a:lnTo>
                <a:lnTo>
                  <a:pt x="241302" y="3768"/>
                </a:lnTo>
                <a:lnTo>
                  <a:pt x="288036" y="0"/>
                </a:lnTo>
                <a:lnTo>
                  <a:pt x="334769" y="3768"/>
                </a:lnTo>
                <a:lnTo>
                  <a:pt x="379098" y="14679"/>
                </a:lnTo>
                <a:lnTo>
                  <a:pt x="420428" y="32140"/>
                </a:lnTo>
                <a:lnTo>
                  <a:pt x="458169" y="55558"/>
                </a:lnTo>
                <a:lnTo>
                  <a:pt x="491728" y="84343"/>
                </a:lnTo>
                <a:lnTo>
                  <a:pt x="520513" y="117902"/>
                </a:lnTo>
                <a:lnTo>
                  <a:pt x="543931" y="155643"/>
                </a:lnTo>
                <a:lnTo>
                  <a:pt x="561392" y="196973"/>
                </a:lnTo>
                <a:lnTo>
                  <a:pt x="572303" y="241302"/>
                </a:lnTo>
                <a:lnTo>
                  <a:pt x="576072" y="288036"/>
                </a:lnTo>
                <a:lnTo>
                  <a:pt x="572303" y="334769"/>
                </a:lnTo>
                <a:lnTo>
                  <a:pt x="561392" y="379098"/>
                </a:lnTo>
                <a:lnTo>
                  <a:pt x="543931" y="420428"/>
                </a:lnTo>
                <a:lnTo>
                  <a:pt x="520513" y="458169"/>
                </a:lnTo>
                <a:lnTo>
                  <a:pt x="491728" y="491728"/>
                </a:lnTo>
                <a:lnTo>
                  <a:pt x="458169" y="520513"/>
                </a:lnTo>
                <a:lnTo>
                  <a:pt x="420428" y="543931"/>
                </a:lnTo>
                <a:lnTo>
                  <a:pt x="379098" y="561392"/>
                </a:lnTo>
                <a:lnTo>
                  <a:pt x="334769" y="572303"/>
                </a:lnTo>
                <a:lnTo>
                  <a:pt x="288036" y="576072"/>
                </a:lnTo>
                <a:lnTo>
                  <a:pt x="241302" y="572303"/>
                </a:lnTo>
                <a:lnTo>
                  <a:pt x="196973" y="561392"/>
                </a:lnTo>
                <a:lnTo>
                  <a:pt x="155643" y="543931"/>
                </a:lnTo>
                <a:lnTo>
                  <a:pt x="117902" y="520513"/>
                </a:lnTo>
                <a:lnTo>
                  <a:pt x="84343" y="491728"/>
                </a:lnTo>
                <a:lnTo>
                  <a:pt x="55558" y="458169"/>
                </a:lnTo>
                <a:lnTo>
                  <a:pt x="32140" y="420428"/>
                </a:lnTo>
                <a:lnTo>
                  <a:pt x="14679" y="379098"/>
                </a:lnTo>
                <a:lnTo>
                  <a:pt x="3768" y="334769"/>
                </a:lnTo>
                <a:lnTo>
                  <a:pt x="0" y="288036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728216" y="2595117"/>
            <a:ext cx="2622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Tahoma"/>
                <a:cs typeface="Tahoma"/>
              </a:rPr>
              <a:t>s</a:t>
            </a:r>
            <a:r>
              <a:rPr dirty="0" baseline="-20833" sz="1800" spc="-37">
                <a:latin typeface="Tahoma"/>
                <a:cs typeface="Tahoma"/>
              </a:rPr>
              <a:t>1</a:t>
            </a:r>
            <a:endParaRPr baseline="-20833" sz="18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33038" y="2458973"/>
            <a:ext cx="576580" cy="576580"/>
          </a:xfrm>
          <a:custGeom>
            <a:avLst/>
            <a:gdLst/>
            <a:ahLst/>
            <a:cxnLst/>
            <a:rect l="l" t="t" r="r" b="b"/>
            <a:pathLst>
              <a:path w="576579" h="576580">
                <a:moveTo>
                  <a:pt x="0" y="288036"/>
                </a:moveTo>
                <a:lnTo>
                  <a:pt x="3768" y="241302"/>
                </a:lnTo>
                <a:lnTo>
                  <a:pt x="14679" y="196973"/>
                </a:lnTo>
                <a:lnTo>
                  <a:pt x="32140" y="155643"/>
                </a:lnTo>
                <a:lnTo>
                  <a:pt x="55558" y="117902"/>
                </a:lnTo>
                <a:lnTo>
                  <a:pt x="84343" y="84343"/>
                </a:lnTo>
                <a:lnTo>
                  <a:pt x="117902" y="55558"/>
                </a:lnTo>
                <a:lnTo>
                  <a:pt x="155643" y="32140"/>
                </a:lnTo>
                <a:lnTo>
                  <a:pt x="196973" y="14679"/>
                </a:lnTo>
                <a:lnTo>
                  <a:pt x="241302" y="3768"/>
                </a:lnTo>
                <a:lnTo>
                  <a:pt x="288036" y="0"/>
                </a:lnTo>
                <a:lnTo>
                  <a:pt x="334769" y="3768"/>
                </a:lnTo>
                <a:lnTo>
                  <a:pt x="379098" y="14679"/>
                </a:lnTo>
                <a:lnTo>
                  <a:pt x="420428" y="32140"/>
                </a:lnTo>
                <a:lnTo>
                  <a:pt x="458169" y="55558"/>
                </a:lnTo>
                <a:lnTo>
                  <a:pt x="491728" y="84343"/>
                </a:lnTo>
                <a:lnTo>
                  <a:pt x="520513" y="117902"/>
                </a:lnTo>
                <a:lnTo>
                  <a:pt x="543931" y="155643"/>
                </a:lnTo>
                <a:lnTo>
                  <a:pt x="561392" y="196973"/>
                </a:lnTo>
                <a:lnTo>
                  <a:pt x="572303" y="241302"/>
                </a:lnTo>
                <a:lnTo>
                  <a:pt x="576072" y="288036"/>
                </a:lnTo>
                <a:lnTo>
                  <a:pt x="572303" y="334769"/>
                </a:lnTo>
                <a:lnTo>
                  <a:pt x="561392" y="379098"/>
                </a:lnTo>
                <a:lnTo>
                  <a:pt x="543931" y="420428"/>
                </a:lnTo>
                <a:lnTo>
                  <a:pt x="520513" y="458169"/>
                </a:lnTo>
                <a:lnTo>
                  <a:pt x="491728" y="491728"/>
                </a:lnTo>
                <a:lnTo>
                  <a:pt x="458169" y="520513"/>
                </a:lnTo>
                <a:lnTo>
                  <a:pt x="420428" y="543931"/>
                </a:lnTo>
                <a:lnTo>
                  <a:pt x="379098" y="561392"/>
                </a:lnTo>
                <a:lnTo>
                  <a:pt x="334769" y="572303"/>
                </a:lnTo>
                <a:lnTo>
                  <a:pt x="288036" y="576072"/>
                </a:lnTo>
                <a:lnTo>
                  <a:pt x="241302" y="572303"/>
                </a:lnTo>
                <a:lnTo>
                  <a:pt x="196973" y="561392"/>
                </a:lnTo>
                <a:lnTo>
                  <a:pt x="155643" y="543931"/>
                </a:lnTo>
                <a:lnTo>
                  <a:pt x="117902" y="520513"/>
                </a:lnTo>
                <a:lnTo>
                  <a:pt x="84343" y="491728"/>
                </a:lnTo>
                <a:lnTo>
                  <a:pt x="55558" y="458169"/>
                </a:lnTo>
                <a:lnTo>
                  <a:pt x="32140" y="420428"/>
                </a:lnTo>
                <a:lnTo>
                  <a:pt x="14679" y="379098"/>
                </a:lnTo>
                <a:lnTo>
                  <a:pt x="3768" y="334769"/>
                </a:lnTo>
                <a:lnTo>
                  <a:pt x="0" y="288036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889247" y="2595117"/>
            <a:ext cx="2616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Tahoma"/>
                <a:cs typeface="Tahoma"/>
              </a:rPr>
              <a:t>s</a:t>
            </a:r>
            <a:r>
              <a:rPr dirty="0" baseline="-20833" sz="1800" spc="-37">
                <a:latin typeface="Tahoma"/>
                <a:cs typeface="Tahoma"/>
              </a:rPr>
              <a:t>2</a:t>
            </a:r>
            <a:endParaRPr baseline="-20833"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73223" y="2480259"/>
            <a:ext cx="4476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ahoma"/>
                <a:cs typeface="Tahoma"/>
              </a:rPr>
              <a:t>x</a:t>
            </a:r>
            <a:r>
              <a:rPr dirty="0" sz="1600" spc="-10">
                <a:latin typeface="Tahoma"/>
                <a:cs typeface="Tahoma"/>
              </a:rPr>
              <a:t> </a:t>
            </a:r>
            <a:r>
              <a:rPr dirty="0" sz="1600" spc="-95">
                <a:latin typeface="Arial"/>
                <a:cs typeface="Arial"/>
              </a:rPr>
              <a:t>≥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60">
                <a:latin typeface="Tahoma"/>
                <a:cs typeface="Tahoma"/>
              </a:rPr>
              <a:t>1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48077" y="2686557"/>
            <a:ext cx="1584325" cy="118110"/>
          </a:xfrm>
          <a:custGeom>
            <a:avLst/>
            <a:gdLst/>
            <a:ahLst/>
            <a:cxnLst/>
            <a:rect l="l" t="t" r="r" b="b"/>
            <a:pathLst>
              <a:path w="1584325" h="118110">
                <a:moveTo>
                  <a:pt x="1534105" y="58927"/>
                </a:moveTo>
                <a:lnTo>
                  <a:pt x="1476629" y="92455"/>
                </a:lnTo>
                <a:lnTo>
                  <a:pt x="1470533" y="95884"/>
                </a:lnTo>
                <a:lnTo>
                  <a:pt x="1468501" y="103758"/>
                </a:lnTo>
                <a:lnTo>
                  <a:pt x="1472057" y="109727"/>
                </a:lnTo>
                <a:lnTo>
                  <a:pt x="1475486" y="115823"/>
                </a:lnTo>
                <a:lnTo>
                  <a:pt x="1483360" y="117855"/>
                </a:lnTo>
                <a:lnTo>
                  <a:pt x="1489329" y="114299"/>
                </a:lnTo>
                <a:lnTo>
                  <a:pt x="1562536" y="71627"/>
                </a:lnTo>
                <a:lnTo>
                  <a:pt x="1559179" y="71627"/>
                </a:lnTo>
                <a:lnTo>
                  <a:pt x="1559179" y="69849"/>
                </a:lnTo>
                <a:lnTo>
                  <a:pt x="1552829" y="69849"/>
                </a:lnTo>
                <a:lnTo>
                  <a:pt x="1534105" y="58927"/>
                </a:lnTo>
                <a:close/>
              </a:path>
              <a:path w="1584325" h="118110">
                <a:moveTo>
                  <a:pt x="1512334" y="46227"/>
                </a:moveTo>
                <a:lnTo>
                  <a:pt x="0" y="46227"/>
                </a:lnTo>
                <a:lnTo>
                  <a:pt x="0" y="71627"/>
                </a:lnTo>
                <a:lnTo>
                  <a:pt x="1512334" y="71627"/>
                </a:lnTo>
                <a:lnTo>
                  <a:pt x="1534105" y="58927"/>
                </a:lnTo>
                <a:lnTo>
                  <a:pt x="1512334" y="46227"/>
                </a:lnTo>
                <a:close/>
              </a:path>
              <a:path w="1584325" h="118110">
                <a:moveTo>
                  <a:pt x="1562536" y="46227"/>
                </a:moveTo>
                <a:lnTo>
                  <a:pt x="1559179" y="46227"/>
                </a:lnTo>
                <a:lnTo>
                  <a:pt x="1559179" y="71627"/>
                </a:lnTo>
                <a:lnTo>
                  <a:pt x="1562536" y="71627"/>
                </a:lnTo>
                <a:lnTo>
                  <a:pt x="1584325" y="58927"/>
                </a:lnTo>
                <a:lnTo>
                  <a:pt x="1562536" y="46227"/>
                </a:lnTo>
                <a:close/>
              </a:path>
              <a:path w="1584325" h="118110">
                <a:moveTo>
                  <a:pt x="1552829" y="48005"/>
                </a:moveTo>
                <a:lnTo>
                  <a:pt x="1534105" y="58927"/>
                </a:lnTo>
                <a:lnTo>
                  <a:pt x="1552829" y="69849"/>
                </a:lnTo>
                <a:lnTo>
                  <a:pt x="1552829" y="48005"/>
                </a:lnTo>
                <a:close/>
              </a:path>
              <a:path w="1584325" h="118110">
                <a:moveTo>
                  <a:pt x="1559179" y="48005"/>
                </a:moveTo>
                <a:lnTo>
                  <a:pt x="1552829" y="48005"/>
                </a:lnTo>
                <a:lnTo>
                  <a:pt x="1552829" y="69849"/>
                </a:lnTo>
                <a:lnTo>
                  <a:pt x="1559179" y="69849"/>
                </a:lnTo>
                <a:lnTo>
                  <a:pt x="1559179" y="48005"/>
                </a:lnTo>
                <a:close/>
              </a:path>
              <a:path w="1584325" h="118110">
                <a:moveTo>
                  <a:pt x="1483360" y="0"/>
                </a:moveTo>
                <a:lnTo>
                  <a:pt x="1475486" y="2031"/>
                </a:lnTo>
                <a:lnTo>
                  <a:pt x="1472057" y="8127"/>
                </a:lnTo>
                <a:lnTo>
                  <a:pt x="1468501" y="14096"/>
                </a:lnTo>
                <a:lnTo>
                  <a:pt x="1470533" y="21970"/>
                </a:lnTo>
                <a:lnTo>
                  <a:pt x="1476629" y="25399"/>
                </a:lnTo>
                <a:lnTo>
                  <a:pt x="1534105" y="58927"/>
                </a:lnTo>
                <a:lnTo>
                  <a:pt x="1552829" y="48005"/>
                </a:lnTo>
                <a:lnTo>
                  <a:pt x="1559179" y="48005"/>
                </a:lnTo>
                <a:lnTo>
                  <a:pt x="1559179" y="46227"/>
                </a:lnTo>
                <a:lnTo>
                  <a:pt x="1562536" y="46227"/>
                </a:lnTo>
                <a:lnTo>
                  <a:pt x="1489329" y="3555"/>
                </a:lnTo>
                <a:lnTo>
                  <a:pt x="14833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071877" y="3654425"/>
            <a:ext cx="865505" cy="666115"/>
          </a:xfrm>
          <a:custGeom>
            <a:avLst/>
            <a:gdLst/>
            <a:ahLst/>
            <a:cxnLst/>
            <a:rect l="l" t="t" r="r" b="b"/>
            <a:pathLst>
              <a:path w="865505" h="666114">
                <a:moveTo>
                  <a:pt x="51816" y="554355"/>
                </a:moveTo>
                <a:lnTo>
                  <a:pt x="44450" y="557530"/>
                </a:lnTo>
                <a:lnTo>
                  <a:pt x="0" y="665734"/>
                </a:lnTo>
                <a:lnTo>
                  <a:pt x="41414" y="660527"/>
                </a:lnTo>
                <a:lnTo>
                  <a:pt x="27686" y="660527"/>
                </a:lnTo>
                <a:lnTo>
                  <a:pt x="12319" y="640334"/>
                </a:lnTo>
                <a:lnTo>
                  <a:pt x="49582" y="611832"/>
                </a:lnTo>
                <a:lnTo>
                  <a:pt x="67945" y="567182"/>
                </a:lnTo>
                <a:lnTo>
                  <a:pt x="64770" y="559689"/>
                </a:lnTo>
                <a:lnTo>
                  <a:pt x="51816" y="554355"/>
                </a:lnTo>
                <a:close/>
              </a:path>
              <a:path w="865505" h="666114">
                <a:moveTo>
                  <a:pt x="49582" y="611832"/>
                </a:moveTo>
                <a:lnTo>
                  <a:pt x="12319" y="640334"/>
                </a:lnTo>
                <a:lnTo>
                  <a:pt x="27686" y="660527"/>
                </a:lnTo>
                <a:lnTo>
                  <a:pt x="34659" y="655193"/>
                </a:lnTo>
                <a:lnTo>
                  <a:pt x="31750" y="655193"/>
                </a:lnTo>
                <a:lnTo>
                  <a:pt x="18415" y="637794"/>
                </a:lnTo>
                <a:lnTo>
                  <a:pt x="40027" y="635064"/>
                </a:lnTo>
                <a:lnTo>
                  <a:pt x="49582" y="611832"/>
                </a:lnTo>
                <a:close/>
              </a:path>
              <a:path w="865505" h="666114">
                <a:moveTo>
                  <a:pt x="112903" y="625983"/>
                </a:moveTo>
                <a:lnTo>
                  <a:pt x="105918" y="626745"/>
                </a:lnTo>
                <a:lnTo>
                  <a:pt x="65115" y="631897"/>
                </a:lnTo>
                <a:lnTo>
                  <a:pt x="27686" y="660527"/>
                </a:lnTo>
                <a:lnTo>
                  <a:pt x="41414" y="660527"/>
                </a:lnTo>
                <a:lnTo>
                  <a:pt x="116078" y="651129"/>
                </a:lnTo>
                <a:lnTo>
                  <a:pt x="121031" y="644779"/>
                </a:lnTo>
                <a:lnTo>
                  <a:pt x="119253" y="630809"/>
                </a:lnTo>
                <a:lnTo>
                  <a:pt x="112903" y="625983"/>
                </a:lnTo>
                <a:close/>
              </a:path>
              <a:path w="865505" h="666114">
                <a:moveTo>
                  <a:pt x="40027" y="635064"/>
                </a:moveTo>
                <a:lnTo>
                  <a:pt x="18415" y="637794"/>
                </a:lnTo>
                <a:lnTo>
                  <a:pt x="31750" y="655193"/>
                </a:lnTo>
                <a:lnTo>
                  <a:pt x="40027" y="635064"/>
                </a:lnTo>
                <a:close/>
              </a:path>
              <a:path w="865505" h="666114">
                <a:moveTo>
                  <a:pt x="65115" y="631897"/>
                </a:moveTo>
                <a:lnTo>
                  <a:pt x="40027" y="635064"/>
                </a:lnTo>
                <a:lnTo>
                  <a:pt x="31750" y="655193"/>
                </a:lnTo>
                <a:lnTo>
                  <a:pt x="34659" y="655193"/>
                </a:lnTo>
                <a:lnTo>
                  <a:pt x="65115" y="631897"/>
                </a:lnTo>
                <a:close/>
              </a:path>
              <a:path w="865505" h="666114">
                <a:moveTo>
                  <a:pt x="849503" y="0"/>
                </a:moveTo>
                <a:lnTo>
                  <a:pt x="49582" y="611832"/>
                </a:lnTo>
                <a:lnTo>
                  <a:pt x="40027" y="635064"/>
                </a:lnTo>
                <a:lnTo>
                  <a:pt x="65115" y="631897"/>
                </a:lnTo>
                <a:lnTo>
                  <a:pt x="864997" y="20066"/>
                </a:lnTo>
                <a:lnTo>
                  <a:pt x="849503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293747" y="3433317"/>
            <a:ext cx="43878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4536A"/>
                </a:solidFill>
                <a:latin typeface="Tahoma"/>
                <a:cs typeface="Tahoma"/>
              </a:rPr>
              <a:t>x</a:t>
            </a:r>
            <a:r>
              <a:rPr dirty="0" sz="1600" spc="-10">
                <a:solidFill>
                  <a:srgbClr val="44536A"/>
                </a:solidFill>
                <a:latin typeface="Tahoma"/>
                <a:cs typeface="Tahoma"/>
              </a:rPr>
              <a:t> </a:t>
            </a:r>
            <a:r>
              <a:rPr dirty="0" sz="1600" spc="-150">
                <a:solidFill>
                  <a:srgbClr val="44536A"/>
                </a:solidFill>
                <a:latin typeface="Arial"/>
                <a:cs typeface="Arial"/>
              </a:rPr>
              <a:t>=</a:t>
            </a:r>
            <a:r>
              <a:rPr dirty="0" sz="1600" spc="-80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z="1600" spc="-50">
                <a:solidFill>
                  <a:srgbClr val="44536A"/>
                </a:solidFill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46070" y="3172205"/>
            <a:ext cx="576580" cy="577850"/>
          </a:xfrm>
          <a:custGeom>
            <a:avLst/>
            <a:gdLst/>
            <a:ahLst/>
            <a:cxnLst/>
            <a:rect l="l" t="t" r="r" b="b"/>
            <a:pathLst>
              <a:path w="576579" h="577850">
                <a:moveTo>
                  <a:pt x="0" y="288798"/>
                </a:moveTo>
                <a:lnTo>
                  <a:pt x="3768" y="241950"/>
                </a:lnTo>
                <a:lnTo>
                  <a:pt x="14679" y="197510"/>
                </a:lnTo>
                <a:lnTo>
                  <a:pt x="32140" y="156072"/>
                </a:lnTo>
                <a:lnTo>
                  <a:pt x="55558" y="118231"/>
                </a:lnTo>
                <a:lnTo>
                  <a:pt x="84343" y="84582"/>
                </a:lnTo>
                <a:lnTo>
                  <a:pt x="117902" y="55717"/>
                </a:lnTo>
                <a:lnTo>
                  <a:pt x="155643" y="32232"/>
                </a:lnTo>
                <a:lnTo>
                  <a:pt x="196973" y="14721"/>
                </a:lnTo>
                <a:lnTo>
                  <a:pt x="241302" y="3779"/>
                </a:lnTo>
                <a:lnTo>
                  <a:pt x="288036" y="0"/>
                </a:lnTo>
                <a:lnTo>
                  <a:pt x="334769" y="3779"/>
                </a:lnTo>
                <a:lnTo>
                  <a:pt x="379098" y="14721"/>
                </a:lnTo>
                <a:lnTo>
                  <a:pt x="420428" y="32232"/>
                </a:lnTo>
                <a:lnTo>
                  <a:pt x="458169" y="55717"/>
                </a:lnTo>
                <a:lnTo>
                  <a:pt x="491728" y="84582"/>
                </a:lnTo>
                <a:lnTo>
                  <a:pt x="520513" y="118231"/>
                </a:lnTo>
                <a:lnTo>
                  <a:pt x="543931" y="156072"/>
                </a:lnTo>
                <a:lnTo>
                  <a:pt x="561392" y="197510"/>
                </a:lnTo>
                <a:lnTo>
                  <a:pt x="572303" y="241950"/>
                </a:lnTo>
                <a:lnTo>
                  <a:pt x="576072" y="288798"/>
                </a:lnTo>
                <a:lnTo>
                  <a:pt x="572303" y="335645"/>
                </a:lnTo>
                <a:lnTo>
                  <a:pt x="561392" y="380085"/>
                </a:lnTo>
                <a:lnTo>
                  <a:pt x="543931" y="421523"/>
                </a:lnTo>
                <a:lnTo>
                  <a:pt x="520513" y="459364"/>
                </a:lnTo>
                <a:lnTo>
                  <a:pt x="491728" y="493014"/>
                </a:lnTo>
                <a:lnTo>
                  <a:pt x="458169" y="521878"/>
                </a:lnTo>
                <a:lnTo>
                  <a:pt x="420428" y="545363"/>
                </a:lnTo>
                <a:lnTo>
                  <a:pt x="379098" y="562874"/>
                </a:lnTo>
                <a:lnTo>
                  <a:pt x="334769" y="573816"/>
                </a:lnTo>
                <a:lnTo>
                  <a:pt x="288036" y="577596"/>
                </a:lnTo>
                <a:lnTo>
                  <a:pt x="241302" y="573816"/>
                </a:lnTo>
                <a:lnTo>
                  <a:pt x="196973" y="562874"/>
                </a:lnTo>
                <a:lnTo>
                  <a:pt x="155643" y="545363"/>
                </a:lnTo>
                <a:lnTo>
                  <a:pt x="117902" y="521878"/>
                </a:lnTo>
                <a:lnTo>
                  <a:pt x="84343" y="493014"/>
                </a:lnTo>
                <a:lnTo>
                  <a:pt x="55558" y="459364"/>
                </a:lnTo>
                <a:lnTo>
                  <a:pt x="32140" y="421523"/>
                </a:lnTo>
                <a:lnTo>
                  <a:pt x="14679" y="380085"/>
                </a:lnTo>
                <a:lnTo>
                  <a:pt x="3768" y="335645"/>
                </a:lnTo>
                <a:lnTo>
                  <a:pt x="0" y="288798"/>
                </a:lnTo>
                <a:close/>
              </a:path>
            </a:pathLst>
          </a:custGeom>
          <a:ln w="2540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001645" y="3309620"/>
            <a:ext cx="2616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44536A"/>
                </a:solidFill>
                <a:latin typeface="Tahoma"/>
                <a:cs typeface="Tahoma"/>
              </a:rPr>
              <a:t>s</a:t>
            </a:r>
            <a:r>
              <a:rPr dirty="0" baseline="-20833" sz="1800" spc="-37">
                <a:solidFill>
                  <a:srgbClr val="44536A"/>
                </a:solidFill>
                <a:latin typeface="Tahoma"/>
                <a:cs typeface="Tahoma"/>
              </a:rPr>
              <a:t>1</a:t>
            </a:r>
            <a:endParaRPr baseline="-20833" sz="18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72005" y="4245102"/>
            <a:ext cx="576580" cy="576580"/>
          </a:xfrm>
          <a:custGeom>
            <a:avLst/>
            <a:gdLst/>
            <a:ahLst/>
            <a:cxnLst/>
            <a:rect l="l" t="t" r="r" b="b"/>
            <a:pathLst>
              <a:path w="576580" h="576579">
                <a:moveTo>
                  <a:pt x="0" y="288036"/>
                </a:moveTo>
                <a:lnTo>
                  <a:pt x="3768" y="241302"/>
                </a:lnTo>
                <a:lnTo>
                  <a:pt x="14679" y="196973"/>
                </a:lnTo>
                <a:lnTo>
                  <a:pt x="32140" y="155643"/>
                </a:lnTo>
                <a:lnTo>
                  <a:pt x="55558" y="117902"/>
                </a:lnTo>
                <a:lnTo>
                  <a:pt x="84343" y="84343"/>
                </a:lnTo>
                <a:lnTo>
                  <a:pt x="117902" y="55558"/>
                </a:lnTo>
                <a:lnTo>
                  <a:pt x="155643" y="32140"/>
                </a:lnTo>
                <a:lnTo>
                  <a:pt x="196973" y="14679"/>
                </a:lnTo>
                <a:lnTo>
                  <a:pt x="241302" y="3768"/>
                </a:lnTo>
                <a:lnTo>
                  <a:pt x="288036" y="0"/>
                </a:lnTo>
                <a:lnTo>
                  <a:pt x="334769" y="3768"/>
                </a:lnTo>
                <a:lnTo>
                  <a:pt x="379098" y="14679"/>
                </a:lnTo>
                <a:lnTo>
                  <a:pt x="420428" y="32140"/>
                </a:lnTo>
                <a:lnTo>
                  <a:pt x="458169" y="55558"/>
                </a:lnTo>
                <a:lnTo>
                  <a:pt x="491728" y="84343"/>
                </a:lnTo>
                <a:lnTo>
                  <a:pt x="520513" y="117902"/>
                </a:lnTo>
                <a:lnTo>
                  <a:pt x="543931" y="155643"/>
                </a:lnTo>
                <a:lnTo>
                  <a:pt x="561392" y="196973"/>
                </a:lnTo>
                <a:lnTo>
                  <a:pt x="572303" y="241302"/>
                </a:lnTo>
                <a:lnTo>
                  <a:pt x="576072" y="288036"/>
                </a:lnTo>
                <a:lnTo>
                  <a:pt x="572303" y="334769"/>
                </a:lnTo>
                <a:lnTo>
                  <a:pt x="561392" y="379098"/>
                </a:lnTo>
                <a:lnTo>
                  <a:pt x="543931" y="420428"/>
                </a:lnTo>
                <a:lnTo>
                  <a:pt x="520513" y="458169"/>
                </a:lnTo>
                <a:lnTo>
                  <a:pt x="491728" y="491728"/>
                </a:lnTo>
                <a:lnTo>
                  <a:pt x="458169" y="520513"/>
                </a:lnTo>
                <a:lnTo>
                  <a:pt x="420428" y="543931"/>
                </a:lnTo>
                <a:lnTo>
                  <a:pt x="379098" y="561392"/>
                </a:lnTo>
                <a:lnTo>
                  <a:pt x="334769" y="572303"/>
                </a:lnTo>
                <a:lnTo>
                  <a:pt x="288036" y="576072"/>
                </a:lnTo>
                <a:lnTo>
                  <a:pt x="241302" y="572303"/>
                </a:lnTo>
                <a:lnTo>
                  <a:pt x="196973" y="561392"/>
                </a:lnTo>
                <a:lnTo>
                  <a:pt x="155643" y="543931"/>
                </a:lnTo>
                <a:lnTo>
                  <a:pt x="117902" y="520513"/>
                </a:lnTo>
                <a:lnTo>
                  <a:pt x="84343" y="491728"/>
                </a:lnTo>
                <a:lnTo>
                  <a:pt x="55558" y="458169"/>
                </a:lnTo>
                <a:lnTo>
                  <a:pt x="32140" y="420428"/>
                </a:lnTo>
                <a:lnTo>
                  <a:pt x="14679" y="379098"/>
                </a:lnTo>
                <a:lnTo>
                  <a:pt x="3768" y="334769"/>
                </a:lnTo>
                <a:lnTo>
                  <a:pt x="0" y="288036"/>
                </a:lnTo>
                <a:close/>
              </a:path>
            </a:pathLst>
          </a:custGeom>
          <a:ln w="2540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566544" y="4381627"/>
            <a:ext cx="464184" cy="749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939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44536A"/>
                </a:solidFill>
                <a:latin typeface="Tahoma"/>
                <a:cs typeface="Tahoma"/>
              </a:rPr>
              <a:t>s</a:t>
            </a:r>
            <a:r>
              <a:rPr dirty="0" baseline="-20833" sz="1800" spc="-37">
                <a:solidFill>
                  <a:srgbClr val="44536A"/>
                </a:solidFill>
                <a:latin typeface="Tahoma"/>
                <a:cs typeface="Tahoma"/>
              </a:rPr>
              <a:t>2</a:t>
            </a:r>
            <a:endParaRPr baseline="-20833"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solidFill>
                  <a:srgbClr val="44536A"/>
                </a:solidFill>
                <a:latin typeface="Tahoma"/>
                <a:cs typeface="Tahoma"/>
              </a:rPr>
              <a:t>x</a:t>
            </a:r>
            <a:r>
              <a:rPr dirty="0" sz="1600" spc="-10">
                <a:solidFill>
                  <a:srgbClr val="44536A"/>
                </a:solidFill>
                <a:latin typeface="Tahoma"/>
                <a:cs typeface="Tahoma"/>
              </a:rPr>
              <a:t> </a:t>
            </a:r>
            <a:r>
              <a:rPr dirty="0" sz="1600" spc="-150">
                <a:solidFill>
                  <a:srgbClr val="44536A"/>
                </a:solidFill>
                <a:latin typeface="Arial"/>
                <a:cs typeface="Arial"/>
              </a:rPr>
              <a:t>=</a:t>
            </a:r>
            <a:r>
              <a:rPr dirty="0" sz="1600" spc="-80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z="1600" spc="-50">
                <a:solidFill>
                  <a:srgbClr val="44536A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912617" y="3747770"/>
            <a:ext cx="601980" cy="1090930"/>
            <a:chOff x="2912617" y="3747770"/>
            <a:chExt cx="601980" cy="1090930"/>
          </a:xfrm>
        </p:grpSpPr>
        <p:sp>
          <p:nvSpPr>
            <p:cNvPr id="19" name="object 19"/>
            <p:cNvSpPr/>
            <p:nvPr/>
          </p:nvSpPr>
          <p:spPr>
            <a:xfrm>
              <a:off x="3120008" y="3747770"/>
              <a:ext cx="135890" cy="502284"/>
            </a:xfrm>
            <a:custGeom>
              <a:avLst/>
              <a:gdLst/>
              <a:ahLst/>
              <a:cxnLst/>
              <a:rect l="l" t="t" r="r" b="b"/>
              <a:pathLst>
                <a:path w="135889" h="502285">
                  <a:moveTo>
                    <a:pt x="30861" y="394842"/>
                  </a:moveTo>
                  <a:lnTo>
                    <a:pt x="25400" y="399287"/>
                  </a:lnTo>
                  <a:lnTo>
                    <a:pt x="19938" y="403859"/>
                  </a:lnTo>
                  <a:lnTo>
                    <a:pt x="19177" y="411860"/>
                  </a:lnTo>
                  <a:lnTo>
                    <a:pt x="23622" y="417194"/>
                  </a:lnTo>
                  <a:lnTo>
                    <a:pt x="93598" y="502157"/>
                  </a:lnTo>
                  <a:lnTo>
                    <a:pt x="102397" y="479297"/>
                  </a:lnTo>
                  <a:lnTo>
                    <a:pt x="76962" y="479297"/>
                  </a:lnTo>
                  <a:lnTo>
                    <a:pt x="69435" y="432823"/>
                  </a:lnTo>
                  <a:lnTo>
                    <a:pt x="43307" y="401065"/>
                  </a:lnTo>
                  <a:lnTo>
                    <a:pt x="38862" y="395604"/>
                  </a:lnTo>
                  <a:lnTo>
                    <a:pt x="30861" y="394842"/>
                  </a:lnTo>
                  <a:close/>
                </a:path>
                <a:path w="135889" h="502285">
                  <a:moveTo>
                    <a:pt x="69435" y="432823"/>
                  </a:moveTo>
                  <a:lnTo>
                    <a:pt x="76962" y="479297"/>
                  </a:lnTo>
                  <a:lnTo>
                    <a:pt x="102107" y="475233"/>
                  </a:lnTo>
                  <a:lnTo>
                    <a:pt x="101696" y="472693"/>
                  </a:lnTo>
                  <a:lnTo>
                    <a:pt x="77724" y="472693"/>
                  </a:lnTo>
                  <a:lnTo>
                    <a:pt x="85529" y="452383"/>
                  </a:lnTo>
                  <a:lnTo>
                    <a:pt x="69435" y="432823"/>
                  </a:lnTo>
                  <a:close/>
                </a:path>
                <a:path w="135889" h="502285">
                  <a:moveTo>
                    <a:pt x="119253" y="380618"/>
                  </a:moveTo>
                  <a:lnTo>
                    <a:pt x="111887" y="383793"/>
                  </a:lnTo>
                  <a:lnTo>
                    <a:pt x="94589" y="428806"/>
                  </a:lnTo>
                  <a:lnTo>
                    <a:pt x="102107" y="475233"/>
                  </a:lnTo>
                  <a:lnTo>
                    <a:pt x="76962" y="479297"/>
                  </a:lnTo>
                  <a:lnTo>
                    <a:pt x="102397" y="479297"/>
                  </a:lnTo>
                  <a:lnTo>
                    <a:pt x="135636" y="392937"/>
                  </a:lnTo>
                  <a:lnTo>
                    <a:pt x="132334" y="385571"/>
                  </a:lnTo>
                  <a:lnTo>
                    <a:pt x="125730" y="383031"/>
                  </a:lnTo>
                  <a:lnTo>
                    <a:pt x="119253" y="380618"/>
                  </a:lnTo>
                  <a:close/>
                </a:path>
                <a:path w="135889" h="502285">
                  <a:moveTo>
                    <a:pt x="85529" y="452383"/>
                  </a:moveTo>
                  <a:lnTo>
                    <a:pt x="77724" y="472693"/>
                  </a:lnTo>
                  <a:lnTo>
                    <a:pt x="99314" y="469137"/>
                  </a:lnTo>
                  <a:lnTo>
                    <a:pt x="85529" y="452383"/>
                  </a:lnTo>
                  <a:close/>
                </a:path>
                <a:path w="135889" h="502285">
                  <a:moveTo>
                    <a:pt x="94589" y="428806"/>
                  </a:moveTo>
                  <a:lnTo>
                    <a:pt x="85529" y="452383"/>
                  </a:lnTo>
                  <a:lnTo>
                    <a:pt x="99314" y="469137"/>
                  </a:lnTo>
                  <a:lnTo>
                    <a:pt x="77724" y="472693"/>
                  </a:lnTo>
                  <a:lnTo>
                    <a:pt x="101696" y="472693"/>
                  </a:lnTo>
                  <a:lnTo>
                    <a:pt x="94589" y="428806"/>
                  </a:lnTo>
                  <a:close/>
                </a:path>
                <a:path w="135889" h="502285">
                  <a:moveTo>
                    <a:pt x="25146" y="0"/>
                  </a:moveTo>
                  <a:lnTo>
                    <a:pt x="0" y="4063"/>
                  </a:lnTo>
                  <a:lnTo>
                    <a:pt x="69435" y="432823"/>
                  </a:lnTo>
                  <a:lnTo>
                    <a:pt x="85529" y="452383"/>
                  </a:lnTo>
                  <a:lnTo>
                    <a:pt x="94589" y="428806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925317" y="4249674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79">
                  <a:moveTo>
                    <a:pt x="0" y="288036"/>
                  </a:moveTo>
                  <a:lnTo>
                    <a:pt x="3768" y="241302"/>
                  </a:lnTo>
                  <a:lnTo>
                    <a:pt x="14679" y="196973"/>
                  </a:lnTo>
                  <a:lnTo>
                    <a:pt x="32140" y="155643"/>
                  </a:lnTo>
                  <a:lnTo>
                    <a:pt x="55558" y="117902"/>
                  </a:lnTo>
                  <a:lnTo>
                    <a:pt x="84343" y="84343"/>
                  </a:lnTo>
                  <a:lnTo>
                    <a:pt x="117902" y="55558"/>
                  </a:lnTo>
                  <a:lnTo>
                    <a:pt x="155643" y="32140"/>
                  </a:lnTo>
                  <a:lnTo>
                    <a:pt x="196973" y="14679"/>
                  </a:lnTo>
                  <a:lnTo>
                    <a:pt x="241302" y="3768"/>
                  </a:lnTo>
                  <a:lnTo>
                    <a:pt x="288036" y="0"/>
                  </a:lnTo>
                  <a:lnTo>
                    <a:pt x="334769" y="3768"/>
                  </a:lnTo>
                  <a:lnTo>
                    <a:pt x="379098" y="14679"/>
                  </a:lnTo>
                  <a:lnTo>
                    <a:pt x="420428" y="32140"/>
                  </a:lnTo>
                  <a:lnTo>
                    <a:pt x="458169" y="55558"/>
                  </a:lnTo>
                  <a:lnTo>
                    <a:pt x="491728" y="84343"/>
                  </a:lnTo>
                  <a:lnTo>
                    <a:pt x="520513" y="117902"/>
                  </a:lnTo>
                  <a:lnTo>
                    <a:pt x="543931" y="155643"/>
                  </a:lnTo>
                  <a:lnTo>
                    <a:pt x="561392" y="196973"/>
                  </a:lnTo>
                  <a:lnTo>
                    <a:pt x="572303" y="241302"/>
                  </a:lnTo>
                  <a:lnTo>
                    <a:pt x="576072" y="288036"/>
                  </a:lnTo>
                  <a:lnTo>
                    <a:pt x="572303" y="334769"/>
                  </a:lnTo>
                  <a:lnTo>
                    <a:pt x="561392" y="379098"/>
                  </a:lnTo>
                  <a:lnTo>
                    <a:pt x="543931" y="420428"/>
                  </a:lnTo>
                  <a:lnTo>
                    <a:pt x="520513" y="458169"/>
                  </a:lnTo>
                  <a:lnTo>
                    <a:pt x="491728" y="491728"/>
                  </a:lnTo>
                  <a:lnTo>
                    <a:pt x="458169" y="520513"/>
                  </a:lnTo>
                  <a:lnTo>
                    <a:pt x="420428" y="543931"/>
                  </a:lnTo>
                  <a:lnTo>
                    <a:pt x="379098" y="561392"/>
                  </a:lnTo>
                  <a:lnTo>
                    <a:pt x="334769" y="572303"/>
                  </a:lnTo>
                  <a:lnTo>
                    <a:pt x="288036" y="576072"/>
                  </a:lnTo>
                  <a:lnTo>
                    <a:pt x="241302" y="572303"/>
                  </a:lnTo>
                  <a:lnTo>
                    <a:pt x="196973" y="561392"/>
                  </a:lnTo>
                  <a:lnTo>
                    <a:pt x="155643" y="543931"/>
                  </a:lnTo>
                  <a:lnTo>
                    <a:pt x="117902" y="520513"/>
                  </a:lnTo>
                  <a:lnTo>
                    <a:pt x="84343" y="491728"/>
                  </a:lnTo>
                  <a:lnTo>
                    <a:pt x="55558" y="458169"/>
                  </a:lnTo>
                  <a:lnTo>
                    <a:pt x="32140" y="420428"/>
                  </a:lnTo>
                  <a:lnTo>
                    <a:pt x="14679" y="379098"/>
                  </a:lnTo>
                  <a:lnTo>
                    <a:pt x="3768" y="334769"/>
                  </a:lnTo>
                  <a:lnTo>
                    <a:pt x="0" y="288036"/>
                  </a:lnTo>
                  <a:close/>
                </a:path>
              </a:pathLst>
            </a:custGeom>
            <a:ln w="254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2841370" y="4386198"/>
            <a:ext cx="643890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44536A"/>
                </a:solidFill>
                <a:latin typeface="Tahoma"/>
                <a:cs typeface="Tahoma"/>
              </a:rPr>
              <a:t>s</a:t>
            </a:r>
            <a:r>
              <a:rPr dirty="0" baseline="-20833" sz="1800" spc="-37">
                <a:solidFill>
                  <a:srgbClr val="44536A"/>
                </a:solidFill>
                <a:latin typeface="Tahoma"/>
                <a:cs typeface="Tahoma"/>
              </a:rPr>
              <a:t>2</a:t>
            </a:r>
            <a:endParaRPr baseline="-20833" sz="18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435"/>
              </a:spcBef>
            </a:pPr>
            <a:r>
              <a:rPr dirty="0" sz="1600">
                <a:solidFill>
                  <a:srgbClr val="44536A"/>
                </a:solidFill>
                <a:latin typeface="Tahoma"/>
                <a:cs typeface="Tahoma"/>
              </a:rPr>
              <a:t>x</a:t>
            </a:r>
            <a:r>
              <a:rPr dirty="0" sz="1600" spc="-10">
                <a:solidFill>
                  <a:srgbClr val="44536A"/>
                </a:solidFill>
                <a:latin typeface="Tahoma"/>
                <a:cs typeface="Tahoma"/>
              </a:rPr>
              <a:t> </a:t>
            </a:r>
            <a:r>
              <a:rPr dirty="0" sz="1600" spc="-150">
                <a:solidFill>
                  <a:srgbClr val="44536A"/>
                </a:solidFill>
                <a:latin typeface="Arial"/>
                <a:cs typeface="Arial"/>
              </a:rPr>
              <a:t>=</a:t>
            </a:r>
            <a:r>
              <a:rPr dirty="0" sz="1600" spc="-80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44536A"/>
                </a:solidFill>
                <a:latin typeface="Arial"/>
                <a:cs typeface="Arial"/>
              </a:rPr>
              <a:t>1.1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429505" y="4245102"/>
            <a:ext cx="576580" cy="576580"/>
          </a:xfrm>
          <a:custGeom>
            <a:avLst/>
            <a:gdLst/>
            <a:ahLst/>
            <a:cxnLst/>
            <a:rect l="l" t="t" r="r" b="b"/>
            <a:pathLst>
              <a:path w="576579" h="576579">
                <a:moveTo>
                  <a:pt x="0" y="288036"/>
                </a:moveTo>
                <a:lnTo>
                  <a:pt x="3768" y="241302"/>
                </a:lnTo>
                <a:lnTo>
                  <a:pt x="14679" y="196973"/>
                </a:lnTo>
                <a:lnTo>
                  <a:pt x="32140" y="155643"/>
                </a:lnTo>
                <a:lnTo>
                  <a:pt x="55558" y="117902"/>
                </a:lnTo>
                <a:lnTo>
                  <a:pt x="84343" y="84343"/>
                </a:lnTo>
                <a:lnTo>
                  <a:pt x="117902" y="55558"/>
                </a:lnTo>
                <a:lnTo>
                  <a:pt x="155643" y="32140"/>
                </a:lnTo>
                <a:lnTo>
                  <a:pt x="196973" y="14679"/>
                </a:lnTo>
                <a:lnTo>
                  <a:pt x="241302" y="3768"/>
                </a:lnTo>
                <a:lnTo>
                  <a:pt x="288036" y="0"/>
                </a:lnTo>
                <a:lnTo>
                  <a:pt x="334769" y="3768"/>
                </a:lnTo>
                <a:lnTo>
                  <a:pt x="379098" y="14679"/>
                </a:lnTo>
                <a:lnTo>
                  <a:pt x="420428" y="32140"/>
                </a:lnTo>
                <a:lnTo>
                  <a:pt x="458169" y="55558"/>
                </a:lnTo>
                <a:lnTo>
                  <a:pt x="491728" y="84343"/>
                </a:lnTo>
                <a:lnTo>
                  <a:pt x="520513" y="117902"/>
                </a:lnTo>
                <a:lnTo>
                  <a:pt x="543931" y="155643"/>
                </a:lnTo>
                <a:lnTo>
                  <a:pt x="561392" y="196973"/>
                </a:lnTo>
                <a:lnTo>
                  <a:pt x="572303" y="241302"/>
                </a:lnTo>
                <a:lnTo>
                  <a:pt x="576072" y="288036"/>
                </a:lnTo>
                <a:lnTo>
                  <a:pt x="572303" y="334769"/>
                </a:lnTo>
                <a:lnTo>
                  <a:pt x="561392" y="379098"/>
                </a:lnTo>
                <a:lnTo>
                  <a:pt x="543931" y="420428"/>
                </a:lnTo>
                <a:lnTo>
                  <a:pt x="520513" y="458169"/>
                </a:lnTo>
                <a:lnTo>
                  <a:pt x="491728" y="491728"/>
                </a:lnTo>
                <a:lnTo>
                  <a:pt x="458169" y="520513"/>
                </a:lnTo>
                <a:lnTo>
                  <a:pt x="420428" y="543931"/>
                </a:lnTo>
                <a:lnTo>
                  <a:pt x="379098" y="561392"/>
                </a:lnTo>
                <a:lnTo>
                  <a:pt x="334769" y="572303"/>
                </a:lnTo>
                <a:lnTo>
                  <a:pt x="288036" y="576072"/>
                </a:lnTo>
                <a:lnTo>
                  <a:pt x="241302" y="572303"/>
                </a:lnTo>
                <a:lnTo>
                  <a:pt x="196973" y="561392"/>
                </a:lnTo>
                <a:lnTo>
                  <a:pt x="155643" y="543931"/>
                </a:lnTo>
                <a:lnTo>
                  <a:pt x="117902" y="520513"/>
                </a:lnTo>
                <a:lnTo>
                  <a:pt x="84343" y="491728"/>
                </a:lnTo>
                <a:lnTo>
                  <a:pt x="55558" y="458169"/>
                </a:lnTo>
                <a:lnTo>
                  <a:pt x="32140" y="420428"/>
                </a:lnTo>
                <a:lnTo>
                  <a:pt x="14679" y="379098"/>
                </a:lnTo>
                <a:lnTo>
                  <a:pt x="3768" y="334769"/>
                </a:lnTo>
                <a:lnTo>
                  <a:pt x="0" y="288036"/>
                </a:lnTo>
                <a:close/>
              </a:path>
            </a:pathLst>
          </a:custGeom>
          <a:ln w="2540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384802" y="4381627"/>
            <a:ext cx="643890" cy="730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0955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44536A"/>
                </a:solidFill>
                <a:latin typeface="Tahoma"/>
                <a:cs typeface="Tahoma"/>
              </a:rPr>
              <a:t>s</a:t>
            </a:r>
            <a:r>
              <a:rPr dirty="0" baseline="-20833" sz="1800" spc="-37">
                <a:solidFill>
                  <a:srgbClr val="44536A"/>
                </a:solidFill>
                <a:latin typeface="Tahoma"/>
                <a:cs typeface="Tahoma"/>
              </a:rPr>
              <a:t>2</a:t>
            </a:r>
            <a:endParaRPr baseline="-20833"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600">
                <a:solidFill>
                  <a:srgbClr val="44536A"/>
                </a:solidFill>
                <a:latin typeface="Tahoma"/>
                <a:cs typeface="Tahoma"/>
              </a:rPr>
              <a:t>x</a:t>
            </a:r>
            <a:r>
              <a:rPr dirty="0" sz="1600" spc="-10">
                <a:solidFill>
                  <a:srgbClr val="44536A"/>
                </a:solidFill>
                <a:latin typeface="Tahoma"/>
                <a:cs typeface="Tahoma"/>
              </a:rPr>
              <a:t> </a:t>
            </a:r>
            <a:r>
              <a:rPr dirty="0" sz="1600" spc="-150">
                <a:solidFill>
                  <a:srgbClr val="44536A"/>
                </a:solidFill>
                <a:latin typeface="Arial"/>
                <a:cs typeface="Arial"/>
              </a:rPr>
              <a:t>=</a:t>
            </a:r>
            <a:r>
              <a:rPr dirty="0" sz="1600" spc="-80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44536A"/>
                </a:solidFill>
                <a:latin typeface="Arial"/>
                <a:cs typeface="Arial"/>
              </a:rPr>
              <a:t>1.7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573773" y="4249673"/>
            <a:ext cx="576580" cy="576580"/>
          </a:xfrm>
          <a:custGeom>
            <a:avLst/>
            <a:gdLst/>
            <a:ahLst/>
            <a:cxnLst/>
            <a:rect l="l" t="t" r="r" b="b"/>
            <a:pathLst>
              <a:path w="576579" h="576579">
                <a:moveTo>
                  <a:pt x="0" y="288036"/>
                </a:moveTo>
                <a:lnTo>
                  <a:pt x="3768" y="241302"/>
                </a:lnTo>
                <a:lnTo>
                  <a:pt x="14679" y="196973"/>
                </a:lnTo>
                <a:lnTo>
                  <a:pt x="32140" y="155643"/>
                </a:lnTo>
                <a:lnTo>
                  <a:pt x="55558" y="117902"/>
                </a:lnTo>
                <a:lnTo>
                  <a:pt x="84343" y="84343"/>
                </a:lnTo>
                <a:lnTo>
                  <a:pt x="117902" y="55558"/>
                </a:lnTo>
                <a:lnTo>
                  <a:pt x="155643" y="32140"/>
                </a:lnTo>
                <a:lnTo>
                  <a:pt x="196973" y="14679"/>
                </a:lnTo>
                <a:lnTo>
                  <a:pt x="241302" y="3768"/>
                </a:lnTo>
                <a:lnTo>
                  <a:pt x="288036" y="0"/>
                </a:lnTo>
                <a:lnTo>
                  <a:pt x="334769" y="3768"/>
                </a:lnTo>
                <a:lnTo>
                  <a:pt x="379098" y="14679"/>
                </a:lnTo>
                <a:lnTo>
                  <a:pt x="420428" y="32140"/>
                </a:lnTo>
                <a:lnTo>
                  <a:pt x="458169" y="55558"/>
                </a:lnTo>
                <a:lnTo>
                  <a:pt x="491728" y="84343"/>
                </a:lnTo>
                <a:lnTo>
                  <a:pt x="520513" y="117902"/>
                </a:lnTo>
                <a:lnTo>
                  <a:pt x="543931" y="155643"/>
                </a:lnTo>
                <a:lnTo>
                  <a:pt x="561392" y="196973"/>
                </a:lnTo>
                <a:lnTo>
                  <a:pt x="572303" y="241302"/>
                </a:lnTo>
                <a:lnTo>
                  <a:pt x="576072" y="288036"/>
                </a:lnTo>
                <a:lnTo>
                  <a:pt x="572303" y="334769"/>
                </a:lnTo>
                <a:lnTo>
                  <a:pt x="561392" y="379098"/>
                </a:lnTo>
                <a:lnTo>
                  <a:pt x="543931" y="420428"/>
                </a:lnTo>
                <a:lnTo>
                  <a:pt x="520513" y="458169"/>
                </a:lnTo>
                <a:lnTo>
                  <a:pt x="491728" y="491728"/>
                </a:lnTo>
                <a:lnTo>
                  <a:pt x="458169" y="520513"/>
                </a:lnTo>
                <a:lnTo>
                  <a:pt x="420428" y="543931"/>
                </a:lnTo>
                <a:lnTo>
                  <a:pt x="379098" y="561392"/>
                </a:lnTo>
                <a:lnTo>
                  <a:pt x="334769" y="572303"/>
                </a:lnTo>
                <a:lnTo>
                  <a:pt x="288036" y="576072"/>
                </a:lnTo>
                <a:lnTo>
                  <a:pt x="241302" y="572303"/>
                </a:lnTo>
                <a:lnTo>
                  <a:pt x="196973" y="561392"/>
                </a:lnTo>
                <a:lnTo>
                  <a:pt x="155643" y="543931"/>
                </a:lnTo>
                <a:lnTo>
                  <a:pt x="117902" y="520513"/>
                </a:lnTo>
                <a:lnTo>
                  <a:pt x="84343" y="491728"/>
                </a:lnTo>
                <a:lnTo>
                  <a:pt x="55558" y="458169"/>
                </a:lnTo>
                <a:lnTo>
                  <a:pt x="32140" y="420428"/>
                </a:lnTo>
                <a:lnTo>
                  <a:pt x="14679" y="379098"/>
                </a:lnTo>
                <a:lnTo>
                  <a:pt x="3768" y="334769"/>
                </a:lnTo>
                <a:lnTo>
                  <a:pt x="0" y="288036"/>
                </a:lnTo>
                <a:close/>
              </a:path>
            </a:pathLst>
          </a:custGeom>
          <a:ln w="2540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599808" y="4386198"/>
            <a:ext cx="592455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64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44536A"/>
                </a:solidFill>
                <a:latin typeface="Tahoma"/>
                <a:cs typeface="Tahoma"/>
              </a:rPr>
              <a:t>s</a:t>
            </a:r>
            <a:r>
              <a:rPr dirty="0" baseline="-20833" sz="1800" spc="-37">
                <a:solidFill>
                  <a:srgbClr val="44536A"/>
                </a:solidFill>
                <a:latin typeface="Tahoma"/>
                <a:cs typeface="Tahoma"/>
              </a:rPr>
              <a:t>2</a:t>
            </a:r>
            <a:endParaRPr baseline="-20833" sz="18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435"/>
              </a:spcBef>
            </a:pPr>
            <a:r>
              <a:rPr dirty="0" sz="1600">
                <a:solidFill>
                  <a:srgbClr val="44536A"/>
                </a:solidFill>
                <a:latin typeface="Tahoma"/>
                <a:cs typeface="Tahoma"/>
              </a:rPr>
              <a:t>x</a:t>
            </a:r>
            <a:r>
              <a:rPr dirty="0" sz="1600" spc="-10">
                <a:solidFill>
                  <a:srgbClr val="44536A"/>
                </a:solidFill>
                <a:latin typeface="Tahoma"/>
                <a:cs typeface="Tahoma"/>
              </a:rPr>
              <a:t> </a:t>
            </a:r>
            <a:r>
              <a:rPr dirty="0" sz="1600" spc="-150">
                <a:solidFill>
                  <a:srgbClr val="44536A"/>
                </a:solidFill>
                <a:latin typeface="Arial"/>
                <a:cs typeface="Arial"/>
              </a:rPr>
              <a:t>=</a:t>
            </a:r>
            <a:r>
              <a:rPr dirty="0" sz="1600" spc="-80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44536A"/>
                </a:solidFill>
                <a:latin typeface="Arial"/>
                <a:cs typeface="Arial"/>
              </a:rPr>
              <a:t>53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332099" y="3447922"/>
            <a:ext cx="3325495" cy="916305"/>
          </a:xfrm>
          <a:custGeom>
            <a:avLst/>
            <a:gdLst/>
            <a:ahLst/>
            <a:cxnLst/>
            <a:rect l="l" t="t" r="r" b="b"/>
            <a:pathLst>
              <a:path w="3325495" h="916304">
                <a:moveTo>
                  <a:pt x="1182624" y="880110"/>
                </a:moveTo>
                <a:lnTo>
                  <a:pt x="1181874" y="878840"/>
                </a:lnTo>
                <a:lnTo>
                  <a:pt x="1123569" y="779145"/>
                </a:lnTo>
                <a:lnTo>
                  <a:pt x="1115822" y="777113"/>
                </a:lnTo>
                <a:lnTo>
                  <a:pt x="1103630" y="784225"/>
                </a:lnTo>
                <a:lnTo>
                  <a:pt x="1101598" y="791972"/>
                </a:lnTo>
                <a:lnTo>
                  <a:pt x="1126032" y="833704"/>
                </a:lnTo>
                <a:lnTo>
                  <a:pt x="12446" y="205486"/>
                </a:lnTo>
                <a:lnTo>
                  <a:pt x="0" y="227584"/>
                </a:lnTo>
                <a:lnTo>
                  <a:pt x="1113523" y="855776"/>
                </a:lnTo>
                <a:lnTo>
                  <a:pt x="1065276" y="856488"/>
                </a:lnTo>
                <a:lnTo>
                  <a:pt x="1059688" y="862203"/>
                </a:lnTo>
                <a:lnTo>
                  <a:pt x="1059776" y="874141"/>
                </a:lnTo>
                <a:lnTo>
                  <a:pt x="1059815" y="876173"/>
                </a:lnTo>
                <a:lnTo>
                  <a:pt x="1065657" y="881888"/>
                </a:lnTo>
                <a:lnTo>
                  <a:pt x="1182624" y="880110"/>
                </a:lnTo>
                <a:close/>
              </a:path>
              <a:path w="3325495" h="916304">
                <a:moveTo>
                  <a:pt x="3325368" y="885444"/>
                </a:moveTo>
                <a:lnTo>
                  <a:pt x="3259137" y="818349"/>
                </a:lnTo>
                <a:lnTo>
                  <a:pt x="3259137" y="854430"/>
                </a:lnTo>
                <a:lnTo>
                  <a:pt x="3065830" y="802259"/>
                </a:lnTo>
                <a:lnTo>
                  <a:pt x="3235058" y="802259"/>
                </a:lnTo>
                <a:lnTo>
                  <a:pt x="3230118" y="807085"/>
                </a:lnTo>
                <a:lnTo>
                  <a:pt x="3225165" y="812038"/>
                </a:lnTo>
                <a:lnTo>
                  <a:pt x="3225165" y="820039"/>
                </a:lnTo>
                <a:lnTo>
                  <a:pt x="3230118" y="824992"/>
                </a:lnTo>
                <a:lnTo>
                  <a:pt x="3259137" y="854430"/>
                </a:lnTo>
                <a:lnTo>
                  <a:pt x="3259137" y="818349"/>
                </a:lnTo>
                <a:lnTo>
                  <a:pt x="3248152" y="807212"/>
                </a:lnTo>
                <a:lnTo>
                  <a:pt x="3243199" y="802259"/>
                </a:lnTo>
                <a:lnTo>
                  <a:pt x="3235198" y="802132"/>
                </a:lnTo>
                <a:lnTo>
                  <a:pt x="3065361" y="802132"/>
                </a:lnTo>
                <a:lnTo>
                  <a:pt x="93345" y="0"/>
                </a:lnTo>
                <a:lnTo>
                  <a:pt x="86741" y="24638"/>
                </a:lnTo>
                <a:lnTo>
                  <a:pt x="3252381" y="878903"/>
                </a:lnTo>
                <a:lnTo>
                  <a:pt x="3212592" y="889635"/>
                </a:lnTo>
                <a:lnTo>
                  <a:pt x="3205861" y="891540"/>
                </a:lnTo>
                <a:lnTo>
                  <a:pt x="3201797" y="898525"/>
                </a:lnTo>
                <a:lnTo>
                  <a:pt x="3203702" y="905256"/>
                </a:lnTo>
                <a:lnTo>
                  <a:pt x="3205480" y="911987"/>
                </a:lnTo>
                <a:lnTo>
                  <a:pt x="3212465" y="916051"/>
                </a:lnTo>
                <a:lnTo>
                  <a:pt x="3304311" y="891159"/>
                </a:lnTo>
                <a:lnTo>
                  <a:pt x="3325368" y="885444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341245" y="4124325"/>
            <a:ext cx="183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10">
                <a:solidFill>
                  <a:srgbClr val="44536A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70121" y="4124325"/>
            <a:ext cx="183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10">
                <a:solidFill>
                  <a:srgbClr val="44536A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56630" y="4124325"/>
            <a:ext cx="183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10">
                <a:solidFill>
                  <a:srgbClr val="44536A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14386" y="4444365"/>
            <a:ext cx="183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10">
                <a:solidFill>
                  <a:srgbClr val="44536A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15"/>
              <a:t>Äquivalenzklassen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10596"/>
            <a:ext cx="7468234" cy="2521585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2000" spc="-10" b="1">
                <a:latin typeface="Arial"/>
                <a:cs typeface="Arial"/>
              </a:rPr>
              <a:t>Idee:</a:t>
            </a:r>
            <a:endParaRPr sz="2000">
              <a:latin typeface="Arial"/>
              <a:cs typeface="Arial"/>
            </a:endParaRPr>
          </a:p>
          <a:p>
            <a:pPr marL="241300" marR="5080" indent="-228600">
              <a:lnSpc>
                <a:spcPts val="1939"/>
              </a:lnSpc>
              <a:spcBef>
                <a:spcPts val="105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1300" algn="l"/>
              </a:tabLst>
            </a:pPr>
            <a:r>
              <a:rPr dirty="0" sz="1800" spc="-85">
                <a:latin typeface="Arial"/>
                <a:cs typeface="Arial"/>
              </a:rPr>
              <a:t>Häufig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40">
                <a:latin typeface="Arial"/>
                <a:cs typeface="Arial"/>
              </a:rPr>
              <a:t>ist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105">
                <a:latin typeface="Arial"/>
                <a:cs typeface="Arial"/>
              </a:rPr>
              <a:t>man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40">
                <a:latin typeface="Arial"/>
                <a:cs typeface="Arial"/>
              </a:rPr>
              <a:t>nicht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100">
                <a:latin typeface="Arial"/>
                <a:cs typeface="Arial"/>
              </a:rPr>
              <a:t>am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100">
                <a:latin typeface="Arial"/>
                <a:cs typeface="Arial"/>
              </a:rPr>
              <a:t>exakten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40">
                <a:latin typeface="Arial"/>
                <a:cs typeface="Arial"/>
              </a:rPr>
              <a:t>Wert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der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80">
                <a:latin typeface="Arial"/>
                <a:cs typeface="Arial"/>
              </a:rPr>
              <a:t>Uhrenbelegung,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80">
                <a:latin typeface="Arial"/>
                <a:cs typeface="Arial"/>
              </a:rPr>
              <a:t>sondern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40">
                <a:latin typeface="Arial"/>
                <a:cs typeface="Arial"/>
              </a:rPr>
              <a:t>nur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an </a:t>
            </a:r>
            <a:r>
              <a:rPr dirty="0" sz="1800" spc="-75">
                <a:latin typeface="Arial"/>
                <a:cs typeface="Arial"/>
              </a:rPr>
              <a:t>einem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80">
                <a:solidFill>
                  <a:srgbClr val="4471C4"/>
                </a:solidFill>
                <a:latin typeface="Arial"/>
                <a:cs typeface="Arial"/>
              </a:rPr>
              <a:t>Zeit-</a:t>
            </a:r>
            <a:r>
              <a:rPr dirty="0" sz="1800" spc="-45">
                <a:solidFill>
                  <a:srgbClr val="4471C4"/>
                </a:solidFill>
                <a:latin typeface="Arial"/>
                <a:cs typeface="Arial"/>
              </a:rPr>
              <a:t>Intervall</a:t>
            </a:r>
            <a:r>
              <a:rPr dirty="0" sz="1800" spc="-5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1800" spc="-55">
                <a:latin typeface="Arial"/>
                <a:cs typeface="Arial"/>
              </a:rPr>
              <a:t>interessiert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114">
                <a:latin typeface="Arial"/>
                <a:cs typeface="Arial"/>
              </a:rPr>
              <a:t>(z.B.: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die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85">
                <a:latin typeface="Arial"/>
                <a:cs typeface="Arial"/>
              </a:rPr>
              <a:t>Übertragungszeit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45">
                <a:latin typeface="Arial"/>
                <a:cs typeface="Arial"/>
              </a:rPr>
              <a:t>beträgt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55">
                <a:latin typeface="Arial"/>
                <a:cs typeface="Arial"/>
              </a:rPr>
              <a:t>min.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90">
                <a:latin typeface="Arial"/>
                <a:cs typeface="Arial"/>
              </a:rPr>
              <a:t>20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ms </a:t>
            </a:r>
            <a:r>
              <a:rPr dirty="0" sz="1800" spc="-70">
                <a:latin typeface="Arial"/>
                <a:cs typeface="Arial"/>
              </a:rPr>
              <a:t>und </a:t>
            </a:r>
            <a:r>
              <a:rPr dirty="0" sz="1800" spc="-100">
                <a:latin typeface="Arial"/>
                <a:cs typeface="Arial"/>
              </a:rPr>
              <a:t>max.</a:t>
            </a:r>
            <a:r>
              <a:rPr dirty="0" sz="1800" spc="-90">
                <a:latin typeface="Arial"/>
                <a:cs typeface="Arial"/>
              </a:rPr>
              <a:t> 50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ms)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ts val="2050"/>
              </a:lnSpc>
              <a:spcBef>
                <a:spcPts val="76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dirty="0" sz="1800" spc="-130">
                <a:latin typeface="Arial"/>
                <a:cs typeface="Arial"/>
              </a:rPr>
              <a:t>Dann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110">
                <a:latin typeface="Arial"/>
                <a:cs typeface="Arial"/>
              </a:rPr>
              <a:t>kann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der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65">
                <a:latin typeface="Arial"/>
                <a:cs typeface="Arial"/>
              </a:rPr>
              <a:t>Wertebereich</a:t>
            </a:r>
            <a:r>
              <a:rPr dirty="0" sz="1800" spc="-50">
                <a:latin typeface="Arial"/>
                <a:cs typeface="Arial"/>
              </a:rPr>
              <a:t> der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85">
                <a:latin typeface="Arial"/>
                <a:cs typeface="Arial"/>
              </a:rPr>
              <a:t>Uhren</a:t>
            </a:r>
            <a:r>
              <a:rPr dirty="0" sz="1800" spc="-60">
                <a:latin typeface="Arial"/>
                <a:cs typeface="Arial"/>
              </a:rPr>
              <a:t> auf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75">
                <a:latin typeface="Arial"/>
                <a:cs typeface="Arial"/>
              </a:rPr>
              <a:t>eine</a:t>
            </a:r>
            <a:r>
              <a:rPr dirty="0" sz="1800" spc="-65">
                <a:latin typeface="Arial"/>
                <a:cs typeface="Arial"/>
              </a:rPr>
              <a:t> (endliche)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80">
                <a:latin typeface="Arial"/>
                <a:cs typeface="Arial"/>
              </a:rPr>
              <a:t>Menge </a:t>
            </a:r>
            <a:r>
              <a:rPr dirty="0" sz="1800" spc="-75">
                <a:latin typeface="Arial"/>
                <a:cs typeface="Arial"/>
              </a:rPr>
              <a:t>von </a:t>
            </a:r>
            <a:r>
              <a:rPr dirty="0" sz="1800" spc="-10">
                <a:latin typeface="Arial"/>
                <a:cs typeface="Arial"/>
              </a:rPr>
              <a:t>Zeit-</a:t>
            </a:r>
            <a:endParaRPr sz="1800">
              <a:latin typeface="Arial"/>
              <a:cs typeface="Arial"/>
            </a:endParaRPr>
          </a:p>
          <a:p>
            <a:pPr marL="241300">
              <a:lnSpc>
                <a:spcPts val="2050"/>
              </a:lnSpc>
            </a:pPr>
            <a:r>
              <a:rPr dirty="0" sz="1800" spc="-50">
                <a:latin typeface="Arial"/>
                <a:cs typeface="Arial"/>
              </a:rPr>
              <a:t>Intervallen reduziert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werden</a:t>
            </a:r>
            <a:endParaRPr sz="1800">
              <a:latin typeface="Arial"/>
              <a:cs typeface="Arial"/>
            </a:endParaRPr>
          </a:p>
          <a:p>
            <a:pPr marL="241300" marR="654050" indent="-228600">
              <a:lnSpc>
                <a:spcPts val="1939"/>
              </a:lnSpc>
              <a:spcBef>
                <a:spcPts val="103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1300" algn="l"/>
              </a:tabLst>
            </a:pPr>
            <a:r>
              <a:rPr dirty="0" sz="1800" spc="-105" b="1">
                <a:latin typeface="Arial"/>
                <a:cs typeface="Arial"/>
              </a:rPr>
              <a:t>Daher</a:t>
            </a:r>
            <a:r>
              <a:rPr dirty="0" sz="1800" spc="-105">
                <a:latin typeface="Arial"/>
                <a:cs typeface="Arial"/>
              </a:rPr>
              <a:t>: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55">
                <a:latin typeface="Arial"/>
                <a:cs typeface="Arial"/>
              </a:rPr>
              <a:t>Partitionierung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125">
                <a:latin typeface="Arial"/>
                <a:cs typeface="Arial"/>
              </a:rPr>
              <a:t>des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65">
                <a:latin typeface="Arial"/>
                <a:cs typeface="Arial"/>
              </a:rPr>
              <a:t>unendlichen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20">
                <a:latin typeface="Arial"/>
                <a:cs typeface="Arial"/>
              </a:rPr>
              <a:t>Zustandsraums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in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endlich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viele </a:t>
            </a:r>
            <a:r>
              <a:rPr dirty="0" sz="1800" spc="-50">
                <a:latin typeface="Arial"/>
                <a:cs typeface="Arial"/>
              </a:rPr>
              <a:t>Partitionen </a:t>
            </a:r>
            <a:r>
              <a:rPr dirty="0" sz="1800" spc="-40">
                <a:latin typeface="Arial"/>
                <a:cs typeface="Arial"/>
              </a:rPr>
              <a:t>(</a:t>
            </a:r>
            <a:r>
              <a:rPr dirty="0" sz="1800" spc="-40" b="1">
                <a:latin typeface="Arial"/>
                <a:cs typeface="Arial"/>
              </a:rPr>
              <a:t>Regionen</a:t>
            </a:r>
            <a:r>
              <a:rPr dirty="0" sz="1800" spc="-4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86777" y="4209097"/>
            <a:ext cx="4180840" cy="1733550"/>
            <a:chOff x="886777" y="4209097"/>
            <a:chExt cx="4180840" cy="1733550"/>
          </a:xfrm>
        </p:grpSpPr>
        <p:sp>
          <p:nvSpPr>
            <p:cNvPr id="5" name="object 5"/>
            <p:cNvSpPr/>
            <p:nvPr/>
          </p:nvSpPr>
          <p:spPr>
            <a:xfrm>
              <a:off x="891539" y="4213859"/>
              <a:ext cx="4171315" cy="1724025"/>
            </a:xfrm>
            <a:custGeom>
              <a:avLst/>
              <a:gdLst/>
              <a:ahLst/>
              <a:cxnLst/>
              <a:rect l="l" t="t" r="r" b="b"/>
              <a:pathLst>
                <a:path w="4171315" h="1724025">
                  <a:moveTo>
                    <a:pt x="0" y="861821"/>
                  </a:moveTo>
                  <a:lnTo>
                    <a:pt x="4102" y="807316"/>
                  </a:lnTo>
                  <a:lnTo>
                    <a:pt x="16248" y="753711"/>
                  </a:lnTo>
                  <a:lnTo>
                    <a:pt x="36193" y="701109"/>
                  </a:lnTo>
                  <a:lnTo>
                    <a:pt x="63693" y="649610"/>
                  </a:lnTo>
                  <a:lnTo>
                    <a:pt x="98502" y="599315"/>
                  </a:lnTo>
                  <a:lnTo>
                    <a:pt x="140378" y="550325"/>
                  </a:lnTo>
                  <a:lnTo>
                    <a:pt x="189075" y="502741"/>
                  </a:lnTo>
                  <a:lnTo>
                    <a:pt x="244350" y="456664"/>
                  </a:lnTo>
                  <a:lnTo>
                    <a:pt x="305958" y="412194"/>
                  </a:lnTo>
                  <a:lnTo>
                    <a:pt x="339061" y="390594"/>
                  </a:lnTo>
                  <a:lnTo>
                    <a:pt x="373655" y="369433"/>
                  </a:lnTo>
                  <a:lnTo>
                    <a:pt x="409711" y="348725"/>
                  </a:lnTo>
                  <a:lnTo>
                    <a:pt x="447197" y="328482"/>
                  </a:lnTo>
                  <a:lnTo>
                    <a:pt x="486083" y="308716"/>
                  </a:lnTo>
                  <a:lnTo>
                    <a:pt x="526339" y="289441"/>
                  </a:lnTo>
                  <a:lnTo>
                    <a:pt x="567934" y="270669"/>
                  </a:lnTo>
                  <a:lnTo>
                    <a:pt x="610838" y="252412"/>
                  </a:lnTo>
                  <a:lnTo>
                    <a:pt x="655019" y="234683"/>
                  </a:lnTo>
                  <a:lnTo>
                    <a:pt x="700448" y="217495"/>
                  </a:lnTo>
                  <a:lnTo>
                    <a:pt x="747094" y="200860"/>
                  </a:lnTo>
                  <a:lnTo>
                    <a:pt x="794926" y="184792"/>
                  </a:lnTo>
                  <a:lnTo>
                    <a:pt x="843914" y="169301"/>
                  </a:lnTo>
                  <a:lnTo>
                    <a:pt x="894028" y="154402"/>
                  </a:lnTo>
                  <a:lnTo>
                    <a:pt x="945236" y="140107"/>
                  </a:lnTo>
                  <a:lnTo>
                    <a:pt x="997508" y="126428"/>
                  </a:lnTo>
                  <a:lnTo>
                    <a:pt x="1050815" y="113379"/>
                  </a:lnTo>
                  <a:lnTo>
                    <a:pt x="1105124" y="100971"/>
                  </a:lnTo>
                  <a:lnTo>
                    <a:pt x="1160406" y="89217"/>
                  </a:lnTo>
                  <a:lnTo>
                    <a:pt x="1216630" y="78130"/>
                  </a:lnTo>
                  <a:lnTo>
                    <a:pt x="1273766" y="67722"/>
                  </a:lnTo>
                  <a:lnTo>
                    <a:pt x="1331783" y="58007"/>
                  </a:lnTo>
                  <a:lnTo>
                    <a:pt x="1390650" y="48996"/>
                  </a:lnTo>
                  <a:lnTo>
                    <a:pt x="1450337" y="40703"/>
                  </a:lnTo>
                  <a:lnTo>
                    <a:pt x="1510814" y="33140"/>
                  </a:lnTo>
                  <a:lnTo>
                    <a:pt x="1572050" y="26319"/>
                  </a:lnTo>
                  <a:lnTo>
                    <a:pt x="1634014" y="20253"/>
                  </a:lnTo>
                  <a:lnTo>
                    <a:pt x="1696676" y="14956"/>
                  </a:lnTo>
                  <a:lnTo>
                    <a:pt x="1760005" y="10438"/>
                  </a:lnTo>
                  <a:lnTo>
                    <a:pt x="1823972" y="6714"/>
                  </a:lnTo>
                  <a:lnTo>
                    <a:pt x="1888544" y="3795"/>
                  </a:lnTo>
                  <a:lnTo>
                    <a:pt x="1953692" y="1695"/>
                  </a:lnTo>
                  <a:lnTo>
                    <a:pt x="2019385" y="425"/>
                  </a:lnTo>
                  <a:lnTo>
                    <a:pt x="2085594" y="0"/>
                  </a:lnTo>
                  <a:lnTo>
                    <a:pt x="2151802" y="425"/>
                  </a:lnTo>
                  <a:lnTo>
                    <a:pt x="2217495" y="1695"/>
                  </a:lnTo>
                  <a:lnTo>
                    <a:pt x="2282643" y="3795"/>
                  </a:lnTo>
                  <a:lnTo>
                    <a:pt x="2347215" y="6714"/>
                  </a:lnTo>
                  <a:lnTo>
                    <a:pt x="2411182" y="10438"/>
                  </a:lnTo>
                  <a:lnTo>
                    <a:pt x="2474511" y="14956"/>
                  </a:lnTo>
                  <a:lnTo>
                    <a:pt x="2537173" y="20253"/>
                  </a:lnTo>
                  <a:lnTo>
                    <a:pt x="2599137" y="26319"/>
                  </a:lnTo>
                  <a:lnTo>
                    <a:pt x="2660373" y="33140"/>
                  </a:lnTo>
                  <a:lnTo>
                    <a:pt x="2720850" y="40703"/>
                  </a:lnTo>
                  <a:lnTo>
                    <a:pt x="2780537" y="48996"/>
                  </a:lnTo>
                  <a:lnTo>
                    <a:pt x="2839404" y="58007"/>
                  </a:lnTo>
                  <a:lnTo>
                    <a:pt x="2897421" y="67722"/>
                  </a:lnTo>
                  <a:lnTo>
                    <a:pt x="2954557" y="78130"/>
                  </a:lnTo>
                  <a:lnTo>
                    <a:pt x="3010781" y="89217"/>
                  </a:lnTo>
                  <a:lnTo>
                    <a:pt x="3066063" y="100971"/>
                  </a:lnTo>
                  <a:lnTo>
                    <a:pt x="3120372" y="113379"/>
                  </a:lnTo>
                  <a:lnTo>
                    <a:pt x="3173679" y="126428"/>
                  </a:lnTo>
                  <a:lnTo>
                    <a:pt x="3225951" y="140107"/>
                  </a:lnTo>
                  <a:lnTo>
                    <a:pt x="3277159" y="154402"/>
                  </a:lnTo>
                  <a:lnTo>
                    <a:pt x="3327273" y="169301"/>
                  </a:lnTo>
                  <a:lnTo>
                    <a:pt x="3376261" y="184792"/>
                  </a:lnTo>
                  <a:lnTo>
                    <a:pt x="3424093" y="200860"/>
                  </a:lnTo>
                  <a:lnTo>
                    <a:pt x="3470739" y="217495"/>
                  </a:lnTo>
                  <a:lnTo>
                    <a:pt x="3516168" y="234683"/>
                  </a:lnTo>
                  <a:lnTo>
                    <a:pt x="3560349" y="252412"/>
                  </a:lnTo>
                  <a:lnTo>
                    <a:pt x="3603253" y="270669"/>
                  </a:lnTo>
                  <a:lnTo>
                    <a:pt x="3644848" y="289441"/>
                  </a:lnTo>
                  <a:lnTo>
                    <a:pt x="3685104" y="308716"/>
                  </a:lnTo>
                  <a:lnTo>
                    <a:pt x="3723990" y="328482"/>
                  </a:lnTo>
                  <a:lnTo>
                    <a:pt x="3761476" y="348725"/>
                  </a:lnTo>
                  <a:lnTo>
                    <a:pt x="3797532" y="369433"/>
                  </a:lnTo>
                  <a:lnTo>
                    <a:pt x="3832126" y="390594"/>
                  </a:lnTo>
                  <a:lnTo>
                    <a:pt x="3865229" y="412194"/>
                  </a:lnTo>
                  <a:lnTo>
                    <a:pt x="3896809" y="434222"/>
                  </a:lnTo>
                  <a:lnTo>
                    <a:pt x="3955281" y="479508"/>
                  </a:lnTo>
                  <a:lnTo>
                    <a:pt x="4007298" y="526351"/>
                  </a:lnTo>
                  <a:lnTo>
                    <a:pt x="4052615" y="574651"/>
                  </a:lnTo>
                  <a:lnTo>
                    <a:pt x="4090988" y="624306"/>
                  </a:lnTo>
                  <a:lnTo>
                    <a:pt x="4122173" y="675216"/>
                  </a:lnTo>
                  <a:lnTo>
                    <a:pt x="4145926" y="727279"/>
                  </a:lnTo>
                  <a:lnTo>
                    <a:pt x="4162002" y="780395"/>
                  </a:lnTo>
                  <a:lnTo>
                    <a:pt x="4170157" y="834462"/>
                  </a:lnTo>
                  <a:lnTo>
                    <a:pt x="4171188" y="861821"/>
                  </a:lnTo>
                  <a:lnTo>
                    <a:pt x="4170157" y="889181"/>
                  </a:lnTo>
                  <a:lnTo>
                    <a:pt x="4162002" y="943248"/>
                  </a:lnTo>
                  <a:lnTo>
                    <a:pt x="4145926" y="996364"/>
                  </a:lnTo>
                  <a:lnTo>
                    <a:pt x="4122173" y="1048427"/>
                  </a:lnTo>
                  <a:lnTo>
                    <a:pt x="4090988" y="1099337"/>
                  </a:lnTo>
                  <a:lnTo>
                    <a:pt x="4052615" y="1148992"/>
                  </a:lnTo>
                  <a:lnTo>
                    <a:pt x="4007298" y="1197292"/>
                  </a:lnTo>
                  <a:lnTo>
                    <a:pt x="3955281" y="1244135"/>
                  </a:lnTo>
                  <a:lnTo>
                    <a:pt x="3896809" y="1289421"/>
                  </a:lnTo>
                  <a:lnTo>
                    <a:pt x="3865229" y="1311449"/>
                  </a:lnTo>
                  <a:lnTo>
                    <a:pt x="3832126" y="1333049"/>
                  </a:lnTo>
                  <a:lnTo>
                    <a:pt x="3797532" y="1354210"/>
                  </a:lnTo>
                  <a:lnTo>
                    <a:pt x="3761476" y="1374918"/>
                  </a:lnTo>
                  <a:lnTo>
                    <a:pt x="3723990" y="1395161"/>
                  </a:lnTo>
                  <a:lnTo>
                    <a:pt x="3685104" y="1414927"/>
                  </a:lnTo>
                  <a:lnTo>
                    <a:pt x="3644848" y="1434202"/>
                  </a:lnTo>
                  <a:lnTo>
                    <a:pt x="3603253" y="1452974"/>
                  </a:lnTo>
                  <a:lnTo>
                    <a:pt x="3560349" y="1471231"/>
                  </a:lnTo>
                  <a:lnTo>
                    <a:pt x="3516168" y="1488960"/>
                  </a:lnTo>
                  <a:lnTo>
                    <a:pt x="3470739" y="1506148"/>
                  </a:lnTo>
                  <a:lnTo>
                    <a:pt x="3424093" y="1522783"/>
                  </a:lnTo>
                  <a:lnTo>
                    <a:pt x="3376261" y="1538851"/>
                  </a:lnTo>
                  <a:lnTo>
                    <a:pt x="3327273" y="1554342"/>
                  </a:lnTo>
                  <a:lnTo>
                    <a:pt x="3277159" y="1569241"/>
                  </a:lnTo>
                  <a:lnTo>
                    <a:pt x="3225951" y="1583536"/>
                  </a:lnTo>
                  <a:lnTo>
                    <a:pt x="3173679" y="1597215"/>
                  </a:lnTo>
                  <a:lnTo>
                    <a:pt x="3120372" y="1610264"/>
                  </a:lnTo>
                  <a:lnTo>
                    <a:pt x="3066063" y="1622672"/>
                  </a:lnTo>
                  <a:lnTo>
                    <a:pt x="3010781" y="1634426"/>
                  </a:lnTo>
                  <a:lnTo>
                    <a:pt x="2954557" y="1645513"/>
                  </a:lnTo>
                  <a:lnTo>
                    <a:pt x="2897421" y="1655921"/>
                  </a:lnTo>
                  <a:lnTo>
                    <a:pt x="2839404" y="1665636"/>
                  </a:lnTo>
                  <a:lnTo>
                    <a:pt x="2780537" y="1674647"/>
                  </a:lnTo>
                  <a:lnTo>
                    <a:pt x="2720850" y="1682940"/>
                  </a:lnTo>
                  <a:lnTo>
                    <a:pt x="2660373" y="1690503"/>
                  </a:lnTo>
                  <a:lnTo>
                    <a:pt x="2599137" y="1697324"/>
                  </a:lnTo>
                  <a:lnTo>
                    <a:pt x="2537173" y="1703390"/>
                  </a:lnTo>
                  <a:lnTo>
                    <a:pt x="2474511" y="1708687"/>
                  </a:lnTo>
                  <a:lnTo>
                    <a:pt x="2411182" y="1713205"/>
                  </a:lnTo>
                  <a:lnTo>
                    <a:pt x="2347215" y="1716929"/>
                  </a:lnTo>
                  <a:lnTo>
                    <a:pt x="2282643" y="1719848"/>
                  </a:lnTo>
                  <a:lnTo>
                    <a:pt x="2217495" y="1721948"/>
                  </a:lnTo>
                  <a:lnTo>
                    <a:pt x="2151802" y="1723218"/>
                  </a:lnTo>
                  <a:lnTo>
                    <a:pt x="2085594" y="1723643"/>
                  </a:lnTo>
                  <a:lnTo>
                    <a:pt x="2019385" y="1723218"/>
                  </a:lnTo>
                  <a:lnTo>
                    <a:pt x="1953692" y="1721948"/>
                  </a:lnTo>
                  <a:lnTo>
                    <a:pt x="1888544" y="1719848"/>
                  </a:lnTo>
                  <a:lnTo>
                    <a:pt x="1823972" y="1716929"/>
                  </a:lnTo>
                  <a:lnTo>
                    <a:pt x="1760005" y="1713205"/>
                  </a:lnTo>
                  <a:lnTo>
                    <a:pt x="1696676" y="1708687"/>
                  </a:lnTo>
                  <a:lnTo>
                    <a:pt x="1634014" y="1703390"/>
                  </a:lnTo>
                  <a:lnTo>
                    <a:pt x="1572050" y="1697324"/>
                  </a:lnTo>
                  <a:lnTo>
                    <a:pt x="1510814" y="1690503"/>
                  </a:lnTo>
                  <a:lnTo>
                    <a:pt x="1450337" y="1682940"/>
                  </a:lnTo>
                  <a:lnTo>
                    <a:pt x="1390650" y="1674647"/>
                  </a:lnTo>
                  <a:lnTo>
                    <a:pt x="1331783" y="1665636"/>
                  </a:lnTo>
                  <a:lnTo>
                    <a:pt x="1273766" y="1655921"/>
                  </a:lnTo>
                  <a:lnTo>
                    <a:pt x="1216630" y="1645513"/>
                  </a:lnTo>
                  <a:lnTo>
                    <a:pt x="1160406" y="1634426"/>
                  </a:lnTo>
                  <a:lnTo>
                    <a:pt x="1105124" y="1622672"/>
                  </a:lnTo>
                  <a:lnTo>
                    <a:pt x="1050815" y="1610264"/>
                  </a:lnTo>
                  <a:lnTo>
                    <a:pt x="997508" y="1597215"/>
                  </a:lnTo>
                  <a:lnTo>
                    <a:pt x="945236" y="1583536"/>
                  </a:lnTo>
                  <a:lnTo>
                    <a:pt x="894028" y="1569241"/>
                  </a:lnTo>
                  <a:lnTo>
                    <a:pt x="843914" y="1554342"/>
                  </a:lnTo>
                  <a:lnTo>
                    <a:pt x="794926" y="1538851"/>
                  </a:lnTo>
                  <a:lnTo>
                    <a:pt x="747094" y="1522783"/>
                  </a:lnTo>
                  <a:lnTo>
                    <a:pt x="700448" y="1506148"/>
                  </a:lnTo>
                  <a:lnTo>
                    <a:pt x="655019" y="1488960"/>
                  </a:lnTo>
                  <a:lnTo>
                    <a:pt x="610838" y="1471231"/>
                  </a:lnTo>
                  <a:lnTo>
                    <a:pt x="567934" y="1452974"/>
                  </a:lnTo>
                  <a:lnTo>
                    <a:pt x="526339" y="1434202"/>
                  </a:lnTo>
                  <a:lnTo>
                    <a:pt x="486083" y="1414927"/>
                  </a:lnTo>
                  <a:lnTo>
                    <a:pt x="447197" y="1395161"/>
                  </a:lnTo>
                  <a:lnTo>
                    <a:pt x="409711" y="1374918"/>
                  </a:lnTo>
                  <a:lnTo>
                    <a:pt x="373655" y="1354210"/>
                  </a:lnTo>
                  <a:lnTo>
                    <a:pt x="339061" y="1333049"/>
                  </a:lnTo>
                  <a:lnTo>
                    <a:pt x="305958" y="1311449"/>
                  </a:lnTo>
                  <a:lnTo>
                    <a:pt x="274378" y="1289421"/>
                  </a:lnTo>
                  <a:lnTo>
                    <a:pt x="215906" y="1244135"/>
                  </a:lnTo>
                  <a:lnTo>
                    <a:pt x="163889" y="1197292"/>
                  </a:lnTo>
                  <a:lnTo>
                    <a:pt x="118572" y="1148992"/>
                  </a:lnTo>
                  <a:lnTo>
                    <a:pt x="80199" y="1099337"/>
                  </a:lnTo>
                  <a:lnTo>
                    <a:pt x="49014" y="1048427"/>
                  </a:lnTo>
                  <a:lnTo>
                    <a:pt x="25261" y="996364"/>
                  </a:lnTo>
                  <a:lnTo>
                    <a:pt x="9185" y="943248"/>
                  </a:lnTo>
                  <a:lnTo>
                    <a:pt x="1030" y="889181"/>
                  </a:lnTo>
                  <a:lnTo>
                    <a:pt x="0" y="86182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4353" y="5013769"/>
              <a:ext cx="175640" cy="18173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25295" y="4443983"/>
              <a:ext cx="495934" cy="1091565"/>
            </a:xfrm>
            <a:custGeom>
              <a:avLst/>
              <a:gdLst/>
              <a:ahLst/>
              <a:cxnLst/>
              <a:rect l="l" t="t" r="r" b="b"/>
              <a:pathLst>
                <a:path w="495935" h="1091564">
                  <a:moveTo>
                    <a:pt x="375158" y="0"/>
                  </a:moveTo>
                  <a:lnTo>
                    <a:pt x="389963" y="47224"/>
                  </a:lnTo>
                  <a:lnTo>
                    <a:pt x="404415" y="94688"/>
                  </a:lnTo>
                  <a:lnTo>
                    <a:pt x="418145" y="142648"/>
                  </a:lnTo>
                  <a:lnTo>
                    <a:pt x="430784" y="191359"/>
                  </a:lnTo>
                  <a:lnTo>
                    <a:pt x="441964" y="241075"/>
                  </a:lnTo>
                  <a:lnTo>
                    <a:pt x="451315" y="292054"/>
                  </a:lnTo>
                  <a:lnTo>
                    <a:pt x="458470" y="344551"/>
                  </a:lnTo>
                  <a:lnTo>
                    <a:pt x="464666" y="387021"/>
                  </a:lnTo>
                  <a:lnTo>
                    <a:pt x="472913" y="431146"/>
                  </a:lnTo>
                  <a:lnTo>
                    <a:pt x="481668" y="476452"/>
                  </a:lnTo>
                  <a:lnTo>
                    <a:pt x="489389" y="522466"/>
                  </a:lnTo>
                  <a:lnTo>
                    <a:pt x="494531" y="568717"/>
                  </a:lnTo>
                  <a:lnTo>
                    <a:pt x="495554" y="614731"/>
                  </a:lnTo>
                  <a:lnTo>
                    <a:pt x="490913" y="660037"/>
                  </a:lnTo>
                  <a:lnTo>
                    <a:pt x="479065" y="704162"/>
                  </a:lnTo>
                  <a:lnTo>
                    <a:pt x="458470" y="746633"/>
                  </a:lnTo>
                  <a:lnTo>
                    <a:pt x="435006" y="778461"/>
                  </a:lnTo>
                  <a:lnTo>
                    <a:pt x="403792" y="811384"/>
                  </a:lnTo>
                  <a:lnTo>
                    <a:pt x="366349" y="844903"/>
                  </a:lnTo>
                  <a:lnTo>
                    <a:pt x="324198" y="878520"/>
                  </a:lnTo>
                  <a:lnTo>
                    <a:pt x="278859" y="911736"/>
                  </a:lnTo>
                  <a:lnTo>
                    <a:pt x="231854" y="944054"/>
                  </a:lnTo>
                  <a:lnTo>
                    <a:pt x="184703" y="974975"/>
                  </a:lnTo>
                  <a:lnTo>
                    <a:pt x="138928" y="1004000"/>
                  </a:lnTo>
                  <a:lnTo>
                    <a:pt x="96049" y="1030632"/>
                  </a:lnTo>
                  <a:lnTo>
                    <a:pt x="57588" y="1054372"/>
                  </a:lnTo>
                  <a:lnTo>
                    <a:pt x="25064" y="1074722"/>
                  </a:lnTo>
                  <a:lnTo>
                    <a:pt x="0" y="109118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725167" y="4213859"/>
              <a:ext cx="725805" cy="805180"/>
            </a:xfrm>
            <a:custGeom>
              <a:avLst/>
              <a:gdLst/>
              <a:ahLst/>
              <a:cxnLst/>
              <a:rect l="l" t="t" r="r" b="b"/>
              <a:pathLst>
                <a:path w="725805" h="805179">
                  <a:moveTo>
                    <a:pt x="0" y="804671"/>
                  </a:moveTo>
                  <a:lnTo>
                    <a:pt x="57806" y="804628"/>
                  </a:lnTo>
                  <a:lnTo>
                    <a:pt x="115190" y="804326"/>
                  </a:lnTo>
                  <a:lnTo>
                    <a:pt x="171728" y="803504"/>
                  </a:lnTo>
                  <a:lnTo>
                    <a:pt x="226996" y="801905"/>
                  </a:lnTo>
                  <a:lnTo>
                    <a:pt x="280572" y="799269"/>
                  </a:lnTo>
                  <a:lnTo>
                    <a:pt x="332033" y="795335"/>
                  </a:lnTo>
                  <a:lnTo>
                    <a:pt x="380955" y="789846"/>
                  </a:lnTo>
                  <a:lnTo>
                    <a:pt x="426916" y="782541"/>
                  </a:lnTo>
                  <a:lnTo>
                    <a:pt x="469492" y="773161"/>
                  </a:lnTo>
                  <a:lnTo>
                    <a:pt x="508260" y="761448"/>
                  </a:lnTo>
                  <a:lnTo>
                    <a:pt x="587818" y="719684"/>
                  </a:lnTo>
                  <a:lnTo>
                    <a:pt x="622748" y="686856"/>
                  </a:lnTo>
                  <a:lnTo>
                    <a:pt x="649410" y="649162"/>
                  </a:lnTo>
                  <a:lnTo>
                    <a:pt x="669624" y="607110"/>
                  </a:lnTo>
                  <a:lnTo>
                    <a:pt x="685213" y="561206"/>
                  </a:lnTo>
                  <a:lnTo>
                    <a:pt x="697999" y="511956"/>
                  </a:lnTo>
                  <a:lnTo>
                    <a:pt x="709803" y="459866"/>
                  </a:lnTo>
                  <a:lnTo>
                    <a:pt x="717583" y="416802"/>
                  </a:lnTo>
                  <a:lnTo>
                    <a:pt x="722614" y="370903"/>
                  </a:lnTo>
                  <a:lnTo>
                    <a:pt x="725240" y="322523"/>
                  </a:lnTo>
                  <a:lnTo>
                    <a:pt x="725806" y="272017"/>
                  </a:lnTo>
                  <a:lnTo>
                    <a:pt x="724656" y="219740"/>
                  </a:lnTo>
                  <a:lnTo>
                    <a:pt x="722136" y="166045"/>
                  </a:lnTo>
                  <a:lnTo>
                    <a:pt x="718590" y="111287"/>
                  </a:lnTo>
                  <a:lnTo>
                    <a:pt x="714364" y="55820"/>
                  </a:lnTo>
                  <a:lnTo>
                    <a:pt x="709803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010596" y="4902707"/>
              <a:ext cx="674370" cy="919480"/>
            </a:xfrm>
            <a:custGeom>
              <a:avLst/>
              <a:gdLst/>
              <a:ahLst/>
              <a:cxnLst/>
              <a:rect l="l" t="t" r="r" b="b"/>
              <a:pathLst>
                <a:path w="674369" h="919479">
                  <a:moveTo>
                    <a:pt x="381956" y="0"/>
                  </a:moveTo>
                  <a:lnTo>
                    <a:pt x="417306" y="26177"/>
                  </a:lnTo>
                  <a:lnTo>
                    <a:pt x="452155" y="54427"/>
                  </a:lnTo>
                  <a:lnTo>
                    <a:pt x="486006" y="86822"/>
                  </a:lnTo>
                  <a:lnTo>
                    <a:pt x="518356" y="125435"/>
                  </a:lnTo>
                  <a:lnTo>
                    <a:pt x="548707" y="172339"/>
                  </a:lnTo>
                  <a:lnTo>
                    <a:pt x="570592" y="214518"/>
                  </a:lnTo>
                  <a:lnTo>
                    <a:pt x="593579" y="264906"/>
                  </a:lnTo>
                  <a:lnTo>
                    <a:pt x="616204" y="319985"/>
                  </a:lnTo>
                  <a:lnTo>
                    <a:pt x="637003" y="376241"/>
                  </a:lnTo>
                  <a:lnTo>
                    <a:pt x="654511" y="430154"/>
                  </a:lnTo>
                  <a:lnTo>
                    <a:pt x="667266" y="478209"/>
                  </a:lnTo>
                  <a:lnTo>
                    <a:pt x="673802" y="516890"/>
                  </a:lnTo>
                  <a:lnTo>
                    <a:pt x="670571" y="561762"/>
                  </a:lnTo>
                  <a:lnTo>
                    <a:pt x="653006" y="588692"/>
                  </a:lnTo>
                  <a:lnTo>
                    <a:pt x="625010" y="608455"/>
                  </a:lnTo>
                  <a:lnTo>
                    <a:pt x="590490" y="631825"/>
                  </a:lnTo>
                  <a:lnTo>
                    <a:pt x="558793" y="656609"/>
                  </a:lnTo>
                  <a:lnTo>
                    <a:pt x="522079" y="683248"/>
                  </a:lnTo>
                  <a:lnTo>
                    <a:pt x="480360" y="708978"/>
                  </a:lnTo>
                  <a:lnTo>
                    <a:pt x="433648" y="731036"/>
                  </a:lnTo>
                  <a:lnTo>
                    <a:pt x="381956" y="746658"/>
                  </a:lnTo>
                  <a:lnTo>
                    <a:pt x="338329" y="751181"/>
                  </a:lnTo>
                  <a:lnTo>
                    <a:pt x="287278" y="750010"/>
                  </a:lnTo>
                  <a:lnTo>
                    <a:pt x="232450" y="745657"/>
                  </a:lnTo>
                  <a:lnTo>
                    <a:pt x="177493" y="740633"/>
                  </a:lnTo>
                  <a:lnTo>
                    <a:pt x="126055" y="737451"/>
                  </a:lnTo>
                  <a:lnTo>
                    <a:pt x="81784" y="738622"/>
                  </a:lnTo>
                  <a:lnTo>
                    <a:pt x="13993" y="775605"/>
                  </a:lnTo>
                  <a:lnTo>
                    <a:pt x="162" y="816665"/>
                  </a:lnTo>
                  <a:lnTo>
                    <a:pt x="0" y="865800"/>
                  </a:lnTo>
                  <a:lnTo>
                    <a:pt x="6671" y="91897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642616" y="4213859"/>
              <a:ext cx="633730" cy="1149350"/>
            </a:xfrm>
            <a:custGeom>
              <a:avLst/>
              <a:gdLst/>
              <a:ahLst/>
              <a:cxnLst/>
              <a:rect l="l" t="t" r="r" b="b"/>
              <a:pathLst>
                <a:path w="633729" h="1149350">
                  <a:moveTo>
                    <a:pt x="83566" y="1149095"/>
                  </a:moveTo>
                  <a:lnTo>
                    <a:pt x="134717" y="1124282"/>
                  </a:lnTo>
                  <a:lnTo>
                    <a:pt x="185404" y="1099399"/>
                  </a:lnTo>
                  <a:lnTo>
                    <a:pt x="235155" y="1074382"/>
                  </a:lnTo>
                  <a:lnTo>
                    <a:pt x="283499" y="1049169"/>
                  </a:lnTo>
                  <a:lnTo>
                    <a:pt x="329964" y="1023695"/>
                  </a:lnTo>
                  <a:lnTo>
                    <a:pt x="374080" y="997897"/>
                  </a:lnTo>
                  <a:lnTo>
                    <a:pt x="415375" y="971711"/>
                  </a:lnTo>
                  <a:lnTo>
                    <a:pt x="453378" y="945074"/>
                  </a:lnTo>
                  <a:lnTo>
                    <a:pt x="487618" y="917923"/>
                  </a:lnTo>
                  <a:lnTo>
                    <a:pt x="517624" y="890193"/>
                  </a:lnTo>
                  <a:lnTo>
                    <a:pt x="572385" y="822675"/>
                  </a:lnTo>
                  <a:lnTo>
                    <a:pt x="597370" y="783748"/>
                  </a:lnTo>
                  <a:lnTo>
                    <a:pt x="616655" y="744369"/>
                  </a:lnTo>
                  <a:lnTo>
                    <a:pt x="629015" y="703865"/>
                  </a:lnTo>
                  <a:lnTo>
                    <a:pt x="633225" y="661563"/>
                  </a:lnTo>
                  <a:lnTo>
                    <a:pt x="628060" y="616791"/>
                  </a:lnTo>
                  <a:lnTo>
                    <a:pt x="612296" y="568875"/>
                  </a:lnTo>
                  <a:lnTo>
                    <a:pt x="584708" y="517143"/>
                  </a:lnTo>
                  <a:lnTo>
                    <a:pt x="543722" y="461340"/>
                  </a:lnTo>
                  <a:lnTo>
                    <a:pt x="518301" y="432079"/>
                  </a:lnTo>
                  <a:lnTo>
                    <a:pt x="489900" y="401996"/>
                  </a:lnTo>
                  <a:lnTo>
                    <a:pt x="458748" y="371155"/>
                  </a:lnTo>
                  <a:lnTo>
                    <a:pt x="425074" y="339619"/>
                  </a:lnTo>
                  <a:lnTo>
                    <a:pt x="389106" y="307452"/>
                  </a:lnTo>
                  <a:lnTo>
                    <a:pt x="351075" y="274716"/>
                  </a:lnTo>
                  <a:lnTo>
                    <a:pt x="311209" y="241477"/>
                  </a:lnTo>
                  <a:lnTo>
                    <a:pt x="269736" y="207796"/>
                  </a:lnTo>
                  <a:lnTo>
                    <a:pt x="226887" y="173737"/>
                  </a:lnTo>
                  <a:lnTo>
                    <a:pt x="182889" y="139364"/>
                  </a:lnTo>
                  <a:lnTo>
                    <a:pt x="137973" y="104741"/>
                  </a:lnTo>
                  <a:lnTo>
                    <a:pt x="92366" y="69930"/>
                  </a:lnTo>
                  <a:lnTo>
                    <a:pt x="46299" y="34995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268979" y="4960619"/>
              <a:ext cx="708660" cy="861060"/>
            </a:xfrm>
            <a:custGeom>
              <a:avLst/>
              <a:gdLst/>
              <a:ahLst/>
              <a:cxnLst/>
              <a:rect l="l" t="t" r="r" b="b"/>
              <a:pathLst>
                <a:path w="708660" h="861060">
                  <a:moveTo>
                    <a:pt x="0" y="0"/>
                  </a:moveTo>
                  <a:lnTo>
                    <a:pt x="52933" y="17980"/>
                  </a:lnTo>
                  <a:lnTo>
                    <a:pt x="105537" y="36209"/>
                  </a:lnTo>
                  <a:lnTo>
                    <a:pt x="157485" y="54937"/>
                  </a:lnTo>
                  <a:lnTo>
                    <a:pt x="208454" y="74412"/>
                  </a:lnTo>
                  <a:lnTo>
                    <a:pt x="258116" y="94884"/>
                  </a:lnTo>
                  <a:lnTo>
                    <a:pt x="306149" y="116601"/>
                  </a:lnTo>
                  <a:lnTo>
                    <a:pt x="352226" y="139814"/>
                  </a:lnTo>
                  <a:lnTo>
                    <a:pt x="396023" y="164770"/>
                  </a:lnTo>
                  <a:lnTo>
                    <a:pt x="437215" y="191720"/>
                  </a:lnTo>
                  <a:lnTo>
                    <a:pt x="475476" y="220912"/>
                  </a:lnTo>
                  <a:lnTo>
                    <a:pt x="510483" y="252595"/>
                  </a:lnTo>
                  <a:lnTo>
                    <a:pt x="541909" y="287019"/>
                  </a:lnTo>
                  <a:lnTo>
                    <a:pt x="569538" y="324350"/>
                  </a:lnTo>
                  <a:lnTo>
                    <a:pt x="593586" y="364422"/>
                  </a:lnTo>
                  <a:lnTo>
                    <a:pt x="614380" y="406985"/>
                  </a:lnTo>
                  <a:lnTo>
                    <a:pt x="632243" y="451790"/>
                  </a:lnTo>
                  <a:lnTo>
                    <a:pt x="647501" y="498589"/>
                  </a:lnTo>
                  <a:lnTo>
                    <a:pt x="660479" y="547131"/>
                  </a:lnTo>
                  <a:lnTo>
                    <a:pt x="671501" y="597169"/>
                  </a:lnTo>
                  <a:lnTo>
                    <a:pt x="680894" y="648452"/>
                  </a:lnTo>
                  <a:lnTo>
                    <a:pt x="688980" y="700732"/>
                  </a:lnTo>
                  <a:lnTo>
                    <a:pt x="696087" y="753759"/>
                  </a:lnTo>
                  <a:lnTo>
                    <a:pt x="702538" y="807285"/>
                  </a:lnTo>
                  <a:lnTo>
                    <a:pt x="708660" y="86105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811523" y="4328159"/>
              <a:ext cx="291465" cy="919480"/>
            </a:xfrm>
            <a:custGeom>
              <a:avLst/>
              <a:gdLst/>
              <a:ahLst/>
              <a:cxnLst/>
              <a:rect l="l" t="t" r="r" b="b"/>
              <a:pathLst>
                <a:path w="291464" h="919479">
                  <a:moveTo>
                    <a:pt x="0" y="918971"/>
                  </a:moveTo>
                  <a:lnTo>
                    <a:pt x="19628" y="877445"/>
                  </a:lnTo>
                  <a:lnTo>
                    <a:pt x="39171" y="835683"/>
                  </a:lnTo>
                  <a:lnTo>
                    <a:pt x="58542" y="793448"/>
                  </a:lnTo>
                  <a:lnTo>
                    <a:pt x="77656" y="750505"/>
                  </a:lnTo>
                  <a:lnTo>
                    <a:pt x="96427" y="706617"/>
                  </a:lnTo>
                  <a:lnTo>
                    <a:pt x="114770" y="661547"/>
                  </a:lnTo>
                  <a:lnTo>
                    <a:pt x="132598" y="615060"/>
                  </a:lnTo>
                  <a:lnTo>
                    <a:pt x="149827" y="566920"/>
                  </a:lnTo>
                  <a:lnTo>
                    <a:pt x="166370" y="516889"/>
                  </a:lnTo>
                  <a:lnTo>
                    <a:pt x="180622" y="470109"/>
                  </a:lnTo>
                  <a:lnTo>
                    <a:pt x="194312" y="421778"/>
                  </a:lnTo>
                  <a:lnTo>
                    <a:pt x="207501" y="372069"/>
                  </a:lnTo>
                  <a:lnTo>
                    <a:pt x="220254" y="321155"/>
                  </a:lnTo>
                  <a:lnTo>
                    <a:pt x="232632" y="269208"/>
                  </a:lnTo>
                  <a:lnTo>
                    <a:pt x="244697" y="216399"/>
                  </a:lnTo>
                  <a:lnTo>
                    <a:pt x="256512" y="162902"/>
                  </a:lnTo>
                  <a:lnTo>
                    <a:pt x="268140" y="108888"/>
                  </a:lnTo>
                  <a:lnTo>
                    <a:pt x="279643" y="54530"/>
                  </a:lnTo>
                  <a:lnTo>
                    <a:pt x="29108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31290" y="4500371"/>
              <a:ext cx="628015" cy="637540"/>
            </a:xfrm>
            <a:custGeom>
              <a:avLst/>
              <a:gdLst/>
              <a:ahLst/>
              <a:cxnLst/>
              <a:rect l="l" t="t" r="r" b="b"/>
              <a:pathLst>
                <a:path w="628014" h="637539">
                  <a:moveTo>
                    <a:pt x="461518" y="0"/>
                  </a:moveTo>
                  <a:lnTo>
                    <a:pt x="376301" y="127"/>
                  </a:lnTo>
                  <a:lnTo>
                    <a:pt x="390563" y="28575"/>
                  </a:lnTo>
                  <a:lnTo>
                    <a:pt x="0" y="224409"/>
                  </a:lnTo>
                  <a:lnTo>
                    <a:pt x="5588" y="235839"/>
                  </a:lnTo>
                  <a:lnTo>
                    <a:pt x="396252" y="39890"/>
                  </a:lnTo>
                  <a:lnTo>
                    <a:pt x="410464" y="68199"/>
                  </a:lnTo>
                  <a:lnTo>
                    <a:pt x="444398" y="22860"/>
                  </a:lnTo>
                  <a:lnTo>
                    <a:pt x="461416" y="127"/>
                  </a:lnTo>
                  <a:lnTo>
                    <a:pt x="461518" y="0"/>
                  </a:lnTo>
                  <a:close/>
                </a:path>
                <a:path w="628014" h="637539">
                  <a:moveTo>
                    <a:pt x="627634" y="172212"/>
                  </a:moveTo>
                  <a:lnTo>
                    <a:pt x="544195" y="189484"/>
                  </a:lnTo>
                  <a:lnTo>
                    <a:pt x="563829" y="214363"/>
                  </a:lnTo>
                  <a:lnTo>
                    <a:pt x="40005" y="627507"/>
                  </a:lnTo>
                  <a:lnTo>
                    <a:pt x="47879" y="637413"/>
                  </a:lnTo>
                  <a:lnTo>
                    <a:pt x="571728" y="224358"/>
                  </a:lnTo>
                  <a:lnTo>
                    <a:pt x="591439" y="249301"/>
                  </a:lnTo>
                  <a:lnTo>
                    <a:pt x="611530" y="206502"/>
                  </a:lnTo>
                  <a:lnTo>
                    <a:pt x="627634" y="1722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8045" y="4381309"/>
              <a:ext cx="175641" cy="18173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1681" y="4667821"/>
              <a:ext cx="177165" cy="18173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4161" y="4611433"/>
              <a:ext cx="177164" cy="18173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6641" y="4667821"/>
              <a:ext cx="177164" cy="18173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0525" y="4955857"/>
              <a:ext cx="175641" cy="18173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057273" y="4437887"/>
              <a:ext cx="836930" cy="528320"/>
            </a:xfrm>
            <a:custGeom>
              <a:avLst/>
              <a:gdLst/>
              <a:ahLst/>
              <a:cxnLst/>
              <a:rect l="l" t="t" r="r" b="b"/>
              <a:pathLst>
                <a:path w="836930" h="528320">
                  <a:moveTo>
                    <a:pt x="711835" y="522732"/>
                  </a:moveTo>
                  <a:lnTo>
                    <a:pt x="695693" y="503809"/>
                  </a:lnTo>
                  <a:lnTo>
                    <a:pt x="656590" y="457962"/>
                  </a:lnTo>
                  <a:lnTo>
                    <a:pt x="644144" y="487172"/>
                  </a:lnTo>
                  <a:lnTo>
                    <a:pt x="171831" y="286766"/>
                  </a:lnTo>
                  <a:lnTo>
                    <a:pt x="166751" y="298450"/>
                  </a:lnTo>
                  <a:lnTo>
                    <a:pt x="639178" y="498856"/>
                  </a:lnTo>
                  <a:lnTo>
                    <a:pt x="626745" y="528066"/>
                  </a:lnTo>
                  <a:lnTo>
                    <a:pt x="711835" y="522732"/>
                  </a:lnTo>
                  <a:close/>
                </a:path>
                <a:path w="836930" h="528320">
                  <a:moveTo>
                    <a:pt x="836803" y="234696"/>
                  </a:moveTo>
                  <a:lnTo>
                    <a:pt x="824890" y="224028"/>
                  </a:lnTo>
                  <a:lnTo>
                    <a:pt x="773303" y="177800"/>
                  </a:lnTo>
                  <a:lnTo>
                    <a:pt x="764933" y="208470"/>
                  </a:lnTo>
                  <a:lnTo>
                    <a:pt x="3302" y="0"/>
                  </a:lnTo>
                  <a:lnTo>
                    <a:pt x="0" y="12192"/>
                  </a:lnTo>
                  <a:lnTo>
                    <a:pt x="761606" y="220662"/>
                  </a:lnTo>
                  <a:lnTo>
                    <a:pt x="753237" y="251333"/>
                  </a:lnTo>
                  <a:lnTo>
                    <a:pt x="836803" y="2346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0"/>
              <a:t>Quotientenautomat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199080"/>
            <a:ext cx="7639684" cy="457263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2400" spc="-145" b="1">
                <a:latin typeface="Arial"/>
                <a:cs typeface="Arial"/>
              </a:rPr>
              <a:t>Partitionierung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der</a:t>
            </a:r>
            <a:r>
              <a:rPr dirty="0" sz="2400" spc="-70">
                <a:latin typeface="Arial"/>
                <a:cs typeface="Arial"/>
              </a:rPr>
              <a:t> Zustandsmenge:</a:t>
            </a:r>
            <a:endParaRPr sz="2400">
              <a:latin typeface="Arial"/>
              <a:cs typeface="Arial"/>
            </a:endParaRPr>
          </a:p>
          <a:p>
            <a:pPr marL="241300" marR="2989580" indent="-228600">
              <a:lnSpc>
                <a:spcPts val="2160"/>
              </a:lnSpc>
              <a:spcBef>
                <a:spcPts val="106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1300" algn="l"/>
              </a:tabLst>
            </a:pPr>
            <a:r>
              <a:rPr dirty="0" sz="2000" spc="-70">
                <a:latin typeface="Arial"/>
                <a:cs typeface="Arial"/>
              </a:rPr>
              <a:t>Abstraktion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95">
                <a:latin typeface="Arial"/>
                <a:cs typeface="Arial"/>
              </a:rPr>
              <a:t>von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bestimmten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Variablen </a:t>
            </a:r>
            <a:r>
              <a:rPr dirty="0" sz="2000" spc="-75">
                <a:latin typeface="Arial"/>
                <a:cs typeface="Arial"/>
              </a:rPr>
              <a:t>(Wertebereich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reduzieren </a:t>
            </a:r>
            <a:r>
              <a:rPr dirty="0" sz="2000" spc="-50">
                <a:latin typeface="Arial"/>
                <a:cs typeface="Arial"/>
              </a:rPr>
              <a:t>oder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105">
                <a:latin typeface="Arial"/>
                <a:cs typeface="Arial"/>
              </a:rPr>
              <a:t>weglassen)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ts val="2280"/>
              </a:lnSpc>
              <a:spcBef>
                <a:spcPts val="73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120">
                <a:latin typeface="Arial"/>
                <a:cs typeface="Arial"/>
              </a:rPr>
              <a:t>Zustände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im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Quotientenautomat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sind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114">
                <a:latin typeface="Arial"/>
                <a:cs typeface="Arial"/>
              </a:rPr>
              <a:t>Äquivalenzklassen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95">
                <a:latin typeface="Arial"/>
                <a:cs typeface="Arial"/>
              </a:rPr>
              <a:t>von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60">
                <a:latin typeface="Arial"/>
                <a:cs typeface="Arial"/>
              </a:rPr>
              <a:t>Zuständen</a:t>
            </a:r>
            <a:endParaRPr sz="2000">
              <a:latin typeface="Arial"/>
              <a:cs typeface="Arial"/>
            </a:endParaRPr>
          </a:p>
          <a:p>
            <a:pPr marL="241300">
              <a:lnSpc>
                <a:spcPts val="2280"/>
              </a:lnSpc>
            </a:pPr>
            <a:r>
              <a:rPr dirty="0" sz="2000" spc="-40">
                <a:latin typeface="Arial"/>
                <a:cs typeface="Arial"/>
              </a:rPr>
              <a:t>im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ursprünglichen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Automaten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85">
                <a:latin typeface="Arial"/>
                <a:cs typeface="Arial"/>
              </a:rPr>
              <a:t>Problem: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90">
                <a:latin typeface="Arial"/>
                <a:cs typeface="Arial"/>
              </a:rPr>
              <a:t>Menge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möglicher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90">
                <a:latin typeface="Arial"/>
                <a:cs typeface="Arial"/>
              </a:rPr>
              <a:t>Abläufe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10">
                <a:latin typeface="Arial"/>
                <a:cs typeface="Arial"/>
              </a:rPr>
              <a:t>kann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25">
                <a:latin typeface="Arial"/>
                <a:cs typeface="Arial"/>
              </a:rPr>
              <a:t>sich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vergrößern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114">
                <a:latin typeface="Arial"/>
                <a:cs typeface="Arial"/>
              </a:rPr>
              <a:t>Gesucht: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Abstraktion,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die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die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50">
                <a:latin typeface="Arial"/>
                <a:cs typeface="Arial"/>
              </a:rPr>
              <a:t>Sprache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nicht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vergrößert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0"/>
              </a:spcBef>
              <a:buClr>
                <a:srgbClr val="2D75B6"/>
              </a:buClr>
              <a:buFont typeface="Wingdings"/>
              <a:buChar char=""/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spc="-204" b="1">
                <a:latin typeface="Arial"/>
                <a:cs typeface="Arial"/>
              </a:rPr>
              <a:t>Bei</a:t>
            </a:r>
            <a:r>
              <a:rPr dirty="0" sz="2400" spc="-125" b="1">
                <a:latin typeface="Arial"/>
                <a:cs typeface="Arial"/>
              </a:rPr>
              <a:t> </a:t>
            </a:r>
            <a:r>
              <a:rPr dirty="0" sz="2400" spc="-170" b="1">
                <a:latin typeface="Arial"/>
                <a:cs typeface="Arial"/>
              </a:rPr>
              <a:t>Timed</a:t>
            </a:r>
            <a:r>
              <a:rPr dirty="0" sz="2400" spc="-120" b="1">
                <a:latin typeface="Arial"/>
                <a:cs typeface="Arial"/>
              </a:rPr>
              <a:t> </a:t>
            </a:r>
            <a:r>
              <a:rPr dirty="0" sz="2400" spc="-30" b="1">
                <a:latin typeface="Arial"/>
                <a:cs typeface="Arial"/>
              </a:rPr>
              <a:t>Automata</a:t>
            </a:r>
            <a:r>
              <a:rPr dirty="0" sz="2400" spc="-3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241300" marR="743585" indent="-228600">
              <a:lnSpc>
                <a:spcPts val="2160"/>
              </a:lnSpc>
              <a:spcBef>
                <a:spcPts val="106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1300" algn="l"/>
              </a:tabLst>
            </a:pPr>
            <a:r>
              <a:rPr dirty="0" sz="2000" spc="-60">
                <a:latin typeface="Arial"/>
                <a:cs typeface="Arial"/>
              </a:rPr>
              <a:t>Nicht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jede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mögliche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Uhrenbelegung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führt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155">
                <a:latin typeface="Arial"/>
                <a:cs typeface="Arial"/>
              </a:rPr>
              <a:t>zu</a:t>
            </a:r>
            <a:r>
              <a:rPr dirty="0" sz="2000" spc="-60">
                <a:latin typeface="Arial"/>
                <a:cs typeface="Arial"/>
              </a:rPr>
              <a:t> einer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Änderung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des </a:t>
            </a:r>
            <a:r>
              <a:rPr dirty="0" sz="2000" spc="-10">
                <a:latin typeface="Arial"/>
                <a:cs typeface="Arial"/>
              </a:rPr>
              <a:t>Ablaufs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95">
                <a:latin typeface="Arial"/>
                <a:cs typeface="Arial"/>
              </a:rPr>
              <a:t>Manche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20">
                <a:latin typeface="Arial"/>
                <a:cs typeface="Arial"/>
              </a:rPr>
              <a:t>Zustände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sind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“zeitlich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abstrakt”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äquivalent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85"/>
              <a:t>Äquivalenzklassenbildung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81125"/>
            <a:ext cx="7673340" cy="3535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40"/>
              </a:lnSpc>
              <a:spcBef>
                <a:spcPts val="100"/>
              </a:spcBef>
            </a:pPr>
            <a:r>
              <a:rPr dirty="0" sz="2400" spc="-200" b="1">
                <a:latin typeface="Arial"/>
                <a:cs typeface="Arial"/>
              </a:rPr>
              <a:t>Gesucht</a:t>
            </a:r>
            <a:r>
              <a:rPr dirty="0" sz="2400" spc="-200">
                <a:latin typeface="Arial"/>
                <a:cs typeface="Arial"/>
              </a:rPr>
              <a:t>: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135">
                <a:latin typeface="Arial"/>
                <a:cs typeface="Arial"/>
              </a:rPr>
              <a:t>Äquivalenzklassen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mit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“ähnlichen”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zeitlichen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40"/>
              </a:lnSpc>
            </a:pPr>
            <a:r>
              <a:rPr dirty="0" sz="2400" spc="-60">
                <a:latin typeface="Arial"/>
                <a:cs typeface="Arial"/>
              </a:rPr>
              <a:t>Eigenschaften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35"/>
              </a:spcBef>
            </a:pPr>
            <a:endParaRPr sz="2400">
              <a:latin typeface="Arial"/>
              <a:cs typeface="Arial"/>
            </a:endParaRPr>
          </a:p>
          <a:p>
            <a:pPr marL="12700" marR="10795">
              <a:lnSpc>
                <a:spcPct val="90000"/>
              </a:lnSpc>
            </a:pPr>
            <a:r>
              <a:rPr dirty="0" sz="2400" spc="-105" b="1">
                <a:latin typeface="Arial"/>
                <a:cs typeface="Arial"/>
              </a:rPr>
              <a:t>Idee</a:t>
            </a:r>
            <a:r>
              <a:rPr dirty="0" sz="2400" spc="-105">
                <a:latin typeface="Arial"/>
                <a:cs typeface="Arial"/>
              </a:rPr>
              <a:t>: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wenn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215">
                <a:latin typeface="Arial"/>
                <a:cs typeface="Arial"/>
              </a:rPr>
              <a:t>es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nur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65">
                <a:latin typeface="Arial"/>
                <a:cs typeface="Arial"/>
              </a:rPr>
              <a:t>ganzzahlige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20">
                <a:latin typeface="Arial"/>
                <a:cs typeface="Arial"/>
              </a:rPr>
              <a:t>Konstanten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45">
                <a:latin typeface="Arial"/>
                <a:cs typeface="Arial"/>
              </a:rPr>
              <a:t>im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85">
                <a:latin typeface="Arial"/>
                <a:cs typeface="Arial"/>
              </a:rPr>
              <a:t>Automaten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gibt, </a:t>
            </a:r>
            <a:r>
              <a:rPr dirty="0" sz="2400" spc="-105">
                <a:latin typeface="Arial"/>
                <a:cs typeface="Arial"/>
              </a:rPr>
              <a:t>spielen </a:t>
            </a:r>
            <a:r>
              <a:rPr dirty="0" sz="2400" spc="-60">
                <a:latin typeface="Arial"/>
                <a:cs typeface="Arial"/>
              </a:rPr>
              <a:t>fraktionale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70">
                <a:latin typeface="Arial"/>
                <a:cs typeface="Arial"/>
              </a:rPr>
              <a:t>Anteile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der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20">
                <a:latin typeface="Arial"/>
                <a:cs typeface="Arial"/>
              </a:rPr>
              <a:t>Uhren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für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die</a:t>
            </a:r>
            <a:r>
              <a:rPr dirty="0" sz="2400" spc="-105">
                <a:latin typeface="Arial"/>
                <a:cs typeface="Arial"/>
              </a:rPr>
              <a:t> Auswertung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der </a:t>
            </a:r>
            <a:r>
              <a:rPr dirty="0" sz="2400" spc="-120">
                <a:latin typeface="Arial"/>
                <a:cs typeface="Arial"/>
              </a:rPr>
              <a:t>Uhrenbedingungen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keine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Rolle!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2400">
              <a:latin typeface="Arial"/>
              <a:cs typeface="Arial"/>
            </a:endParaRPr>
          </a:p>
          <a:p>
            <a:pPr marL="1131570" marR="5080" indent="-1119505">
              <a:lnSpc>
                <a:spcPts val="2590"/>
              </a:lnSpc>
            </a:pPr>
            <a:r>
              <a:rPr dirty="0" sz="2400" spc="-170" b="1">
                <a:latin typeface="Arial"/>
                <a:cs typeface="Arial"/>
              </a:rPr>
              <a:t>Beispiel</a:t>
            </a:r>
            <a:r>
              <a:rPr dirty="0" sz="2400" spc="-170">
                <a:latin typeface="Arial"/>
                <a:cs typeface="Arial"/>
              </a:rPr>
              <a:t>: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für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die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Auswertung</a:t>
            </a:r>
            <a:r>
              <a:rPr dirty="0" sz="2400" spc="-114">
                <a:latin typeface="Arial"/>
                <a:cs typeface="Arial"/>
              </a:rPr>
              <a:t> von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75">
                <a:latin typeface="Arial"/>
                <a:cs typeface="Arial"/>
              </a:rPr>
              <a:t>x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25">
                <a:latin typeface="Arial"/>
                <a:cs typeface="Arial"/>
              </a:rPr>
              <a:t>≥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40">
                <a:latin typeface="Arial"/>
                <a:cs typeface="Arial"/>
              </a:rPr>
              <a:t>1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65">
                <a:latin typeface="Arial"/>
                <a:cs typeface="Arial"/>
              </a:rPr>
              <a:t>spielt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es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20">
                <a:latin typeface="Arial"/>
                <a:cs typeface="Arial"/>
              </a:rPr>
              <a:t>keine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30">
                <a:latin typeface="Arial"/>
                <a:cs typeface="Arial"/>
              </a:rPr>
              <a:t>Rolle,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ob </a:t>
            </a:r>
            <a:r>
              <a:rPr dirty="0" sz="2400" spc="-175">
                <a:latin typeface="Arial"/>
                <a:cs typeface="Arial"/>
              </a:rPr>
              <a:t>x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=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100">
                <a:latin typeface="Arial"/>
                <a:cs typeface="Arial"/>
              </a:rPr>
              <a:t>1,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175">
                <a:latin typeface="Arial"/>
                <a:cs typeface="Arial"/>
              </a:rPr>
              <a:t>x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=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1.1,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75">
                <a:latin typeface="Arial"/>
                <a:cs typeface="Arial"/>
              </a:rPr>
              <a:t>x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=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1.7,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75">
                <a:latin typeface="Arial"/>
                <a:cs typeface="Arial"/>
              </a:rPr>
              <a:t>x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=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204">
                <a:latin typeface="Arial"/>
                <a:cs typeface="Arial"/>
              </a:rPr>
              <a:t>π,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175">
                <a:latin typeface="Arial"/>
                <a:cs typeface="Arial"/>
              </a:rPr>
              <a:t>x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=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120">
                <a:latin typeface="Arial"/>
                <a:cs typeface="Arial"/>
              </a:rPr>
              <a:t>53,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795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20"/>
              <a:t>Regionenäquivalenz:</a:t>
            </a:r>
            <a:r>
              <a:rPr dirty="0" spc="-160"/>
              <a:t> </a:t>
            </a:r>
            <a:r>
              <a:rPr dirty="0" spc="-10"/>
              <a:t>Intuition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9442" y="1281125"/>
            <a:ext cx="7637780" cy="285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 sz="2400" spc="-160">
                <a:latin typeface="Arial"/>
                <a:cs typeface="Arial"/>
              </a:rPr>
              <a:t>Ansatz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10">
                <a:latin typeface="Arial"/>
                <a:cs typeface="Arial"/>
              </a:rPr>
              <a:t>zur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70">
                <a:latin typeface="Arial"/>
                <a:cs typeface="Arial"/>
              </a:rPr>
              <a:t>Partitionierung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80">
                <a:latin typeface="Arial"/>
                <a:cs typeface="Arial"/>
              </a:rPr>
              <a:t>des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45">
                <a:latin typeface="Arial"/>
                <a:cs typeface="Arial"/>
              </a:rPr>
              <a:t>Zustandsraums: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65" b="1">
                <a:latin typeface="Arial"/>
                <a:cs typeface="Arial"/>
              </a:rPr>
              <a:t>Regionen</a:t>
            </a:r>
            <a:endParaRPr sz="24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2690"/>
              </a:spcBef>
            </a:pPr>
            <a:r>
              <a:rPr dirty="0" sz="2400" spc="-130" b="1">
                <a:latin typeface="Arial"/>
                <a:cs typeface="Arial"/>
              </a:rPr>
              <a:t>Idee</a:t>
            </a:r>
            <a:r>
              <a:rPr dirty="0" sz="2400" spc="-95" b="1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von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äquivalenten </a:t>
            </a:r>
            <a:r>
              <a:rPr dirty="0" sz="2400" spc="-45">
                <a:latin typeface="Arial"/>
                <a:cs typeface="Arial"/>
              </a:rPr>
              <a:t>Uhrenbelegungen:</a:t>
            </a:r>
            <a:endParaRPr sz="2400">
              <a:latin typeface="Arial"/>
              <a:cs typeface="Arial"/>
            </a:endParaRPr>
          </a:p>
          <a:p>
            <a:pPr marL="231140" indent="-180340">
              <a:lnSpc>
                <a:spcPct val="100000"/>
              </a:lnSpc>
              <a:spcBef>
                <a:spcPts val="78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31140" algn="l"/>
              </a:tabLst>
            </a:pPr>
            <a:r>
              <a:rPr dirty="0" sz="2000" spc="-45">
                <a:latin typeface="Arial"/>
                <a:cs typeface="Arial"/>
              </a:rPr>
              <a:t>Wert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150">
                <a:latin typeface="Arial"/>
                <a:cs typeface="Arial"/>
              </a:rPr>
              <a:t>des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fraktionalen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Anteils</a:t>
            </a:r>
            <a:r>
              <a:rPr dirty="0" sz="2000" spc="-60">
                <a:latin typeface="Arial"/>
                <a:cs typeface="Arial"/>
              </a:rPr>
              <a:t> einer </a:t>
            </a:r>
            <a:r>
              <a:rPr dirty="0" sz="2000" spc="-65">
                <a:latin typeface="Arial"/>
                <a:cs typeface="Arial"/>
              </a:rPr>
              <a:t>Uhr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nicht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entscheidend</a:t>
            </a:r>
            <a:endParaRPr sz="2000">
              <a:latin typeface="Arial"/>
              <a:cs typeface="Arial"/>
            </a:endParaRPr>
          </a:p>
          <a:p>
            <a:pPr marL="230504" marR="558800" indent="-180340">
              <a:lnSpc>
                <a:spcPts val="2160"/>
              </a:lnSpc>
              <a:spcBef>
                <a:spcPts val="103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31775" algn="l"/>
              </a:tabLst>
            </a:pPr>
            <a:r>
              <a:rPr dirty="0" sz="2000" spc="-100">
                <a:latin typeface="Arial"/>
                <a:cs typeface="Arial"/>
              </a:rPr>
              <a:t>Größenordnung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der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fraktionalen</a:t>
            </a:r>
            <a:r>
              <a:rPr dirty="0" sz="2000" spc="-60">
                <a:latin typeface="Arial"/>
                <a:cs typeface="Arial"/>
              </a:rPr>
              <a:t> Anteile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90">
                <a:latin typeface="Arial"/>
                <a:cs typeface="Arial"/>
              </a:rPr>
              <a:t>zweier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Uhren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150">
                <a:latin typeface="Arial"/>
                <a:cs typeface="Arial"/>
              </a:rPr>
              <a:t>muss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gleich </a:t>
            </a:r>
            <a:r>
              <a:rPr dirty="0" sz="2000" spc="-30">
                <a:latin typeface="Arial"/>
                <a:cs typeface="Arial"/>
              </a:rPr>
              <a:t>	</a:t>
            </a:r>
            <a:r>
              <a:rPr dirty="0" sz="2000" spc="-10">
                <a:latin typeface="Arial"/>
                <a:cs typeface="Arial"/>
              </a:rPr>
              <a:t>bleiben</a:t>
            </a:r>
            <a:endParaRPr sz="2000">
              <a:latin typeface="Arial"/>
              <a:cs typeface="Arial"/>
            </a:endParaRPr>
          </a:p>
          <a:p>
            <a:pPr marL="230504" marR="43180" indent="-180340">
              <a:lnSpc>
                <a:spcPts val="2160"/>
              </a:lnSpc>
              <a:spcBef>
                <a:spcPts val="101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31775" algn="l"/>
              </a:tabLst>
            </a:pPr>
            <a:r>
              <a:rPr dirty="0" sz="2000" spc="-120">
                <a:latin typeface="Arial"/>
                <a:cs typeface="Arial"/>
              </a:rPr>
              <a:t>max.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Wert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für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eine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Uhr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(d</a:t>
            </a:r>
            <a:r>
              <a:rPr dirty="0" baseline="-21367" sz="1950" spc="-104">
                <a:latin typeface="Arial"/>
                <a:cs typeface="Arial"/>
              </a:rPr>
              <a:t>max</a:t>
            </a:r>
            <a:r>
              <a:rPr dirty="0" sz="2000" spc="-70">
                <a:latin typeface="Arial"/>
                <a:cs typeface="Arial"/>
              </a:rPr>
              <a:t>)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160">
                <a:latin typeface="Arial"/>
                <a:cs typeface="Arial"/>
              </a:rPr>
              <a:t>aus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90">
                <a:latin typeface="Arial"/>
                <a:cs typeface="Arial"/>
              </a:rPr>
              <a:t>vorhandenen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Uhrenbedingungen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gibt </a:t>
            </a:r>
            <a:r>
              <a:rPr dirty="0" sz="2000" spc="-20">
                <a:latin typeface="Arial"/>
                <a:cs typeface="Arial"/>
              </a:rPr>
              <a:t>	</a:t>
            </a:r>
            <a:r>
              <a:rPr dirty="0" sz="2000" spc="-75">
                <a:latin typeface="Arial"/>
                <a:cs typeface="Arial"/>
              </a:rPr>
              <a:t>obere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30">
                <a:latin typeface="Arial"/>
                <a:cs typeface="Arial"/>
              </a:rPr>
              <a:t>Grenze,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größere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Werte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uninteressant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542" y="4655057"/>
            <a:ext cx="10947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60" b="1">
                <a:latin typeface="Arial"/>
                <a:cs typeface="Arial"/>
              </a:rPr>
              <a:t>Beispiel</a:t>
            </a:r>
            <a:r>
              <a:rPr dirty="0" sz="2400" spc="-16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8354" y="5254244"/>
            <a:ext cx="6495415" cy="81978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274320" indent="-261620">
              <a:lnSpc>
                <a:spcPct val="100000"/>
              </a:lnSpc>
              <a:spcBef>
                <a:spcPts val="340"/>
              </a:spcBef>
              <a:buClr>
                <a:srgbClr val="2D75B6"/>
              </a:buClr>
              <a:buSzPct val="110416"/>
              <a:buChar char="•"/>
              <a:tabLst>
                <a:tab pos="274320" algn="l"/>
              </a:tabLst>
            </a:pPr>
            <a:r>
              <a:rPr dirty="0" sz="2400" spc="-50">
                <a:latin typeface="Arial"/>
                <a:cs typeface="Arial"/>
              </a:rPr>
              <a:t>(l</a:t>
            </a:r>
            <a:r>
              <a:rPr dirty="0" sz="1200" spc="-50">
                <a:latin typeface="Arial"/>
                <a:cs typeface="Arial"/>
              </a:rPr>
              <a:t>1</a:t>
            </a:r>
            <a:r>
              <a:rPr dirty="0" sz="2400" spc="-50">
                <a:latin typeface="Arial"/>
                <a:cs typeface="Arial"/>
              </a:rPr>
              <a:t>,</a:t>
            </a:r>
            <a:r>
              <a:rPr dirty="0" sz="2400" spc="-135">
                <a:latin typeface="Arial"/>
                <a:cs typeface="Arial"/>
              </a:rPr>
              <a:t> </a:t>
            </a:r>
            <a:r>
              <a:rPr dirty="0" sz="2400" spc="-175">
                <a:latin typeface="Arial"/>
                <a:cs typeface="Arial"/>
              </a:rPr>
              <a:t>x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&lt;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00">
                <a:latin typeface="Arial"/>
                <a:cs typeface="Arial"/>
              </a:rPr>
              <a:t>1),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(l</a:t>
            </a:r>
            <a:r>
              <a:rPr dirty="0" sz="1200" spc="-50">
                <a:latin typeface="Arial"/>
                <a:cs typeface="Arial"/>
              </a:rPr>
              <a:t>1</a:t>
            </a:r>
            <a:r>
              <a:rPr dirty="0" sz="2400" spc="-50">
                <a:latin typeface="Arial"/>
                <a:cs typeface="Arial"/>
              </a:rPr>
              <a:t>,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175">
                <a:latin typeface="Arial"/>
                <a:cs typeface="Arial"/>
              </a:rPr>
              <a:t>x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=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1),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70">
                <a:latin typeface="Arial"/>
                <a:cs typeface="Arial"/>
              </a:rPr>
              <a:t>(l</a:t>
            </a:r>
            <a:r>
              <a:rPr dirty="0" sz="1200" spc="-70">
                <a:latin typeface="Arial"/>
                <a:cs typeface="Arial"/>
              </a:rPr>
              <a:t>1</a:t>
            </a:r>
            <a:r>
              <a:rPr dirty="0" sz="2400" spc="-70">
                <a:latin typeface="Arial"/>
                <a:cs typeface="Arial"/>
              </a:rPr>
              <a:t>,1</a:t>
            </a:r>
            <a:r>
              <a:rPr dirty="0" sz="2400" spc="-135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&lt;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75">
                <a:latin typeface="Arial"/>
                <a:cs typeface="Arial"/>
              </a:rPr>
              <a:t>x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&lt;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100">
                <a:latin typeface="Arial"/>
                <a:cs typeface="Arial"/>
              </a:rPr>
              <a:t>2),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(l</a:t>
            </a:r>
            <a:r>
              <a:rPr dirty="0" sz="1200" spc="-50">
                <a:latin typeface="Arial"/>
                <a:cs typeface="Arial"/>
              </a:rPr>
              <a:t>1</a:t>
            </a:r>
            <a:r>
              <a:rPr dirty="0" sz="2400" spc="-50">
                <a:latin typeface="Arial"/>
                <a:cs typeface="Arial"/>
              </a:rPr>
              <a:t>,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175">
                <a:latin typeface="Arial"/>
                <a:cs typeface="Arial"/>
              </a:rPr>
              <a:t>x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=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00">
                <a:latin typeface="Arial"/>
                <a:cs typeface="Arial"/>
              </a:rPr>
              <a:t>2),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(l</a:t>
            </a:r>
            <a:r>
              <a:rPr dirty="0" sz="1200" spc="-50">
                <a:latin typeface="Arial"/>
                <a:cs typeface="Arial"/>
              </a:rPr>
              <a:t>1</a:t>
            </a:r>
            <a:r>
              <a:rPr dirty="0" sz="2400" spc="-50">
                <a:latin typeface="Arial"/>
                <a:cs typeface="Arial"/>
              </a:rPr>
              <a:t>,</a:t>
            </a:r>
            <a:r>
              <a:rPr dirty="0" sz="2400" spc="-135">
                <a:latin typeface="Arial"/>
                <a:cs typeface="Arial"/>
              </a:rPr>
              <a:t> </a:t>
            </a:r>
            <a:r>
              <a:rPr dirty="0" sz="2400" spc="-175">
                <a:latin typeface="Arial"/>
                <a:cs typeface="Arial"/>
              </a:rPr>
              <a:t>x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&gt;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2)</a:t>
            </a:r>
            <a:endParaRPr sz="2400">
              <a:latin typeface="Arial"/>
              <a:cs typeface="Arial"/>
            </a:endParaRPr>
          </a:p>
          <a:p>
            <a:pPr marL="274320" indent="-261620">
              <a:lnSpc>
                <a:spcPct val="100000"/>
              </a:lnSpc>
              <a:spcBef>
                <a:spcPts val="200"/>
              </a:spcBef>
              <a:buClr>
                <a:srgbClr val="2D75B6"/>
              </a:buClr>
              <a:buSzPct val="110416"/>
              <a:buChar char="•"/>
              <a:tabLst>
                <a:tab pos="274320" algn="l"/>
              </a:tabLst>
            </a:pPr>
            <a:r>
              <a:rPr dirty="0" sz="2400" spc="-60">
                <a:latin typeface="Arial"/>
                <a:cs typeface="Arial"/>
              </a:rPr>
              <a:t>(l</a:t>
            </a:r>
            <a:r>
              <a:rPr dirty="0" sz="1600" spc="-60">
                <a:latin typeface="Arial"/>
                <a:cs typeface="Arial"/>
              </a:rPr>
              <a:t>2</a:t>
            </a:r>
            <a:r>
              <a:rPr dirty="0" sz="2400" spc="-60">
                <a:latin typeface="Arial"/>
                <a:cs typeface="Arial"/>
              </a:rPr>
              <a:t>,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175">
                <a:latin typeface="Arial"/>
                <a:cs typeface="Arial"/>
              </a:rPr>
              <a:t>x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&gt;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2)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09061" y="4649470"/>
            <a:ext cx="1741170" cy="372745"/>
            <a:chOff x="2909061" y="4649470"/>
            <a:chExt cx="1741170" cy="372745"/>
          </a:xfrm>
        </p:grpSpPr>
        <p:sp>
          <p:nvSpPr>
            <p:cNvPr id="7" name="object 7"/>
            <p:cNvSpPr/>
            <p:nvPr/>
          </p:nvSpPr>
          <p:spPr>
            <a:xfrm>
              <a:off x="2915411" y="4655820"/>
              <a:ext cx="361315" cy="360045"/>
            </a:xfrm>
            <a:custGeom>
              <a:avLst/>
              <a:gdLst/>
              <a:ahLst/>
              <a:cxnLst/>
              <a:rect l="l" t="t" r="r" b="b"/>
              <a:pathLst>
                <a:path w="361314" h="360045">
                  <a:moveTo>
                    <a:pt x="180594" y="0"/>
                  </a:moveTo>
                  <a:lnTo>
                    <a:pt x="132600" y="6424"/>
                  </a:lnTo>
                  <a:lnTo>
                    <a:pt x="89464" y="24553"/>
                  </a:lnTo>
                  <a:lnTo>
                    <a:pt x="52911" y="52673"/>
                  </a:lnTo>
                  <a:lnTo>
                    <a:pt x="24666" y="89069"/>
                  </a:lnTo>
                  <a:lnTo>
                    <a:pt x="6454" y="132027"/>
                  </a:lnTo>
                  <a:lnTo>
                    <a:pt x="0" y="179831"/>
                  </a:lnTo>
                  <a:lnTo>
                    <a:pt x="6454" y="227636"/>
                  </a:lnTo>
                  <a:lnTo>
                    <a:pt x="24666" y="270594"/>
                  </a:lnTo>
                  <a:lnTo>
                    <a:pt x="52911" y="306990"/>
                  </a:lnTo>
                  <a:lnTo>
                    <a:pt x="89464" y="335110"/>
                  </a:lnTo>
                  <a:lnTo>
                    <a:pt x="132600" y="353239"/>
                  </a:lnTo>
                  <a:lnTo>
                    <a:pt x="180594" y="359663"/>
                  </a:lnTo>
                  <a:lnTo>
                    <a:pt x="228587" y="353239"/>
                  </a:lnTo>
                  <a:lnTo>
                    <a:pt x="271723" y="335110"/>
                  </a:lnTo>
                  <a:lnTo>
                    <a:pt x="308276" y="306990"/>
                  </a:lnTo>
                  <a:lnTo>
                    <a:pt x="336521" y="270594"/>
                  </a:lnTo>
                  <a:lnTo>
                    <a:pt x="354733" y="227636"/>
                  </a:lnTo>
                  <a:lnTo>
                    <a:pt x="361188" y="179831"/>
                  </a:lnTo>
                  <a:lnTo>
                    <a:pt x="354733" y="132027"/>
                  </a:lnTo>
                  <a:lnTo>
                    <a:pt x="336521" y="89069"/>
                  </a:lnTo>
                  <a:lnTo>
                    <a:pt x="308276" y="52673"/>
                  </a:lnTo>
                  <a:lnTo>
                    <a:pt x="271723" y="24553"/>
                  </a:lnTo>
                  <a:lnTo>
                    <a:pt x="228587" y="642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BEB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915411" y="4655820"/>
              <a:ext cx="361315" cy="360045"/>
            </a:xfrm>
            <a:custGeom>
              <a:avLst/>
              <a:gdLst/>
              <a:ahLst/>
              <a:cxnLst/>
              <a:rect l="l" t="t" r="r" b="b"/>
              <a:pathLst>
                <a:path w="361314" h="360045">
                  <a:moveTo>
                    <a:pt x="0" y="179831"/>
                  </a:moveTo>
                  <a:lnTo>
                    <a:pt x="6454" y="132027"/>
                  </a:lnTo>
                  <a:lnTo>
                    <a:pt x="24666" y="89069"/>
                  </a:lnTo>
                  <a:lnTo>
                    <a:pt x="52911" y="52673"/>
                  </a:lnTo>
                  <a:lnTo>
                    <a:pt x="89464" y="24553"/>
                  </a:lnTo>
                  <a:lnTo>
                    <a:pt x="132600" y="6424"/>
                  </a:lnTo>
                  <a:lnTo>
                    <a:pt x="180594" y="0"/>
                  </a:lnTo>
                  <a:lnTo>
                    <a:pt x="228587" y="6424"/>
                  </a:lnTo>
                  <a:lnTo>
                    <a:pt x="271723" y="24553"/>
                  </a:lnTo>
                  <a:lnTo>
                    <a:pt x="308276" y="52673"/>
                  </a:lnTo>
                  <a:lnTo>
                    <a:pt x="336521" y="89069"/>
                  </a:lnTo>
                  <a:lnTo>
                    <a:pt x="354733" y="132027"/>
                  </a:lnTo>
                  <a:lnTo>
                    <a:pt x="361188" y="179831"/>
                  </a:lnTo>
                  <a:lnTo>
                    <a:pt x="354733" y="227636"/>
                  </a:lnTo>
                  <a:lnTo>
                    <a:pt x="336521" y="270594"/>
                  </a:lnTo>
                  <a:lnTo>
                    <a:pt x="308276" y="306990"/>
                  </a:lnTo>
                  <a:lnTo>
                    <a:pt x="271723" y="335110"/>
                  </a:lnTo>
                  <a:lnTo>
                    <a:pt x="228587" y="353239"/>
                  </a:lnTo>
                  <a:lnTo>
                    <a:pt x="180594" y="359663"/>
                  </a:lnTo>
                  <a:lnTo>
                    <a:pt x="132600" y="353239"/>
                  </a:lnTo>
                  <a:lnTo>
                    <a:pt x="89464" y="335110"/>
                  </a:lnTo>
                  <a:lnTo>
                    <a:pt x="52911" y="306990"/>
                  </a:lnTo>
                  <a:lnTo>
                    <a:pt x="24666" y="270594"/>
                  </a:lnTo>
                  <a:lnTo>
                    <a:pt x="6454" y="227636"/>
                  </a:lnTo>
                  <a:lnTo>
                    <a:pt x="0" y="179831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283963" y="4655820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832" y="0"/>
                  </a:moveTo>
                  <a:lnTo>
                    <a:pt x="132027" y="6424"/>
                  </a:lnTo>
                  <a:lnTo>
                    <a:pt x="89069" y="24553"/>
                  </a:lnTo>
                  <a:lnTo>
                    <a:pt x="52673" y="52673"/>
                  </a:lnTo>
                  <a:lnTo>
                    <a:pt x="24553" y="89069"/>
                  </a:lnTo>
                  <a:lnTo>
                    <a:pt x="6424" y="132027"/>
                  </a:lnTo>
                  <a:lnTo>
                    <a:pt x="0" y="179831"/>
                  </a:lnTo>
                  <a:lnTo>
                    <a:pt x="6424" y="227636"/>
                  </a:lnTo>
                  <a:lnTo>
                    <a:pt x="24553" y="270594"/>
                  </a:lnTo>
                  <a:lnTo>
                    <a:pt x="52673" y="306990"/>
                  </a:lnTo>
                  <a:lnTo>
                    <a:pt x="89069" y="335110"/>
                  </a:lnTo>
                  <a:lnTo>
                    <a:pt x="132027" y="353239"/>
                  </a:lnTo>
                  <a:lnTo>
                    <a:pt x="179832" y="359663"/>
                  </a:lnTo>
                  <a:lnTo>
                    <a:pt x="227636" y="353239"/>
                  </a:lnTo>
                  <a:lnTo>
                    <a:pt x="270594" y="335110"/>
                  </a:lnTo>
                  <a:lnTo>
                    <a:pt x="306990" y="306990"/>
                  </a:lnTo>
                  <a:lnTo>
                    <a:pt x="335110" y="270594"/>
                  </a:lnTo>
                  <a:lnTo>
                    <a:pt x="353239" y="227636"/>
                  </a:lnTo>
                  <a:lnTo>
                    <a:pt x="359664" y="179831"/>
                  </a:lnTo>
                  <a:lnTo>
                    <a:pt x="353239" y="132027"/>
                  </a:lnTo>
                  <a:lnTo>
                    <a:pt x="335110" y="89069"/>
                  </a:lnTo>
                  <a:lnTo>
                    <a:pt x="306990" y="52673"/>
                  </a:lnTo>
                  <a:lnTo>
                    <a:pt x="270594" y="24553"/>
                  </a:lnTo>
                  <a:lnTo>
                    <a:pt x="227636" y="6424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BEB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283963" y="4655820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0" y="179831"/>
                  </a:moveTo>
                  <a:lnTo>
                    <a:pt x="6424" y="132027"/>
                  </a:lnTo>
                  <a:lnTo>
                    <a:pt x="24553" y="89069"/>
                  </a:lnTo>
                  <a:lnTo>
                    <a:pt x="52673" y="52673"/>
                  </a:lnTo>
                  <a:lnTo>
                    <a:pt x="89069" y="24553"/>
                  </a:lnTo>
                  <a:lnTo>
                    <a:pt x="132027" y="6424"/>
                  </a:lnTo>
                  <a:lnTo>
                    <a:pt x="179832" y="0"/>
                  </a:lnTo>
                  <a:lnTo>
                    <a:pt x="227636" y="6424"/>
                  </a:lnTo>
                  <a:lnTo>
                    <a:pt x="270594" y="24553"/>
                  </a:lnTo>
                  <a:lnTo>
                    <a:pt x="306990" y="52673"/>
                  </a:lnTo>
                  <a:lnTo>
                    <a:pt x="335110" y="89069"/>
                  </a:lnTo>
                  <a:lnTo>
                    <a:pt x="353239" y="132027"/>
                  </a:lnTo>
                  <a:lnTo>
                    <a:pt x="359664" y="179831"/>
                  </a:lnTo>
                  <a:lnTo>
                    <a:pt x="353239" y="227636"/>
                  </a:lnTo>
                  <a:lnTo>
                    <a:pt x="335110" y="270594"/>
                  </a:lnTo>
                  <a:lnTo>
                    <a:pt x="306990" y="306990"/>
                  </a:lnTo>
                  <a:lnTo>
                    <a:pt x="270594" y="335110"/>
                  </a:lnTo>
                  <a:lnTo>
                    <a:pt x="227636" y="353239"/>
                  </a:lnTo>
                  <a:lnTo>
                    <a:pt x="179832" y="359663"/>
                  </a:lnTo>
                  <a:lnTo>
                    <a:pt x="132027" y="353239"/>
                  </a:lnTo>
                  <a:lnTo>
                    <a:pt x="89069" y="335110"/>
                  </a:lnTo>
                  <a:lnTo>
                    <a:pt x="52673" y="306990"/>
                  </a:lnTo>
                  <a:lnTo>
                    <a:pt x="24553" y="270594"/>
                  </a:lnTo>
                  <a:lnTo>
                    <a:pt x="6424" y="227636"/>
                  </a:lnTo>
                  <a:lnTo>
                    <a:pt x="0" y="179831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276599" y="4783963"/>
              <a:ext cx="1008380" cy="103505"/>
            </a:xfrm>
            <a:custGeom>
              <a:avLst/>
              <a:gdLst/>
              <a:ahLst/>
              <a:cxnLst/>
              <a:rect l="l" t="t" r="r" b="b"/>
              <a:pathLst>
                <a:path w="1008379" h="103504">
                  <a:moveTo>
                    <a:pt x="983016" y="51688"/>
                  </a:moveTo>
                  <a:lnTo>
                    <a:pt x="913130" y="92455"/>
                  </a:lnTo>
                  <a:lnTo>
                    <a:pt x="912113" y="96265"/>
                  </a:lnTo>
                  <a:lnTo>
                    <a:pt x="915669" y="102361"/>
                  </a:lnTo>
                  <a:lnTo>
                    <a:pt x="919480" y="103377"/>
                  </a:lnTo>
                  <a:lnTo>
                    <a:pt x="997235" y="58038"/>
                  </a:lnTo>
                  <a:lnTo>
                    <a:pt x="995553" y="58038"/>
                  </a:lnTo>
                  <a:lnTo>
                    <a:pt x="995553" y="57149"/>
                  </a:lnTo>
                  <a:lnTo>
                    <a:pt x="992378" y="57149"/>
                  </a:lnTo>
                  <a:lnTo>
                    <a:pt x="983016" y="51688"/>
                  </a:lnTo>
                  <a:close/>
                </a:path>
                <a:path w="1008379" h="103504">
                  <a:moveTo>
                    <a:pt x="972130" y="45338"/>
                  </a:moveTo>
                  <a:lnTo>
                    <a:pt x="0" y="45338"/>
                  </a:lnTo>
                  <a:lnTo>
                    <a:pt x="0" y="58038"/>
                  </a:lnTo>
                  <a:lnTo>
                    <a:pt x="972130" y="58038"/>
                  </a:lnTo>
                  <a:lnTo>
                    <a:pt x="983016" y="51688"/>
                  </a:lnTo>
                  <a:lnTo>
                    <a:pt x="972130" y="45338"/>
                  </a:lnTo>
                  <a:close/>
                </a:path>
                <a:path w="1008379" h="103504">
                  <a:moveTo>
                    <a:pt x="997235" y="45338"/>
                  </a:moveTo>
                  <a:lnTo>
                    <a:pt x="995553" y="45338"/>
                  </a:lnTo>
                  <a:lnTo>
                    <a:pt x="995553" y="58038"/>
                  </a:lnTo>
                  <a:lnTo>
                    <a:pt x="997235" y="58038"/>
                  </a:lnTo>
                  <a:lnTo>
                    <a:pt x="1008126" y="51688"/>
                  </a:lnTo>
                  <a:lnTo>
                    <a:pt x="997235" y="45338"/>
                  </a:lnTo>
                  <a:close/>
                </a:path>
                <a:path w="1008379" h="103504">
                  <a:moveTo>
                    <a:pt x="992378" y="46227"/>
                  </a:moveTo>
                  <a:lnTo>
                    <a:pt x="983016" y="51688"/>
                  </a:lnTo>
                  <a:lnTo>
                    <a:pt x="992378" y="57149"/>
                  </a:lnTo>
                  <a:lnTo>
                    <a:pt x="992378" y="46227"/>
                  </a:lnTo>
                  <a:close/>
                </a:path>
                <a:path w="1008379" h="103504">
                  <a:moveTo>
                    <a:pt x="995553" y="46227"/>
                  </a:moveTo>
                  <a:lnTo>
                    <a:pt x="992378" y="46227"/>
                  </a:lnTo>
                  <a:lnTo>
                    <a:pt x="992378" y="57149"/>
                  </a:lnTo>
                  <a:lnTo>
                    <a:pt x="995553" y="57149"/>
                  </a:lnTo>
                  <a:lnTo>
                    <a:pt x="995553" y="46227"/>
                  </a:lnTo>
                  <a:close/>
                </a:path>
                <a:path w="1008379" h="103504">
                  <a:moveTo>
                    <a:pt x="919480" y="0"/>
                  </a:moveTo>
                  <a:lnTo>
                    <a:pt x="915669" y="1015"/>
                  </a:lnTo>
                  <a:lnTo>
                    <a:pt x="912113" y="7111"/>
                  </a:lnTo>
                  <a:lnTo>
                    <a:pt x="913130" y="10921"/>
                  </a:lnTo>
                  <a:lnTo>
                    <a:pt x="983016" y="51688"/>
                  </a:lnTo>
                  <a:lnTo>
                    <a:pt x="992378" y="46227"/>
                  </a:lnTo>
                  <a:lnTo>
                    <a:pt x="995553" y="46227"/>
                  </a:lnTo>
                  <a:lnTo>
                    <a:pt x="995553" y="45338"/>
                  </a:lnTo>
                  <a:lnTo>
                    <a:pt x="997235" y="45338"/>
                  </a:lnTo>
                  <a:lnTo>
                    <a:pt x="919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571113" y="4554982"/>
            <a:ext cx="3175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0">
                <a:solidFill>
                  <a:srgbClr val="00AF50"/>
                </a:solidFill>
                <a:latin typeface="Arial"/>
                <a:cs typeface="Arial"/>
              </a:rPr>
              <a:t>x&gt;2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18535" y="4708397"/>
            <a:ext cx="15125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1125" algn="l"/>
              </a:tabLst>
            </a:pPr>
            <a:r>
              <a:rPr dirty="0" sz="1400" spc="-25">
                <a:latin typeface="Arial"/>
                <a:cs typeface="Arial"/>
              </a:rPr>
              <a:t>l</a:t>
            </a:r>
            <a:r>
              <a:rPr dirty="0" sz="1200" spc="-2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400" spc="-25">
                <a:latin typeface="Arial"/>
                <a:cs typeface="Arial"/>
              </a:rPr>
              <a:t>l</a:t>
            </a:r>
            <a:r>
              <a:rPr dirty="0" sz="1200" spc="-25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23027" y="3218688"/>
            <a:ext cx="2700020" cy="912494"/>
          </a:xfrm>
          <a:custGeom>
            <a:avLst/>
            <a:gdLst/>
            <a:ahLst/>
            <a:cxnLst/>
            <a:rect l="l" t="t" r="r" b="b"/>
            <a:pathLst>
              <a:path w="2700020" h="912495">
                <a:moveTo>
                  <a:pt x="535813" y="106934"/>
                </a:moveTo>
                <a:lnTo>
                  <a:pt x="544216" y="65311"/>
                </a:lnTo>
                <a:lnTo>
                  <a:pt x="567134" y="31321"/>
                </a:lnTo>
                <a:lnTo>
                  <a:pt x="601124" y="8403"/>
                </a:lnTo>
                <a:lnTo>
                  <a:pt x="642747" y="0"/>
                </a:lnTo>
                <a:lnTo>
                  <a:pt x="896493" y="0"/>
                </a:lnTo>
                <a:lnTo>
                  <a:pt x="1437513" y="0"/>
                </a:lnTo>
                <a:lnTo>
                  <a:pt x="2592959" y="0"/>
                </a:lnTo>
                <a:lnTo>
                  <a:pt x="2634581" y="8403"/>
                </a:lnTo>
                <a:lnTo>
                  <a:pt x="2668571" y="31321"/>
                </a:lnTo>
                <a:lnTo>
                  <a:pt x="2691489" y="65311"/>
                </a:lnTo>
                <a:lnTo>
                  <a:pt x="2699893" y="106934"/>
                </a:lnTo>
                <a:lnTo>
                  <a:pt x="2699893" y="374269"/>
                </a:lnTo>
                <a:lnTo>
                  <a:pt x="2699893" y="534670"/>
                </a:lnTo>
                <a:lnTo>
                  <a:pt x="2691489" y="576292"/>
                </a:lnTo>
                <a:lnTo>
                  <a:pt x="2668571" y="610282"/>
                </a:lnTo>
                <a:lnTo>
                  <a:pt x="2634581" y="633200"/>
                </a:lnTo>
                <a:lnTo>
                  <a:pt x="2592959" y="641604"/>
                </a:lnTo>
                <a:lnTo>
                  <a:pt x="1437513" y="641604"/>
                </a:lnTo>
                <a:lnTo>
                  <a:pt x="0" y="912368"/>
                </a:lnTo>
                <a:lnTo>
                  <a:pt x="896493" y="641604"/>
                </a:lnTo>
                <a:lnTo>
                  <a:pt x="642747" y="641604"/>
                </a:lnTo>
                <a:lnTo>
                  <a:pt x="601124" y="633200"/>
                </a:lnTo>
                <a:lnTo>
                  <a:pt x="567134" y="610282"/>
                </a:lnTo>
                <a:lnTo>
                  <a:pt x="544216" y="576292"/>
                </a:lnTo>
                <a:lnTo>
                  <a:pt x="535813" y="534670"/>
                </a:lnTo>
                <a:lnTo>
                  <a:pt x="535813" y="374269"/>
                </a:lnTo>
                <a:lnTo>
                  <a:pt x="535813" y="106934"/>
                </a:lnTo>
                <a:close/>
              </a:path>
            </a:pathLst>
          </a:custGeom>
          <a:ln w="12700">
            <a:solidFill>
              <a:srgbClr val="6FAC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59170" y="3272409"/>
            <a:ext cx="196596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52120" marR="30480" indent="-414655">
              <a:lnSpc>
                <a:spcPct val="100000"/>
              </a:lnSpc>
              <a:spcBef>
                <a:spcPts val="95"/>
              </a:spcBef>
            </a:pPr>
            <a:r>
              <a:rPr dirty="0" sz="1600" spc="-65">
                <a:latin typeface="Arial"/>
                <a:cs typeface="Arial"/>
              </a:rPr>
              <a:t>Werte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75">
                <a:latin typeface="Arial"/>
                <a:cs typeface="Arial"/>
              </a:rPr>
              <a:t>von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 spc="-80">
                <a:latin typeface="Arial"/>
                <a:cs typeface="Arial"/>
              </a:rPr>
              <a:t>y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 spc="-45">
                <a:latin typeface="Arial"/>
                <a:cs typeface="Arial"/>
              </a:rPr>
              <a:t>irrelevant, </a:t>
            </a:r>
            <a:r>
              <a:rPr dirty="0" sz="1600" spc="-95">
                <a:latin typeface="Arial"/>
                <a:cs typeface="Arial"/>
              </a:rPr>
              <a:t>da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 spc="70">
                <a:latin typeface="STIX Two Math"/>
                <a:cs typeface="STIX Two Math"/>
              </a:rPr>
              <a:t>𝑦</a:t>
            </a:r>
            <a:r>
              <a:rPr dirty="0" sz="1600" spc="114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&gt;</a:t>
            </a:r>
            <a:r>
              <a:rPr dirty="0" sz="1600" spc="90">
                <a:latin typeface="STIX Two Math"/>
                <a:cs typeface="STIX Two Math"/>
              </a:rPr>
              <a:t> </a:t>
            </a:r>
            <a:r>
              <a:rPr dirty="0" sz="1600" spc="-20">
                <a:latin typeface="STIX Two Math"/>
                <a:cs typeface="STIX Two Math"/>
              </a:rPr>
              <a:t>𝑦</a:t>
            </a:r>
            <a:r>
              <a:rPr dirty="0" baseline="-14492" sz="1725" spc="-30">
                <a:latin typeface="STIX Two Math"/>
                <a:cs typeface="STIX Two Math"/>
              </a:rPr>
              <a:t>𝑚𝑎𝑥</a:t>
            </a:r>
            <a:endParaRPr baseline="-14492" sz="1725">
              <a:latin typeface="STIX Two Math"/>
              <a:cs typeface="STIX Two Math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50"/>
              <a:t>Beispiel:</a:t>
            </a:r>
            <a:r>
              <a:rPr dirty="0" sz="3200" spc="-114"/>
              <a:t> </a:t>
            </a:r>
            <a:r>
              <a:rPr dirty="0" sz="3200" spc="-160"/>
              <a:t>Äquivalenz</a:t>
            </a:r>
            <a:r>
              <a:rPr dirty="0" sz="3200" spc="-105"/>
              <a:t> </a:t>
            </a:r>
            <a:r>
              <a:rPr dirty="0" sz="3200" spc="-130"/>
              <a:t>von </a:t>
            </a:r>
            <a:r>
              <a:rPr dirty="0" sz="3200" spc="-125"/>
              <a:t>Uhrenbelegungen</a:t>
            </a:r>
            <a:endParaRPr sz="3200"/>
          </a:p>
        </p:txBody>
      </p:sp>
      <p:sp>
        <p:nvSpPr>
          <p:cNvPr id="5" name="object 5"/>
          <p:cNvSpPr/>
          <p:nvPr/>
        </p:nvSpPr>
        <p:spPr>
          <a:xfrm>
            <a:off x="2687827" y="2458085"/>
            <a:ext cx="621030" cy="189230"/>
          </a:xfrm>
          <a:custGeom>
            <a:avLst/>
            <a:gdLst/>
            <a:ahLst/>
            <a:cxnLst/>
            <a:rect l="l" t="t" r="r" b="b"/>
            <a:pathLst>
              <a:path w="621029" h="189230">
                <a:moveTo>
                  <a:pt x="559943" y="0"/>
                </a:moveTo>
                <a:lnTo>
                  <a:pt x="557403" y="0"/>
                </a:lnTo>
                <a:lnTo>
                  <a:pt x="557403" y="7493"/>
                </a:lnTo>
                <a:lnTo>
                  <a:pt x="568452" y="7493"/>
                </a:lnTo>
                <a:lnTo>
                  <a:pt x="575945" y="10033"/>
                </a:lnTo>
                <a:lnTo>
                  <a:pt x="589407" y="39624"/>
                </a:lnTo>
                <a:lnTo>
                  <a:pt x="589407" y="44323"/>
                </a:lnTo>
                <a:lnTo>
                  <a:pt x="588772" y="50038"/>
                </a:lnTo>
                <a:lnTo>
                  <a:pt x="587502" y="56769"/>
                </a:lnTo>
                <a:lnTo>
                  <a:pt x="586105" y="63627"/>
                </a:lnTo>
                <a:lnTo>
                  <a:pt x="585470" y="68453"/>
                </a:lnTo>
                <a:lnTo>
                  <a:pt x="585470" y="76962"/>
                </a:lnTo>
                <a:lnTo>
                  <a:pt x="587121" y="81534"/>
                </a:lnTo>
                <a:lnTo>
                  <a:pt x="590423" y="85090"/>
                </a:lnTo>
                <a:lnTo>
                  <a:pt x="593725" y="88773"/>
                </a:lnTo>
                <a:lnTo>
                  <a:pt x="597662" y="91440"/>
                </a:lnTo>
                <a:lnTo>
                  <a:pt x="602234" y="93091"/>
                </a:lnTo>
                <a:lnTo>
                  <a:pt x="602234" y="94869"/>
                </a:lnTo>
                <a:lnTo>
                  <a:pt x="597662" y="96647"/>
                </a:lnTo>
                <a:lnTo>
                  <a:pt x="593725" y="99314"/>
                </a:lnTo>
                <a:lnTo>
                  <a:pt x="587121" y="106426"/>
                </a:lnTo>
                <a:lnTo>
                  <a:pt x="585470" y="110998"/>
                </a:lnTo>
                <a:lnTo>
                  <a:pt x="585470" y="119507"/>
                </a:lnTo>
                <a:lnTo>
                  <a:pt x="586105" y="124460"/>
                </a:lnTo>
                <a:lnTo>
                  <a:pt x="587502" y="131191"/>
                </a:lnTo>
                <a:lnTo>
                  <a:pt x="588772" y="138049"/>
                </a:lnTo>
                <a:lnTo>
                  <a:pt x="589407" y="143764"/>
                </a:lnTo>
                <a:lnTo>
                  <a:pt x="589407" y="148336"/>
                </a:lnTo>
                <a:lnTo>
                  <a:pt x="588912" y="156515"/>
                </a:lnTo>
                <a:lnTo>
                  <a:pt x="588904" y="156644"/>
                </a:lnTo>
                <a:lnTo>
                  <a:pt x="568452" y="181229"/>
                </a:lnTo>
                <a:lnTo>
                  <a:pt x="557403" y="181229"/>
                </a:lnTo>
                <a:lnTo>
                  <a:pt x="557403" y="188722"/>
                </a:lnTo>
                <a:lnTo>
                  <a:pt x="559943" y="188722"/>
                </a:lnTo>
                <a:lnTo>
                  <a:pt x="570827" y="187912"/>
                </a:lnTo>
                <a:lnTo>
                  <a:pt x="603377" y="165068"/>
                </a:lnTo>
                <a:lnTo>
                  <a:pt x="605530" y="156644"/>
                </a:lnTo>
                <a:lnTo>
                  <a:pt x="605563" y="156515"/>
                </a:lnTo>
                <a:lnTo>
                  <a:pt x="606298" y="146558"/>
                </a:lnTo>
                <a:lnTo>
                  <a:pt x="606298" y="141097"/>
                </a:lnTo>
                <a:lnTo>
                  <a:pt x="605536" y="134874"/>
                </a:lnTo>
                <a:lnTo>
                  <a:pt x="603885" y="127889"/>
                </a:lnTo>
                <a:lnTo>
                  <a:pt x="602361" y="120904"/>
                </a:lnTo>
                <a:lnTo>
                  <a:pt x="601599" y="116205"/>
                </a:lnTo>
                <a:lnTo>
                  <a:pt x="601599" y="109220"/>
                </a:lnTo>
                <a:lnTo>
                  <a:pt x="620522" y="98044"/>
                </a:lnTo>
                <a:lnTo>
                  <a:pt x="620522" y="89916"/>
                </a:lnTo>
                <a:lnTo>
                  <a:pt x="614563" y="89916"/>
                </a:lnTo>
                <a:lnTo>
                  <a:pt x="609473" y="88265"/>
                </a:lnTo>
                <a:lnTo>
                  <a:pt x="603123" y="82423"/>
                </a:lnTo>
                <a:lnTo>
                  <a:pt x="601599" y="78740"/>
                </a:lnTo>
                <a:lnTo>
                  <a:pt x="601599" y="71882"/>
                </a:lnTo>
                <a:lnTo>
                  <a:pt x="602361" y="67183"/>
                </a:lnTo>
                <a:lnTo>
                  <a:pt x="603885" y="60198"/>
                </a:lnTo>
                <a:lnTo>
                  <a:pt x="605536" y="53213"/>
                </a:lnTo>
                <a:lnTo>
                  <a:pt x="606298" y="46863"/>
                </a:lnTo>
                <a:lnTo>
                  <a:pt x="606298" y="41402"/>
                </a:lnTo>
                <a:lnTo>
                  <a:pt x="605563" y="31759"/>
                </a:lnTo>
                <a:lnTo>
                  <a:pt x="580247" y="2857"/>
                </a:lnTo>
                <a:lnTo>
                  <a:pt x="570827" y="809"/>
                </a:lnTo>
                <a:lnTo>
                  <a:pt x="559943" y="0"/>
                </a:lnTo>
                <a:close/>
              </a:path>
              <a:path w="621029" h="189230">
                <a:moveTo>
                  <a:pt x="63119" y="0"/>
                </a:moveTo>
                <a:lnTo>
                  <a:pt x="60579" y="0"/>
                </a:lnTo>
                <a:lnTo>
                  <a:pt x="49694" y="809"/>
                </a:lnTo>
                <a:lnTo>
                  <a:pt x="17145" y="23415"/>
                </a:lnTo>
                <a:lnTo>
                  <a:pt x="14224" y="41402"/>
                </a:lnTo>
                <a:lnTo>
                  <a:pt x="14224" y="46863"/>
                </a:lnTo>
                <a:lnTo>
                  <a:pt x="14986" y="53086"/>
                </a:lnTo>
                <a:lnTo>
                  <a:pt x="16637" y="60071"/>
                </a:lnTo>
                <a:lnTo>
                  <a:pt x="18161" y="67056"/>
                </a:lnTo>
                <a:lnTo>
                  <a:pt x="18923" y="71755"/>
                </a:lnTo>
                <a:lnTo>
                  <a:pt x="18923" y="78613"/>
                </a:lnTo>
                <a:lnTo>
                  <a:pt x="17399" y="82423"/>
                </a:lnTo>
                <a:lnTo>
                  <a:pt x="14224" y="85217"/>
                </a:lnTo>
                <a:lnTo>
                  <a:pt x="11049" y="88138"/>
                </a:lnTo>
                <a:lnTo>
                  <a:pt x="6350" y="89662"/>
                </a:lnTo>
                <a:lnTo>
                  <a:pt x="0" y="89789"/>
                </a:lnTo>
                <a:lnTo>
                  <a:pt x="0" y="97917"/>
                </a:lnTo>
                <a:lnTo>
                  <a:pt x="6350" y="98171"/>
                </a:lnTo>
                <a:lnTo>
                  <a:pt x="11049" y="99695"/>
                </a:lnTo>
                <a:lnTo>
                  <a:pt x="14224" y="102616"/>
                </a:lnTo>
                <a:lnTo>
                  <a:pt x="17399" y="105410"/>
                </a:lnTo>
                <a:lnTo>
                  <a:pt x="18923" y="109093"/>
                </a:lnTo>
                <a:lnTo>
                  <a:pt x="18923" y="116078"/>
                </a:lnTo>
                <a:lnTo>
                  <a:pt x="18161" y="120777"/>
                </a:lnTo>
                <a:lnTo>
                  <a:pt x="16637" y="127762"/>
                </a:lnTo>
                <a:lnTo>
                  <a:pt x="14986" y="134747"/>
                </a:lnTo>
                <a:lnTo>
                  <a:pt x="14224" y="140970"/>
                </a:lnTo>
                <a:lnTo>
                  <a:pt x="14224" y="146431"/>
                </a:lnTo>
                <a:lnTo>
                  <a:pt x="14958" y="156408"/>
                </a:lnTo>
                <a:lnTo>
                  <a:pt x="40274" y="185864"/>
                </a:lnTo>
                <a:lnTo>
                  <a:pt x="60579" y="188722"/>
                </a:lnTo>
                <a:lnTo>
                  <a:pt x="63119" y="188722"/>
                </a:lnTo>
                <a:lnTo>
                  <a:pt x="63119" y="181229"/>
                </a:lnTo>
                <a:lnTo>
                  <a:pt x="52070" y="181229"/>
                </a:lnTo>
                <a:lnTo>
                  <a:pt x="44577" y="178689"/>
                </a:lnTo>
                <a:lnTo>
                  <a:pt x="31115" y="148209"/>
                </a:lnTo>
                <a:lnTo>
                  <a:pt x="31115" y="143637"/>
                </a:lnTo>
                <a:lnTo>
                  <a:pt x="31750" y="137922"/>
                </a:lnTo>
                <a:lnTo>
                  <a:pt x="33020" y="131064"/>
                </a:lnTo>
                <a:lnTo>
                  <a:pt x="34417" y="124332"/>
                </a:lnTo>
                <a:lnTo>
                  <a:pt x="35052" y="119507"/>
                </a:lnTo>
                <a:lnTo>
                  <a:pt x="35052" y="110998"/>
                </a:lnTo>
                <a:lnTo>
                  <a:pt x="33401" y="106298"/>
                </a:lnTo>
                <a:lnTo>
                  <a:pt x="26797" y="99187"/>
                </a:lnTo>
                <a:lnTo>
                  <a:pt x="22860" y="96520"/>
                </a:lnTo>
                <a:lnTo>
                  <a:pt x="18288" y="94742"/>
                </a:lnTo>
                <a:lnTo>
                  <a:pt x="18288" y="92964"/>
                </a:lnTo>
                <a:lnTo>
                  <a:pt x="35052" y="76835"/>
                </a:lnTo>
                <a:lnTo>
                  <a:pt x="35052" y="68326"/>
                </a:lnTo>
                <a:lnTo>
                  <a:pt x="34417" y="63500"/>
                </a:lnTo>
                <a:lnTo>
                  <a:pt x="33020" y="56642"/>
                </a:lnTo>
                <a:lnTo>
                  <a:pt x="31750" y="49911"/>
                </a:lnTo>
                <a:lnTo>
                  <a:pt x="31115" y="44196"/>
                </a:lnTo>
                <a:lnTo>
                  <a:pt x="31115" y="39624"/>
                </a:lnTo>
                <a:lnTo>
                  <a:pt x="52070" y="7493"/>
                </a:lnTo>
                <a:lnTo>
                  <a:pt x="63119" y="7493"/>
                </a:lnTo>
                <a:lnTo>
                  <a:pt x="631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69442" y="1192147"/>
            <a:ext cx="4813935" cy="169227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880"/>
              </a:spcBef>
            </a:pPr>
            <a:r>
              <a:rPr dirty="0" sz="2000" spc="-35" b="1">
                <a:latin typeface="Arial"/>
                <a:cs typeface="Arial"/>
              </a:rPr>
              <a:t>Annahme:</a:t>
            </a:r>
            <a:endParaRPr sz="2000">
              <a:latin typeface="Arial"/>
              <a:cs typeface="Arial"/>
            </a:endParaRPr>
          </a:p>
          <a:p>
            <a:pPr marL="278765" indent="-227965">
              <a:lnSpc>
                <a:spcPct val="100000"/>
              </a:lnSpc>
              <a:spcBef>
                <a:spcPts val="844"/>
              </a:spcBef>
              <a:buClr>
                <a:srgbClr val="2D75B6"/>
              </a:buClr>
              <a:buSzPct val="109375"/>
              <a:buFont typeface="Wingdings"/>
              <a:buChar char=""/>
              <a:tabLst>
                <a:tab pos="278765" algn="l"/>
              </a:tabLst>
            </a:pPr>
            <a:r>
              <a:rPr dirty="0" sz="1600" spc="-65">
                <a:latin typeface="Arial"/>
                <a:cs typeface="Arial"/>
              </a:rPr>
              <a:t>Uhrenvariablen: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40">
                <a:latin typeface="STIX Two Math"/>
                <a:cs typeface="STIX Two Math"/>
              </a:rPr>
              <a:t>𝑥,</a:t>
            </a:r>
            <a:r>
              <a:rPr dirty="0" sz="1600" spc="-9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𝑦,</a:t>
            </a:r>
            <a:r>
              <a:rPr dirty="0" sz="1600" spc="-90">
                <a:latin typeface="STIX Two Math"/>
                <a:cs typeface="STIX Two Math"/>
              </a:rPr>
              <a:t> </a:t>
            </a:r>
            <a:r>
              <a:rPr dirty="0" sz="1600" spc="-50">
                <a:latin typeface="STIX Two Math"/>
                <a:cs typeface="STIX Two Math"/>
              </a:rPr>
              <a:t>𝑧</a:t>
            </a:r>
            <a:endParaRPr sz="1600">
              <a:latin typeface="STIX Two Math"/>
              <a:cs typeface="STIX Two Math"/>
            </a:endParaRPr>
          </a:p>
          <a:p>
            <a:pPr marL="278765" indent="-227965">
              <a:lnSpc>
                <a:spcPct val="100000"/>
              </a:lnSpc>
              <a:spcBef>
                <a:spcPts val="1130"/>
              </a:spcBef>
              <a:buClr>
                <a:srgbClr val="2D75B6"/>
              </a:buClr>
              <a:buSzPct val="109375"/>
              <a:buFont typeface="Wingdings"/>
              <a:buChar char=""/>
              <a:tabLst>
                <a:tab pos="278765" algn="l"/>
              </a:tabLst>
            </a:pPr>
            <a:r>
              <a:rPr dirty="0" baseline="10416" sz="2400" spc="75">
                <a:latin typeface="STIX Two Math"/>
                <a:cs typeface="STIX Two Math"/>
              </a:rPr>
              <a:t>𝑥</a:t>
            </a:r>
            <a:r>
              <a:rPr dirty="0" sz="1150" spc="50">
                <a:latin typeface="STIX Two Math"/>
                <a:cs typeface="STIX Two Math"/>
              </a:rPr>
              <a:t>𝑚𝑎𝑥</a:t>
            </a:r>
            <a:r>
              <a:rPr dirty="0" sz="1150" spc="305">
                <a:latin typeface="STIX Two Math"/>
                <a:cs typeface="STIX Two Math"/>
              </a:rPr>
              <a:t> </a:t>
            </a:r>
            <a:r>
              <a:rPr dirty="0" baseline="10416" sz="2400">
                <a:latin typeface="STIX Two Math"/>
                <a:cs typeface="STIX Two Math"/>
              </a:rPr>
              <a:t>=</a:t>
            </a:r>
            <a:r>
              <a:rPr dirty="0" baseline="10416" sz="2400" spc="179">
                <a:latin typeface="STIX Two Math"/>
                <a:cs typeface="STIX Two Math"/>
              </a:rPr>
              <a:t> </a:t>
            </a:r>
            <a:r>
              <a:rPr dirty="0" baseline="10416" sz="2400">
                <a:latin typeface="STIX Two Math"/>
                <a:cs typeface="STIX Two Math"/>
              </a:rPr>
              <a:t>𝑦</a:t>
            </a:r>
            <a:r>
              <a:rPr dirty="0" sz="1150">
                <a:latin typeface="STIX Two Math"/>
                <a:cs typeface="STIX Two Math"/>
              </a:rPr>
              <a:t>𝑚𝑎𝑥</a:t>
            </a:r>
            <a:r>
              <a:rPr dirty="0" sz="1150" spc="330">
                <a:latin typeface="STIX Two Math"/>
                <a:cs typeface="STIX Two Math"/>
              </a:rPr>
              <a:t> </a:t>
            </a:r>
            <a:r>
              <a:rPr dirty="0" baseline="10416" sz="2400">
                <a:latin typeface="STIX Two Math"/>
                <a:cs typeface="STIX Two Math"/>
              </a:rPr>
              <a:t>=</a:t>
            </a:r>
            <a:r>
              <a:rPr dirty="0" baseline="10416" sz="2400" spc="179">
                <a:latin typeface="STIX Two Math"/>
                <a:cs typeface="STIX Two Math"/>
              </a:rPr>
              <a:t> </a:t>
            </a:r>
            <a:r>
              <a:rPr dirty="0" baseline="10416" sz="2400" spc="75">
                <a:latin typeface="STIX Two Math"/>
                <a:cs typeface="STIX Two Math"/>
              </a:rPr>
              <a:t>𝑧</a:t>
            </a:r>
            <a:r>
              <a:rPr dirty="0" sz="1150" spc="50">
                <a:latin typeface="STIX Two Math"/>
                <a:cs typeface="STIX Two Math"/>
              </a:rPr>
              <a:t>𝑚𝑎𝑥</a:t>
            </a:r>
            <a:r>
              <a:rPr dirty="0" sz="1150" spc="320">
                <a:latin typeface="STIX Two Math"/>
                <a:cs typeface="STIX Two Math"/>
              </a:rPr>
              <a:t> </a:t>
            </a:r>
            <a:r>
              <a:rPr dirty="0" baseline="10416" sz="2400">
                <a:latin typeface="STIX Two Math"/>
                <a:cs typeface="STIX Two Math"/>
              </a:rPr>
              <a:t>=</a:t>
            </a:r>
            <a:r>
              <a:rPr dirty="0" baseline="10416" sz="2400" spc="179">
                <a:latin typeface="STIX Two Math"/>
                <a:cs typeface="STIX Two Math"/>
              </a:rPr>
              <a:t> </a:t>
            </a:r>
            <a:r>
              <a:rPr dirty="0" baseline="10416" sz="2400" spc="60">
                <a:latin typeface="STIX Two Math"/>
                <a:cs typeface="STIX Two Math"/>
              </a:rPr>
              <a:t>3</a:t>
            </a:r>
            <a:endParaRPr baseline="10416" sz="2400">
              <a:latin typeface="STIX Two Math"/>
              <a:cs typeface="STIX Two Math"/>
            </a:endParaRPr>
          </a:p>
          <a:p>
            <a:pPr marL="278765" indent="-227965">
              <a:lnSpc>
                <a:spcPts val="1825"/>
              </a:lnSpc>
              <a:spcBef>
                <a:spcPts val="480"/>
              </a:spcBef>
              <a:buClr>
                <a:srgbClr val="2D75B6"/>
              </a:buClr>
              <a:buSzPct val="109375"/>
              <a:buFont typeface="Wingdings"/>
              <a:buChar char=""/>
              <a:tabLst>
                <a:tab pos="278765" algn="l"/>
                <a:tab pos="2707005" algn="l"/>
              </a:tabLst>
            </a:pPr>
            <a:r>
              <a:rPr dirty="0" sz="1600" spc="-80">
                <a:latin typeface="Arial"/>
                <a:cs typeface="Arial"/>
              </a:rPr>
              <a:t>Uhrenbelegungen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65">
                <a:latin typeface="STIX Two Math"/>
                <a:cs typeface="STIX Two Math"/>
              </a:rPr>
              <a:t>𝑣:</a:t>
            </a:r>
            <a:r>
              <a:rPr dirty="0" sz="1600" spc="100">
                <a:latin typeface="STIX Two Math"/>
                <a:cs typeface="STIX Two Math"/>
              </a:rPr>
              <a:t>  </a:t>
            </a:r>
            <a:r>
              <a:rPr dirty="0" sz="1600" spc="-50">
                <a:latin typeface="STIX Two Math"/>
                <a:cs typeface="STIX Two Math"/>
              </a:rPr>
              <a:t>𝑥,</a:t>
            </a:r>
            <a:r>
              <a:rPr dirty="0" sz="1600" spc="-8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𝑦,</a:t>
            </a:r>
            <a:r>
              <a:rPr dirty="0" sz="1600" spc="-100">
                <a:latin typeface="STIX Two Math"/>
                <a:cs typeface="STIX Two Math"/>
              </a:rPr>
              <a:t> </a:t>
            </a:r>
            <a:r>
              <a:rPr dirty="0" sz="1600" spc="-50">
                <a:latin typeface="STIX Two Math"/>
                <a:cs typeface="STIX Two Math"/>
              </a:rPr>
              <a:t>𝑧</a:t>
            </a:r>
            <a:r>
              <a:rPr dirty="0" sz="1600">
                <a:latin typeface="STIX Two Math"/>
                <a:cs typeface="STIX Two Math"/>
              </a:rPr>
              <a:t>	</a:t>
            </a:r>
            <a:r>
              <a:rPr dirty="0" sz="1600" spc="-185">
                <a:latin typeface="STIX Two Math"/>
                <a:cs typeface="STIX Two Math"/>
              </a:rPr>
              <a:t>→</a:t>
            </a:r>
            <a:r>
              <a:rPr dirty="0" sz="1600" spc="60">
                <a:latin typeface="STIX Two Math"/>
                <a:cs typeface="STIX Two Math"/>
              </a:rPr>
              <a:t> </a:t>
            </a:r>
            <a:r>
              <a:rPr dirty="0" sz="1600" spc="-25">
                <a:latin typeface="STIX Two Math"/>
                <a:cs typeface="STIX Two Math"/>
              </a:rPr>
              <a:t>ℝ</a:t>
            </a:r>
            <a:r>
              <a:rPr dirty="0" baseline="28985" sz="1725" spc="-37">
                <a:latin typeface="STIX Two Math"/>
                <a:cs typeface="STIX Two Math"/>
              </a:rPr>
              <a:t>+</a:t>
            </a:r>
            <a:endParaRPr baseline="28985" sz="1725">
              <a:latin typeface="STIX Two Math"/>
              <a:cs typeface="STIX Two Math"/>
            </a:endParaRPr>
          </a:p>
          <a:p>
            <a:pPr marL="279400">
              <a:lnSpc>
                <a:spcPts val="1825"/>
              </a:lnSpc>
            </a:pPr>
            <a:r>
              <a:rPr dirty="0" sz="1600" spc="-65">
                <a:latin typeface="Arial"/>
                <a:cs typeface="Arial"/>
              </a:rPr>
              <a:t>durch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80">
                <a:latin typeface="Arial"/>
                <a:cs typeface="Arial"/>
              </a:rPr>
              <a:t>Vektoren</a:t>
            </a:r>
            <a:r>
              <a:rPr dirty="0" sz="1600" spc="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[</a:t>
            </a:r>
            <a:r>
              <a:rPr dirty="0" sz="1600">
                <a:latin typeface="STIX Two Math"/>
                <a:cs typeface="STIX Two Math"/>
              </a:rPr>
              <a:t>𝑥</a:t>
            </a:r>
            <a:r>
              <a:rPr dirty="0" sz="1600" spc="15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=</a:t>
            </a:r>
            <a:r>
              <a:rPr dirty="0" sz="1600" spc="114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𝑑</a:t>
            </a:r>
            <a:r>
              <a:rPr dirty="0" baseline="-14492" sz="1725">
                <a:latin typeface="STIX Two Math"/>
                <a:cs typeface="STIX Two Math"/>
              </a:rPr>
              <a:t>1</a:t>
            </a:r>
            <a:r>
              <a:rPr dirty="0" sz="1600">
                <a:latin typeface="STIX Two Math"/>
                <a:cs typeface="STIX Two Math"/>
              </a:rPr>
              <a:t>,</a:t>
            </a:r>
            <a:r>
              <a:rPr dirty="0" sz="1600" spc="-100">
                <a:latin typeface="STIX Two Math"/>
                <a:cs typeface="STIX Two Math"/>
              </a:rPr>
              <a:t> </a:t>
            </a:r>
            <a:r>
              <a:rPr dirty="0" sz="1600" spc="70">
                <a:latin typeface="STIX Two Math"/>
                <a:cs typeface="STIX Two Math"/>
              </a:rPr>
              <a:t>𝑦</a:t>
            </a:r>
            <a:r>
              <a:rPr dirty="0" sz="1600" spc="15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=</a:t>
            </a:r>
            <a:r>
              <a:rPr dirty="0" sz="1600" spc="114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𝑑</a:t>
            </a:r>
            <a:r>
              <a:rPr dirty="0" baseline="-14492" sz="1725">
                <a:latin typeface="STIX Two Math"/>
                <a:cs typeface="STIX Two Math"/>
              </a:rPr>
              <a:t>2</a:t>
            </a:r>
            <a:r>
              <a:rPr dirty="0" sz="1600">
                <a:latin typeface="STIX Two Math"/>
                <a:cs typeface="STIX Two Math"/>
              </a:rPr>
              <a:t>,</a:t>
            </a:r>
            <a:r>
              <a:rPr dirty="0" sz="1600" spc="-9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𝑧</a:t>
            </a:r>
            <a:r>
              <a:rPr dirty="0" sz="1600" spc="14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=</a:t>
            </a:r>
            <a:r>
              <a:rPr dirty="0" sz="1600" spc="110">
                <a:latin typeface="STIX Two Math"/>
                <a:cs typeface="STIX Two Math"/>
              </a:rPr>
              <a:t> </a:t>
            </a:r>
            <a:r>
              <a:rPr dirty="0" sz="1600" spc="70">
                <a:latin typeface="STIX Two Math"/>
                <a:cs typeface="STIX Two Math"/>
              </a:rPr>
              <a:t>𝑑</a:t>
            </a:r>
            <a:r>
              <a:rPr dirty="0" baseline="-14492" sz="1725" spc="104">
                <a:latin typeface="STIX Two Math"/>
                <a:cs typeface="STIX Two Math"/>
              </a:rPr>
              <a:t>3</a:t>
            </a:r>
            <a:r>
              <a:rPr dirty="0" sz="1600" spc="70">
                <a:latin typeface="Arial"/>
                <a:cs typeface="Arial"/>
              </a:rPr>
              <a:t>]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repräsentiert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7542" y="3298316"/>
            <a:ext cx="8515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45" b="1">
                <a:latin typeface="Arial"/>
                <a:cs typeface="Arial"/>
              </a:rPr>
              <a:t>Beispiel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90064" y="3977640"/>
            <a:ext cx="50165" cy="8890"/>
          </a:xfrm>
          <a:custGeom>
            <a:avLst/>
            <a:gdLst/>
            <a:ahLst/>
            <a:cxnLst/>
            <a:rect l="l" t="t" r="r" b="b"/>
            <a:pathLst>
              <a:path w="50164" h="8889">
                <a:moveTo>
                  <a:pt x="0" y="8890"/>
                </a:moveTo>
                <a:lnTo>
                  <a:pt x="49784" y="8890"/>
                </a:lnTo>
                <a:lnTo>
                  <a:pt x="49784" y="0"/>
                </a:lnTo>
                <a:lnTo>
                  <a:pt x="0" y="0"/>
                </a:lnTo>
                <a:lnTo>
                  <a:pt x="0" y="8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74140" y="3977640"/>
            <a:ext cx="50165" cy="8890"/>
          </a:xfrm>
          <a:custGeom>
            <a:avLst/>
            <a:gdLst/>
            <a:ahLst/>
            <a:cxnLst/>
            <a:rect l="l" t="t" r="r" b="b"/>
            <a:pathLst>
              <a:path w="50165" h="8889">
                <a:moveTo>
                  <a:pt x="0" y="8890"/>
                </a:moveTo>
                <a:lnTo>
                  <a:pt x="49784" y="8890"/>
                </a:lnTo>
                <a:lnTo>
                  <a:pt x="49784" y="0"/>
                </a:lnTo>
                <a:lnTo>
                  <a:pt x="0" y="0"/>
                </a:lnTo>
                <a:lnTo>
                  <a:pt x="0" y="8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90064" y="4351020"/>
            <a:ext cx="50165" cy="8890"/>
          </a:xfrm>
          <a:custGeom>
            <a:avLst/>
            <a:gdLst/>
            <a:ahLst/>
            <a:cxnLst/>
            <a:rect l="l" t="t" r="r" b="b"/>
            <a:pathLst>
              <a:path w="50164" h="8889">
                <a:moveTo>
                  <a:pt x="0" y="8889"/>
                </a:moveTo>
                <a:lnTo>
                  <a:pt x="49784" y="8889"/>
                </a:lnTo>
                <a:lnTo>
                  <a:pt x="49784" y="0"/>
                </a:lnTo>
                <a:lnTo>
                  <a:pt x="0" y="0"/>
                </a:lnTo>
                <a:lnTo>
                  <a:pt x="0" y="88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74140" y="4351020"/>
            <a:ext cx="50165" cy="8890"/>
          </a:xfrm>
          <a:custGeom>
            <a:avLst/>
            <a:gdLst/>
            <a:ahLst/>
            <a:cxnLst/>
            <a:rect l="l" t="t" r="r" b="b"/>
            <a:pathLst>
              <a:path w="50165" h="8889">
                <a:moveTo>
                  <a:pt x="0" y="8889"/>
                </a:moveTo>
                <a:lnTo>
                  <a:pt x="49784" y="8889"/>
                </a:lnTo>
                <a:lnTo>
                  <a:pt x="49784" y="0"/>
                </a:lnTo>
                <a:lnTo>
                  <a:pt x="0" y="0"/>
                </a:lnTo>
                <a:lnTo>
                  <a:pt x="0" y="88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88492" y="3720481"/>
          <a:ext cx="5581650" cy="655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640"/>
                <a:gridCol w="1346835"/>
                <a:gridCol w="3862704"/>
              </a:tblGrid>
              <a:tr h="282575">
                <a:tc>
                  <a:txBody>
                    <a:bodyPr/>
                    <a:lstStyle/>
                    <a:p>
                      <a:pPr marL="31750">
                        <a:lnSpc>
                          <a:spcPts val="2130"/>
                        </a:lnSpc>
                      </a:pPr>
                      <a:r>
                        <a:rPr dirty="0" sz="1950" spc="-50">
                          <a:solidFill>
                            <a:srgbClr val="2D75B6"/>
                          </a:solidFill>
                          <a:latin typeface="Wingdings"/>
                          <a:cs typeface="Wingdings"/>
                        </a:rPr>
                        <a:t></a:t>
                      </a:r>
                      <a:endParaRPr sz="1950">
                        <a:latin typeface="Wingdings"/>
                        <a:cs typeface="Wingdings"/>
                      </a:endParaRPr>
                    </a:p>
                  </a:txBody>
                  <a:tcPr marL="0" marR="0" marB="0" marT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130"/>
                        </a:lnSpc>
                      </a:pPr>
                      <a:r>
                        <a:rPr dirty="0" sz="1800" spc="105">
                          <a:latin typeface="STIX Two Math"/>
                          <a:cs typeface="STIX Two Math"/>
                        </a:rPr>
                        <a:t>1</a:t>
                      </a:r>
                      <a:r>
                        <a:rPr dirty="0" sz="1800" spc="-3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dirty="0" sz="1800" spc="-70">
                          <a:latin typeface="STIX Two Math"/>
                          <a:cs typeface="STIX Two Math"/>
                        </a:rPr>
                        <a:t>,</a:t>
                      </a:r>
                      <a:r>
                        <a:rPr dirty="0" sz="1800" spc="-125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dirty="0" sz="1800" spc="50">
                          <a:latin typeface="STIX Two Math"/>
                          <a:cs typeface="STIX Two Math"/>
                        </a:rPr>
                        <a:t>2.1</a:t>
                      </a:r>
                      <a:r>
                        <a:rPr dirty="0" sz="1800" spc="-2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dirty="0" sz="1800" spc="-70">
                          <a:latin typeface="STIX Two Math"/>
                          <a:cs typeface="STIX Two Math"/>
                        </a:rPr>
                        <a:t>,</a:t>
                      </a:r>
                      <a:r>
                        <a:rPr dirty="0" sz="1800" spc="-125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dirty="0" sz="1800" spc="60">
                          <a:latin typeface="STIX Two Math"/>
                          <a:cs typeface="STIX Two Math"/>
                        </a:rPr>
                        <a:t>2.423</a:t>
                      </a:r>
                      <a:endParaRPr sz="1800">
                        <a:latin typeface="STIX Two Math"/>
                        <a:cs typeface="STIX Two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130"/>
                        </a:lnSpc>
                      </a:pPr>
                      <a:r>
                        <a:rPr dirty="0" sz="1800">
                          <a:latin typeface="STIX Two Math"/>
                          <a:cs typeface="STIX Two Math"/>
                        </a:rPr>
                        <a:t>≅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[1</a:t>
                      </a:r>
                      <a:r>
                        <a:rPr dirty="0" sz="180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00" spc="-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85">
                          <a:latin typeface="Arial"/>
                          <a:cs typeface="Arial"/>
                        </a:rPr>
                        <a:t>2.422</a:t>
                      </a:r>
                      <a:r>
                        <a:rPr dirty="0" sz="180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0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60">
                          <a:latin typeface="Arial"/>
                          <a:cs typeface="Arial"/>
                        </a:rPr>
                        <a:t>2.423]</a:t>
                      </a:r>
                      <a:r>
                        <a:rPr dirty="0" sz="180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STIX Two Math"/>
                          <a:cs typeface="STIX Two Math"/>
                        </a:rPr>
                        <a:t>≅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[1</a:t>
                      </a:r>
                      <a:r>
                        <a:rPr dirty="0" sz="180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0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75">
                          <a:latin typeface="Arial"/>
                          <a:cs typeface="Arial"/>
                        </a:rPr>
                        <a:t>2.9</a:t>
                      </a:r>
                      <a:r>
                        <a:rPr dirty="0" sz="180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00" spc="-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2.95]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marL="31750">
                        <a:lnSpc>
                          <a:spcPts val="2300"/>
                        </a:lnSpc>
                        <a:spcBef>
                          <a:spcPts val="540"/>
                        </a:spcBef>
                      </a:pPr>
                      <a:r>
                        <a:rPr dirty="0" sz="1950" spc="-50">
                          <a:solidFill>
                            <a:srgbClr val="2D75B6"/>
                          </a:solidFill>
                          <a:latin typeface="Wingdings"/>
                          <a:cs typeface="Wingdings"/>
                        </a:rPr>
                        <a:t></a:t>
                      </a:r>
                      <a:endParaRPr sz="1950">
                        <a:latin typeface="Wingdings"/>
                        <a:cs typeface="Wingdings"/>
                      </a:endParaRPr>
                    </a:p>
                  </a:txBody>
                  <a:tcPr marL="0" marR="0" marB="0" marT="6858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150"/>
                        </a:lnSpc>
                        <a:spcBef>
                          <a:spcPts val="690"/>
                        </a:spcBef>
                      </a:pPr>
                      <a:r>
                        <a:rPr dirty="0" sz="1800" spc="105">
                          <a:latin typeface="STIX Two Math"/>
                          <a:cs typeface="STIX Two Math"/>
                        </a:rPr>
                        <a:t>1</a:t>
                      </a:r>
                      <a:r>
                        <a:rPr dirty="0" sz="1800" spc="-3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dirty="0" sz="1800" spc="-70">
                          <a:latin typeface="STIX Two Math"/>
                          <a:cs typeface="STIX Two Math"/>
                        </a:rPr>
                        <a:t>,</a:t>
                      </a:r>
                      <a:r>
                        <a:rPr dirty="0" sz="1800" spc="-125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dirty="0" sz="1800" spc="50">
                          <a:latin typeface="STIX Two Math"/>
                          <a:cs typeface="STIX Two Math"/>
                        </a:rPr>
                        <a:t>3.4</a:t>
                      </a:r>
                      <a:r>
                        <a:rPr dirty="0" sz="1800" spc="-2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dirty="0" sz="1800" spc="-70">
                          <a:latin typeface="STIX Two Math"/>
                          <a:cs typeface="STIX Two Math"/>
                        </a:rPr>
                        <a:t>,</a:t>
                      </a:r>
                      <a:r>
                        <a:rPr dirty="0" sz="1800" spc="-125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dirty="0" sz="1800" spc="60">
                          <a:latin typeface="STIX Two Math"/>
                          <a:cs typeface="STIX Two Math"/>
                        </a:rPr>
                        <a:t>2.423</a:t>
                      </a:r>
                      <a:endParaRPr sz="1800">
                        <a:latin typeface="STIX Two Math"/>
                        <a:cs typeface="STIX Two Math"/>
                      </a:endParaRPr>
                    </a:p>
                  </a:txBody>
                  <a:tcPr marL="0" marR="0" marB="0" marT="876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150"/>
                        </a:lnSpc>
                        <a:spcBef>
                          <a:spcPts val="690"/>
                        </a:spcBef>
                      </a:pPr>
                      <a:r>
                        <a:rPr dirty="0" sz="1800">
                          <a:latin typeface="STIX Two Math"/>
                          <a:cs typeface="STIX Two Math"/>
                        </a:rPr>
                        <a:t>≅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[1</a:t>
                      </a:r>
                      <a:r>
                        <a:rPr dirty="0" sz="180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0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75">
                          <a:latin typeface="Arial"/>
                          <a:cs typeface="Arial"/>
                        </a:rPr>
                        <a:t>3.5</a:t>
                      </a:r>
                      <a:r>
                        <a:rPr dirty="0" sz="180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0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60">
                          <a:latin typeface="Arial"/>
                          <a:cs typeface="Arial"/>
                        </a:rPr>
                        <a:t>2.423]</a:t>
                      </a:r>
                      <a:r>
                        <a:rPr dirty="0" sz="1800" spc="-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STIX Two Math"/>
                          <a:cs typeface="STIX Two Math"/>
                        </a:rPr>
                        <a:t>≅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[1</a:t>
                      </a:r>
                      <a:r>
                        <a:rPr dirty="0" sz="1800" spc="-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0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90">
                          <a:latin typeface="Arial"/>
                          <a:cs typeface="Arial"/>
                        </a:rPr>
                        <a:t>42.12345 </a:t>
                      </a:r>
                      <a:r>
                        <a:rPr dirty="0" sz="1800" spc="-5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0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2.95]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763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2290064" y="3773170"/>
            <a:ext cx="50165" cy="8890"/>
          </a:xfrm>
          <a:custGeom>
            <a:avLst/>
            <a:gdLst/>
            <a:ahLst/>
            <a:cxnLst/>
            <a:rect l="l" t="t" r="r" b="b"/>
            <a:pathLst>
              <a:path w="50164" h="8889">
                <a:moveTo>
                  <a:pt x="0" y="8889"/>
                </a:moveTo>
                <a:lnTo>
                  <a:pt x="49784" y="8889"/>
                </a:lnTo>
                <a:lnTo>
                  <a:pt x="49784" y="0"/>
                </a:lnTo>
                <a:lnTo>
                  <a:pt x="0" y="0"/>
                </a:lnTo>
                <a:lnTo>
                  <a:pt x="0" y="88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74140" y="3773170"/>
            <a:ext cx="50165" cy="8890"/>
          </a:xfrm>
          <a:custGeom>
            <a:avLst/>
            <a:gdLst/>
            <a:ahLst/>
            <a:cxnLst/>
            <a:rect l="l" t="t" r="r" b="b"/>
            <a:pathLst>
              <a:path w="50165" h="8889">
                <a:moveTo>
                  <a:pt x="0" y="8889"/>
                </a:moveTo>
                <a:lnTo>
                  <a:pt x="49784" y="8889"/>
                </a:lnTo>
                <a:lnTo>
                  <a:pt x="49784" y="0"/>
                </a:lnTo>
                <a:lnTo>
                  <a:pt x="0" y="0"/>
                </a:lnTo>
                <a:lnTo>
                  <a:pt x="0" y="88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90064" y="4146550"/>
            <a:ext cx="50165" cy="8890"/>
          </a:xfrm>
          <a:custGeom>
            <a:avLst/>
            <a:gdLst/>
            <a:ahLst/>
            <a:cxnLst/>
            <a:rect l="l" t="t" r="r" b="b"/>
            <a:pathLst>
              <a:path w="50164" h="8889">
                <a:moveTo>
                  <a:pt x="0" y="8890"/>
                </a:moveTo>
                <a:lnTo>
                  <a:pt x="49784" y="8890"/>
                </a:lnTo>
                <a:lnTo>
                  <a:pt x="49784" y="0"/>
                </a:lnTo>
                <a:lnTo>
                  <a:pt x="0" y="0"/>
                </a:lnTo>
                <a:lnTo>
                  <a:pt x="0" y="8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74140" y="4146550"/>
            <a:ext cx="50165" cy="8890"/>
          </a:xfrm>
          <a:custGeom>
            <a:avLst/>
            <a:gdLst/>
            <a:ahLst/>
            <a:cxnLst/>
            <a:rect l="l" t="t" r="r" b="b"/>
            <a:pathLst>
              <a:path w="50165" h="8889">
                <a:moveTo>
                  <a:pt x="0" y="8890"/>
                </a:moveTo>
                <a:lnTo>
                  <a:pt x="49784" y="8890"/>
                </a:lnTo>
                <a:lnTo>
                  <a:pt x="49784" y="0"/>
                </a:lnTo>
                <a:lnTo>
                  <a:pt x="0" y="0"/>
                </a:lnTo>
                <a:lnTo>
                  <a:pt x="0" y="8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92756" y="4894833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4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31242" y="8890"/>
                </a:lnTo>
                <a:lnTo>
                  <a:pt x="31242" y="20447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74140" y="4894833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5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18529" y="204470"/>
                </a:lnTo>
                <a:lnTo>
                  <a:pt x="18529" y="889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620517" y="4827270"/>
            <a:ext cx="18243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STIX Two Math"/>
                <a:cs typeface="STIX Two Math"/>
              </a:rPr>
              <a:t>≇</a:t>
            </a:r>
            <a:r>
              <a:rPr dirty="0" sz="1800" spc="100">
                <a:latin typeface="STIX Two Math"/>
                <a:cs typeface="STIX Two Math"/>
              </a:rPr>
              <a:t> </a:t>
            </a:r>
            <a:r>
              <a:rPr dirty="0" sz="1800" spc="-55">
                <a:latin typeface="Arial"/>
                <a:cs typeface="Arial"/>
              </a:rPr>
              <a:t>[1.1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55">
                <a:latin typeface="Arial"/>
                <a:cs typeface="Arial"/>
              </a:rPr>
              <a:t>,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85">
                <a:latin typeface="Arial"/>
                <a:cs typeface="Arial"/>
              </a:rPr>
              <a:t>2.1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55">
                <a:latin typeface="Arial"/>
                <a:cs typeface="Arial"/>
              </a:rPr>
              <a:t>,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45">
                <a:latin typeface="Arial"/>
                <a:cs typeface="Arial"/>
              </a:rPr>
              <a:t>2.423]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442464" y="5268214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4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31242" y="8890"/>
                </a:lnTo>
                <a:lnTo>
                  <a:pt x="31242" y="20447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74140" y="5268214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5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18529" y="204470"/>
                </a:lnTo>
                <a:lnTo>
                  <a:pt x="18529" y="889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07542" y="4733173"/>
            <a:ext cx="1793875" cy="77216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321945" indent="-309245">
              <a:lnSpc>
                <a:spcPct val="100000"/>
              </a:lnSpc>
              <a:spcBef>
                <a:spcPts val="84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321945" algn="l"/>
                <a:tab pos="1225550" algn="l"/>
              </a:tabLst>
            </a:pPr>
            <a:r>
              <a:rPr dirty="0" sz="1800" spc="105">
                <a:latin typeface="STIX Two Math"/>
                <a:cs typeface="STIX Two Math"/>
              </a:rPr>
              <a:t>1</a:t>
            </a:r>
            <a:r>
              <a:rPr dirty="0" sz="1800" spc="-50">
                <a:latin typeface="STIX Two Math"/>
                <a:cs typeface="STIX Two Math"/>
              </a:rPr>
              <a:t> </a:t>
            </a:r>
            <a:r>
              <a:rPr dirty="0" sz="1800">
                <a:latin typeface="STIX Two Math"/>
                <a:cs typeface="STIX Two Math"/>
              </a:rPr>
              <a:t>,</a:t>
            </a:r>
            <a:r>
              <a:rPr dirty="0" sz="1800" spc="450">
                <a:latin typeface="STIX Two Math"/>
                <a:cs typeface="STIX Two Math"/>
              </a:rPr>
              <a:t> </a:t>
            </a:r>
            <a:r>
              <a:rPr dirty="0" sz="1800" spc="50">
                <a:latin typeface="STIX Two Math"/>
                <a:cs typeface="STIX Two Math"/>
              </a:rPr>
              <a:t>2.1</a:t>
            </a:r>
            <a:r>
              <a:rPr dirty="0" sz="1800" spc="-40">
                <a:latin typeface="STIX Two Math"/>
                <a:cs typeface="STIX Two Math"/>
              </a:rPr>
              <a:t> </a:t>
            </a:r>
            <a:r>
              <a:rPr dirty="0" sz="1800" spc="-50">
                <a:latin typeface="STIX Two Math"/>
                <a:cs typeface="STIX Two Math"/>
              </a:rPr>
              <a:t>,</a:t>
            </a:r>
            <a:r>
              <a:rPr dirty="0" sz="1800">
                <a:latin typeface="STIX Two Math"/>
                <a:cs typeface="STIX Two Math"/>
              </a:rPr>
              <a:t>	</a:t>
            </a:r>
            <a:r>
              <a:rPr dirty="0" sz="1800" spc="60">
                <a:latin typeface="STIX Two Math"/>
                <a:cs typeface="STIX Two Math"/>
              </a:rPr>
              <a:t>2.423</a:t>
            </a:r>
            <a:endParaRPr sz="1800">
              <a:latin typeface="STIX Two Math"/>
              <a:cs typeface="STIX Two Math"/>
            </a:endParaRPr>
          </a:p>
          <a:p>
            <a:pPr marL="321945" indent="-309245">
              <a:lnSpc>
                <a:spcPct val="100000"/>
              </a:lnSpc>
              <a:spcBef>
                <a:spcPts val="78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321945" algn="l"/>
              </a:tabLst>
            </a:pPr>
            <a:r>
              <a:rPr dirty="0" sz="1800" spc="105">
                <a:latin typeface="STIX Two Math"/>
                <a:cs typeface="STIX Two Math"/>
              </a:rPr>
              <a:t>1</a:t>
            </a:r>
            <a:r>
              <a:rPr dirty="0" sz="1800" spc="-55">
                <a:latin typeface="STIX Two Math"/>
                <a:cs typeface="STIX Two Math"/>
              </a:rPr>
              <a:t> </a:t>
            </a:r>
            <a:r>
              <a:rPr dirty="0" sz="1800">
                <a:latin typeface="STIX Two Math"/>
                <a:cs typeface="STIX Two Math"/>
              </a:rPr>
              <a:t>,</a:t>
            </a:r>
            <a:r>
              <a:rPr dirty="0" sz="1800" spc="434">
                <a:latin typeface="STIX Two Math"/>
                <a:cs typeface="STIX Two Math"/>
              </a:rPr>
              <a:t> </a:t>
            </a:r>
            <a:r>
              <a:rPr dirty="0" sz="1800" spc="50">
                <a:latin typeface="STIX Two Math"/>
                <a:cs typeface="STIX Two Math"/>
              </a:rPr>
              <a:t>2.1</a:t>
            </a:r>
            <a:r>
              <a:rPr dirty="0" sz="1800" spc="-40">
                <a:latin typeface="STIX Two Math"/>
                <a:cs typeface="STIX Two Math"/>
              </a:rPr>
              <a:t> </a:t>
            </a:r>
            <a:r>
              <a:rPr dirty="0" sz="1800">
                <a:latin typeface="STIX Two Math"/>
                <a:cs typeface="STIX Two Math"/>
              </a:rPr>
              <a:t>,</a:t>
            </a:r>
            <a:r>
              <a:rPr dirty="0" sz="1800" spc="430">
                <a:latin typeface="STIX Two Math"/>
                <a:cs typeface="STIX Two Math"/>
              </a:rPr>
              <a:t> </a:t>
            </a:r>
            <a:r>
              <a:rPr dirty="0" sz="1800" spc="55">
                <a:latin typeface="STIX Two Math"/>
                <a:cs typeface="STIX Two Math"/>
              </a:rPr>
              <a:t>1.423</a:t>
            </a:r>
            <a:endParaRPr sz="1800">
              <a:latin typeface="STIX Two Math"/>
              <a:cs typeface="STIX Two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70226" y="5200345"/>
            <a:ext cx="15347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STIX Two Math"/>
                <a:cs typeface="STIX Two Math"/>
              </a:rPr>
              <a:t>≇</a:t>
            </a:r>
            <a:r>
              <a:rPr dirty="0" sz="1800" spc="80">
                <a:latin typeface="STIX Two Math"/>
                <a:cs typeface="STIX Two Math"/>
              </a:rPr>
              <a:t> </a:t>
            </a:r>
            <a:r>
              <a:rPr dirty="0" sz="1800" spc="-20">
                <a:latin typeface="Arial"/>
                <a:cs typeface="Arial"/>
              </a:rPr>
              <a:t>[1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55">
                <a:latin typeface="Arial"/>
                <a:cs typeface="Arial"/>
              </a:rPr>
              <a:t>,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80">
                <a:latin typeface="Arial"/>
                <a:cs typeface="Arial"/>
              </a:rPr>
              <a:t>2.12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55">
                <a:latin typeface="Arial"/>
                <a:cs typeface="Arial"/>
              </a:rPr>
              <a:t>,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1.1]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231894" y="4513834"/>
            <a:ext cx="1733550" cy="443230"/>
            <a:chOff x="4231894" y="4513834"/>
            <a:chExt cx="1733550" cy="443230"/>
          </a:xfrm>
        </p:grpSpPr>
        <p:sp>
          <p:nvSpPr>
            <p:cNvPr id="25" name="object 25"/>
            <p:cNvSpPr/>
            <p:nvPr/>
          </p:nvSpPr>
          <p:spPr>
            <a:xfrm>
              <a:off x="4238244" y="4520184"/>
              <a:ext cx="1720850" cy="430530"/>
            </a:xfrm>
            <a:custGeom>
              <a:avLst/>
              <a:gdLst/>
              <a:ahLst/>
              <a:cxnLst/>
              <a:rect l="l" t="t" r="r" b="b"/>
              <a:pathLst>
                <a:path w="1720850" h="430529">
                  <a:moveTo>
                    <a:pt x="716915" y="291083"/>
                  </a:moveTo>
                  <a:lnTo>
                    <a:pt x="286766" y="291083"/>
                  </a:lnTo>
                  <a:lnTo>
                    <a:pt x="235204" y="430148"/>
                  </a:lnTo>
                  <a:lnTo>
                    <a:pt x="716915" y="291083"/>
                  </a:lnTo>
                  <a:close/>
                </a:path>
                <a:path w="1720850" h="430529">
                  <a:moveTo>
                    <a:pt x="1672082" y="0"/>
                  </a:moveTo>
                  <a:lnTo>
                    <a:pt x="48514" y="0"/>
                  </a:lnTo>
                  <a:lnTo>
                    <a:pt x="29628" y="3811"/>
                  </a:lnTo>
                  <a:lnTo>
                    <a:pt x="14208" y="14208"/>
                  </a:lnTo>
                  <a:lnTo>
                    <a:pt x="3811" y="29628"/>
                  </a:lnTo>
                  <a:lnTo>
                    <a:pt x="0" y="48513"/>
                  </a:lnTo>
                  <a:lnTo>
                    <a:pt x="0" y="242569"/>
                  </a:lnTo>
                  <a:lnTo>
                    <a:pt x="3811" y="261455"/>
                  </a:lnTo>
                  <a:lnTo>
                    <a:pt x="14208" y="276875"/>
                  </a:lnTo>
                  <a:lnTo>
                    <a:pt x="29628" y="287272"/>
                  </a:lnTo>
                  <a:lnTo>
                    <a:pt x="48514" y="291083"/>
                  </a:lnTo>
                  <a:lnTo>
                    <a:pt x="1672082" y="291083"/>
                  </a:lnTo>
                  <a:lnTo>
                    <a:pt x="1690967" y="287272"/>
                  </a:lnTo>
                  <a:lnTo>
                    <a:pt x="1706387" y="276875"/>
                  </a:lnTo>
                  <a:lnTo>
                    <a:pt x="1716784" y="261455"/>
                  </a:lnTo>
                  <a:lnTo>
                    <a:pt x="1720595" y="242569"/>
                  </a:lnTo>
                  <a:lnTo>
                    <a:pt x="1720595" y="48513"/>
                  </a:lnTo>
                  <a:lnTo>
                    <a:pt x="1716784" y="29628"/>
                  </a:lnTo>
                  <a:lnTo>
                    <a:pt x="1706387" y="14208"/>
                  </a:lnTo>
                  <a:lnTo>
                    <a:pt x="1690967" y="3811"/>
                  </a:lnTo>
                  <a:lnTo>
                    <a:pt x="16720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238244" y="4520184"/>
              <a:ext cx="1720850" cy="430530"/>
            </a:xfrm>
            <a:custGeom>
              <a:avLst/>
              <a:gdLst/>
              <a:ahLst/>
              <a:cxnLst/>
              <a:rect l="l" t="t" r="r" b="b"/>
              <a:pathLst>
                <a:path w="1720850" h="430529">
                  <a:moveTo>
                    <a:pt x="0" y="48513"/>
                  </a:moveTo>
                  <a:lnTo>
                    <a:pt x="3811" y="29628"/>
                  </a:lnTo>
                  <a:lnTo>
                    <a:pt x="14208" y="14208"/>
                  </a:lnTo>
                  <a:lnTo>
                    <a:pt x="29628" y="3811"/>
                  </a:lnTo>
                  <a:lnTo>
                    <a:pt x="48514" y="0"/>
                  </a:lnTo>
                  <a:lnTo>
                    <a:pt x="286766" y="0"/>
                  </a:lnTo>
                  <a:lnTo>
                    <a:pt x="716915" y="0"/>
                  </a:lnTo>
                  <a:lnTo>
                    <a:pt x="1672082" y="0"/>
                  </a:lnTo>
                  <a:lnTo>
                    <a:pt x="1690967" y="3811"/>
                  </a:lnTo>
                  <a:lnTo>
                    <a:pt x="1706387" y="14208"/>
                  </a:lnTo>
                  <a:lnTo>
                    <a:pt x="1716784" y="29628"/>
                  </a:lnTo>
                  <a:lnTo>
                    <a:pt x="1720595" y="48513"/>
                  </a:lnTo>
                  <a:lnTo>
                    <a:pt x="1720595" y="169798"/>
                  </a:lnTo>
                  <a:lnTo>
                    <a:pt x="1720595" y="242569"/>
                  </a:lnTo>
                  <a:lnTo>
                    <a:pt x="1716784" y="261455"/>
                  </a:lnTo>
                  <a:lnTo>
                    <a:pt x="1706387" y="276875"/>
                  </a:lnTo>
                  <a:lnTo>
                    <a:pt x="1690967" y="287272"/>
                  </a:lnTo>
                  <a:lnTo>
                    <a:pt x="1672082" y="291083"/>
                  </a:lnTo>
                  <a:lnTo>
                    <a:pt x="716915" y="291083"/>
                  </a:lnTo>
                  <a:lnTo>
                    <a:pt x="235204" y="430148"/>
                  </a:lnTo>
                  <a:lnTo>
                    <a:pt x="286766" y="291083"/>
                  </a:lnTo>
                  <a:lnTo>
                    <a:pt x="48514" y="291083"/>
                  </a:lnTo>
                  <a:lnTo>
                    <a:pt x="29628" y="287272"/>
                  </a:lnTo>
                  <a:lnTo>
                    <a:pt x="14208" y="276875"/>
                  </a:lnTo>
                  <a:lnTo>
                    <a:pt x="3811" y="261455"/>
                  </a:lnTo>
                  <a:lnTo>
                    <a:pt x="0" y="242569"/>
                  </a:lnTo>
                  <a:lnTo>
                    <a:pt x="0" y="169798"/>
                  </a:lnTo>
                  <a:lnTo>
                    <a:pt x="0" y="48513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494403" y="4501642"/>
            <a:ext cx="12096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35">
                <a:latin typeface="Arial"/>
                <a:cs typeface="Arial"/>
              </a:rPr>
              <a:t>x=1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155">
                <a:latin typeface="Arial"/>
                <a:cs typeface="Arial"/>
              </a:rPr>
              <a:t>vs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10">
                <a:latin typeface="Arial"/>
                <a:cs typeface="Arial"/>
              </a:rPr>
              <a:t>1&lt;x&lt;2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020692" y="5251450"/>
            <a:ext cx="2124710" cy="387985"/>
            <a:chOff x="4020692" y="5251450"/>
            <a:chExt cx="2124710" cy="387985"/>
          </a:xfrm>
        </p:grpSpPr>
        <p:sp>
          <p:nvSpPr>
            <p:cNvPr id="29" name="object 29"/>
            <p:cNvSpPr/>
            <p:nvPr/>
          </p:nvSpPr>
          <p:spPr>
            <a:xfrm>
              <a:off x="4027042" y="5257800"/>
              <a:ext cx="2112010" cy="375285"/>
            </a:xfrm>
            <a:custGeom>
              <a:avLst/>
              <a:gdLst/>
              <a:ahLst/>
              <a:cxnLst/>
              <a:rect l="l" t="t" r="r" b="b"/>
              <a:pathLst>
                <a:path w="2112010" h="375285">
                  <a:moveTo>
                    <a:pt x="2049145" y="0"/>
                  </a:moveTo>
                  <a:lnTo>
                    <a:pt x="188341" y="0"/>
                  </a:lnTo>
                  <a:lnTo>
                    <a:pt x="164004" y="4905"/>
                  </a:lnTo>
                  <a:lnTo>
                    <a:pt x="144145" y="18288"/>
                  </a:lnTo>
                  <a:lnTo>
                    <a:pt x="130762" y="38147"/>
                  </a:lnTo>
                  <a:lnTo>
                    <a:pt x="125857" y="62484"/>
                  </a:lnTo>
                  <a:lnTo>
                    <a:pt x="0" y="121793"/>
                  </a:lnTo>
                  <a:lnTo>
                    <a:pt x="125857" y="156210"/>
                  </a:lnTo>
                  <a:lnTo>
                    <a:pt x="125857" y="312420"/>
                  </a:lnTo>
                  <a:lnTo>
                    <a:pt x="130762" y="336740"/>
                  </a:lnTo>
                  <a:lnTo>
                    <a:pt x="144145" y="356601"/>
                  </a:lnTo>
                  <a:lnTo>
                    <a:pt x="164004" y="369993"/>
                  </a:lnTo>
                  <a:lnTo>
                    <a:pt x="188341" y="374904"/>
                  </a:lnTo>
                  <a:lnTo>
                    <a:pt x="2049145" y="374904"/>
                  </a:lnTo>
                  <a:lnTo>
                    <a:pt x="2073481" y="369993"/>
                  </a:lnTo>
                  <a:lnTo>
                    <a:pt x="2093341" y="356601"/>
                  </a:lnTo>
                  <a:lnTo>
                    <a:pt x="2106723" y="336740"/>
                  </a:lnTo>
                  <a:lnTo>
                    <a:pt x="2111629" y="312420"/>
                  </a:lnTo>
                  <a:lnTo>
                    <a:pt x="2111629" y="62484"/>
                  </a:lnTo>
                  <a:lnTo>
                    <a:pt x="2106723" y="38147"/>
                  </a:lnTo>
                  <a:lnTo>
                    <a:pt x="2093341" y="18288"/>
                  </a:lnTo>
                  <a:lnTo>
                    <a:pt x="2073481" y="4905"/>
                  </a:lnTo>
                  <a:lnTo>
                    <a:pt x="20491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027042" y="5257800"/>
              <a:ext cx="2112010" cy="375285"/>
            </a:xfrm>
            <a:custGeom>
              <a:avLst/>
              <a:gdLst/>
              <a:ahLst/>
              <a:cxnLst/>
              <a:rect l="l" t="t" r="r" b="b"/>
              <a:pathLst>
                <a:path w="2112010" h="375285">
                  <a:moveTo>
                    <a:pt x="125857" y="62484"/>
                  </a:moveTo>
                  <a:lnTo>
                    <a:pt x="130762" y="38147"/>
                  </a:lnTo>
                  <a:lnTo>
                    <a:pt x="144145" y="18288"/>
                  </a:lnTo>
                  <a:lnTo>
                    <a:pt x="164004" y="4905"/>
                  </a:lnTo>
                  <a:lnTo>
                    <a:pt x="188341" y="0"/>
                  </a:lnTo>
                  <a:lnTo>
                    <a:pt x="456819" y="0"/>
                  </a:lnTo>
                  <a:lnTo>
                    <a:pt x="953262" y="0"/>
                  </a:lnTo>
                  <a:lnTo>
                    <a:pt x="2049145" y="0"/>
                  </a:lnTo>
                  <a:lnTo>
                    <a:pt x="2073481" y="4905"/>
                  </a:lnTo>
                  <a:lnTo>
                    <a:pt x="2093341" y="18288"/>
                  </a:lnTo>
                  <a:lnTo>
                    <a:pt x="2106723" y="38147"/>
                  </a:lnTo>
                  <a:lnTo>
                    <a:pt x="2111629" y="62484"/>
                  </a:lnTo>
                  <a:lnTo>
                    <a:pt x="2111629" y="156210"/>
                  </a:lnTo>
                  <a:lnTo>
                    <a:pt x="2111629" y="312420"/>
                  </a:lnTo>
                  <a:lnTo>
                    <a:pt x="2106723" y="336740"/>
                  </a:lnTo>
                  <a:lnTo>
                    <a:pt x="2093341" y="356601"/>
                  </a:lnTo>
                  <a:lnTo>
                    <a:pt x="2073481" y="369993"/>
                  </a:lnTo>
                  <a:lnTo>
                    <a:pt x="2049145" y="374904"/>
                  </a:lnTo>
                  <a:lnTo>
                    <a:pt x="953262" y="374904"/>
                  </a:lnTo>
                  <a:lnTo>
                    <a:pt x="456819" y="374904"/>
                  </a:lnTo>
                  <a:lnTo>
                    <a:pt x="188341" y="374904"/>
                  </a:lnTo>
                  <a:lnTo>
                    <a:pt x="164004" y="369993"/>
                  </a:lnTo>
                  <a:lnTo>
                    <a:pt x="144145" y="356601"/>
                  </a:lnTo>
                  <a:lnTo>
                    <a:pt x="130762" y="336740"/>
                  </a:lnTo>
                  <a:lnTo>
                    <a:pt x="125857" y="312420"/>
                  </a:lnTo>
                  <a:lnTo>
                    <a:pt x="125857" y="156210"/>
                  </a:lnTo>
                  <a:lnTo>
                    <a:pt x="0" y="121793"/>
                  </a:lnTo>
                  <a:lnTo>
                    <a:pt x="125857" y="62484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4320921" y="5283200"/>
            <a:ext cx="16529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>
                <a:latin typeface="STIX Two Math"/>
                <a:cs typeface="STIX Two Math"/>
              </a:rPr>
              <a:t>⌊</a:t>
            </a:r>
            <a:r>
              <a:rPr dirty="0" sz="1800" spc="-75">
                <a:latin typeface="Arial"/>
                <a:cs typeface="Arial"/>
              </a:rPr>
              <a:t>y</a:t>
            </a:r>
            <a:r>
              <a:rPr dirty="0" sz="1800" spc="-75">
                <a:latin typeface="STIX Two Math"/>
                <a:cs typeface="STIX Two Math"/>
              </a:rPr>
              <a:t>⌋</a:t>
            </a:r>
            <a:r>
              <a:rPr dirty="0" sz="1800" spc="-75">
                <a:latin typeface="Arial"/>
                <a:cs typeface="Arial"/>
              </a:rPr>
              <a:t>&lt;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>
                <a:latin typeface="STIX Two Math"/>
                <a:cs typeface="STIX Two Math"/>
              </a:rPr>
              <a:t>⌊z⌋</a:t>
            </a:r>
            <a:r>
              <a:rPr dirty="0" sz="1800" spc="-25">
                <a:latin typeface="STIX Two Math"/>
                <a:cs typeface="STIX Two Math"/>
              </a:rPr>
              <a:t> </a:t>
            </a:r>
            <a:r>
              <a:rPr dirty="0" sz="1800" spc="-155">
                <a:latin typeface="Arial"/>
                <a:cs typeface="Arial"/>
              </a:rPr>
              <a:t>vs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25">
                <a:latin typeface="STIX Two Math"/>
                <a:cs typeface="STIX Two Math"/>
              </a:rPr>
              <a:t>⌊</a:t>
            </a:r>
            <a:r>
              <a:rPr dirty="0" sz="1800" spc="-25">
                <a:latin typeface="Arial"/>
                <a:cs typeface="Arial"/>
              </a:rPr>
              <a:t>y</a:t>
            </a:r>
            <a:r>
              <a:rPr dirty="0" sz="1800" spc="-25">
                <a:latin typeface="STIX Two Math"/>
                <a:cs typeface="STIX Two Math"/>
              </a:rPr>
              <a:t>⌋</a:t>
            </a:r>
            <a:r>
              <a:rPr dirty="0" sz="1800" spc="-25">
                <a:latin typeface="Arial"/>
                <a:cs typeface="Arial"/>
              </a:rPr>
              <a:t>&gt;</a:t>
            </a:r>
            <a:r>
              <a:rPr dirty="0" sz="1800" spc="-25">
                <a:latin typeface="STIX Two Math"/>
                <a:cs typeface="STIX Two Math"/>
              </a:rPr>
              <a:t>⌊z⌋</a:t>
            </a:r>
            <a:endParaRPr sz="1800">
              <a:latin typeface="STIX Two Math"/>
              <a:cs typeface="STIX Two Math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25"/>
              <a:t>Regionengraph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25417"/>
            <a:ext cx="7339330" cy="1913889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1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120">
                <a:latin typeface="Arial"/>
                <a:cs typeface="Arial"/>
              </a:rPr>
              <a:t>Zustände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150">
                <a:latin typeface="Arial"/>
                <a:cs typeface="Arial"/>
              </a:rPr>
              <a:t>des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110">
                <a:latin typeface="Arial"/>
                <a:cs typeface="Arial"/>
              </a:rPr>
              <a:t>Regionengraphen: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30">
                <a:latin typeface="Arial"/>
                <a:cs typeface="Arial"/>
              </a:rPr>
              <a:t>Tupel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60">
                <a:latin typeface="Arial"/>
                <a:cs typeface="Arial"/>
              </a:rPr>
              <a:t>aus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80" i="1">
                <a:latin typeface="Arial"/>
                <a:cs typeface="Arial"/>
              </a:rPr>
              <a:t>locations</a:t>
            </a:r>
            <a:r>
              <a:rPr dirty="0" sz="2000" spc="-85" i="1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und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0" i="1">
                <a:latin typeface="Arial"/>
                <a:cs typeface="Arial"/>
              </a:rPr>
              <a:t>regions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dirty="0" sz="2000" spc="-150">
                <a:latin typeface="Arial"/>
                <a:cs typeface="Arial"/>
              </a:rPr>
              <a:t>Sukzessiver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Aufbau: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jeweils </a:t>
            </a:r>
            <a:r>
              <a:rPr dirty="0" sz="2000" spc="-50">
                <a:latin typeface="Arial"/>
                <a:cs typeface="Arial"/>
              </a:rPr>
              <a:t>finden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60">
                <a:latin typeface="Arial"/>
                <a:cs typeface="Arial"/>
              </a:rPr>
              <a:t>aller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möglichen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Folgezustände</a:t>
            </a:r>
            <a:endParaRPr sz="2000">
              <a:latin typeface="Arial"/>
              <a:cs typeface="Arial"/>
            </a:endParaRPr>
          </a:p>
          <a:p>
            <a:pPr lvl="1" marL="643255" marR="347345" indent="-273050">
              <a:lnSpc>
                <a:spcPts val="1939"/>
              </a:lnSpc>
              <a:spcBef>
                <a:spcPts val="545"/>
              </a:spcBef>
              <a:buClr>
                <a:srgbClr val="2D75B6"/>
              </a:buClr>
              <a:buSzPct val="108333"/>
              <a:buAutoNum type="arabicPeriod"/>
              <a:tabLst>
                <a:tab pos="696595" algn="l"/>
              </a:tabLst>
            </a:pPr>
            <a:r>
              <a:rPr dirty="0" sz="1800" spc="-105">
                <a:latin typeface="Arial"/>
                <a:cs typeface="Arial"/>
              </a:rPr>
              <a:t>Zustände,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die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70">
                <a:latin typeface="Arial"/>
                <a:cs typeface="Arial"/>
              </a:rPr>
              <a:t>durch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65">
                <a:latin typeface="Arial"/>
                <a:cs typeface="Arial"/>
              </a:rPr>
              <a:t>diskrete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65">
                <a:latin typeface="Arial"/>
                <a:cs typeface="Arial"/>
              </a:rPr>
              <a:t>Schritte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80">
                <a:latin typeface="Arial"/>
                <a:cs typeface="Arial"/>
              </a:rPr>
              <a:t>(Transitionen)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45">
                <a:latin typeface="Arial"/>
                <a:cs typeface="Arial"/>
              </a:rPr>
              <a:t>erreicht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werden: </a:t>
            </a:r>
            <a:r>
              <a:rPr dirty="0" sz="1800" spc="-10">
                <a:latin typeface="Arial"/>
                <a:cs typeface="Arial"/>
              </a:rPr>
              <a:t>	</a:t>
            </a:r>
            <a:r>
              <a:rPr dirty="0" sz="1800" spc="-160">
                <a:latin typeface="Arial"/>
                <a:cs typeface="Arial"/>
              </a:rPr>
              <a:t>es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70">
                <a:latin typeface="Arial"/>
                <a:cs typeface="Arial"/>
              </a:rPr>
              <a:t>vergeht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95">
                <a:latin typeface="Arial"/>
                <a:cs typeface="Arial"/>
              </a:rPr>
              <a:t>keine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70">
                <a:latin typeface="Arial"/>
                <a:cs typeface="Arial"/>
              </a:rPr>
              <a:t>Zeit,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75">
                <a:latin typeface="Arial"/>
                <a:cs typeface="Arial"/>
              </a:rPr>
              <a:t>Uhren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90">
                <a:latin typeface="Arial"/>
                <a:cs typeface="Arial"/>
              </a:rPr>
              <a:t>können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90">
                <a:latin typeface="Arial"/>
                <a:cs typeface="Arial"/>
              </a:rPr>
              <a:t>zurückgesetzt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werden</a:t>
            </a:r>
            <a:endParaRPr sz="1800">
              <a:latin typeface="Arial"/>
              <a:cs typeface="Arial"/>
            </a:endParaRPr>
          </a:p>
          <a:p>
            <a:pPr lvl="1" marL="643890" indent="-273050">
              <a:lnSpc>
                <a:spcPts val="2220"/>
              </a:lnSpc>
              <a:spcBef>
                <a:spcPts val="115"/>
              </a:spcBef>
              <a:buClr>
                <a:srgbClr val="2D75B6"/>
              </a:buClr>
              <a:buSzPct val="108333"/>
              <a:buAutoNum type="arabicPeriod"/>
              <a:tabLst>
                <a:tab pos="643890" algn="l"/>
              </a:tabLst>
            </a:pPr>
            <a:r>
              <a:rPr dirty="0" sz="1800" spc="-100">
                <a:latin typeface="Arial"/>
                <a:cs typeface="Arial"/>
              </a:rPr>
              <a:t>Zustände,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die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65">
                <a:latin typeface="Arial"/>
                <a:cs typeface="Arial"/>
              </a:rPr>
              <a:t>durch</a:t>
            </a:r>
            <a:r>
              <a:rPr dirty="0" sz="1800" spc="-60">
                <a:latin typeface="Arial"/>
                <a:cs typeface="Arial"/>
              </a:rPr>
              <a:t> Zeitschritte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45">
                <a:latin typeface="Arial"/>
                <a:cs typeface="Arial"/>
              </a:rPr>
              <a:t>erreicht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55">
                <a:latin typeface="Arial"/>
                <a:cs typeface="Arial"/>
              </a:rPr>
              <a:t>werden: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114">
                <a:latin typeface="Arial"/>
                <a:cs typeface="Arial"/>
              </a:rPr>
              <a:t>Bewegung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110">
                <a:latin typeface="Arial"/>
                <a:cs typeface="Arial"/>
              </a:rPr>
              <a:t>nach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rechts</a:t>
            </a:r>
            <a:endParaRPr sz="1800">
              <a:latin typeface="Arial"/>
              <a:cs typeface="Arial"/>
            </a:endParaRPr>
          </a:p>
          <a:p>
            <a:pPr marL="644525">
              <a:lnSpc>
                <a:spcPts val="2039"/>
              </a:lnSpc>
            </a:pPr>
            <a:r>
              <a:rPr dirty="0" sz="1800" spc="-75">
                <a:latin typeface="Arial"/>
                <a:cs typeface="Arial"/>
              </a:rPr>
              <a:t>oben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100">
                <a:latin typeface="Arial"/>
                <a:cs typeface="Arial"/>
              </a:rPr>
              <a:t>(x</a:t>
            </a:r>
            <a:r>
              <a:rPr dirty="0" sz="1800" spc="-70">
                <a:latin typeface="Arial"/>
                <a:cs typeface="Arial"/>
              </a:rPr>
              <a:t> und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90">
                <a:latin typeface="Arial"/>
                <a:cs typeface="Arial"/>
              </a:rPr>
              <a:t>y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80">
                <a:latin typeface="Arial"/>
                <a:cs typeface="Arial"/>
              </a:rPr>
              <a:t>nehmen </a:t>
            </a:r>
            <a:r>
              <a:rPr dirty="0" sz="1800" spc="-85">
                <a:latin typeface="Arial"/>
                <a:cs typeface="Arial"/>
              </a:rPr>
              <a:t>gleichermaßen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zu)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32072" y="4025645"/>
            <a:ext cx="1797050" cy="1365885"/>
          </a:xfrm>
          <a:custGeom>
            <a:avLst/>
            <a:gdLst/>
            <a:ahLst/>
            <a:cxnLst/>
            <a:rect l="l" t="t" r="r" b="b"/>
            <a:pathLst>
              <a:path w="1797050" h="1365885">
                <a:moveTo>
                  <a:pt x="1797050" y="1322832"/>
                </a:moveTo>
                <a:lnTo>
                  <a:pt x="1768640" y="1308608"/>
                </a:lnTo>
                <a:lnTo>
                  <a:pt x="1711325" y="1279906"/>
                </a:lnTo>
                <a:lnTo>
                  <a:pt x="1711325" y="1308608"/>
                </a:lnTo>
                <a:lnTo>
                  <a:pt x="57150" y="1308608"/>
                </a:lnTo>
                <a:lnTo>
                  <a:pt x="57150" y="85725"/>
                </a:lnTo>
                <a:lnTo>
                  <a:pt x="85725" y="85725"/>
                </a:lnTo>
                <a:lnTo>
                  <a:pt x="78549" y="71374"/>
                </a:lnTo>
                <a:lnTo>
                  <a:pt x="42926" y="0"/>
                </a:lnTo>
                <a:lnTo>
                  <a:pt x="0" y="85725"/>
                </a:lnTo>
                <a:lnTo>
                  <a:pt x="28575" y="85725"/>
                </a:lnTo>
                <a:lnTo>
                  <a:pt x="28575" y="1324356"/>
                </a:lnTo>
                <a:lnTo>
                  <a:pt x="42926" y="1324356"/>
                </a:lnTo>
                <a:lnTo>
                  <a:pt x="42926" y="1337183"/>
                </a:lnTo>
                <a:lnTo>
                  <a:pt x="1711325" y="1337183"/>
                </a:lnTo>
                <a:lnTo>
                  <a:pt x="1711325" y="1365631"/>
                </a:lnTo>
                <a:lnTo>
                  <a:pt x="1768297" y="1337183"/>
                </a:lnTo>
                <a:lnTo>
                  <a:pt x="1797050" y="13228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924169" y="5317997"/>
            <a:ext cx="1244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6794" y="3674109"/>
            <a:ext cx="1289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145660" y="3946905"/>
            <a:ext cx="2217420" cy="1409065"/>
            <a:chOff x="4145660" y="3946905"/>
            <a:chExt cx="2217420" cy="1409065"/>
          </a:xfrm>
        </p:grpSpPr>
        <p:sp>
          <p:nvSpPr>
            <p:cNvPr id="8" name="object 8"/>
            <p:cNvSpPr/>
            <p:nvPr/>
          </p:nvSpPr>
          <p:spPr>
            <a:xfrm>
              <a:off x="4613147" y="4856988"/>
              <a:ext cx="1447800" cy="0"/>
            </a:xfrm>
            <a:custGeom>
              <a:avLst/>
              <a:gdLst/>
              <a:ahLst/>
              <a:cxnLst/>
              <a:rect l="l" t="t" r="r" b="b"/>
              <a:pathLst>
                <a:path w="1447800" h="0">
                  <a:moveTo>
                    <a:pt x="0" y="0"/>
                  </a:moveTo>
                  <a:lnTo>
                    <a:pt x="1447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174235" y="4366259"/>
              <a:ext cx="1887220" cy="0"/>
            </a:xfrm>
            <a:custGeom>
              <a:avLst/>
              <a:gdLst/>
              <a:ahLst/>
              <a:cxnLst/>
              <a:rect l="l" t="t" r="r" b="b"/>
              <a:pathLst>
                <a:path w="1887220" h="0">
                  <a:moveTo>
                    <a:pt x="0" y="0"/>
                  </a:moveTo>
                  <a:lnTo>
                    <a:pt x="18867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613147" y="4218431"/>
              <a:ext cx="0" cy="1130935"/>
            </a:xfrm>
            <a:custGeom>
              <a:avLst/>
              <a:gdLst/>
              <a:ahLst/>
              <a:cxnLst/>
              <a:rect l="l" t="t" r="r" b="b"/>
              <a:pathLst>
                <a:path w="0" h="1130935">
                  <a:moveTo>
                    <a:pt x="0" y="113080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094731" y="4218431"/>
              <a:ext cx="0" cy="1130935"/>
            </a:xfrm>
            <a:custGeom>
              <a:avLst/>
              <a:gdLst/>
              <a:ahLst/>
              <a:cxnLst/>
              <a:rect l="l" t="t" r="r" b="b"/>
              <a:pathLst>
                <a:path w="0" h="1130935">
                  <a:moveTo>
                    <a:pt x="0" y="113080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535167" y="4218431"/>
              <a:ext cx="0" cy="1130935"/>
            </a:xfrm>
            <a:custGeom>
              <a:avLst/>
              <a:gdLst/>
              <a:ahLst/>
              <a:cxnLst/>
              <a:rect l="l" t="t" r="r" b="b"/>
              <a:pathLst>
                <a:path w="0" h="1130935">
                  <a:moveTo>
                    <a:pt x="0" y="113080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174235" y="4366259"/>
              <a:ext cx="920750" cy="981710"/>
            </a:xfrm>
            <a:custGeom>
              <a:avLst/>
              <a:gdLst/>
              <a:ahLst/>
              <a:cxnLst/>
              <a:rect l="l" t="t" r="r" b="b"/>
              <a:pathLst>
                <a:path w="920750" h="981710">
                  <a:moveTo>
                    <a:pt x="0" y="981455"/>
                  </a:moveTo>
                  <a:lnTo>
                    <a:pt x="92049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613147" y="4366259"/>
              <a:ext cx="922019" cy="981710"/>
            </a:xfrm>
            <a:custGeom>
              <a:avLst/>
              <a:gdLst/>
              <a:ahLst/>
              <a:cxnLst/>
              <a:rect l="l" t="t" r="r" b="b"/>
              <a:pathLst>
                <a:path w="922020" h="981710">
                  <a:moveTo>
                    <a:pt x="0" y="981455"/>
                  </a:moveTo>
                  <a:lnTo>
                    <a:pt x="92201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094731" y="4856988"/>
              <a:ext cx="440690" cy="490855"/>
            </a:xfrm>
            <a:custGeom>
              <a:avLst/>
              <a:gdLst/>
              <a:ahLst/>
              <a:cxnLst/>
              <a:rect l="l" t="t" r="r" b="b"/>
              <a:pathLst>
                <a:path w="440689" h="490854">
                  <a:moveTo>
                    <a:pt x="0" y="490728"/>
                  </a:moveTo>
                  <a:lnTo>
                    <a:pt x="44043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174235" y="4366259"/>
              <a:ext cx="439420" cy="490855"/>
            </a:xfrm>
            <a:custGeom>
              <a:avLst/>
              <a:gdLst/>
              <a:ahLst/>
              <a:cxnLst/>
              <a:rect l="l" t="t" r="r" b="b"/>
              <a:pathLst>
                <a:path w="439420" h="490854">
                  <a:moveTo>
                    <a:pt x="0" y="490727"/>
                  </a:moveTo>
                  <a:lnTo>
                    <a:pt x="4389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174235" y="4867655"/>
              <a:ext cx="469900" cy="469900"/>
            </a:xfrm>
            <a:custGeom>
              <a:avLst/>
              <a:gdLst/>
              <a:ahLst/>
              <a:cxnLst/>
              <a:rect l="l" t="t" r="r" b="b"/>
              <a:pathLst>
                <a:path w="469900" h="469900">
                  <a:moveTo>
                    <a:pt x="469392" y="0"/>
                  </a:moveTo>
                  <a:lnTo>
                    <a:pt x="0" y="0"/>
                  </a:lnTo>
                  <a:lnTo>
                    <a:pt x="0" y="469392"/>
                  </a:lnTo>
                  <a:lnTo>
                    <a:pt x="469392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174235" y="4856988"/>
              <a:ext cx="439420" cy="0"/>
            </a:xfrm>
            <a:custGeom>
              <a:avLst/>
              <a:gdLst/>
              <a:ahLst/>
              <a:cxnLst/>
              <a:rect l="l" t="t" r="r" b="b"/>
              <a:pathLst>
                <a:path w="439420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571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399787" y="3953255"/>
              <a:ext cx="1957070" cy="845819"/>
            </a:xfrm>
            <a:custGeom>
              <a:avLst/>
              <a:gdLst/>
              <a:ahLst/>
              <a:cxnLst/>
              <a:rect l="l" t="t" r="r" b="b"/>
              <a:pathLst>
                <a:path w="1957070" h="845820">
                  <a:moveTo>
                    <a:pt x="0" y="845820"/>
                  </a:moveTo>
                  <a:lnTo>
                    <a:pt x="1956816" y="0"/>
                  </a:lnTo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409944" y="3648455"/>
            <a:ext cx="2162810" cy="925194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algn="just" marL="90170" marR="210820">
              <a:lnSpc>
                <a:spcPct val="100000"/>
              </a:lnSpc>
              <a:spcBef>
                <a:spcPts val="250"/>
              </a:spcBef>
            </a:pPr>
            <a:r>
              <a:rPr dirty="0" sz="1800" spc="-114">
                <a:solidFill>
                  <a:srgbClr val="6FAC46"/>
                </a:solidFill>
                <a:latin typeface="Arial"/>
                <a:cs typeface="Arial"/>
              </a:rPr>
              <a:t>Regionen,</a:t>
            </a:r>
            <a:r>
              <a:rPr dirty="0" sz="1800" spc="-1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6FAC46"/>
                </a:solidFill>
                <a:latin typeface="Arial"/>
                <a:cs typeface="Arial"/>
              </a:rPr>
              <a:t>die</a:t>
            </a:r>
            <a:r>
              <a:rPr dirty="0" sz="1800" spc="-25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dirty="0" sz="1800" spc="-65">
                <a:solidFill>
                  <a:srgbClr val="6FAC46"/>
                </a:solidFill>
                <a:latin typeface="Arial"/>
                <a:cs typeface="Arial"/>
              </a:rPr>
              <a:t>durch </a:t>
            </a:r>
            <a:r>
              <a:rPr dirty="0" sz="1800" spc="-55">
                <a:solidFill>
                  <a:srgbClr val="6FAC46"/>
                </a:solidFill>
                <a:latin typeface="Arial"/>
                <a:cs typeface="Arial"/>
              </a:rPr>
              <a:t>Zeitschritte</a:t>
            </a:r>
            <a:r>
              <a:rPr dirty="0" sz="1800" spc="-6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FAC46"/>
                </a:solidFill>
                <a:latin typeface="Arial"/>
                <a:cs typeface="Arial"/>
              </a:rPr>
              <a:t>erreicht werden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38294" y="5437428"/>
            <a:ext cx="10636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5934" algn="l"/>
                <a:tab pos="934719" algn="l"/>
              </a:tabLst>
            </a:pPr>
            <a:r>
              <a:rPr dirty="0" sz="1800" spc="-50">
                <a:latin typeface="Arial"/>
                <a:cs typeface="Arial"/>
              </a:rPr>
              <a:t>1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50">
                <a:latin typeface="Arial"/>
                <a:cs typeface="Arial"/>
              </a:rPr>
              <a:t>2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5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24121" y="4750054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82339" y="4188714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136135" y="4818888"/>
            <a:ext cx="506095" cy="567055"/>
            <a:chOff x="4136135" y="4818888"/>
            <a:chExt cx="506095" cy="567055"/>
          </a:xfrm>
        </p:grpSpPr>
        <p:sp>
          <p:nvSpPr>
            <p:cNvPr id="25" name="object 25"/>
            <p:cNvSpPr/>
            <p:nvPr/>
          </p:nvSpPr>
          <p:spPr>
            <a:xfrm>
              <a:off x="4174235" y="5347716"/>
              <a:ext cx="439420" cy="0"/>
            </a:xfrm>
            <a:custGeom>
              <a:avLst/>
              <a:gdLst/>
              <a:ahLst/>
              <a:cxnLst/>
              <a:rect l="l" t="t" r="r" b="b"/>
              <a:pathLst>
                <a:path w="439420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571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174235" y="4856988"/>
              <a:ext cx="0" cy="490855"/>
            </a:xfrm>
            <a:custGeom>
              <a:avLst/>
              <a:gdLst/>
              <a:ahLst/>
              <a:cxnLst/>
              <a:rect l="l" t="t" r="r" b="b"/>
              <a:pathLst>
                <a:path w="0" h="490854">
                  <a:moveTo>
                    <a:pt x="0" y="0"/>
                  </a:moveTo>
                  <a:lnTo>
                    <a:pt x="0" y="490728"/>
                  </a:lnTo>
                </a:path>
              </a:pathLst>
            </a:custGeom>
            <a:ln w="762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2810382" y="5221122"/>
            <a:ext cx="786765" cy="62484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800" spc="-20">
                <a:solidFill>
                  <a:srgbClr val="181818"/>
                </a:solidFill>
                <a:latin typeface="Arial"/>
                <a:cs typeface="Arial"/>
              </a:rPr>
              <a:t>x:=0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200"/>
              </a:spcBef>
            </a:pPr>
            <a:r>
              <a:rPr dirty="0" sz="1800" spc="-80">
                <a:solidFill>
                  <a:srgbClr val="181818"/>
                </a:solidFill>
                <a:latin typeface="Arial"/>
                <a:cs typeface="Arial"/>
              </a:rPr>
              <a:t>y:=0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351021" y="4161790"/>
            <a:ext cx="3013710" cy="1513840"/>
            <a:chOff x="3351021" y="4161790"/>
            <a:chExt cx="3013710" cy="1513840"/>
          </a:xfrm>
        </p:grpSpPr>
        <p:sp>
          <p:nvSpPr>
            <p:cNvPr id="29" name="object 29"/>
            <p:cNvSpPr/>
            <p:nvPr/>
          </p:nvSpPr>
          <p:spPr>
            <a:xfrm>
              <a:off x="3357371" y="5137404"/>
              <a:ext cx="760730" cy="245745"/>
            </a:xfrm>
            <a:custGeom>
              <a:avLst/>
              <a:gdLst/>
              <a:ahLst/>
              <a:cxnLst/>
              <a:rect l="l" t="t" r="r" b="b"/>
              <a:pathLst>
                <a:path w="760729" h="245745">
                  <a:moveTo>
                    <a:pt x="0" y="245364"/>
                  </a:moveTo>
                  <a:lnTo>
                    <a:pt x="760476" y="0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642359" y="5393436"/>
              <a:ext cx="706120" cy="276225"/>
            </a:xfrm>
            <a:custGeom>
              <a:avLst/>
              <a:gdLst/>
              <a:ahLst/>
              <a:cxnLst/>
              <a:rect l="l" t="t" r="r" b="b"/>
              <a:pathLst>
                <a:path w="706120" h="276225">
                  <a:moveTo>
                    <a:pt x="705612" y="0"/>
                  </a:moveTo>
                  <a:lnTo>
                    <a:pt x="0" y="275844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3457" y="4800346"/>
              <a:ext cx="120903" cy="12090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683251" y="4168140"/>
              <a:ext cx="1675130" cy="654050"/>
            </a:xfrm>
            <a:custGeom>
              <a:avLst/>
              <a:gdLst/>
              <a:ahLst/>
              <a:cxnLst/>
              <a:rect l="l" t="t" r="r" b="b"/>
              <a:pathLst>
                <a:path w="1675129" h="654050">
                  <a:moveTo>
                    <a:pt x="0" y="653795"/>
                  </a:moveTo>
                  <a:lnTo>
                    <a:pt x="1674876" y="0"/>
                  </a:lnTo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357371" y="4311396"/>
              <a:ext cx="944880" cy="641985"/>
            </a:xfrm>
            <a:custGeom>
              <a:avLst/>
              <a:gdLst/>
              <a:ahLst/>
              <a:cxnLst/>
              <a:rect l="l" t="t" r="r" b="b"/>
              <a:pathLst>
                <a:path w="944879" h="641985">
                  <a:moveTo>
                    <a:pt x="0" y="0"/>
                  </a:moveTo>
                  <a:lnTo>
                    <a:pt x="944880" y="641603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825498" y="3929888"/>
            <a:ext cx="14909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10">
                <a:solidFill>
                  <a:srgbClr val="3A3838"/>
                </a:solidFill>
                <a:latin typeface="Arial"/>
                <a:cs typeface="Arial"/>
              </a:rPr>
              <a:t>Ausgangsregion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1687" y="5079491"/>
            <a:ext cx="2162810" cy="927100"/>
          </a:xfrm>
          <a:prstGeom prst="rect">
            <a:avLst/>
          </a:prstGeom>
          <a:ln w="12700">
            <a:solidFill>
              <a:srgbClr val="4471C4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algn="just" marL="90170" marR="212090">
              <a:lnSpc>
                <a:spcPct val="100000"/>
              </a:lnSpc>
              <a:spcBef>
                <a:spcPts val="260"/>
              </a:spcBef>
            </a:pPr>
            <a:r>
              <a:rPr dirty="0" sz="1800" spc="-120">
                <a:solidFill>
                  <a:srgbClr val="4471C4"/>
                </a:solidFill>
                <a:latin typeface="Arial"/>
                <a:cs typeface="Arial"/>
              </a:rPr>
              <a:t>Regionen,</a:t>
            </a:r>
            <a:r>
              <a:rPr dirty="0" sz="1800" spc="1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4471C4"/>
                </a:solidFill>
                <a:latin typeface="Arial"/>
                <a:cs typeface="Arial"/>
              </a:rPr>
              <a:t>die</a:t>
            </a:r>
            <a:r>
              <a:rPr dirty="0" sz="1800" spc="5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1800" spc="-65">
                <a:solidFill>
                  <a:srgbClr val="4471C4"/>
                </a:solidFill>
                <a:latin typeface="Arial"/>
                <a:cs typeface="Arial"/>
              </a:rPr>
              <a:t>durch </a:t>
            </a:r>
            <a:r>
              <a:rPr dirty="0" sz="1800" spc="-145">
                <a:solidFill>
                  <a:srgbClr val="4471C4"/>
                </a:solidFill>
                <a:latin typeface="Arial"/>
                <a:cs typeface="Arial"/>
              </a:rPr>
              <a:t>Rücksetzen</a:t>
            </a:r>
            <a:r>
              <a:rPr dirty="0" sz="1800" spc="9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4471C4"/>
                </a:solidFill>
                <a:latin typeface="Arial"/>
                <a:cs typeface="Arial"/>
              </a:rPr>
              <a:t>erreicht werden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635" y="3986784"/>
            <a:ext cx="2653030" cy="1822450"/>
            <a:chOff x="3048635" y="3986784"/>
            <a:chExt cx="2653030" cy="18224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2864" y="3986784"/>
              <a:ext cx="2598420" cy="17708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96768" y="4258056"/>
              <a:ext cx="2228215" cy="1501140"/>
            </a:xfrm>
            <a:custGeom>
              <a:avLst/>
              <a:gdLst/>
              <a:ahLst/>
              <a:cxnLst/>
              <a:rect l="l" t="t" r="r" b="b"/>
              <a:pathLst>
                <a:path w="2228215" h="1501139">
                  <a:moveTo>
                    <a:pt x="2228087" y="0"/>
                  </a:moveTo>
                  <a:lnTo>
                    <a:pt x="0" y="0"/>
                  </a:lnTo>
                  <a:lnTo>
                    <a:pt x="0" y="1501140"/>
                  </a:lnTo>
                  <a:lnTo>
                    <a:pt x="2228087" y="1501140"/>
                  </a:lnTo>
                  <a:lnTo>
                    <a:pt x="2228087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048635" y="3987546"/>
              <a:ext cx="2646045" cy="1821814"/>
            </a:xfrm>
            <a:custGeom>
              <a:avLst/>
              <a:gdLst/>
              <a:ahLst/>
              <a:cxnLst/>
              <a:rect l="l" t="t" r="r" b="b"/>
              <a:pathLst>
                <a:path w="2646045" h="1821814">
                  <a:moveTo>
                    <a:pt x="2645791" y="1778508"/>
                  </a:moveTo>
                  <a:lnTo>
                    <a:pt x="2617216" y="1764220"/>
                  </a:lnTo>
                  <a:lnTo>
                    <a:pt x="2560066" y="1735645"/>
                  </a:lnTo>
                  <a:lnTo>
                    <a:pt x="2560066" y="1764220"/>
                  </a:lnTo>
                  <a:lnTo>
                    <a:pt x="57023" y="1764220"/>
                  </a:lnTo>
                  <a:lnTo>
                    <a:pt x="57137" y="85725"/>
                  </a:lnTo>
                  <a:lnTo>
                    <a:pt x="85598" y="85725"/>
                  </a:lnTo>
                  <a:lnTo>
                    <a:pt x="78422" y="71374"/>
                  </a:lnTo>
                  <a:lnTo>
                    <a:pt x="42799" y="0"/>
                  </a:lnTo>
                  <a:lnTo>
                    <a:pt x="0" y="85725"/>
                  </a:lnTo>
                  <a:lnTo>
                    <a:pt x="28562" y="85725"/>
                  </a:lnTo>
                  <a:lnTo>
                    <a:pt x="28448" y="1780032"/>
                  </a:lnTo>
                  <a:lnTo>
                    <a:pt x="42799" y="1780032"/>
                  </a:lnTo>
                  <a:lnTo>
                    <a:pt x="42799" y="1792795"/>
                  </a:lnTo>
                  <a:lnTo>
                    <a:pt x="2560066" y="1792795"/>
                  </a:lnTo>
                  <a:lnTo>
                    <a:pt x="2560066" y="1821370"/>
                  </a:lnTo>
                  <a:lnTo>
                    <a:pt x="2617216" y="1792795"/>
                  </a:lnTo>
                  <a:lnTo>
                    <a:pt x="2645791" y="17785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722111" y="5667552"/>
            <a:ext cx="1244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84322" y="4241038"/>
            <a:ext cx="2811145" cy="1532255"/>
            <a:chOff x="3084322" y="4241038"/>
            <a:chExt cx="2811145" cy="1532255"/>
          </a:xfrm>
        </p:grpSpPr>
        <p:sp>
          <p:nvSpPr>
            <p:cNvPr id="8" name="object 8"/>
            <p:cNvSpPr/>
            <p:nvPr/>
          </p:nvSpPr>
          <p:spPr>
            <a:xfrm>
              <a:off x="3090672" y="5105400"/>
              <a:ext cx="2798445" cy="0"/>
            </a:xfrm>
            <a:custGeom>
              <a:avLst/>
              <a:gdLst/>
              <a:ahLst/>
              <a:cxnLst/>
              <a:rect l="l" t="t" r="r" b="b"/>
              <a:pathLst>
                <a:path w="2798445" h="0">
                  <a:moveTo>
                    <a:pt x="0" y="0"/>
                  </a:moveTo>
                  <a:lnTo>
                    <a:pt x="279806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090672" y="4445508"/>
              <a:ext cx="2798445" cy="0"/>
            </a:xfrm>
            <a:custGeom>
              <a:avLst/>
              <a:gdLst/>
              <a:ahLst/>
              <a:cxnLst/>
              <a:rect l="l" t="t" r="r" b="b"/>
              <a:pathLst>
                <a:path w="2798445" h="0">
                  <a:moveTo>
                    <a:pt x="0" y="0"/>
                  </a:moveTo>
                  <a:lnTo>
                    <a:pt x="279806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741420" y="4247388"/>
              <a:ext cx="0" cy="1519555"/>
            </a:xfrm>
            <a:custGeom>
              <a:avLst/>
              <a:gdLst/>
              <a:ahLst/>
              <a:cxnLst/>
              <a:rect l="l" t="t" r="r" b="b"/>
              <a:pathLst>
                <a:path w="0" h="1519554">
                  <a:moveTo>
                    <a:pt x="0" y="151942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456175" y="4247388"/>
              <a:ext cx="0" cy="1519555"/>
            </a:xfrm>
            <a:custGeom>
              <a:avLst/>
              <a:gdLst/>
              <a:ahLst/>
              <a:cxnLst/>
              <a:rect l="l" t="t" r="r" b="b"/>
              <a:pathLst>
                <a:path w="0" h="1519554">
                  <a:moveTo>
                    <a:pt x="0" y="151942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108448" y="4247388"/>
              <a:ext cx="0" cy="1519555"/>
            </a:xfrm>
            <a:custGeom>
              <a:avLst/>
              <a:gdLst/>
              <a:ahLst/>
              <a:cxnLst/>
              <a:rect l="l" t="t" r="r" b="b"/>
              <a:pathLst>
                <a:path w="0" h="1519554">
                  <a:moveTo>
                    <a:pt x="0" y="151942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661409" y="5770879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89501" y="5770879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54600" y="5782462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21304" y="3643960"/>
            <a:ext cx="273050" cy="9188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16098" y="4941823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970584" y="266192"/>
            <a:ext cx="631253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65"/>
              <a:t>Regionen</a:t>
            </a:r>
            <a:r>
              <a:rPr dirty="0" spc="-130"/>
              <a:t> </a:t>
            </a:r>
            <a:r>
              <a:rPr dirty="0"/>
              <a:t>mit</a:t>
            </a:r>
            <a:r>
              <a:rPr dirty="0" spc="-150"/>
              <a:t> </a:t>
            </a:r>
            <a:r>
              <a:rPr dirty="0" spc="-155"/>
              <a:t>mehreren</a:t>
            </a:r>
            <a:r>
              <a:rPr dirty="0" spc="-150"/>
              <a:t> </a:t>
            </a:r>
            <a:r>
              <a:rPr dirty="0" spc="-105"/>
              <a:t>Uhren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07542" y="1290574"/>
            <a:ext cx="7305675" cy="116332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dirty="0" sz="2000" spc="-135">
                <a:latin typeface="Arial"/>
                <a:cs typeface="Arial"/>
              </a:rPr>
              <a:t>Bei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mehreren </a:t>
            </a:r>
            <a:r>
              <a:rPr dirty="0" sz="2000" spc="-85">
                <a:latin typeface="Arial"/>
                <a:cs typeface="Arial"/>
              </a:rPr>
              <a:t>Uhren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55">
                <a:latin typeface="Arial"/>
                <a:cs typeface="Arial"/>
              </a:rPr>
              <a:t>muss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114">
                <a:latin typeface="Arial"/>
                <a:cs typeface="Arial"/>
              </a:rPr>
              <a:t>man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nicht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nur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die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Wertebereiche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der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Uhren </a:t>
            </a:r>
            <a:r>
              <a:rPr dirty="0" sz="2000" spc="-65">
                <a:latin typeface="Arial"/>
                <a:cs typeface="Arial"/>
              </a:rPr>
              <a:t>betrachten, </a:t>
            </a:r>
            <a:r>
              <a:rPr dirty="0" sz="2000" spc="-95">
                <a:latin typeface="Arial"/>
                <a:cs typeface="Arial"/>
              </a:rPr>
              <a:t>sondern </a:t>
            </a:r>
            <a:r>
              <a:rPr dirty="0" sz="2000" spc="-120">
                <a:latin typeface="Arial"/>
                <a:cs typeface="Arial"/>
              </a:rPr>
              <a:t>auch</a:t>
            </a:r>
            <a:r>
              <a:rPr dirty="0" sz="2000" spc="-70">
                <a:latin typeface="Arial"/>
                <a:cs typeface="Arial"/>
              </a:rPr>
              <a:t> die </a:t>
            </a:r>
            <a:r>
              <a:rPr dirty="0" sz="2000" spc="-95">
                <a:latin typeface="Arial"/>
                <a:cs typeface="Arial"/>
              </a:rPr>
              <a:t>Verhältnisse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20">
                <a:latin typeface="Arial"/>
                <a:cs typeface="Arial"/>
              </a:rPr>
              <a:t>zwischen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Uhren.</a:t>
            </a:r>
            <a:endParaRPr sz="2000">
              <a:latin typeface="Arial"/>
              <a:cs typeface="Arial"/>
            </a:endParaRPr>
          </a:p>
          <a:p>
            <a:pPr marL="697865" indent="-227965">
              <a:lnSpc>
                <a:spcPct val="100000"/>
              </a:lnSpc>
              <a:spcBef>
                <a:spcPts val="284"/>
              </a:spcBef>
              <a:buClr>
                <a:srgbClr val="2D75B6"/>
              </a:buClr>
              <a:buSzPct val="108823"/>
              <a:buFont typeface="Wingdings"/>
              <a:buChar char=""/>
              <a:tabLst>
                <a:tab pos="697865" algn="l"/>
              </a:tabLst>
            </a:pPr>
            <a:r>
              <a:rPr dirty="0" sz="1700" spc="-80">
                <a:latin typeface="Arial"/>
                <a:cs typeface="Arial"/>
              </a:rPr>
              <a:t>Unterschiede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zwischen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Uhren</a:t>
            </a:r>
            <a:r>
              <a:rPr dirty="0" sz="1700" spc="-8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können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das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Schaltverhalten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beeinflussen</a:t>
            </a:r>
            <a:endParaRPr sz="1700">
              <a:latin typeface="Arial"/>
              <a:cs typeface="Arial"/>
            </a:endParaRPr>
          </a:p>
          <a:p>
            <a:pPr marL="697865">
              <a:lnSpc>
                <a:spcPct val="100000"/>
              </a:lnSpc>
              <a:spcBef>
                <a:spcPts val="359"/>
              </a:spcBef>
            </a:pPr>
            <a:r>
              <a:rPr dirty="0" sz="1400" spc="-90">
                <a:latin typeface="Arial"/>
                <a:cs typeface="Arial"/>
              </a:rPr>
              <a:t>z.B.:</a:t>
            </a:r>
            <a:r>
              <a:rPr dirty="0" sz="1400" spc="-95">
                <a:latin typeface="Arial"/>
                <a:cs typeface="Arial"/>
              </a:rPr>
              <a:t> </a:t>
            </a:r>
            <a:r>
              <a:rPr dirty="0" sz="1400" spc="-65">
                <a:latin typeface="Arial"/>
                <a:cs typeface="Arial"/>
              </a:rPr>
              <a:t>guard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STIX Two Math"/>
                <a:cs typeface="STIX Two Math"/>
              </a:rPr>
              <a:t>𝑥</a:t>
            </a:r>
            <a:r>
              <a:rPr dirty="0" sz="1400" spc="35">
                <a:latin typeface="STIX Two Math"/>
                <a:cs typeface="STIX Two Math"/>
              </a:rPr>
              <a:t> </a:t>
            </a:r>
            <a:r>
              <a:rPr dirty="0" sz="1400">
                <a:latin typeface="STIX Two Math"/>
                <a:cs typeface="STIX Two Math"/>
              </a:rPr>
              <a:t>+</a:t>
            </a:r>
            <a:r>
              <a:rPr dirty="0" sz="1400" spc="5">
                <a:latin typeface="STIX Two Math"/>
                <a:cs typeface="STIX Two Math"/>
              </a:rPr>
              <a:t> </a:t>
            </a:r>
            <a:r>
              <a:rPr dirty="0" sz="1400" spc="85">
                <a:latin typeface="STIX Two Math"/>
                <a:cs typeface="STIX Two Math"/>
              </a:rPr>
              <a:t>1</a:t>
            </a:r>
            <a:r>
              <a:rPr dirty="0" sz="1400" spc="65">
                <a:latin typeface="STIX Two Math"/>
                <a:cs typeface="STIX Two Math"/>
              </a:rPr>
              <a:t> </a:t>
            </a:r>
            <a:r>
              <a:rPr dirty="0" sz="1400">
                <a:latin typeface="STIX Two Math"/>
                <a:cs typeface="STIX Two Math"/>
              </a:rPr>
              <a:t>&lt;</a:t>
            </a:r>
            <a:r>
              <a:rPr dirty="0" sz="1400" spc="70">
                <a:latin typeface="STIX Two Math"/>
                <a:cs typeface="STIX Two Math"/>
              </a:rPr>
              <a:t> </a:t>
            </a:r>
            <a:r>
              <a:rPr dirty="0" sz="1400" spc="20">
                <a:latin typeface="STIX Two Math"/>
                <a:cs typeface="STIX Two Math"/>
              </a:rPr>
              <a:t>𝑦</a:t>
            </a:r>
            <a:endParaRPr sz="1400">
              <a:latin typeface="STIX Two Math"/>
              <a:cs typeface="STIX Two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038601" y="3230626"/>
            <a:ext cx="2866390" cy="2597785"/>
            <a:chOff x="3038601" y="3230626"/>
            <a:chExt cx="2866390" cy="2597785"/>
          </a:xfrm>
        </p:grpSpPr>
        <p:sp>
          <p:nvSpPr>
            <p:cNvPr id="21" name="object 21"/>
            <p:cNvSpPr/>
            <p:nvPr/>
          </p:nvSpPr>
          <p:spPr>
            <a:xfrm>
              <a:off x="3100577" y="5161026"/>
              <a:ext cx="2540" cy="552450"/>
            </a:xfrm>
            <a:custGeom>
              <a:avLst/>
              <a:gdLst/>
              <a:ahLst/>
              <a:cxnLst/>
              <a:rect l="l" t="t" r="r" b="b"/>
              <a:pathLst>
                <a:path w="2539" h="552450">
                  <a:moveTo>
                    <a:pt x="2158" y="0"/>
                  </a:moveTo>
                  <a:lnTo>
                    <a:pt x="0" y="551827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153917" y="5763005"/>
              <a:ext cx="528955" cy="3810"/>
            </a:xfrm>
            <a:custGeom>
              <a:avLst/>
              <a:gdLst/>
              <a:ahLst/>
              <a:cxnLst/>
              <a:rect l="l" t="t" r="r" b="b"/>
              <a:pathLst>
                <a:path w="528954" h="3810">
                  <a:moveTo>
                    <a:pt x="528701" y="0"/>
                  </a:moveTo>
                  <a:lnTo>
                    <a:pt x="0" y="3441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736085" y="5156454"/>
              <a:ext cx="5715" cy="552450"/>
            </a:xfrm>
            <a:custGeom>
              <a:avLst/>
              <a:gdLst/>
              <a:ahLst/>
              <a:cxnLst/>
              <a:rect l="l" t="t" r="r" b="b"/>
              <a:pathLst>
                <a:path w="5714" h="552450">
                  <a:moveTo>
                    <a:pt x="0" y="551827"/>
                  </a:moveTo>
                  <a:lnTo>
                    <a:pt x="5334" y="0"/>
                  </a:lnTo>
                </a:path>
              </a:pathLst>
            </a:custGeom>
            <a:ln w="2857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138677" y="5141214"/>
              <a:ext cx="565785" cy="587375"/>
            </a:xfrm>
            <a:custGeom>
              <a:avLst/>
              <a:gdLst/>
              <a:ahLst/>
              <a:cxnLst/>
              <a:rect l="l" t="t" r="r" b="b"/>
              <a:pathLst>
                <a:path w="565785" h="587375">
                  <a:moveTo>
                    <a:pt x="0" y="586905"/>
                  </a:moveTo>
                  <a:lnTo>
                    <a:pt x="565658" y="0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156965" y="5103114"/>
              <a:ext cx="532130" cy="3810"/>
            </a:xfrm>
            <a:custGeom>
              <a:avLst/>
              <a:gdLst/>
              <a:ahLst/>
              <a:cxnLst/>
              <a:rect l="l" t="t" r="r" b="b"/>
              <a:pathLst>
                <a:path w="532129" h="3810">
                  <a:moveTo>
                    <a:pt x="531749" y="0"/>
                  </a:moveTo>
                  <a:lnTo>
                    <a:pt x="0" y="3429"/>
                  </a:lnTo>
                </a:path>
              </a:pathLst>
            </a:custGeom>
            <a:ln w="2857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140201" y="4484370"/>
              <a:ext cx="562610" cy="583565"/>
            </a:xfrm>
            <a:custGeom>
              <a:avLst/>
              <a:gdLst/>
              <a:ahLst/>
              <a:cxnLst/>
              <a:rect l="l" t="t" r="r" b="b"/>
              <a:pathLst>
                <a:path w="562610" h="583564">
                  <a:moveTo>
                    <a:pt x="0" y="583437"/>
                  </a:moveTo>
                  <a:lnTo>
                    <a:pt x="562483" y="0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102101" y="4502658"/>
              <a:ext cx="1905" cy="549910"/>
            </a:xfrm>
            <a:custGeom>
              <a:avLst/>
              <a:gdLst/>
              <a:ahLst/>
              <a:cxnLst/>
              <a:rect l="l" t="t" r="r" b="b"/>
              <a:pathLst>
                <a:path w="1905" h="549910">
                  <a:moveTo>
                    <a:pt x="0" y="549782"/>
                  </a:moveTo>
                  <a:lnTo>
                    <a:pt x="1778" y="0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158489" y="4446270"/>
              <a:ext cx="529590" cy="2540"/>
            </a:xfrm>
            <a:custGeom>
              <a:avLst/>
              <a:gdLst/>
              <a:ahLst/>
              <a:cxnLst/>
              <a:rect l="l" t="t" r="r" b="b"/>
              <a:pathLst>
                <a:path w="529589" h="2539">
                  <a:moveTo>
                    <a:pt x="529082" y="0"/>
                  </a:moveTo>
                  <a:lnTo>
                    <a:pt x="0" y="2031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740657" y="4501134"/>
              <a:ext cx="1270" cy="548640"/>
            </a:xfrm>
            <a:custGeom>
              <a:avLst/>
              <a:gdLst/>
              <a:ahLst/>
              <a:cxnLst/>
              <a:rect l="l" t="t" r="r" b="b"/>
              <a:pathLst>
                <a:path w="1270" h="548639">
                  <a:moveTo>
                    <a:pt x="0" y="0"/>
                  </a:moveTo>
                  <a:lnTo>
                    <a:pt x="1016" y="548386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780281" y="4484370"/>
              <a:ext cx="635000" cy="580390"/>
            </a:xfrm>
            <a:custGeom>
              <a:avLst/>
              <a:gdLst/>
              <a:ahLst/>
              <a:cxnLst/>
              <a:rect l="l" t="t" r="r" b="b"/>
              <a:pathLst>
                <a:path w="635000" h="580389">
                  <a:moveTo>
                    <a:pt x="634491" y="0"/>
                  </a:moveTo>
                  <a:lnTo>
                    <a:pt x="0" y="579881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795521" y="4446270"/>
              <a:ext cx="603885" cy="635"/>
            </a:xfrm>
            <a:custGeom>
              <a:avLst/>
              <a:gdLst/>
              <a:ahLst/>
              <a:cxnLst/>
              <a:rect l="l" t="t" r="r" b="b"/>
              <a:pathLst>
                <a:path w="603885" h="635">
                  <a:moveTo>
                    <a:pt x="603885" y="126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507229" y="4446270"/>
              <a:ext cx="558165" cy="6350"/>
            </a:xfrm>
            <a:custGeom>
              <a:avLst/>
              <a:gdLst/>
              <a:ahLst/>
              <a:cxnLst/>
              <a:rect l="l" t="t" r="r" b="b"/>
              <a:pathLst>
                <a:path w="558164" h="6350">
                  <a:moveTo>
                    <a:pt x="557657" y="6349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452365" y="4501134"/>
              <a:ext cx="4445" cy="556895"/>
            </a:xfrm>
            <a:custGeom>
              <a:avLst/>
              <a:gdLst/>
              <a:ahLst/>
              <a:cxnLst/>
              <a:rect l="l" t="t" r="r" b="b"/>
              <a:pathLst>
                <a:path w="4445" h="556895">
                  <a:moveTo>
                    <a:pt x="4445" y="556513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795521" y="5103114"/>
              <a:ext cx="607695" cy="8255"/>
            </a:xfrm>
            <a:custGeom>
              <a:avLst/>
              <a:gdLst/>
              <a:ahLst/>
              <a:cxnLst/>
              <a:rect l="l" t="t" r="r" b="b"/>
              <a:pathLst>
                <a:path w="607695" h="8254">
                  <a:moveTo>
                    <a:pt x="607313" y="8255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775709" y="5148833"/>
              <a:ext cx="644525" cy="575310"/>
            </a:xfrm>
            <a:custGeom>
              <a:avLst/>
              <a:gdLst/>
              <a:ahLst/>
              <a:cxnLst/>
              <a:rect l="l" t="t" r="r" b="b"/>
              <a:pathLst>
                <a:path w="644525" h="575310">
                  <a:moveTo>
                    <a:pt x="644271" y="0"/>
                  </a:moveTo>
                  <a:lnTo>
                    <a:pt x="0" y="575221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790949" y="5763005"/>
              <a:ext cx="612775" cy="0"/>
            </a:xfrm>
            <a:custGeom>
              <a:avLst/>
              <a:gdLst/>
              <a:ahLst/>
              <a:cxnLst/>
              <a:rect l="l" t="t" r="r" b="b"/>
              <a:pathLst>
                <a:path w="612775" h="0">
                  <a:moveTo>
                    <a:pt x="612266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456937" y="5165598"/>
              <a:ext cx="635" cy="544195"/>
            </a:xfrm>
            <a:custGeom>
              <a:avLst/>
              <a:gdLst/>
              <a:ahLst/>
              <a:cxnLst/>
              <a:rect l="l" t="t" r="r" b="b"/>
              <a:pathLst>
                <a:path w="635" h="544195">
                  <a:moveTo>
                    <a:pt x="0" y="543585"/>
                  </a:moveTo>
                  <a:lnTo>
                    <a:pt x="254" y="0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495037" y="5148833"/>
              <a:ext cx="585470" cy="575310"/>
            </a:xfrm>
            <a:custGeom>
              <a:avLst/>
              <a:gdLst/>
              <a:ahLst/>
              <a:cxnLst/>
              <a:rect l="l" t="t" r="r" b="b"/>
              <a:pathLst>
                <a:path w="585470" h="575310">
                  <a:moveTo>
                    <a:pt x="0" y="575221"/>
                  </a:moveTo>
                  <a:lnTo>
                    <a:pt x="585216" y="0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511801" y="5110733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 h="0">
                  <a:moveTo>
                    <a:pt x="0" y="0"/>
                  </a:moveTo>
                  <a:lnTo>
                    <a:pt x="553212" y="0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511801" y="5763005"/>
              <a:ext cx="558800" cy="5715"/>
            </a:xfrm>
            <a:custGeom>
              <a:avLst/>
              <a:gdLst/>
              <a:ahLst/>
              <a:cxnLst/>
              <a:rect l="l" t="t" r="r" b="b"/>
              <a:pathLst>
                <a:path w="558800" h="5714">
                  <a:moveTo>
                    <a:pt x="0" y="0"/>
                  </a:moveTo>
                  <a:lnTo>
                    <a:pt x="558800" y="5397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118353" y="5165598"/>
              <a:ext cx="5715" cy="549275"/>
            </a:xfrm>
            <a:custGeom>
              <a:avLst/>
              <a:gdLst/>
              <a:ahLst/>
              <a:cxnLst/>
              <a:rect l="l" t="t" r="r" b="b"/>
              <a:pathLst>
                <a:path w="5714" h="549275">
                  <a:moveTo>
                    <a:pt x="0" y="0"/>
                  </a:moveTo>
                  <a:lnTo>
                    <a:pt x="5207" y="548982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118353" y="4507230"/>
              <a:ext cx="0" cy="550545"/>
            </a:xfrm>
            <a:custGeom>
              <a:avLst/>
              <a:gdLst/>
              <a:ahLst/>
              <a:cxnLst/>
              <a:rect l="l" t="t" r="r" b="b"/>
              <a:pathLst>
                <a:path w="0" h="550545">
                  <a:moveTo>
                    <a:pt x="0" y="0"/>
                  </a:moveTo>
                  <a:lnTo>
                    <a:pt x="0" y="550164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495037" y="4491990"/>
              <a:ext cx="584835" cy="582295"/>
            </a:xfrm>
            <a:custGeom>
              <a:avLst/>
              <a:gdLst/>
              <a:ahLst/>
              <a:cxnLst/>
              <a:rect l="l" t="t" r="r" b="b"/>
              <a:pathLst>
                <a:path w="584835" h="582295">
                  <a:moveTo>
                    <a:pt x="584835" y="0"/>
                  </a:moveTo>
                  <a:lnTo>
                    <a:pt x="0" y="581787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177789" y="5766054"/>
              <a:ext cx="516890" cy="2540"/>
            </a:xfrm>
            <a:custGeom>
              <a:avLst/>
              <a:gdLst/>
              <a:ahLst/>
              <a:cxnLst/>
              <a:rect l="l" t="t" r="r" b="b"/>
              <a:pathLst>
                <a:path w="516889" h="2539">
                  <a:moveTo>
                    <a:pt x="516636" y="0"/>
                  </a:moveTo>
                  <a:lnTo>
                    <a:pt x="0" y="1968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173217" y="5106161"/>
              <a:ext cx="717550" cy="5080"/>
            </a:xfrm>
            <a:custGeom>
              <a:avLst/>
              <a:gdLst/>
              <a:ahLst/>
              <a:cxnLst/>
              <a:rect l="l" t="t" r="r" b="b"/>
              <a:pathLst>
                <a:path w="717550" h="5079">
                  <a:moveTo>
                    <a:pt x="717168" y="0"/>
                  </a:moveTo>
                  <a:lnTo>
                    <a:pt x="0" y="4826"/>
                  </a:lnTo>
                </a:path>
              </a:pathLst>
            </a:custGeom>
            <a:ln w="2857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173217" y="4446270"/>
              <a:ext cx="717550" cy="6985"/>
            </a:xfrm>
            <a:custGeom>
              <a:avLst/>
              <a:gdLst/>
              <a:ahLst/>
              <a:cxnLst/>
              <a:rect l="l" t="t" r="r" b="b"/>
              <a:pathLst>
                <a:path w="717550" h="6985">
                  <a:moveTo>
                    <a:pt x="717168" y="0"/>
                  </a:moveTo>
                  <a:lnTo>
                    <a:pt x="0" y="6476"/>
                  </a:lnTo>
                </a:path>
              </a:pathLst>
            </a:custGeom>
            <a:ln w="2857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110733" y="3989070"/>
              <a:ext cx="8255" cy="410209"/>
            </a:xfrm>
            <a:custGeom>
              <a:avLst/>
              <a:gdLst/>
              <a:ahLst/>
              <a:cxnLst/>
              <a:rect l="l" t="t" r="r" b="b"/>
              <a:pathLst>
                <a:path w="8254" h="410210">
                  <a:moveTo>
                    <a:pt x="0" y="0"/>
                  </a:moveTo>
                  <a:lnTo>
                    <a:pt x="7747" y="409828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452365" y="3987546"/>
              <a:ext cx="0" cy="405765"/>
            </a:xfrm>
            <a:custGeom>
              <a:avLst/>
              <a:gdLst/>
              <a:ahLst/>
              <a:cxnLst/>
              <a:rect l="l" t="t" r="r" b="b"/>
              <a:pathLst>
                <a:path w="0" h="405764">
                  <a:moveTo>
                    <a:pt x="0" y="0"/>
                  </a:moveTo>
                  <a:lnTo>
                    <a:pt x="0" y="405383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740657" y="3987546"/>
              <a:ext cx="0" cy="405130"/>
            </a:xfrm>
            <a:custGeom>
              <a:avLst/>
              <a:gdLst/>
              <a:ahLst/>
              <a:cxnLst/>
              <a:rect l="l" t="t" r="r" b="b"/>
              <a:pathLst>
                <a:path w="0" h="405129">
                  <a:moveTo>
                    <a:pt x="0" y="0"/>
                  </a:moveTo>
                  <a:lnTo>
                    <a:pt x="0" y="405129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091433" y="3987546"/>
              <a:ext cx="12700" cy="407670"/>
            </a:xfrm>
            <a:custGeom>
              <a:avLst/>
              <a:gdLst/>
              <a:ahLst/>
              <a:cxnLst/>
              <a:rect l="l" t="t" r="r" b="b"/>
              <a:pathLst>
                <a:path w="12700" h="407670">
                  <a:moveTo>
                    <a:pt x="0" y="0"/>
                  </a:moveTo>
                  <a:lnTo>
                    <a:pt x="12700" y="407161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156453" y="3992118"/>
              <a:ext cx="442595" cy="423545"/>
            </a:xfrm>
            <a:custGeom>
              <a:avLst/>
              <a:gdLst/>
              <a:ahLst/>
              <a:cxnLst/>
              <a:rect l="l" t="t" r="r" b="b"/>
              <a:pathLst>
                <a:path w="442595" h="423545">
                  <a:moveTo>
                    <a:pt x="442213" y="0"/>
                  </a:moveTo>
                  <a:lnTo>
                    <a:pt x="0" y="423290"/>
                  </a:lnTo>
                </a:path>
              </a:pathLst>
            </a:custGeom>
            <a:ln w="28574">
              <a:solidFill>
                <a:srgbClr val="EC7C3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38601" y="5705602"/>
              <a:ext cx="120904" cy="12090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1729" y="5042661"/>
              <a:ext cx="119379" cy="119379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75633" y="5701030"/>
              <a:ext cx="120903" cy="12090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96485" y="5701030"/>
              <a:ext cx="120903" cy="12090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62473" y="5707126"/>
              <a:ext cx="120903" cy="12090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41649" y="5045710"/>
              <a:ext cx="120904" cy="120903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96485" y="5050282"/>
              <a:ext cx="120903" cy="120903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57901" y="5050282"/>
              <a:ext cx="120903" cy="12090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43173" y="4387342"/>
              <a:ext cx="120904" cy="120903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80205" y="4385818"/>
              <a:ext cx="120903" cy="120903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91913" y="4385818"/>
              <a:ext cx="120903" cy="120903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57901" y="4391914"/>
              <a:ext cx="120903" cy="120903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3601211" y="3236976"/>
              <a:ext cx="1516380" cy="292735"/>
            </a:xfrm>
            <a:custGeom>
              <a:avLst/>
              <a:gdLst/>
              <a:ahLst/>
              <a:cxnLst/>
              <a:rect l="l" t="t" r="r" b="b"/>
              <a:pathLst>
                <a:path w="1516379" h="292735">
                  <a:moveTo>
                    <a:pt x="0" y="48767"/>
                  </a:moveTo>
                  <a:lnTo>
                    <a:pt x="3833" y="29789"/>
                  </a:lnTo>
                  <a:lnTo>
                    <a:pt x="14287" y="14287"/>
                  </a:lnTo>
                  <a:lnTo>
                    <a:pt x="29789" y="3833"/>
                  </a:lnTo>
                  <a:lnTo>
                    <a:pt x="48768" y="0"/>
                  </a:lnTo>
                  <a:lnTo>
                    <a:pt x="1467612" y="0"/>
                  </a:lnTo>
                  <a:lnTo>
                    <a:pt x="1486590" y="3833"/>
                  </a:lnTo>
                  <a:lnTo>
                    <a:pt x="1502092" y="14287"/>
                  </a:lnTo>
                  <a:lnTo>
                    <a:pt x="1512546" y="29789"/>
                  </a:lnTo>
                  <a:lnTo>
                    <a:pt x="1516380" y="48767"/>
                  </a:lnTo>
                  <a:lnTo>
                    <a:pt x="1516380" y="243839"/>
                  </a:lnTo>
                  <a:lnTo>
                    <a:pt x="1512546" y="262818"/>
                  </a:lnTo>
                  <a:lnTo>
                    <a:pt x="1502092" y="278320"/>
                  </a:lnTo>
                  <a:lnTo>
                    <a:pt x="1486590" y="288774"/>
                  </a:lnTo>
                  <a:lnTo>
                    <a:pt x="1467612" y="292607"/>
                  </a:lnTo>
                  <a:lnTo>
                    <a:pt x="48768" y="292607"/>
                  </a:lnTo>
                  <a:lnTo>
                    <a:pt x="29789" y="288774"/>
                  </a:lnTo>
                  <a:lnTo>
                    <a:pt x="14287" y="278320"/>
                  </a:lnTo>
                  <a:lnTo>
                    <a:pt x="3833" y="262818"/>
                  </a:lnTo>
                  <a:lnTo>
                    <a:pt x="0" y="243839"/>
                  </a:lnTo>
                  <a:lnTo>
                    <a:pt x="0" y="48767"/>
                  </a:lnTo>
                  <a:close/>
                </a:path>
              </a:pathLst>
            </a:custGeom>
            <a:ln w="12699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3609478" y="3237102"/>
            <a:ext cx="1499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956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STIX Two Math"/>
                <a:cs typeface="STIX Two Math"/>
              </a:rPr>
              <a:t>𝑥</a:t>
            </a:r>
            <a:r>
              <a:rPr dirty="0" sz="1600" spc="114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=</a:t>
            </a:r>
            <a:r>
              <a:rPr dirty="0" sz="1600" spc="80">
                <a:latin typeface="STIX Two Math"/>
                <a:cs typeface="STIX Two Math"/>
              </a:rPr>
              <a:t> </a:t>
            </a:r>
            <a:r>
              <a:rPr dirty="0" sz="1600" spc="70">
                <a:latin typeface="STIX Two Math"/>
                <a:cs typeface="STIX Two Math"/>
              </a:rPr>
              <a:t>𝑦</a:t>
            </a:r>
            <a:r>
              <a:rPr dirty="0" sz="1600" spc="10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=</a:t>
            </a:r>
            <a:r>
              <a:rPr dirty="0" sz="1600" spc="80">
                <a:latin typeface="STIX Two Math"/>
                <a:cs typeface="STIX Two Math"/>
              </a:rPr>
              <a:t> </a:t>
            </a:r>
            <a:r>
              <a:rPr dirty="0" sz="1600" spc="40">
                <a:latin typeface="STIX Two Math"/>
                <a:cs typeface="STIX Two Math"/>
              </a:rPr>
              <a:t>1</a:t>
            </a:r>
            <a:endParaRPr sz="1600">
              <a:latin typeface="STIX Two Math"/>
              <a:cs typeface="STIX Two Math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894077" y="3069082"/>
            <a:ext cx="2471420" cy="1979930"/>
            <a:chOff x="1894077" y="3069082"/>
            <a:chExt cx="2471420" cy="1979930"/>
          </a:xfrm>
        </p:grpSpPr>
        <p:sp>
          <p:nvSpPr>
            <p:cNvPr id="67" name="object 67"/>
            <p:cNvSpPr/>
            <p:nvPr/>
          </p:nvSpPr>
          <p:spPr>
            <a:xfrm>
              <a:off x="3734816" y="3527171"/>
              <a:ext cx="630555" cy="1522095"/>
            </a:xfrm>
            <a:custGeom>
              <a:avLst/>
              <a:gdLst/>
              <a:ahLst/>
              <a:cxnLst/>
              <a:rect l="l" t="t" r="r" b="b"/>
              <a:pathLst>
                <a:path w="630554" h="1522095">
                  <a:moveTo>
                    <a:pt x="618743" y="0"/>
                  </a:moveTo>
                  <a:lnTo>
                    <a:pt x="599566" y="47117"/>
                  </a:lnTo>
                  <a:lnTo>
                    <a:pt x="611377" y="51816"/>
                  </a:lnTo>
                  <a:lnTo>
                    <a:pt x="630427" y="4825"/>
                  </a:lnTo>
                  <a:lnTo>
                    <a:pt x="618743" y="0"/>
                  </a:lnTo>
                  <a:close/>
                </a:path>
                <a:path w="630554" h="1522095">
                  <a:moveTo>
                    <a:pt x="585215" y="82423"/>
                  </a:moveTo>
                  <a:lnTo>
                    <a:pt x="566038" y="129413"/>
                  </a:lnTo>
                  <a:lnTo>
                    <a:pt x="577849" y="134239"/>
                  </a:lnTo>
                  <a:lnTo>
                    <a:pt x="597026" y="87122"/>
                  </a:lnTo>
                  <a:lnTo>
                    <a:pt x="585215" y="82423"/>
                  </a:lnTo>
                  <a:close/>
                </a:path>
                <a:path w="630554" h="1522095">
                  <a:moveTo>
                    <a:pt x="551687" y="164719"/>
                  </a:moveTo>
                  <a:lnTo>
                    <a:pt x="532637" y="211709"/>
                  </a:lnTo>
                  <a:lnTo>
                    <a:pt x="544321" y="216535"/>
                  </a:lnTo>
                  <a:lnTo>
                    <a:pt x="563498" y="169545"/>
                  </a:lnTo>
                  <a:lnTo>
                    <a:pt x="551687" y="164719"/>
                  </a:lnTo>
                  <a:close/>
                </a:path>
                <a:path w="630554" h="1522095">
                  <a:moveTo>
                    <a:pt x="518159" y="247015"/>
                  </a:moveTo>
                  <a:lnTo>
                    <a:pt x="499109" y="294132"/>
                  </a:lnTo>
                  <a:lnTo>
                    <a:pt x="510793" y="298958"/>
                  </a:lnTo>
                  <a:lnTo>
                    <a:pt x="529970" y="251840"/>
                  </a:lnTo>
                  <a:lnTo>
                    <a:pt x="518159" y="247015"/>
                  </a:lnTo>
                  <a:close/>
                </a:path>
                <a:path w="630554" h="1522095">
                  <a:moveTo>
                    <a:pt x="484758" y="329438"/>
                  </a:moveTo>
                  <a:lnTo>
                    <a:pt x="465581" y="376428"/>
                  </a:lnTo>
                  <a:lnTo>
                    <a:pt x="477392" y="381254"/>
                  </a:lnTo>
                  <a:lnTo>
                    <a:pt x="496442" y="334137"/>
                  </a:lnTo>
                  <a:lnTo>
                    <a:pt x="484758" y="329438"/>
                  </a:lnTo>
                  <a:close/>
                </a:path>
                <a:path w="630554" h="1522095">
                  <a:moveTo>
                    <a:pt x="451230" y="411734"/>
                  </a:moveTo>
                  <a:lnTo>
                    <a:pt x="432053" y="458851"/>
                  </a:lnTo>
                  <a:lnTo>
                    <a:pt x="443864" y="463550"/>
                  </a:lnTo>
                  <a:lnTo>
                    <a:pt x="463041" y="416559"/>
                  </a:lnTo>
                  <a:lnTo>
                    <a:pt x="451230" y="411734"/>
                  </a:lnTo>
                  <a:close/>
                </a:path>
                <a:path w="630554" h="1522095">
                  <a:moveTo>
                    <a:pt x="417702" y="494156"/>
                  </a:moveTo>
                  <a:lnTo>
                    <a:pt x="398525" y="541147"/>
                  </a:lnTo>
                  <a:lnTo>
                    <a:pt x="410336" y="545973"/>
                  </a:lnTo>
                  <a:lnTo>
                    <a:pt x="429513" y="498856"/>
                  </a:lnTo>
                  <a:lnTo>
                    <a:pt x="417702" y="494156"/>
                  </a:lnTo>
                  <a:close/>
                </a:path>
                <a:path w="630554" h="1522095">
                  <a:moveTo>
                    <a:pt x="384174" y="576453"/>
                  </a:moveTo>
                  <a:lnTo>
                    <a:pt x="365124" y="623443"/>
                  </a:lnTo>
                  <a:lnTo>
                    <a:pt x="376808" y="628269"/>
                  </a:lnTo>
                  <a:lnTo>
                    <a:pt x="395985" y="581279"/>
                  </a:lnTo>
                  <a:lnTo>
                    <a:pt x="384174" y="576453"/>
                  </a:lnTo>
                  <a:close/>
                </a:path>
                <a:path w="630554" h="1522095">
                  <a:moveTo>
                    <a:pt x="350773" y="658749"/>
                  </a:moveTo>
                  <a:lnTo>
                    <a:pt x="331596" y="705866"/>
                  </a:lnTo>
                  <a:lnTo>
                    <a:pt x="343407" y="710692"/>
                  </a:lnTo>
                  <a:lnTo>
                    <a:pt x="362457" y="663575"/>
                  </a:lnTo>
                  <a:lnTo>
                    <a:pt x="350773" y="658749"/>
                  </a:lnTo>
                  <a:close/>
                </a:path>
                <a:path w="630554" h="1522095">
                  <a:moveTo>
                    <a:pt x="317245" y="741172"/>
                  </a:moveTo>
                  <a:lnTo>
                    <a:pt x="298068" y="788162"/>
                  </a:lnTo>
                  <a:lnTo>
                    <a:pt x="309879" y="792988"/>
                  </a:lnTo>
                  <a:lnTo>
                    <a:pt x="329056" y="745871"/>
                  </a:lnTo>
                  <a:lnTo>
                    <a:pt x="317245" y="741172"/>
                  </a:lnTo>
                  <a:close/>
                </a:path>
                <a:path w="630554" h="1522095">
                  <a:moveTo>
                    <a:pt x="283717" y="823468"/>
                  </a:moveTo>
                  <a:lnTo>
                    <a:pt x="264540" y="870585"/>
                  </a:lnTo>
                  <a:lnTo>
                    <a:pt x="276351" y="875284"/>
                  </a:lnTo>
                  <a:lnTo>
                    <a:pt x="295528" y="828294"/>
                  </a:lnTo>
                  <a:lnTo>
                    <a:pt x="283717" y="823468"/>
                  </a:lnTo>
                  <a:close/>
                </a:path>
                <a:path w="630554" h="1522095">
                  <a:moveTo>
                    <a:pt x="250189" y="905891"/>
                  </a:moveTo>
                  <a:lnTo>
                    <a:pt x="231139" y="952881"/>
                  </a:lnTo>
                  <a:lnTo>
                    <a:pt x="242823" y="957707"/>
                  </a:lnTo>
                  <a:lnTo>
                    <a:pt x="262000" y="910590"/>
                  </a:lnTo>
                  <a:lnTo>
                    <a:pt x="250189" y="905891"/>
                  </a:lnTo>
                  <a:close/>
                </a:path>
                <a:path w="630554" h="1522095">
                  <a:moveTo>
                    <a:pt x="216788" y="988187"/>
                  </a:moveTo>
                  <a:lnTo>
                    <a:pt x="197611" y="1035177"/>
                  </a:lnTo>
                  <a:lnTo>
                    <a:pt x="209295" y="1040003"/>
                  </a:lnTo>
                  <a:lnTo>
                    <a:pt x="228472" y="993013"/>
                  </a:lnTo>
                  <a:lnTo>
                    <a:pt x="216788" y="988187"/>
                  </a:lnTo>
                  <a:close/>
                </a:path>
                <a:path w="630554" h="1522095">
                  <a:moveTo>
                    <a:pt x="183260" y="1070483"/>
                  </a:moveTo>
                  <a:lnTo>
                    <a:pt x="164083" y="1117600"/>
                  </a:lnTo>
                  <a:lnTo>
                    <a:pt x="175894" y="1122426"/>
                  </a:lnTo>
                  <a:lnTo>
                    <a:pt x="194944" y="1075309"/>
                  </a:lnTo>
                  <a:lnTo>
                    <a:pt x="183260" y="1070483"/>
                  </a:lnTo>
                  <a:close/>
                </a:path>
                <a:path w="630554" h="1522095">
                  <a:moveTo>
                    <a:pt x="149732" y="1152906"/>
                  </a:moveTo>
                  <a:lnTo>
                    <a:pt x="130555" y="1199896"/>
                  </a:lnTo>
                  <a:lnTo>
                    <a:pt x="142366" y="1204722"/>
                  </a:lnTo>
                  <a:lnTo>
                    <a:pt x="161543" y="1157605"/>
                  </a:lnTo>
                  <a:lnTo>
                    <a:pt x="149732" y="1152906"/>
                  </a:lnTo>
                  <a:close/>
                </a:path>
                <a:path w="630554" h="1522095">
                  <a:moveTo>
                    <a:pt x="116204" y="1235202"/>
                  </a:moveTo>
                  <a:lnTo>
                    <a:pt x="97154" y="1282319"/>
                  </a:lnTo>
                  <a:lnTo>
                    <a:pt x="108838" y="1287018"/>
                  </a:lnTo>
                  <a:lnTo>
                    <a:pt x="128015" y="1240028"/>
                  </a:lnTo>
                  <a:lnTo>
                    <a:pt x="116204" y="1235202"/>
                  </a:lnTo>
                  <a:close/>
                </a:path>
                <a:path w="630554" h="1522095">
                  <a:moveTo>
                    <a:pt x="82676" y="1317625"/>
                  </a:moveTo>
                  <a:lnTo>
                    <a:pt x="63626" y="1364615"/>
                  </a:lnTo>
                  <a:lnTo>
                    <a:pt x="75310" y="1369441"/>
                  </a:lnTo>
                  <a:lnTo>
                    <a:pt x="94487" y="1322324"/>
                  </a:lnTo>
                  <a:lnTo>
                    <a:pt x="82676" y="1317625"/>
                  </a:lnTo>
                  <a:close/>
                </a:path>
                <a:path w="630554" h="1522095">
                  <a:moveTo>
                    <a:pt x="0" y="1436624"/>
                  </a:moveTo>
                  <a:lnTo>
                    <a:pt x="6603" y="1521587"/>
                  </a:lnTo>
                  <a:lnTo>
                    <a:pt x="70611" y="1465326"/>
                  </a:lnTo>
                  <a:lnTo>
                    <a:pt x="0" y="1436624"/>
                  </a:lnTo>
                  <a:close/>
                </a:path>
                <a:path w="630554" h="1522095">
                  <a:moveTo>
                    <a:pt x="49275" y="1399921"/>
                  </a:moveTo>
                  <a:lnTo>
                    <a:pt x="30098" y="1446911"/>
                  </a:lnTo>
                  <a:lnTo>
                    <a:pt x="41909" y="1451737"/>
                  </a:lnTo>
                  <a:lnTo>
                    <a:pt x="60959" y="1404747"/>
                  </a:lnTo>
                  <a:lnTo>
                    <a:pt x="49275" y="1399921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900427" y="3075432"/>
              <a:ext cx="1518285" cy="291465"/>
            </a:xfrm>
            <a:custGeom>
              <a:avLst/>
              <a:gdLst/>
              <a:ahLst/>
              <a:cxnLst/>
              <a:rect l="l" t="t" r="r" b="b"/>
              <a:pathLst>
                <a:path w="1518285" h="291464">
                  <a:moveTo>
                    <a:pt x="0" y="48513"/>
                  </a:moveTo>
                  <a:lnTo>
                    <a:pt x="3811" y="29628"/>
                  </a:lnTo>
                  <a:lnTo>
                    <a:pt x="14208" y="14208"/>
                  </a:lnTo>
                  <a:lnTo>
                    <a:pt x="29628" y="3811"/>
                  </a:lnTo>
                  <a:lnTo>
                    <a:pt x="48514" y="0"/>
                  </a:lnTo>
                  <a:lnTo>
                    <a:pt x="1469390" y="0"/>
                  </a:lnTo>
                  <a:lnTo>
                    <a:pt x="1488275" y="3811"/>
                  </a:lnTo>
                  <a:lnTo>
                    <a:pt x="1503695" y="14208"/>
                  </a:lnTo>
                  <a:lnTo>
                    <a:pt x="1514092" y="29628"/>
                  </a:lnTo>
                  <a:lnTo>
                    <a:pt x="1517904" y="48513"/>
                  </a:lnTo>
                  <a:lnTo>
                    <a:pt x="1517904" y="242569"/>
                  </a:lnTo>
                  <a:lnTo>
                    <a:pt x="1514092" y="261455"/>
                  </a:lnTo>
                  <a:lnTo>
                    <a:pt x="1503695" y="276875"/>
                  </a:lnTo>
                  <a:lnTo>
                    <a:pt x="1488275" y="287272"/>
                  </a:lnTo>
                  <a:lnTo>
                    <a:pt x="1469390" y="291083"/>
                  </a:lnTo>
                  <a:lnTo>
                    <a:pt x="48514" y="291083"/>
                  </a:lnTo>
                  <a:lnTo>
                    <a:pt x="29628" y="287272"/>
                  </a:lnTo>
                  <a:lnTo>
                    <a:pt x="14208" y="276875"/>
                  </a:lnTo>
                  <a:lnTo>
                    <a:pt x="3811" y="261455"/>
                  </a:lnTo>
                  <a:lnTo>
                    <a:pt x="0" y="242569"/>
                  </a:lnTo>
                  <a:lnTo>
                    <a:pt x="0" y="48513"/>
                  </a:lnTo>
                  <a:close/>
                </a:path>
              </a:pathLst>
            </a:custGeom>
            <a:ln w="12700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1908684" y="3074923"/>
            <a:ext cx="15017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827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STIX Two Math"/>
                <a:cs typeface="STIX Two Math"/>
              </a:rPr>
              <a:t>𝑥</a:t>
            </a:r>
            <a:r>
              <a:rPr dirty="0" sz="1600" spc="10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=</a:t>
            </a:r>
            <a:r>
              <a:rPr dirty="0" sz="1600" spc="65">
                <a:latin typeface="STIX Two Math"/>
                <a:cs typeface="STIX Two Math"/>
              </a:rPr>
              <a:t> </a:t>
            </a:r>
            <a:r>
              <a:rPr dirty="0" sz="1600" spc="90">
                <a:latin typeface="STIX Two Math"/>
                <a:cs typeface="STIX Two Math"/>
              </a:rPr>
              <a:t>0</a:t>
            </a:r>
            <a:r>
              <a:rPr dirty="0" sz="1600" spc="-3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∧</a:t>
            </a:r>
            <a:r>
              <a:rPr dirty="0" sz="1600" spc="-20">
                <a:latin typeface="STIX Two Math"/>
                <a:cs typeface="STIX Two Math"/>
              </a:rPr>
              <a:t> </a:t>
            </a:r>
            <a:r>
              <a:rPr dirty="0" sz="1600" spc="70">
                <a:latin typeface="STIX Two Math"/>
                <a:cs typeface="STIX Two Math"/>
              </a:rPr>
              <a:t>𝑦</a:t>
            </a:r>
            <a:r>
              <a:rPr dirty="0" sz="1600" spc="8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=</a:t>
            </a:r>
            <a:r>
              <a:rPr dirty="0" sz="1600" spc="75">
                <a:latin typeface="STIX Two Math"/>
                <a:cs typeface="STIX Two Math"/>
              </a:rPr>
              <a:t> </a:t>
            </a:r>
            <a:r>
              <a:rPr dirty="0" sz="1600" spc="40">
                <a:latin typeface="STIX Two Math"/>
                <a:cs typeface="STIX Two Math"/>
              </a:rPr>
              <a:t>1</a:t>
            </a:r>
            <a:endParaRPr sz="1600">
              <a:latin typeface="STIX Two Math"/>
              <a:cs typeface="STIX Two Math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76401" y="3276346"/>
            <a:ext cx="2406650" cy="1790700"/>
            <a:chOff x="676401" y="3276346"/>
            <a:chExt cx="2406650" cy="1790700"/>
          </a:xfrm>
        </p:grpSpPr>
        <p:sp>
          <p:nvSpPr>
            <p:cNvPr id="71" name="object 71"/>
            <p:cNvSpPr/>
            <p:nvPr/>
          </p:nvSpPr>
          <p:spPr>
            <a:xfrm>
              <a:off x="2653156" y="3364992"/>
              <a:ext cx="429895" cy="1702435"/>
            </a:xfrm>
            <a:custGeom>
              <a:avLst/>
              <a:gdLst/>
              <a:ahLst/>
              <a:cxnLst/>
              <a:rect l="l" t="t" r="r" b="b"/>
              <a:pathLst>
                <a:path w="429894" h="1702435">
                  <a:moveTo>
                    <a:pt x="12445" y="0"/>
                  </a:moveTo>
                  <a:lnTo>
                    <a:pt x="0" y="3048"/>
                  </a:lnTo>
                  <a:lnTo>
                    <a:pt x="11810" y="52451"/>
                  </a:lnTo>
                  <a:lnTo>
                    <a:pt x="24129" y="49530"/>
                  </a:lnTo>
                  <a:lnTo>
                    <a:pt x="12445" y="0"/>
                  </a:lnTo>
                  <a:close/>
                </a:path>
                <a:path w="429894" h="1702435">
                  <a:moveTo>
                    <a:pt x="33019" y="86487"/>
                  </a:moveTo>
                  <a:lnTo>
                    <a:pt x="20573" y="89535"/>
                  </a:lnTo>
                  <a:lnTo>
                    <a:pt x="32384" y="138938"/>
                  </a:lnTo>
                  <a:lnTo>
                    <a:pt x="44703" y="136017"/>
                  </a:lnTo>
                  <a:lnTo>
                    <a:pt x="33019" y="86487"/>
                  </a:lnTo>
                  <a:close/>
                </a:path>
                <a:path w="429894" h="1702435">
                  <a:moveTo>
                    <a:pt x="53466" y="172974"/>
                  </a:moveTo>
                  <a:lnTo>
                    <a:pt x="41147" y="176022"/>
                  </a:lnTo>
                  <a:lnTo>
                    <a:pt x="52958" y="225425"/>
                  </a:lnTo>
                  <a:lnTo>
                    <a:pt x="65277" y="222504"/>
                  </a:lnTo>
                  <a:lnTo>
                    <a:pt x="53466" y="172974"/>
                  </a:lnTo>
                  <a:close/>
                </a:path>
                <a:path w="429894" h="1702435">
                  <a:moveTo>
                    <a:pt x="74040" y="259461"/>
                  </a:moveTo>
                  <a:lnTo>
                    <a:pt x="61721" y="262509"/>
                  </a:lnTo>
                  <a:lnTo>
                    <a:pt x="73532" y="311912"/>
                  </a:lnTo>
                  <a:lnTo>
                    <a:pt x="85851" y="308991"/>
                  </a:lnTo>
                  <a:lnTo>
                    <a:pt x="74040" y="259461"/>
                  </a:lnTo>
                  <a:close/>
                </a:path>
                <a:path w="429894" h="1702435">
                  <a:moveTo>
                    <a:pt x="94614" y="346075"/>
                  </a:moveTo>
                  <a:lnTo>
                    <a:pt x="82295" y="348996"/>
                  </a:lnTo>
                  <a:lnTo>
                    <a:pt x="93979" y="398399"/>
                  </a:lnTo>
                  <a:lnTo>
                    <a:pt x="106425" y="395478"/>
                  </a:lnTo>
                  <a:lnTo>
                    <a:pt x="94614" y="346075"/>
                  </a:lnTo>
                  <a:close/>
                </a:path>
                <a:path w="429894" h="1702435">
                  <a:moveTo>
                    <a:pt x="115188" y="432562"/>
                  </a:moveTo>
                  <a:lnTo>
                    <a:pt x="102869" y="435483"/>
                  </a:lnTo>
                  <a:lnTo>
                    <a:pt x="114553" y="484886"/>
                  </a:lnTo>
                  <a:lnTo>
                    <a:pt x="126999" y="481965"/>
                  </a:lnTo>
                  <a:lnTo>
                    <a:pt x="115188" y="432562"/>
                  </a:lnTo>
                  <a:close/>
                </a:path>
                <a:path w="429894" h="1702435">
                  <a:moveTo>
                    <a:pt x="135762" y="519048"/>
                  </a:moveTo>
                  <a:lnTo>
                    <a:pt x="123443" y="521970"/>
                  </a:lnTo>
                  <a:lnTo>
                    <a:pt x="135127" y="571373"/>
                  </a:lnTo>
                  <a:lnTo>
                    <a:pt x="147573" y="568452"/>
                  </a:lnTo>
                  <a:lnTo>
                    <a:pt x="135762" y="519048"/>
                  </a:lnTo>
                  <a:close/>
                </a:path>
                <a:path w="429894" h="1702435">
                  <a:moveTo>
                    <a:pt x="156336" y="605536"/>
                  </a:moveTo>
                  <a:lnTo>
                    <a:pt x="144017" y="608457"/>
                  </a:lnTo>
                  <a:lnTo>
                    <a:pt x="155701" y="657860"/>
                  </a:lnTo>
                  <a:lnTo>
                    <a:pt x="168020" y="654939"/>
                  </a:lnTo>
                  <a:lnTo>
                    <a:pt x="156336" y="605536"/>
                  </a:lnTo>
                  <a:close/>
                </a:path>
                <a:path w="429894" h="1702435">
                  <a:moveTo>
                    <a:pt x="176910" y="692023"/>
                  </a:moveTo>
                  <a:lnTo>
                    <a:pt x="164591" y="694944"/>
                  </a:lnTo>
                  <a:lnTo>
                    <a:pt x="176275" y="744347"/>
                  </a:lnTo>
                  <a:lnTo>
                    <a:pt x="188594" y="741426"/>
                  </a:lnTo>
                  <a:lnTo>
                    <a:pt x="176910" y="692023"/>
                  </a:lnTo>
                  <a:close/>
                </a:path>
                <a:path w="429894" h="1702435">
                  <a:moveTo>
                    <a:pt x="197484" y="778510"/>
                  </a:moveTo>
                  <a:lnTo>
                    <a:pt x="185038" y="781431"/>
                  </a:lnTo>
                  <a:lnTo>
                    <a:pt x="196849" y="830834"/>
                  </a:lnTo>
                  <a:lnTo>
                    <a:pt x="209168" y="827913"/>
                  </a:lnTo>
                  <a:lnTo>
                    <a:pt x="197484" y="778510"/>
                  </a:lnTo>
                  <a:close/>
                </a:path>
                <a:path w="429894" h="1702435">
                  <a:moveTo>
                    <a:pt x="218058" y="864997"/>
                  </a:moveTo>
                  <a:lnTo>
                    <a:pt x="205612" y="867918"/>
                  </a:lnTo>
                  <a:lnTo>
                    <a:pt x="217423" y="917321"/>
                  </a:lnTo>
                  <a:lnTo>
                    <a:pt x="229742" y="914400"/>
                  </a:lnTo>
                  <a:lnTo>
                    <a:pt x="218058" y="864997"/>
                  </a:lnTo>
                  <a:close/>
                </a:path>
                <a:path w="429894" h="1702435">
                  <a:moveTo>
                    <a:pt x="238632" y="951484"/>
                  </a:moveTo>
                  <a:lnTo>
                    <a:pt x="226186" y="954405"/>
                  </a:lnTo>
                  <a:lnTo>
                    <a:pt x="237997" y="1003808"/>
                  </a:lnTo>
                  <a:lnTo>
                    <a:pt x="250316" y="1000887"/>
                  </a:lnTo>
                  <a:lnTo>
                    <a:pt x="238632" y="951484"/>
                  </a:lnTo>
                  <a:close/>
                </a:path>
                <a:path w="429894" h="1702435">
                  <a:moveTo>
                    <a:pt x="259079" y="1037971"/>
                  </a:moveTo>
                  <a:lnTo>
                    <a:pt x="246760" y="1040891"/>
                  </a:lnTo>
                  <a:lnTo>
                    <a:pt x="258571" y="1090295"/>
                  </a:lnTo>
                  <a:lnTo>
                    <a:pt x="270890" y="1087374"/>
                  </a:lnTo>
                  <a:lnTo>
                    <a:pt x="259079" y="1037971"/>
                  </a:lnTo>
                  <a:close/>
                </a:path>
                <a:path w="429894" h="1702435">
                  <a:moveTo>
                    <a:pt x="279653" y="1124458"/>
                  </a:moveTo>
                  <a:lnTo>
                    <a:pt x="267334" y="1127379"/>
                  </a:lnTo>
                  <a:lnTo>
                    <a:pt x="279145" y="1176782"/>
                  </a:lnTo>
                  <a:lnTo>
                    <a:pt x="291464" y="1173861"/>
                  </a:lnTo>
                  <a:lnTo>
                    <a:pt x="279653" y="1124458"/>
                  </a:lnTo>
                  <a:close/>
                </a:path>
                <a:path w="429894" h="1702435">
                  <a:moveTo>
                    <a:pt x="300227" y="1210945"/>
                  </a:moveTo>
                  <a:lnTo>
                    <a:pt x="287908" y="1213866"/>
                  </a:lnTo>
                  <a:lnTo>
                    <a:pt x="299719" y="1263269"/>
                  </a:lnTo>
                  <a:lnTo>
                    <a:pt x="312038" y="1260348"/>
                  </a:lnTo>
                  <a:lnTo>
                    <a:pt x="300227" y="1210945"/>
                  </a:lnTo>
                  <a:close/>
                </a:path>
                <a:path w="429894" h="1702435">
                  <a:moveTo>
                    <a:pt x="320801" y="1297432"/>
                  </a:moveTo>
                  <a:lnTo>
                    <a:pt x="308482" y="1300353"/>
                  </a:lnTo>
                  <a:lnTo>
                    <a:pt x="320166" y="1349756"/>
                  </a:lnTo>
                  <a:lnTo>
                    <a:pt x="332612" y="1346835"/>
                  </a:lnTo>
                  <a:lnTo>
                    <a:pt x="320801" y="1297432"/>
                  </a:lnTo>
                  <a:close/>
                </a:path>
                <a:path w="429894" h="1702435">
                  <a:moveTo>
                    <a:pt x="341375" y="1383919"/>
                  </a:moveTo>
                  <a:lnTo>
                    <a:pt x="329056" y="1386840"/>
                  </a:lnTo>
                  <a:lnTo>
                    <a:pt x="340740" y="1436243"/>
                  </a:lnTo>
                  <a:lnTo>
                    <a:pt x="353186" y="1433322"/>
                  </a:lnTo>
                  <a:lnTo>
                    <a:pt x="341375" y="1383919"/>
                  </a:lnTo>
                  <a:close/>
                </a:path>
                <a:path w="429894" h="1702435">
                  <a:moveTo>
                    <a:pt x="361949" y="1470406"/>
                  </a:moveTo>
                  <a:lnTo>
                    <a:pt x="349630" y="1473327"/>
                  </a:lnTo>
                  <a:lnTo>
                    <a:pt x="361314" y="1522730"/>
                  </a:lnTo>
                  <a:lnTo>
                    <a:pt x="373760" y="1519809"/>
                  </a:lnTo>
                  <a:lnTo>
                    <a:pt x="361949" y="1470406"/>
                  </a:lnTo>
                  <a:close/>
                </a:path>
                <a:path w="429894" h="1702435">
                  <a:moveTo>
                    <a:pt x="382523" y="1556893"/>
                  </a:moveTo>
                  <a:lnTo>
                    <a:pt x="370204" y="1559814"/>
                  </a:lnTo>
                  <a:lnTo>
                    <a:pt x="381888" y="1609217"/>
                  </a:lnTo>
                  <a:lnTo>
                    <a:pt x="394207" y="1606296"/>
                  </a:lnTo>
                  <a:lnTo>
                    <a:pt x="382523" y="1556893"/>
                  </a:lnTo>
                  <a:close/>
                </a:path>
                <a:path w="429894" h="1702435">
                  <a:moveTo>
                    <a:pt x="429894" y="1618869"/>
                  </a:moveTo>
                  <a:lnTo>
                    <a:pt x="355726" y="1636522"/>
                  </a:lnTo>
                  <a:lnTo>
                    <a:pt x="410463" y="1701927"/>
                  </a:lnTo>
                  <a:lnTo>
                    <a:pt x="429894" y="1618869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82751" y="3282696"/>
              <a:ext cx="1087120" cy="292735"/>
            </a:xfrm>
            <a:custGeom>
              <a:avLst/>
              <a:gdLst/>
              <a:ahLst/>
              <a:cxnLst/>
              <a:rect l="l" t="t" r="r" b="b"/>
              <a:pathLst>
                <a:path w="1087120" h="292735">
                  <a:moveTo>
                    <a:pt x="0" y="48767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037844" y="0"/>
                  </a:lnTo>
                  <a:lnTo>
                    <a:pt x="1056822" y="3833"/>
                  </a:lnTo>
                  <a:lnTo>
                    <a:pt x="1072324" y="14287"/>
                  </a:lnTo>
                  <a:lnTo>
                    <a:pt x="1082778" y="29789"/>
                  </a:lnTo>
                  <a:lnTo>
                    <a:pt x="1086612" y="48767"/>
                  </a:lnTo>
                  <a:lnTo>
                    <a:pt x="1086612" y="243839"/>
                  </a:lnTo>
                  <a:lnTo>
                    <a:pt x="1082778" y="262818"/>
                  </a:lnTo>
                  <a:lnTo>
                    <a:pt x="1072324" y="278320"/>
                  </a:lnTo>
                  <a:lnTo>
                    <a:pt x="1056822" y="288774"/>
                  </a:lnTo>
                  <a:lnTo>
                    <a:pt x="1037844" y="292607"/>
                  </a:lnTo>
                  <a:lnTo>
                    <a:pt x="48768" y="292607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39"/>
                  </a:lnTo>
                  <a:lnTo>
                    <a:pt x="0" y="48767"/>
                  </a:lnTo>
                  <a:close/>
                </a:path>
              </a:pathLst>
            </a:custGeom>
            <a:ln w="12700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691017" y="3283077"/>
            <a:ext cx="10706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STIX Two Math"/>
                <a:cs typeface="STIX Two Math"/>
              </a:rPr>
              <a:t>𝑥</a:t>
            </a:r>
            <a:r>
              <a:rPr dirty="0" sz="1600" spc="114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=</a:t>
            </a:r>
            <a:r>
              <a:rPr dirty="0" sz="1600" spc="80">
                <a:latin typeface="STIX Two Math"/>
                <a:cs typeface="STIX Two Math"/>
              </a:rPr>
              <a:t> </a:t>
            </a:r>
            <a:r>
              <a:rPr dirty="0" sz="1600" spc="70">
                <a:latin typeface="STIX Two Math"/>
                <a:cs typeface="STIX Two Math"/>
              </a:rPr>
              <a:t>𝑦</a:t>
            </a:r>
            <a:r>
              <a:rPr dirty="0" sz="1600" spc="114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=</a:t>
            </a:r>
            <a:r>
              <a:rPr dirty="0" sz="1600" spc="80">
                <a:latin typeface="STIX Two Math"/>
                <a:cs typeface="STIX Two Math"/>
              </a:rPr>
              <a:t> </a:t>
            </a:r>
            <a:r>
              <a:rPr dirty="0" sz="1600" spc="40">
                <a:latin typeface="STIX Two Math"/>
                <a:cs typeface="STIX Two Math"/>
              </a:rPr>
              <a:t>0</a:t>
            </a:r>
            <a:endParaRPr sz="1600">
              <a:latin typeface="STIX Two Math"/>
              <a:cs typeface="STIX Two Math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132334" y="3425952"/>
            <a:ext cx="2928620" cy="2301875"/>
            <a:chOff x="132334" y="3425952"/>
            <a:chExt cx="2928620" cy="2301875"/>
          </a:xfrm>
        </p:grpSpPr>
        <p:sp>
          <p:nvSpPr>
            <p:cNvPr id="75" name="object 75"/>
            <p:cNvSpPr/>
            <p:nvPr/>
          </p:nvSpPr>
          <p:spPr>
            <a:xfrm>
              <a:off x="1763776" y="3425952"/>
              <a:ext cx="1297305" cy="2301875"/>
            </a:xfrm>
            <a:custGeom>
              <a:avLst/>
              <a:gdLst/>
              <a:ahLst/>
              <a:cxnLst/>
              <a:rect l="l" t="t" r="r" b="b"/>
              <a:pathLst>
                <a:path w="1297305" h="2301875">
                  <a:moveTo>
                    <a:pt x="11175" y="0"/>
                  </a:moveTo>
                  <a:lnTo>
                    <a:pt x="0" y="6096"/>
                  </a:lnTo>
                  <a:lnTo>
                    <a:pt x="24891" y="50419"/>
                  </a:lnTo>
                  <a:lnTo>
                    <a:pt x="36067" y="44196"/>
                  </a:lnTo>
                  <a:lnTo>
                    <a:pt x="11175" y="0"/>
                  </a:lnTo>
                  <a:close/>
                </a:path>
                <a:path w="1297305" h="2301875">
                  <a:moveTo>
                    <a:pt x="54609" y="77470"/>
                  </a:moveTo>
                  <a:lnTo>
                    <a:pt x="43560" y="83693"/>
                  </a:lnTo>
                  <a:lnTo>
                    <a:pt x="68452" y="127889"/>
                  </a:lnTo>
                  <a:lnTo>
                    <a:pt x="79501" y="121666"/>
                  </a:lnTo>
                  <a:lnTo>
                    <a:pt x="54609" y="77470"/>
                  </a:lnTo>
                  <a:close/>
                </a:path>
                <a:path w="1297305" h="2301875">
                  <a:moveTo>
                    <a:pt x="98170" y="154940"/>
                  </a:moveTo>
                  <a:lnTo>
                    <a:pt x="87121" y="161163"/>
                  </a:lnTo>
                  <a:lnTo>
                    <a:pt x="112013" y="205486"/>
                  </a:lnTo>
                  <a:lnTo>
                    <a:pt x="123062" y="199263"/>
                  </a:lnTo>
                  <a:lnTo>
                    <a:pt x="98170" y="154940"/>
                  </a:lnTo>
                  <a:close/>
                </a:path>
                <a:path w="1297305" h="2301875">
                  <a:moveTo>
                    <a:pt x="141731" y="232410"/>
                  </a:moveTo>
                  <a:lnTo>
                    <a:pt x="130682" y="238633"/>
                  </a:lnTo>
                  <a:lnTo>
                    <a:pt x="155574" y="282956"/>
                  </a:lnTo>
                  <a:lnTo>
                    <a:pt x="166623" y="276733"/>
                  </a:lnTo>
                  <a:lnTo>
                    <a:pt x="141731" y="232410"/>
                  </a:lnTo>
                  <a:close/>
                </a:path>
                <a:path w="1297305" h="2301875">
                  <a:moveTo>
                    <a:pt x="185292" y="310007"/>
                  </a:moveTo>
                  <a:lnTo>
                    <a:pt x="174243" y="316230"/>
                  </a:lnTo>
                  <a:lnTo>
                    <a:pt x="199135" y="360426"/>
                  </a:lnTo>
                  <a:lnTo>
                    <a:pt x="210184" y="354203"/>
                  </a:lnTo>
                  <a:lnTo>
                    <a:pt x="185292" y="310007"/>
                  </a:lnTo>
                  <a:close/>
                </a:path>
                <a:path w="1297305" h="2301875">
                  <a:moveTo>
                    <a:pt x="228853" y="387477"/>
                  </a:moveTo>
                  <a:lnTo>
                    <a:pt x="217804" y="393700"/>
                  </a:lnTo>
                  <a:lnTo>
                    <a:pt x="242696" y="438023"/>
                  </a:lnTo>
                  <a:lnTo>
                    <a:pt x="253745" y="431800"/>
                  </a:lnTo>
                  <a:lnTo>
                    <a:pt x="228853" y="387477"/>
                  </a:lnTo>
                  <a:close/>
                </a:path>
                <a:path w="1297305" h="2301875">
                  <a:moveTo>
                    <a:pt x="272414" y="464947"/>
                  </a:moveTo>
                  <a:lnTo>
                    <a:pt x="261365" y="471170"/>
                  </a:lnTo>
                  <a:lnTo>
                    <a:pt x="286257" y="515493"/>
                  </a:lnTo>
                  <a:lnTo>
                    <a:pt x="297306" y="509270"/>
                  </a:lnTo>
                  <a:lnTo>
                    <a:pt x="272414" y="464947"/>
                  </a:lnTo>
                  <a:close/>
                </a:path>
                <a:path w="1297305" h="2301875">
                  <a:moveTo>
                    <a:pt x="315975" y="542417"/>
                  </a:moveTo>
                  <a:lnTo>
                    <a:pt x="304926" y="548640"/>
                  </a:lnTo>
                  <a:lnTo>
                    <a:pt x="329818" y="592963"/>
                  </a:lnTo>
                  <a:lnTo>
                    <a:pt x="340867" y="586740"/>
                  </a:lnTo>
                  <a:lnTo>
                    <a:pt x="315975" y="542417"/>
                  </a:lnTo>
                  <a:close/>
                </a:path>
                <a:path w="1297305" h="2301875">
                  <a:moveTo>
                    <a:pt x="359536" y="620014"/>
                  </a:moveTo>
                  <a:lnTo>
                    <a:pt x="348487" y="626237"/>
                  </a:lnTo>
                  <a:lnTo>
                    <a:pt x="373252" y="670433"/>
                  </a:lnTo>
                  <a:lnTo>
                    <a:pt x="384428" y="664210"/>
                  </a:lnTo>
                  <a:lnTo>
                    <a:pt x="359536" y="620014"/>
                  </a:lnTo>
                  <a:close/>
                </a:path>
                <a:path w="1297305" h="2301875">
                  <a:moveTo>
                    <a:pt x="403097" y="697484"/>
                  </a:moveTo>
                  <a:lnTo>
                    <a:pt x="391921" y="703707"/>
                  </a:lnTo>
                  <a:lnTo>
                    <a:pt x="416813" y="748030"/>
                  </a:lnTo>
                  <a:lnTo>
                    <a:pt x="427989" y="741807"/>
                  </a:lnTo>
                  <a:lnTo>
                    <a:pt x="403097" y="697484"/>
                  </a:lnTo>
                  <a:close/>
                </a:path>
                <a:path w="1297305" h="2301875">
                  <a:moveTo>
                    <a:pt x="446531" y="774954"/>
                  </a:moveTo>
                  <a:lnTo>
                    <a:pt x="435482" y="781177"/>
                  </a:lnTo>
                  <a:lnTo>
                    <a:pt x="460374" y="825500"/>
                  </a:lnTo>
                  <a:lnTo>
                    <a:pt x="471423" y="819277"/>
                  </a:lnTo>
                  <a:lnTo>
                    <a:pt x="446531" y="774954"/>
                  </a:lnTo>
                  <a:close/>
                </a:path>
                <a:path w="1297305" h="2301875">
                  <a:moveTo>
                    <a:pt x="490092" y="852424"/>
                  </a:moveTo>
                  <a:lnTo>
                    <a:pt x="479044" y="858647"/>
                  </a:lnTo>
                  <a:lnTo>
                    <a:pt x="503935" y="902969"/>
                  </a:lnTo>
                  <a:lnTo>
                    <a:pt x="514984" y="896747"/>
                  </a:lnTo>
                  <a:lnTo>
                    <a:pt x="490092" y="852424"/>
                  </a:lnTo>
                  <a:close/>
                </a:path>
                <a:path w="1297305" h="2301875">
                  <a:moveTo>
                    <a:pt x="533654" y="930021"/>
                  </a:moveTo>
                  <a:lnTo>
                    <a:pt x="522605" y="936244"/>
                  </a:lnTo>
                  <a:lnTo>
                    <a:pt x="547496" y="980440"/>
                  </a:lnTo>
                  <a:lnTo>
                    <a:pt x="558546" y="974216"/>
                  </a:lnTo>
                  <a:lnTo>
                    <a:pt x="533654" y="930021"/>
                  </a:lnTo>
                  <a:close/>
                </a:path>
                <a:path w="1297305" h="2301875">
                  <a:moveTo>
                    <a:pt x="577215" y="1007491"/>
                  </a:moveTo>
                  <a:lnTo>
                    <a:pt x="566166" y="1013713"/>
                  </a:lnTo>
                  <a:lnTo>
                    <a:pt x="591057" y="1058037"/>
                  </a:lnTo>
                  <a:lnTo>
                    <a:pt x="602107" y="1051814"/>
                  </a:lnTo>
                  <a:lnTo>
                    <a:pt x="577215" y="1007491"/>
                  </a:lnTo>
                  <a:close/>
                </a:path>
                <a:path w="1297305" h="2301875">
                  <a:moveTo>
                    <a:pt x="620776" y="1084961"/>
                  </a:moveTo>
                  <a:lnTo>
                    <a:pt x="609727" y="1091184"/>
                  </a:lnTo>
                  <a:lnTo>
                    <a:pt x="634619" y="1135507"/>
                  </a:lnTo>
                  <a:lnTo>
                    <a:pt x="645668" y="1129284"/>
                  </a:lnTo>
                  <a:lnTo>
                    <a:pt x="620776" y="1084961"/>
                  </a:lnTo>
                  <a:close/>
                </a:path>
                <a:path w="1297305" h="2301875">
                  <a:moveTo>
                    <a:pt x="664336" y="1162558"/>
                  </a:moveTo>
                  <a:lnTo>
                    <a:pt x="653288" y="1168654"/>
                  </a:lnTo>
                  <a:lnTo>
                    <a:pt x="678180" y="1212977"/>
                  </a:lnTo>
                  <a:lnTo>
                    <a:pt x="689229" y="1206754"/>
                  </a:lnTo>
                  <a:lnTo>
                    <a:pt x="664336" y="1162558"/>
                  </a:lnTo>
                  <a:close/>
                </a:path>
                <a:path w="1297305" h="2301875">
                  <a:moveTo>
                    <a:pt x="707897" y="1240028"/>
                  </a:moveTo>
                  <a:lnTo>
                    <a:pt x="696849" y="1246251"/>
                  </a:lnTo>
                  <a:lnTo>
                    <a:pt x="721741" y="1290447"/>
                  </a:lnTo>
                  <a:lnTo>
                    <a:pt x="732790" y="1284351"/>
                  </a:lnTo>
                  <a:lnTo>
                    <a:pt x="707897" y="1240028"/>
                  </a:lnTo>
                  <a:close/>
                </a:path>
                <a:path w="1297305" h="2301875">
                  <a:moveTo>
                    <a:pt x="751458" y="1317498"/>
                  </a:moveTo>
                  <a:lnTo>
                    <a:pt x="740410" y="1323721"/>
                  </a:lnTo>
                  <a:lnTo>
                    <a:pt x="765174" y="1368044"/>
                  </a:lnTo>
                  <a:lnTo>
                    <a:pt x="776351" y="1361821"/>
                  </a:lnTo>
                  <a:lnTo>
                    <a:pt x="751458" y="1317498"/>
                  </a:lnTo>
                  <a:close/>
                </a:path>
                <a:path w="1297305" h="2301875">
                  <a:moveTo>
                    <a:pt x="795019" y="1394968"/>
                  </a:moveTo>
                  <a:lnTo>
                    <a:pt x="783844" y="1401191"/>
                  </a:lnTo>
                  <a:lnTo>
                    <a:pt x="808735" y="1445514"/>
                  </a:lnTo>
                  <a:lnTo>
                    <a:pt x="819912" y="1439291"/>
                  </a:lnTo>
                  <a:lnTo>
                    <a:pt x="795019" y="1394968"/>
                  </a:lnTo>
                  <a:close/>
                </a:path>
                <a:path w="1297305" h="2301875">
                  <a:moveTo>
                    <a:pt x="838454" y="1472565"/>
                  </a:moveTo>
                  <a:lnTo>
                    <a:pt x="827404" y="1478788"/>
                  </a:lnTo>
                  <a:lnTo>
                    <a:pt x="852297" y="1522984"/>
                  </a:lnTo>
                  <a:lnTo>
                    <a:pt x="863345" y="1516761"/>
                  </a:lnTo>
                  <a:lnTo>
                    <a:pt x="838454" y="1472565"/>
                  </a:lnTo>
                  <a:close/>
                </a:path>
                <a:path w="1297305" h="2301875">
                  <a:moveTo>
                    <a:pt x="882014" y="1550035"/>
                  </a:moveTo>
                  <a:lnTo>
                    <a:pt x="870966" y="1556258"/>
                  </a:lnTo>
                  <a:lnTo>
                    <a:pt x="895857" y="1600581"/>
                  </a:lnTo>
                  <a:lnTo>
                    <a:pt x="906907" y="1594358"/>
                  </a:lnTo>
                  <a:lnTo>
                    <a:pt x="882014" y="1550035"/>
                  </a:lnTo>
                  <a:close/>
                </a:path>
                <a:path w="1297305" h="2301875">
                  <a:moveTo>
                    <a:pt x="925576" y="1627505"/>
                  </a:moveTo>
                  <a:lnTo>
                    <a:pt x="914526" y="1633727"/>
                  </a:lnTo>
                  <a:lnTo>
                    <a:pt x="939419" y="1678051"/>
                  </a:lnTo>
                  <a:lnTo>
                    <a:pt x="950467" y="1671827"/>
                  </a:lnTo>
                  <a:lnTo>
                    <a:pt x="925576" y="1627505"/>
                  </a:lnTo>
                  <a:close/>
                </a:path>
                <a:path w="1297305" h="2301875">
                  <a:moveTo>
                    <a:pt x="969137" y="1704975"/>
                  </a:moveTo>
                  <a:lnTo>
                    <a:pt x="958088" y="1711198"/>
                  </a:lnTo>
                  <a:lnTo>
                    <a:pt x="982979" y="1755520"/>
                  </a:lnTo>
                  <a:lnTo>
                    <a:pt x="994029" y="1749298"/>
                  </a:lnTo>
                  <a:lnTo>
                    <a:pt x="969137" y="1704975"/>
                  </a:lnTo>
                  <a:close/>
                </a:path>
                <a:path w="1297305" h="2301875">
                  <a:moveTo>
                    <a:pt x="1012697" y="1782572"/>
                  </a:moveTo>
                  <a:lnTo>
                    <a:pt x="1001648" y="1788795"/>
                  </a:lnTo>
                  <a:lnTo>
                    <a:pt x="1026541" y="1832991"/>
                  </a:lnTo>
                  <a:lnTo>
                    <a:pt x="1037589" y="1826768"/>
                  </a:lnTo>
                  <a:lnTo>
                    <a:pt x="1012697" y="1782572"/>
                  </a:lnTo>
                  <a:close/>
                </a:path>
                <a:path w="1297305" h="2301875">
                  <a:moveTo>
                    <a:pt x="1056259" y="1860042"/>
                  </a:moveTo>
                  <a:lnTo>
                    <a:pt x="1045210" y="1866264"/>
                  </a:lnTo>
                  <a:lnTo>
                    <a:pt x="1070102" y="1910588"/>
                  </a:lnTo>
                  <a:lnTo>
                    <a:pt x="1081151" y="1904364"/>
                  </a:lnTo>
                  <a:lnTo>
                    <a:pt x="1056259" y="1860042"/>
                  </a:lnTo>
                  <a:close/>
                </a:path>
                <a:path w="1297305" h="2301875">
                  <a:moveTo>
                    <a:pt x="1099820" y="1937512"/>
                  </a:moveTo>
                  <a:lnTo>
                    <a:pt x="1088770" y="1943735"/>
                  </a:lnTo>
                  <a:lnTo>
                    <a:pt x="1113663" y="1988058"/>
                  </a:lnTo>
                  <a:lnTo>
                    <a:pt x="1124712" y="1981835"/>
                  </a:lnTo>
                  <a:lnTo>
                    <a:pt x="1099820" y="1937512"/>
                  </a:lnTo>
                  <a:close/>
                </a:path>
                <a:path w="1297305" h="2301875">
                  <a:moveTo>
                    <a:pt x="1143381" y="2014982"/>
                  </a:moveTo>
                  <a:lnTo>
                    <a:pt x="1132332" y="2021205"/>
                  </a:lnTo>
                  <a:lnTo>
                    <a:pt x="1157097" y="2065527"/>
                  </a:lnTo>
                  <a:lnTo>
                    <a:pt x="1168273" y="2059305"/>
                  </a:lnTo>
                  <a:lnTo>
                    <a:pt x="1143381" y="2014982"/>
                  </a:lnTo>
                  <a:close/>
                </a:path>
                <a:path w="1297305" h="2301875">
                  <a:moveTo>
                    <a:pt x="1186942" y="2092579"/>
                  </a:moveTo>
                  <a:lnTo>
                    <a:pt x="1175766" y="2098802"/>
                  </a:lnTo>
                  <a:lnTo>
                    <a:pt x="1200658" y="2142998"/>
                  </a:lnTo>
                  <a:lnTo>
                    <a:pt x="1211834" y="2136775"/>
                  </a:lnTo>
                  <a:lnTo>
                    <a:pt x="1186942" y="2092579"/>
                  </a:lnTo>
                  <a:close/>
                </a:path>
                <a:path w="1297305" h="2301875">
                  <a:moveTo>
                    <a:pt x="1292860" y="2216302"/>
                  </a:moveTo>
                  <a:lnTo>
                    <a:pt x="1226439" y="2253627"/>
                  </a:lnTo>
                  <a:lnTo>
                    <a:pt x="1296923" y="2301405"/>
                  </a:lnTo>
                  <a:lnTo>
                    <a:pt x="1292860" y="2216302"/>
                  </a:lnTo>
                  <a:close/>
                </a:path>
                <a:path w="1297305" h="2301875">
                  <a:moveTo>
                    <a:pt x="1230376" y="2170049"/>
                  </a:moveTo>
                  <a:lnTo>
                    <a:pt x="1219327" y="2176272"/>
                  </a:lnTo>
                  <a:lnTo>
                    <a:pt x="1244219" y="2220556"/>
                  </a:lnTo>
                  <a:lnTo>
                    <a:pt x="1255267" y="2214333"/>
                  </a:lnTo>
                  <a:lnTo>
                    <a:pt x="1230376" y="2170049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38684" y="4559808"/>
              <a:ext cx="2217420" cy="292735"/>
            </a:xfrm>
            <a:custGeom>
              <a:avLst/>
              <a:gdLst/>
              <a:ahLst/>
              <a:cxnLst/>
              <a:rect l="l" t="t" r="r" b="b"/>
              <a:pathLst>
                <a:path w="2217420" h="292735">
                  <a:moveTo>
                    <a:pt x="2168652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2168652" y="292608"/>
                  </a:lnTo>
                  <a:lnTo>
                    <a:pt x="2187630" y="288774"/>
                  </a:lnTo>
                  <a:lnTo>
                    <a:pt x="2203132" y="278320"/>
                  </a:lnTo>
                  <a:lnTo>
                    <a:pt x="2213586" y="262818"/>
                  </a:lnTo>
                  <a:lnTo>
                    <a:pt x="2217420" y="243840"/>
                  </a:lnTo>
                  <a:lnTo>
                    <a:pt x="2217420" y="48768"/>
                  </a:lnTo>
                  <a:lnTo>
                    <a:pt x="2213586" y="29789"/>
                  </a:lnTo>
                  <a:lnTo>
                    <a:pt x="2203132" y="14287"/>
                  </a:lnTo>
                  <a:lnTo>
                    <a:pt x="2187630" y="3833"/>
                  </a:lnTo>
                  <a:lnTo>
                    <a:pt x="21686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38684" y="4559808"/>
              <a:ext cx="2217420" cy="292735"/>
            </a:xfrm>
            <a:custGeom>
              <a:avLst/>
              <a:gdLst/>
              <a:ahLst/>
              <a:cxnLst/>
              <a:rect l="l" t="t" r="r" b="b"/>
              <a:pathLst>
                <a:path w="2217420" h="292735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2168652" y="0"/>
                  </a:lnTo>
                  <a:lnTo>
                    <a:pt x="2187630" y="3833"/>
                  </a:lnTo>
                  <a:lnTo>
                    <a:pt x="2203132" y="14287"/>
                  </a:lnTo>
                  <a:lnTo>
                    <a:pt x="2213586" y="29789"/>
                  </a:lnTo>
                  <a:lnTo>
                    <a:pt x="2217420" y="48768"/>
                  </a:lnTo>
                  <a:lnTo>
                    <a:pt x="2217420" y="243840"/>
                  </a:lnTo>
                  <a:lnTo>
                    <a:pt x="2213586" y="262818"/>
                  </a:lnTo>
                  <a:lnTo>
                    <a:pt x="2203132" y="278320"/>
                  </a:lnTo>
                  <a:lnTo>
                    <a:pt x="2187630" y="288774"/>
                  </a:lnTo>
                  <a:lnTo>
                    <a:pt x="2168652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2699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/>
          <p:cNvSpPr txBox="1"/>
          <p:nvPr/>
        </p:nvSpPr>
        <p:spPr>
          <a:xfrm>
            <a:off x="146950" y="4559630"/>
            <a:ext cx="22009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9220">
              <a:lnSpc>
                <a:spcPct val="100000"/>
              </a:lnSpc>
              <a:spcBef>
                <a:spcPts val="95"/>
              </a:spcBef>
            </a:pPr>
            <a:r>
              <a:rPr dirty="0" sz="1600" spc="90">
                <a:latin typeface="STIX Two Math"/>
                <a:cs typeface="STIX Two Math"/>
              </a:rPr>
              <a:t>0</a:t>
            </a:r>
            <a:r>
              <a:rPr dirty="0" sz="1600" spc="6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&lt;</a:t>
            </a:r>
            <a:r>
              <a:rPr dirty="0" sz="1600" spc="7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𝑥</a:t>
            </a:r>
            <a:r>
              <a:rPr dirty="0" sz="1600" spc="114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&lt;</a:t>
            </a:r>
            <a:r>
              <a:rPr dirty="0" sz="1600" spc="70">
                <a:latin typeface="STIX Two Math"/>
                <a:cs typeface="STIX Two Math"/>
              </a:rPr>
              <a:t> </a:t>
            </a:r>
            <a:r>
              <a:rPr dirty="0" sz="1600" spc="90">
                <a:latin typeface="STIX Two Math"/>
                <a:cs typeface="STIX Two Math"/>
              </a:rPr>
              <a:t>1</a:t>
            </a:r>
            <a:r>
              <a:rPr dirty="0" sz="1600" spc="-1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∧</a:t>
            </a:r>
            <a:r>
              <a:rPr dirty="0" sz="1600" spc="-15">
                <a:latin typeface="STIX Two Math"/>
                <a:cs typeface="STIX Two Math"/>
              </a:rPr>
              <a:t> </a:t>
            </a:r>
            <a:r>
              <a:rPr dirty="0" sz="1600" spc="80">
                <a:latin typeface="STIX Two Math"/>
                <a:cs typeface="STIX Two Math"/>
              </a:rPr>
              <a:t>𝑦</a:t>
            </a:r>
            <a:r>
              <a:rPr dirty="0" sz="1600" spc="9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=</a:t>
            </a:r>
            <a:r>
              <a:rPr dirty="0" sz="1600" spc="7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𝑥</a:t>
            </a:r>
            <a:r>
              <a:rPr dirty="0" sz="1600" spc="3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+</a:t>
            </a:r>
            <a:r>
              <a:rPr dirty="0" sz="1600" spc="-25">
                <a:latin typeface="STIX Two Math"/>
                <a:cs typeface="STIX Two Math"/>
              </a:rPr>
              <a:t> </a:t>
            </a:r>
            <a:r>
              <a:rPr dirty="0" sz="1600" spc="40">
                <a:latin typeface="STIX Two Math"/>
                <a:cs typeface="STIX Two Math"/>
              </a:rPr>
              <a:t>1</a:t>
            </a:r>
            <a:endParaRPr sz="1600">
              <a:latin typeface="STIX Two Math"/>
              <a:cs typeface="STIX Two Math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264922" y="4699761"/>
            <a:ext cx="3106420" cy="728980"/>
            <a:chOff x="264922" y="4699761"/>
            <a:chExt cx="3106420" cy="728980"/>
          </a:xfrm>
        </p:grpSpPr>
        <p:sp>
          <p:nvSpPr>
            <p:cNvPr id="80" name="object 80"/>
            <p:cNvSpPr/>
            <p:nvPr/>
          </p:nvSpPr>
          <p:spPr>
            <a:xfrm>
              <a:off x="2355469" y="4699761"/>
              <a:ext cx="1015365" cy="140335"/>
            </a:xfrm>
            <a:custGeom>
              <a:avLst/>
              <a:gdLst/>
              <a:ahLst/>
              <a:cxnLst/>
              <a:rect l="l" t="t" r="r" b="b"/>
              <a:pathLst>
                <a:path w="1015364" h="140335">
                  <a:moveTo>
                    <a:pt x="1269" y="0"/>
                  </a:moveTo>
                  <a:lnTo>
                    <a:pt x="0" y="12700"/>
                  </a:lnTo>
                  <a:lnTo>
                    <a:pt x="50545" y="17780"/>
                  </a:lnTo>
                  <a:lnTo>
                    <a:pt x="51815" y="5207"/>
                  </a:lnTo>
                  <a:lnTo>
                    <a:pt x="1269" y="0"/>
                  </a:lnTo>
                  <a:close/>
                </a:path>
                <a:path w="1015364" h="140335">
                  <a:moveTo>
                    <a:pt x="89661" y="9017"/>
                  </a:moveTo>
                  <a:lnTo>
                    <a:pt x="88391" y="21717"/>
                  </a:lnTo>
                  <a:lnTo>
                    <a:pt x="138937" y="26797"/>
                  </a:lnTo>
                  <a:lnTo>
                    <a:pt x="140207" y="14224"/>
                  </a:lnTo>
                  <a:lnTo>
                    <a:pt x="89661" y="9017"/>
                  </a:lnTo>
                  <a:close/>
                </a:path>
                <a:path w="1015364" h="140335">
                  <a:moveTo>
                    <a:pt x="178180" y="18034"/>
                  </a:moveTo>
                  <a:lnTo>
                    <a:pt x="176910" y="30734"/>
                  </a:lnTo>
                  <a:lnTo>
                    <a:pt x="227456" y="35941"/>
                  </a:lnTo>
                  <a:lnTo>
                    <a:pt x="228726" y="23241"/>
                  </a:lnTo>
                  <a:lnTo>
                    <a:pt x="178180" y="18034"/>
                  </a:lnTo>
                  <a:close/>
                </a:path>
                <a:path w="1015364" h="140335">
                  <a:moveTo>
                    <a:pt x="266572" y="27051"/>
                  </a:moveTo>
                  <a:lnTo>
                    <a:pt x="265302" y="39751"/>
                  </a:lnTo>
                  <a:lnTo>
                    <a:pt x="315848" y="44958"/>
                  </a:lnTo>
                  <a:lnTo>
                    <a:pt x="317118" y="32258"/>
                  </a:lnTo>
                  <a:lnTo>
                    <a:pt x="266572" y="27051"/>
                  </a:lnTo>
                  <a:close/>
                </a:path>
                <a:path w="1015364" h="140335">
                  <a:moveTo>
                    <a:pt x="355091" y="36195"/>
                  </a:moveTo>
                  <a:lnTo>
                    <a:pt x="353694" y="48768"/>
                  </a:lnTo>
                  <a:lnTo>
                    <a:pt x="404240" y="53975"/>
                  </a:lnTo>
                  <a:lnTo>
                    <a:pt x="405637" y="41275"/>
                  </a:lnTo>
                  <a:lnTo>
                    <a:pt x="355091" y="36195"/>
                  </a:lnTo>
                  <a:close/>
                </a:path>
                <a:path w="1015364" h="140335">
                  <a:moveTo>
                    <a:pt x="443483" y="45212"/>
                  </a:moveTo>
                  <a:lnTo>
                    <a:pt x="442213" y="57785"/>
                  </a:lnTo>
                  <a:lnTo>
                    <a:pt x="492759" y="62992"/>
                  </a:lnTo>
                  <a:lnTo>
                    <a:pt x="494029" y="50292"/>
                  </a:lnTo>
                  <a:lnTo>
                    <a:pt x="443483" y="45212"/>
                  </a:lnTo>
                  <a:close/>
                </a:path>
                <a:path w="1015364" h="140335">
                  <a:moveTo>
                    <a:pt x="531876" y="54228"/>
                  </a:moveTo>
                  <a:lnTo>
                    <a:pt x="530605" y="66802"/>
                  </a:lnTo>
                  <a:lnTo>
                    <a:pt x="581151" y="72009"/>
                  </a:lnTo>
                  <a:lnTo>
                    <a:pt x="582421" y="59309"/>
                  </a:lnTo>
                  <a:lnTo>
                    <a:pt x="531876" y="54228"/>
                  </a:lnTo>
                  <a:close/>
                </a:path>
                <a:path w="1015364" h="140335">
                  <a:moveTo>
                    <a:pt x="620394" y="63246"/>
                  </a:moveTo>
                  <a:lnTo>
                    <a:pt x="619124" y="75819"/>
                  </a:lnTo>
                  <a:lnTo>
                    <a:pt x="669671" y="81026"/>
                  </a:lnTo>
                  <a:lnTo>
                    <a:pt x="670940" y="68326"/>
                  </a:lnTo>
                  <a:lnTo>
                    <a:pt x="620394" y="63246"/>
                  </a:lnTo>
                  <a:close/>
                </a:path>
                <a:path w="1015364" h="140335">
                  <a:moveTo>
                    <a:pt x="708786" y="72263"/>
                  </a:moveTo>
                  <a:lnTo>
                    <a:pt x="707516" y="84836"/>
                  </a:lnTo>
                  <a:lnTo>
                    <a:pt x="758063" y="90043"/>
                  </a:lnTo>
                  <a:lnTo>
                    <a:pt x="759332" y="77470"/>
                  </a:lnTo>
                  <a:lnTo>
                    <a:pt x="708786" y="72263"/>
                  </a:lnTo>
                  <a:close/>
                </a:path>
                <a:path w="1015364" h="140335">
                  <a:moveTo>
                    <a:pt x="797305" y="81280"/>
                  </a:moveTo>
                  <a:lnTo>
                    <a:pt x="795908" y="93853"/>
                  </a:lnTo>
                  <a:lnTo>
                    <a:pt x="846454" y="99060"/>
                  </a:lnTo>
                  <a:lnTo>
                    <a:pt x="847725" y="86487"/>
                  </a:lnTo>
                  <a:lnTo>
                    <a:pt x="797305" y="81280"/>
                  </a:lnTo>
                  <a:close/>
                </a:path>
                <a:path w="1015364" h="140335">
                  <a:moveTo>
                    <a:pt x="943356" y="64261"/>
                  </a:moveTo>
                  <a:lnTo>
                    <a:pt x="935608" y="140081"/>
                  </a:lnTo>
                  <a:lnTo>
                    <a:pt x="1015364" y="109982"/>
                  </a:lnTo>
                  <a:lnTo>
                    <a:pt x="943356" y="64261"/>
                  </a:lnTo>
                  <a:close/>
                </a:path>
                <a:path w="1015364" h="140335">
                  <a:moveTo>
                    <a:pt x="885697" y="90297"/>
                  </a:moveTo>
                  <a:lnTo>
                    <a:pt x="884428" y="102997"/>
                  </a:lnTo>
                  <a:lnTo>
                    <a:pt x="934973" y="108077"/>
                  </a:lnTo>
                  <a:lnTo>
                    <a:pt x="936244" y="95504"/>
                  </a:lnTo>
                  <a:lnTo>
                    <a:pt x="885697" y="90297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271272" y="5129783"/>
              <a:ext cx="1975485" cy="292735"/>
            </a:xfrm>
            <a:custGeom>
              <a:avLst/>
              <a:gdLst/>
              <a:ahLst/>
              <a:cxnLst/>
              <a:rect l="l" t="t" r="r" b="b"/>
              <a:pathLst>
                <a:path w="1975485" h="292735">
                  <a:moveTo>
                    <a:pt x="1926336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1926336" y="292608"/>
                  </a:lnTo>
                  <a:lnTo>
                    <a:pt x="1945314" y="288774"/>
                  </a:lnTo>
                  <a:lnTo>
                    <a:pt x="1960816" y="278320"/>
                  </a:lnTo>
                  <a:lnTo>
                    <a:pt x="1971270" y="262818"/>
                  </a:lnTo>
                  <a:lnTo>
                    <a:pt x="1975104" y="243840"/>
                  </a:lnTo>
                  <a:lnTo>
                    <a:pt x="1975104" y="48768"/>
                  </a:lnTo>
                  <a:lnTo>
                    <a:pt x="1971270" y="29789"/>
                  </a:lnTo>
                  <a:lnTo>
                    <a:pt x="1960816" y="14287"/>
                  </a:lnTo>
                  <a:lnTo>
                    <a:pt x="1945314" y="3833"/>
                  </a:lnTo>
                  <a:lnTo>
                    <a:pt x="19263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271272" y="5129783"/>
              <a:ext cx="1975485" cy="292735"/>
            </a:xfrm>
            <a:custGeom>
              <a:avLst/>
              <a:gdLst/>
              <a:ahLst/>
              <a:cxnLst/>
              <a:rect l="l" t="t" r="r" b="b"/>
              <a:pathLst>
                <a:path w="1975485" h="292735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926336" y="0"/>
                  </a:lnTo>
                  <a:lnTo>
                    <a:pt x="1945314" y="3833"/>
                  </a:lnTo>
                  <a:lnTo>
                    <a:pt x="1960816" y="14287"/>
                  </a:lnTo>
                  <a:lnTo>
                    <a:pt x="1971270" y="29789"/>
                  </a:lnTo>
                  <a:lnTo>
                    <a:pt x="1975104" y="48768"/>
                  </a:lnTo>
                  <a:lnTo>
                    <a:pt x="1975104" y="243840"/>
                  </a:lnTo>
                  <a:lnTo>
                    <a:pt x="1971270" y="262818"/>
                  </a:lnTo>
                  <a:lnTo>
                    <a:pt x="1960816" y="278320"/>
                  </a:lnTo>
                  <a:lnTo>
                    <a:pt x="1945314" y="288774"/>
                  </a:lnTo>
                  <a:lnTo>
                    <a:pt x="1926336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2700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/>
          <p:cNvSpPr txBox="1"/>
          <p:nvPr/>
        </p:nvSpPr>
        <p:spPr>
          <a:xfrm>
            <a:off x="279538" y="5129606"/>
            <a:ext cx="19589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7005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STIX Two Math"/>
                <a:cs typeface="STIX Two Math"/>
              </a:rPr>
              <a:t>𝑥</a:t>
            </a:r>
            <a:r>
              <a:rPr dirty="0" sz="1600" spc="114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=</a:t>
            </a:r>
            <a:r>
              <a:rPr dirty="0" sz="1600" spc="70">
                <a:latin typeface="STIX Two Math"/>
                <a:cs typeface="STIX Two Math"/>
              </a:rPr>
              <a:t> </a:t>
            </a:r>
            <a:r>
              <a:rPr dirty="0" sz="1600" spc="90">
                <a:latin typeface="STIX Two Math"/>
                <a:cs typeface="STIX Two Math"/>
              </a:rPr>
              <a:t>0</a:t>
            </a:r>
            <a:r>
              <a:rPr dirty="0" sz="1600" spc="-1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∧</a:t>
            </a:r>
            <a:r>
              <a:rPr dirty="0" sz="1600" spc="-10">
                <a:latin typeface="STIX Two Math"/>
                <a:cs typeface="STIX Two Math"/>
              </a:rPr>
              <a:t> </a:t>
            </a:r>
            <a:r>
              <a:rPr dirty="0" sz="1600" spc="90">
                <a:latin typeface="STIX Two Math"/>
                <a:cs typeface="STIX Two Math"/>
              </a:rPr>
              <a:t>0</a:t>
            </a:r>
            <a:r>
              <a:rPr dirty="0" sz="1600" spc="7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&lt;</a:t>
            </a:r>
            <a:r>
              <a:rPr dirty="0" sz="1600" spc="70">
                <a:latin typeface="STIX Two Math"/>
                <a:cs typeface="STIX Two Math"/>
              </a:rPr>
              <a:t> </a:t>
            </a:r>
            <a:r>
              <a:rPr dirty="0" sz="1600" spc="80">
                <a:latin typeface="STIX Two Math"/>
                <a:cs typeface="STIX Two Math"/>
              </a:rPr>
              <a:t>𝑦</a:t>
            </a:r>
            <a:r>
              <a:rPr dirty="0" sz="1600" spc="10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&lt;</a:t>
            </a:r>
            <a:r>
              <a:rPr dirty="0" sz="1600" spc="70">
                <a:latin typeface="STIX Two Math"/>
                <a:cs typeface="STIX Two Math"/>
              </a:rPr>
              <a:t> </a:t>
            </a:r>
            <a:r>
              <a:rPr dirty="0" sz="1600" spc="40">
                <a:latin typeface="STIX Two Math"/>
                <a:cs typeface="STIX Two Math"/>
              </a:rPr>
              <a:t>1</a:t>
            </a:r>
            <a:endParaRPr sz="1600">
              <a:latin typeface="STIX Two Math"/>
              <a:cs typeface="STIX Two Math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277113" y="5269738"/>
            <a:ext cx="2796540" cy="607060"/>
            <a:chOff x="277113" y="5269738"/>
            <a:chExt cx="2796540" cy="607060"/>
          </a:xfrm>
        </p:grpSpPr>
        <p:sp>
          <p:nvSpPr>
            <p:cNvPr id="85" name="object 85"/>
            <p:cNvSpPr/>
            <p:nvPr/>
          </p:nvSpPr>
          <p:spPr>
            <a:xfrm>
              <a:off x="2245994" y="5269738"/>
              <a:ext cx="828040" cy="89535"/>
            </a:xfrm>
            <a:custGeom>
              <a:avLst/>
              <a:gdLst/>
              <a:ahLst/>
              <a:cxnLst/>
              <a:rect l="l" t="t" r="r" b="b"/>
              <a:pathLst>
                <a:path w="828039" h="89535">
                  <a:moveTo>
                    <a:pt x="762" y="0"/>
                  </a:moveTo>
                  <a:lnTo>
                    <a:pt x="0" y="12700"/>
                  </a:lnTo>
                  <a:lnTo>
                    <a:pt x="50673" y="15748"/>
                  </a:lnTo>
                  <a:lnTo>
                    <a:pt x="51435" y="3048"/>
                  </a:lnTo>
                  <a:lnTo>
                    <a:pt x="762" y="0"/>
                  </a:lnTo>
                  <a:close/>
                </a:path>
                <a:path w="828039" h="89535">
                  <a:moveTo>
                    <a:pt x="89535" y="5334"/>
                  </a:moveTo>
                  <a:lnTo>
                    <a:pt x="88773" y="17907"/>
                  </a:lnTo>
                  <a:lnTo>
                    <a:pt x="139446" y="20955"/>
                  </a:lnTo>
                  <a:lnTo>
                    <a:pt x="140208" y="8255"/>
                  </a:lnTo>
                  <a:lnTo>
                    <a:pt x="89535" y="5334"/>
                  </a:lnTo>
                  <a:close/>
                </a:path>
                <a:path w="828039" h="89535">
                  <a:moveTo>
                    <a:pt x="178181" y="10541"/>
                  </a:moveTo>
                  <a:lnTo>
                    <a:pt x="177546" y="23241"/>
                  </a:lnTo>
                  <a:lnTo>
                    <a:pt x="228219" y="26288"/>
                  </a:lnTo>
                  <a:lnTo>
                    <a:pt x="228981" y="13589"/>
                  </a:lnTo>
                  <a:lnTo>
                    <a:pt x="178181" y="10541"/>
                  </a:lnTo>
                  <a:close/>
                </a:path>
                <a:path w="828039" h="89535">
                  <a:moveTo>
                    <a:pt x="266954" y="15875"/>
                  </a:moveTo>
                  <a:lnTo>
                    <a:pt x="266192" y="28575"/>
                  </a:lnTo>
                  <a:lnTo>
                    <a:pt x="316992" y="31496"/>
                  </a:lnTo>
                  <a:lnTo>
                    <a:pt x="317754" y="18923"/>
                  </a:lnTo>
                  <a:lnTo>
                    <a:pt x="266954" y="15875"/>
                  </a:lnTo>
                  <a:close/>
                </a:path>
                <a:path w="828039" h="89535">
                  <a:moveTo>
                    <a:pt x="355727" y="21082"/>
                  </a:moveTo>
                  <a:lnTo>
                    <a:pt x="354965" y="33782"/>
                  </a:lnTo>
                  <a:lnTo>
                    <a:pt x="405638" y="36830"/>
                  </a:lnTo>
                  <a:lnTo>
                    <a:pt x="406400" y="24130"/>
                  </a:lnTo>
                  <a:lnTo>
                    <a:pt x="355727" y="21082"/>
                  </a:lnTo>
                  <a:close/>
                </a:path>
                <a:path w="828039" h="89535">
                  <a:moveTo>
                    <a:pt x="444500" y="26416"/>
                  </a:moveTo>
                  <a:lnTo>
                    <a:pt x="443738" y="39116"/>
                  </a:lnTo>
                  <a:lnTo>
                    <a:pt x="494411" y="42164"/>
                  </a:lnTo>
                  <a:lnTo>
                    <a:pt x="495173" y="29463"/>
                  </a:lnTo>
                  <a:lnTo>
                    <a:pt x="444500" y="26416"/>
                  </a:lnTo>
                  <a:close/>
                </a:path>
                <a:path w="828039" h="89535">
                  <a:moveTo>
                    <a:pt x="533273" y="31750"/>
                  </a:moveTo>
                  <a:lnTo>
                    <a:pt x="532511" y="44323"/>
                  </a:lnTo>
                  <a:lnTo>
                    <a:pt x="583184" y="47371"/>
                  </a:lnTo>
                  <a:lnTo>
                    <a:pt x="583946" y="34671"/>
                  </a:lnTo>
                  <a:lnTo>
                    <a:pt x="533273" y="31750"/>
                  </a:lnTo>
                  <a:close/>
                </a:path>
                <a:path w="828039" h="89535">
                  <a:moveTo>
                    <a:pt x="621919" y="36957"/>
                  </a:moveTo>
                  <a:lnTo>
                    <a:pt x="621157" y="49657"/>
                  </a:lnTo>
                  <a:lnTo>
                    <a:pt x="671957" y="52705"/>
                  </a:lnTo>
                  <a:lnTo>
                    <a:pt x="672719" y="40005"/>
                  </a:lnTo>
                  <a:lnTo>
                    <a:pt x="621919" y="36957"/>
                  </a:lnTo>
                  <a:close/>
                </a:path>
                <a:path w="828039" h="89535">
                  <a:moveTo>
                    <a:pt x="753745" y="13081"/>
                  </a:moveTo>
                  <a:lnTo>
                    <a:pt x="751893" y="44769"/>
                  </a:lnTo>
                  <a:lnTo>
                    <a:pt x="761365" y="45339"/>
                  </a:lnTo>
                  <a:lnTo>
                    <a:pt x="760780" y="54991"/>
                  </a:lnTo>
                  <a:lnTo>
                    <a:pt x="760741" y="55626"/>
                  </a:lnTo>
                  <a:lnTo>
                    <a:pt x="760635" y="57367"/>
                  </a:lnTo>
                  <a:lnTo>
                    <a:pt x="760603" y="57912"/>
                  </a:lnTo>
                  <a:lnTo>
                    <a:pt x="751125" y="57912"/>
                  </a:lnTo>
                  <a:lnTo>
                    <a:pt x="749300" y="89154"/>
                  </a:lnTo>
                  <a:lnTo>
                    <a:pt x="822316" y="57912"/>
                  </a:lnTo>
                  <a:lnTo>
                    <a:pt x="760603" y="57912"/>
                  </a:lnTo>
                  <a:lnTo>
                    <a:pt x="751157" y="57367"/>
                  </a:lnTo>
                  <a:lnTo>
                    <a:pt x="823588" y="57367"/>
                  </a:lnTo>
                  <a:lnTo>
                    <a:pt x="827659" y="55626"/>
                  </a:lnTo>
                  <a:lnTo>
                    <a:pt x="753745" y="13081"/>
                  </a:lnTo>
                  <a:close/>
                </a:path>
                <a:path w="828039" h="89535">
                  <a:moveTo>
                    <a:pt x="751893" y="44769"/>
                  </a:moveTo>
                  <a:lnTo>
                    <a:pt x="751296" y="54991"/>
                  </a:lnTo>
                  <a:lnTo>
                    <a:pt x="751259" y="55626"/>
                  </a:lnTo>
                  <a:lnTo>
                    <a:pt x="751157" y="57367"/>
                  </a:lnTo>
                  <a:lnTo>
                    <a:pt x="760603" y="57912"/>
                  </a:lnTo>
                  <a:lnTo>
                    <a:pt x="761365" y="45339"/>
                  </a:lnTo>
                  <a:lnTo>
                    <a:pt x="751893" y="44769"/>
                  </a:lnTo>
                  <a:close/>
                </a:path>
                <a:path w="828039" h="89535">
                  <a:moveTo>
                    <a:pt x="710692" y="42291"/>
                  </a:moveTo>
                  <a:lnTo>
                    <a:pt x="709930" y="54991"/>
                  </a:lnTo>
                  <a:lnTo>
                    <a:pt x="751157" y="57367"/>
                  </a:lnTo>
                  <a:lnTo>
                    <a:pt x="751860" y="45339"/>
                  </a:lnTo>
                  <a:lnTo>
                    <a:pt x="751893" y="44769"/>
                  </a:lnTo>
                  <a:lnTo>
                    <a:pt x="710692" y="42291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283463" y="5577840"/>
              <a:ext cx="1976755" cy="292735"/>
            </a:xfrm>
            <a:custGeom>
              <a:avLst/>
              <a:gdLst/>
              <a:ahLst/>
              <a:cxnLst/>
              <a:rect l="l" t="t" r="r" b="b"/>
              <a:pathLst>
                <a:path w="1976755" h="292735">
                  <a:moveTo>
                    <a:pt x="1927860" y="0"/>
                  </a:moveTo>
                  <a:lnTo>
                    <a:pt x="48768" y="0"/>
                  </a:lnTo>
                  <a:lnTo>
                    <a:pt x="29784" y="3832"/>
                  </a:lnTo>
                  <a:lnTo>
                    <a:pt x="14282" y="14282"/>
                  </a:lnTo>
                  <a:lnTo>
                    <a:pt x="3832" y="29784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23"/>
                  </a:lnTo>
                  <a:lnTo>
                    <a:pt x="14282" y="278325"/>
                  </a:lnTo>
                  <a:lnTo>
                    <a:pt x="29784" y="288775"/>
                  </a:lnTo>
                  <a:lnTo>
                    <a:pt x="48768" y="292608"/>
                  </a:lnTo>
                  <a:lnTo>
                    <a:pt x="1927860" y="292608"/>
                  </a:lnTo>
                  <a:lnTo>
                    <a:pt x="1946838" y="288775"/>
                  </a:lnTo>
                  <a:lnTo>
                    <a:pt x="1962340" y="278325"/>
                  </a:lnTo>
                  <a:lnTo>
                    <a:pt x="1972794" y="262823"/>
                  </a:lnTo>
                  <a:lnTo>
                    <a:pt x="1976627" y="243840"/>
                  </a:lnTo>
                  <a:lnTo>
                    <a:pt x="1976627" y="48768"/>
                  </a:lnTo>
                  <a:lnTo>
                    <a:pt x="1972794" y="29784"/>
                  </a:lnTo>
                  <a:lnTo>
                    <a:pt x="1962340" y="14282"/>
                  </a:lnTo>
                  <a:lnTo>
                    <a:pt x="1946838" y="3832"/>
                  </a:lnTo>
                  <a:lnTo>
                    <a:pt x="1927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283463" y="5577840"/>
              <a:ext cx="1976755" cy="292735"/>
            </a:xfrm>
            <a:custGeom>
              <a:avLst/>
              <a:gdLst/>
              <a:ahLst/>
              <a:cxnLst/>
              <a:rect l="l" t="t" r="r" b="b"/>
              <a:pathLst>
                <a:path w="1976755" h="292735">
                  <a:moveTo>
                    <a:pt x="0" y="48768"/>
                  </a:moveTo>
                  <a:lnTo>
                    <a:pt x="3832" y="29784"/>
                  </a:lnTo>
                  <a:lnTo>
                    <a:pt x="14282" y="14282"/>
                  </a:lnTo>
                  <a:lnTo>
                    <a:pt x="29784" y="3832"/>
                  </a:lnTo>
                  <a:lnTo>
                    <a:pt x="48768" y="0"/>
                  </a:lnTo>
                  <a:lnTo>
                    <a:pt x="1927860" y="0"/>
                  </a:lnTo>
                  <a:lnTo>
                    <a:pt x="1946838" y="3832"/>
                  </a:lnTo>
                  <a:lnTo>
                    <a:pt x="1962340" y="14282"/>
                  </a:lnTo>
                  <a:lnTo>
                    <a:pt x="1972794" y="29784"/>
                  </a:lnTo>
                  <a:lnTo>
                    <a:pt x="1976627" y="48768"/>
                  </a:lnTo>
                  <a:lnTo>
                    <a:pt x="1976627" y="243840"/>
                  </a:lnTo>
                  <a:lnTo>
                    <a:pt x="1972794" y="262823"/>
                  </a:lnTo>
                  <a:lnTo>
                    <a:pt x="1962340" y="278325"/>
                  </a:lnTo>
                  <a:lnTo>
                    <a:pt x="1946838" y="288775"/>
                  </a:lnTo>
                  <a:lnTo>
                    <a:pt x="1927860" y="292608"/>
                  </a:lnTo>
                  <a:lnTo>
                    <a:pt x="48768" y="292608"/>
                  </a:lnTo>
                  <a:lnTo>
                    <a:pt x="29784" y="288775"/>
                  </a:lnTo>
                  <a:lnTo>
                    <a:pt x="14282" y="278325"/>
                  </a:lnTo>
                  <a:lnTo>
                    <a:pt x="3832" y="262823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2700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>
            <a:off x="291730" y="5578855"/>
            <a:ext cx="19602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7640">
              <a:lnSpc>
                <a:spcPct val="100000"/>
              </a:lnSpc>
              <a:spcBef>
                <a:spcPts val="95"/>
              </a:spcBef>
            </a:pPr>
            <a:r>
              <a:rPr dirty="0" sz="1600" spc="90">
                <a:latin typeface="STIX Two Math"/>
                <a:cs typeface="STIX Two Math"/>
              </a:rPr>
              <a:t>0</a:t>
            </a:r>
            <a:r>
              <a:rPr dirty="0" sz="1600" spc="6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&lt;</a:t>
            </a:r>
            <a:r>
              <a:rPr dirty="0" sz="1600" spc="7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𝑥</a:t>
            </a:r>
            <a:r>
              <a:rPr dirty="0" sz="1600" spc="11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&lt;</a:t>
            </a:r>
            <a:r>
              <a:rPr dirty="0" sz="1600" spc="65">
                <a:latin typeface="STIX Two Math"/>
                <a:cs typeface="STIX Two Math"/>
              </a:rPr>
              <a:t> </a:t>
            </a:r>
            <a:r>
              <a:rPr dirty="0" sz="1600" spc="90">
                <a:latin typeface="STIX Two Math"/>
                <a:cs typeface="STIX Two Math"/>
              </a:rPr>
              <a:t>1</a:t>
            </a:r>
            <a:r>
              <a:rPr dirty="0" sz="1600" spc="-2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∧</a:t>
            </a:r>
            <a:r>
              <a:rPr dirty="0" sz="1600" spc="-10">
                <a:latin typeface="STIX Two Math"/>
                <a:cs typeface="STIX Two Math"/>
              </a:rPr>
              <a:t> </a:t>
            </a:r>
            <a:r>
              <a:rPr dirty="0" sz="1600" spc="70">
                <a:latin typeface="STIX Two Math"/>
                <a:cs typeface="STIX Two Math"/>
              </a:rPr>
              <a:t>𝑦</a:t>
            </a:r>
            <a:r>
              <a:rPr dirty="0" sz="1600" spc="10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=</a:t>
            </a:r>
            <a:r>
              <a:rPr dirty="0" sz="1600" spc="75">
                <a:latin typeface="STIX Two Math"/>
                <a:cs typeface="STIX Two Math"/>
              </a:rPr>
              <a:t> </a:t>
            </a:r>
            <a:r>
              <a:rPr dirty="0" sz="1600" spc="-50">
                <a:latin typeface="STIX Two Math"/>
                <a:cs typeface="STIX Two Math"/>
              </a:rPr>
              <a:t>𝑥</a:t>
            </a:r>
            <a:endParaRPr sz="1600">
              <a:latin typeface="STIX Two Math"/>
              <a:cs typeface="STIX Two Math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2258948" y="5504179"/>
            <a:ext cx="6156960" cy="607695"/>
            <a:chOff x="2258948" y="5504179"/>
            <a:chExt cx="6156960" cy="607695"/>
          </a:xfrm>
        </p:grpSpPr>
        <p:sp>
          <p:nvSpPr>
            <p:cNvPr id="90" name="object 90"/>
            <p:cNvSpPr/>
            <p:nvPr/>
          </p:nvSpPr>
          <p:spPr>
            <a:xfrm>
              <a:off x="2258948" y="5504179"/>
              <a:ext cx="1043305" cy="226060"/>
            </a:xfrm>
            <a:custGeom>
              <a:avLst/>
              <a:gdLst/>
              <a:ahLst/>
              <a:cxnLst/>
              <a:rect l="l" t="t" r="r" b="b"/>
              <a:pathLst>
                <a:path w="1043304" h="226060">
                  <a:moveTo>
                    <a:pt x="49911" y="203682"/>
                  </a:moveTo>
                  <a:lnTo>
                    <a:pt x="0" y="213080"/>
                  </a:lnTo>
                  <a:lnTo>
                    <a:pt x="2286" y="225552"/>
                  </a:lnTo>
                  <a:lnTo>
                    <a:pt x="52197" y="216166"/>
                  </a:lnTo>
                  <a:lnTo>
                    <a:pt x="49911" y="203682"/>
                  </a:lnTo>
                  <a:close/>
                </a:path>
                <a:path w="1043304" h="226060">
                  <a:moveTo>
                    <a:pt x="137287" y="187261"/>
                  </a:moveTo>
                  <a:lnTo>
                    <a:pt x="87376" y="196646"/>
                  </a:lnTo>
                  <a:lnTo>
                    <a:pt x="89662" y="209130"/>
                  </a:lnTo>
                  <a:lnTo>
                    <a:pt x="139573" y="199745"/>
                  </a:lnTo>
                  <a:lnTo>
                    <a:pt x="137287" y="187261"/>
                  </a:lnTo>
                  <a:close/>
                </a:path>
                <a:path w="1043304" h="226060">
                  <a:moveTo>
                    <a:pt x="224663" y="170827"/>
                  </a:moveTo>
                  <a:lnTo>
                    <a:pt x="174752" y="180225"/>
                  </a:lnTo>
                  <a:lnTo>
                    <a:pt x="177038" y="192697"/>
                  </a:lnTo>
                  <a:lnTo>
                    <a:pt x="226949" y="183311"/>
                  </a:lnTo>
                  <a:lnTo>
                    <a:pt x="224663" y="170827"/>
                  </a:lnTo>
                  <a:close/>
                </a:path>
                <a:path w="1043304" h="226060">
                  <a:moveTo>
                    <a:pt x="312039" y="154406"/>
                  </a:moveTo>
                  <a:lnTo>
                    <a:pt x="262128" y="163791"/>
                  </a:lnTo>
                  <a:lnTo>
                    <a:pt x="264414" y="176276"/>
                  </a:lnTo>
                  <a:lnTo>
                    <a:pt x="314325" y="166890"/>
                  </a:lnTo>
                  <a:lnTo>
                    <a:pt x="312039" y="154406"/>
                  </a:lnTo>
                  <a:close/>
                </a:path>
                <a:path w="1043304" h="226060">
                  <a:moveTo>
                    <a:pt x="399415" y="137985"/>
                  </a:moveTo>
                  <a:lnTo>
                    <a:pt x="349504" y="147370"/>
                  </a:lnTo>
                  <a:lnTo>
                    <a:pt x="351790" y="159842"/>
                  </a:lnTo>
                  <a:lnTo>
                    <a:pt x="401701" y="150456"/>
                  </a:lnTo>
                  <a:lnTo>
                    <a:pt x="399415" y="137985"/>
                  </a:lnTo>
                  <a:close/>
                </a:path>
                <a:path w="1043304" h="226060">
                  <a:moveTo>
                    <a:pt x="486791" y="121551"/>
                  </a:moveTo>
                  <a:lnTo>
                    <a:pt x="436753" y="130937"/>
                  </a:lnTo>
                  <a:lnTo>
                    <a:pt x="439166" y="143421"/>
                  </a:lnTo>
                  <a:lnTo>
                    <a:pt x="489077" y="134035"/>
                  </a:lnTo>
                  <a:lnTo>
                    <a:pt x="486791" y="121551"/>
                  </a:lnTo>
                  <a:close/>
                </a:path>
                <a:path w="1043304" h="226060">
                  <a:moveTo>
                    <a:pt x="574167" y="105130"/>
                  </a:moveTo>
                  <a:lnTo>
                    <a:pt x="524129" y="114515"/>
                  </a:lnTo>
                  <a:lnTo>
                    <a:pt x="526542" y="127000"/>
                  </a:lnTo>
                  <a:lnTo>
                    <a:pt x="576453" y="117602"/>
                  </a:lnTo>
                  <a:lnTo>
                    <a:pt x="574167" y="105130"/>
                  </a:lnTo>
                  <a:close/>
                </a:path>
                <a:path w="1043304" h="226060">
                  <a:moveTo>
                    <a:pt x="661416" y="88696"/>
                  </a:moveTo>
                  <a:lnTo>
                    <a:pt x="611505" y="98082"/>
                  </a:lnTo>
                  <a:lnTo>
                    <a:pt x="613918" y="110566"/>
                  </a:lnTo>
                  <a:lnTo>
                    <a:pt x="663829" y="101180"/>
                  </a:lnTo>
                  <a:lnTo>
                    <a:pt x="661416" y="88696"/>
                  </a:lnTo>
                  <a:close/>
                </a:path>
                <a:path w="1043304" h="226060">
                  <a:moveTo>
                    <a:pt x="748792" y="72263"/>
                  </a:moveTo>
                  <a:lnTo>
                    <a:pt x="698881" y="81661"/>
                  </a:lnTo>
                  <a:lnTo>
                    <a:pt x="701294" y="94145"/>
                  </a:lnTo>
                  <a:lnTo>
                    <a:pt x="751205" y="84759"/>
                  </a:lnTo>
                  <a:lnTo>
                    <a:pt x="748792" y="72263"/>
                  </a:lnTo>
                  <a:close/>
                </a:path>
                <a:path w="1043304" h="226060">
                  <a:moveTo>
                    <a:pt x="836168" y="55880"/>
                  </a:moveTo>
                  <a:lnTo>
                    <a:pt x="786257" y="65278"/>
                  </a:lnTo>
                  <a:lnTo>
                    <a:pt x="788670" y="77724"/>
                  </a:lnTo>
                  <a:lnTo>
                    <a:pt x="838581" y="68326"/>
                  </a:lnTo>
                  <a:lnTo>
                    <a:pt x="836168" y="55880"/>
                  </a:lnTo>
                  <a:close/>
                </a:path>
                <a:path w="1043304" h="226060">
                  <a:moveTo>
                    <a:pt x="923544" y="39370"/>
                  </a:moveTo>
                  <a:lnTo>
                    <a:pt x="873633" y="48768"/>
                  </a:lnTo>
                  <a:lnTo>
                    <a:pt x="876046" y="61341"/>
                  </a:lnTo>
                  <a:lnTo>
                    <a:pt x="925957" y="51943"/>
                  </a:lnTo>
                  <a:lnTo>
                    <a:pt x="923544" y="39370"/>
                  </a:lnTo>
                  <a:close/>
                </a:path>
                <a:path w="1043304" h="226060">
                  <a:moveTo>
                    <a:pt x="1036122" y="28829"/>
                  </a:moveTo>
                  <a:lnTo>
                    <a:pt x="979678" y="28829"/>
                  </a:lnTo>
                  <a:lnTo>
                    <a:pt x="982091" y="41402"/>
                  </a:lnTo>
                  <a:lnTo>
                    <a:pt x="969610" y="43694"/>
                  </a:lnTo>
                  <a:lnTo>
                    <a:pt x="975487" y="74930"/>
                  </a:lnTo>
                  <a:lnTo>
                    <a:pt x="1036122" y="28829"/>
                  </a:lnTo>
                  <a:close/>
                </a:path>
                <a:path w="1043304" h="226060">
                  <a:moveTo>
                    <a:pt x="967258" y="31194"/>
                  </a:moveTo>
                  <a:lnTo>
                    <a:pt x="961009" y="32385"/>
                  </a:lnTo>
                  <a:lnTo>
                    <a:pt x="963422" y="44831"/>
                  </a:lnTo>
                  <a:lnTo>
                    <a:pt x="969610" y="43694"/>
                  </a:lnTo>
                  <a:lnTo>
                    <a:pt x="967258" y="31194"/>
                  </a:lnTo>
                  <a:close/>
                </a:path>
                <a:path w="1043304" h="226060">
                  <a:moveTo>
                    <a:pt x="979678" y="28829"/>
                  </a:moveTo>
                  <a:lnTo>
                    <a:pt x="967258" y="31194"/>
                  </a:lnTo>
                  <a:lnTo>
                    <a:pt x="969610" y="43694"/>
                  </a:lnTo>
                  <a:lnTo>
                    <a:pt x="982091" y="41402"/>
                  </a:lnTo>
                  <a:lnTo>
                    <a:pt x="979678" y="28829"/>
                  </a:lnTo>
                  <a:close/>
                </a:path>
                <a:path w="1043304" h="226060">
                  <a:moveTo>
                    <a:pt x="961390" y="0"/>
                  </a:moveTo>
                  <a:lnTo>
                    <a:pt x="967258" y="31194"/>
                  </a:lnTo>
                  <a:lnTo>
                    <a:pt x="979678" y="28829"/>
                  </a:lnTo>
                  <a:lnTo>
                    <a:pt x="1036122" y="28829"/>
                  </a:lnTo>
                  <a:lnTo>
                    <a:pt x="1043305" y="23368"/>
                  </a:lnTo>
                  <a:lnTo>
                    <a:pt x="961390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6024371" y="5812535"/>
              <a:ext cx="2385060" cy="292735"/>
            </a:xfrm>
            <a:custGeom>
              <a:avLst/>
              <a:gdLst/>
              <a:ahLst/>
              <a:cxnLst/>
              <a:rect l="l" t="t" r="r" b="b"/>
              <a:pathLst>
                <a:path w="2385059" h="292735">
                  <a:moveTo>
                    <a:pt x="0" y="48767"/>
                  </a:moveTo>
                  <a:lnTo>
                    <a:pt x="3833" y="29784"/>
                  </a:lnTo>
                  <a:lnTo>
                    <a:pt x="14287" y="14282"/>
                  </a:lnTo>
                  <a:lnTo>
                    <a:pt x="29789" y="3832"/>
                  </a:lnTo>
                  <a:lnTo>
                    <a:pt x="48768" y="0"/>
                  </a:lnTo>
                  <a:lnTo>
                    <a:pt x="2336292" y="0"/>
                  </a:lnTo>
                  <a:lnTo>
                    <a:pt x="2355270" y="3832"/>
                  </a:lnTo>
                  <a:lnTo>
                    <a:pt x="2370772" y="14282"/>
                  </a:lnTo>
                  <a:lnTo>
                    <a:pt x="2381226" y="29784"/>
                  </a:lnTo>
                  <a:lnTo>
                    <a:pt x="2385060" y="48767"/>
                  </a:lnTo>
                  <a:lnTo>
                    <a:pt x="2385060" y="243839"/>
                  </a:lnTo>
                  <a:lnTo>
                    <a:pt x="2381226" y="262823"/>
                  </a:lnTo>
                  <a:lnTo>
                    <a:pt x="2370772" y="278325"/>
                  </a:lnTo>
                  <a:lnTo>
                    <a:pt x="2355270" y="288775"/>
                  </a:lnTo>
                  <a:lnTo>
                    <a:pt x="2336292" y="292607"/>
                  </a:lnTo>
                  <a:lnTo>
                    <a:pt x="48768" y="292607"/>
                  </a:lnTo>
                  <a:lnTo>
                    <a:pt x="29789" y="288775"/>
                  </a:lnTo>
                  <a:lnTo>
                    <a:pt x="14287" y="278325"/>
                  </a:lnTo>
                  <a:lnTo>
                    <a:pt x="3833" y="262823"/>
                  </a:lnTo>
                  <a:lnTo>
                    <a:pt x="0" y="243839"/>
                  </a:lnTo>
                  <a:lnTo>
                    <a:pt x="0" y="48767"/>
                  </a:lnTo>
                  <a:close/>
                </a:path>
              </a:pathLst>
            </a:custGeom>
            <a:ln w="1270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 txBox="1"/>
          <p:nvPr/>
        </p:nvSpPr>
        <p:spPr>
          <a:xfrm>
            <a:off x="6032638" y="5813247"/>
            <a:ext cx="23685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95"/>
              </a:spcBef>
            </a:pPr>
            <a:r>
              <a:rPr dirty="0" sz="1600" spc="90">
                <a:latin typeface="STIX Two Math"/>
                <a:cs typeface="STIX Two Math"/>
              </a:rPr>
              <a:t>0</a:t>
            </a:r>
            <a:r>
              <a:rPr dirty="0" sz="1600" spc="7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&lt;</a:t>
            </a:r>
            <a:r>
              <a:rPr dirty="0" sz="1600" spc="7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𝑥</a:t>
            </a:r>
            <a:r>
              <a:rPr dirty="0" sz="1600" spc="12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&lt;</a:t>
            </a:r>
            <a:r>
              <a:rPr dirty="0" sz="1600" spc="70">
                <a:latin typeface="STIX Two Math"/>
                <a:cs typeface="STIX Two Math"/>
              </a:rPr>
              <a:t> </a:t>
            </a:r>
            <a:r>
              <a:rPr dirty="0" sz="1600" spc="90">
                <a:latin typeface="STIX Two Math"/>
                <a:cs typeface="STIX Two Math"/>
              </a:rPr>
              <a:t>1</a:t>
            </a:r>
            <a:r>
              <a:rPr dirty="0" sz="1600" spc="-1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∧</a:t>
            </a:r>
            <a:r>
              <a:rPr dirty="0" sz="1600" spc="-5">
                <a:latin typeface="STIX Two Math"/>
                <a:cs typeface="STIX Two Math"/>
              </a:rPr>
              <a:t> </a:t>
            </a:r>
            <a:r>
              <a:rPr dirty="0" sz="1600" spc="90">
                <a:latin typeface="STIX Two Math"/>
                <a:cs typeface="STIX Two Math"/>
              </a:rPr>
              <a:t>0</a:t>
            </a:r>
            <a:r>
              <a:rPr dirty="0" sz="1600" spc="7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&lt;</a:t>
            </a:r>
            <a:r>
              <a:rPr dirty="0" sz="1600" spc="75">
                <a:latin typeface="STIX Two Math"/>
                <a:cs typeface="STIX Two Math"/>
              </a:rPr>
              <a:t> </a:t>
            </a:r>
            <a:r>
              <a:rPr dirty="0" sz="1600" spc="70">
                <a:latin typeface="STIX Two Math"/>
                <a:cs typeface="STIX Two Math"/>
              </a:rPr>
              <a:t>𝑦</a:t>
            </a:r>
            <a:r>
              <a:rPr dirty="0" sz="1600" spc="9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&lt;</a:t>
            </a:r>
            <a:r>
              <a:rPr dirty="0" sz="1600" spc="70">
                <a:latin typeface="STIX Two Math"/>
                <a:cs typeface="STIX Two Math"/>
              </a:rPr>
              <a:t> </a:t>
            </a:r>
            <a:r>
              <a:rPr dirty="0" sz="1600" spc="-50">
                <a:latin typeface="STIX Two Math"/>
                <a:cs typeface="STIX Two Math"/>
              </a:rPr>
              <a:t>𝑥</a:t>
            </a:r>
            <a:endParaRPr sz="1600">
              <a:latin typeface="STIX Two Math"/>
              <a:cs typeface="STIX Two Math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3521964" y="5259070"/>
            <a:ext cx="5010150" cy="705485"/>
            <a:chOff x="3521964" y="5259070"/>
            <a:chExt cx="5010150" cy="705485"/>
          </a:xfrm>
        </p:grpSpPr>
        <p:sp>
          <p:nvSpPr>
            <p:cNvPr id="94" name="object 94"/>
            <p:cNvSpPr/>
            <p:nvPr/>
          </p:nvSpPr>
          <p:spPr>
            <a:xfrm>
              <a:off x="3521964" y="5499989"/>
              <a:ext cx="2503170" cy="464820"/>
            </a:xfrm>
            <a:custGeom>
              <a:avLst/>
              <a:gdLst/>
              <a:ahLst/>
              <a:cxnLst/>
              <a:rect l="l" t="t" r="r" b="b"/>
              <a:pathLst>
                <a:path w="2503170" h="464820">
                  <a:moveTo>
                    <a:pt x="2453132" y="443382"/>
                  </a:moveTo>
                  <a:lnTo>
                    <a:pt x="2450973" y="455891"/>
                  </a:lnTo>
                  <a:lnTo>
                    <a:pt x="2501011" y="464566"/>
                  </a:lnTo>
                  <a:lnTo>
                    <a:pt x="2503170" y="452056"/>
                  </a:lnTo>
                  <a:lnTo>
                    <a:pt x="2453132" y="443382"/>
                  </a:lnTo>
                  <a:close/>
                </a:path>
                <a:path w="2503170" h="464820">
                  <a:moveTo>
                    <a:pt x="2365502" y="428193"/>
                  </a:moveTo>
                  <a:lnTo>
                    <a:pt x="2363343" y="440702"/>
                  </a:lnTo>
                  <a:lnTo>
                    <a:pt x="2413381" y="449389"/>
                  </a:lnTo>
                  <a:lnTo>
                    <a:pt x="2415540" y="436867"/>
                  </a:lnTo>
                  <a:lnTo>
                    <a:pt x="2365502" y="428193"/>
                  </a:lnTo>
                  <a:close/>
                </a:path>
                <a:path w="2503170" h="464820">
                  <a:moveTo>
                    <a:pt x="2277872" y="413004"/>
                  </a:moveTo>
                  <a:lnTo>
                    <a:pt x="2275713" y="425526"/>
                  </a:lnTo>
                  <a:lnTo>
                    <a:pt x="2325751" y="434200"/>
                  </a:lnTo>
                  <a:lnTo>
                    <a:pt x="2327910" y="421690"/>
                  </a:lnTo>
                  <a:lnTo>
                    <a:pt x="2277872" y="413004"/>
                  </a:lnTo>
                  <a:close/>
                </a:path>
                <a:path w="2503170" h="464820">
                  <a:moveTo>
                    <a:pt x="2190369" y="397814"/>
                  </a:moveTo>
                  <a:lnTo>
                    <a:pt x="2188210" y="410337"/>
                  </a:lnTo>
                  <a:lnTo>
                    <a:pt x="2238248" y="419011"/>
                  </a:lnTo>
                  <a:lnTo>
                    <a:pt x="2240407" y="406501"/>
                  </a:lnTo>
                  <a:lnTo>
                    <a:pt x="2190369" y="397814"/>
                  </a:lnTo>
                  <a:close/>
                </a:path>
                <a:path w="2503170" h="464820">
                  <a:moveTo>
                    <a:pt x="2102739" y="382638"/>
                  </a:moveTo>
                  <a:lnTo>
                    <a:pt x="2100580" y="395147"/>
                  </a:lnTo>
                  <a:lnTo>
                    <a:pt x="2150618" y="403821"/>
                  </a:lnTo>
                  <a:lnTo>
                    <a:pt x="2152777" y="391312"/>
                  </a:lnTo>
                  <a:lnTo>
                    <a:pt x="2102739" y="382638"/>
                  </a:lnTo>
                  <a:close/>
                </a:path>
                <a:path w="2503170" h="464820">
                  <a:moveTo>
                    <a:pt x="2015109" y="367449"/>
                  </a:moveTo>
                  <a:lnTo>
                    <a:pt x="2012950" y="379958"/>
                  </a:lnTo>
                  <a:lnTo>
                    <a:pt x="2062988" y="388632"/>
                  </a:lnTo>
                  <a:lnTo>
                    <a:pt x="2065147" y="376123"/>
                  </a:lnTo>
                  <a:lnTo>
                    <a:pt x="2015109" y="367449"/>
                  </a:lnTo>
                  <a:close/>
                </a:path>
                <a:path w="2503170" h="464820">
                  <a:moveTo>
                    <a:pt x="1927606" y="352259"/>
                  </a:moveTo>
                  <a:lnTo>
                    <a:pt x="1925320" y="364769"/>
                  </a:lnTo>
                  <a:lnTo>
                    <a:pt x="1975485" y="373456"/>
                  </a:lnTo>
                  <a:lnTo>
                    <a:pt x="1977644" y="360934"/>
                  </a:lnTo>
                  <a:lnTo>
                    <a:pt x="1927606" y="352259"/>
                  </a:lnTo>
                  <a:close/>
                </a:path>
                <a:path w="2503170" h="464820">
                  <a:moveTo>
                    <a:pt x="1839976" y="337070"/>
                  </a:moveTo>
                  <a:lnTo>
                    <a:pt x="1837817" y="349580"/>
                  </a:lnTo>
                  <a:lnTo>
                    <a:pt x="1887855" y="358267"/>
                  </a:lnTo>
                  <a:lnTo>
                    <a:pt x="1890014" y="345744"/>
                  </a:lnTo>
                  <a:lnTo>
                    <a:pt x="1839976" y="337070"/>
                  </a:lnTo>
                  <a:close/>
                </a:path>
                <a:path w="2503170" h="464820">
                  <a:moveTo>
                    <a:pt x="1752346" y="321881"/>
                  </a:moveTo>
                  <a:lnTo>
                    <a:pt x="1750187" y="334403"/>
                  </a:lnTo>
                  <a:lnTo>
                    <a:pt x="1800225" y="343077"/>
                  </a:lnTo>
                  <a:lnTo>
                    <a:pt x="1802384" y="330568"/>
                  </a:lnTo>
                  <a:lnTo>
                    <a:pt x="1752346" y="321881"/>
                  </a:lnTo>
                  <a:close/>
                </a:path>
                <a:path w="2503170" h="464820">
                  <a:moveTo>
                    <a:pt x="1664716" y="306705"/>
                  </a:moveTo>
                  <a:lnTo>
                    <a:pt x="1662557" y="319214"/>
                  </a:lnTo>
                  <a:lnTo>
                    <a:pt x="1712595" y="327888"/>
                  </a:lnTo>
                  <a:lnTo>
                    <a:pt x="1714881" y="315379"/>
                  </a:lnTo>
                  <a:lnTo>
                    <a:pt x="1664716" y="306705"/>
                  </a:lnTo>
                  <a:close/>
                </a:path>
                <a:path w="2503170" h="464820">
                  <a:moveTo>
                    <a:pt x="1577213" y="291515"/>
                  </a:moveTo>
                  <a:lnTo>
                    <a:pt x="1575054" y="304025"/>
                  </a:lnTo>
                  <a:lnTo>
                    <a:pt x="1625092" y="312699"/>
                  </a:lnTo>
                  <a:lnTo>
                    <a:pt x="1627251" y="300189"/>
                  </a:lnTo>
                  <a:lnTo>
                    <a:pt x="1577213" y="291515"/>
                  </a:lnTo>
                  <a:close/>
                </a:path>
                <a:path w="2503170" h="464820">
                  <a:moveTo>
                    <a:pt x="1489583" y="276326"/>
                  </a:moveTo>
                  <a:lnTo>
                    <a:pt x="1487424" y="288836"/>
                  </a:lnTo>
                  <a:lnTo>
                    <a:pt x="1537462" y="297522"/>
                  </a:lnTo>
                  <a:lnTo>
                    <a:pt x="1539621" y="285000"/>
                  </a:lnTo>
                  <a:lnTo>
                    <a:pt x="1489583" y="276326"/>
                  </a:lnTo>
                  <a:close/>
                </a:path>
                <a:path w="2503170" h="464820">
                  <a:moveTo>
                    <a:pt x="1401953" y="261137"/>
                  </a:moveTo>
                  <a:lnTo>
                    <a:pt x="1399794" y="273646"/>
                  </a:lnTo>
                  <a:lnTo>
                    <a:pt x="1449832" y="282333"/>
                  </a:lnTo>
                  <a:lnTo>
                    <a:pt x="1451991" y="269811"/>
                  </a:lnTo>
                  <a:lnTo>
                    <a:pt x="1401953" y="261137"/>
                  </a:lnTo>
                  <a:close/>
                </a:path>
                <a:path w="2503170" h="464820">
                  <a:moveTo>
                    <a:pt x="1314450" y="245948"/>
                  </a:moveTo>
                  <a:lnTo>
                    <a:pt x="1312164" y="258470"/>
                  </a:lnTo>
                  <a:lnTo>
                    <a:pt x="1362329" y="267144"/>
                  </a:lnTo>
                  <a:lnTo>
                    <a:pt x="1364488" y="254635"/>
                  </a:lnTo>
                  <a:lnTo>
                    <a:pt x="1314450" y="245948"/>
                  </a:lnTo>
                  <a:close/>
                </a:path>
                <a:path w="2503170" h="464820">
                  <a:moveTo>
                    <a:pt x="1226820" y="230771"/>
                  </a:moveTo>
                  <a:lnTo>
                    <a:pt x="1224661" y="243281"/>
                  </a:lnTo>
                  <a:lnTo>
                    <a:pt x="1274699" y="251955"/>
                  </a:lnTo>
                  <a:lnTo>
                    <a:pt x="1276858" y="239445"/>
                  </a:lnTo>
                  <a:lnTo>
                    <a:pt x="1226820" y="230771"/>
                  </a:lnTo>
                  <a:close/>
                </a:path>
                <a:path w="2503170" h="464820">
                  <a:moveTo>
                    <a:pt x="1139190" y="215582"/>
                  </a:moveTo>
                  <a:lnTo>
                    <a:pt x="1137031" y="228092"/>
                  </a:lnTo>
                  <a:lnTo>
                    <a:pt x="1187069" y="236766"/>
                  </a:lnTo>
                  <a:lnTo>
                    <a:pt x="1189228" y="224256"/>
                  </a:lnTo>
                  <a:lnTo>
                    <a:pt x="1139190" y="215582"/>
                  </a:lnTo>
                  <a:close/>
                </a:path>
                <a:path w="2503170" h="464820">
                  <a:moveTo>
                    <a:pt x="1051560" y="200393"/>
                  </a:moveTo>
                  <a:lnTo>
                    <a:pt x="1049401" y="212902"/>
                  </a:lnTo>
                  <a:lnTo>
                    <a:pt x="1099439" y="221589"/>
                  </a:lnTo>
                  <a:lnTo>
                    <a:pt x="1101725" y="209067"/>
                  </a:lnTo>
                  <a:lnTo>
                    <a:pt x="1051560" y="200393"/>
                  </a:lnTo>
                  <a:close/>
                </a:path>
                <a:path w="2503170" h="464820">
                  <a:moveTo>
                    <a:pt x="964057" y="185204"/>
                  </a:moveTo>
                  <a:lnTo>
                    <a:pt x="961898" y="197713"/>
                  </a:lnTo>
                  <a:lnTo>
                    <a:pt x="1011936" y="206400"/>
                  </a:lnTo>
                  <a:lnTo>
                    <a:pt x="1014095" y="193878"/>
                  </a:lnTo>
                  <a:lnTo>
                    <a:pt x="964057" y="185204"/>
                  </a:lnTo>
                  <a:close/>
                </a:path>
                <a:path w="2503170" h="464820">
                  <a:moveTo>
                    <a:pt x="876427" y="170014"/>
                  </a:moveTo>
                  <a:lnTo>
                    <a:pt x="874268" y="182537"/>
                  </a:lnTo>
                  <a:lnTo>
                    <a:pt x="924306" y="191211"/>
                  </a:lnTo>
                  <a:lnTo>
                    <a:pt x="926465" y="178701"/>
                  </a:lnTo>
                  <a:lnTo>
                    <a:pt x="876427" y="170014"/>
                  </a:lnTo>
                  <a:close/>
                </a:path>
                <a:path w="2503170" h="464820">
                  <a:moveTo>
                    <a:pt x="788797" y="154825"/>
                  </a:moveTo>
                  <a:lnTo>
                    <a:pt x="786638" y="167347"/>
                  </a:lnTo>
                  <a:lnTo>
                    <a:pt x="836676" y="176022"/>
                  </a:lnTo>
                  <a:lnTo>
                    <a:pt x="838835" y="163512"/>
                  </a:lnTo>
                  <a:lnTo>
                    <a:pt x="788797" y="154825"/>
                  </a:lnTo>
                  <a:close/>
                </a:path>
                <a:path w="2503170" h="464820">
                  <a:moveTo>
                    <a:pt x="701294" y="139649"/>
                  </a:moveTo>
                  <a:lnTo>
                    <a:pt x="699135" y="152158"/>
                  </a:lnTo>
                  <a:lnTo>
                    <a:pt x="749173" y="160832"/>
                  </a:lnTo>
                  <a:lnTo>
                    <a:pt x="751332" y="148323"/>
                  </a:lnTo>
                  <a:lnTo>
                    <a:pt x="701294" y="139649"/>
                  </a:lnTo>
                  <a:close/>
                </a:path>
                <a:path w="2503170" h="464820">
                  <a:moveTo>
                    <a:pt x="613663" y="124460"/>
                  </a:moveTo>
                  <a:lnTo>
                    <a:pt x="611505" y="136969"/>
                  </a:lnTo>
                  <a:lnTo>
                    <a:pt x="661543" y="145643"/>
                  </a:lnTo>
                  <a:lnTo>
                    <a:pt x="663702" y="133134"/>
                  </a:lnTo>
                  <a:lnTo>
                    <a:pt x="613663" y="124460"/>
                  </a:lnTo>
                  <a:close/>
                </a:path>
                <a:path w="2503170" h="464820">
                  <a:moveTo>
                    <a:pt x="526034" y="109270"/>
                  </a:moveTo>
                  <a:lnTo>
                    <a:pt x="523875" y="121780"/>
                  </a:lnTo>
                  <a:lnTo>
                    <a:pt x="573913" y="130467"/>
                  </a:lnTo>
                  <a:lnTo>
                    <a:pt x="576072" y="117944"/>
                  </a:lnTo>
                  <a:lnTo>
                    <a:pt x="526034" y="109270"/>
                  </a:lnTo>
                  <a:close/>
                </a:path>
                <a:path w="2503170" h="464820">
                  <a:moveTo>
                    <a:pt x="438404" y="94081"/>
                  </a:moveTo>
                  <a:lnTo>
                    <a:pt x="436244" y="106603"/>
                  </a:lnTo>
                  <a:lnTo>
                    <a:pt x="486283" y="115277"/>
                  </a:lnTo>
                  <a:lnTo>
                    <a:pt x="488569" y="102768"/>
                  </a:lnTo>
                  <a:lnTo>
                    <a:pt x="438404" y="94081"/>
                  </a:lnTo>
                  <a:close/>
                </a:path>
                <a:path w="2503170" h="464820">
                  <a:moveTo>
                    <a:pt x="350900" y="78867"/>
                  </a:moveTo>
                  <a:lnTo>
                    <a:pt x="348742" y="91414"/>
                  </a:lnTo>
                  <a:lnTo>
                    <a:pt x="398780" y="100088"/>
                  </a:lnTo>
                  <a:lnTo>
                    <a:pt x="400938" y="87630"/>
                  </a:lnTo>
                  <a:lnTo>
                    <a:pt x="350900" y="78867"/>
                  </a:lnTo>
                  <a:close/>
                </a:path>
                <a:path w="2503170" h="464820">
                  <a:moveTo>
                    <a:pt x="263271" y="63754"/>
                  </a:moveTo>
                  <a:lnTo>
                    <a:pt x="261112" y="76200"/>
                  </a:lnTo>
                  <a:lnTo>
                    <a:pt x="311150" y="84963"/>
                  </a:lnTo>
                  <a:lnTo>
                    <a:pt x="313309" y="72390"/>
                  </a:lnTo>
                  <a:lnTo>
                    <a:pt x="263271" y="63754"/>
                  </a:lnTo>
                  <a:close/>
                </a:path>
                <a:path w="2503170" h="464820">
                  <a:moveTo>
                    <a:pt x="175641" y="48514"/>
                  </a:moveTo>
                  <a:lnTo>
                    <a:pt x="173481" y="61087"/>
                  </a:lnTo>
                  <a:lnTo>
                    <a:pt x="223519" y="69723"/>
                  </a:lnTo>
                  <a:lnTo>
                    <a:pt x="225679" y="57150"/>
                  </a:lnTo>
                  <a:lnTo>
                    <a:pt x="175641" y="48514"/>
                  </a:lnTo>
                  <a:close/>
                </a:path>
                <a:path w="2503170" h="464820">
                  <a:moveTo>
                    <a:pt x="88137" y="33401"/>
                  </a:moveTo>
                  <a:lnTo>
                    <a:pt x="85979" y="45847"/>
                  </a:lnTo>
                  <a:lnTo>
                    <a:pt x="136017" y="54483"/>
                  </a:lnTo>
                  <a:lnTo>
                    <a:pt x="138175" y="42037"/>
                  </a:lnTo>
                  <a:lnTo>
                    <a:pt x="88137" y="33401"/>
                  </a:lnTo>
                  <a:close/>
                </a:path>
                <a:path w="2503170" h="464820">
                  <a:moveTo>
                    <a:pt x="81534" y="0"/>
                  </a:moveTo>
                  <a:lnTo>
                    <a:pt x="0" y="24511"/>
                  </a:lnTo>
                  <a:lnTo>
                    <a:pt x="68580" y="75057"/>
                  </a:lnTo>
                  <a:lnTo>
                    <a:pt x="81534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6140196" y="5265420"/>
              <a:ext cx="2385060" cy="292735"/>
            </a:xfrm>
            <a:custGeom>
              <a:avLst/>
              <a:gdLst/>
              <a:ahLst/>
              <a:cxnLst/>
              <a:rect l="l" t="t" r="r" b="b"/>
              <a:pathLst>
                <a:path w="2385059" h="292735">
                  <a:moveTo>
                    <a:pt x="0" y="48767"/>
                  </a:moveTo>
                  <a:lnTo>
                    <a:pt x="3833" y="29789"/>
                  </a:lnTo>
                  <a:lnTo>
                    <a:pt x="14287" y="14287"/>
                  </a:lnTo>
                  <a:lnTo>
                    <a:pt x="29789" y="3833"/>
                  </a:lnTo>
                  <a:lnTo>
                    <a:pt x="48768" y="0"/>
                  </a:lnTo>
                  <a:lnTo>
                    <a:pt x="2336292" y="0"/>
                  </a:lnTo>
                  <a:lnTo>
                    <a:pt x="2355270" y="3833"/>
                  </a:lnTo>
                  <a:lnTo>
                    <a:pt x="2370772" y="14287"/>
                  </a:lnTo>
                  <a:lnTo>
                    <a:pt x="2381226" y="29789"/>
                  </a:lnTo>
                  <a:lnTo>
                    <a:pt x="2385060" y="48767"/>
                  </a:lnTo>
                  <a:lnTo>
                    <a:pt x="2385060" y="243839"/>
                  </a:lnTo>
                  <a:lnTo>
                    <a:pt x="2381226" y="262818"/>
                  </a:lnTo>
                  <a:lnTo>
                    <a:pt x="2370772" y="278320"/>
                  </a:lnTo>
                  <a:lnTo>
                    <a:pt x="2355270" y="288774"/>
                  </a:lnTo>
                  <a:lnTo>
                    <a:pt x="2336292" y="292607"/>
                  </a:lnTo>
                  <a:lnTo>
                    <a:pt x="48768" y="292607"/>
                  </a:lnTo>
                  <a:lnTo>
                    <a:pt x="29789" y="288774"/>
                  </a:lnTo>
                  <a:lnTo>
                    <a:pt x="14287" y="278320"/>
                  </a:lnTo>
                  <a:lnTo>
                    <a:pt x="3833" y="262818"/>
                  </a:lnTo>
                  <a:lnTo>
                    <a:pt x="0" y="243839"/>
                  </a:lnTo>
                  <a:lnTo>
                    <a:pt x="0" y="48767"/>
                  </a:lnTo>
                  <a:close/>
                </a:path>
              </a:pathLst>
            </a:custGeom>
            <a:ln w="1270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6148463" y="5266131"/>
            <a:ext cx="23685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0">
              <a:lnSpc>
                <a:spcPct val="100000"/>
              </a:lnSpc>
              <a:spcBef>
                <a:spcPts val="95"/>
              </a:spcBef>
            </a:pPr>
            <a:r>
              <a:rPr dirty="0" sz="1600" spc="90">
                <a:latin typeface="STIX Two Math"/>
                <a:cs typeface="STIX Two Math"/>
              </a:rPr>
              <a:t>0</a:t>
            </a:r>
            <a:r>
              <a:rPr dirty="0" sz="1600" spc="7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&lt;</a:t>
            </a:r>
            <a:r>
              <a:rPr dirty="0" sz="1600" spc="7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𝑥</a:t>
            </a:r>
            <a:r>
              <a:rPr dirty="0" sz="1600" spc="114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&lt;</a:t>
            </a:r>
            <a:r>
              <a:rPr dirty="0" sz="1600" spc="75">
                <a:latin typeface="STIX Two Math"/>
                <a:cs typeface="STIX Two Math"/>
              </a:rPr>
              <a:t> </a:t>
            </a:r>
            <a:r>
              <a:rPr dirty="0" sz="1600" spc="90">
                <a:latin typeface="STIX Two Math"/>
                <a:cs typeface="STIX Two Math"/>
              </a:rPr>
              <a:t>1</a:t>
            </a:r>
            <a:r>
              <a:rPr dirty="0" sz="1600" spc="-1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∧</a:t>
            </a:r>
            <a:r>
              <a:rPr dirty="0" sz="1600" spc="-1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𝑥</a:t>
            </a:r>
            <a:r>
              <a:rPr dirty="0" sz="1600" spc="11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&lt;</a:t>
            </a:r>
            <a:r>
              <a:rPr dirty="0" sz="1600" spc="85">
                <a:latin typeface="STIX Two Math"/>
                <a:cs typeface="STIX Two Math"/>
              </a:rPr>
              <a:t> </a:t>
            </a:r>
            <a:r>
              <a:rPr dirty="0" sz="1600" spc="80">
                <a:latin typeface="STIX Two Math"/>
                <a:cs typeface="STIX Two Math"/>
              </a:rPr>
              <a:t>𝑦</a:t>
            </a:r>
            <a:r>
              <a:rPr dirty="0" sz="1600" spc="9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&lt;</a:t>
            </a:r>
            <a:r>
              <a:rPr dirty="0" sz="1600" spc="75">
                <a:latin typeface="STIX Two Math"/>
                <a:cs typeface="STIX Two Math"/>
              </a:rPr>
              <a:t> </a:t>
            </a:r>
            <a:r>
              <a:rPr dirty="0" sz="1600" spc="40">
                <a:latin typeface="STIX Two Math"/>
                <a:cs typeface="STIX Two Math"/>
              </a:rPr>
              <a:t>1</a:t>
            </a:r>
            <a:endParaRPr sz="1600">
              <a:latin typeface="STIX Two Math"/>
              <a:cs typeface="STIX Two Math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3282696" y="4652517"/>
            <a:ext cx="5490210" cy="765810"/>
            <a:chOff x="3282696" y="4652517"/>
            <a:chExt cx="5490210" cy="765810"/>
          </a:xfrm>
        </p:grpSpPr>
        <p:sp>
          <p:nvSpPr>
            <p:cNvPr id="98" name="object 98"/>
            <p:cNvSpPr/>
            <p:nvPr/>
          </p:nvSpPr>
          <p:spPr>
            <a:xfrm>
              <a:off x="3282696" y="5290565"/>
              <a:ext cx="2859405" cy="128270"/>
            </a:xfrm>
            <a:custGeom>
              <a:avLst/>
              <a:gdLst/>
              <a:ahLst/>
              <a:cxnLst/>
              <a:rect l="l" t="t" r="r" b="b"/>
              <a:pathLst>
                <a:path w="2859404" h="128270">
                  <a:moveTo>
                    <a:pt x="2808223" y="113538"/>
                  </a:moveTo>
                  <a:lnTo>
                    <a:pt x="2807842" y="126238"/>
                  </a:lnTo>
                  <a:lnTo>
                    <a:pt x="2858642" y="127762"/>
                  </a:lnTo>
                  <a:lnTo>
                    <a:pt x="2859023" y="115062"/>
                  </a:lnTo>
                  <a:lnTo>
                    <a:pt x="2808223" y="113538"/>
                  </a:lnTo>
                  <a:close/>
                </a:path>
                <a:path w="2859404" h="128270">
                  <a:moveTo>
                    <a:pt x="2719323" y="110871"/>
                  </a:moveTo>
                  <a:lnTo>
                    <a:pt x="2718942" y="123571"/>
                  </a:lnTo>
                  <a:lnTo>
                    <a:pt x="2769742" y="125095"/>
                  </a:lnTo>
                  <a:lnTo>
                    <a:pt x="2770123" y="112395"/>
                  </a:lnTo>
                  <a:lnTo>
                    <a:pt x="2719323" y="110871"/>
                  </a:lnTo>
                  <a:close/>
                </a:path>
                <a:path w="2859404" h="128270">
                  <a:moveTo>
                    <a:pt x="2630550" y="108204"/>
                  </a:moveTo>
                  <a:lnTo>
                    <a:pt x="2630169" y="120904"/>
                  </a:lnTo>
                  <a:lnTo>
                    <a:pt x="2680969" y="122428"/>
                  </a:lnTo>
                  <a:lnTo>
                    <a:pt x="2681350" y="109728"/>
                  </a:lnTo>
                  <a:lnTo>
                    <a:pt x="2630550" y="108204"/>
                  </a:lnTo>
                  <a:close/>
                </a:path>
                <a:path w="2859404" h="128270">
                  <a:moveTo>
                    <a:pt x="2541650" y="105537"/>
                  </a:moveTo>
                  <a:lnTo>
                    <a:pt x="2541269" y="118237"/>
                  </a:lnTo>
                  <a:lnTo>
                    <a:pt x="2592069" y="119761"/>
                  </a:lnTo>
                  <a:lnTo>
                    <a:pt x="2592450" y="107061"/>
                  </a:lnTo>
                  <a:lnTo>
                    <a:pt x="2541650" y="105537"/>
                  </a:lnTo>
                  <a:close/>
                </a:path>
                <a:path w="2859404" h="128270">
                  <a:moveTo>
                    <a:pt x="2452750" y="102870"/>
                  </a:moveTo>
                  <a:lnTo>
                    <a:pt x="2452369" y="115570"/>
                  </a:lnTo>
                  <a:lnTo>
                    <a:pt x="2503169" y="117094"/>
                  </a:lnTo>
                  <a:lnTo>
                    <a:pt x="2503550" y="104394"/>
                  </a:lnTo>
                  <a:lnTo>
                    <a:pt x="2452750" y="102870"/>
                  </a:lnTo>
                  <a:close/>
                </a:path>
                <a:path w="2859404" h="128270">
                  <a:moveTo>
                    <a:pt x="2363978" y="100203"/>
                  </a:moveTo>
                  <a:lnTo>
                    <a:pt x="2363597" y="112903"/>
                  </a:lnTo>
                  <a:lnTo>
                    <a:pt x="2414269" y="114427"/>
                  </a:lnTo>
                  <a:lnTo>
                    <a:pt x="2414650" y="101727"/>
                  </a:lnTo>
                  <a:lnTo>
                    <a:pt x="2363978" y="100203"/>
                  </a:lnTo>
                  <a:close/>
                </a:path>
                <a:path w="2859404" h="128270">
                  <a:moveTo>
                    <a:pt x="2275078" y="97536"/>
                  </a:moveTo>
                  <a:lnTo>
                    <a:pt x="2274697" y="110236"/>
                  </a:lnTo>
                  <a:lnTo>
                    <a:pt x="2325497" y="111760"/>
                  </a:lnTo>
                  <a:lnTo>
                    <a:pt x="2325878" y="99060"/>
                  </a:lnTo>
                  <a:lnTo>
                    <a:pt x="2275078" y="97536"/>
                  </a:lnTo>
                  <a:close/>
                </a:path>
                <a:path w="2859404" h="128270">
                  <a:moveTo>
                    <a:pt x="2186178" y="94869"/>
                  </a:moveTo>
                  <a:lnTo>
                    <a:pt x="2185797" y="107569"/>
                  </a:lnTo>
                  <a:lnTo>
                    <a:pt x="2236597" y="109093"/>
                  </a:lnTo>
                  <a:lnTo>
                    <a:pt x="2236978" y="96393"/>
                  </a:lnTo>
                  <a:lnTo>
                    <a:pt x="2186178" y="94869"/>
                  </a:lnTo>
                  <a:close/>
                </a:path>
                <a:path w="2859404" h="128270">
                  <a:moveTo>
                    <a:pt x="2097404" y="92202"/>
                  </a:moveTo>
                  <a:lnTo>
                    <a:pt x="2097023" y="104902"/>
                  </a:lnTo>
                  <a:lnTo>
                    <a:pt x="2147697" y="106426"/>
                  </a:lnTo>
                  <a:lnTo>
                    <a:pt x="2148078" y="93726"/>
                  </a:lnTo>
                  <a:lnTo>
                    <a:pt x="2097404" y="92202"/>
                  </a:lnTo>
                  <a:close/>
                </a:path>
                <a:path w="2859404" h="128270">
                  <a:moveTo>
                    <a:pt x="2008504" y="89662"/>
                  </a:moveTo>
                  <a:lnTo>
                    <a:pt x="2008123" y="102235"/>
                  </a:lnTo>
                  <a:lnTo>
                    <a:pt x="2058923" y="103759"/>
                  </a:lnTo>
                  <a:lnTo>
                    <a:pt x="2059304" y="91186"/>
                  </a:lnTo>
                  <a:lnTo>
                    <a:pt x="2008504" y="89662"/>
                  </a:lnTo>
                  <a:close/>
                </a:path>
                <a:path w="2859404" h="128270">
                  <a:moveTo>
                    <a:pt x="1919604" y="86995"/>
                  </a:moveTo>
                  <a:lnTo>
                    <a:pt x="1919223" y="99695"/>
                  </a:lnTo>
                  <a:lnTo>
                    <a:pt x="1970023" y="101219"/>
                  </a:lnTo>
                  <a:lnTo>
                    <a:pt x="1970404" y="88519"/>
                  </a:lnTo>
                  <a:lnTo>
                    <a:pt x="1919604" y="86995"/>
                  </a:lnTo>
                  <a:close/>
                </a:path>
                <a:path w="2859404" h="128270">
                  <a:moveTo>
                    <a:pt x="1830831" y="84328"/>
                  </a:moveTo>
                  <a:lnTo>
                    <a:pt x="1830451" y="97028"/>
                  </a:lnTo>
                  <a:lnTo>
                    <a:pt x="1881123" y="98552"/>
                  </a:lnTo>
                  <a:lnTo>
                    <a:pt x="1881504" y="85852"/>
                  </a:lnTo>
                  <a:lnTo>
                    <a:pt x="1830831" y="84328"/>
                  </a:lnTo>
                  <a:close/>
                </a:path>
                <a:path w="2859404" h="128270">
                  <a:moveTo>
                    <a:pt x="1741931" y="81661"/>
                  </a:moveTo>
                  <a:lnTo>
                    <a:pt x="1741551" y="94361"/>
                  </a:lnTo>
                  <a:lnTo>
                    <a:pt x="1792351" y="95885"/>
                  </a:lnTo>
                  <a:lnTo>
                    <a:pt x="1792731" y="83185"/>
                  </a:lnTo>
                  <a:lnTo>
                    <a:pt x="1741931" y="81661"/>
                  </a:lnTo>
                  <a:close/>
                </a:path>
                <a:path w="2859404" h="128270">
                  <a:moveTo>
                    <a:pt x="1653031" y="78994"/>
                  </a:moveTo>
                  <a:lnTo>
                    <a:pt x="1652651" y="91694"/>
                  </a:lnTo>
                  <a:lnTo>
                    <a:pt x="1703451" y="93218"/>
                  </a:lnTo>
                  <a:lnTo>
                    <a:pt x="1703831" y="80518"/>
                  </a:lnTo>
                  <a:lnTo>
                    <a:pt x="1653031" y="78994"/>
                  </a:lnTo>
                  <a:close/>
                </a:path>
                <a:path w="2859404" h="128270">
                  <a:moveTo>
                    <a:pt x="1564131" y="76327"/>
                  </a:moveTo>
                  <a:lnTo>
                    <a:pt x="1563750" y="89027"/>
                  </a:lnTo>
                  <a:lnTo>
                    <a:pt x="1614550" y="90551"/>
                  </a:lnTo>
                  <a:lnTo>
                    <a:pt x="1614931" y="77851"/>
                  </a:lnTo>
                  <a:lnTo>
                    <a:pt x="1564131" y="76327"/>
                  </a:lnTo>
                  <a:close/>
                </a:path>
                <a:path w="2859404" h="128270">
                  <a:moveTo>
                    <a:pt x="1475358" y="73660"/>
                  </a:moveTo>
                  <a:lnTo>
                    <a:pt x="1474977" y="86360"/>
                  </a:lnTo>
                  <a:lnTo>
                    <a:pt x="1525777" y="87884"/>
                  </a:lnTo>
                  <a:lnTo>
                    <a:pt x="1526158" y="75184"/>
                  </a:lnTo>
                  <a:lnTo>
                    <a:pt x="1475358" y="73660"/>
                  </a:lnTo>
                  <a:close/>
                </a:path>
                <a:path w="2859404" h="128270">
                  <a:moveTo>
                    <a:pt x="1386458" y="70993"/>
                  </a:moveTo>
                  <a:lnTo>
                    <a:pt x="1386077" y="83693"/>
                  </a:lnTo>
                  <a:lnTo>
                    <a:pt x="1436877" y="85217"/>
                  </a:lnTo>
                  <a:lnTo>
                    <a:pt x="1437258" y="72517"/>
                  </a:lnTo>
                  <a:lnTo>
                    <a:pt x="1386458" y="70993"/>
                  </a:lnTo>
                  <a:close/>
                </a:path>
                <a:path w="2859404" h="128270">
                  <a:moveTo>
                    <a:pt x="1297558" y="68326"/>
                  </a:moveTo>
                  <a:lnTo>
                    <a:pt x="1297177" y="81026"/>
                  </a:lnTo>
                  <a:lnTo>
                    <a:pt x="1347977" y="82550"/>
                  </a:lnTo>
                  <a:lnTo>
                    <a:pt x="1348358" y="69850"/>
                  </a:lnTo>
                  <a:lnTo>
                    <a:pt x="1297558" y="68326"/>
                  </a:lnTo>
                  <a:close/>
                </a:path>
                <a:path w="2859404" h="128270">
                  <a:moveTo>
                    <a:pt x="1208785" y="65659"/>
                  </a:moveTo>
                  <a:lnTo>
                    <a:pt x="1208404" y="78359"/>
                  </a:lnTo>
                  <a:lnTo>
                    <a:pt x="1259204" y="79883"/>
                  </a:lnTo>
                  <a:lnTo>
                    <a:pt x="1259585" y="67183"/>
                  </a:lnTo>
                  <a:lnTo>
                    <a:pt x="1208785" y="65659"/>
                  </a:lnTo>
                  <a:close/>
                </a:path>
                <a:path w="2859404" h="128270">
                  <a:moveTo>
                    <a:pt x="1119885" y="62992"/>
                  </a:moveTo>
                  <a:lnTo>
                    <a:pt x="1119504" y="75692"/>
                  </a:lnTo>
                  <a:lnTo>
                    <a:pt x="1170304" y="77216"/>
                  </a:lnTo>
                  <a:lnTo>
                    <a:pt x="1170685" y="64516"/>
                  </a:lnTo>
                  <a:lnTo>
                    <a:pt x="1119885" y="62992"/>
                  </a:lnTo>
                  <a:close/>
                </a:path>
                <a:path w="2859404" h="128270">
                  <a:moveTo>
                    <a:pt x="1030985" y="60325"/>
                  </a:moveTo>
                  <a:lnTo>
                    <a:pt x="1030604" y="73025"/>
                  </a:lnTo>
                  <a:lnTo>
                    <a:pt x="1081404" y="74549"/>
                  </a:lnTo>
                  <a:lnTo>
                    <a:pt x="1081785" y="61849"/>
                  </a:lnTo>
                  <a:lnTo>
                    <a:pt x="1030985" y="60325"/>
                  </a:lnTo>
                  <a:close/>
                </a:path>
                <a:path w="2859404" h="128270">
                  <a:moveTo>
                    <a:pt x="942212" y="57658"/>
                  </a:moveTo>
                  <a:lnTo>
                    <a:pt x="941831" y="70358"/>
                  </a:lnTo>
                  <a:lnTo>
                    <a:pt x="992504" y="71882"/>
                  </a:lnTo>
                  <a:lnTo>
                    <a:pt x="992885" y="59182"/>
                  </a:lnTo>
                  <a:lnTo>
                    <a:pt x="942212" y="57658"/>
                  </a:lnTo>
                  <a:close/>
                </a:path>
                <a:path w="2859404" h="128270">
                  <a:moveTo>
                    <a:pt x="853312" y="54991"/>
                  </a:moveTo>
                  <a:lnTo>
                    <a:pt x="852931" y="67691"/>
                  </a:lnTo>
                  <a:lnTo>
                    <a:pt x="903731" y="69215"/>
                  </a:lnTo>
                  <a:lnTo>
                    <a:pt x="904112" y="56515"/>
                  </a:lnTo>
                  <a:lnTo>
                    <a:pt x="853312" y="54991"/>
                  </a:lnTo>
                  <a:close/>
                </a:path>
                <a:path w="2859404" h="128270">
                  <a:moveTo>
                    <a:pt x="764412" y="52324"/>
                  </a:moveTo>
                  <a:lnTo>
                    <a:pt x="764031" y="65024"/>
                  </a:lnTo>
                  <a:lnTo>
                    <a:pt x="814831" y="66548"/>
                  </a:lnTo>
                  <a:lnTo>
                    <a:pt x="815212" y="53848"/>
                  </a:lnTo>
                  <a:lnTo>
                    <a:pt x="764412" y="52324"/>
                  </a:lnTo>
                  <a:close/>
                </a:path>
                <a:path w="2859404" h="128270">
                  <a:moveTo>
                    <a:pt x="675639" y="49657"/>
                  </a:moveTo>
                  <a:lnTo>
                    <a:pt x="675258" y="62357"/>
                  </a:lnTo>
                  <a:lnTo>
                    <a:pt x="725931" y="63881"/>
                  </a:lnTo>
                  <a:lnTo>
                    <a:pt x="726312" y="51181"/>
                  </a:lnTo>
                  <a:lnTo>
                    <a:pt x="675639" y="49657"/>
                  </a:lnTo>
                  <a:close/>
                </a:path>
                <a:path w="2859404" h="128270">
                  <a:moveTo>
                    <a:pt x="586739" y="46990"/>
                  </a:moveTo>
                  <a:lnTo>
                    <a:pt x="586358" y="59690"/>
                  </a:lnTo>
                  <a:lnTo>
                    <a:pt x="637158" y="61214"/>
                  </a:lnTo>
                  <a:lnTo>
                    <a:pt x="637539" y="48514"/>
                  </a:lnTo>
                  <a:lnTo>
                    <a:pt x="586739" y="46990"/>
                  </a:lnTo>
                  <a:close/>
                </a:path>
                <a:path w="2859404" h="128270">
                  <a:moveTo>
                    <a:pt x="497839" y="44323"/>
                  </a:moveTo>
                  <a:lnTo>
                    <a:pt x="497458" y="57023"/>
                  </a:lnTo>
                  <a:lnTo>
                    <a:pt x="548258" y="58547"/>
                  </a:lnTo>
                  <a:lnTo>
                    <a:pt x="548639" y="45847"/>
                  </a:lnTo>
                  <a:lnTo>
                    <a:pt x="497839" y="44323"/>
                  </a:lnTo>
                  <a:close/>
                </a:path>
                <a:path w="2859404" h="128270">
                  <a:moveTo>
                    <a:pt x="409066" y="41656"/>
                  </a:moveTo>
                  <a:lnTo>
                    <a:pt x="408685" y="54356"/>
                  </a:lnTo>
                  <a:lnTo>
                    <a:pt x="459358" y="55880"/>
                  </a:lnTo>
                  <a:lnTo>
                    <a:pt x="459739" y="43180"/>
                  </a:lnTo>
                  <a:lnTo>
                    <a:pt x="409066" y="41656"/>
                  </a:lnTo>
                  <a:close/>
                </a:path>
                <a:path w="2859404" h="128270">
                  <a:moveTo>
                    <a:pt x="320166" y="38989"/>
                  </a:moveTo>
                  <a:lnTo>
                    <a:pt x="319785" y="51689"/>
                  </a:lnTo>
                  <a:lnTo>
                    <a:pt x="370585" y="53213"/>
                  </a:lnTo>
                  <a:lnTo>
                    <a:pt x="370966" y="40513"/>
                  </a:lnTo>
                  <a:lnTo>
                    <a:pt x="320166" y="38989"/>
                  </a:lnTo>
                  <a:close/>
                </a:path>
                <a:path w="2859404" h="128270">
                  <a:moveTo>
                    <a:pt x="231266" y="36322"/>
                  </a:moveTo>
                  <a:lnTo>
                    <a:pt x="230885" y="49022"/>
                  </a:lnTo>
                  <a:lnTo>
                    <a:pt x="281685" y="50546"/>
                  </a:lnTo>
                  <a:lnTo>
                    <a:pt x="282066" y="37846"/>
                  </a:lnTo>
                  <a:lnTo>
                    <a:pt x="231266" y="36322"/>
                  </a:lnTo>
                  <a:close/>
                </a:path>
                <a:path w="2859404" h="128270">
                  <a:moveTo>
                    <a:pt x="142366" y="33782"/>
                  </a:moveTo>
                  <a:lnTo>
                    <a:pt x="141985" y="46482"/>
                  </a:lnTo>
                  <a:lnTo>
                    <a:pt x="192785" y="47879"/>
                  </a:lnTo>
                  <a:lnTo>
                    <a:pt x="193166" y="35306"/>
                  </a:lnTo>
                  <a:lnTo>
                    <a:pt x="142366" y="33782"/>
                  </a:lnTo>
                  <a:close/>
                </a:path>
                <a:path w="2859404" h="128270">
                  <a:moveTo>
                    <a:pt x="77342" y="0"/>
                  </a:moveTo>
                  <a:lnTo>
                    <a:pt x="0" y="35814"/>
                  </a:lnTo>
                  <a:lnTo>
                    <a:pt x="75056" y="76200"/>
                  </a:lnTo>
                  <a:lnTo>
                    <a:pt x="75982" y="45339"/>
                  </a:lnTo>
                  <a:lnTo>
                    <a:pt x="76009" y="44466"/>
                  </a:lnTo>
                  <a:lnTo>
                    <a:pt x="63245" y="44069"/>
                  </a:lnTo>
                  <a:lnTo>
                    <a:pt x="63493" y="35814"/>
                  </a:lnTo>
                  <a:lnTo>
                    <a:pt x="63615" y="31766"/>
                  </a:lnTo>
                  <a:lnTo>
                    <a:pt x="63626" y="31369"/>
                  </a:lnTo>
                  <a:lnTo>
                    <a:pt x="76401" y="31369"/>
                  </a:lnTo>
                  <a:lnTo>
                    <a:pt x="77342" y="0"/>
                  </a:lnTo>
                  <a:close/>
                </a:path>
                <a:path w="2859404" h="128270">
                  <a:moveTo>
                    <a:pt x="76390" y="31766"/>
                  </a:moveTo>
                  <a:lnTo>
                    <a:pt x="76020" y="44069"/>
                  </a:lnTo>
                  <a:lnTo>
                    <a:pt x="76009" y="44466"/>
                  </a:lnTo>
                  <a:lnTo>
                    <a:pt x="104012" y="45339"/>
                  </a:lnTo>
                  <a:lnTo>
                    <a:pt x="104298" y="35814"/>
                  </a:lnTo>
                  <a:lnTo>
                    <a:pt x="104393" y="32639"/>
                  </a:lnTo>
                  <a:lnTo>
                    <a:pt x="76390" y="31766"/>
                  </a:lnTo>
                  <a:close/>
                </a:path>
                <a:path w="2859404" h="128270">
                  <a:moveTo>
                    <a:pt x="63626" y="31369"/>
                  </a:moveTo>
                  <a:lnTo>
                    <a:pt x="63245" y="44069"/>
                  </a:lnTo>
                  <a:lnTo>
                    <a:pt x="76009" y="44466"/>
                  </a:lnTo>
                  <a:lnTo>
                    <a:pt x="76268" y="35814"/>
                  </a:lnTo>
                  <a:lnTo>
                    <a:pt x="76390" y="31766"/>
                  </a:lnTo>
                  <a:lnTo>
                    <a:pt x="63626" y="31369"/>
                  </a:lnTo>
                  <a:close/>
                </a:path>
                <a:path w="2859404" h="128270">
                  <a:moveTo>
                    <a:pt x="76401" y="31369"/>
                  </a:moveTo>
                  <a:lnTo>
                    <a:pt x="63626" y="31369"/>
                  </a:lnTo>
                  <a:lnTo>
                    <a:pt x="76390" y="31766"/>
                  </a:lnTo>
                  <a:lnTo>
                    <a:pt x="76401" y="31369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6115812" y="4658867"/>
              <a:ext cx="2650490" cy="291465"/>
            </a:xfrm>
            <a:custGeom>
              <a:avLst/>
              <a:gdLst/>
              <a:ahLst/>
              <a:cxnLst/>
              <a:rect l="l" t="t" r="r" b="b"/>
              <a:pathLst>
                <a:path w="2650490" h="291464">
                  <a:moveTo>
                    <a:pt x="0" y="48513"/>
                  </a:moveTo>
                  <a:lnTo>
                    <a:pt x="3811" y="29628"/>
                  </a:lnTo>
                  <a:lnTo>
                    <a:pt x="14208" y="14208"/>
                  </a:lnTo>
                  <a:lnTo>
                    <a:pt x="29628" y="3811"/>
                  </a:lnTo>
                  <a:lnTo>
                    <a:pt x="48514" y="0"/>
                  </a:lnTo>
                  <a:lnTo>
                    <a:pt x="2601722" y="0"/>
                  </a:lnTo>
                  <a:lnTo>
                    <a:pt x="2620607" y="3811"/>
                  </a:lnTo>
                  <a:lnTo>
                    <a:pt x="2636027" y="14208"/>
                  </a:lnTo>
                  <a:lnTo>
                    <a:pt x="2646424" y="29628"/>
                  </a:lnTo>
                  <a:lnTo>
                    <a:pt x="2650236" y="48513"/>
                  </a:lnTo>
                  <a:lnTo>
                    <a:pt x="2650236" y="242569"/>
                  </a:lnTo>
                  <a:lnTo>
                    <a:pt x="2646424" y="261455"/>
                  </a:lnTo>
                  <a:lnTo>
                    <a:pt x="2636027" y="276875"/>
                  </a:lnTo>
                  <a:lnTo>
                    <a:pt x="2620607" y="287272"/>
                  </a:lnTo>
                  <a:lnTo>
                    <a:pt x="2601722" y="291083"/>
                  </a:lnTo>
                  <a:lnTo>
                    <a:pt x="48514" y="291083"/>
                  </a:lnTo>
                  <a:lnTo>
                    <a:pt x="29628" y="287272"/>
                  </a:lnTo>
                  <a:lnTo>
                    <a:pt x="14208" y="276875"/>
                  </a:lnTo>
                  <a:lnTo>
                    <a:pt x="3811" y="261455"/>
                  </a:lnTo>
                  <a:lnTo>
                    <a:pt x="0" y="242569"/>
                  </a:lnTo>
                  <a:lnTo>
                    <a:pt x="0" y="48513"/>
                  </a:lnTo>
                  <a:close/>
                </a:path>
              </a:pathLst>
            </a:custGeom>
            <a:ln w="1270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/>
          <p:cNvSpPr txBox="1"/>
          <p:nvPr/>
        </p:nvSpPr>
        <p:spPr>
          <a:xfrm>
            <a:off x="6124068" y="4658309"/>
            <a:ext cx="26339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95"/>
              </a:spcBef>
            </a:pPr>
            <a:r>
              <a:rPr dirty="0" sz="1600" spc="90">
                <a:latin typeface="STIX Two Math"/>
                <a:cs typeface="STIX Two Math"/>
              </a:rPr>
              <a:t>0</a:t>
            </a:r>
            <a:r>
              <a:rPr dirty="0" sz="1600" spc="7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&lt;</a:t>
            </a:r>
            <a:r>
              <a:rPr dirty="0" sz="1600" spc="7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𝑥</a:t>
            </a:r>
            <a:r>
              <a:rPr dirty="0" sz="1600" spc="12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&lt;</a:t>
            </a:r>
            <a:r>
              <a:rPr dirty="0" sz="1600" spc="75">
                <a:latin typeface="STIX Two Math"/>
                <a:cs typeface="STIX Two Math"/>
              </a:rPr>
              <a:t> </a:t>
            </a:r>
            <a:r>
              <a:rPr dirty="0" sz="1600" spc="90">
                <a:latin typeface="STIX Two Math"/>
                <a:cs typeface="STIX Two Math"/>
              </a:rPr>
              <a:t>1</a:t>
            </a:r>
            <a:r>
              <a:rPr dirty="0" sz="1600" spc="-2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∧</a:t>
            </a:r>
            <a:r>
              <a:rPr dirty="0" sz="1600" spc="-10">
                <a:latin typeface="STIX Two Math"/>
                <a:cs typeface="STIX Two Math"/>
              </a:rPr>
              <a:t> </a:t>
            </a:r>
            <a:r>
              <a:rPr dirty="0" sz="1600" spc="90">
                <a:latin typeface="STIX Two Math"/>
                <a:cs typeface="STIX Two Math"/>
              </a:rPr>
              <a:t>1</a:t>
            </a:r>
            <a:r>
              <a:rPr dirty="0" sz="1600" spc="7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&lt;</a:t>
            </a:r>
            <a:r>
              <a:rPr dirty="0" sz="1600" spc="75">
                <a:latin typeface="STIX Two Math"/>
                <a:cs typeface="STIX Two Math"/>
              </a:rPr>
              <a:t> </a:t>
            </a:r>
            <a:r>
              <a:rPr dirty="0" sz="1600" spc="80">
                <a:latin typeface="STIX Two Math"/>
                <a:cs typeface="STIX Two Math"/>
              </a:rPr>
              <a:t>𝑦</a:t>
            </a:r>
            <a:r>
              <a:rPr dirty="0" sz="1600" spc="100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&lt;</a:t>
            </a:r>
            <a:r>
              <a:rPr dirty="0" sz="1600" spc="7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𝑥</a:t>
            </a:r>
            <a:r>
              <a:rPr dirty="0" sz="1600" spc="35">
                <a:latin typeface="STIX Two Math"/>
                <a:cs typeface="STIX Two Math"/>
              </a:rPr>
              <a:t> </a:t>
            </a:r>
            <a:r>
              <a:rPr dirty="0" sz="1600">
                <a:latin typeface="STIX Two Math"/>
                <a:cs typeface="STIX Two Math"/>
              </a:rPr>
              <a:t>+</a:t>
            </a:r>
            <a:r>
              <a:rPr dirty="0" sz="1600" spc="-25">
                <a:latin typeface="STIX Two Math"/>
                <a:cs typeface="STIX Two Math"/>
              </a:rPr>
              <a:t> </a:t>
            </a:r>
            <a:r>
              <a:rPr dirty="0" sz="1600" spc="40">
                <a:latin typeface="STIX Two Math"/>
                <a:cs typeface="STIX Two Math"/>
              </a:rPr>
              <a:t>1</a:t>
            </a:r>
            <a:endParaRPr sz="1600">
              <a:latin typeface="STIX Two Math"/>
              <a:cs typeface="STIX Two Math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3532632" y="4797297"/>
            <a:ext cx="2582545" cy="131445"/>
          </a:xfrm>
          <a:custGeom>
            <a:avLst/>
            <a:gdLst/>
            <a:ahLst/>
            <a:cxnLst/>
            <a:rect l="l" t="t" r="r" b="b"/>
            <a:pathLst>
              <a:path w="2582545" h="131445">
                <a:moveTo>
                  <a:pt x="2581910" y="0"/>
                </a:moveTo>
                <a:lnTo>
                  <a:pt x="2531110" y="1778"/>
                </a:lnTo>
                <a:lnTo>
                  <a:pt x="2531546" y="12700"/>
                </a:lnTo>
                <a:lnTo>
                  <a:pt x="2531618" y="14478"/>
                </a:lnTo>
                <a:lnTo>
                  <a:pt x="2582291" y="12700"/>
                </a:lnTo>
                <a:lnTo>
                  <a:pt x="2581963" y="1778"/>
                </a:lnTo>
                <a:lnTo>
                  <a:pt x="2581910" y="0"/>
                </a:lnTo>
                <a:close/>
              </a:path>
              <a:path w="2582545" h="131445">
                <a:moveTo>
                  <a:pt x="2493010" y="3048"/>
                </a:moveTo>
                <a:lnTo>
                  <a:pt x="2442337" y="4826"/>
                </a:lnTo>
                <a:lnTo>
                  <a:pt x="2442664" y="15748"/>
                </a:lnTo>
                <a:lnTo>
                  <a:pt x="2442718" y="17526"/>
                </a:lnTo>
                <a:lnTo>
                  <a:pt x="2493518" y="15748"/>
                </a:lnTo>
                <a:lnTo>
                  <a:pt x="2493081" y="4826"/>
                </a:lnTo>
                <a:lnTo>
                  <a:pt x="2493010" y="3048"/>
                </a:lnTo>
                <a:close/>
              </a:path>
              <a:path w="2582545" h="131445">
                <a:moveTo>
                  <a:pt x="2404237" y="6223"/>
                </a:moveTo>
                <a:lnTo>
                  <a:pt x="2353437" y="7874"/>
                </a:lnTo>
                <a:lnTo>
                  <a:pt x="2353873" y="18796"/>
                </a:lnTo>
                <a:lnTo>
                  <a:pt x="2353945" y="20574"/>
                </a:lnTo>
                <a:lnTo>
                  <a:pt x="2404618" y="18796"/>
                </a:lnTo>
                <a:lnTo>
                  <a:pt x="2404287" y="7874"/>
                </a:lnTo>
                <a:lnTo>
                  <a:pt x="2404237" y="6223"/>
                </a:lnTo>
                <a:close/>
              </a:path>
              <a:path w="2582545" h="131445">
                <a:moveTo>
                  <a:pt x="2315337" y="9271"/>
                </a:moveTo>
                <a:lnTo>
                  <a:pt x="2264537" y="11049"/>
                </a:lnTo>
                <a:lnTo>
                  <a:pt x="2264973" y="21971"/>
                </a:lnTo>
                <a:lnTo>
                  <a:pt x="2265045" y="23749"/>
                </a:lnTo>
                <a:lnTo>
                  <a:pt x="2315845" y="21971"/>
                </a:lnTo>
                <a:lnTo>
                  <a:pt x="2315408" y="11049"/>
                </a:lnTo>
                <a:lnTo>
                  <a:pt x="2315337" y="9271"/>
                </a:lnTo>
                <a:close/>
              </a:path>
              <a:path w="2582545" h="131445">
                <a:moveTo>
                  <a:pt x="2226564" y="12319"/>
                </a:moveTo>
                <a:lnTo>
                  <a:pt x="2175764" y="14097"/>
                </a:lnTo>
                <a:lnTo>
                  <a:pt x="2176091" y="25019"/>
                </a:lnTo>
                <a:lnTo>
                  <a:pt x="2176145" y="26797"/>
                </a:lnTo>
                <a:lnTo>
                  <a:pt x="2226945" y="25019"/>
                </a:lnTo>
                <a:lnTo>
                  <a:pt x="2226617" y="14097"/>
                </a:lnTo>
                <a:lnTo>
                  <a:pt x="2226564" y="12319"/>
                </a:lnTo>
                <a:close/>
              </a:path>
              <a:path w="2582545" h="131445">
                <a:moveTo>
                  <a:pt x="2137664" y="15367"/>
                </a:moveTo>
                <a:lnTo>
                  <a:pt x="2086864" y="17145"/>
                </a:lnTo>
                <a:lnTo>
                  <a:pt x="2087300" y="28067"/>
                </a:lnTo>
                <a:lnTo>
                  <a:pt x="2087372" y="29845"/>
                </a:lnTo>
                <a:lnTo>
                  <a:pt x="2138172" y="28067"/>
                </a:lnTo>
                <a:lnTo>
                  <a:pt x="2137735" y="17145"/>
                </a:lnTo>
                <a:lnTo>
                  <a:pt x="2137664" y="15367"/>
                </a:lnTo>
                <a:close/>
              </a:path>
              <a:path w="2582545" h="131445">
                <a:moveTo>
                  <a:pt x="2048764" y="18542"/>
                </a:moveTo>
                <a:lnTo>
                  <a:pt x="1998091" y="20193"/>
                </a:lnTo>
                <a:lnTo>
                  <a:pt x="1998422" y="31242"/>
                </a:lnTo>
                <a:lnTo>
                  <a:pt x="1998472" y="32893"/>
                </a:lnTo>
                <a:lnTo>
                  <a:pt x="2049272" y="31242"/>
                </a:lnTo>
                <a:lnTo>
                  <a:pt x="2048830" y="20193"/>
                </a:lnTo>
                <a:lnTo>
                  <a:pt x="2048764" y="18542"/>
                </a:lnTo>
                <a:close/>
              </a:path>
              <a:path w="2582545" h="131445">
                <a:moveTo>
                  <a:pt x="1959991" y="21590"/>
                </a:moveTo>
                <a:lnTo>
                  <a:pt x="1909191" y="23368"/>
                </a:lnTo>
                <a:lnTo>
                  <a:pt x="1909627" y="34290"/>
                </a:lnTo>
                <a:lnTo>
                  <a:pt x="1909699" y="36068"/>
                </a:lnTo>
                <a:lnTo>
                  <a:pt x="1960372" y="34290"/>
                </a:lnTo>
                <a:lnTo>
                  <a:pt x="1960044" y="23368"/>
                </a:lnTo>
                <a:lnTo>
                  <a:pt x="1959991" y="21590"/>
                </a:lnTo>
                <a:close/>
              </a:path>
              <a:path w="2582545" h="131445">
                <a:moveTo>
                  <a:pt x="1871091" y="24638"/>
                </a:moveTo>
                <a:lnTo>
                  <a:pt x="1820418" y="26416"/>
                </a:lnTo>
                <a:lnTo>
                  <a:pt x="1820745" y="37338"/>
                </a:lnTo>
                <a:lnTo>
                  <a:pt x="1820799" y="39116"/>
                </a:lnTo>
                <a:lnTo>
                  <a:pt x="1871599" y="37338"/>
                </a:lnTo>
                <a:lnTo>
                  <a:pt x="1871162" y="26416"/>
                </a:lnTo>
                <a:lnTo>
                  <a:pt x="1871091" y="24638"/>
                </a:lnTo>
                <a:close/>
              </a:path>
              <a:path w="2582545" h="131445">
                <a:moveTo>
                  <a:pt x="1782318" y="27686"/>
                </a:moveTo>
                <a:lnTo>
                  <a:pt x="1731518" y="29463"/>
                </a:lnTo>
                <a:lnTo>
                  <a:pt x="1731845" y="40386"/>
                </a:lnTo>
                <a:lnTo>
                  <a:pt x="1731899" y="42164"/>
                </a:lnTo>
                <a:lnTo>
                  <a:pt x="1782699" y="40386"/>
                </a:lnTo>
                <a:lnTo>
                  <a:pt x="1782371" y="29463"/>
                </a:lnTo>
                <a:lnTo>
                  <a:pt x="1782318" y="27686"/>
                </a:lnTo>
                <a:close/>
              </a:path>
              <a:path w="2582545" h="131445">
                <a:moveTo>
                  <a:pt x="1693418" y="30861"/>
                </a:moveTo>
                <a:lnTo>
                  <a:pt x="1642618" y="32512"/>
                </a:lnTo>
                <a:lnTo>
                  <a:pt x="1643059" y="43561"/>
                </a:lnTo>
                <a:lnTo>
                  <a:pt x="1643126" y="45212"/>
                </a:lnTo>
                <a:lnTo>
                  <a:pt x="1693926" y="43561"/>
                </a:lnTo>
                <a:lnTo>
                  <a:pt x="1693484" y="32512"/>
                </a:lnTo>
                <a:lnTo>
                  <a:pt x="1693418" y="30861"/>
                </a:lnTo>
                <a:close/>
              </a:path>
              <a:path w="2582545" h="131445">
                <a:moveTo>
                  <a:pt x="1604645" y="33909"/>
                </a:moveTo>
                <a:lnTo>
                  <a:pt x="1553845" y="35687"/>
                </a:lnTo>
                <a:lnTo>
                  <a:pt x="1554172" y="46609"/>
                </a:lnTo>
                <a:lnTo>
                  <a:pt x="1554226" y="48387"/>
                </a:lnTo>
                <a:lnTo>
                  <a:pt x="1605026" y="46609"/>
                </a:lnTo>
                <a:lnTo>
                  <a:pt x="1604698" y="35687"/>
                </a:lnTo>
                <a:lnTo>
                  <a:pt x="1604645" y="33909"/>
                </a:lnTo>
                <a:close/>
              </a:path>
              <a:path w="2582545" h="131445">
                <a:moveTo>
                  <a:pt x="1515745" y="36957"/>
                </a:moveTo>
                <a:lnTo>
                  <a:pt x="1464945" y="38735"/>
                </a:lnTo>
                <a:lnTo>
                  <a:pt x="1465381" y="49657"/>
                </a:lnTo>
                <a:lnTo>
                  <a:pt x="1465453" y="51435"/>
                </a:lnTo>
                <a:lnTo>
                  <a:pt x="1516126" y="49657"/>
                </a:lnTo>
                <a:lnTo>
                  <a:pt x="1515798" y="38735"/>
                </a:lnTo>
                <a:lnTo>
                  <a:pt x="1515745" y="36957"/>
                </a:lnTo>
                <a:close/>
              </a:path>
              <a:path w="2582545" h="131445">
                <a:moveTo>
                  <a:pt x="1426845" y="40005"/>
                </a:moveTo>
                <a:lnTo>
                  <a:pt x="1376172" y="41783"/>
                </a:lnTo>
                <a:lnTo>
                  <a:pt x="1376499" y="52705"/>
                </a:lnTo>
                <a:lnTo>
                  <a:pt x="1376553" y="54483"/>
                </a:lnTo>
                <a:lnTo>
                  <a:pt x="1427353" y="52705"/>
                </a:lnTo>
                <a:lnTo>
                  <a:pt x="1426916" y="41783"/>
                </a:lnTo>
                <a:lnTo>
                  <a:pt x="1426845" y="40005"/>
                </a:lnTo>
                <a:close/>
              </a:path>
              <a:path w="2582545" h="131445">
                <a:moveTo>
                  <a:pt x="1338072" y="43180"/>
                </a:moveTo>
                <a:lnTo>
                  <a:pt x="1287272" y="44831"/>
                </a:lnTo>
                <a:lnTo>
                  <a:pt x="1287713" y="55880"/>
                </a:lnTo>
                <a:lnTo>
                  <a:pt x="1287780" y="57531"/>
                </a:lnTo>
                <a:lnTo>
                  <a:pt x="1338453" y="55880"/>
                </a:lnTo>
                <a:lnTo>
                  <a:pt x="1338121" y="44831"/>
                </a:lnTo>
                <a:lnTo>
                  <a:pt x="1338072" y="43180"/>
                </a:lnTo>
                <a:close/>
              </a:path>
              <a:path w="2582545" h="131445">
                <a:moveTo>
                  <a:pt x="1249172" y="46228"/>
                </a:moveTo>
                <a:lnTo>
                  <a:pt x="1198499" y="48006"/>
                </a:lnTo>
                <a:lnTo>
                  <a:pt x="1198826" y="58927"/>
                </a:lnTo>
                <a:lnTo>
                  <a:pt x="1198880" y="60706"/>
                </a:lnTo>
                <a:lnTo>
                  <a:pt x="1249680" y="58927"/>
                </a:lnTo>
                <a:lnTo>
                  <a:pt x="1249243" y="48006"/>
                </a:lnTo>
                <a:lnTo>
                  <a:pt x="1249172" y="46228"/>
                </a:lnTo>
                <a:close/>
              </a:path>
              <a:path w="2582545" h="131445">
                <a:moveTo>
                  <a:pt x="1160399" y="49276"/>
                </a:moveTo>
                <a:lnTo>
                  <a:pt x="1109599" y="51053"/>
                </a:lnTo>
                <a:lnTo>
                  <a:pt x="1109926" y="61976"/>
                </a:lnTo>
                <a:lnTo>
                  <a:pt x="1109980" y="63753"/>
                </a:lnTo>
                <a:lnTo>
                  <a:pt x="1160780" y="61976"/>
                </a:lnTo>
                <a:lnTo>
                  <a:pt x="1160452" y="51053"/>
                </a:lnTo>
                <a:lnTo>
                  <a:pt x="1160399" y="49276"/>
                </a:lnTo>
                <a:close/>
              </a:path>
              <a:path w="2582545" h="131445">
                <a:moveTo>
                  <a:pt x="1071499" y="52324"/>
                </a:moveTo>
                <a:lnTo>
                  <a:pt x="1020699" y="54102"/>
                </a:lnTo>
                <a:lnTo>
                  <a:pt x="1021135" y="65024"/>
                </a:lnTo>
                <a:lnTo>
                  <a:pt x="1021207" y="66802"/>
                </a:lnTo>
                <a:lnTo>
                  <a:pt x="1072007" y="65024"/>
                </a:lnTo>
                <a:lnTo>
                  <a:pt x="1071570" y="54102"/>
                </a:lnTo>
                <a:lnTo>
                  <a:pt x="1071499" y="52324"/>
                </a:lnTo>
                <a:close/>
              </a:path>
              <a:path w="2582545" h="131445">
                <a:moveTo>
                  <a:pt x="982726" y="55499"/>
                </a:moveTo>
                <a:lnTo>
                  <a:pt x="931926" y="57277"/>
                </a:lnTo>
                <a:lnTo>
                  <a:pt x="932256" y="68199"/>
                </a:lnTo>
                <a:lnTo>
                  <a:pt x="932307" y="69850"/>
                </a:lnTo>
                <a:lnTo>
                  <a:pt x="983107" y="68199"/>
                </a:lnTo>
                <a:lnTo>
                  <a:pt x="982779" y="57277"/>
                </a:lnTo>
                <a:lnTo>
                  <a:pt x="982726" y="55499"/>
                </a:lnTo>
                <a:close/>
              </a:path>
              <a:path w="2582545" h="131445">
                <a:moveTo>
                  <a:pt x="893826" y="58547"/>
                </a:moveTo>
                <a:lnTo>
                  <a:pt x="843026" y="60325"/>
                </a:lnTo>
                <a:lnTo>
                  <a:pt x="843462" y="71247"/>
                </a:lnTo>
                <a:lnTo>
                  <a:pt x="843534" y="73025"/>
                </a:lnTo>
                <a:lnTo>
                  <a:pt x="894207" y="71247"/>
                </a:lnTo>
                <a:lnTo>
                  <a:pt x="893879" y="60325"/>
                </a:lnTo>
                <a:lnTo>
                  <a:pt x="893826" y="58547"/>
                </a:lnTo>
                <a:close/>
              </a:path>
              <a:path w="2582545" h="131445">
                <a:moveTo>
                  <a:pt x="804926" y="61594"/>
                </a:moveTo>
                <a:lnTo>
                  <a:pt x="754253" y="63373"/>
                </a:lnTo>
                <a:lnTo>
                  <a:pt x="754580" y="74295"/>
                </a:lnTo>
                <a:lnTo>
                  <a:pt x="754634" y="76073"/>
                </a:lnTo>
                <a:lnTo>
                  <a:pt x="805434" y="74295"/>
                </a:lnTo>
                <a:lnTo>
                  <a:pt x="804997" y="63373"/>
                </a:lnTo>
                <a:lnTo>
                  <a:pt x="804926" y="61594"/>
                </a:lnTo>
                <a:close/>
              </a:path>
              <a:path w="2582545" h="131445">
                <a:moveTo>
                  <a:pt x="716153" y="64643"/>
                </a:moveTo>
                <a:lnTo>
                  <a:pt x="665353" y="66421"/>
                </a:lnTo>
                <a:lnTo>
                  <a:pt x="665680" y="77343"/>
                </a:lnTo>
                <a:lnTo>
                  <a:pt x="665734" y="79121"/>
                </a:lnTo>
                <a:lnTo>
                  <a:pt x="716534" y="77343"/>
                </a:lnTo>
                <a:lnTo>
                  <a:pt x="716206" y="66421"/>
                </a:lnTo>
                <a:lnTo>
                  <a:pt x="716153" y="64643"/>
                </a:lnTo>
                <a:close/>
              </a:path>
              <a:path w="2582545" h="131445">
                <a:moveTo>
                  <a:pt x="627253" y="67818"/>
                </a:moveTo>
                <a:lnTo>
                  <a:pt x="576453" y="69596"/>
                </a:lnTo>
                <a:lnTo>
                  <a:pt x="576894" y="80518"/>
                </a:lnTo>
                <a:lnTo>
                  <a:pt x="576961" y="82169"/>
                </a:lnTo>
                <a:lnTo>
                  <a:pt x="627761" y="80518"/>
                </a:lnTo>
                <a:lnTo>
                  <a:pt x="627324" y="69596"/>
                </a:lnTo>
                <a:lnTo>
                  <a:pt x="627253" y="67818"/>
                </a:lnTo>
                <a:close/>
              </a:path>
              <a:path w="2582545" h="131445">
                <a:moveTo>
                  <a:pt x="538480" y="70866"/>
                </a:moveTo>
                <a:lnTo>
                  <a:pt x="487680" y="72644"/>
                </a:lnTo>
                <a:lnTo>
                  <a:pt x="488007" y="83566"/>
                </a:lnTo>
                <a:lnTo>
                  <a:pt x="488061" y="85344"/>
                </a:lnTo>
                <a:lnTo>
                  <a:pt x="538861" y="83566"/>
                </a:lnTo>
                <a:lnTo>
                  <a:pt x="538533" y="72644"/>
                </a:lnTo>
                <a:lnTo>
                  <a:pt x="538480" y="70866"/>
                </a:lnTo>
                <a:close/>
              </a:path>
              <a:path w="2582545" h="131445">
                <a:moveTo>
                  <a:pt x="449580" y="73914"/>
                </a:moveTo>
                <a:lnTo>
                  <a:pt x="398780" y="75692"/>
                </a:lnTo>
                <a:lnTo>
                  <a:pt x="399216" y="86614"/>
                </a:lnTo>
                <a:lnTo>
                  <a:pt x="399288" y="88392"/>
                </a:lnTo>
                <a:lnTo>
                  <a:pt x="450088" y="86614"/>
                </a:lnTo>
                <a:lnTo>
                  <a:pt x="449651" y="75692"/>
                </a:lnTo>
                <a:lnTo>
                  <a:pt x="449580" y="73914"/>
                </a:lnTo>
                <a:close/>
              </a:path>
              <a:path w="2582545" h="131445">
                <a:moveTo>
                  <a:pt x="360680" y="76962"/>
                </a:moveTo>
                <a:lnTo>
                  <a:pt x="310007" y="78740"/>
                </a:lnTo>
                <a:lnTo>
                  <a:pt x="310334" y="89662"/>
                </a:lnTo>
                <a:lnTo>
                  <a:pt x="310388" y="91440"/>
                </a:lnTo>
                <a:lnTo>
                  <a:pt x="361188" y="89662"/>
                </a:lnTo>
                <a:lnTo>
                  <a:pt x="360751" y="78740"/>
                </a:lnTo>
                <a:lnTo>
                  <a:pt x="360680" y="76962"/>
                </a:lnTo>
                <a:close/>
              </a:path>
              <a:path w="2582545" h="131445">
                <a:moveTo>
                  <a:pt x="271907" y="80137"/>
                </a:moveTo>
                <a:lnTo>
                  <a:pt x="221107" y="81915"/>
                </a:lnTo>
                <a:lnTo>
                  <a:pt x="221543" y="92837"/>
                </a:lnTo>
                <a:lnTo>
                  <a:pt x="221615" y="94615"/>
                </a:lnTo>
                <a:lnTo>
                  <a:pt x="272288" y="92837"/>
                </a:lnTo>
                <a:lnTo>
                  <a:pt x="271960" y="81915"/>
                </a:lnTo>
                <a:lnTo>
                  <a:pt x="271907" y="80137"/>
                </a:lnTo>
                <a:close/>
              </a:path>
              <a:path w="2582545" h="131445">
                <a:moveTo>
                  <a:pt x="183007" y="83185"/>
                </a:moveTo>
                <a:lnTo>
                  <a:pt x="132334" y="84963"/>
                </a:lnTo>
                <a:lnTo>
                  <a:pt x="132661" y="95885"/>
                </a:lnTo>
                <a:lnTo>
                  <a:pt x="132715" y="97663"/>
                </a:lnTo>
                <a:lnTo>
                  <a:pt x="183515" y="95885"/>
                </a:lnTo>
                <a:lnTo>
                  <a:pt x="183078" y="84963"/>
                </a:lnTo>
                <a:lnTo>
                  <a:pt x="183007" y="83185"/>
                </a:lnTo>
                <a:close/>
              </a:path>
              <a:path w="2582545" h="131445">
                <a:moveTo>
                  <a:pt x="74803" y="55118"/>
                </a:moveTo>
                <a:lnTo>
                  <a:pt x="0" y="95885"/>
                </a:lnTo>
                <a:lnTo>
                  <a:pt x="77470" y="131318"/>
                </a:lnTo>
                <a:lnTo>
                  <a:pt x="76376" y="100076"/>
                </a:lnTo>
                <a:lnTo>
                  <a:pt x="63627" y="100076"/>
                </a:lnTo>
                <a:lnTo>
                  <a:pt x="63246" y="87376"/>
                </a:lnTo>
                <a:lnTo>
                  <a:pt x="75915" y="86908"/>
                </a:lnTo>
                <a:lnTo>
                  <a:pt x="74803" y="55118"/>
                </a:lnTo>
                <a:close/>
              </a:path>
              <a:path w="2582545" h="131445">
                <a:moveTo>
                  <a:pt x="75915" y="86908"/>
                </a:moveTo>
                <a:lnTo>
                  <a:pt x="63246" y="87376"/>
                </a:lnTo>
                <a:lnTo>
                  <a:pt x="63501" y="95885"/>
                </a:lnTo>
                <a:lnTo>
                  <a:pt x="63627" y="100076"/>
                </a:lnTo>
                <a:lnTo>
                  <a:pt x="76360" y="99606"/>
                </a:lnTo>
                <a:lnTo>
                  <a:pt x="75932" y="87376"/>
                </a:lnTo>
                <a:lnTo>
                  <a:pt x="75915" y="86908"/>
                </a:lnTo>
                <a:close/>
              </a:path>
              <a:path w="2582545" h="131445">
                <a:moveTo>
                  <a:pt x="76360" y="99606"/>
                </a:moveTo>
                <a:lnTo>
                  <a:pt x="63627" y="100076"/>
                </a:lnTo>
                <a:lnTo>
                  <a:pt x="76376" y="100076"/>
                </a:lnTo>
                <a:lnTo>
                  <a:pt x="76360" y="99606"/>
                </a:lnTo>
                <a:close/>
              </a:path>
              <a:path w="2582545" h="131445">
                <a:moveTo>
                  <a:pt x="94234" y="86233"/>
                </a:moveTo>
                <a:lnTo>
                  <a:pt x="75915" y="86908"/>
                </a:lnTo>
                <a:lnTo>
                  <a:pt x="76229" y="95885"/>
                </a:lnTo>
                <a:lnTo>
                  <a:pt x="76336" y="98933"/>
                </a:lnTo>
                <a:lnTo>
                  <a:pt x="76360" y="99606"/>
                </a:lnTo>
                <a:lnTo>
                  <a:pt x="94615" y="98933"/>
                </a:lnTo>
                <a:lnTo>
                  <a:pt x="94268" y="87376"/>
                </a:lnTo>
                <a:lnTo>
                  <a:pt x="94234" y="86233"/>
                </a:lnTo>
                <a:close/>
              </a:path>
            </a:pathLst>
          </a:custGeom>
          <a:solidFill>
            <a:srgbClr val="2D75B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25"/>
              <a:t>Regionengraph:</a:t>
            </a:r>
            <a:r>
              <a:rPr dirty="0" spc="-180"/>
              <a:t> </a:t>
            </a:r>
            <a:r>
              <a:rPr dirty="0" spc="-150"/>
              <a:t>Beispiel</a:t>
            </a:r>
          </a:p>
        </p:txBody>
      </p:sp>
      <p:sp>
        <p:nvSpPr>
          <p:cNvPr id="3" name="object 3"/>
          <p:cNvSpPr/>
          <p:nvPr/>
        </p:nvSpPr>
        <p:spPr>
          <a:xfrm>
            <a:off x="915161" y="1770126"/>
            <a:ext cx="576580" cy="576580"/>
          </a:xfrm>
          <a:custGeom>
            <a:avLst/>
            <a:gdLst/>
            <a:ahLst/>
            <a:cxnLst/>
            <a:rect l="l" t="t" r="r" b="b"/>
            <a:pathLst>
              <a:path w="576580" h="576580">
                <a:moveTo>
                  <a:pt x="0" y="288036"/>
                </a:moveTo>
                <a:lnTo>
                  <a:pt x="3769" y="241302"/>
                </a:lnTo>
                <a:lnTo>
                  <a:pt x="14684" y="196973"/>
                </a:lnTo>
                <a:lnTo>
                  <a:pt x="32149" y="155643"/>
                </a:lnTo>
                <a:lnTo>
                  <a:pt x="55573" y="117902"/>
                </a:lnTo>
                <a:lnTo>
                  <a:pt x="84362" y="84343"/>
                </a:lnTo>
                <a:lnTo>
                  <a:pt x="117924" y="55558"/>
                </a:lnTo>
                <a:lnTo>
                  <a:pt x="155665" y="32140"/>
                </a:lnTo>
                <a:lnTo>
                  <a:pt x="196993" y="14679"/>
                </a:lnTo>
                <a:lnTo>
                  <a:pt x="241314" y="3768"/>
                </a:lnTo>
                <a:lnTo>
                  <a:pt x="288036" y="0"/>
                </a:lnTo>
                <a:lnTo>
                  <a:pt x="334769" y="3768"/>
                </a:lnTo>
                <a:lnTo>
                  <a:pt x="379098" y="14679"/>
                </a:lnTo>
                <a:lnTo>
                  <a:pt x="420428" y="32140"/>
                </a:lnTo>
                <a:lnTo>
                  <a:pt x="458169" y="55558"/>
                </a:lnTo>
                <a:lnTo>
                  <a:pt x="491728" y="84343"/>
                </a:lnTo>
                <a:lnTo>
                  <a:pt x="520513" y="117902"/>
                </a:lnTo>
                <a:lnTo>
                  <a:pt x="543931" y="155643"/>
                </a:lnTo>
                <a:lnTo>
                  <a:pt x="561392" y="196973"/>
                </a:lnTo>
                <a:lnTo>
                  <a:pt x="572303" y="241302"/>
                </a:lnTo>
                <a:lnTo>
                  <a:pt x="576072" y="288036"/>
                </a:lnTo>
                <a:lnTo>
                  <a:pt x="572303" y="334769"/>
                </a:lnTo>
                <a:lnTo>
                  <a:pt x="561392" y="379098"/>
                </a:lnTo>
                <a:lnTo>
                  <a:pt x="543931" y="420428"/>
                </a:lnTo>
                <a:lnTo>
                  <a:pt x="520513" y="458169"/>
                </a:lnTo>
                <a:lnTo>
                  <a:pt x="491728" y="491728"/>
                </a:lnTo>
                <a:lnTo>
                  <a:pt x="458169" y="520513"/>
                </a:lnTo>
                <a:lnTo>
                  <a:pt x="420428" y="543931"/>
                </a:lnTo>
                <a:lnTo>
                  <a:pt x="379098" y="561392"/>
                </a:lnTo>
                <a:lnTo>
                  <a:pt x="334769" y="572303"/>
                </a:lnTo>
                <a:lnTo>
                  <a:pt x="288036" y="576072"/>
                </a:lnTo>
                <a:lnTo>
                  <a:pt x="241314" y="572303"/>
                </a:lnTo>
                <a:lnTo>
                  <a:pt x="196993" y="561392"/>
                </a:lnTo>
                <a:lnTo>
                  <a:pt x="155665" y="543931"/>
                </a:lnTo>
                <a:lnTo>
                  <a:pt x="117924" y="520513"/>
                </a:lnTo>
                <a:lnTo>
                  <a:pt x="84362" y="491728"/>
                </a:lnTo>
                <a:lnTo>
                  <a:pt x="55573" y="458169"/>
                </a:lnTo>
                <a:lnTo>
                  <a:pt x="32149" y="420428"/>
                </a:lnTo>
                <a:lnTo>
                  <a:pt x="14684" y="379098"/>
                </a:lnTo>
                <a:lnTo>
                  <a:pt x="3769" y="334769"/>
                </a:lnTo>
                <a:lnTo>
                  <a:pt x="0" y="288036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22375" y="1906346"/>
            <a:ext cx="781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ahoma"/>
                <a:cs typeface="Tahoma"/>
              </a:rPr>
              <a:t>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4191" y="2039492"/>
            <a:ext cx="109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Tahoma"/>
                <a:cs typeface="Tahoma"/>
              </a:rPr>
              <a:t>1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08022" y="1724025"/>
            <a:ext cx="653415" cy="585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x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 spc="-105">
                <a:latin typeface="Arial"/>
                <a:cs typeface="Arial"/>
              </a:rPr>
              <a:t>≥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5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1800">
                <a:latin typeface="Tahoma"/>
                <a:cs typeface="Tahoma"/>
              </a:rPr>
              <a:t>x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:=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 spc="-5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0110" y="1618487"/>
            <a:ext cx="1506220" cy="882650"/>
          </a:xfrm>
          <a:custGeom>
            <a:avLst/>
            <a:gdLst/>
            <a:ahLst/>
            <a:cxnLst/>
            <a:rect l="l" t="t" r="r" b="b"/>
            <a:pathLst>
              <a:path w="1506220" h="882650">
                <a:moveTo>
                  <a:pt x="292252" y="444373"/>
                </a:moveTo>
                <a:lnTo>
                  <a:pt x="191503" y="384810"/>
                </a:lnTo>
                <a:lnTo>
                  <a:pt x="183718" y="386842"/>
                </a:lnTo>
                <a:lnTo>
                  <a:pt x="180149" y="392811"/>
                </a:lnTo>
                <a:lnTo>
                  <a:pt x="176580" y="398907"/>
                </a:lnTo>
                <a:lnTo>
                  <a:pt x="178587" y="406654"/>
                </a:lnTo>
                <a:lnTo>
                  <a:pt x="220040" y="431177"/>
                </a:lnTo>
                <a:lnTo>
                  <a:pt x="127" y="430022"/>
                </a:lnTo>
                <a:lnTo>
                  <a:pt x="114" y="431177"/>
                </a:lnTo>
                <a:lnTo>
                  <a:pt x="0" y="455422"/>
                </a:lnTo>
                <a:lnTo>
                  <a:pt x="220154" y="456577"/>
                </a:lnTo>
                <a:lnTo>
                  <a:pt x="184264" y="477266"/>
                </a:lnTo>
                <a:lnTo>
                  <a:pt x="178193" y="480695"/>
                </a:lnTo>
                <a:lnTo>
                  <a:pt x="176098" y="488442"/>
                </a:lnTo>
                <a:lnTo>
                  <a:pt x="183095" y="500634"/>
                </a:lnTo>
                <a:lnTo>
                  <a:pt x="190868" y="502666"/>
                </a:lnTo>
                <a:lnTo>
                  <a:pt x="196938" y="499237"/>
                </a:lnTo>
                <a:lnTo>
                  <a:pt x="270624" y="456819"/>
                </a:lnTo>
                <a:lnTo>
                  <a:pt x="292252" y="444373"/>
                </a:lnTo>
                <a:close/>
              </a:path>
              <a:path w="1506220" h="882650">
                <a:moveTo>
                  <a:pt x="1497965" y="520700"/>
                </a:moveTo>
                <a:lnTo>
                  <a:pt x="1478724" y="520700"/>
                </a:lnTo>
                <a:lnTo>
                  <a:pt x="1478572" y="520700"/>
                </a:lnTo>
                <a:lnTo>
                  <a:pt x="1474533" y="539750"/>
                </a:lnTo>
                <a:lnTo>
                  <a:pt x="1463357" y="577850"/>
                </a:lnTo>
                <a:lnTo>
                  <a:pt x="1448879" y="614680"/>
                </a:lnTo>
                <a:lnTo>
                  <a:pt x="1440497" y="633730"/>
                </a:lnTo>
                <a:lnTo>
                  <a:pt x="1440624" y="632460"/>
                </a:lnTo>
                <a:lnTo>
                  <a:pt x="1431353" y="651510"/>
                </a:lnTo>
                <a:lnTo>
                  <a:pt x="1431607" y="650240"/>
                </a:lnTo>
                <a:lnTo>
                  <a:pt x="1421828" y="668020"/>
                </a:lnTo>
                <a:lnTo>
                  <a:pt x="1411287" y="685800"/>
                </a:lnTo>
                <a:lnTo>
                  <a:pt x="1411541" y="684530"/>
                </a:lnTo>
                <a:lnTo>
                  <a:pt x="1400238" y="701040"/>
                </a:lnTo>
                <a:lnTo>
                  <a:pt x="1400492" y="701040"/>
                </a:lnTo>
                <a:lnTo>
                  <a:pt x="1388681" y="717550"/>
                </a:lnTo>
                <a:lnTo>
                  <a:pt x="1388935" y="717550"/>
                </a:lnTo>
                <a:lnTo>
                  <a:pt x="1376489" y="732790"/>
                </a:lnTo>
                <a:lnTo>
                  <a:pt x="1376743" y="732790"/>
                </a:lnTo>
                <a:lnTo>
                  <a:pt x="1363916" y="746760"/>
                </a:lnTo>
                <a:lnTo>
                  <a:pt x="1364170" y="746760"/>
                </a:lnTo>
                <a:lnTo>
                  <a:pt x="1350708" y="760730"/>
                </a:lnTo>
                <a:lnTo>
                  <a:pt x="1350962" y="760730"/>
                </a:lnTo>
                <a:lnTo>
                  <a:pt x="1337246" y="774700"/>
                </a:lnTo>
                <a:lnTo>
                  <a:pt x="1337373" y="774065"/>
                </a:lnTo>
                <a:lnTo>
                  <a:pt x="1337500" y="773430"/>
                </a:lnTo>
                <a:lnTo>
                  <a:pt x="1315148" y="793381"/>
                </a:lnTo>
                <a:lnTo>
                  <a:pt x="1314742" y="793750"/>
                </a:lnTo>
                <a:lnTo>
                  <a:pt x="1313789" y="794600"/>
                </a:lnTo>
                <a:lnTo>
                  <a:pt x="1308925" y="798830"/>
                </a:lnTo>
                <a:lnTo>
                  <a:pt x="1309306" y="797560"/>
                </a:lnTo>
                <a:lnTo>
                  <a:pt x="1294193" y="808990"/>
                </a:lnTo>
                <a:lnTo>
                  <a:pt x="1294574" y="808990"/>
                </a:lnTo>
                <a:lnTo>
                  <a:pt x="1279207" y="819150"/>
                </a:lnTo>
                <a:lnTo>
                  <a:pt x="1279588" y="819150"/>
                </a:lnTo>
                <a:lnTo>
                  <a:pt x="1263967" y="828040"/>
                </a:lnTo>
                <a:lnTo>
                  <a:pt x="1264348" y="828040"/>
                </a:lnTo>
                <a:lnTo>
                  <a:pt x="1248473" y="836930"/>
                </a:lnTo>
                <a:lnTo>
                  <a:pt x="1248854" y="835660"/>
                </a:lnTo>
                <a:lnTo>
                  <a:pt x="1232852" y="843280"/>
                </a:lnTo>
                <a:lnTo>
                  <a:pt x="1233360" y="843280"/>
                </a:lnTo>
                <a:lnTo>
                  <a:pt x="1216977" y="849630"/>
                </a:lnTo>
                <a:lnTo>
                  <a:pt x="1217485" y="849630"/>
                </a:lnTo>
                <a:lnTo>
                  <a:pt x="1200975" y="854710"/>
                </a:lnTo>
                <a:lnTo>
                  <a:pt x="1201610" y="854710"/>
                </a:lnTo>
                <a:lnTo>
                  <a:pt x="1184973" y="858520"/>
                </a:lnTo>
                <a:lnTo>
                  <a:pt x="1185608" y="858520"/>
                </a:lnTo>
                <a:lnTo>
                  <a:pt x="1168844" y="862330"/>
                </a:lnTo>
                <a:lnTo>
                  <a:pt x="1169454" y="861110"/>
                </a:lnTo>
                <a:lnTo>
                  <a:pt x="1169225" y="861110"/>
                </a:lnTo>
                <a:lnTo>
                  <a:pt x="1152715" y="863600"/>
                </a:lnTo>
                <a:lnTo>
                  <a:pt x="1120584" y="863600"/>
                </a:lnTo>
                <a:lnTo>
                  <a:pt x="1103820" y="862330"/>
                </a:lnTo>
                <a:lnTo>
                  <a:pt x="1104201" y="862330"/>
                </a:lnTo>
                <a:lnTo>
                  <a:pt x="1087932" y="861110"/>
                </a:lnTo>
                <a:lnTo>
                  <a:pt x="1071054" y="858520"/>
                </a:lnTo>
                <a:lnTo>
                  <a:pt x="1071435" y="858520"/>
                </a:lnTo>
                <a:lnTo>
                  <a:pt x="1054925" y="855980"/>
                </a:lnTo>
                <a:lnTo>
                  <a:pt x="1055306" y="855980"/>
                </a:lnTo>
                <a:lnTo>
                  <a:pt x="1039787" y="853579"/>
                </a:lnTo>
                <a:lnTo>
                  <a:pt x="1039558" y="853579"/>
                </a:lnTo>
                <a:lnTo>
                  <a:pt x="1007173" y="844550"/>
                </a:lnTo>
                <a:lnTo>
                  <a:pt x="1007935" y="844550"/>
                </a:lnTo>
                <a:lnTo>
                  <a:pt x="976947" y="834390"/>
                </a:lnTo>
                <a:lnTo>
                  <a:pt x="977455" y="834390"/>
                </a:lnTo>
                <a:lnTo>
                  <a:pt x="947737" y="822960"/>
                </a:lnTo>
                <a:lnTo>
                  <a:pt x="948372" y="822960"/>
                </a:lnTo>
                <a:lnTo>
                  <a:pt x="920178" y="808990"/>
                </a:lnTo>
                <a:lnTo>
                  <a:pt x="920813" y="808990"/>
                </a:lnTo>
                <a:lnTo>
                  <a:pt x="894524" y="793750"/>
                </a:lnTo>
                <a:lnTo>
                  <a:pt x="894905" y="793750"/>
                </a:lnTo>
                <a:lnTo>
                  <a:pt x="884008" y="787019"/>
                </a:lnTo>
                <a:lnTo>
                  <a:pt x="883005" y="786257"/>
                </a:lnTo>
                <a:lnTo>
                  <a:pt x="882815" y="786257"/>
                </a:lnTo>
                <a:lnTo>
                  <a:pt x="883602" y="786765"/>
                </a:lnTo>
                <a:lnTo>
                  <a:pt x="882789" y="786257"/>
                </a:lnTo>
                <a:lnTo>
                  <a:pt x="872680" y="778510"/>
                </a:lnTo>
                <a:lnTo>
                  <a:pt x="871029" y="777240"/>
                </a:lnTo>
                <a:lnTo>
                  <a:pt x="871410" y="778510"/>
                </a:lnTo>
                <a:lnTo>
                  <a:pt x="865809" y="774065"/>
                </a:lnTo>
                <a:lnTo>
                  <a:pt x="865060" y="773430"/>
                </a:lnTo>
                <a:lnTo>
                  <a:pt x="864412" y="772934"/>
                </a:lnTo>
                <a:lnTo>
                  <a:pt x="860628" y="769747"/>
                </a:lnTo>
                <a:lnTo>
                  <a:pt x="860399" y="769747"/>
                </a:lnTo>
                <a:lnTo>
                  <a:pt x="861555" y="770674"/>
                </a:lnTo>
                <a:lnTo>
                  <a:pt x="860386" y="769747"/>
                </a:lnTo>
                <a:lnTo>
                  <a:pt x="849820" y="760730"/>
                </a:lnTo>
                <a:lnTo>
                  <a:pt x="851522" y="762165"/>
                </a:lnTo>
                <a:lnTo>
                  <a:pt x="850392" y="760730"/>
                </a:lnTo>
                <a:lnTo>
                  <a:pt x="844892" y="753414"/>
                </a:lnTo>
                <a:lnTo>
                  <a:pt x="868235" y="741680"/>
                </a:lnTo>
                <a:lnTo>
                  <a:pt x="890968" y="730250"/>
                </a:lnTo>
                <a:lnTo>
                  <a:pt x="777430" y="645160"/>
                </a:lnTo>
                <a:lnTo>
                  <a:pt x="777417" y="650240"/>
                </a:lnTo>
                <a:lnTo>
                  <a:pt x="777303" y="787400"/>
                </a:lnTo>
                <a:lnTo>
                  <a:pt x="827506" y="762165"/>
                </a:lnTo>
                <a:lnTo>
                  <a:pt x="836739" y="774700"/>
                </a:lnTo>
                <a:lnTo>
                  <a:pt x="848296" y="783590"/>
                </a:lnTo>
                <a:lnTo>
                  <a:pt x="859726" y="793750"/>
                </a:lnTo>
                <a:lnTo>
                  <a:pt x="871918" y="801370"/>
                </a:lnTo>
                <a:lnTo>
                  <a:pt x="911415" y="825500"/>
                </a:lnTo>
                <a:lnTo>
                  <a:pt x="970597" y="852170"/>
                </a:lnTo>
                <a:lnTo>
                  <a:pt x="1051623" y="875030"/>
                </a:lnTo>
                <a:lnTo>
                  <a:pt x="1119695" y="882650"/>
                </a:lnTo>
                <a:lnTo>
                  <a:pt x="1154493" y="882650"/>
                </a:lnTo>
                <a:lnTo>
                  <a:pt x="1189291" y="877570"/>
                </a:lnTo>
                <a:lnTo>
                  <a:pt x="1223581" y="867410"/>
                </a:lnTo>
                <a:lnTo>
                  <a:pt x="1233716" y="863600"/>
                </a:lnTo>
                <a:lnTo>
                  <a:pt x="1237094" y="862330"/>
                </a:lnTo>
                <a:lnTo>
                  <a:pt x="1240370" y="861110"/>
                </a:lnTo>
                <a:lnTo>
                  <a:pt x="1256804" y="853579"/>
                </a:lnTo>
                <a:lnTo>
                  <a:pt x="1273492" y="844550"/>
                </a:lnTo>
                <a:lnTo>
                  <a:pt x="1287310" y="836930"/>
                </a:lnTo>
                <a:lnTo>
                  <a:pt x="1289621" y="835660"/>
                </a:lnTo>
                <a:lnTo>
                  <a:pt x="1320736" y="812800"/>
                </a:lnTo>
                <a:lnTo>
                  <a:pt x="1350327" y="788670"/>
                </a:lnTo>
                <a:lnTo>
                  <a:pt x="1352753" y="786257"/>
                </a:lnTo>
                <a:lnTo>
                  <a:pt x="1364424" y="774700"/>
                </a:lnTo>
                <a:lnTo>
                  <a:pt x="1391221" y="744220"/>
                </a:lnTo>
                <a:lnTo>
                  <a:pt x="1415986" y="712470"/>
                </a:lnTo>
                <a:lnTo>
                  <a:pt x="1433576" y="685800"/>
                </a:lnTo>
                <a:lnTo>
                  <a:pt x="1438211" y="678180"/>
                </a:lnTo>
                <a:lnTo>
                  <a:pt x="1448244" y="660400"/>
                </a:lnTo>
                <a:lnTo>
                  <a:pt x="1452626" y="651510"/>
                </a:lnTo>
                <a:lnTo>
                  <a:pt x="1457642" y="641350"/>
                </a:lnTo>
                <a:lnTo>
                  <a:pt x="1474279" y="603250"/>
                </a:lnTo>
                <a:lnTo>
                  <a:pt x="1487741" y="563880"/>
                </a:lnTo>
                <a:lnTo>
                  <a:pt x="1497520" y="523240"/>
                </a:lnTo>
                <a:lnTo>
                  <a:pt x="1497965" y="520700"/>
                </a:lnTo>
                <a:close/>
              </a:path>
              <a:path w="1506220" h="882650">
                <a:moveTo>
                  <a:pt x="1505775" y="440690"/>
                </a:moveTo>
                <a:lnTo>
                  <a:pt x="1505178" y="421640"/>
                </a:lnTo>
                <a:lnTo>
                  <a:pt x="1505140" y="420370"/>
                </a:lnTo>
                <a:lnTo>
                  <a:pt x="1503794" y="402590"/>
                </a:lnTo>
                <a:lnTo>
                  <a:pt x="1503705" y="401320"/>
                </a:lnTo>
                <a:lnTo>
                  <a:pt x="1503616" y="400050"/>
                </a:lnTo>
                <a:lnTo>
                  <a:pt x="1500949" y="379730"/>
                </a:lnTo>
                <a:lnTo>
                  <a:pt x="1497939" y="361950"/>
                </a:lnTo>
                <a:lnTo>
                  <a:pt x="1497520" y="359410"/>
                </a:lnTo>
                <a:lnTo>
                  <a:pt x="1487614" y="318770"/>
                </a:lnTo>
                <a:lnTo>
                  <a:pt x="1474152" y="279400"/>
                </a:lnTo>
                <a:lnTo>
                  <a:pt x="1460969" y="248920"/>
                </a:lnTo>
                <a:lnTo>
                  <a:pt x="1457515" y="241300"/>
                </a:lnTo>
                <a:lnTo>
                  <a:pt x="1452499" y="231140"/>
                </a:lnTo>
                <a:lnTo>
                  <a:pt x="1448117" y="222250"/>
                </a:lnTo>
                <a:lnTo>
                  <a:pt x="1437957" y="204470"/>
                </a:lnTo>
                <a:lnTo>
                  <a:pt x="1433322" y="196850"/>
                </a:lnTo>
                <a:lnTo>
                  <a:pt x="1427162" y="186690"/>
                </a:lnTo>
                <a:lnTo>
                  <a:pt x="1422717" y="180340"/>
                </a:lnTo>
                <a:lnTo>
                  <a:pt x="1390967" y="138430"/>
                </a:lnTo>
                <a:lnTo>
                  <a:pt x="1364170" y="107950"/>
                </a:lnTo>
                <a:lnTo>
                  <a:pt x="1351229" y="95250"/>
                </a:lnTo>
                <a:lnTo>
                  <a:pt x="1349946" y="93980"/>
                </a:lnTo>
                <a:lnTo>
                  <a:pt x="1320228" y="69850"/>
                </a:lnTo>
                <a:lnTo>
                  <a:pt x="1288986" y="46990"/>
                </a:lnTo>
                <a:lnTo>
                  <a:pt x="1286700" y="45720"/>
                </a:lnTo>
                <a:lnTo>
                  <a:pt x="1272984" y="38100"/>
                </a:lnTo>
                <a:lnTo>
                  <a:pt x="1233081" y="19050"/>
                </a:lnTo>
                <a:lnTo>
                  <a:pt x="1188529" y="5080"/>
                </a:lnTo>
                <a:lnTo>
                  <a:pt x="1153604" y="0"/>
                </a:lnTo>
                <a:lnTo>
                  <a:pt x="1118679" y="0"/>
                </a:lnTo>
                <a:lnTo>
                  <a:pt x="1050480" y="7620"/>
                </a:lnTo>
                <a:lnTo>
                  <a:pt x="1000950" y="19050"/>
                </a:lnTo>
                <a:lnTo>
                  <a:pt x="938974" y="41910"/>
                </a:lnTo>
                <a:lnTo>
                  <a:pt x="883348" y="72390"/>
                </a:lnTo>
                <a:lnTo>
                  <a:pt x="870648" y="81280"/>
                </a:lnTo>
                <a:lnTo>
                  <a:pt x="858329" y="88900"/>
                </a:lnTo>
                <a:lnTo>
                  <a:pt x="846772" y="99060"/>
                </a:lnTo>
                <a:lnTo>
                  <a:pt x="835850" y="107950"/>
                </a:lnTo>
                <a:lnTo>
                  <a:pt x="825690" y="118110"/>
                </a:lnTo>
                <a:lnTo>
                  <a:pt x="791781" y="158750"/>
                </a:lnTo>
                <a:lnTo>
                  <a:pt x="771207" y="203200"/>
                </a:lnTo>
                <a:lnTo>
                  <a:pt x="766254" y="237490"/>
                </a:lnTo>
                <a:lnTo>
                  <a:pt x="785304" y="237490"/>
                </a:lnTo>
                <a:lnTo>
                  <a:pt x="785749" y="228600"/>
                </a:lnTo>
                <a:lnTo>
                  <a:pt x="785812" y="227330"/>
                </a:lnTo>
                <a:lnTo>
                  <a:pt x="786041" y="226060"/>
                </a:lnTo>
                <a:lnTo>
                  <a:pt x="787019" y="219290"/>
                </a:lnTo>
                <a:lnTo>
                  <a:pt x="787146" y="218440"/>
                </a:lnTo>
                <a:lnTo>
                  <a:pt x="787222" y="217957"/>
                </a:lnTo>
                <a:lnTo>
                  <a:pt x="787336" y="217170"/>
                </a:lnTo>
                <a:lnTo>
                  <a:pt x="787247" y="217957"/>
                </a:lnTo>
                <a:lnTo>
                  <a:pt x="787476" y="217170"/>
                </a:lnTo>
                <a:lnTo>
                  <a:pt x="789622" y="207010"/>
                </a:lnTo>
                <a:lnTo>
                  <a:pt x="789393" y="208153"/>
                </a:lnTo>
                <a:lnTo>
                  <a:pt x="789813" y="207010"/>
                </a:lnTo>
                <a:lnTo>
                  <a:pt x="792924" y="198120"/>
                </a:lnTo>
                <a:lnTo>
                  <a:pt x="792670" y="198120"/>
                </a:lnTo>
                <a:lnTo>
                  <a:pt x="796988" y="187960"/>
                </a:lnTo>
                <a:lnTo>
                  <a:pt x="796734" y="189230"/>
                </a:lnTo>
                <a:lnTo>
                  <a:pt x="797318" y="187960"/>
                </a:lnTo>
                <a:lnTo>
                  <a:pt x="802068" y="177800"/>
                </a:lnTo>
                <a:lnTo>
                  <a:pt x="801814" y="179070"/>
                </a:lnTo>
                <a:lnTo>
                  <a:pt x="802576" y="177800"/>
                </a:lnTo>
                <a:lnTo>
                  <a:pt x="807910" y="168910"/>
                </a:lnTo>
                <a:lnTo>
                  <a:pt x="807656" y="168910"/>
                </a:lnTo>
                <a:lnTo>
                  <a:pt x="814641" y="158750"/>
                </a:lnTo>
                <a:lnTo>
                  <a:pt x="814260" y="160020"/>
                </a:lnTo>
                <a:lnTo>
                  <a:pt x="815225" y="158750"/>
                </a:lnTo>
                <a:lnTo>
                  <a:pt x="822007" y="149860"/>
                </a:lnTo>
                <a:lnTo>
                  <a:pt x="821753" y="149860"/>
                </a:lnTo>
                <a:lnTo>
                  <a:pt x="830262" y="139700"/>
                </a:lnTo>
                <a:lnTo>
                  <a:pt x="829881" y="140970"/>
                </a:lnTo>
                <a:lnTo>
                  <a:pt x="831037" y="139700"/>
                </a:lnTo>
                <a:lnTo>
                  <a:pt x="839152" y="130810"/>
                </a:lnTo>
                <a:lnTo>
                  <a:pt x="840270" y="129578"/>
                </a:lnTo>
                <a:lnTo>
                  <a:pt x="848804" y="121920"/>
                </a:lnTo>
                <a:lnTo>
                  <a:pt x="848423" y="121920"/>
                </a:lnTo>
                <a:lnTo>
                  <a:pt x="859091" y="113030"/>
                </a:lnTo>
                <a:lnTo>
                  <a:pt x="858710" y="113030"/>
                </a:lnTo>
                <a:lnTo>
                  <a:pt x="870013" y="104140"/>
                </a:lnTo>
                <a:lnTo>
                  <a:pt x="869632" y="105410"/>
                </a:lnTo>
                <a:lnTo>
                  <a:pt x="871308" y="104140"/>
                </a:lnTo>
                <a:lnTo>
                  <a:pt x="881278" y="96647"/>
                </a:lnTo>
                <a:lnTo>
                  <a:pt x="882548" y="95694"/>
                </a:lnTo>
                <a:lnTo>
                  <a:pt x="893635" y="88900"/>
                </a:lnTo>
                <a:lnTo>
                  <a:pt x="893127" y="88900"/>
                </a:lnTo>
                <a:lnTo>
                  <a:pt x="919416" y="73660"/>
                </a:lnTo>
                <a:lnTo>
                  <a:pt x="918908" y="73660"/>
                </a:lnTo>
                <a:lnTo>
                  <a:pt x="947102" y="59690"/>
                </a:lnTo>
                <a:lnTo>
                  <a:pt x="946467" y="59690"/>
                </a:lnTo>
                <a:lnTo>
                  <a:pt x="976312" y="48260"/>
                </a:lnTo>
                <a:lnTo>
                  <a:pt x="975677" y="48260"/>
                </a:lnTo>
                <a:lnTo>
                  <a:pt x="1006792" y="38100"/>
                </a:lnTo>
                <a:lnTo>
                  <a:pt x="1006030" y="38100"/>
                </a:lnTo>
                <a:lnTo>
                  <a:pt x="1037932" y="29311"/>
                </a:lnTo>
                <a:lnTo>
                  <a:pt x="1037272" y="29311"/>
                </a:lnTo>
                <a:lnTo>
                  <a:pt x="1053045" y="26873"/>
                </a:lnTo>
                <a:lnTo>
                  <a:pt x="1054823" y="26593"/>
                </a:lnTo>
                <a:lnTo>
                  <a:pt x="1054265" y="26593"/>
                </a:lnTo>
                <a:lnTo>
                  <a:pt x="1070292" y="22860"/>
                </a:lnTo>
                <a:lnTo>
                  <a:pt x="1070038" y="24130"/>
                </a:lnTo>
                <a:lnTo>
                  <a:pt x="1078357" y="22860"/>
                </a:lnTo>
                <a:lnTo>
                  <a:pt x="1086294" y="21653"/>
                </a:lnTo>
                <a:lnTo>
                  <a:pt x="1085532" y="21653"/>
                </a:lnTo>
                <a:lnTo>
                  <a:pt x="1103185" y="20320"/>
                </a:lnTo>
                <a:lnTo>
                  <a:pt x="1102931" y="20320"/>
                </a:lnTo>
                <a:lnTo>
                  <a:pt x="1119695" y="19050"/>
                </a:lnTo>
                <a:lnTo>
                  <a:pt x="1151826" y="19050"/>
                </a:lnTo>
                <a:lnTo>
                  <a:pt x="1168717" y="20320"/>
                </a:lnTo>
                <a:lnTo>
                  <a:pt x="1168082" y="20320"/>
                </a:lnTo>
                <a:lnTo>
                  <a:pt x="1184846" y="24130"/>
                </a:lnTo>
                <a:lnTo>
                  <a:pt x="1184211" y="24130"/>
                </a:lnTo>
                <a:lnTo>
                  <a:pt x="1200848" y="27940"/>
                </a:lnTo>
                <a:lnTo>
                  <a:pt x="1200213" y="27940"/>
                </a:lnTo>
                <a:lnTo>
                  <a:pt x="1216850" y="33020"/>
                </a:lnTo>
                <a:lnTo>
                  <a:pt x="1216342" y="33020"/>
                </a:lnTo>
                <a:lnTo>
                  <a:pt x="1232725" y="39370"/>
                </a:lnTo>
                <a:lnTo>
                  <a:pt x="1232090" y="39370"/>
                </a:lnTo>
                <a:lnTo>
                  <a:pt x="1248346" y="46990"/>
                </a:lnTo>
                <a:lnTo>
                  <a:pt x="1247838" y="45720"/>
                </a:lnTo>
                <a:lnTo>
                  <a:pt x="1263840" y="54610"/>
                </a:lnTo>
                <a:lnTo>
                  <a:pt x="1263459" y="54610"/>
                </a:lnTo>
                <a:lnTo>
                  <a:pt x="1279080" y="63500"/>
                </a:lnTo>
                <a:lnTo>
                  <a:pt x="1278699" y="63500"/>
                </a:lnTo>
                <a:lnTo>
                  <a:pt x="1294066" y="73660"/>
                </a:lnTo>
                <a:lnTo>
                  <a:pt x="1293685" y="73660"/>
                </a:lnTo>
                <a:lnTo>
                  <a:pt x="1308798" y="83820"/>
                </a:lnTo>
                <a:lnTo>
                  <a:pt x="1308417" y="83820"/>
                </a:lnTo>
                <a:lnTo>
                  <a:pt x="1323289" y="96647"/>
                </a:lnTo>
                <a:lnTo>
                  <a:pt x="1322971" y="95694"/>
                </a:lnTo>
                <a:lnTo>
                  <a:pt x="1322895" y="95250"/>
                </a:lnTo>
                <a:lnTo>
                  <a:pt x="1337119" y="109220"/>
                </a:lnTo>
                <a:lnTo>
                  <a:pt x="1336865" y="107950"/>
                </a:lnTo>
                <a:lnTo>
                  <a:pt x="1350708" y="121920"/>
                </a:lnTo>
                <a:lnTo>
                  <a:pt x="1350454" y="121920"/>
                </a:lnTo>
                <a:lnTo>
                  <a:pt x="1363789" y="135890"/>
                </a:lnTo>
                <a:lnTo>
                  <a:pt x="1363535" y="135890"/>
                </a:lnTo>
                <a:lnTo>
                  <a:pt x="1376489" y="149860"/>
                </a:lnTo>
                <a:lnTo>
                  <a:pt x="1376235" y="149860"/>
                </a:lnTo>
                <a:lnTo>
                  <a:pt x="1388681" y="165100"/>
                </a:lnTo>
                <a:lnTo>
                  <a:pt x="1388427" y="165100"/>
                </a:lnTo>
                <a:lnTo>
                  <a:pt x="1400238" y="181610"/>
                </a:lnTo>
                <a:lnTo>
                  <a:pt x="1399984" y="180340"/>
                </a:lnTo>
                <a:lnTo>
                  <a:pt x="1411160" y="198120"/>
                </a:lnTo>
                <a:lnTo>
                  <a:pt x="1411033" y="196850"/>
                </a:lnTo>
                <a:lnTo>
                  <a:pt x="1421701" y="214630"/>
                </a:lnTo>
                <a:lnTo>
                  <a:pt x="1421447" y="214630"/>
                </a:lnTo>
                <a:lnTo>
                  <a:pt x="1431353" y="232410"/>
                </a:lnTo>
                <a:lnTo>
                  <a:pt x="1431226" y="231140"/>
                </a:lnTo>
                <a:lnTo>
                  <a:pt x="1440497" y="250190"/>
                </a:lnTo>
                <a:lnTo>
                  <a:pt x="1440370" y="248920"/>
                </a:lnTo>
                <a:lnTo>
                  <a:pt x="1456372" y="285750"/>
                </a:lnTo>
                <a:lnTo>
                  <a:pt x="1469199" y="323850"/>
                </a:lnTo>
                <a:lnTo>
                  <a:pt x="1478838" y="363207"/>
                </a:lnTo>
                <a:lnTo>
                  <a:pt x="1478724" y="361950"/>
                </a:lnTo>
                <a:lnTo>
                  <a:pt x="1482153" y="382270"/>
                </a:lnTo>
                <a:lnTo>
                  <a:pt x="1484680" y="402590"/>
                </a:lnTo>
                <a:lnTo>
                  <a:pt x="1484693" y="401320"/>
                </a:lnTo>
                <a:lnTo>
                  <a:pt x="1486115" y="420370"/>
                </a:lnTo>
                <a:lnTo>
                  <a:pt x="1486217" y="421640"/>
                </a:lnTo>
                <a:lnTo>
                  <a:pt x="1486725" y="440690"/>
                </a:lnTo>
                <a:lnTo>
                  <a:pt x="1486217" y="461010"/>
                </a:lnTo>
                <a:lnTo>
                  <a:pt x="1484782" y="480072"/>
                </a:lnTo>
                <a:lnTo>
                  <a:pt x="1484591" y="480834"/>
                </a:lnTo>
                <a:lnTo>
                  <a:pt x="1482280" y="500380"/>
                </a:lnTo>
                <a:lnTo>
                  <a:pt x="1478940" y="519455"/>
                </a:lnTo>
                <a:lnTo>
                  <a:pt x="1478762" y="520255"/>
                </a:lnTo>
                <a:lnTo>
                  <a:pt x="1478724" y="520700"/>
                </a:lnTo>
                <a:lnTo>
                  <a:pt x="1478800" y="520255"/>
                </a:lnTo>
                <a:lnTo>
                  <a:pt x="1498041" y="520255"/>
                </a:lnTo>
                <a:lnTo>
                  <a:pt x="1501076" y="502920"/>
                </a:lnTo>
                <a:lnTo>
                  <a:pt x="1503616" y="482600"/>
                </a:lnTo>
                <a:lnTo>
                  <a:pt x="1503718" y="481330"/>
                </a:lnTo>
                <a:lnTo>
                  <a:pt x="1505267" y="462280"/>
                </a:lnTo>
                <a:lnTo>
                  <a:pt x="1505737" y="441960"/>
                </a:lnTo>
                <a:lnTo>
                  <a:pt x="1505775" y="4406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643884" y="4946903"/>
            <a:ext cx="1214755" cy="6432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"/>
              </a:spcBef>
            </a:pPr>
            <a:r>
              <a:rPr dirty="0" sz="2000" spc="-25">
                <a:latin typeface="Arial"/>
                <a:cs typeface="Arial"/>
              </a:rPr>
              <a:t>l</a:t>
            </a:r>
            <a:r>
              <a:rPr dirty="0" baseline="-21367" sz="1950" spc="-37">
                <a:latin typeface="Arial"/>
                <a:cs typeface="Arial"/>
              </a:rPr>
              <a:t>1</a:t>
            </a:r>
            <a:endParaRPr baseline="-21367" sz="1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000" spc="-140">
                <a:solidFill>
                  <a:srgbClr val="6FAC46"/>
                </a:solidFill>
                <a:latin typeface="Arial"/>
                <a:cs typeface="Arial"/>
              </a:rPr>
              <a:t>x</a:t>
            </a:r>
            <a:r>
              <a:rPr dirty="0" sz="2000" spc="-114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dirty="0" sz="2000" spc="-180">
                <a:solidFill>
                  <a:srgbClr val="6FAC46"/>
                </a:solidFill>
                <a:latin typeface="Arial"/>
                <a:cs typeface="Arial"/>
              </a:rPr>
              <a:t>=</a:t>
            </a:r>
            <a:r>
              <a:rPr dirty="0" sz="2000" spc="-10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6FAC46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2270" y="4708397"/>
            <a:ext cx="117855" cy="23952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573011" y="4946903"/>
            <a:ext cx="1213485" cy="6432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0"/>
              </a:spcBef>
            </a:pPr>
            <a:r>
              <a:rPr dirty="0" sz="2000" spc="-25">
                <a:latin typeface="Arial"/>
                <a:cs typeface="Arial"/>
              </a:rPr>
              <a:t>l</a:t>
            </a:r>
            <a:r>
              <a:rPr dirty="0" baseline="-21367" sz="1950" spc="-37">
                <a:latin typeface="Arial"/>
                <a:cs typeface="Arial"/>
              </a:rPr>
              <a:t>1</a:t>
            </a:r>
            <a:endParaRPr baseline="-21367" sz="195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</a:pPr>
            <a:r>
              <a:rPr dirty="0" sz="2000" spc="-110">
                <a:solidFill>
                  <a:srgbClr val="EC7C30"/>
                </a:solidFill>
                <a:latin typeface="Arial"/>
                <a:cs typeface="Arial"/>
              </a:rPr>
              <a:t>1</a:t>
            </a:r>
            <a:r>
              <a:rPr dirty="0" sz="2000" spc="-105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2000" spc="-180">
                <a:solidFill>
                  <a:srgbClr val="EC7C30"/>
                </a:solidFill>
                <a:latin typeface="Arial"/>
                <a:cs typeface="Arial"/>
              </a:rPr>
              <a:t>&lt;</a:t>
            </a:r>
            <a:r>
              <a:rPr dirty="0" sz="2000" spc="-10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2000" spc="-140">
                <a:solidFill>
                  <a:srgbClr val="EC7C30"/>
                </a:solidFill>
                <a:latin typeface="Arial"/>
                <a:cs typeface="Arial"/>
              </a:rPr>
              <a:t>x</a:t>
            </a:r>
            <a:r>
              <a:rPr dirty="0" sz="2000" spc="-114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2000" spc="-180">
                <a:solidFill>
                  <a:srgbClr val="EC7C30"/>
                </a:solidFill>
                <a:latin typeface="Arial"/>
                <a:cs typeface="Arial"/>
              </a:rPr>
              <a:t>&lt;</a:t>
            </a:r>
            <a:r>
              <a:rPr dirty="0" sz="2000" spc="-10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EC7C30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59273" y="5209285"/>
            <a:ext cx="1715135" cy="118110"/>
          </a:xfrm>
          <a:custGeom>
            <a:avLst/>
            <a:gdLst/>
            <a:ahLst/>
            <a:cxnLst/>
            <a:rect l="l" t="t" r="r" b="b"/>
            <a:pathLst>
              <a:path w="1715134" h="118110">
                <a:moveTo>
                  <a:pt x="1642246" y="71733"/>
                </a:moveTo>
                <a:lnTo>
                  <a:pt x="1600581" y="95884"/>
                </a:lnTo>
                <a:lnTo>
                  <a:pt x="1598549" y="103631"/>
                </a:lnTo>
                <a:lnTo>
                  <a:pt x="1601978" y="109727"/>
                </a:lnTo>
                <a:lnTo>
                  <a:pt x="1605534" y="115823"/>
                </a:lnTo>
                <a:lnTo>
                  <a:pt x="1613281" y="117855"/>
                </a:lnTo>
                <a:lnTo>
                  <a:pt x="1692679" y="71881"/>
                </a:lnTo>
                <a:lnTo>
                  <a:pt x="1642246" y="71733"/>
                </a:lnTo>
                <a:close/>
              </a:path>
              <a:path w="1715134" h="118110">
                <a:moveTo>
                  <a:pt x="1683004" y="48132"/>
                </a:moveTo>
                <a:lnTo>
                  <a:pt x="1642246" y="71733"/>
                </a:lnTo>
                <a:lnTo>
                  <a:pt x="1689354" y="71881"/>
                </a:lnTo>
                <a:lnTo>
                  <a:pt x="1689354" y="70103"/>
                </a:lnTo>
                <a:lnTo>
                  <a:pt x="1682877" y="70103"/>
                </a:lnTo>
                <a:lnTo>
                  <a:pt x="1664322" y="59181"/>
                </a:lnTo>
                <a:lnTo>
                  <a:pt x="1682940" y="59181"/>
                </a:lnTo>
                <a:lnTo>
                  <a:pt x="1683004" y="48132"/>
                </a:lnTo>
                <a:close/>
              </a:path>
              <a:path w="1715134" h="118110">
                <a:moveTo>
                  <a:pt x="1613662" y="0"/>
                </a:moveTo>
                <a:lnTo>
                  <a:pt x="1605915" y="2031"/>
                </a:lnTo>
                <a:lnTo>
                  <a:pt x="1602359" y="8000"/>
                </a:lnTo>
                <a:lnTo>
                  <a:pt x="1598803" y="14096"/>
                </a:lnTo>
                <a:lnTo>
                  <a:pt x="1600835" y="21843"/>
                </a:lnTo>
                <a:lnTo>
                  <a:pt x="1642495" y="46334"/>
                </a:lnTo>
                <a:lnTo>
                  <a:pt x="1689354" y="46481"/>
                </a:lnTo>
                <a:lnTo>
                  <a:pt x="1689354" y="71881"/>
                </a:lnTo>
                <a:lnTo>
                  <a:pt x="1692679" y="71881"/>
                </a:lnTo>
                <a:lnTo>
                  <a:pt x="1714627" y="59181"/>
                </a:lnTo>
                <a:lnTo>
                  <a:pt x="1613662" y="0"/>
                </a:lnTo>
                <a:close/>
              </a:path>
              <a:path w="1715134" h="118110">
                <a:moveTo>
                  <a:pt x="0" y="41147"/>
                </a:moveTo>
                <a:lnTo>
                  <a:pt x="0" y="66547"/>
                </a:lnTo>
                <a:lnTo>
                  <a:pt x="1642246" y="71733"/>
                </a:lnTo>
                <a:lnTo>
                  <a:pt x="1663922" y="59181"/>
                </a:lnTo>
                <a:lnTo>
                  <a:pt x="1664322" y="59181"/>
                </a:lnTo>
                <a:lnTo>
                  <a:pt x="1642495" y="46334"/>
                </a:lnTo>
                <a:lnTo>
                  <a:pt x="0" y="41147"/>
                </a:lnTo>
                <a:close/>
              </a:path>
              <a:path w="1715134" h="118110">
                <a:moveTo>
                  <a:pt x="1682940" y="59181"/>
                </a:moveTo>
                <a:lnTo>
                  <a:pt x="1664322" y="59181"/>
                </a:lnTo>
                <a:lnTo>
                  <a:pt x="1682877" y="70103"/>
                </a:lnTo>
                <a:lnTo>
                  <a:pt x="1682940" y="59181"/>
                </a:lnTo>
                <a:close/>
              </a:path>
              <a:path w="1715134" h="118110">
                <a:moveTo>
                  <a:pt x="1689354" y="48132"/>
                </a:moveTo>
                <a:lnTo>
                  <a:pt x="1683004" y="48132"/>
                </a:lnTo>
                <a:lnTo>
                  <a:pt x="1682940" y="59181"/>
                </a:lnTo>
                <a:lnTo>
                  <a:pt x="1682877" y="70103"/>
                </a:lnTo>
                <a:lnTo>
                  <a:pt x="1689354" y="70103"/>
                </a:lnTo>
                <a:lnTo>
                  <a:pt x="1689354" y="48132"/>
                </a:lnTo>
                <a:close/>
              </a:path>
              <a:path w="1715134" h="118110">
                <a:moveTo>
                  <a:pt x="1642495" y="46334"/>
                </a:moveTo>
                <a:lnTo>
                  <a:pt x="1664322" y="59181"/>
                </a:lnTo>
                <a:lnTo>
                  <a:pt x="1663922" y="59181"/>
                </a:lnTo>
                <a:lnTo>
                  <a:pt x="1683004" y="48132"/>
                </a:lnTo>
                <a:lnTo>
                  <a:pt x="1689354" y="48132"/>
                </a:lnTo>
                <a:lnTo>
                  <a:pt x="1689354" y="46481"/>
                </a:lnTo>
                <a:lnTo>
                  <a:pt x="1642495" y="463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573011" y="3517391"/>
            <a:ext cx="1213485" cy="6432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5"/>
              </a:spcBef>
            </a:pPr>
            <a:r>
              <a:rPr dirty="0" sz="2000" spc="-25">
                <a:latin typeface="Arial"/>
                <a:cs typeface="Arial"/>
              </a:rPr>
              <a:t>l</a:t>
            </a:r>
            <a:r>
              <a:rPr dirty="0" baseline="-21367" sz="1950" spc="-37">
                <a:latin typeface="Arial"/>
                <a:cs typeface="Arial"/>
              </a:rPr>
              <a:t>1</a:t>
            </a:r>
            <a:endParaRPr baseline="-21367" sz="1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000" spc="-140">
                <a:solidFill>
                  <a:srgbClr val="6FAC46"/>
                </a:solidFill>
                <a:latin typeface="Arial"/>
                <a:cs typeface="Arial"/>
              </a:rPr>
              <a:t>x</a:t>
            </a:r>
            <a:r>
              <a:rPr dirty="0" sz="2000" spc="-114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dirty="0" sz="2000" spc="-180">
                <a:solidFill>
                  <a:srgbClr val="6FAC46"/>
                </a:solidFill>
                <a:latin typeface="Arial"/>
                <a:cs typeface="Arial"/>
              </a:rPr>
              <a:t>=</a:t>
            </a:r>
            <a:r>
              <a:rPr dirty="0" sz="2000" spc="-10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6FAC46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21397" y="4161282"/>
            <a:ext cx="118110" cy="780415"/>
          </a:xfrm>
          <a:custGeom>
            <a:avLst/>
            <a:gdLst/>
            <a:ahLst/>
            <a:cxnLst/>
            <a:rect l="l" t="t" r="r" b="b"/>
            <a:pathLst>
              <a:path w="118109" h="780414">
                <a:moveTo>
                  <a:pt x="58927" y="50219"/>
                </a:moveTo>
                <a:lnTo>
                  <a:pt x="46227" y="71990"/>
                </a:lnTo>
                <a:lnTo>
                  <a:pt x="46227" y="780414"/>
                </a:lnTo>
                <a:lnTo>
                  <a:pt x="71627" y="780414"/>
                </a:lnTo>
                <a:lnTo>
                  <a:pt x="71627" y="71990"/>
                </a:lnTo>
                <a:lnTo>
                  <a:pt x="58927" y="50219"/>
                </a:lnTo>
                <a:close/>
              </a:path>
              <a:path w="118109" h="780414">
                <a:moveTo>
                  <a:pt x="58927" y="0"/>
                </a:moveTo>
                <a:lnTo>
                  <a:pt x="3555" y="94995"/>
                </a:lnTo>
                <a:lnTo>
                  <a:pt x="0" y="100964"/>
                </a:lnTo>
                <a:lnTo>
                  <a:pt x="2031" y="108838"/>
                </a:lnTo>
                <a:lnTo>
                  <a:pt x="8127" y="112267"/>
                </a:lnTo>
                <a:lnTo>
                  <a:pt x="14096" y="115823"/>
                </a:lnTo>
                <a:lnTo>
                  <a:pt x="21970" y="113791"/>
                </a:lnTo>
                <a:lnTo>
                  <a:pt x="25399" y="107695"/>
                </a:lnTo>
                <a:lnTo>
                  <a:pt x="46227" y="71990"/>
                </a:lnTo>
                <a:lnTo>
                  <a:pt x="46227" y="25145"/>
                </a:lnTo>
                <a:lnTo>
                  <a:pt x="73585" y="25145"/>
                </a:lnTo>
                <a:lnTo>
                  <a:pt x="58927" y="0"/>
                </a:lnTo>
                <a:close/>
              </a:path>
              <a:path w="118109" h="780414">
                <a:moveTo>
                  <a:pt x="73585" y="25145"/>
                </a:moveTo>
                <a:lnTo>
                  <a:pt x="71627" y="25145"/>
                </a:lnTo>
                <a:lnTo>
                  <a:pt x="71627" y="71990"/>
                </a:lnTo>
                <a:lnTo>
                  <a:pt x="92455" y="107695"/>
                </a:lnTo>
                <a:lnTo>
                  <a:pt x="95884" y="113791"/>
                </a:lnTo>
                <a:lnTo>
                  <a:pt x="103758" y="115823"/>
                </a:lnTo>
                <a:lnTo>
                  <a:pt x="109727" y="112267"/>
                </a:lnTo>
                <a:lnTo>
                  <a:pt x="115823" y="108838"/>
                </a:lnTo>
                <a:lnTo>
                  <a:pt x="117855" y="100964"/>
                </a:lnTo>
                <a:lnTo>
                  <a:pt x="114299" y="94995"/>
                </a:lnTo>
                <a:lnTo>
                  <a:pt x="73585" y="25145"/>
                </a:lnTo>
                <a:close/>
              </a:path>
              <a:path w="118109" h="780414">
                <a:moveTo>
                  <a:pt x="71627" y="25145"/>
                </a:moveTo>
                <a:lnTo>
                  <a:pt x="46227" y="25145"/>
                </a:lnTo>
                <a:lnTo>
                  <a:pt x="46227" y="71990"/>
                </a:lnTo>
                <a:lnTo>
                  <a:pt x="58927" y="50219"/>
                </a:lnTo>
                <a:lnTo>
                  <a:pt x="48005" y="31495"/>
                </a:lnTo>
                <a:lnTo>
                  <a:pt x="71627" y="31495"/>
                </a:lnTo>
                <a:lnTo>
                  <a:pt x="71627" y="25145"/>
                </a:lnTo>
                <a:close/>
              </a:path>
              <a:path w="118109" h="780414">
                <a:moveTo>
                  <a:pt x="71627" y="31495"/>
                </a:moveTo>
                <a:lnTo>
                  <a:pt x="69849" y="31495"/>
                </a:lnTo>
                <a:lnTo>
                  <a:pt x="58927" y="50219"/>
                </a:lnTo>
                <a:lnTo>
                  <a:pt x="71627" y="71990"/>
                </a:lnTo>
                <a:lnTo>
                  <a:pt x="71627" y="31495"/>
                </a:lnTo>
                <a:close/>
              </a:path>
              <a:path w="118109" h="780414">
                <a:moveTo>
                  <a:pt x="69849" y="31495"/>
                </a:moveTo>
                <a:lnTo>
                  <a:pt x="48005" y="31495"/>
                </a:lnTo>
                <a:lnTo>
                  <a:pt x="58927" y="50219"/>
                </a:lnTo>
                <a:lnTo>
                  <a:pt x="69849" y="314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643884" y="2089404"/>
            <a:ext cx="1214755" cy="6432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635">
              <a:lnSpc>
                <a:spcPct val="100000"/>
              </a:lnSpc>
            </a:pPr>
            <a:r>
              <a:rPr dirty="0" sz="2000" spc="-25">
                <a:latin typeface="Arial"/>
                <a:cs typeface="Arial"/>
              </a:rPr>
              <a:t>l</a:t>
            </a:r>
            <a:r>
              <a:rPr dirty="0" baseline="-21367" sz="1950" spc="-37">
                <a:latin typeface="Arial"/>
                <a:cs typeface="Arial"/>
              </a:rPr>
              <a:t>1</a:t>
            </a:r>
            <a:endParaRPr baseline="-21367" sz="1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000" spc="-140">
                <a:solidFill>
                  <a:srgbClr val="6FAC46"/>
                </a:solidFill>
                <a:latin typeface="Arial"/>
                <a:cs typeface="Arial"/>
              </a:rPr>
              <a:t>x</a:t>
            </a:r>
            <a:r>
              <a:rPr dirty="0" sz="2000" spc="-114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dirty="0" sz="2000" spc="-180">
                <a:solidFill>
                  <a:srgbClr val="6FAC46"/>
                </a:solidFill>
                <a:latin typeface="Arial"/>
                <a:cs typeface="Arial"/>
              </a:rPr>
              <a:t>=</a:t>
            </a:r>
            <a:r>
              <a:rPr dirty="0" sz="2000" spc="-100">
                <a:solidFill>
                  <a:srgbClr val="6FAC46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6FAC46"/>
                </a:solidFill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51910" y="2326385"/>
            <a:ext cx="292735" cy="118110"/>
          </a:xfrm>
          <a:custGeom>
            <a:avLst/>
            <a:gdLst/>
            <a:ahLst/>
            <a:cxnLst/>
            <a:rect l="l" t="t" r="r" b="b"/>
            <a:pathLst>
              <a:path w="292735" h="118110">
                <a:moveTo>
                  <a:pt x="220165" y="71763"/>
                </a:moveTo>
                <a:lnTo>
                  <a:pt x="178307" y="95885"/>
                </a:lnTo>
                <a:lnTo>
                  <a:pt x="176148" y="103632"/>
                </a:lnTo>
                <a:lnTo>
                  <a:pt x="179704" y="109728"/>
                </a:lnTo>
                <a:lnTo>
                  <a:pt x="183133" y="115824"/>
                </a:lnTo>
                <a:lnTo>
                  <a:pt x="190880" y="117856"/>
                </a:lnTo>
                <a:lnTo>
                  <a:pt x="196976" y="114427"/>
                </a:lnTo>
                <a:lnTo>
                  <a:pt x="270717" y="72009"/>
                </a:lnTo>
                <a:lnTo>
                  <a:pt x="267080" y="72009"/>
                </a:lnTo>
                <a:lnTo>
                  <a:pt x="220165" y="71763"/>
                </a:lnTo>
                <a:close/>
              </a:path>
              <a:path w="292735" h="118110">
                <a:moveTo>
                  <a:pt x="241859" y="59261"/>
                </a:moveTo>
                <a:lnTo>
                  <a:pt x="220165" y="71763"/>
                </a:lnTo>
                <a:lnTo>
                  <a:pt x="267080" y="72009"/>
                </a:lnTo>
                <a:lnTo>
                  <a:pt x="267089" y="70358"/>
                </a:lnTo>
                <a:lnTo>
                  <a:pt x="260603" y="70358"/>
                </a:lnTo>
                <a:lnTo>
                  <a:pt x="241859" y="59261"/>
                </a:lnTo>
                <a:close/>
              </a:path>
              <a:path w="292735" h="118110">
                <a:moveTo>
                  <a:pt x="191515" y="0"/>
                </a:moveTo>
                <a:lnTo>
                  <a:pt x="183768" y="2032"/>
                </a:lnTo>
                <a:lnTo>
                  <a:pt x="180212" y="8001"/>
                </a:lnTo>
                <a:lnTo>
                  <a:pt x="176656" y="14097"/>
                </a:lnTo>
                <a:lnTo>
                  <a:pt x="178688" y="21844"/>
                </a:lnTo>
                <a:lnTo>
                  <a:pt x="220068" y="46362"/>
                </a:lnTo>
                <a:lnTo>
                  <a:pt x="267207" y="46609"/>
                </a:lnTo>
                <a:lnTo>
                  <a:pt x="267080" y="72009"/>
                </a:lnTo>
                <a:lnTo>
                  <a:pt x="270717" y="72009"/>
                </a:lnTo>
                <a:lnTo>
                  <a:pt x="292353" y="59563"/>
                </a:lnTo>
                <a:lnTo>
                  <a:pt x="191515" y="0"/>
                </a:lnTo>
                <a:close/>
              </a:path>
              <a:path w="292735" h="118110">
                <a:moveTo>
                  <a:pt x="253" y="45212"/>
                </a:moveTo>
                <a:lnTo>
                  <a:pt x="240" y="46609"/>
                </a:lnTo>
                <a:lnTo>
                  <a:pt x="113" y="59261"/>
                </a:lnTo>
                <a:lnTo>
                  <a:pt x="0" y="70612"/>
                </a:lnTo>
                <a:lnTo>
                  <a:pt x="220165" y="71763"/>
                </a:lnTo>
                <a:lnTo>
                  <a:pt x="241859" y="59261"/>
                </a:lnTo>
                <a:lnTo>
                  <a:pt x="220068" y="46362"/>
                </a:lnTo>
                <a:lnTo>
                  <a:pt x="253" y="45212"/>
                </a:lnTo>
                <a:close/>
              </a:path>
              <a:path w="292735" h="118110">
                <a:moveTo>
                  <a:pt x="260730" y="48387"/>
                </a:moveTo>
                <a:lnTo>
                  <a:pt x="241859" y="59261"/>
                </a:lnTo>
                <a:lnTo>
                  <a:pt x="260603" y="70358"/>
                </a:lnTo>
                <a:lnTo>
                  <a:pt x="260668" y="59261"/>
                </a:lnTo>
                <a:lnTo>
                  <a:pt x="260730" y="48387"/>
                </a:lnTo>
                <a:close/>
              </a:path>
              <a:path w="292735" h="118110">
                <a:moveTo>
                  <a:pt x="267199" y="48387"/>
                </a:moveTo>
                <a:lnTo>
                  <a:pt x="260730" y="48387"/>
                </a:lnTo>
                <a:lnTo>
                  <a:pt x="260668" y="59261"/>
                </a:lnTo>
                <a:lnTo>
                  <a:pt x="260603" y="70358"/>
                </a:lnTo>
                <a:lnTo>
                  <a:pt x="267089" y="70358"/>
                </a:lnTo>
                <a:lnTo>
                  <a:pt x="267199" y="48387"/>
                </a:lnTo>
                <a:close/>
              </a:path>
              <a:path w="292735" h="118110">
                <a:moveTo>
                  <a:pt x="220068" y="46362"/>
                </a:moveTo>
                <a:lnTo>
                  <a:pt x="241859" y="59261"/>
                </a:lnTo>
                <a:lnTo>
                  <a:pt x="260730" y="48387"/>
                </a:lnTo>
                <a:lnTo>
                  <a:pt x="267199" y="48387"/>
                </a:lnTo>
                <a:lnTo>
                  <a:pt x="267207" y="46609"/>
                </a:lnTo>
                <a:lnTo>
                  <a:pt x="220068" y="4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643884" y="4064508"/>
            <a:ext cx="1214755" cy="6432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2000" spc="-25">
                <a:latin typeface="Arial"/>
                <a:cs typeface="Arial"/>
              </a:rPr>
              <a:t>l</a:t>
            </a:r>
            <a:r>
              <a:rPr dirty="0" baseline="-21367" sz="1950" spc="-37">
                <a:latin typeface="Arial"/>
                <a:cs typeface="Arial"/>
              </a:rPr>
              <a:t>1</a:t>
            </a:r>
            <a:endParaRPr baseline="-21367" sz="1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000" spc="-110">
                <a:solidFill>
                  <a:srgbClr val="EC7C30"/>
                </a:solidFill>
                <a:latin typeface="Arial"/>
                <a:cs typeface="Arial"/>
              </a:rPr>
              <a:t>0</a:t>
            </a:r>
            <a:r>
              <a:rPr dirty="0" sz="2000" spc="-10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2000" spc="-180">
                <a:solidFill>
                  <a:srgbClr val="EC7C30"/>
                </a:solidFill>
                <a:latin typeface="Arial"/>
                <a:cs typeface="Arial"/>
              </a:rPr>
              <a:t>&lt;</a:t>
            </a:r>
            <a:r>
              <a:rPr dirty="0" sz="2000" spc="-105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2000" spc="-140">
                <a:solidFill>
                  <a:srgbClr val="EC7C30"/>
                </a:solidFill>
                <a:latin typeface="Arial"/>
                <a:cs typeface="Arial"/>
              </a:rPr>
              <a:t>x</a:t>
            </a:r>
            <a:r>
              <a:rPr dirty="0" sz="2000" spc="-11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2000" spc="-180">
                <a:solidFill>
                  <a:srgbClr val="EC7C30"/>
                </a:solidFill>
                <a:latin typeface="Arial"/>
                <a:cs typeface="Arial"/>
              </a:rPr>
              <a:t>&lt;</a:t>
            </a:r>
            <a:r>
              <a:rPr dirty="0" sz="2000" spc="-10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EC7C30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192270" y="2733294"/>
            <a:ext cx="118110" cy="1332230"/>
          </a:xfrm>
          <a:custGeom>
            <a:avLst/>
            <a:gdLst/>
            <a:ahLst/>
            <a:cxnLst/>
            <a:rect l="l" t="t" r="r" b="b"/>
            <a:pathLst>
              <a:path w="118110" h="1332229">
                <a:moveTo>
                  <a:pt x="14096" y="1216406"/>
                </a:moveTo>
                <a:lnTo>
                  <a:pt x="8127" y="1219962"/>
                </a:lnTo>
                <a:lnTo>
                  <a:pt x="2031" y="1223391"/>
                </a:lnTo>
                <a:lnTo>
                  <a:pt x="0" y="1231265"/>
                </a:lnTo>
                <a:lnTo>
                  <a:pt x="3555" y="1237234"/>
                </a:lnTo>
                <a:lnTo>
                  <a:pt x="58927" y="1332230"/>
                </a:lnTo>
                <a:lnTo>
                  <a:pt x="73585" y="1307084"/>
                </a:lnTo>
                <a:lnTo>
                  <a:pt x="46227" y="1307084"/>
                </a:lnTo>
                <a:lnTo>
                  <a:pt x="46227" y="1260239"/>
                </a:lnTo>
                <a:lnTo>
                  <a:pt x="25399" y="1224534"/>
                </a:lnTo>
                <a:lnTo>
                  <a:pt x="21970" y="1218438"/>
                </a:lnTo>
                <a:lnTo>
                  <a:pt x="14096" y="1216406"/>
                </a:lnTo>
                <a:close/>
              </a:path>
              <a:path w="118110" h="1332229">
                <a:moveTo>
                  <a:pt x="46227" y="1260239"/>
                </a:moveTo>
                <a:lnTo>
                  <a:pt x="46227" y="1307084"/>
                </a:lnTo>
                <a:lnTo>
                  <a:pt x="71627" y="1307084"/>
                </a:lnTo>
                <a:lnTo>
                  <a:pt x="71627" y="1300734"/>
                </a:lnTo>
                <a:lnTo>
                  <a:pt x="48005" y="1300734"/>
                </a:lnTo>
                <a:lnTo>
                  <a:pt x="58927" y="1282010"/>
                </a:lnTo>
                <a:lnTo>
                  <a:pt x="46227" y="1260239"/>
                </a:lnTo>
                <a:close/>
              </a:path>
              <a:path w="118110" h="1332229">
                <a:moveTo>
                  <a:pt x="103758" y="1216406"/>
                </a:moveTo>
                <a:lnTo>
                  <a:pt x="95884" y="1218438"/>
                </a:lnTo>
                <a:lnTo>
                  <a:pt x="92455" y="1224534"/>
                </a:lnTo>
                <a:lnTo>
                  <a:pt x="71627" y="1260239"/>
                </a:lnTo>
                <a:lnTo>
                  <a:pt x="71627" y="1307084"/>
                </a:lnTo>
                <a:lnTo>
                  <a:pt x="73585" y="1307084"/>
                </a:lnTo>
                <a:lnTo>
                  <a:pt x="114299" y="1237234"/>
                </a:lnTo>
                <a:lnTo>
                  <a:pt x="117855" y="1231265"/>
                </a:lnTo>
                <a:lnTo>
                  <a:pt x="115823" y="1223391"/>
                </a:lnTo>
                <a:lnTo>
                  <a:pt x="109727" y="1219962"/>
                </a:lnTo>
                <a:lnTo>
                  <a:pt x="103758" y="1216406"/>
                </a:lnTo>
                <a:close/>
              </a:path>
              <a:path w="118110" h="1332229">
                <a:moveTo>
                  <a:pt x="58927" y="1282010"/>
                </a:moveTo>
                <a:lnTo>
                  <a:pt x="48005" y="1300734"/>
                </a:lnTo>
                <a:lnTo>
                  <a:pt x="69849" y="1300734"/>
                </a:lnTo>
                <a:lnTo>
                  <a:pt x="58927" y="1282010"/>
                </a:lnTo>
                <a:close/>
              </a:path>
              <a:path w="118110" h="1332229">
                <a:moveTo>
                  <a:pt x="71627" y="1260239"/>
                </a:moveTo>
                <a:lnTo>
                  <a:pt x="58927" y="1282010"/>
                </a:lnTo>
                <a:lnTo>
                  <a:pt x="69849" y="1300734"/>
                </a:lnTo>
                <a:lnTo>
                  <a:pt x="71627" y="1300734"/>
                </a:lnTo>
                <a:lnTo>
                  <a:pt x="71627" y="1260239"/>
                </a:lnTo>
                <a:close/>
              </a:path>
              <a:path w="118110" h="1332229">
                <a:moveTo>
                  <a:pt x="71627" y="0"/>
                </a:moveTo>
                <a:lnTo>
                  <a:pt x="46227" y="0"/>
                </a:lnTo>
                <a:lnTo>
                  <a:pt x="46227" y="1260239"/>
                </a:lnTo>
                <a:lnTo>
                  <a:pt x="58927" y="1282010"/>
                </a:lnTo>
                <a:lnTo>
                  <a:pt x="71627" y="1260239"/>
                </a:lnTo>
                <a:lnTo>
                  <a:pt x="716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088894" y="3187954"/>
            <a:ext cx="10928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14" b="1">
                <a:latin typeface="Arial"/>
                <a:cs typeface="Arial"/>
              </a:rPr>
              <a:t>Zeitschritt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73011" y="2089404"/>
            <a:ext cx="1213485" cy="643255"/>
          </a:xfrm>
          <a:custGeom>
            <a:avLst/>
            <a:gdLst/>
            <a:ahLst/>
            <a:cxnLst/>
            <a:rect l="l" t="t" r="r" b="b"/>
            <a:pathLst>
              <a:path w="1213484" h="643255">
                <a:moveTo>
                  <a:pt x="0" y="643127"/>
                </a:moveTo>
                <a:lnTo>
                  <a:pt x="1213103" y="643127"/>
                </a:lnTo>
                <a:lnTo>
                  <a:pt x="1213103" y="0"/>
                </a:lnTo>
                <a:lnTo>
                  <a:pt x="0" y="0"/>
                </a:lnTo>
                <a:lnTo>
                  <a:pt x="0" y="643127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096506" y="2076704"/>
            <a:ext cx="8382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0"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54418" y="2224532"/>
            <a:ext cx="11176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50"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27342" y="2381504"/>
            <a:ext cx="505459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40">
                <a:solidFill>
                  <a:srgbClr val="EC7C30"/>
                </a:solidFill>
                <a:latin typeface="Arial"/>
                <a:cs typeface="Arial"/>
              </a:rPr>
              <a:t>x</a:t>
            </a:r>
            <a:r>
              <a:rPr dirty="0" sz="2000" spc="-114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2000" spc="-180">
                <a:solidFill>
                  <a:srgbClr val="EC7C30"/>
                </a:solidFill>
                <a:latin typeface="Arial"/>
                <a:cs typeface="Arial"/>
              </a:rPr>
              <a:t>&gt;</a:t>
            </a:r>
            <a:r>
              <a:rPr dirty="0" sz="2000" spc="-10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EC7C30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59273" y="2171064"/>
            <a:ext cx="3473450" cy="1358900"/>
            <a:chOff x="4859273" y="2171064"/>
            <a:chExt cx="3473450" cy="1358900"/>
          </a:xfrm>
        </p:grpSpPr>
        <p:sp>
          <p:nvSpPr>
            <p:cNvPr id="24" name="object 24"/>
            <p:cNvSpPr/>
            <p:nvPr/>
          </p:nvSpPr>
          <p:spPr>
            <a:xfrm>
              <a:off x="7121397" y="2733293"/>
              <a:ext cx="118110" cy="786130"/>
            </a:xfrm>
            <a:custGeom>
              <a:avLst/>
              <a:gdLst/>
              <a:ahLst/>
              <a:cxnLst/>
              <a:rect l="l" t="t" r="r" b="b"/>
              <a:pathLst>
                <a:path w="118109" h="786129">
                  <a:moveTo>
                    <a:pt x="58927" y="50219"/>
                  </a:moveTo>
                  <a:lnTo>
                    <a:pt x="46227" y="71990"/>
                  </a:lnTo>
                  <a:lnTo>
                    <a:pt x="46227" y="785876"/>
                  </a:lnTo>
                  <a:lnTo>
                    <a:pt x="71627" y="785876"/>
                  </a:lnTo>
                  <a:lnTo>
                    <a:pt x="71627" y="71990"/>
                  </a:lnTo>
                  <a:lnTo>
                    <a:pt x="58927" y="50219"/>
                  </a:lnTo>
                  <a:close/>
                </a:path>
                <a:path w="118109" h="786129">
                  <a:moveTo>
                    <a:pt x="58927" y="0"/>
                  </a:moveTo>
                  <a:lnTo>
                    <a:pt x="3555" y="94995"/>
                  </a:lnTo>
                  <a:lnTo>
                    <a:pt x="0" y="100964"/>
                  </a:lnTo>
                  <a:lnTo>
                    <a:pt x="2031" y="108838"/>
                  </a:lnTo>
                  <a:lnTo>
                    <a:pt x="8127" y="112267"/>
                  </a:lnTo>
                  <a:lnTo>
                    <a:pt x="14096" y="115823"/>
                  </a:lnTo>
                  <a:lnTo>
                    <a:pt x="21970" y="113791"/>
                  </a:lnTo>
                  <a:lnTo>
                    <a:pt x="25399" y="107695"/>
                  </a:lnTo>
                  <a:lnTo>
                    <a:pt x="46227" y="71990"/>
                  </a:lnTo>
                  <a:lnTo>
                    <a:pt x="46227" y="25145"/>
                  </a:lnTo>
                  <a:lnTo>
                    <a:pt x="73585" y="25145"/>
                  </a:lnTo>
                  <a:lnTo>
                    <a:pt x="58927" y="0"/>
                  </a:lnTo>
                  <a:close/>
                </a:path>
                <a:path w="118109" h="786129">
                  <a:moveTo>
                    <a:pt x="73585" y="25145"/>
                  </a:moveTo>
                  <a:lnTo>
                    <a:pt x="71627" y="25145"/>
                  </a:lnTo>
                  <a:lnTo>
                    <a:pt x="71627" y="71990"/>
                  </a:lnTo>
                  <a:lnTo>
                    <a:pt x="92455" y="107695"/>
                  </a:lnTo>
                  <a:lnTo>
                    <a:pt x="95884" y="113791"/>
                  </a:lnTo>
                  <a:lnTo>
                    <a:pt x="103758" y="115823"/>
                  </a:lnTo>
                  <a:lnTo>
                    <a:pt x="109727" y="112267"/>
                  </a:lnTo>
                  <a:lnTo>
                    <a:pt x="115823" y="108838"/>
                  </a:lnTo>
                  <a:lnTo>
                    <a:pt x="117855" y="100964"/>
                  </a:lnTo>
                  <a:lnTo>
                    <a:pt x="114299" y="94995"/>
                  </a:lnTo>
                  <a:lnTo>
                    <a:pt x="73585" y="25145"/>
                  </a:lnTo>
                  <a:close/>
                </a:path>
                <a:path w="118109" h="786129">
                  <a:moveTo>
                    <a:pt x="71627" y="25145"/>
                  </a:moveTo>
                  <a:lnTo>
                    <a:pt x="46227" y="25145"/>
                  </a:lnTo>
                  <a:lnTo>
                    <a:pt x="46227" y="71990"/>
                  </a:lnTo>
                  <a:lnTo>
                    <a:pt x="58927" y="50219"/>
                  </a:lnTo>
                  <a:lnTo>
                    <a:pt x="48005" y="31495"/>
                  </a:lnTo>
                  <a:lnTo>
                    <a:pt x="71627" y="31495"/>
                  </a:lnTo>
                  <a:lnTo>
                    <a:pt x="71627" y="25145"/>
                  </a:lnTo>
                  <a:close/>
                </a:path>
                <a:path w="118109" h="786129">
                  <a:moveTo>
                    <a:pt x="71627" y="31495"/>
                  </a:moveTo>
                  <a:lnTo>
                    <a:pt x="69849" y="31495"/>
                  </a:lnTo>
                  <a:lnTo>
                    <a:pt x="58927" y="50219"/>
                  </a:lnTo>
                  <a:lnTo>
                    <a:pt x="71627" y="71990"/>
                  </a:lnTo>
                  <a:lnTo>
                    <a:pt x="71627" y="31495"/>
                  </a:lnTo>
                  <a:close/>
                </a:path>
                <a:path w="118109" h="786129">
                  <a:moveTo>
                    <a:pt x="69849" y="31495"/>
                  </a:moveTo>
                  <a:lnTo>
                    <a:pt x="48005" y="31495"/>
                  </a:lnTo>
                  <a:lnTo>
                    <a:pt x="58927" y="50219"/>
                  </a:lnTo>
                  <a:lnTo>
                    <a:pt x="69849" y="314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859273" y="2244597"/>
              <a:ext cx="1714500" cy="118110"/>
            </a:xfrm>
            <a:custGeom>
              <a:avLst/>
              <a:gdLst/>
              <a:ahLst/>
              <a:cxnLst/>
              <a:rect l="l" t="t" r="r" b="b"/>
              <a:pathLst>
                <a:path w="1714499" h="118110">
                  <a:moveTo>
                    <a:pt x="100965" y="0"/>
                  </a:moveTo>
                  <a:lnTo>
                    <a:pt x="94996" y="3555"/>
                  </a:lnTo>
                  <a:lnTo>
                    <a:pt x="0" y="58927"/>
                  </a:lnTo>
                  <a:lnTo>
                    <a:pt x="94996" y="114299"/>
                  </a:lnTo>
                  <a:lnTo>
                    <a:pt x="100965" y="117855"/>
                  </a:lnTo>
                  <a:lnTo>
                    <a:pt x="108838" y="115823"/>
                  </a:lnTo>
                  <a:lnTo>
                    <a:pt x="112268" y="109727"/>
                  </a:lnTo>
                  <a:lnTo>
                    <a:pt x="115824" y="103758"/>
                  </a:lnTo>
                  <a:lnTo>
                    <a:pt x="113791" y="95884"/>
                  </a:lnTo>
                  <a:lnTo>
                    <a:pt x="107696" y="92455"/>
                  </a:lnTo>
                  <a:lnTo>
                    <a:pt x="71990" y="71627"/>
                  </a:lnTo>
                  <a:lnTo>
                    <a:pt x="25145" y="71627"/>
                  </a:lnTo>
                  <a:lnTo>
                    <a:pt x="25145" y="46227"/>
                  </a:lnTo>
                  <a:lnTo>
                    <a:pt x="71990" y="46227"/>
                  </a:lnTo>
                  <a:lnTo>
                    <a:pt x="107696" y="25399"/>
                  </a:lnTo>
                  <a:lnTo>
                    <a:pt x="113791" y="21970"/>
                  </a:lnTo>
                  <a:lnTo>
                    <a:pt x="115824" y="14096"/>
                  </a:lnTo>
                  <a:lnTo>
                    <a:pt x="112268" y="8127"/>
                  </a:lnTo>
                  <a:lnTo>
                    <a:pt x="108838" y="2031"/>
                  </a:lnTo>
                  <a:lnTo>
                    <a:pt x="100965" y="0"/>
                  </a:lnTo>
                  <a:close/>
                </a:path>
                <a:path w="1714499" h="118110">
                  <a:moveTo>
                    <a:pt x="71990" y="46227"/>
                  </a:moveTo>
                  <a:lnTo>
                    <a:pt x="25145" y="46227"/>
                  </a:lnTo>
                  <a:lnTo>
                    <a:pt x="25145" y="71627"/>
                  </a:lnTo>
                  <a:lnTo>
                    <a:pt x="71990" y="71627"/>
                  </a:lnTo>
                  <a:lnTo>
                    <a:pt x="68942" y="69849"/>
                  </a:lnTo>
                  <a:lnTo>
                    <a:pt x="31495" y="69849"/>
                  </a:lnTo>
                  <a:lnTo>
                    <a:pt x="31495" y="48005"/>
                  </a:lnTo>
                  <a:lnTo>
                    <a:pt x="68942" y="48005"/>
                  </a:lnTo>
                  <a:lnTo>
                    <a:pt x="71990" y="46227"/>
                  </a:lnTo>
                  <a:close/>
                </a:path>
                <a:path w="1714499" h="118110">
                  <a:moveTo>
                    <a:pt x="1714500" y="46227"/>
                  </a:moveTo>
                  <a:lnTo>
                    <a:pt x="71990" y="46227"/>
                  </a:lnTo>
                  <a:lnTo>
                    <a:pt x="50219" y="58927"/>
                  </a:lnTo>
                  <a:lnTo>
                    <a:pt x="71990" y="71627"/>
                  </a:lnTo>
                  <a:lnTo>
                    <a:pt x="1714500" y="71627"/>
                  </a:lnTo>
                  <a:lnTo>
                    <a:pt x="1714500" y="46227"/>
                  </a:lnTo>
                  <a:close/>
                </a:path>
                <a:path w="1714499" h="118110">
                  <a:moveTo>
                    <a:pt x="31495" y="48005"/>
                  </a:moveTo>
                  <a:lnTo>
                    <a:pt x="31495" y="69849"/>
                  </a:lnTo>
                  <a:lnTo>
                    <a:pt x="50219" y="58927"/>
                  </a:lnTo>
                  <a:lnTo>
                    <a:pt x="31495" y="48005"/>
                  </a:lnTo>
                  <a:close/>
                </a:path>
                <a:path w="1714499" h="118110">
                  <a:moveTo>
                    <a:pt x="50219" y="58927"/>
                  </a:moveTo>
                  <a:lnTo>
                    <a:pt x="31495" y="69849"/>
                  </a:lnTo>
                  <a:lnTo>
                    <a:pt x="68942" y="69849"/>
                  </a:lnTo>
                  <a:lnTo>
                    <a:pt x="50219" y="58927"/>
                  </a:lnTo>
                  <a:close/>
                </a:path>
                <a:path w="1714499" h="118110">
                  <a:moveTo>
                    <a:pt x="68942" y="48005"/>
                  </a:moveTo>
                  <a:lnTo>
                    <a:pt x="31495" y="48005"/>
                  </a:lnTo>
                  <a:lnTo>
                    <a:pt x="50219" y="58927"/>
                  </a:lnTo>
                  <a:lnTo>
                    <a:pt x="68942" y="48005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781163" y="2171064"/>
              <a:ext cx="551815" cy="471805"/>
            </a:xfrm>
            <a:custGeom>
              <a:avLst/>
              <a:gdLst/>
              <a:ahLst/>
              <a:cxnLst/>
              <a:rect l="l" t="t" r="r" b="b"/>
              <a:pathLst>
                <a:path w="551815" h="471805">
                  <a:moveTo>
                    <a:pt x="102107" y="361188"/>
                  </a:moveTo>
                  <a:lnTo>
                    <a:pt x="7129" y="416496"/>
                  </a:lnTo>
                  <a:lnTo>
                    <a:pt x="7347" y="416496"/>
                  </a:lnTo>
                  <a:lnTo>
                    <a:pt x="102107" y="471805"/>
                  </a:lnTo>
                  <a:lnTo>
                    <a:pt x="107950" y="470281"/>
                  </a:lnTo>
                  <a:lnTo>
                    <a:pt x="110617" y="465709"/>
                  </a:lnTo>
                  <a:lnTo>
                    <a:pt x="113284" y="461264"/>
                  </a:lnTo>
                  <a:lnTo>
                    <a:pt x="111760" y="455422"/>
                  </a:lnTo>
                  <a:lnTo>
                    <a:pt x="61250" y="425958"/>
                  </a:lnTo>
                  <a:lnTo>
                    <a:pt x="26162" y="425958"/>
                  </a:lnTo>
                  <a:lnTo>
                    <a:pt x="26162" y="407027"/>
                  </a:lnTo>
                  <a:lnTo>
                    <a:pt x="61263" y="407027"/>
                  </a:lnTo>
                  <a:lnTo>
                    <a:pt x="111760" y="377571"/>
                  </a:lnTo>
                  <a:lnTo>
                    <a:pt x="113284" y="371729"/>
                  </a:lnTo>
                  <a:lnTo>
                    <a:pt x="110617" y="367284"/>
                  </a:lnTo>
                  <a:lnTo>
                    <a:pt x="107950" y="362712"/>
                  </a:lnTo>
                  <a:lnTo>
                    <a:pt x="102107" y="361188"/>
                  </a:lnTo>
                  <a:close/>
                </a:path>
                <a:path w="551815" h="471805">
                  <a:moveTo>
                    <a:pt x="61263" y="407027"/>
                  </a:moveTo>
                  <a:lnTo>
                    <a:pt x="26162" y="407027"/>
                  </a:lnTo>
                  <a:lnTo>
                    <a:pt x="26162" y="425958"/>
                  </a:lnTo>
                  <a:lnTo>
                    <a:pt x="61250" y="425958"/>
                  </a:lnTo>
                  <a:lnTo>
                    <a:pt x="59290" y="424815"/>
                  </a:lnTo>
                  <a:lnTo>
                    <a:pt x="30988" y="424815"/>
                  </a:lnTo>
                  <a:lnTo>
                    <a:pt x="30988" y="408305"/>
                  </a:lnTo>
                  <a:lnTo>
                    <a:pt x="59073" y="408305"/>
                  </a:lnTo>
                  <a:lnTo>
                    <a:pt x="61263" y="407027"/>
                  </a:lnTo>
                  <a:close/>
                </a:path>
                <a:path w="551815" h="471805">
                  <a:moveTo>
                    <a:pt x="370090" y="390144"/>
                  </a:moveTo>
                  <a:lnTo>
                    <a:pt x="346459" y="397430"/>
                  </a:lnTo>
                  <a:lnTo>
                    <a:pt x="346264" y="397430"/>
                  </a:lnTo>
                  <a:lnTo>
                    <a:pt x="322580" y="402717"/>
                  </a:lnTo>
                  <a:lnTo>
                    <a:pt x="322384" y="402717"/>
                  </a:lnTo>
                  <a:lnTo>
                    <a:pt x="297905" y="405964"/>
                  </a:lnTo>
                  <a:lnTo>
                    <a:pt x="286265" y="406676"/>
                  </a:lnTo>
                  <a:lnTo>
                    <a:pt x="274338" y="407027"/>
                  </a:lnTo>
                  <a:lnTo>
                    <a:pt x="61263" y="407027"/>
                  </a:lnTo>
                  <a:lnTo>
                    <a:pt x="45030" y="416496"/>
                  </a:lnTo>
                  <a:lnTo>
                    <a:pt x="61250" y="425958"/>
                  </a:lnTo>
                  <a:lnTo>
                    <a:pt x="274828" y="425958"/>
                  </a:lnTo>
                  <a:lnTo>
                    <a:pt x="326263" y="421386"/>
                  </a:lnTo>
                  <a:lnTo>
                    <a:pt x="376047" y="408305"/>
                  </a:lnTo>
                  <a:lnTo>
                    <a:pt x="417506" y="390398"/>
                  </a:lnTo>
                  <a:lnTo>
                    <a:pt x="369443" y="390398"/>
                  </a:lnTo>
                  <a:lnTo>
                    <a:pt x="370090" y="390144"/>
                  </a:lnTo>
                  <a:close/>
                </a:path>
                <a:path w="551815" h="471805">
                  <a:moveTo>
                    <a:pt x="30988" y="408305"/>
                  </a:moveTo>
                  <a:lnTo>
                    <a:pt x="30988" y="424815"/>
                  </a:lnTo>
                  <a:lnTo>
                    <a:pt x="30770" y="424815"/>
                  </a:lnTo>
                  <a:lnTo>
                    <a:pt x="45030" y="416496"/>
                  </a:lnTo>
                  <a:lnTo>
                    <a:pt x="30988" y="408305"/>
                  </a:lnTo>
                  <a:close/>
                </a:path>
                <a:path w="551815" h="471805">
                  <a:moveTo>
                    <a:pt x="45030" y="416496"/>
                  </a:moveTo>
                  <a:lnTo>
                    <a:pt x="30770" y="424815"/>
                  </a:lnTo>
                  <a:lnTo>
                    <a:pt x="59290" y="424815"/>
                  </a:lnTo>
                  <a:lnTo>
                    <a:pt x="45030" y="416496"/>
                  </a:lnTo>
                  <a:close/>
                </a:path>
                <a:path w="551815" h="471805">
                  <a:moveTo>
                    <a:pt x="59073" y="408305"/>
                  </a:moveTo>
                  <a:lnTo>
                    <a:pt x="30988" y="408305"/>
                  </a:lnTo>
                  <a:lnTo>
                    <a:pt x="45030" y="416496"/>
                  </a:lnTo>
                  <a:lnTo>
                    <a:pt x="59073" y="408305"/>
                  </a:lnTo>
                  <a:close/>
                </a:path>
                <a:path w="551815" h="471805">
                  <a:moveTo>
                    <a:pt x="11391" y="1448"/>
                  </a:moveTo>
                  <a:lnTo>
                    <a:pt x="0" y="16637"/>
                  </a:lnTo>
                  <a:lnTo>
                    <a:pt x="1905" y="18034"/>
                  </a:lnTo>
                  <a:lnTo>
                    <a:pt x="5207" y="18923"/>
                  </a:lnTo>
                  <a:lnTo>
                    <a:pt x="7620" y="19431"/>
                  </a:lnTo>
                  <a:lnTo>
                    <a:pt x="10795" y="19685"/>
                  </a:lnTo>
                  <a:lnTo>
                    <a:pt x="14350" y="20066"/>
                  </a:lnTo>
                  <a:lnTo>
                    <a:pt x="18288" y="20320"/>
                  </a:lnTo>
                  <a:lnTo>
                    <a:pt x="22987" y="20574"/>
                  </a:lnTo>
                  <a:lnTo>
                    <a:pt x="28321" y="20955"/>
                  </a:lnTo>
                  <a:lnTo>
                    <a:pt x="40640" y="21463"/>
                  </a:lnTo>
                  <a:lnTo>
                    <a:pt x="108966" y="23368"/>
                  </a:lnTo>
                  <a:lnTo>
                    <a:pt x="248539" y="24892"/>
                  </a:lnTo>
                  <a:lnTo>
                    <a:pt x="273685" y="24892"/>
                  </a:lnTo>
                  <a:lnTo>
                    <a:pt x="287598" y="25173"/>
                  </a:lnTo>
                  <a:lnTo>
                    <a:pt x="286256" y="25173"/>
                  </a:lnTo>
                  <a:lnTo>
                    <a:pt x="299491" y="26117"/>
                  </a:lnTo>
                  <a:lnTo>
                    <a:pt x="298644" y="26117"/>
                  </a:lnTo>
                  <a:lnTo>
                    <a:pt x="322707" y="29337"/>
                  </a:lnTo>
                  <a:lnTo>
                    <a:pt x="322525" y="29337"/>
                  </a:lnTo>
                  <a:lnTo>
                    <a:pt x="345657" y="34405"/>
                  </a:lnTo>
                  <a:lnTo>
                    <a:pt x="369085" y="41621"/>
                  </a:lnTo>
                  <a:lnTo>
                    <a:pt x="369462" y="41783"/>
                  </a:lnTo>
                  <a:lnTo>
                    <a:pt x="390834" y="50074"/>
                  </a:lnTo>
                  <a:lnTo>
                    <a:pt x="433359" y="72487"/>
                  </a:lnTo>
                  <a:lnTo>
                    <a:pt x="469645" y="99568"/>
                  </a:lnTo>
                  <a:lnTo>
                    <a:pt x="496968" y="128143"/>
                  </a:lnTo>
                  <a:lnTo>
                    <a:pt x="499237" y="130683"/>
                  </a:lnTo>
                  <a:lnTo>
                    <a:pt x="505210" y="138807"/>
                  </a:lnTo>
                  <a:lnTo>
                    <a:pt x="510794" y="147193"/>
                  </a:lnTo>
                  <a:lnTo>
                    <a:pt x="515676" y="155615"/>
                  </a:lnTo>
                  <a:lnTo>
                    <a:pt x="515926" y="155929"/>
                  </a:lnTo>
                  <a:lnTo>
                    <a:pt x="515947" y="156083"/>
                  </a:lnTo>
                  <a:lnTo>
                    <a:pt x="516401" y="156866"/>
                  </a:lnTo>
                  <a:lnTo>
                    <a:pt x="520447" y="164845"/>
                  </a:lnTo>
                  <a:lnTo>
                    <a:pt x="523777" y="172580"/>
                  </a:lnTo>
                  <a:lnTo>
                    <a:pt x="523939" y="173123"/>
                  </a:lnTo>
                  <a:lnTo>
                    <a:pt x="527251" y="182300"/>
                  </a:lnTo>
                  <a:lnTo>
                    <a:pt x="528140" y="185547"/>
                  </a:lnTo>
                  <a:lnTo>
                    <a:pt x="529336" y="189738"/>
                  </a:lnTo>
                  <a:lnTo>
                    <a:pt x="530545" y="195707"/>
                  </a:lnTo>
                  <a:lnTo>
                    <a:pt x="531114" y="198374"/>
                  </a:lnTo>
                  <a:lnTo>
                    <a:pt x="532009" y="205740"/>
                  </a:lnTo>
                  <a:lnTo>
                    <a:pt x="532112" y="206586"/>
                  </a:lnTo>
                  <a:lnTo>
                    <a:pt x="532511" y="215646"/>
                  </a:lnTo>
                  <a:lnTo>
                    <a:pt x="532161" y="224278"/>
                  </a:lnTo>
                  <a:lnTo>
                    <a:pt x="532129" y="225048"/>
                  </a:lnTo>
                  <a:lnTo>
                    <a:pt x="524978" y="256286"/>
                  </a:lnTo>
                  <a:lnTo>
                    <a:pt x="524129" y="258826"/>
                  </a:lnTo>
                  <a:lnTo>
                    <a:pt x="523999" y="259149"/>
                  </a:lnTo>
                  <a:lnTo>
                    <a:pt x="523842" y="259461"/>
                  </a:lnTo>
                  <a:lnTo>
                    <a:pt x="519578" y="268922"/>
                  </a:lnTo>
                  <a:lnTo>
                    <a:pt x="489343" y="312928"/>
                  </a:lnTo>
                  <a:lnTo>
                    <a:pt x="486156" y="316738"/>
                  </a:lnTo>
                  <a:lnTo>
                    <a:pt x="485660" y="317233"/>
                  </a:lnTo>
                  <a:lnTo>
                    <a:pt x="485495" y="317373"/>
                  </a:lnTo>
                  <a:lnTo>
                    <a:pt x="470430" y="331848"/>
                  </a:lnTo>
                  <a:lnTo>
                    <a:pt x="469790" y="332353"/>
                  </a:lnTo>
                  <a:lnTo>
                    <a:pt x="453064" y="346005"/>
                  </a:lnTo>
                  <a:lnTo>
                    <a:pt x="434213" y="359156"/>
                  </a:lnTo>
                  <a:lnTo>
                    <a:pt x="413898" y="370975"/>
                  </a:lnTo>
                  <a:lnTo>
                    <a:pt x="392430" y="381381"/>
                  </a:lnTo>
                  <a:lnTo>
                    <a:pt x="369443" y="390398"/>
                  </a:lnTo>
                  <a:lnTo>
                    <a:pt x="417506" y="390398"/>
                  </a:lnTo>
                  <a:lnTo>
                    <a:pt x="464312" y="361442"/>
                  </a:lnTo>
                  <a:lnTo>
                    <a:pt x="499618" y="330073"/>
                  </a:lnTo>
                  <a:lnTo>
                    <a:pt x="527177" y="294640"/>
                  </a:lnTo>
                  <a:lnTo>
                    <a:pt x="545211" y="256286"/>
                  </a:lnTo>
                  <a:lnTo>
                    <a:pt x="551546" y="216408"/>
                  </a:lnTo>
                  <a:lnTo>
                    <a:pt x="551546" y="215646"/>
                  </a:lnTo>
                  <a:lnTo>
                    <a:pt x="551255" y="207775"/>
                  </a:lnTo>
                  <a:lnTo>
                    <a:pt x="541655" y="165862"/>
                  </a:lnTo>
                  <a:lnTo>
                    <a:pt x="520954" y="128143"/>
                  </a:lnTo>
                  <a:lnTo>
                    <a:pt x="482633" y="85630"/>
                  </a:lnTo>
                  <a:lnTo>
                    <a:pt x="443738" y="56515"/>
                  </a:lnTo>
                  <a:lnTo>
                    <a:pt x="399288" y="32893"/>
                  </a:lnTo>
                  <a:lnTo>
                    <a:pt x="350901" y="16129"/>
                  </a:lnTo>
                  <a:lnTo>
                    <a:pt x="299974" y="7112"/>
                  </a:lnTo>
                  <a:lnTo>
                    <a:pt x="274066" y="5842"/>
                  </a:lnTo>
                  <a:lnTo>
                    <a:pt x="223075" y="5842"/>
                  </a:lnTo>
                  <a:lnTo>
                    <a:pt x="89789" y="3937"/>
                  </a:lnTo>
                  <a:lnTo>
                    <a:pt x="41275" y="2413"/>
                  </a:lnTo>
                  <a:lnTo>
                    <a:pt x="29209" y="1905"/>
                  </a:lnTo>
                  <a:lnTo>
                    <a:pt x="29337" y="1905"/>
                  </a:lnTo>
                  <a:lnTo>
                    <a:pt x="24003" y="1651"/>
                  </a:lnTo>
                  <a:lnTo>
                    <a:pt x="11811" y="1651"/>
                  </a:lnTo>
                  <a:lnTo>
                    <a:pt x="11391" y="1448"/>
                  </a:lnTo>
                  <a:close/>
                </a:path>
                <a:path w="551815" h="471805">
                  <a:moveTo>
                    <a:pt x="199263" y="24638"/>
                  </a:moveTo>
                  <a:lnTo>
                    <a:pt x="173863" y="24638"/>
                  </a:lnTo>
                  <a:lnTo>
                    <a:pt x="273938" y="24892"/>
                  </a:lnTo>
                  <a:lnTo>
                    <a:pt x="248539" y="24892"/>
                  </a:lnTo>
                  <a:lnTo>
                    <a:pt x="199263" y="24638"/>
                  </a:lnTo>
                  <a:close/>
                </a:path>
                <a:path w="551815" h="471805">
                  <a:moveTo>
                    <a:pt x="8742" y="173"/>
                  </a:moveTo>
                  <a:lnTo>
                    <a:pt x="11019" y="1270"/>
                  </a:lnTo>
                  <a:lnTo>
                    <a:pt x="11507" y="1448"/>
                  </a:lnTo>
                  <a:lnTo>
                    <a:pt x="11811" y="1651"/>
                  </a:lnTo>
                  <a:lnTo>
                    <a:pt x="24003" y="1651"/>
                  </a:lnTo>
                  <a:lnTo>
                    <a:pt x="19558" y="1270"/>
                  </a:lnTo>
                  <a:lnTo>
                    <a:pt x="19685" y="1270"/>
                  </a:lnTo>
                  <a:lnTo>
                    <a:pt x="15748" y="1016"/>
                  </a:lnTo>
                  <a:lnTo>
                    <a:pt x="15875" y="1016"/>
                  </a:lnTo>
                  <a:lnTo>
                    <a:pt x="12573" y="762"/>
                  </a:lnTo>
                  <a:lnTo>
                    <a:pt x="12827" y="762"/>
                  </a:lnTo>
                  <a:lnTo>
                    <a:pt x="11493" y="635"/>
                  </a:lnTo>
                  <a:lnTo>
                    <a:pt x="11049" y="635"/>
                  </a:lnTo>
                  <a:lnTo>
                    <a:pt x="10160" y="508"/>
                  </a:lnTo>
                  <a:lnTo>
                    <a:pt x="10414" y="508"/>
                  </a:lnTo>
                  <a:lnTo>
                    <a:pt x="8742" y="173"/>
                  </a:lnTo>
                  <a:close/>
                </a:path>
                <a:path w="551815" h="471805">
                  <a:moveTo>
                    <a:pt x="10160" y="508"/>
                  </a:moveTo>
                  <a:lnTo>
                    <a:pt x="11049" y="635"/>
                  </a:lnTo>
                  <a:lnTo>
                    <a:pt x="11493" y="635"/>
                  </a:lnTo>
                  <a:lnTo>
                    <a:pt x="10160" y="508"/>
                  </a:lnTo>
                  <a:close/>
                </a:path>
                <a:path w="551815" h="471805">
                  <a:moveTo>
                    <a:pt x="10414" y="508"/>
                  </a:moveTo>
                  <a:lnTo>
                    <a:pt x="10160" y="508"/>
                  </a:lnTo>
                  <a:lnTo>
                    <a:pt x="11493" y="635"/>
                  </a:lnTo>
                  <a:lnTo>
                    <a:pt x="11049" y="635"/>
                  </a:lnTo>
                  <a:lnTo>
                    <a:pt x="10414" y="508"/>
                  </a:lnTo>
                  <a:close/>
                </a:path>
                <a:path w="551815" h="471805">
                  <a:moveTo>
                    <a:pt x="8382" y="0"/>
                  </a:moveTo>
                  <a:lnTo>
                    <a:pt x="8742" y="173"/>
                  </a:lnTo>
                  <a:lnTo>
                    <a:pt x="9779" y="381"/>
                  </a:lnTo>
                  <a:lnTo>
                    <a:pt x="9525" y="381"/>
                  </a:lnTo>
                  <a:lnTo>
                    <a:pt x="83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859273" y="2510789"/>
              <a:ext cx="2005964" cy="1019175"/>
            </a:xfrm>
            <a:custGeom>
              <a:avLst/>
              <a:gdLst/>
              <a:ahLst/>
              <a:cxnLst/>
              <a:rect l="l" t="t" r="r" b="b"/>
              <a:pathLst>
                <a:path w="2005965" h="1019175">
                  <a:moveTo>
                    <a:pt x="73657" y="30226"/>
                  </a:moveTo>
                  <a:lnTo>
                    <a:pt x="45105" y="30226"/>
                  </a:lnTo>
                  <a:lnTo>
                    <a:pt x="58872" y="51278"/>
                  </a:lnTo>
                  <a:lnTo>
                    <a:pt x="1994535" y="1019048"/>
                  </a:lnTo>
                  <a:lnTo>
                    <a:pt x="2005965" y="996442"/>
                  </a:lnTo>
                  <a:lnTo>
                    <a:pt x="73657" y="30226"/>
                  </a:lnTo>
                  <a:close/>
                </a:path>
                <a:path w="2005965" h="1019175">
                  <a:moveTo>
                    <a:pt x="116712" y="0"/>
                  </a:moveTo>
                  <a:lnTo>
                    <a:pt x="0" y="7620"/>
                  </a:lnTo>
                  <a:lnTo>
                    <a:pt x="64008" y="105537"/>
                  </a:lnTo>
                  <a:lnTo>
                    <a:pt x="71882" y="107188"/>
                  </a:lnTo>
                  <a:lnTo>
                    <a:pt x="77724" y="103378"/>
                  </a:lnTo>
                  <a:lnTo>
                    <a:pt x="83566" y="99441"/>
                  </a:lnTo>
                  <a:lnTo>
                    <a:pt x="85217" y="91567"/>
                  </a:lnTo>
                  <a:lnTo>
                    <a:pt x="58872" y="51278"/>
                  </a:lnTo>
                  <a:lnTo>
                    <a:pt x="16764" y="30226"/>
                  </a:lnTo>
                  <a:lnTo>
                    <a:pt x="28130" y="7620"/>
                  </a:lnTo>
                  <a:lnTo>
                    <a:pt x="28193" y="7493"/>
                  </a:lnTo>
                  <a:lnTo>
                    <a:pt x="122926" y="7493"/>
                  </a:lnTo>
                  <a:lnTo>
                    <a:pt x="122809" y="5334"/>
                  </a:lnTo>
                  <a:lnTo>
                    <a:pt x="116712" y="0"/>
                  </a:lnTo>
                  <a:close/>
                </a:path>
                <a:path w="2005965" h="1019175">
                  <a:moveTo>
                    <a:pt x="28193" y="7493"/>
                  </a:moveTo>
                  <a:lnTo>
                    <a:pt x="16764" y="30226"/>
                  </a:lnTo>
                  <a:lnTo>
                    <a:pt x="58872" y="51278"/>
                  </a:lnTo>
                  <a:lnTo>
                    <a:pt x="45936" y="31496"/>
                  </a:lnTo>
                  <a:lnTo>
                    <a:pt x="23368" y="31496"/>
                  </a:lnTo>
                  <a:lnTo>
                    <a:pt x="33147" y="11938"/>
                  </a:lnTo>
                  <a:lnTo>
                    <a:pt x="37083" y="11938"/>
                  </a:lnTo>
                  <a:lnTo>
                    <a:pt x="28193" y="7493"/>
                  </a:lnTo>
                  <a:close/>
                </a:path>
                <a:path w="2005965" h="1019175">
                  <a:moveTo>
                    <a:pt x="33147" y="11938"/>
                  </a:moveTo>
                  <a:lnTo>
                    <a:pt x="23368" y="31496"/>
                  </a:lnTo>
                  <a:lnTo>
                    <a:pt x="43370" y="30226"/>
                  </a:lnTo>
                  <a:lnTo>
                    <a:pt x="45105" y="30226"/>
                  </a:lnTo>
                  <a:lnTo>
                    <a:pt x="33147" y="11938"/>
                  </a:lnTo>
                  <a:close/>
                </a:path>
                <a:path w="2005965" h="1019175">
                  <a:moveTo>
                    <a:pt x="70244" y="28519"/>
                  </a:moveTo>
                  <a:lnTo>
                    <a:pt x="23368" y="31496"/>
                  </a:lnTo>
                  <a:lnTo>
                    <a:pt x="45936" y="31496"/>
                  </a:lnTo>
                  <a:lnTo>
                    <a:pt x="45105" y="30226"/>
                  </a:lnTo>
                  <a:lnTo>
                    <a:pt x="73657" y="30226"/>
                  </a:lnTo>
                  <a:lnTo>
                    <a:pt x="70244" y="28519"/>
                  </a:lnTo>
                  <a:close/>
                </a:path>
                <a:path w="2005965" h="1019175">
                  <a:moveTo>
                    <a:pt x="37083" y="11938"/>
                  </a:moveTo>
                  <a:lnTo>
                    <a:pt x="33147" y="11938"/>
                  </a:lnTo>
                  <a:lnTo>
                    <a:pt x="45105" y="30226"/>
                  </a:lnTo>
                  <a:lnTo>
                    <a:pt x="43370" y="30226"/>
                  </a:lnTo>
                  <a:lnTo>
                    <a:pt x="70244" y="28519"/>
                  </a:lnTo>
                  <a:lnTo>
                    <a:pt x="37083" y="11938"/>
                  </a:lnTo>
                  <a:close/>
                </a:path>
                <a:path w="2005965" h="1019175">
                  <a:moveTo>
                    <a:pt x="122926" y="7493"/>
                  </a:moveTo>
                  <a:lnTo>
                    <a:pt x="28193" y="7493"/>
                  </a:lnTo>
                  <a:lnTo>
                    <a:pt x="70244" y="28519"/>
                  </a:lnTo>
                  <a:lnTo>
                    <a:pt x="118364" y="25400"/>
                  </a:lnTo>
                  <a:lnTo>
                    <a:pt x="123698" y="19304"/>
                  </a:lnTo>
                  <a:lnTo>
                    <a:pt x="123190" y="12319"/>
                  </a:lnTo>
                  <a:lnTo>
                    <a:pt x="122933" y="7620"/>
                  </a:lnTo>
                  <a:lnTo>
                    <a:pt x="122926" y="7493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5283200" y="3223387"/>
            <a:ext cx="965835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7160" marR="5080" indent="-125095">
              <a:lnSpc>
                <a:spcPct val="100000"/>
              </a:lnSpc>
              <a:spcBef>
                <a:spcPts val="105"/>
              </a:spcBef>
            </a:pPr>
            <a:r>
              <a:rPr dirty="0" sz="2000" spc="-125" b="1">
                <a:solidFill>
                  <a:srgbClr val="006FC0"/>
                </a:solidFill>
                <a:latin typeface="Arial"/>
                <a:cs typeface="Arial"/>
              </a:rPr>
              <a:t>diskreter </a:t>
            </a:r>
            <a:r>
              <a:rPr dirty="0" sz="2000" spc="-10" b="1">
                <a:solidFill>
                  <a:srgbClr val="006FC0"/>
                </a:solidFill>
                <a:latin typeface="Arial"/>
                <a:cs typeface="Arial"/>
              </a:rPr>
              <a:t>Schritt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110485" y="2940557"/>
            <a:ext cx="118110" cy="2089150"/>
            <a:chOff x="2110485" y="2940557"/>
            <a:chExt cx="118110" cy="2089150"/>
          </a:xfrm>
        </p:grpSpPr>
        <p:sp>
          <p:nvSpPr>
            <p:cNvPr id="30" name="object 30"/>
            <p:cNvSpPr/>
            <p:nvPr/>
          </p:nvSpPr>
          <p:spPr>
            <a:xfrm>
              <a:off x="2110485" y="2940557"/>
              <a:ext cx="118110" cy="2089150"/>
            </a:xfrm>
            <a:custGeom>
              <a:avLst/>
              <a:gdLst/>
              <a:ahLst/>
              <a:cxnLst/>
              <a:rect l="l" t="t" r="r" b="b"/>
              <a:pathLst>
                <a:path w="118110" h="2089150">
                  <a:moveTo>
                    <a:pt x="14096" y="1972945"/>
                  </a:moveTo>
                  <a:lnTo>
                    <a:pt x="8127" y="1976501"/>
                  </a:lnTo>
                  <a:lnTo>
                    <a:pt x="2031" y="1980057"/>
                  </a:lnTo>
                  <a:lnTo>
                    <a:pt x="0" y="1987804"/>
                  </a:lnTo>
                  <a:lnTo>
                    <a:pt x="58927" y="2088895"/>
                  </a:lnTo>
                  <a:lnTo>
                    <a:pt x="73659" y="2063623"/>
                  </a:lnTo>
                  <a:lnTo>
                    <a:pt x="46227" y="2063623"/>
                  </a:lnTo>
                  <a:lnTo>
                    <a:pt x="46227" y="2016778"/>
                  </a:lnTo>
                  <a:lnTo>
                    <a:pt x="25399" y="1981073"/>
                  </a:lnTo>
                  <a:lnTo>
                    <a:pt x="21970" y="1974977"/>
                  </a:lnTo>
                  <a:lnTo>
                    <a:pt x="14096" y="1972945"/>
                  </a:lnTo>
                  <a:close/>
                </a:path>
                <a:path w="118110" h="2089150">
                  <a:moveTo>
                    <a:pt x="46227" y="2016778"/>
                  </a:moveTo>
                  <a:lnTo>
                    <a:pt x="46227" y="2063623"/>
                  </a:lnTo>
                  <a:lnTo>
                    <a:pt x="71627" y="2063623"/>
                  </a:lnTo>
                  <a:lnTo>
                    <a:pt x="71627" y="2057273"/>
                  </a:lnTo>
                  <a:lnTo>
                    <a:pt x="48005" y="2057273"/>
                  </a:lnTo>
                  <a:lnTo>
                    <a:pt x="58927" y="2038549"/>
                  </a:lnTo>
                  <a:lnTo>
                    <a:pt x="46227" y="2016778"/>
                  </a:lnTo>
                  <a:close/>
                </a:path>
                <a:path w="118110" h="2089150">
                  <a:moveTo>
                    <a:pt x="103758" y="1972945"/>
                  </a:moveTo>
                  <a:lnTo>
                    <a:pt x="95884" y="1974977"/>
                  </a:lnTo>
                  <a:lnTo>
                    <a:pt x="92455" y="1981073"/>
                  </a:lnTo>
                  <a:lnTo>
                    <a:pt x="71627" y="2016778"/>
                  </a:lnTo>
                  <a:lnTo>
                    <a:pt x="71627" y="2063623"/>
                  </a:lnTo>
                  <a:lnTo>
                    <a:pt x="73659" y="2063623"/>
                  </a:lnTo>
                  <a:lnTo>
                    <a:pt x="117855" y="1987804"/>
                  </a:lnTo>
                  <a:lnTo>
                    <a:pt x="115823" y="1980057"/>
                  </a:lnTo>
                  <a:lnTo>
                    <a:pt x="109727" y="1976501"/>
                  </a:lnTo>
                  <a:lnTo>
                    <a:pt x="103758" y="1972945"/>
                  </a:lnTo>
                  <a:close/>
                </a:path>
                <a:path w="118110" h="2089150">
                  <a:moveTo>
                    <a:pt x="58927" y="2038549"/>
                  </a:moveTo>
                  <a:lnTo>
                    <a:pt x="48005" y="2057273"/>
                  </a:lnTo>
                  <a:lnTo>
                    <a:pt x="69849" y="2057273"/>
                  </a:lnTo>
                  <a:lnTo>
                    <a:pt x="58927" y="2038549"/>
                  </a:lnTo>
                  <a:close/>
                </a:path>
                <a:path w="118110" h="2089150">
                  <a:moveTo>
                    <a:pt x="71627" y="2016778"/>
                  </a:moveTo>
                  <a:lnTo>
                    <a:pt x="58927" y="2038549"/>
                  </a:lnTo>
                  <a:lnTo>
                    <a:pt x="69849" y="2057273"/>
                  </a:lnTo>
                  <a:lnTo>
                    <a:pt x="71627" y="2057273"/>
                  </a:lnTo>
                  <a:lnTo>
                    <a:pt x="71627" y="2016778"/>
                  </a:lnTo>
                  <a:close/>
                </a:path>
                <a:path w="118110" h="2089150">
                  <a:moveTo>
                    <a:pt x="71627" y="0"/>
                  </a:moveTo>
                  <a:lnTo>
                    <a:pt x="46227" y="0"/>
                  </a:lnTo>
                  <a:lnTo>
                    <a:pt x="46227" y="2016778"/>
                  </a:lnTo>
                  <a:lnTo>
                    <a:pt x="58927" y="2038549"/>
                  </a:lnTo>
                  <a:lnTo>
                    <a:pt x="71627" y="201677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169413" y="2987801"/>
              <a:ext cx="0" cy="697865"/>
            </a:xfrm>
            <a:custGeom>
              <a:avLst/>
              <a:gdLst/>
              <a:ahLst/>
              <a:cxnLst/>
              <a:rect l="l" t="t" r="r" b="b"/>
              <a:pathLst>
                <a:path w="0" h="697864">
                  <a:moveTo>
                    <a:pt x="0" y="0"/>
                  </a:moveTo>
                  <a:lnTo>
                    <a:pt x="0" y="697611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169413" y="3787901"/>
              <a:ext cx="0" cy="668020"/>
            </a:xfrm>
            <a:custGeom>
              <a:avLst/>
              <a:gdLst/>
              <a:ahLst/>
              <a:cxnLst/>
              <a:rect l="l" t="t" r="r" b="b"/>
              <a:pathLst>
                <a:path w="0" h="668020">
                  <a:moveTo>
                    <a:pt x="0" y="0"/>
                  </a:moveTo>
                  <a:lnTo>
                    <a:pt x="0" y="667512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164841" y="4557521"/>
              <a:ext cx="4445" cy="448309"/>
            </a:xfrm>
            <a:custGeom>
              <a:avLst/>
              <a:gdLst/>
              <a:ahLst/>
              <a:cxnLst/>
              <a:rect l="l" t="t" r="r" b="b"/>
              <a:pathLst>
                <a:path w="4444" h="448310">
                  <a:moveTo>
                    <a:pt x="3937" y="0"/>
                  </a:moveTo>
                  <a:lnTo>
                    <a:pt x="0" y="448056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818894" y="2777109"/>
            <a:ext cx="1504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14576" y="4342638"/>
            <a:ext cx="1504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14576" y="3566541"/>
            <a:ext cx="1504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94102" y="4968620"/>
            <a:ext cx="1390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ahoma"/>
                <a:cs typeface="Tahoma"/>
              </a:rPr>
              <a:t>x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110485" y="2878582"/>
            <a:ext cx="114935" cy="1684655"/>
            <a:chOff x="2110485" y="2878582"/>
            <a:chExt cx="114935" cy="1684655"/>
          </a:xfrm>
        </p:grpSpPr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0485" y="2878582"/>
              <a:ext cx="114807" cy="11480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0485" y="3678682"/>
              <a:ext cx="114807" cy="11480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10485" y="4448302"/>
              <a:ext cx="114807" cy="1148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65"/>
              <a:t>Regionen</a:t>
            </a:r>
            <a:r>
              <a:rPr dirty="0" spc="-190"/>
              <a:t> </a:t>
            </a:r>
            <a:r>
              <a:rPr dirty="0" spc="-145"/>
              <a:t>und</a:t>
            </a:r>
            <a:r>
              <a:rPr dirty="0" spc="-185"/>
              <a:t> </a:t>
            </a:r>
            <a:r>
              <a:rPr dirty="0" spc="-270"/>
              <a:t>Zonen</a:t>
            </a:r>
          </a:p>
        </p:txBody>
      </p:sp>
      <p:sp>
        <p:nvSpPr>
          <p:cNvPr id="3" name="object 3"/>
          <p:cNvSpPr/>
          <p:nvPr/>
        </p:nvSpPr>
        <p:spPr>
          <a:xfrm>
            <a:off x="629412" y="3003804"/>
            <a:ext cx="7858125" cy="1001394"/>
          </a:xfrm>
          <a:custGeom>
            <a:avLst/>
            <a:gdLst/>
            <a:ahLst/>
            <a:cxnLst/>
            <a:rect l="l" t="t" r="r" b="b"/>
            <a:pathLst>
              <a:path w="7858125" h="1001395">
                <a:moveTo>
                  <a:pt x="0" y="71500"/>
                </a:moveTo>
                <a:lnTo>
                  <a:pt x="5619" y="43666"/>
                </a:lnTo>
                <a:lnTo>
                  <a:pt x="20947" y="20939"/>
                </a:lnTo>
                <a:lnTo>
                  <a:pt x="43682" y="5617"/>
                </a:lnTo>
                <a:lnTo>
                  <a:pt x="71526" y="0"/>
                </a:lnTo>
                <a:lnTo>
                  <a:pt x="7786243" y="0"/>
                </a:lnTo>
                <a:lnTo>
                  <a:pt x="7814077" y="5617"/>
                </a:lnTo>
                <a:lnTo>
                  <a:pt x="7836804" y="20939"/>
                </a:lnTo>
                <a:lnTo>
                  <a:pt x="7852126" y="43666"/>
                </a:lnTo>
                <a:lnTo>
                  <a:pt x="7857744" y="71500"/>
                </a:lnTo>
                <a:lnTo>
                  <a:pt x="7857744" y="929766"/>
                </a:lnTo>
                <a:lnTo>
                  <a:pt x="7852126" y="957601"/>
                </a:lnTo>
                <a:lnTo>
                  <a:pt x="7836804" y="980328"/>
                </a:lnTo>
                <a:lnTo>
                  <a:pt x="7814077" y="995650"/>
                </a:lnTo>
                <a:lnTo>
                  <a:pt x="7786243" y="1001267"/>
                </a:lnTo>
                <a:lnTo>
                  <a:pt x="71526" y="1001267"/>
                </a:lnTo>
                <a:lnTo>
                  <a:pt x="43682" y="995650"/>
                </a:lnTo>
                <a:lnTo>
                  <a:pt x="20947" y="980328"/>
                </a:lnTo>
                <a:lnTo>
                  <a:pt x="5619" y="957601"/>
                </a:lnTo>
                <a:lnTo>
                  <a:pt x="0" y="929766"/>
                </a:lnTo>
                <a:lnTo>
                  <a:pt x="0" y="71500"/>
                </a:lnTo>
                <a:close/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07542" y="1225360"/>
            <a:ext cx="7640955" cy="417957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4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dirty="0" sz="2400" spc="-145">
                <a:latin typeface="Arial"/>
                <a:cs typeface="Arial"/>
              </a:rPr>
              <a:t>Regionengraphen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sind </a:t>
            </a:r>
            <a:r>
              <a:rPr dirty="0" sz="2400" spc="-10">
                <a:latin typeface="Arial"/>
                <a:cs typeface="Arial"/>
              </a:rPr>
              <a:t>endlich</a:t>
            </a:r>
            <a:endParaRPr sz="2400">
              <a:latin typeface="Arial"/>
              <a:cs typeface="Arial"/>
            </a:endParaRPr>
          </a:p>
          <a:p>
            <a:pPr marL="241300" marR="368300" indent="-228600">
              <a:lnSpc>
                <a:spcPts val="2590"/>
              </a:lnSpc>
              <a:spcBef>
                <a:spcPts val="105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1300" algn="l"/>
              </a:tabLst>
            </a:pPr>
            <a:r>
              <a:rPr dirty="0" sz="2400" spc="-125">
                <a:latin typeface="Arial"/>
                <a:cs typeface="Arial"/>
              </a:rPr>
              <a:t>Eigenschaften,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die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65">
                <a:latin typeface="Arial"/>
                <a:cs typeface="Arial"/>
              </a:rPr>
              <a:t>als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315">
                <a:latin typeface="Arial"/>
                <a:cs typeface="Arial"/>
              </a:rPr>
              <a:t>TCTL-</a:t>
            </a:r>
            <a:r>
              <a:rPr dirty="0" sz="2400" spc="-114">
                <a:latin typeface="Arial"/>
                <a:cs typeface="Arial"/>
              </a:rPr>
              <a:t>Formeln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120">
                <a:latin typeface="Arial"/>
                <a:cs typeface="Arial"/>
              </a:rPr>
              <a:t>ausgedrückt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werden </a:t>
            </a:r>
            <a:r>
              <a:rPr dirty="0" sz="2400" spc="-105">
                <a:latin typeface="Arial"/>
                <a:cs typeface="Arial"/>
              </a:rPr>
              <a:t>können,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125">
                <a:latin typeface="Arial"/>
                <a:cs typeface="Arial"/>
              </a:rPr>
              <a:t>können</a:t>
            </a:r>
            <a:r>
              <a:rPr dirty="0" sz="2400" spc="-80">
                <a:latin typeface="Arial"/>
                <a:cs typeface="Arial"/>
              </a:rPr>
              <a:t> auf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45">
                <a:latin typeface="Arial"/>
                <a:cs typeface="Arial"/>
              </a:rPr>
              <a:t>Regionengraphen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in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85">
                <a:latin typeface="Arial"/>
                <a:cs typeface="Arial"/>
              </a:rPr>
              <a:t>endlicher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Zeit </a:t>
            </a:r>
            <a:r>
              <a:rPr dirty="0" sz="2400" spc="-45">
                <a:latin typeface="Arial"/>
                <a:cs typeface="Arial"/>
              </a:rPr>
              <a:t>geprüft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werden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Clr>
                <a:srgbClr val="2D75B6"/>
              </a:buClr>
              <a:buFont typeface="Wingdings"/>
              <a:buChar char=""/>
            </a:pPr>
            <a:endParaRPr sz="2400">
              <a:latin typeface="Arial"/>
              <a:cs typeface="Arial"/>
            </a:endParaRPr>
          </a:p>
          <a:p>
            <a:pPr marL="1465580" marR="5080" indent="-1394460">
              <a:lnSpc>
                <a:spcPts val="2590"/>
              </a:lnSpc>
            </a:pPr>
            <a:r>
              <a:rPr dirty="0" sz="2400" spc="-160" b="1">
                <a:latin typeface="Arial"/>
                <a:cs typeface="Arial"/>
              </a:rPr>
              <a:t>Alle</a:t>
            </a:r>
            <a:r>
              <a:rPr dirty="0" sz="2400" spc="-105" b="1">
                <a:latin typeface="Arial"/>
                <a:cs typeface="Arial"/>
              </a:rPr>
              <a:t> </a:t>
            </a:r>
            <a:r>
              <a:rPr dirty="0" sz="2400" spc="-195" b="1">
                <a:latin typeface="Arial"/>
                <a:cs typeface="Arial"/>
              </a:rPr>
              <a:t>Eigenschaften,</a:t>
            </a:r>
            <a:r>
              <a:rPr dirty="0" sz="2400" spc="-95" b="1">
                <a:latin typeface="Arial"/>
                <a:cs typeface="Arial"/>
              </a:rPr>
              <a:t> </a:t>
            </a:r>
            <a:r>
              <a:rPr dirty="0" sz="2400" spc="-140" b="1">
                <a:latin typeface="Arial"/>
                <a:cs typeface="Arial"/>
              </a:rPr>
              <a:t>die</a:t>
            </a:r>
            <a:r>
              <a:rPr dirty="0" sz="2400" spc="-105" b="1">
                <a:latin typeface="Arial"/>
                <a:cs typeface="Arial"/>
              </a:rPr>
              <a:t> </a:t>
            </a:r>
            <a:r>
              <a:rPr dirty="0" sz="2400" spc="-135" b="1">
                <a:latin typeface="Arial"/>
                <a:cs typeface="Arial"/>
              </a:rPr>
              <a:t>in</a:t>
            </a:r>
            <a:r>
              <a:rPr dirty="0" sz="2400" spc="-110" b="1">
                <a:latin typeface="Arial"/>
                <a:cs typeface="Arial"/>
              </a:rPr>
              <a:t> </a:t>
            </a:r>
            <a:r>
              <a:rPr dirty="0" sz="2400" spc="-385" b="1">
                <a:latin typeface="Arial"/>
                <a:cs typeface="Arial"/>
              </a:rPr>
              <a:t>TCTL</a:t>
            </a:r>
            <a:r>
              <a:rPr dirty="0" sz="2400" spc="-105" b="1">
                <a:latin typeface="Arial"/>
                <a:cs typeface="Arial"/>
              </a:rPr>
              <a:t> </a:t>
            </a:r>
            <a:r>
              <a:rPr dirty="0" sz="2400" spc="-204" b="1">
                <a:latin typeface="Arial"/>
                <a:cs typeface="Arial"/>
              </a:rPr>
              <a:t>ausgedrückt</a:t>
            </a:r>
            <a:r>
              <a:rPr dirty="0" sz="2400" spc="-100" b="1">
                <a:latin typeface="Arial"/>
                <a:cs typeface="Arial"/>
              </a:rPr>
              <a:t> </a:t>
            </a:r>
            <a:r>
              <a:rPr dirty="0" sz="2400" spc="-145" b="1">
                <a:latin typeface="Arial"/>
                <a:cs typeface="Arial"/>
              </a:rPr>
              <a:t>werden</a:t>
            </a:r>
            <a:r>
              <a:rPr dirty="0" sz="2400" spc="-95" b="1">
                <a:latin typeface="Arial"/>
                <a:cs typeface="Arial"/>
              </a:rPr>
              <a:t> </a:t>
            </a:r>
            <a:r>
              <a:rPr dirty="0" sz="2400" spc="-120" b="1">
                <a:latin typeface="Arial"/>
                <a:cs typeface="Arial"/>
              </a:rPr>
              <a:t>können, </a:t>
            </a:r>
            <a:r>
              <a:rPr dirty="0" sz="2400" spc="-140" b="1">
                <a:latin typeface="Arial"/>
                <a:cs typeface="Arial"/>
              </a:rPr>
              <a:t>bleiben</a:t>
            </a:r>
            <a:r>
              <a:rPr dirty="0" sz="2400" spc="-75" b="1">
                <a:latin typeface="Arial"/>
                <a:cs typeface="Arial"/>
              </a:rPr>
              <a:t> </a:t>
            </a:r>
            <a:r>
              <a:rPr dirty="0" sz="2400" spc="-135" b="1">
                <a:latin typeface="Arial"/>
                <a:cs typeface="Arial"/>
              </a:rPr>
              <a:t>in</a:t>
            </a:r>
            <a:r>
              <a:rPr dirty="0" sz="2400" spc="-75" b="1">
                <a:latin typeface="Arial"/>
                <a:cs typeface="Arial"/>
              </a:rPr>
              <a:t> </a:t>
            </a:r>
            <a:r>
              <a:rPr dirty="0" sz="2400" spc="-204" b="1">
                <a:latin typeface="Arial"/>
                <a:cs typeface="Arial"/>
              </a:rPr>
              <a:t>Regionengraphen</a:t>
            </a:r>
            <a:r>
              <a:rPr dirty="0" sz="2400" spc="-95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erhalten.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2400">
              <a:latin typeface="Arial"/>
              <a:cs typeface="Arial"/>
            </a:endParaRPr>
          </a:p>
          <a:p>
            <a:pPr marL="241300" marR="86995" indent="-228600">
              <a:lnSpc>
                <a:spcPts val="2590"/>
              </a:lnSpc>
              <a:buClr>
                <a:srgbClr val="2D75B6"/>
              </a:buClr>
              <a:buSzPct val="110416"/>
              <a:buFont typeface="Wingdings"/>
              <a:buChar char=""/>
              <a:tabLst>
                <a:tab pos="241300" algn="l"/>
              </a:tabLst>
            </a:pPr>
            <a:r>
              <a:rPr dirty="0" sz="2400" spc="-105">
                <a:latin typeface="Arial"/>
                <a:cs typeface="Arial"/>
              </a:rPr>
              <a:t>Allerdings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25">
                <a:latin typeface="Arial"/>
                <a:cs typeface="Arial"/>
              </a:rPr>
              <a:t>wächst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die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155">
                <a:latin typeface="Arial"/>
                <a:cs typeface="Arial"/>
              </a:rPr>
              <a:t>Anzahl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der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65">
                <a:latin typeface="Arial"/>
                <a:cs typeface="Arial"/>
              </a:rPr>
              <a:t>Regionen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exponentiell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mit </a:t>
            </a:r>
            <a:r>
              <a:rPr dirty="0" sz="2400" spc="-75">
                <a:latin typeface="Arial"/>
                <a:cs typeface="Arial"/>
              </a:rPr>
              <a:t>der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50">
                <a:latin typeface="Arial"/>
                <a:cs typeface="Arial"/>
              </a:rPr>
              <a:t>Anzahl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45">
                <a:latin typeface="Arial"/>
                <a:cs typeface="Arial"/>
              </a:rPr>
              <a:t>an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20">
                <a:latin typeface="Arial"/>
                <a:cs typeface="Arial"/>
              </a:rPr>
              <a:t>Uhren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und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der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70">
                <a:latin typeface="Arial"/>
                <a:cs typeface="Arial"/>
              </a:rPr>
              <a:t>Größe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der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140">
                <a:latin typeface="Arial"/>
                <a:cs typeface="Arial"/>
              </a:rPr>
              <a:t>max.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Konstanten</a:t>
            </a:r>
            <a:endParaRPr sz="24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67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dirty="0" sz="2400" spc="-125">
                <a:latin typeface="Arial"/>
                <a:cs typeface="Arial"/>
              </a:rPr>
              <a:t>Gezielte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10">
                <a:latin typeface="Arial"/>
                <a:cs typeface="Arial"/>
              </a:rPr>
              <a:t>Reduktion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der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140">
                <a:latin typeface="Arial"/>
                <a:cs typeface="Arial"/>
              </a:rPr>
              <a:t>Anzahl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45">
                <a:latin typeface="Arial"/>
                <a:cs typeface="Arial"/>
              </a:rPr>
              <a:t>an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35">
                <a:latin typeface="Arial"/>
                <a:cs typeface="Arial"/>
              </a:rPr>
              <a:t>Äquivalenzklassen: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80" b="1">
                <a:solidFill>
                  <a:srgbClr val="4471C4"/>
                </a:solidFill>
                <a:latin typeface="Arial"/>
                <a:cs typeface="Arial"/>
              </a:rPr>
              <a:t>Zonen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29"/>
              <a:t>Zonen:</a:t>
            </a:r>
            <a:r>
              <a:rPr dirty="0" spc="-160"/>
              <a:t> </a:t>
            </a:r>
            <a:r>
              <a:rPr dirty="0" spc="-10"/>
              <a:t>Intuition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81125"/>
            <a:ext cx="7493000" cy="1223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5" b="1">
                <a:latin typeface="Arial"/>
                <a:cs typeface="Arial"/>
              </a:rPr>
              <a:t>Idee</a:t>
            </a:r>
            <a:r>
              <a:rPr dirty="0" sz="2400" spc="-105">
                <a:latin typeface="Arial"/>
                <a:cs typeface="Arial"/>
              </a:rPr>
              <a:t>: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65">
                <a:latin typeface="Arial"/>
                <a:cs typeface="Arial"/>
              </a:rPr>
              <a:t>Regionen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mit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gleichem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Schaltverhalten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sind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äquivalent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spc="-65" b="1">
                <a:latin typeface="Arial"/>
                <a:cs typeface="Arial"/>
              </a:rPr>
              <a:t>Beispiel</a:t>
            </a:r>
            <a:r>
              <a:rPr dirty="0" sz="2400" spc="-65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2309" y="2829814"/>
            <a:ext cx="1741170" cy="372745"/>
            <a:chOff x="702309" y="2829814"/>
            <a:chExt cx="1741170" cy="372745"/>
          </a:xfrm>
        </p:grpSpPr>
        <p:sp>
          <p:nvSpPr>
            <p:cNvPr id="5" name="object 5"/>
            <p:cNvSpPr/>
            <p:nvPr/>
          </p:nvSpPr>
          <p:spPr>
            <a:xfrm>
              <a:off x="708659" y="2836164"/>
              <a:ext cx="361315" cy="360045"/>
            </a:xfrm>
            <a:custGeom>
              <a:avLst/>
              <a:gdLst/>
              <a:ahLst/>
              <a:cxnLst/>
              <a:rect l="l" t="t" r="r" b="b"/>
              <a:pathLst>
                <a:path w="361315" h="360044">
                  <a:moveTo>
                    <a:pt x="180594" y="0"/>
                  </a:moveTo>
                  <a:lnTo>
                    <a:pt x="132587" y="6424"/>
                  </a:lnTo>
                  <a:lnTo>
                    <a:pt x="89447" y="24553"/>
                  </a:lnTo>
                  <a:lnTo>
                    <a:pt x="52897" y="52673"/>
                  </a:lnTo>
                  <a:lnTo>
                    <a:pt x="24657" y="89069"/>
                  </a:lnTo>
                  <a:lnTo>
                    <a:pt x="6451" y="132027"/>
                  </a:lnTo>
                  <a:lnTo>
                    <a:pt x="0" y="179832"/>
                  </a:lnTo>
                  <a:lnTo>
                    <a:pt x="6451" y="227636"/>
                  </a:lnTo>
                  <a:lnTo>
                    <a:pt x="24657" y="270594"/>
                  </a:lnTo>
                  <a:lnTo>
                    <a:pt x="52897" y="306990"/>
                  </a:lnTo>
                  <a:lnTo>
                    <a:pt x="89447" y="335110"/>
                  </a:lnTo>
                  <a:lnTo>
                    <a:pt x="132587" y="353239"/>
                  </a:lnTo>
                  <a:lnTo>
                    <a:pt x="180594" y="359664"/>
                  </a:lnTo>
                  <a:lnTo>
                    <a:pt x="228600" y="353239"/>
                  </a:lnTo>
                  <a:lnTo>
                    <a:pt x="271740" y="335110"/>
                  </a:lnTo>
                  <a:lnTo>
                    <a:pt x="308290" y="306990"/>
                  </a:lnTo>
                  <a:lnTo>
                    <a:pt x="336530" y="270594"/>
                  </a:lnTo>
                  <a:lnTo>
                    <a:pt x="354736" y="227636"/>
                  </a:lnTo>
                  <a:lnTo>
                    <a:pt x="361188" y="179832"/>
                  </a:lnTo>
                  <a:lnTo>
                    <a:pt x="354736" y="132027"/>
                  </a:lnTo>
                  <a:lnTo>
                    <a:pt x="336530" y="89069"/>
                  </a:lnTo>
                  <a:lnTo>
                    <a:pt x="308290" y="52673"/>
                  </a:lnTo>
                  <a:lnTo>
                    <a:pt x="271740" y="24553"/>
                  </a:lnTo>
                  <a:lnTo>
                    <a:pt x="228600" y="642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BEB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08659" y="2836164"/>
              <a:ext cx="361315" cy="360045"/>
            </a:xfrm>
            <a:custGeom>
              <a:avLst/>
              <a:gdLst/>
              <a:ahLst/>
              <a:cxnLst/>
              <a:rect l="l" t="t" r="r" b="b"/>
              <a:pathLst>
                <a:path w="361315" h="360044">
                  <a:moveTo>
                    <a:pt x="0" y="179832"/>
                  </a:moveTo>
                  <a:lnTo>
                    <a:pt x="6451" y="132027"/>
                  </a:lnTo>
                  <a:lnTo>
                    <a:pt x="24657" y="89069"/>
                  </a:lnTo>
                  <a:lnTo>
                    <a:pt x="52897" y="52673"/>
                  </a:lnTo>
                  <a:lnTo>
                    <a:pt x="89447" y="24553"/>
                  </a:lnTo>
                  <a:lnTo>
                    <a:pt x="132587" y="6424"/>
                  </a:lnTo>
                  <a:lnTo>
                    <a:pt x="180594" y="0"/>
                  </a:lnTo>
                  <a:lnTo>
                    <a:pt x="228600" y="6424"/>
                  </a:lnTo>
                  <a:lnTo>
                    <a:pt x="271740" y="24553"/>
                  </a:lnTo>
                  <a:lnTo>
                    <a:pt x="308290" y="52673"/>
                  </a:lnTo>
                  <a:lnTo>
                    <a:pt x="336530" y="89069"/>
                  </a:lnTo>
                  <a:lnTo>
                    <a:pt x="354736" y="132027"/>
                  </a:lnTo>
                  <a:lnTo>
                    <a:pt x="361188" y="179832"/>
                  </a:lnTo>
                  <a:lnTo>
                    <a:pt x="354736" y="227636"/>
                  </a:lnTo>
                  <a:lnTo>
                    <a:pt x="336530" y="270594"/>
                  </a:lnTo>
                  <a:lnTo>
                    <a:pt x="308290" y="306990"/>
                  </a:lnTo>
                  <a:lnTo>
                    <a:pt x="271740" y="335110"/>
                  </a:lnTo>
                  <a:lnTo>
                    <a:pt x="228600" y="353239"/>
                  </a:lnTo>
                  <a:lnTo>
                    <a:pt x="180594" y="359664"/>
                  </a:lnTo>
                  <a:lnTo>
                    <a:pt x="132587" y="353239"/>
                  </a:lnTo>
                  <a:lnTo>
                    <a:pt x="89447" y="335110"/>
                  </a:lnTo>
                  <a:lnTo>
                    <a:pt x="52897" y="306990"/>
                  </a:lnTo>
                  <a:lnTo>
                    <a:pt x="24657" y="270594"/>
                  </a:lnTo>
                  <a:lnTo>
                    <a:pt x="6451" y="227636"/>
                  </a:lnTo>
                  <a:lnTo>
                    <a:pt x="0" y="179832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77212" y="2836164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4">
                  <a:moveTo>
                    <a:pt x="179832" y="0"/>
                  </a:moveTo>
                  <a:lnTo>
                    <a:pt x="132027" y="6424"/>
                  </a:lnTo>
                  <a:lnTo>
                    <a:pt x="89069" y="24553"/>
                  </a:lnTo>
                  <a:lnTo>
                    <a:pt x="52673" y="52673"/>
                  </a:lnTo>
                  <a:lnTo>
                    <a:pt x="24553" y="89069"/>
                  </a:lnTo>
                  <a:lnTo>
                    <a:pt x="6424" y="132027"/>
                  </a:lnTo>
                  <a:lnTo>
                    <a:pt x="0" y="179832"/>
                  </a:lnTo>
                  <a:lnTo>
                    <a:pt x="6424" y="227636"/>
                  </a:lnTo>
                  <a:lnTo>
                    <a:pt x="24553" y="270594"/>
                  </a:lnTo>
                  <a:lnTo>
                    <a:pt x="52673" y="306990"/>
                  </a:lnTo>
                  <a:lnTo>
                    <a:pt x="89069" y="335110"/>
                  </a:lnTo>
                  <a:lnTo>
                    <a:pt x="132027" y="353239"/>
                  </a:lnTo>
                  <a:lnTo>
                    <a:pt x="179832" y="359664"/>
                  </a:lnTo>
                  <a:lnTo>
                    <a:pt x="227636" y="353239"/>
                  </a:lnTo>
                  <a:lnTo>
                    <a:pt x="270594" y="335110"/>
                  </a:lnTo>
                  <a:lnTo>
                    <a:pt x="306990" y="306990"/>
                  </a:lnTo>
                  <a:lnTo>
                    <a:pt x="335110" y="270594"/>
                  </a:lnTo>
                  <a:lnTo>
                    <a:pt x="353239" y="227636"/>
                  </a:lnTo>
                  <a:lnTo>
                    <a:pt x="359664" y="179832"/>
                  </a:lnTo>
                  <a:lnTo>
                    <a:pt x="353239" y="132027"/>
                  </a:lnTo>
                  <a:lnTo>
                    <a:pt x="335110" y="89069"/>
                  </a:lnTo>
                  <a:lnTo>
                    <a:pt x="306990" y="52673"/>
                  </a:lnTo>
                  <a:lnTo>
                    <a:pt x="270594" y="24553"/>
                  </a:lnTo>
                  <a:lnTo>
                    <a:pt x="227636" y="6424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BEB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077212" y="2836164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4">
                  <a:moveTo>
                    <a:pt x="0" y="179832"/>
                  </a:moveTo>
                  <a:lnTo>
                    <a:pt x="6424" y="132027"/>
                  </a:lnTo>
                  <a:lnTo>
                    <a:pt x="24553" y="89069"/>
                  </a:lnTo>
                  <a:lnTo>
                    <a:pt x="52673" y="52673"/>
                  </a:lnTo>
                  <a:lnTo>
                    <a:pt x="89069" y="24553"/>
                  </a:lnTo>
                  <a:lnTo>
                    <a:pt x="132027" y="6424"/>
                  </a:lnTo>
                  <a:lnTo>
                    <a:pt x="179832" y="0"/>
                  </a:lnTo>
                  <a:lnTo>
                    <a:pt x="227636" y="6424"/>
                  </a:lnTo>
                  <a:lnTo>
                    <a:pt x="270594" y="24553"/>
                  </a:lnTo>
                  <a:lnTo>
                    <a:pt x="306990" y="52673"/>
                  </a:lnTo>
                  <a:lnTo>
                    <a:pt x="335110" y="89069"/>
                  </a:lnTo>
                  <a:lnTo>
                    <a:pt x="353239" y="132027"/>
                  </a:lnTo>
                  <a:lnTo>
                    <a:pt x="359664" y="179832"/>
                  </a:lnTo>
                  <a:lnTo>
                    <a:pt x="353239" y="227636"/>
                  </a:lnTo>
                  <a:lnTo>
                    <a:pt x="335110" y="270594"/>
                  </a:lnTo>
                  <a:lnTo>
                    <a:pt x="306990" y="306990"/>
                  </a:lnTo>
                  <a:lnTo>
                    <a:pt x="270594" y="335110"/>
                  </a:lnTo>
                  <a:lnTo>
                    <a:pt x="227636" y="353239"/>
                  </a:lnTo>
                  <a:lnTo>
                    <a:pt x="179832" y="359664"/>
                  </a:lnTo>
                  <a:lnTo>
                    <a:pt x="132027" y="353239"/>
                  </a:lnTo>
                  <a:lnTo>
                    <a:pt x="89069" y="335110"/>
                  </a:lnTo>
                  <a:lnTo>
                    <a:pt x="52673" y="306990"/>
                  </a:lnTo>
                  <a:lnTo>
                    <a:pt x="24553" y="270594"/>
                  </a:lnTo>
                  <a:lnTo>
                    <a:pt x="6424" y="227636"/>
                  </a:lnTo>
                  <a:lnTo>
                    <a:pt x="0" y="179832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69847" y="2964307"/>
              <a:ext cx="1008380" cy="103505"/>
            </a:xfrm>
            <a:custGeom>
              <a:avLst/>
              <a:gdLst/>
              <a:ahLst/>
              <a:cxnLst/>
              <a:rect l="l" t="t" r="r" b="b"/>
              <a:pathLst>
                <a:path w="1008380" h="103505">
                  <a:moveTo>
                    <a:pt x="983016" y="51688"/>
                  </a:moveTo>
                  <a:lnTo>
                    <a:pt x="913130" y="92455"/>
                  </a:lnTo>
                  <a:lnTo>
                    <a:pt x="912113" y="96265"/>
                  </a:lnTo>
                  <a:lnTo>
                    <a:pt x="915669" y="102361"/>
                  </a:lnTo>
                  <a:lnTo>
                    <a:pt x="919480" y="103377"/>
                  </a:lnTo>
                  <a:lnTo>
                    <a:pt x="997235" y="58038"/>
                  </a:lnTo>
                  <a:lnTo>
                    <a:pt x="995553" y="58038"/>
                  </a:lnTo>
                  <a:lnTo>
                    <a:pt x="995553" y="57149"/>
                  </a:lnTo>
                  <a:lnTo>
                    <a:pt x="992378" y="57149"/>
                  </a:lnTo>
                  <a:lnTo>
                    <a:pt x="983016" y="51688"/>
                  </a:lnTo>
                  <a:close/>
                </a:path>
                <a:path w="1008380" h="103505">
                  <a:moveTo>
                    <a:pt x="972130" y="45338"/>
                  </a:moveTo>
                  <a:lnTo>
                    <a:pt x="0" y="45338"/>
                  </a:lnTo>
                  <a:lnTo>
                    <a:pt x="0" y="58038"/>
                  </a:lnTo>
                  <a:lnTo>
                    <a:pt x="972130" y="58038"/>
                  </a:lnTo>
                  <a:lnTo>
                    <a:pt x="983016" y="51688"/>
                  </a:lnTo>
                  <a:lnTo>
                    <a:pt x="972130" y="45338"/>
                  </a:lnTo>
                  <a:close/>
                </a:path>
                <a:path w="1008380" h="103505">
                  <a:moveTo>
                    <a:pt x="997235" y="45338"/>
                  </a:moveTo>
                  <a:lnTo>
                    <a:pt x="995553" y="45338"/>
                  </a:lnTo>
                  <a:lnTo>
                    <a:pt x="995553" y="58038"/>
                  </a:lnTo>
                  <a:lnTo>
                    <a:pt x="997235" y="58038"/>
                  </a:lnTo>
                  <a:lnTo>
                    <a:pt x="1008126" y="51688"/>
                  </a:lnTo>
                  <a:lnTo>
                    <a:pt x="997235" y="45338"/>
                  </a:lnTo>
                  <a:close/>
                </a:path>
                <a:path w="1008380" h="103505">
                  <a:moveTo>
                    <a:pt x="992378" y="46227"/>
                  </a:moveTo>
                  <a:lnTo>
                    <a:pt x="983016" y="51688"/>
                  </a:lnTo>
                  <a:lnTo>
                    <a:pt x="992378" y="57149"/>
                  </a:lnTo>
                  <a:lnTo>
                    <a:pt x="992378" y="46227"/>
                  </a:lnTo>
                  <a:close/>
                </a:path>
                <a:path w="1008380" h="103505">
                  <a:moveTo>
                    <a:pt x="995553" y="46227"/>
                  </a:moveTo>
                  <a:lnTo>
                    <a:pt x="992378" y="46227"/>
                  </a:lnTo>
                  <a:lnTo>
                    <a:pt x="992378" y="57149"/>
                  </a:lnTo>
                  <a:lnTo>
                    <a:pt x="995553" y="57149"/>
                  </a:lnTo>
                  <a:lnTo>
                    <a:pt x="995553" y="46227"/>
                  </a:lnTo>
                  <a:close/>
                </a:path>
                <a:path w="1008380" h="103505">
                  <a:moveTo>
                    <a:pt x="919480" y="0"/>
                  </a:moveTo>
                  <a:lnTo>
                    <a:pt x="915669" y="1015"/>
                  </a:lnTo>
                  <a:lnTo>
                    <a:pt x="912113" y="7111"/>
                  </a:lnTo>
                  <a:lnTo>
                    <a:pt x="913130" y="10921"/>
                  </a:lnTo>
                  <a:lnTo>
                    <a:pt x="983016" y="51688"/>
                  </a:lnTo>
                  <a:lnTo>
                    <a:pt x="992378" y="46227"/>
                  </a:lnTo>
                  <a:lnTo>
                    <a:pt x="995553" y="46227"/>
                  </a:lnTo>
                  <a:lnTo>
                    <a:pt x="995553" y="45338"/>
                  </a:lnTo>
                  <a:lnTo>
                    <a:pt x="997235" y="45338"/>
                  </a:lnTo>
                  <a:lnTo>
                    <a:pt x="919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364107" y="2735325"/>
            <a:ext cx="3175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0">
                <a:solidFill>
                  <a:srgbClr val="00AF50"/>
                </a:solidFill>
                <a:latin typeface="Arial"/>
                <a:cs typeface="Arial"/>
              </a:rPr>
              <a:t>x&gt;2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1479" y="2888742"/>
            <a:ext cx="15125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80490" algn="l"/>
              </a:tabLst>
            </a:pPr>
            <a:r>
              <a:rPr dirty="0" sz="1400" spc="-25">
                <a:latin typeface="Arial"/>
                <a:cs typeface="Arial"/>
              </a:rPr>
              <a:t>l</a:t>
            </a:r>
            <a:r>
              <a:rPr dirty="0" sz="1200" spc="-2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400" spc="-25">
                <a:latin typeface="Arial"/>
                <a:cs typeface="Arial"/>
              </a:rPr>
              <a:t>l</a:t>
            </a:r>
            <a:r>
              <a:rPr dirty="0" sz="1200" spc="-25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20496" y="5096255"/>
            <a:ext cx="866140" cy="297180"/>
          </a:xfrm>
          <a:custGeom>
            <a:avLst/>
            <a:gdLst/>
            <a:ahLst/>
            <a:cxnLst/>
            <a:rect l="l" t="t" r="r" b="b"/>
            <a:pathLst>
              <a:path w="866139" h="297179">
                <a:moveTo>
                  <a:pt x="865632" y="0"/>
                </a:moveTo>
                <a:lnTo>
                  <a:pt x="863691" y="57828"/>
                </a:lnTo>
                <a:lnTo>
                  <a:pt x="858393" y="105060"/>
                </a:lnTo>
                <a:lnTo>
                  <a:pt x="850522" y="136909"/>
                </a:lnTo>
                <a:lnTo>
                  <a:pt x="840866" y="148590"/>
                </a:lnTo>
                <a:lnTo>
                  <a:pt x="457580" y="148590"/>
                </a:lnTo>
                <a:lnTo>
                  <a:pt x="447925" y="160270"/>
                </a:lnTo>
                <a:lnTo>
                  <a:pt x="440055" y="192119"/>
                </a:lnTo>
                <a:lnTo>
                  <a:pt x="434756" y="239351"/>
                </a:lnTo>
                <a:lnTo>
                  <a:pt x="432816" y="297180"/>
                </a:lnTo>
                <a:lnTo>
                  <a:pt x="430875" y="239351"/>
                </a:lnTo>
                <a:lnTo>
                  <a:pt x="425576" y="192119"/>
                </a:lnTo>
                <a:lnTo>
                  <a:pt x="417706" y="160270"/>
                </a:lnTo>
                <a:lnTo>
                  <a:pt x="408050" y="148590"/>
                </a:lnTo>
                <a:lnTo>
                  <a:pt x="24765" y="148590"/>
                </a:lnTo>
                <a:lnTo>
                  <a:pt x="15125" y="136909"/>
                </a:lnTo>
                <a:lnTo>
                  <a:pt x="7253" y="105060"/>
                </a:lnTo>
                <a:lnTo>
                  <a:pt x="1946" y="57828"/>
                </a:lnTo>
                <a:lnTo>
                  <a:pt x="0" y="0"/>
                </a:lnTo>
              </a:path>
            </a:pathLst>
          </a:custGeom>
          <a:ln w="635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923288" y="5105400"/>
            <a:ext cx="4063365" cy="288290"/>
          </a:xfrm>
          <a:custGeom>
            <a:avLst/>
            <a:gdLst/>
            <a:ahLst/>
            <a:cxnLst/>
            <a:rect l="l" t="t" r="r" b="b"/>
            <a:pathLst>
              <a:path w="4063365" h="288289">
                <a:moveTo>
                  <a:pt x="4062984" y="0"/>
                </a:moveTo>
                <a:lnTo>
                  <a:pt x="4061090" y="56042"/>
                </a:lnTo>
                <a:lnTo>
                  <a:pt x="4055935" y="101822"/>
                </a:lnTo>
                <a:lnTo>
                  <a:pt x="4048303" y="132695"/>
                </a:lnTo>
                <a:lnTo>
                  <a:pt x="4038981" y="144018"/>
                </a:lnTo>
                <a:lnTo>
                  <a:pt x="2055495" y="144018"/>
                </a:lnTo>
                <a:lnTo>
                  <a:pt x="2046172" y="155340"/>
                </a:lnTo>
                <a:lnTo>
                  <a:pt x="2038540" y="186213"/>
                </a:lnTo>
                <a:lnTo>
                  <a:pt x="2033385" y="231993"/>
                </a:lnTo>
                <a:lnTo>
                  <a:pt x="2031492" y="288036"/>
                </a:lnTo>
                <a:lnTo>
                  <a:pt x="2029598" y="231993"/>
                </a:lnTo>
                <a:lnTo>
                  <a:pt x="2024443" y="186213"/>
                </a:lnTo>
                <a:lnTo>
                  <a:pt x="2016811" y="155340"/>
                </a:lnTo>
                <a:lnTo>
                  <a:pt x="2007489" y="144018"/>
                </a:lnTo>
                <a:lnTo>
                  <a:pt x="24003" y="144018"/>
                </a:lnTo>
                <a:lnTo>
                  <a:pt x="14680" y="132695"/>
                </a:lnTo>
                <a:lnTo>
                  <a:pt x="7048" y="101822"/>
                </a:lnTo>
                <a:lnTo>
                  <a:pt x="1893" y="56042"/>
                </a:lnTo>
                <a:lnTo>
                  <a:pt x="0" y="0"/>
                </a:lnTo>
              </a:path>
            </a:pathLst>
          </a:custGeom>
          <a:ln w="635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07542" y="3383779"/>
            <a:ext cx="5292725" cy="238506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2400" spc="-95">
                <a:latin typeface="Arial"/>
                <a:cs typeface="Arial"/>
              </a:rPr>
              <a:t>Äquivalente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Regionen:</a:t>
            </a:r>
            <a:endParaRPr sz="24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1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dirty="0" sz="1800" spc="-25">
                <a:latin typeface="Arial"/>
                <a:cs typeface="Arial"/>
              </a:rPr>
              <a:t>[l1,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180" b="1">
                <a:solidFill>
                  <a:srgbClr val="5B9BD4"/>
                </a:solidFill>
                <a:latin typeface="Arial"/>
                <a:cs typeface="Arial"/>
              </a:rPr>
              <a:t>x</a:t>
            </a:r>
            <a:r>
              <a:rPr dirty="0" sz="1800" spc="-85" b="1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105" b="1">
                <a:solidFill>
                  <a:srgbClr val="5B9BD4"/>
                </a:solidFill>
                <a:latin typeface="Arial"/>
                <a:cs typeface="Arial"/>
              </a:rPr>
              <a:t>≤</a:t>
            </a:r>
            <a:r>
              <a:rPr dirty="0" sz="1800" spc="-70" b="1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5B9BD4"/>
                </a:solidFill>
                <a:latin typeface="Arial"/>
                <a:cs typeface="Arial"/>
              </a:rPr>
              <a:t>2</a:t>
            </a:r>
            <a:r>
              <a:rPr dirty="0" sz="1800" spc="-20">
                <a:latin typeface="Arial"/>
                <a:cs typeface="Arial"/>
              </a:rPr>
              <a:t>]: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55">
                <a:latin typeface="Arial"/>
                <a:cs typeface="Arial"/>
              </a:rPr>
              <a:t>(l1, </a:t>
            </a:r>
            <a:r>
              <a:rPr dirty="0" sz="1800" spc="-135">
                <a:solidFill>
                  <a:srgbClr val="5B9BD4"/>
                </a:solidFill>
                <a:latin typeface="Arial"/>
                <a:cs typeface="Arial"/>
              </a:rPr>
              <a:t>x</a:t>
            </a:r>
            <a:r>
              <a:rPr dirty="0" sz="1800" spc="-8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165">
                <a:solidFill>
                  <a:srgbClr val="5B9BD4"/>
                </a:solidFill>
                <a:latin typeface="Arial"/>
                <a:cs typeface="Arial"/>
              </a:rPr>
              <a:t>&lt;</a:t>
            </a:r>
            <a:r>
              <a:rPr dirty="0" sz="1800" spc="-8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75">
                <a:solidFill>
                  <a:srgbClr val="5B9BD4"/>
                </a:solidFill>
                <a:latin typeface="Arial"/>
                <a:cs typeface="Arial"/>
              </a:rPr>
              <a:t>1</a:t>
            </a:r>
            <a:r>
              <a:rPr dirty="0" sz="1800" spc="-75">
                <a:latin typeface="Arial"/>
                <a:cs typeface="Arial"/>
              </a:rPr>
              <a:t>),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(l1,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135">
                <a:solidFill>
                  <a:srgbClr val="5B9BD4"/>
                </a:solidFill>
                <a:latin typeface="Arial"/>
                <a:cs typeface="Arial"/>
              </a:rPr>
              <a:t>x</a:t>
            </a:r>
            <a:r>
              <a:rPr dirty="0" sz="1800" spc="-8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165">
                <a:solidFill>
                  <a:srgbClr val="5B9BD4"/>
                </a:solidFill>
                <a:latin typeface="Arial"/>
                <a:cs typeface="Arial"/>
              </a:rPr>
              <a:t>=</a:t>
            </a:r>
            <a:r>
              <a:rPr dirty="0" sz="1800" spc="-8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75">
                <a:solidFill>
                  <a:srgbClr val="5B9BD4"/>
                </a:solidFill>
                <a:latin typeface="Arial"/>
                <a:cs typeface="Arial"/>
              </a:rPr>
              <a:t>1</a:t>
            </a:r>
            <a:r>
              <a:rPr dirty="0" sz="1800" spc="-75">
                <a:latin typeface="Arial"/>
                <a:cs typeface="Arial"/>
              </a:rPr>
              <a:t>),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(l1,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5B9BD4"/>
                </a:solidFill>
                <a:latin typeface="Arial"/>
                <a:cs typeface="Arial"/>
              </a:rPr>
              <a:t>1</a:t>
            </a:r>
            <a:r>
              <a:rPr dirty="0" sz="1800" spc="-8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165">
                <a:solidFill>
                  <a:srgbClr val="5B9BD4"/>
                </a:solidFill>
                <a:latin typeface="Arial"/>
                <a:cs typeface="Arial"/>
              </a:rPr>
              <a:t>&lt;</a:t>
            </a:r>
            <a:r>
              <a:rPr dirty="0" sz="1800" spc="-7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135">
                <a:solidFill>
                  <a:srgbClr val="5B9BD4"/>
                </a:solidFill>
                <a:latin typeface="Arial"/>
                <a:cs typeface="Arial"/>
              </a:rPr>
              <a:t>x</a:t>
            </a:r>
            <a:r>
              <a:rPr dirty="0" sz="1800" spc="-8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165">
                <a:solidFill>
                  <a:srgbClr val="5B9BD4"/>
                </a:solidFill>
                <a:latin typeface="Arial"/>
                <a:cs typeface="Arial"/>
              </a:rPr>
              <a:t>&lt;</a:t>
            </a:r>
            <a:r>
              <a:rPr dirty="0" sz="1800" spc="-8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75">
                <a:solidFill>
                  <a:srgbClr val="5B9BD4"/>
                </a:solidFill>
                <a:latin typeface="Arial"/>
                <a:cs typeface="Arial"/>
              </a:rPr>
              <a:t>2</a:t>
            </a:r>
            <a:r>
              <a:rPr dirty="0" sz="1800" spc="-75">
                <a:latin typeface="Arial"/>
                <a:cs typeface="Arial"/>
              </a:rPr>
              <a:t>),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(l1,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135">
                <a:solidFill>
                  <a:srgbClr val="5B9BD4"/>
                </a:solidFill>
                <a:latin typeface="Arial"/>
                <a:cs typeface="Arial"/>
              </a:rPr>
              <a:t>x</a:t>
            </a:r>
            <a:r>
              <a:rPr dirty="0" sz="1800" spc="-8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165">
                <a:solidFill>
                  <a:srgbClr val="5B9BD4"/>
                </a:solidFill>
                <a:latin typeface="Arial"/>
                <a:cs typeface="Arial"/>
              </a:rPr>
              <a:t>=</a:t>
            </a:r>
            <a:r>
              <a:rPr dirty="0" sz="1800" spc="-80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B9BD4"/>
                </a:solidFill>
                <a:latin typeface="Arial"/>
                <a:cs typeface="Arial"/>
              </a:rPr>
              <a:t>2</a:t>
            </a:r>
            <a:r>
              <a:rPr dirty="0" sz="1800" spc="-25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dirty="0" sz="1800" spc="-25">
                <a:latin typeface="Arial"/>
                <a:cs typeface="Arial"/>
              </a:rPr>
              <a:t>[l1,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135">
                <a:latin typeface="Arial"/>
                <a:cs typeface="Arial"/>
              </a:rPr>
              <a:t>x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165">
                <a:latin typeface="Arial"/>
                <a:cs typeface="Arial"/>
              </a:rPr>
              <a:t>&gt;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2]: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(l1,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35">
                <a:latin typeface="Arial"/>
                <a:cs typeface="Arial"/>
              </a:rPr>
              <a:t>x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165">
                <a:latin typeface="Arial"/>
                <a:cs typeface="Arial"/>
              </a:rPr>
              <a:t>&gt;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2)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dirty="0" sz="1800" spc="-25">
                <a:latin typeface="Arial"/>
                <a:cs typeface="Arial"/>
              </a:rPr>
              <a:t>[l2,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135">
                <a:latin typeface="Arial"/>
                <a:cs typeface="Arial"/>
              </a:rPr>
              <a:t>x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165">
                <a:latin typeface="Arial"/>
                <a:cs typeface="Arial"/>
              </a:rPr>
              <a:t>&gt;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2]: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(l2,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35">
                <a:latin typeface="Arial"/>
                <a:cs typeface="Arial"/>
              </a:rPr>
              <a:t>x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165">
                <a:latin typeface="Arial"/>
                <a:cs typeface="Arial"/>
              </a:rPr>
              <a:t>&gt;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2)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800">
              <a:latin typeface="Arial"/>
              <a:cs typeface="Arial"/>
            </a:endParaRPr>
          </a:p>
          <a:p>
            <a:pPr marL="233045">
              <a:lnSpc>
                <a:spcPct val="100000"/>
              </a:lnSpc>
              <a:tabLst>
                <a:tab pos="2706370" algn="l"/>
              </a:tabLst>
            </a:pPr>
            <a:r>
              <a:rPr dirty="0" sz="2400" spc="-10">
                <a:latin typeface="Arial"/>
                <a:cs typeface="Arial"/>
              </a:rPr>
              <a:t>Zonen</a:t>
            </a:r>
            <a:r>
              <a:rPr dirty="0" sz="2400">
                <a:latin typeface="Arial"/>
                <a:cs typeface="Arial"/>
              </a:rPr>
              <a:t>	</a:t>
            </a:r>
            <a:r>
              <a:rPr dirty="0" sz="2400" spc="-40">
                <a:latin typeface="Arial"/>
                <a:cs typeface="Arial"/>
              </a:rPr>
              <a:t>Regionen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70"/>
              <a:t>Zonen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90574"/>
            <a:ext cx="3041650" cy="60579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dirty="0" sz="2000" spc="-185" b="1">
                <a:latin typeface="Arial"/>
                <a:cs typeface="Arial"/>
              </a:rPr>
              <a:t>Zone</a:t>
            </a:r>
            <a:r>
              <a:rPr dirty="0" sz="2000" spc="-105" b="1">
                <a:latin typeface="Arial"/>
                <a:cs typeface="Arial"/>
              </a:rPr>
              <a:t> </a:t>
            </a:r>
            <a:r>
              <a:rPr dirty="0" sz="2000" spc="-180">
                <a:latin typeface="Arial"/>
                <a:cs typeface="Arial"/>
              </a:rPr>
              <a:t>=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konvexe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Konjunktion </a:t>
            </a:r>
            <a:r>
              <a:rPr dirty="0" sz="2000" spc="-70">
                <a:latin typeface="Arial"/>
                <a:cs typeface="Arial"/>
              </a:rPr>
              <a:t>atomarer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 spc="-90">
                <a:latin typeface="Arial"/>
                <a:cs typeface="Arial"/>
              </a:rPr>
              <a:t>Uhrenbedingungen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542" y="2368423"/>
            <a:ext cx="91948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30" b="1">
                <a:latin typeface="Arial"/>
                <a:cs typeface="Arial"/>
              </a:rPr>
              <a:t>Beispiel</a:t>
            </a:r>
            <a:r>
              <a:rPr dirty="0" sz="2000" spc="-13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542" y="2773502"/>
            <a:ext cx="2975610" cy="166370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31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1300" algn="l"/>
              </a:tabLst>
            </a:pPr>
            <a:r>
              <a:rPr dirty="0" sz="1800" spc="-95">
                <a:latin typeface="Arial"/>
                <a:cs typeface="Arial"/>
              </a:rPr>
              <a:t>Gezielte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95">
                <a:latin typeface="Arial"/>
                <a:cs typeface="Arial"/>
              </a:rPr>
              <a:t>Vergrößerung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der </a:t>
            </a:r>
            <a:r>
              <a:rPr dirty="0" sz="1800" spc="-120">
                <a:latin typeface="Arial"/>
                <a:cs typeface="Arial"/>
              </a:rPr>
              <a:t>Regionen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70">
                <a:latin typeface="Arial"/>
                <a:cs typeface="Arial"/>
              </a:rPr>
              <a:t>möglich,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70">
                <a:latin typeface="Arial"/>
                <a:cs typeface="Arial"/>
              </a:rPr>
              <a:t>und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damit </a:t>
            </a:r>
            <a:r>
              <a:rPr dirty="0" sz="1800" spc="-90">
                <a:latin typeface="Arial"/>
                <a:cs typeface="Arial"/>
              </a:rPr>
              <a:t>Reduktion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der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114">
                <a:latin typeface="Arial"/>
                <a:cs typeface="Arial"/>
              </a:rPr>
              <a:t>Größe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des </a:t>
            </a:r>
            <a:r>
              <a:rPr dirty="0" sz="1800" spc="-40">
                <a:latin typeface="Arial"/>
                <a:cs typeface="Arial"/>
              </a:rPr>
              <a:t>Zustandsraums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ts val="2055"/>
              </a:lnSpc>
              <a:spcBef>
                <a:spcPts val="79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dirty="0" sz="1800" spc="-125">
                <a:latin typeface="Arial"/>
                <a:cs typeface="Arial"/>
              </a:rPr>
              <a:t>Regionen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120">
                <a:latin typeface="Arial"/>
                <a:cs typeface="Arial"/>
              </a:rPr>
              <a:t>müssen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35">
                <a:latin typeface="Arial"/>
                <a:cs typeface="Arial"/>
              </a:rPr>
              <a:t>nicht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mehr</a:t>
            </a:r>
            <a:endParaRPr sz="1800">
              <a:latin typeface="Arial"/>
              <a:cs typeface="Arial"/>
            </a:endParaRPr>
          </a:p>
          <a:p>
            <a:pPr marL="241300">
              <a:lnSpc>
                <a:spcPts val="2055"/>
              </a:lnSpc>
            </a:pPr>
            <a:r>
              <a:rPr dirty="0" sz="1800" spc="-50">
                <a:latin typeface="Arial"/>
                <a:cs typeface="Arial"/>
              </a:rPr>
              <a:t>explizit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berechnet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werden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13755" y="1843277"/>
            <a:ext cx="3074035" cy="2938780"/>
            <a:chOff x="5413755" y="1843277"/>
            <a:chExt cx="3074035" cy="2938780"/>
          </a:xfrm>
        </p:grpSpPr>
        <p:sp>
          <p:nvSpPr>
            <p:cNvPr id="7" name="object 7"/>
            <p:cNvSpPr/>
            <p:nvPr/>
          </p:nvSpPr>
          <p:spPr>
            <a:xfrm>
              <a:off x="6208776" y="3214115"/>
              <a:ext cx="711835" cy="771525"/>
            </a:xfrm>
            <a:custGeom>
              <a:avLst/>
              <a:gdLst/>
              <a:ahLst/>
              <a:cxnLst/>
              <a:rect l="l" t="t" r="r" b="b"/>
              <a:pathLst>
                <a:path w="711834" h="771525">
                  <a:moveTo>
                    <a:pt x="711708" y="0"/>
                  </a:moveTo>
                  <a:lnTo>
                    <a:pt x="703275" y="9144"/>
                  </a:lnTo>
                  <a:lnTo>
                    <a:pt x="0" y="9144"/>
                  </a:lnTo>
                  <a:lnTo>
                    <a:pt x="0" y="771144"/>
                  </a:lnTo>
                  <a:lnTo>
                    <a:pt x="329501" y="414528"/>
                  </a:lnTo>
                  <a:lnTo>
                    <a:pt x="9144" y="762000"/>
                  </a:lnTo>
                  <a:lnTo>
                    <a:pt x="711708" y="762000"/>
                  </a:lnTo>
                  <a:lnTo>
                    <a:pt x="71170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55919" y="3991355"/>
              <a:ext cx="728980" cy="746760"/>
            </a:xfrm>
            <a:custGeom>
              <a:avLst/>
              <a:gdLst/>
              <a:ahLst/>
              <a:cxnLst/>
              <a:rect l="l" t="t" r="r" b="b"/>
              <a:pathLst>
                <a:path w="728979" h="746760">
                  <a:moveTo>
                    <a:pt x="0" y="746759"/>
                  </a:moveTo>
                  <a:lnTo>
                    <a:pt x="72847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413756" y="1843277"/>
              <a:ext cx="2856230" cy="2938780"/>
            </a:xfrm>
            <a:custGeom>
              <a:avLst/>
              <a:gdLst/>
              <a:ahLst/>
              <a:cxnLst/>
              <a:rect l="l" t="t" r="r" b="b"/>
              <a:pathLst>
                <a:path w="2856229" h="2938779">
                  <a:moveTo>
                    <a:pt x="2856230" y="2895600"/>
                  </a:moveTo>
                  <a:lnTo>
                    <a:pt x="2827820" y="2881376"/>
                  </a:lnTo>
                  <a:lnTo>
                    <a:pt x="2770505" y="2852674"/>
                  </a:lnTo>
                  <a:lnTo>
                    <a:pt x="2770505" y="2881376"/>
                  </a:lnTo>
                  <a:lnTo>
                    <a:pt x="57150" y="2881376"/>
                  </a:lnTo>
                  <a:lnTo>
                    <a:pt x="57150" y="85725"/>
                  </a:lnTo>
                  <a:lnTo>
                    <a:pt x="85725" y="85725"/>
                  </a:lnTo>
                  <a:lnTo>
                    <a:pt x="78613" y="71501"/>
                  </a:lnTo>
                  <a:lnTo>
                    <a:pt x="42926" y="0"/>
                  </a:lnTo>
                  <a:lnTo>
                    <a:pt x="0" y="85725"/>
                  </a:lnTo>
                  <a:lnTo>
                    <a:pt x="28575" y="85725"/>
                  </a:lnTo>
                  <a:lnTo>
                    <a:pt x="28575" y="2895600"/>
                  </a:lnTo>
                  <a:lnTo>
                    <a:pt x="42926" y="2895600"/>
                  </a:lnTo>
                  <a:lnTo>
                    <a:pt x="42926" y="2909951"/>
                  </a:lnTo>
                  <a:lnTo>
                    <a:pt x="2770505" y="2909951"/>
                  </a:lnTo>
                  <a:lnTo>
                    <a:pt x="2770505" y="2938399"/>
                  </a:lnTo>
                  <a:lnTo>
                    <a:pt x="2827477" y="2909951"/>
                  </a:lnTo>
                  <a:lnTo>
                    <a:pt x="2856230" y="2895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455919" y="3976116"/>
              <a:ext cx="3025140" cy="0"/>
            </a:xfrm>
            <a:custGeom>
              <a:avLst/>
              <a:gdLst/>
              <a:ahLst/>
              <a:cxnLst/>
              <a:rect l="l" t="t" r="r" b="b"/>
              <a:pathLst>
                <a:path w="3025140" h="0">
                  <a:moveTo>
                    <a:pt x="0" y="0"/>
                  </a:moveTo>
                  <a:lnTo>
                    <a:pt x="719708" y="0"/>
                  </a:lnTo>
                </a:path>
                <a:path w="3025140" h="0">
                  <a:moveTo>
                    <a:pt x="1459610" y="0"/>
                  </a:moveTo>
                  <a:lnTo>
                    <a:pt x="302513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455919" y="3214116"/>
              <a:ext cx="3025140" cy="0"/>
            </a:xfrm>
            <a:custGeom>
              <a:avLst/>
              <a:gdLst/>
              <a:ahLst/>
              <a:cxnLst/>
              <a:rect l="l" t="t" r="r" b="b"/>
              <a:pathLst>
                <a:path w="3025140" h="0">
                  <a:moveTo>
                    <a:pt x="0" y="0"/>
                  </a:moveTo>
                  <a:lnTo>
                    <a:pt x="302514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205727" y="2147315"/>
              <a:ext cx="0" cy="2590800"/>
            </a:xfrm>
            <a:custGeom>
              <a:avLst/>
              <a:gdLst/>
              <a:ahLst/>
              <a:cxnLst/>
              <a:rect l="l" t="t" r="r" b="b"/>
              <a:pathLst>
                <a:path w="0" h="2590800">
                  <a:moveTo>
                    <a:pt x="0" y="1843658"/>
                  </a:moveTo>
                  <a:lnTo>
                    <a:pt x="0" y="2590799"/>
                  </a:lnTo>
                </a:path>
                <a:path w="0" h="2590800">
                  <a:moveTo>
                    <a:pt x="0" y="0"/>
                  </a:moveTo>
                  <a:lnTo>
                    <a:pt x="0" y="106108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932675" y="2147315"/>
              <a:ext cx="0" cy="2590800"/>
            </a:xfrm>
            <a:custGeom>
              <a:avLst/>
              <a:gdLst/>
              <a:ahLst/>
              <a:cxnLst/>
              <a:rect l="l" t="t" r="r" b="b"/>
              <a:pathLst>
                <a:path w="0" h="2590800">
                  <a:moveTo>
                    <a:pt x="0" y="259079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636763" y="2147315"/>
              <a:ext cx="0" cy="2590800"/>
            </a:xfrm>
            <a:custGeom>
              <a:avLst/>
              <a:gdLst/>
              <a:ahLst/>
              <a:cxnLst/>
              <a:rect l="l" t="t" r="r" b="b"/>
              <a:pathLst>
                <a:path w="0" h="2590800">
                  <a:moveTo>
                    <a:pt x="0" y="464819"/>
                  </a:moveTo>
                  <a:lnTo>
                    <a:pt x="0" y="2590799"/>
                  </a:lnTo>
                </a:path>
                <a:path w="0" h="2590800">
                  <a:moveTo>
                    <a:pt x="0" y="0"/>
                  </a:moveTo>
                  <a:lnTo>
                    <a:pt x="0" y="6400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160007" y="3214116"/>
              <a:ext cx="1477010" cy="1524000"/>
            </a:xfrm>
            <a:custGeom>
              <a:avLst/>
              <a:gdLst/>
              <a:ahLst/>
              <a:cxnLst/>
              <a:rect l="l" t="t" r="r" b="b"/>
              <a:pathLst>
                <a:path w="1477009" h="1524000">
                  <a:moveTo>
                    <a:pt x="0" y="1523999"/>
                  </a:moveTo>
                  <a:lnTo>
                    <a:pt x="147675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932675" y="3976116"/>
              <a:ext cx="704215" cy="762000"/>
            </a:xfrm>
            <a:custGeom>
              <a:avLst/>
              <a:gdLst/>
              <a:ahLst/>
              <a:cxnLst/>
              <a:rect l="l" t="t" r="r" b="b"/>
              <a:pathLst>
                <a:path w="704215" h="762000">
                  <a:moveTo>
                    <a:pt x="0" y="761999"/>
                  </a:moveTo>
                  <a:lnTo>
                    <a:pt x="704088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455919" y="3214116"/>
              <a:ext cx="704215" cy="762000"/>
            </a:xfrm>
            <a:custGeom>
              <a:avLst/>
              <a:gdLst/>
              <a:ahLst/>
              <a:cxnLst/>
              <a:rect l="l" t="t" r="r" b="b"/>
              <a:pathLst>
                <a:path w="704214" h="762000">
                  <a:moveTo>
                    <a:pt x="0" y="761999"/>
                  </a:moveTo>
                  <a:lnTo>
                    <a:pt x="704088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915911" y="3200400"/>
              <a:ext cx="702945" cy="762000"/>
            </a:xfrm>
            <a:custGeom>
              <a:avLst/>
              <a:gdLst/>
              <a:ahLst/>
              <a:cxnLst/>
              <a:rect l="l" t="t" r="r" b="b"/>
              <a:pathLst>
                <a:path w="702945" h="762000">
                  <a:moveTo>
                    <a:pt x="702564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70256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351266" y="4574488"/>
            <a:ext cx="1797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35">
                <a:latin typeface="Arial"/>
                <a:cs typeface="Arial"/>
              </a:rPr>
              <a:t>x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69153" y="1716786"/>
            <a:ext cx="1866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90">
                <a:latin typeface="Arial"/>
                <a:cs typeface="Arial"/>
              </a:rPr>
              <a:t>y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53658" y="4862321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75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28484" y="4862321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75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31938" y="4862321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75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69153" y="3795141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75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81980" y="3001136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75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43015" y="1620011"/>
            <a:ext cx="765175" cy="401320"/>
          </a:xfrm>
          <a:prstGeom prst="rect">
            <a:avLst/>
          </a:prstGeom>
          <a:solidFill>
            <a:srgbClr val="A4A4A4"/>
          </a:solidFill>
        </p:spPr>
        <p:txBody>
          <a:bodyPr wrap="square" lIns="0" tIns="29209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29"/>
              </a:spcBef>
            </a:pPr>
            <a:r>
              <a:rPr dirty="0" sz="2000" spc="-140">
                <a:solidFill>
                  <a:srgbClr val="E7E6E6"/>
                </a:solidFill>
                <a:latin typeface="Arial"/>
                <a:cs typeface="Arial"/>
              </a:rPr>
              <a:t>x</a:t>
            </a:r>
            <a:r>
              <a:rPr dirty="0" sz="2000" spc="-120">
                <a:solidFill>
                  <a:srgbClr val="E7E6E6"/>
                </a:solidFill>
                <a:latin typeface="Arial"/>
                <a:cs typeface="Arial"/>
              </a:rPr>
              <a:t> </a:t>
            </a:r>
            <a:r>
              <a:rPr dirty="0" sz="2000" spc="-180">
                <a:solidFill>
                  <a:srgbClr val="E7E6E6"/>
                </a:solidFill>
                <a:latin typeface="Arial"/>
                <a:cs typeface="Arial"/>
              </a:rPr>
              <a:t>&gt;</a:t>
            </a:r>
            <a:r>
              <a:rPr dirty="0" sz="2000" spc="-100">
                <a:solidFill>
                  <a:srgbClr val="E7E6E6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E7E6E6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109459" y="2211323"/>
            <a:ext cx="1080770" cy="401320"/>
          </a:xfrm>
          <a:custGeom>
            <a:avLst/>
            <a:gdLst/>
            <a:ahLst/>
            <a:cxnLst/>
            <a:rect l="l" t="t" r="r" b="b"/>
            <a:pathLst>
              <a:path w="1080770" h="401319">
                <a:moveTo>
                  <a:pt x="1080516" y="0"/>
                </a:moveTo>
                <a:lnTo>
                  <a:pt x="0" y="0"/>
                </a:lnTo>
                <a:lnTo>
                  <a:pt x="0" y="400812"/>
                </a:lnTo>
                <a:lnTo>
                  <a:pt x="1080516" y="400812"/>
                </a:lnTo>
                <a:lnTo>
                  <a:pt x="1080516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188834" y="2228214"/>
            <a:ext cx="8801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10">
                <a:solidFill>
                  <a:srgbClr val="E7E6E6"/>
                </a:solidFill>
                <a:latin typeface="Arial"/>
                <a:cs typeface="Arial"/>
              </a:rPr>
              <a:t>1</a:t>
            </a:r>
            <a:r>
              <a:rPr dirty="0" sz="2000" spc="-100">
                <a:solidFill>
                  <a:srgbClr val="E7E6E6"/>
                </a:solidFill>
                <a:latin typeface="Arial"/>
                <a:cs typeface="Arial"/>
              </a:rPr>
              <a:t> </a:t>
            </a:r>
            <a:r>
              <a:rPr dirty="0" sz="2000" spc="-180">
                <a:solidFill>
                  <a:srgbClr val="E7E6E6"/>
                </a:solidFill>
                <a:latin typeface="Arial"/>
                <a:cs typeface="Arial"/>
              </a:rPr>
              <a:t>&lt;</a:t>
            </a:r>
            <a:r>
              <a:rPr dirty="0" sz="2000" spc="-105">
                <a:solidFill>
                  <a:srgbClr val="E7E6E6"/>
                </a:solidFill>
                <a:latin typeface="Arial"/>
                <a:cs typeface="Arial"/>
              </a:rPr>
              <a:t> </a:t>
            </a:r>
            <a:r>
              <a:rPr dirty="0" sz="2000" spc="-100">
                <a:solidFill>
                  <a:srgbClr val="E7E6E6"/>
                </a:solidFill>
                <a:latin typeface="Arial"/>
                <a:cs typeface="Arial"/>
              </a:rPr>
              <a:t>y</a:t>
            </a:r>
            <a:r>
              <a:rPr dirty="0" sz="2000" spc="-114">
                <a:solidFill>
                  <a:srgbClr val="E7E6E6"/>
                </a:solidFill>
                <a:latin typeface="Arial"/>
                <a:cs typeface="Arial"/>
              </a:rPr>
              <a:t> </a:t>
            </a:r>
            <a:r>
              <a:rPr dirty="0" sz="2000" spc="-180">
                <a:solidFill>
                  <a:srgbClr val="E7E6E6"/>
                </a:solidFill>
                <a:latin typeface="Arial"/>
                <a:cs typeface="Arial"/>
              </a:rPr>
              <a:t>&lt;</a:t>
            </a:r>
            <a:r>
              <a:rPr dirty="0" sz="2000" spc="-100">
                <a:solidFill>
                  <a:srgbClr val="E7E6E6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E7E6E6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89747" y="3395471"/>
            <a:ext cx="1080770" cy="40132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31114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244"/>
              </a:spcBef>
            </a:pPr>
            <a:r>
              <a:rPr dirty="0" sz="2000" spc="-140">
                <a:solidFill>
                  <a:srgbClr val="E7E6E6"/>
                </a:solidFill>
                <a:latin typeface="Arial"/>
                <a:cs typeface="Arial"/>
              </a:rPr>
              <a:t>x</a:t>
            </a:r>
            <a:r>
              <a:rPr dirty="0" sz="2000" spc="-120">
                <a:solidFill>
                  <a:srgbClr val="E7E6E6"/>
                </a:solidFill>
                <a:latin typeface="Arial"/>
                <a:cs typeface="Arial"/>
              </a:rPr>
              <a:t> </a:t>
            </a:r>
            <a:r>
              <a:rPr dirty="0" sz="2000" spc="-130">
                <a:solidFill>
                  <a:srgbClr val="E7E6E6"/>
                </a:solidFill>
                <a:latin typeface="Arial"/>
                <a:cs typeface="Arial"/>
              </a:rPr>
              <a:t>–</a:t>
            </a:r>
            <a:r>
              <a:rPr dirty="0" sz="2000" spc="-100">
                <a:solidFill>
                  <a:srgbClr val="E7E6E6"/>
                </a:solidFill>
                <a:latin typeface="Arial"/>
                <a:cs typeface="Arial"/>
              </a:rPr>
              <a:t> y</a:t>
            </a:r>
            <a:r>
              <a:rPr dirty="0" sz="2000" spc="-105">
                <a:solidFill>
                  <a:srgbClr val="E7E6E6"/>
                </a:solidFill>
                <a:latin typeface="Arial"/>
                <a:cs typeface="Arial"/>
              </a:rPr>
              <a:t> </a:t>
            </a:r>
            <a:r>
              <a:rPr dirty="0" sz="2000" spc="-180">
                <a:solidFill>
                  <a:srgbClr val="E7E6E6"/>
                </a:solidFill>
                <a:latin typeface="Arial"/>
                <a:cs typeface="Arial"/>
              </a:rPr>
              <a:t>&lt;</a:t>
            </a:r>
            <a:r>
              <a:rPr dirty="0" sz="2000" spc="-105">
                <a:solidFill>
                  <a:srgbClr val="E7E6E6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E7E6E6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119117" y="2177542"/>
            <a:ext cx="3776979" cy="1842770"/>
            <a:chOff x="4119117" y="2177542"/>
            <a:chExt cx="3776979" cy="1842770"/>
          </a:xfrm>
        </p:grpSpPr>
        <p:sp>
          <p:nvSpPr>
            <p:cNvPr id="31" name="object 31"/>
            <p:cNvSpPr/>
            <p:nvPr/>
          </p:nvSpPr>
          <p:spPr>
            <a:xfrm>
              <a:off x="7303007" y="3595116"/>
              <a:ext cx="586740" cy="32384"/>
            </a:xfrm>
            <a:custGeom>
              <a:avLst/>
              <a:gdLst/>
              <a:ahLst/>
              <a:cxnLst/>
              <a:rect l="l" t="t" r="r" b="b"/>
              <a:pathLst>
                <a:path w="586740" h="32385">
                  <a:moveTo>
                    <a:pt x="0" y="32004"/>
                  </a:moveTo>
                  <a:lnTo>
                    <a:pt x="586740" y="0"/>
                  </a:lnTo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888479" y="2577084"/>
              <a:ext cx="925194" cy="1353820"/>
            </a:xfrm>
            <a:custGeom>
              <a:avLst/>
              <a:gdLst/>
              <a:ahLst/>
              <a:cxnLst/>
              <a:rect l="l" t="t" r="r" b="b"/>
              <a:pathLst>
                <a:path w="925195" h="1353820">
                  <a:moveTo>
                    <a:pt x="0" y="1353312"/>
                  </a:moveTo>
                  <a:lnTo>
                    <a:pt x="925068" y="0"/>
                  </a:lnTo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045707" y="2183892"/>
              <a:ext cx="94615" cy="1207135"/>
            </a:xfrm>
            <a:custGeom>
              <a:avLst/>
              <a:gdLst/>
              <a:ahLst/>
              <a:cxnLst/>
              <a:rect l="l" t="t" r="r" b="b"/>
              <a:pathLst>
                <a:path w="94614" h="1207135">
                  <a:moveTo>
                    <a:pt x="94487" y="120700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844283" y="2561844"/>
              <a:ext cx="704215" cy="607060"/>
            </a:xfrm>
            <a:custGeom>
              <a:avLst/>
              <a:gdLst/>
              <a:ahLst/>
              <a:cxnLst/>
              <a:rect l="l" t="t" r="r" b="b"/>
              <a:pathLst>
                <a:path w="704215" h="607060">
                  <a:moveTo>
                    <a:pt x="0" y="606551"/>
                  </a:moveTo>
                  <a:lnTo>
                    <a:pt x="704088" y="0"/>
                  </a:lnTo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225539" y="3214116"/>
              <a:ext cx="1396365" cy="7620"/>
            </a:xfrm>
            <a:custGeom>
              <a:avLst/>
              <a:gdLst/>
              <a:ahLst/>
              <a:cxnLst/>
              <a:rect l="l" t="t" r="r" b="b"/>
              <a:pathLst>
                <a:path w="1396365" h="7619">
                  <a:moveTo>
                    <a:pt x="0" y="7620"/>
                  </a:moveTo>
                  <a:lnTo>
                    <a:pt x="1395984" y="0"/>
                  </a:lnTo>
                </a:path>
              </a:pathLst>
            </a:custGeom>
            <a:ln w="571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231635" y="3983736"/>
              <a:ext cx="655320" cy="7620"/>
            </a:xfrm>
            <a:custGeom>
              <a:avLst/>
              <a:gdLst/>
              <a:ahLst/>
              <a:cxnLst/>
              <a:rect l="l" t="t" r="r" b="b"/>
              <a:pathLst>
                <a:path w="655320" h="7620">
                  <a:moveTo>
                    <a:pt x="0" y="0"/>
                  </a:moveTo>
                  <a:lnTo>
                    <a:pt x="655320" y="7620"/>
                  </a:lnTo>
                </a:path>
              </a:pathLst>
            </a:custGeom>
            <a:ln w="571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937247" y="3221736"/>
              <a:ext cx="687705" cy="733425"/>
            </a:xfrm>
            <a:custGeom>
              <a:avLst/>
              <a:gdLst/>
              <a:ahLst/>
              <a:cxnLst/>
              <a:rect l="l" t="t" r="r" b="b"/>
              <a:pathLst>
                <a:path w="687704" h="733425">
                  <a:moveTo>
                    <a:pt x="0" y="733044"/>
                  </a:moveTo>
                  <a:lnTo>
                    <a:pt x="687324" y="0"/>
                  </a:lnTo>
                </a:path>
              </a:pathLst>
            </a:custGeom>
            <a:ln w="571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204203" y="3236976"/>
              <a:ext cx="6350" cy="725805"/>
            </a:xfrm>
            <a:custGeom>
              <a:avLst/>
              <a:gdLst/>
              <a:ahLst/>
              <a:cxnLst/>
              <a:rect l="l" t="t" r="r" b="b"/>
              <a:pathLst>
                <a:path w="6350" h="725804">
                  <a:moveTo>
                    <a:pt x="6096" y="0"/>
                  </a:moveTo>
                  <a:lnTo>
                    <a:pt x="0" y="725424"/>
                  </a:lnTo>
                </a:path>
              </a:pathLst>
            </a:custGeom>
            <a:ln w="5715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125467" y="2746248"/>
              <a:ext cx="2167255" cy="958850"/>
            </a:xfrm>
            <a:custGeom>
              <a:avLst/>
              <a:gdLst/>
              <a:ahLst/>
              <a:cxnLst/>
              <a:rect l="l" t="t" r="r" b="b"/>
              <a:pathLst>
                <a:path w="2167254" h="958850">
                  <a:moveTo>
                    <a:pt x="2167128" y="958595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2625851" y="2375916"/>
            <a:ext cx="2696210" cy="370840"/>
          </a:xfrm>
          <a:prstGeom prst="rect">
            <a:avLst/>
          </a:prstGeom>
          <a:ln w="9525">
            <a:solidFill>
              <a:srgbClr val="5B9BD4"/>
            </a:solidFill>
          </a:ln>
        </p:spPr>
        <p:txBody>
          <a:bodyPr wrap="square" lIns="0" tIns="3492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275"/>
              </a:spcBef>
            </a:pPr>
            <a:r>
              <a:rPr dirty="0" sz="1800" spc="-135">
                <a:solidFill>
                  <a:srgbClr val="5B9BD4"/>
                </a:solidFill>
                <a:latin typeface="Arial"/>
                <a:cs typeface="Arial"/>
              </a:rPr>
              <a:t>x</a:t>
            </a:r>
            <a:r>
              <a:rPr dirty="0" sz="1800" spc="-9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165">
                <a:solidFill>
                  <a:srgbClr val="5B9BD4"/>
                </a:solidFill>
                <a:latin typeface="Arial"/>
                <a:cs typeface="Arial"/>
              </a:rPr>
              <a:t>&gt;</a:t>
            </a:r>
            <a:r>
              <a:rPr dirty="0" sz="1800" spc="-90">
                <a:solidFill>
                  <a:srgbClr val="5B9BD4"/>
                </a:solidFill>
                <a:latin typeface="Arial"/>
                <a:cs typeface="Arial"/>
              </a:rPr>
              <a:t> 1</a:t>
            </a:r>
            <a:r>
              <a:rPr dirty="0" sz="1800" spc="-80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B9BD4"/>
                </a:solidFill>
                <a:latin typeface="STIX Two Math"/>
                <a:cs typeface="STIX Two Math"/>
              </a:rPr>
              <a:t>∧</a:t>
            </a:r>
            <a:r>
              <a:rPr dirty="0" sz="1800" spc="-110">
                <a:solidFill>
                  <a:srgbClr val="5B9BD4"/>
                </a:solidFill>
                <a:latin typeface="STIX Two Math"/>
                <a:cs typeface="STIX Two Math"/>
              </a:rPr>
              <a:t> </a:t>
            </a:r>
            <a:r>
              <a:rPr dirty="0" sz="1800" spc="-90">
                <a:solidFill>
                  <a:srgbClr val="5B9BD4"/>
                </a:solidFill>
                <a:latin typeface="Arial"/>
                <a:cs typeface="Arial"/>
              </a:rPr>
              <a:t>1</a:t>
            </a:r>
            <a:r>
              <a:rPr dirty="0" sz="1800" spc="-9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165">
                <a:solidFill>
                  <a:srgbClr val="5B9BD4"/>
                </a:solidFill>
                <a:latin typeface="Arial"/>
                <a:cs typeface="Arial"/>
              </a:rPr>
              <a:t>&lt;</a:t>
            </a:r>
            <a:r>
              <a:rPr dirty="0" sz="1800" spc="-90">
                <a:solidFill>
                  <a:srgbClr val="5B9BD4"/>
                </a:solidFill>
                <a:latin typeface="Arial"/>
                <a:cs typeface="Arial"/>
              </a:rPr>
              <a:t> y</a:t>
            </a:r>
            <a:r>
              <a:rPr dirty="0" sz="1800" spc="-80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165">
                <a:solidFill>
                  <a:srgbClr val="5B9BD4"/>
                </a:solidFill>
                <a:latin typeface="Arial"/>
                <a:cs typeface="Arial"/>
              </a:rPr>
              <a:t>&lt;</a:t>
            </a:r>
            <a:r>
              <a:rPr dirty="0" sz="1800" spc="-9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5B9BD4"/>
                </a:solidFill>
                <a:latin typeface="Arial"/>
                <a:cs typeface="Arial"/>
              </a:rPr>
              <a:t>2</a:t>
            </a:r>
            <a:r>
              <a:rPr dirty="0" sz="1800" spc="-8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B9BD4"/>
                </a:solidFill>
                <a:latin typeface="STIX Two Math"/>
                <a:cs typeface="STIX Two Math"/>
              </a:rPr>
              <a:t>∧</a:t>
            </a:r>
            <a:r>
              <a:rPr dirty="0" sz="1800" spc="-50">
                <a:solidFill>
                  <a:srgbClr val="5B9BD4"/>
                </a:solidFill>
                <a:latin typeface="STIX Two Math"/>
                <a:cs typeface="STIX Two Math"/>
              </a:rPr>
              <a:t> </a:t>
            </a:r>
            <a:r>
              <a:rPr dirty="0" sz="1800" spc="-135">
                <a:solidFill>
                  <a:srgbClr val="5B9BD4"/>
                </a:solidFill>
                <a:latin typeface="Arial"/>
                <a:cs typeface="Arial"/>
              </a:rPr>
              <a:t>x</a:t>
            </a:r>
            <a:r>
              <a:rPr dirty="0" sz="1800" spc="-9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110">
                <a:solidFill>
                  <a:srgbClr val="5B9BD4"/>
                </a:solidFill>
                <a:latin typeface="Arial"/>
                <a:cs typeface="Arial"/>
              </a:rPr>
              <a:t>–</a:t>
            </a:r>
            <a:r>
              <a:rPr dirty="0" sz="1800" spc="-80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5B9BD4"/>
                </a:solidFill>
                <a:latin typeface="Arial"/>
                <a:cs typeface="Arial"/>
              </a:rPr>
              <a:t>y</a:t>
            </a:r>
            <a:r>
              <a:rPr dirty="0" sz="1800" spc="-9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165">
                <a:solidFill>
                  <a:srgbClr val="5B9BD4"/>
                </a:solidFill>
                <a:latin typeface="Arial"/>
                <a:cs typeface="Arial"/>
              </a:rPr>
              <a:t>&lt;</a:t>
            </a:r>
            <a:r>
              <a:rPr dirty="0" sz="1800" spc="-90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5B9BD4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0584" y="266192"/>
            <a:ext cx="433959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20"/>
              <a:t>Zonengraph:</a:t>
            </a:r>
            <a:r>
              <a:rPr dirty="0" spc="-90"/>
              <a:t> </a:t>
            </a:r>
            <a:r>
              <a:rPr dirty="0" spc="-165"/>
              <a:t>Beispiel</a:t>
            </a:r>
          </a:p>
        </p:txBody>
      </p:sp>
      <p:sp>
        <p:nvSpPr>
          <p:cNvPr id="3" name="object 3"/>
          <p:cNvSpPr/>
          <p:nvPr/>
        </p:nvSpPr>
        <p:spPr>
          <a:xfrm>
            <a:off x="787145" y="1924050"/>
            <a:ext cx="576580" cy="577850"/>
          </a:xfrm>
          <a:custGeom>
            <a:avLst/>
            <a:gdLst/>
            <a:ahLst/>
            <a:cxnLst/>
            <a:rect l="l" t="t" r="r" b="b"/>
            <a:pathLst>
              <a:path w="576580" h="577850">
                <a:moveTo>
                  <a:pt x="0" y="288798"/>
                </a:moveTo>
                <a:lnTo>
                  <a:pt x="3769" y="241950"/>
                </a:lnTo>
                <a:lnTo>
                  <a:pt x="14684" y="197510"/>
                </a:lnTo>
                <a:lnTo>
                  <a:pt x="32149" y="156072"/>
                </a:lnTo>
                <a:lnTo>
                  <a:pt x="55573" y="118231"/>
                </a:lnTo>
                <a:lnTo>
                  <a:pt x="84362" y="84582"/>
                </a:lnTo>
                <a:lnTo>
                  <a:pt x="117924" y="55717"/>
                </a:lnTo>
                <a:lnTo>
                  <a:pt x="155665" y="32232"/>
                </a:lnTo>
                <a:lnTo>
                  <a:pt x="196993" y="14721"/>
                </a:lnTo>
                <a:lnTo>
                  <a:pt x="241314" y="3779"/>
                </a:lnTo>
                <a:lnTo>
                  <a:pt x="288036" y="0"/>
                </a:lnTo>
                <a:lnTo>
                  <a:pt x="334757" y="3779"/>
                </a:lnTo>
                <a:lnTo>
                  <a:pt x="379078" y="14721"/>
                </a:lnTo>
                <a:lnTo>
                  <a:pt x="420406" y="32232"/>
                </a:lnTo>
                <a:lnTo>
                  <a:pt x="458147" y="55717"/>
                </a:lnTo>
                <a:lnTo>
                  <a:pt x="491709" y="84582"/>
                </a:lnTo>
                <a:lnTo>
                  <a:pt x="520498" y="118231"/>
                </a:lnTo>
                <a:lnTo>
                  <a:pt x="543922" y="156072"/>
                </a:lnTo>
                <a:lnTo>
                  <a:pt x="561387" y="197510"/>
                </a:lnTo>
                <a:lnTo>
                  <a:pt x="572302" y="241950"/>
                </a:lnTo>
                <a:lnTo>
                  <a:pt x="576072" y="288798"/>
                </a:lnTo>
                <a:lnTo>
                  <a:pt x="572302" y="335645"/>
                </a:lnTo>
                <a:lnTo>
                  <a:pt x="561387" y="380085"/>
                </a:lnTo>
                <a:lnTo>
                  <a:pt x="543922" y="421523"/>
                </a:lnTo>
                <a:lnTo>
                  <a:pt x="520498" y="459364"/>
                </a:lnTo>
                <a:lnTo>
                  <a:pt x="491709" y="493014"/>
                </a:lnTo>
                <a:lnTo>
                  <a:pt x="458147" y="521878"/>
                </a:lnTo>
                <a:lnTo>
                  <a:pt x="420406" y="545363"/>
                </a:lnTo>
                <a:lnTo>
                  <a:pt x="379078" y="562874"/>
                </a:lnTo>
                <a:lnTo>
                  <a:pt x="334757" y="573816"/>
                </a:lnTo>
                <a:lnTo>
                  <a:pt x="288036" y="577596"/>
                </a:lnTo>
                <a:lnTo>
                  <a:pt x="241314" y="573816"/>
                </a:lnTo>
                <a:lnTo>
                  <a:pt x="196993" y="562874"/>
                </a:lnTo>
                <a:lnTo>
                  <a:pt x="155665" y="545363"/>
                </a:lnTo>
                <a:lnTo>
                  <a:pt x="117924" y="521878"/>
                </a:lnTo>
                <a:lnTo>
                  <a:pt x="84362" y="493014"/>
                </a:lnTo>
                <a:lnTo>
                  <a:pt x="55573" y="459364"/>
                </a:lnTo>
                <a:lnTo>
                  <a:pt x="32149" y="421523"/>
                </a:lnTo>
                <a:lnTo>
                  <a:pt x="14684" y="380085"/>
                </a:lnTo>
                <a:lnTo>
                  <a:pt x="3769" y="335645"/>
                </a:lnTo>
                <a:lnTo>
                  <a:pt x="0" y="28879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93749" y="2061464"/>
            <a:ext cx="781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ahoma"/>
                <a:cs typeface="Tahoma"/>
              </a:rPr>
              <a:t>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5565" y="2194052"/>
            <a:ext cx="109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Tahoma"/>
                <a:cs typeface="Tahoma"/>
              </a:rPr>
              <a:t>1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9498" y="1878279"/>
            <a:ext cx="653415" cy="585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x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 spc="-105">
                <a:latin typeface="Arial"/>
                <a:cs typeface="Arial"/>
              </a:rPr>
              <a:t>≥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5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1800">
                <a:latin typeface="Tahoma"/>
                <a:cs typeface="Tahoma"/>
              </a:rPr>
              <a:t>x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:=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 spc="-5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0570" y="1772411"/>
            <a:ext cx="1507490" cy="882650"/>
          </a:xfrm>
          <a:custGeom>
            <a:avLst/>
            <a:gdLst/>
            <a:ahLst/>
            <a:cxnLst/>
            <a:rect l="l" t="t" r="r" b="b"/>
            <a:pathLst>
              <a:path w="1507489" h="882650">
                <a:moveTo>
                  <a:pt x="292252" y="444373"/>
                </a:moveTo>
                <a:lnTo>
                  <a:pt x="191503" y="384810"/>
                </a:lnTo>
                <a:lnTo>
                  <a:pt x="183718" y="386842"/>
                </a:lnTo>
                <a:lnTo>
                  <a:pt x="180149" y="392811"/>
                </a:lnTo>
                <a:lnTo>
                  <a:pt x="176580" y="398907"/>
                </a:lnTo>
                <a:lnTo>
                  <a:pt x="178587" y="406654"/>
                </a:lnTo>
                <a:lnTo>
                  <a:pt x="220040" y="431177"/>
                </a:lnTo>
                <a:lnTo>
                  <a:pt x="127" y="430022"/>
                </a:lnTo>
                <a:lnTo>
                  <a:pt x="114" y="431177"/>
                </a:lnTo>
                <a:lnTo>
                  <a:pt x="0" y="455422"/>
                </a:lnTo>
                <a:lnTo>
                  <a:pt x="220154" y="456577"/>
                </a:lnTo>
                <a:lnTo>
                  <a:pt x="184264" y="477266"/>
                </a:lnTo>
                <a:lnTo>
                  <a:pt x="178193" y="480695"/>
                </a:lnTo>
                <a:lnTo>
                  <a:pt x="176098" y="488442"/>
                </a:lnTo>
                <a:lnTo>
                  <a:pt x="183095" y="500634"/>
                </a:lnTo>
                <a:lnTo>
                  <a:pt x="190868" y="502666"/>
                </a:lnTo>
                <a:lnTo>
                  <a:pt x="196938" y="499237"/>
                </a:lnTo>
                <a:lnTo>
                  <a:pt x="270624" y="456819"/>
                </a:lnTo>
                <a:lnTo>
                  <a:pt x="292252" y="444373"/>
                </a:lnTo>
                <a:close/>
              </a:path>
              <a:path w="1507489" h="882650">
                <a:moveTo>
                  <a:pt x="1499489" y="520700"/>
                </a:moveTo>
                <a:lnTo>
                  <a:pt x="1480248" y="520700"/>
                </a:lnTo>
                <a:lnTo>
                  <a:pt x="1480096" y="520700"/>
                </a:lnTo>
                <a:lnTo>
                  <a:pt x="1476057" y="539750"/>
                </a:lnTo>
                <a:lnTo>
                  <a:pt x="1464881" y="577850"/>
                </a:lnTo>
                <a:lnTo>
                  <a:pt x="1450403" y="614680"/>
                </a:lnTo>
                <a:lnTo>
                  <a:pt x="1442021" y="633730"/>
                </a:lnTo>
                <a:lnTo>
                  <a:pt x="1442148" y="632460"/>
                </a:lnTo>
                <a:lnTo>
                  <a:pt x="1432877" y="651510"/>
                </a:lnTo>
                <a:lnTo>
                  <a:pt x="1433131" y="650240"/>
                </a:lnTo>
                <a:lnTo>
                  <a:pt x="1423352" y="668020"/>
                </a:lnTo>
                <a:lnTo>
                  <a:pt x="1412811" y="685800"/>
                </a:lnTo>
                <a:lnTo>
                  <a:pt x="1413065" y="684530"/>
                </a:lnTo>
                <a:lnTo>
                  <a:pt x="1401762" y="701040"/>
                </a:lnTo>
                <a:lnTo>
                  <a:pt x="1402016" y="701040"/>
                </a:lnTo>
                <a:lnTo>
                  <a:pt x="1390205" y="717550"/>
                </a:lnTo>
                <a:lnTo>
                  <a:pt x="1390459" y="717550"/>
                </a:lnTo>
                <a:lnTo>
                  <a:pt x="1378013" y="732790"/>
                </a:lnTo>
                <a:lnTo>
                  <a:pt x="1378267" y="732790"/>
                </a:lnTo>
                <a:lnTo>
                  <a:pt x="1365440" y="746760"/>
                </a:lnTo>
                <a:lnTo>
                  <a:pt x="1365694" y="746760"/>
                </a:lnTo>
                <a:lnTo>
                  <a:pt x="1352232" y="760730"/>
                </a:lnTo>
                <a:lnTo>
                  <a:pt x="1352486" y="760730"/>
                </a:lnTo>
                <a:lnTo>
                  <a:pt x="1338770" y="774700"/>
                </a:lnTo>
                <a:lnTo>
                  <a:pt x="1338897" y="774065"/>
                </a:lnTo>
                <a:lnTo>
                  <a:pt x="1339024" y="773430"/>
                </a:lnTo>
                <a:lnTo>
                  <a:pt x="1316672" y="793381"/>
                </a:lnTo>
                <a:lnTo>
                  <a:pt x="1316266" y="793750"/>
                </a:lnTo>
                <a:lnTo>
                  <a:pt x="1315313" y="794600"/>
                </a:lnTo>
                <a:lnTo>
                  <a:pt x="1310449" y="798830"/>
                </a:lnTo>
                <a:lnTo>
                  <a:pt x="1310830" y="797560"/>
                </a:lnTo>
                <a:lnTo>
                  <a:pt x="1295717" y="808990"/>
                </a:lnTo>
                <a:lnTo>
                  <a:pt x="1296098" y="808990"/>
                </a:lnTo>
                <a:lnTo>
                  <a:pt x="1280731" y="819150"/>
                </a:lnTo>
                <a:lnTo>
                  <a:pt x="1281112" y="819150"/>
                </a:lnTo>
                <a:lnTo>
                  <a:pt x="1265491" y="828040"/>
                </a:lnTo>
                <a:lnTo>
                  <a:pt x="1265872" y="828040"/>
                </a:lnTo>
                <a:lnTo>
                  <a:pt x="1249997" y="836930"/>
                </a:lnTo>
                <a:lnTo>
                  <a:pt x="1250378" y="835660"/>
                </a:lnTo>
                <a:lnTo>
                  <a:pt x="1234376" y="843280"/>
                </a:lnTo>
                <a:lnTo>
                  <a:pt x="1234884" y="843280"/>
                </a:lnTo>
                <a:lnTo>
                  <a:pt x="1218501" y="849630"/>
                </a:lnTo>
                <a:lnTo>
                  <a:pt x="1219009" y="849630"/>
                </a:lnTo>
                <a:lnTo>
                  <a:pt x="1202499" y="854710"/>
                </a:lnTo>
                <a:lnTo>
                  <a:pt x="1203134" y="854710"/>
                </a:lnTo>
                <a:lnTo>
                  <a:pt x="1186497" y="858520"/>
                </a:lnTo>
                <a:lnTo>
                  <a:pt x="1187132" y="858520"/>
                </a:lnTo>
                <a:lnTo>
                  <a:pt x="1170368" y="862330"/>
                </a:lnTo>
                <a:lnTo>
                  <a:pt x="1170978" y="861110"/>
                </a:lnTo>
                <a:lnTo>
                  <a:pt x="1170749" y="861110"/>
                </a:lnTo>
                <a:lnTo>
                  <a:pt x="1154239" y="863600"/>
                </a:lnTo>
                <a:lnTo>
                  <a:pt x="1122108" y="863600"/>
                </a:lnTo>
                <a:lnTo>
                  <a:pt x="1105344" y="862330"/>
                </a:lnTo>
                <a:lnTo>
                  <a:pt x="1105725" y="862330"/>
                </a:lnTo>
                <a:lnTo>
                  <a:pt x="1089456" y="861110"/>
                </a:lnTo>
                <a:lnTo>
                  <a:pt x="1072578" y="858520"/>
                </a:lnTo>
                <a:lnTo>
                  <a:pt x="1072959" y="858520"/>
                </a:lnTo>
                <a:lnTo>
                  <a:pt x="1056449" y="855980"/>
                </a:lnTo>
                <a:lnTo>
                  <a:pt x="1056830" y="855980"/>
                </a:lnTo>
                <a:lnTo>
                  <a:pt x="1041311" y="853579"/>
                </a:lnTo>
                <a:lnTo>
                  <a:pt x="1041082" y="853579"/>
                </a:lnTo>
                <a:lnTo>
                  <a:pt x="1008697" y="844550"/>
                </a:lnTo>
                <a:lnTo>
                  <a:pt x="1009459" y="844550"/>
                </a:lnTo>
                <a:lnTo>
                  <a:pt x="978471" y="834390"/>
                </a:lnTo>
                <a:lnTo>
                  <a:pt x="978979" y="834390"/>
                </a:lnTo>
                <a:lnTo>
                  <a:pt x="949261" y="822960"/>
                </a:lnTo>
                <a:lnTo>
                  <a:pt x="949896" y="822960"/>
                </a:lnTo>
                <a:lnTo>
                  <a:pt x="921702" y="808990"/>
                </a:lnTo>
                <a:lnTo>
                  <a:pt x="922337" y="808990"/>
                </a:lnTo>
                <a:lnTo>
                  <a:pt x="896048" y="793750"/>
                </a:lnTo>
                <a:lnTo>
                  <a:pt x="896429" y="793750"/>
                </a:lnTo>
                <a:lnTo>
                  <a:pt x="885532" y="787019"/>
                </a:lnTo>
                <a:lnTo>
                  <a:pt x="884529" y="786257"/>
                </a:lnTo>
                <a:lnTo>
                  <a:pt x="884339" y="786257"/>
                </a:lnTo>
                <a:lnTo>
                  <a:pt x="885126" y="786765"/>
                </a:lnTo>
                <a:lnTo>
                  <a:pt x="884313" y="786257"/>
                </a:lnTo>
                <a:lnTo>
                  <a:pt x="874204" y="778510"/>
                </a:lnTo>
                <a:lnTo>
                  <a:pt x="872553" y="777240"/>
                </a:lnTo>
                <a:lnTo>
                  <a:pt x="872934" y="778510"/>
                </a:lnTo>
                <a:lnTo>
                  <a:pt x="867333" y="774065"/>
                </a:lnTo>
                <a:lnTo>
                  <a:pt x="866584" y="773430"/>
                </a:lnTo>
                <a:lnTo>
                  <a:pt x="865936" y="772934"/>
                </a:lnTo>
                <a:lnTo>
                  <a:pt x="862152" y="769747"/>
                </a:lnTo>
                <a:lnTo>
                  <a:pt x="861923" y="769747"/>
                </a:lnTo>
                <a:lnTo>
                  <a:pt x="863079" y="770674"/>
                </a:lnTo>
                <a:lnTo>
                  <a:pt x="861910" y="769747"/>
                </a:lnTo>
                <a:lnTo>
                  <a:pt x="851344" y="760730"/>
                </a:lnTo>
                <a:lnTo>
                  <a:pt x="853046" y="762165"/>
                </a:lnTo>
                <a:lnTo>
                  <a:pt x="851916" y="760730"/>
                </a:lnTo>
                <a:lnTo>
                  <a:pt x="846416" y="753414"/>
                </a:lnTo>
                <a:lnTo>
                  <a:pt x="869759" y="741680"/>
                </a:lnTo>
                <a:lnTo>
                  <a:pt x="892492" y="730250"/>
                </a:lnTo>
                <a:lnTo>
                  <a:pt x="778954" y="645160"/>
                </a:lnTo>
                <a:lnTo>
                  <a:pt x="778941" y="650240"/>
                </a:lnTo>
                <a:lnTo>
                  <a:pt x="778827" y="787400"/>
                </a:lnTo>
                <a:lnTo>
                  <a:pt x="829030" y="762165"/>
                </a:lnTo>
                <a:lnTo>
                  <a:pt x="838263" y="774700"/>
                </a:lnTo>
                <a:lnTo>
                  <a:pt x="849820" y="783590"/>
                </a:lnTo>
                <a:lnTo>
                  <a:pt x="861250" y="793750"/>
                </a:lnTo>
                <a:lnTo>
                  <a:pt x="873442" y="801370"/>
                </a:lnTo>
                <a:lnTo>
                  <a:pt x="912939" y="825500"/>
                </a:lnTo>
                <a:lnTo>
                  <a:pt x="972121" y="852170"/>
                </a:lnTo>
                <a:lnTo>
                  <a:pt x="1053147" y="875030"/>
                </a:lnTo>
                <a:lnTo>
                  <a:pt x="1121219" y="882650"/>
                </a:lnTo>
                <a:lnTo>
                  <a:pt x="1156017" y="882650"/>
                </a:lnTo>
                <a:lnTo>
                  <a:pt x="1190815" y="877570"/>
                </a:lnTo>
                <a:lnTo>
                  <a:pt x="1225105" y="867410"/>
                </a:lnTo>
                <a:lnTo>
                  <a:pt x="1235240" y="863600"/>
                </a:lnTo>
                <a:lnTo>
                  <a:pt x="1238618" y="862330"/>
                </a:lnTo>
                <a:lnTo>
                  <a:pt x="1241894" y="861110"/>
                </a:lnTo>
                <a:lnTo>
                  <a:pt x="1258328" y="853579"/>
                </a:lnTo>
                <a:lnTo>
                  <a:pt x="1275016" y="844550"/>
                </a:lnTo>
                <a:lnTo>
                  <a:pt x="1288834" y="836930"/>
                </a:lnTo>
                <a:lnTo>
                  <a:pt x="1291145" y="835660"/>
                </a:lnTo>
                <a:lnTo>
                  <a:pt x="1322260" y="812800"/>
                </a:lnTo>
                <a:lnTo>
                  <a:pt x="1351851" y="788670"/>
                </a:lnTo>
                <a:lnTo>
                  <a:pt x="1354277" y="786257"/>
                </a:lnTo>
                <a:lnTo>
                  <a:pt x="1365948" y="774700"/>
                </a:lnTo>
                <a:lnTo>
                  <a:pt x="1392745" y="744220"/>
                </a:lnTo>
                <a:lnTo>
                  <a:pt x="1417510" y="712470"/>
                </a:lnTo>
                <a:lnTo>
                  <a:pt x="1435100" y="685800"/>
                </a:lnTo>
                <a:lnTo>
                  <a:pt x="1439735" y="678180"/>
                </a:lnTo>
                <a:lnTo>
                  <a:pt x="1449768" y="660400"/>
                </a:lnTo>
                <a:lnTo>
                  <a:pt x="1454150" y="651510"/>
                </a:lnTo>
                <a:lnTo>
                  <a:pt x="1459166" y="641350"/>
                </a:lnTo>
                <a:lnTo>
                  <a:pt x="1475803" y="603250"/>
                </a:lnTo>
                <a:lnTo>
                  <a:pt x="1489265" y="563880"/>
                </a:lnTo>
                <a:lnTo>
                  <a:pt x="1499044" y="523240"/>
                </a:lnTo>
                <a:lnTo>
                  <a:pt x="1499489" y="520700"/>
                </a:lnTo>
                <a:close/>
              </a:path>
              <a:path w="1507489" h="882650">
                <a:moveTo>
                  <a:pt x="1507299" y="440690"/>
                </a:moveTo>
                <a:lnTo>
                  <a:pt x="1506702" y="421640"/>
                </a:lnTo>
                <a:lnTo>
                  <a:pt x="1506664" y="420370"/>
                </a:lnTo>
                <a:lnTo>
                  <a:pt x="1505318" y="402590"/>
                </a:lnTo>
                <a:lnTo>
                  <a:pt x="1505229" y="401320"/>
                </a:lnTo>
                <a:lnTo>
                  <a:pt x="1505140" y="400050"/>
                </a:lnTo>
                <a:lnTo>
                  <a:pt x="1502473" y="379730"/>
                </a:lnTo>
                <a:lnTo>
                  <a:pt x="1499463" y="361950"/>
                </a:lnTo>
                <a:lnTo>
                  <a:pt x="1499044" y="359410"/>
                </a:lnTo>
                <a:lnTo>
                  <a:pt x="1489138" y="318770"/>
                </a:lnTo>
                <a:lnTo>
                  <a:pt x="1475676" y="279400"/>
                </a:lnTo>
                <a:lnTo>
                  <a:pt x="1462493" y="248920"/>
                </a:lnTo>
                <a:lnTo>
                  <a:pt x="1459039" y="241300"/>
                </a:lnTo>
                <a:lnTo>
                  <a:pt x="1454023" y="231140"/>
                </a:lnTo>
                <a:lnTo>
                  <a:pt x="1449641" y="222250"/>
                </a:lnTo>
                <a:lnTo>
                  <a:pt x="1439481" y="204470"/>
                </a:lnTo>
                <a:lnTo>
                  <a:pt x="1434846" y="196850"/>
                </a:lnTo>
                <a:lnTo>
                  <a:pt x="1428686" y="186690"/>
                </a:lnTo>
                <a:lnTo>
                  <a:pt x="1424241" y="180340"/>
                </a:lnTo>
                <a:lnTo>
                  <a:pt x="1392491" y="138430"/>
                </a:lnTo>
                <a:lnTo>
                  <a:pt x="1365694" y="107950"/>
                </a:lnTo>
                <a:lnTo>
                  <a:pt x="1352753" y="95250"/>
                </a:lnTo>
                <a:lnTo>
                  <a:pt x="1351470" y="93980"/>
                </a:lnTo>
                <a:lnTo>
                  <a:pt x="1321752" y="69850"/>
                </a:lnTo>
                <a:lnTo>
                  <a:pt x="1290510" y="46990"/>
                </a:lnTo>
                <a:lnTo>
                  <a:pt x="1288224" y="45720"/>
                </a:lnTo>
                <a:lnTo>
                  <a:pt x="1274508" y="38100"/>
                </a:lnTo>
                <a:lnTo>
                  <a:pt x="1234605" y="19050"/>
                </a:lnTo>
                <a:lnTo>
                  <a:pt x="1190053" y="5080"/>
                </a:lnTo>
                <a:lnTo>
                  <a:pt x="1155128" y="0"/>
                </a:lnTo>
                <a:lnTo>
                  <a:pt x="1120203" y="0"/>
                </a:lnTo>
                <a:lnTo>
                  <a:pt x="1052004" y="7620"/>
                </a:lnTo>
                <a:lnTo>
                  <a:pt x="1002474" y="19050"/>
                </a:lnTo>
                <a:lnTo>
                  <a:pt x="940498" y="41910"/>
                </a:lnTo>
                <a:lnTo>
                  <a:pt x="884872" y="72390"/>
                </a:lnTo>
                <a:lnTo>
                  <a:pt x="872172" y="81280"/>
                </a:lnTo>
                <a:lnTo>
                  <a:pt x="859853" y="88900"/>
                </a:lnTo>
                <a:lnTo>
                  <a:pt x="848296" y="99060"/>
                </a:lnTo>
                <a:lnTo>
                  <a:pt x="837374" y="107950"/>
                </a:lnTo>
                <a:lnTo>
                  <a:pt x="827214" y="118110"/>
                </a:lnTo>
                <a:lnTo>
                  <a:pt x="793305" y="158750"/>
                </a:lnTo>
                <a:lnTo>
                  <a:pt x="772731" y="203200"/>
                </a:lnTo>
                <a:lnTo>
                  <a:pt x="767791" y="237490"/>
                </a:lnTo>
                <a:lnTo>
                  <a:pt x="786828" y="237490"/>
                </a:lnTo>
                <a:lnTo>
                  <a:pt x="787273" y="228600"/>
                </a:lnTo>
                <a:lnTo>
                  <a:pt x="787336" y="227330"/>
                </a:lnTo>
                <a:lnTo>
                  <a:pt x="787565" y="226060"/>
                </a:lnTo>
                <a:lnTo>
                  <a:pt x="788543" y="219290"/>
                </a:lnTo>
                <a:lnTo>
                  <a:pt x="788670" y="218440"/>
                </a:lnTo>
                <a:lnTo>
                  <a:pt x="788746" y="217957"/>
                </a:lnTo>
                <a:lnTo>
                  <a:pt x="788860" y="217170"/>
                </a:lnTo>
                <a:lnTo>
                  <a:pt x="788771" y="217957"/>
                </a:lnTo>
                <a:lnTo>
                  <a:pt x="789000" y="217170"/>
                </a:lnTo>
                <a:lnTo>
                  <a:pt x="791146" y="207010"/>
                </a:lnTo>
                <a:lnTo>
                  <a:pt x="790917" y="208153"/>
                </a:lnTo>
                <a:lnTo>
                  <a:pt x="791337" y="207010"/>
                </a:lnTo>
                <a:lnTo>
                  <a:pt x="794448" y="198120"/>
                </a:lnTo>
                <a:lnTo>
                  <a:pt x="794194" y="198120"/>
                </a:lnTo>
                <a:lnTo>
                  <a:pt x="798512" y="187960"/>
                </a:lnTo>
                <a:lnTo>
                  <a:pt x="798258" y="189230"/>
                </a:lnTo>
                <a:lnTo>
                  <a:pt x="798842" y="187960"/>
                </a:lnTo>
                <a:lnTo>
                  <a:pt x="803592" y="177800"/>
                </a:lnTo>
                <a:lnTo>
                  <a:pt x="803338" y="179070"/>
                </a:lnTo>
                <a:lnTo>
                  <a:pt x="804100" y="177800"/>
                </a:lnTo>
                <a:lnTo>
                  <a:pt x="809434" y="168910"/>
                </a:lnTo>
                <a:lnTo>
                  <a:pt x="809180" y="168910"/>
                </a:lnTo>
                <a:lnTo>
                  <a:pt x="816165" y="158750"/>
                </a:lnTo>
                <a:lnTo>
                  <a:pt x="815784" y="160020"/>
                </a:lnTo>
                <a:lnTo>
                  <a:pt x="816749" y="158750"/>
                </a:lnTo>
                <a:lnTo>
                  <a:pt x="823531" y="149860"/>
                </a:lnTo>
                <a:lnTo>
                  <a:pt x="823277" y="149860"/>
                </a:lnTo>
                <a:lnTo>
                  <a:pt x="831786" y="139700"/>
                </a:lnTo>
                <a:lnTo>
                  <a:pt x="831405" y="140970"/>
                </a:lnTo>
                <a:lnTo>
                  <a:pt x="832561" y="139700"/>
                </a:lnTo>
                <a:lnTo>
                  <a:pt x="840676" y="130810"/>
                </a:lnTo>
                <a:lnTo>
                  <a:pt x="841794" y="129578"/>
                </a:lnTo>
                <a:lnTo>
                  <a:pt x="850328" y="121920"/>
                </a:lnTo>
                <a:lnTo>
                  <a:pt x="849947" y="121920"/>
                </a:lnTo>
                <a:lnTo>
                  <a:pt x="860615" y="113030"/>
                </a:lnTo>
                <a:lnTo>
                  <a:pt x="860234" y="113030"/>
                </a:lnTo>
                <a:lnTo>
                  <a:pt x="871537" y="104140"/>
                </a:lnTo>
                <a:lnTo>
                  <a:pt x="871156" y="105410"/>
                </a:lnTo>
                <a:lnTo>
                  <a:pt x="872832" y="104140"/>
                </a:lnTo>
                <a:lnTo>
                  <a:pt x="882802" y="96647"/>
                </a:lnTo>
                <a:lnTo>
                  <a:pt x="884072" y="95694"/>
                </a:lnTo>
                <a:lnTo>
                  <a:pt x="895159" y="88900"/>
                </a:lnTo>
                <a:lnTo>
                  <a:pt x="894651" y="88900"/>
                </a:lnTo>
                <a:lnTo>
                  <a:pt x="920940" y="73660"/>
                </a:lnTo>
                <a:lnTo>
                  <a:pt x="920432" y="73660"/>
                </a:lnTo>
                <a:lnTo>
                  <a:pt x="948626" y="59690"/>
                </a:lnTo>
                <a:lnTo>
                  <a:pt x="947991" y="59690"/>
                </a:lnTo>
                <a:lnTo>
                  <a:pt x="977836" y="48260"/>
                </a:lnTo>
                <a:lnTo>
                  <a:pt x="977201" y="48260"/>
                </a:lnTo>
                <a:lnTo>
                  <a:pt x="1008316" y="38100"/>
                </a:lnTo>
                <a:lnTo>
                  <a:pt x="1007554" y="38100"/>
                </a:lnTo>
                <a:lnTo>
                  <a:pt x="1039456" y="29311"/>
                </a:lnTo>
                <a:lnTo>
                  <a:pt x="1038796" y="29311"/>
                </a:lnTo>
                <a:lnTo>
                  <a:pt x="1054569" y="26873"/>
                </a:lnTo>
                <a:lnTo>
                  <a:pt x="1056347" y="26593"/>
                </a:lnTo>
                <a:lnTo>
                  <a:pt x="1055789" y="26593"/>
                </a:lnTo>
                <a:lnTo>
                  <a:pt x="1071816" y="22860"/>
                </a:lnTo>
                <a:lnTo>
                  <a:pt x="1071562" y="24130"/>
                </a:lnTo>
                <a:lnTo>
                  <a:pt x="1079881" y="22860"/>
                </a:lnTo>
                <a:lnTo>
                  <a:pt x="1087818" y="21653"/>
                </a:lnTo>
                <a:lnTo>
                  <a:pt x="1087056" y="21653"/>
                </a:lnTo>
                <a:lnTo>
                  <a:pt x="1104709" y="20320"/>
                </a:lnTo>
                <a:lnTo>
                  <a:pt x="1104455" y="20320"/>
                </a:lnTo>
                <a:lnTo>
                  <a:pt x="1121219" y="19050"/>
                </a:lnTo>
                <a:lnTo>
                  <a:pt x="1153350" y="19050"/>
                </a:lnTo>
                <a:lnTo>
                  <a:pt x="1170241" y="20320"/>
                </a:lnTo>
                <a:lnTo>
                  <a:pt x="1169606" y="20320"/>
                </a:lnTo>
                <a:lnTo>
                  <a:pt x="1186370" y="24130"/>
                </a:lnTo>
                <a:lnTo>
                  <a:pt x="1185735" y="24130"/>
                </a:lnTo>
                <a:lnTo>
                  <a:pt x="1202372" y="27940"/>
                </a:lnTo>
                <a:lnTo>
                  <a:pt x="1201737" y="27940"/>
                </a:lnTo>
                <a:lnTo>
                  <a:pt x="1218374" y="33020"/>
                </a:lnTo>
                <a:lnTo>
                  <a:pt x="1217866" y="33020"/>
                </a:lnTo>
                <a:lnTo>
                  <a:pt x="1234249" y="39370"/>
                </a:lnTo>
                <a:lnTo>
                  <a:pt x="1233614" y="39370"/>
                </a:lnTo>
                <a:lnTo>
                  <a:pt x="1249870" y="46990"/>
                </a:lnTo>
                <a:lnTo>
                  <a:pt x="1249362" y="45720"/>
                </a:lnTo>
                <a:lnTo>
                  <a:pt x="1265364" y="54610"/>
                </a:lnTo>
                <a:lnTo>
                  <a:pt x="1264983" y="54610"/>
                </a:lnTo>
                <a:lnTo>
                  <a:pt x="1280604" y="63500"/>
                </a:lnTo>
                <a:lnTo>
                  <a:pt x="1280223" y="63500"/>
                </a:lnTo>
                <a:lnTo>
                  <a:pt x="1295590" y="73660"/>
                </a:lnTo>
                <a:lnTo>
                  <a:pt x="1295209" y="73660"/>
                </a:lnTo>
                <a:lnTo>
                  <a:pt x="1310322" y="83820"/>
                </a:lnTo>
                <a:lnTo>
                  <a:pt x="1309941" y="83820"/>
                </a:lnTo>
                <a:lnTo>
                  <a:pt x="1324813" y="96647"/>
                </a:lnTo>
                <a:lnTo>
                  <a:pt x="1324495" y="95694"/>
                </a:lnTo>
                <a:lnTo>
                  <a:pt x="1324419" y="95250"/>
                </a:lnTo>
                <a:lnTo>
                  <a:pt x="1338643" y="109220"/>
                </a:lnTo>
                <a:lnTo>
                  <a:pt x="1338389" y="107950"/>
                </a:lnTo>
                <a:lnTo>
                  <a:pt x="1352232" y="121920"/>
                </a:lnTo>
                <a:lnTo>
                  <a:pt x="1351978" y="121920"/>
                </a:lnTo>
                <a:lnTo>
                  <a:pt x="1365313" y="135890"/>
                </a:lnTo>
                <a:lnTo>
                  <a:pt x="1365059" y="135890"/>
                </a:lnTo>
                <a:lnTo>
                  <a:pt x="1378013" y="149860"/>
                </a:lnTo>
                <a:lnTo>
                  <a:pt x="1377759" y="149860"/>
                </a:lnTo>
                <a:lnTo>
                  <a:pt x="1390205" y="165100"/>
                </a:lnTo>
                <a:lnTo>
                  <a:pt x="1389951" y="165100"/>
                </a:lnTo>
                <a:lnTo>
                  <a:pt x="1401762" y="181610"/>
                </a:lnTo>
                <a:lnTo>
                  <a:pt x="1401508" y="180340"/>
                </a:lnTo>
                <a:lnTo>
                  <a:pt x="1412684" y="198120"/>
                </a:lnTo>
                <a:lnTo>
                  <a:pt x="1412557" y="196850"/>
                </a:lnTo>
                <a:lnTo>
                  <a:pt x="1423225" y="214630"/>
                </a:lnTo>
                <a:lnTo>
                  <a:pt x="1422971" y="214630"/>
                </a:lnTo>
                <a:lnTo>
                  <a:pt x="1432877" y="232410"/>
                </a:lnTo>
                <a:lnTo>
                  <a:pt x="1432750" y="231140"/>
                </a:lnTo>
                <a:lnTo>
                  <a:pt x="1442021" y="250190"/>
                </a:lnTo>
                <a:lnTo>
                  <a:pt x="1441894" y="248920"/>
                </a:lnTo>
                <a:lnTo>
                  <a:pt x="1457896" y="285750"/>
                </a:lnTo>
                <a:lnTo>
                  <a:pt x="1470723" y="323850"/>
                </a:lnTo>
                <a:lnTo>
                  <a:pt x="1480362" y="363207"/>
                </a:lnTo>
                <a:lnTo>
                  <a:pt x="1480248" y="361950"/>
                </a:lnTo>
                <a:lnTo>
                  <a:pt x="1483677" y="382270"/>
                </a:lnTo>
                <a:lnTo>
                  <a:pt x="1486204" y="402590"/>
                </a:lnTo>
                <a:lnTo>
                  <a:pt x="1486217" y="401320"/>
                </a:lnTo>
                <a:lnTo>
                  <a:pt x="1487639" y="420370"/>
                </a:lnTo>
                <a:lnTo>
                  <a:pt x="1487741" y="421640"/>
                </a:lnTo>
                <a:lnTo>
                  <a:pt x="1488249" y="440690"/>
                </a:lnTo>
                <a:lnTo>
                  <a:pt x="1487741" y="461010"/>
                </a:lnTo>
                <a:lnTo>
                  <a:pt x="1486306" y="480072"/>
                </a:lnTo>
                <a:lnTo>
                  <a:pt x="1486115" y="480834"/>
                </a:lnTo>
                <a:lnTo>
                  <a:pt x="1483804" y="500380"/>
                </a:lnTo>
                <a:lnTo>
                  <a:pt x="1480464" y="519455"/>
                </a:lnTo>
                <a:lnTo>
                  <a:pt x="1480286" y="520255"/>
                </a:lnTo>
                <a:lnTo>
                  <a:pt x="1480248" y="520700"/>
                </a:lnTo>
                <a:lnTo>
                  <a:pt x="1480324" y="520255"/>
                </a:lnTo>
                <a:lnTo>
                  <a:pt x="1499565" y="520255"/>
                </a:lnTo>
                <a:lnTo>
                  <a:pt x="1502600" y="502920"/>
                </a:lnTo>
                <a:lnTo>
                  <a:pt x="1505140" y="482600"/>
                </a:lnTo>
                <a:lnTo>
                  <a:pt x="1505242" y="481330"/>
                </a:lnTo>
                <a:lnTo>
                  <a:pt x="1506791" y="462280"/>
                </a:lnTo>
                <a:lnTo>
                  <a:pt x="1507261" y="441960"/>
                </a:lnTo>
                <a:lnTo>
                  <a:pt x="1507299" y="4406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643884" y="4928615"/>
            <a:ext cx="1214755" cy="6432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5"/>
              </a:spcBef>
            </a:pPr>
            <a:r>
              <a:rPr dirty="0" sz="2000" spc="-25">
                <a:latin typeface="Arial"/>
                <a:cs typeface="Arial"/>
              </a:rPr>
              <a:t>l</a:t>
            </a:r>
            <a:r>
              <a:rPr dirty="0" baseline="-21367" sz="1950" spc="-37">
                <a:latin typeface="Arial"/>
                <a:cs typeface="Arial"/>
              </a:rPr>
              <a:t>1</a:t>
            </a:r>
            <a:endParaRPr baseline="-21367" sz="1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000" spc="-140">
                <a:latin typeface="Arial"/>
                <a:cs typeface="Arial"/>
              </a:rPr>
              <a:t>x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80">
                <a:latin typeface="Arial"/>
                <a:cs typeface="Arial"/>
              </a:rPr>
              <a:t>=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92396" y="4144517"/>
            <a:ext cx="118110" cy="786130"/>
          </a:xfrm>
          <a:custGeom>
            <a:avLst/>
            <a:gdLst/>
            <a:ahLst/>
            <a:cxnLst/>
            <a:rect l="l" t="t" r="r" b="b"/>
            <a:pathLst>
              <a:path w="118110" h="786129">
                <a:moveTo>
                  <a:pt x="14708" y="670051"/>
                </a:moveTo>
                <a:lnTo>
                  <a:pt x="13998" y="670051"/>
                </a:lnTo>
                <a:lnTo>
                  <a:pt x="8127" y="673353"/>
                </a:lnTo>
                <a:lnTo>
                  <a:pt x="2158" y="676909"/>
                </a:lnTo>
                <a:lnTo>
                  <a:pt x="0" y="684656"/>
                </a:lnTo>
                <a:lnTo>
                  <a:pt x="58800" y="785875"/>
                </a:lnTo>
                <a:lnTo>
                  <a:pt x="73545" y="760729"/>
                </a:lnTo>
                <a:lnTo>
                  <a:pt x="46100" y="760729"/>
                </a:lnTo>
                <a:lnTo>
                  <a:pt x="46203" y="713607"/>
                </a:lnTo>
                <a:lnTo>
                  <a:pt x="22044" y="672083"/>
                </a:lnTo>
                <a:lnTo>
                  <a:pt x="21970" y="671956"/>
                </a:lnTo>
                <a:lnTo>
                  <a:pt x="14708" y="670051"/>
                </a:lnTo>
                <a:close/>
              </a:path>
              <a:path w="118110" h="786129">
                <a:moveTo>
                  <a:pt x="46295" y="713766"/>
                </a:moveTo>
                <a:lnTo>
                  <a:pt x="46155" y="735438"/>
                </a:lnTo>
                <a:lnTo>
                  <a:pt x="46100" y="760729"/>
                </a:lnTo>
                <a:lnTo>
                  <a:pt x="71500" y="760729"/>
                </a:lnTo>
                <a:lnTo>
                  <a:pt x="71515" y="754252"/>
                </a:lnTo>
                <a:lnTo>
                  <a:pt x="47878" y="754252"/>
                </a:lnTo>
                <a:lnTo>
                  <a:pt x="58903" y="735438"/>
                </a:lnTo>
                <a:lnTo>
                  <a:pt x="46295" y="713766"/>
                </a:lnTo>
                <a:close/>
              </a:path>
              <a:path w="118110" h="786129">
                <a:moveTo>
                  <a:pt x="103885" y="670051"/>
                </a:moveTo>
                <a:lnTo>
                  <a:pt x="96011" y="672083"/>
                </a:lnTo>
                <a:lnTo>
                  <a:pt x="84939" y="691006"/>
                </a:lnTo>
                <a:lnTo>
                  <a:pt x="71603" y="713607"/>
                </a:lnTo>
                <a:lnTo>
                  <a:pt x="71500" y="760729"/>
                </a:lnTo>
                <a:lnTo>
                  <a:pt x="73545" y="760729"/>
                </a:lnTo>
                <a:lnTo>
                  <a:pt x="117982" y="684910"/>
                </a:lnTo>
                <a:lnTo>
                  <a:pt x="115950" y="677163"/>
                </a:lnTo>
                <a:lnTo>
                  <a:pt x="109854" y="673607"/>
                </a:lnTo>
                <a:lnTo>
                  <a:pt x="103885" y="670051"/>
                </a:lnTo>
                <a:close/>
              </a:path>
              <a:path w="118110" h="786129">
                <a:moveTo>
                  <a:pt x="58903" y="735438"/>
                </a:moveTo>
                <a:lnTo>
                  <a:pt x="47878" y="754252"/>
                </a:lnTo>
                <a:lnTo>
                  <a:pt x="69849" y="754252"/>
                </a:lnTo>
                <a:lnTo>
                  <a:pt x="58903" y="735438"/>
                </a:lnTo>
                <a:close/>
              </a:path>
              <a:path w="118110" h="786129">
                <a:moveTo>
                  <a:pt x="71602" y="713766"/>
                </a:moveTo>
                <a:lnTo>
                  <a:pt x="58903" y="735438"/>
                </a:lnTo>
                <a:lnTo>
                  <a:pt x="69849" y="754252"/>
                </a:lnTo>
                <a:lnTo>
                  <a:pt x="71515" y="754252"/>
                </a:lnTo>
                <a:lnTo>
                  <a:pt x="71602" y="713766"/>
                </a:lnTo>
                <a:close/>
              </a:path>
              <a:path w="118110" h="786129">
                <a:moveTo>
                  <a:pt x="73151" y="0"/>
                </a:moveTo>
                <a:lnTo>
                  <a:pt x="47751" y="0"/>
                </a:lnTo>
                <a:lnTo>
                  <a:pt x="46297" y="670051"/>
                </a:lnTo>
                <a:lnTo>
                  <a:pt x="46295" y="713766"/>
                </a:lnTo>
                <a:lnTo>
                  <a:pt x="58903" y="735438"/>
                </a:lnTo>
                <a:lnTo>
                  <a:pt x="71602" y="713766"/>
                </a:lnTo>
                <a:lnTo>
                  <a:pt x="731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573011" y="4928615"/>
            <a:ext cx="1213485" cy="6432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5"/>
              </a:spcBef>
            </a:pPr>
            <a:r>
              <a:rPr dirty="0" sz="2000" spc="-25">
                <a:latin typeface="Arial"/>
                <a:cs typeface="Arial"/>
              </a:rPr>
              <a:t>l</a:t>
            </a:r>
            <a:r>
              <a:rPr dirty="0" baseline="-21367" sz="1950" spc="-37">
                <a:latin typeface="Arial"/>
                <a:cs typeface="Arial"/>
              </a:rPr>
              <a:t>1</a:t>
            </a:r>
            <a:endParaRPr baseline="-21367" sz="195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2000" spc="-110">
                <a:latin typeface="Arial"/>
                <a:cs typeface="Arial"/>
              </a:rPr>
              <a:t>1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80">
                <a:latin typeface="Arial"/>
                <a:cs typeface="Arial"/>
              </a:rPr>
              <a:t>&lt;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x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80">
                <a:latin typeface="Arial"/>
                <a:cs typeface="Arial"/>
              </a:rPr>
              <a:t>&lt;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6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59273" y="5193538"/>
            <a:ext cx="1715135" cy="118110"/>
          </a:xfrm>
          <a:custGeom>
            <a:avLst/>
            <a:gdLst/>
            <a:ahLst/>
            <a:cxnLst/>
            <a:rect l="l" t="t" r="r" b="b"/>
            <a:pathLst>
              <a:path w="1715134" h="118110">
                <a:moveTo>
                  <a:pt x="1664154" y="58952"/>
                </a:moveTo>
                <a:lnTo>
                  <a:pt x="1606677" y="92328"/>
                </a:lnTo>
                <a:lnTo>
                  <a:pt x="1600708" y="95884"/>
                </a:lnTo>
                <a:lnTo>
                  <a:pt x="1598676" y="103631"/>
                </a:lnTo>
                <a:lnTo>
                  <a:pt x="1602105" y="109727"/>
                </a:lnTo>
                <a:lnTo>
                  <a:pt x="1605661" y="115823"/>
                </a:lnTo>
                <a:lnTo>
                  <a:pt x="1613408" y="117855"/>
                </a:lnTo>
                <a:lnTo>
                  <a:pt x="1692812" y="71627"/>
                </a:lnTo>
                <a:lnTo>
                  <a:pt x="1689354" y="71627"/>
                </a:lnTo>
                <a:lnTo>
                  <a:pt x="1689354" y="69976"/>
                </a:lnTo>
                <a:lnTo>
                  <a:pt x="1683004" y="69976"/>
                </a:lnTo>
                <a:lnTo>
                  <a:pt x="1664154" y="58952"/>
                </a:lnTo>
                <a:close/>
              </a:path>
              <a:path w="1715134" h="118110">
                <a:moveTo>
                  <a:pt x="0" y="44703"/>
                </a:moveTo>
                <a:lnTo>
                  <a:pt x="0" y="70103"/>
                </a:lnTo>
                <a:lnTo>
                  <a:pt x="1689354" y="71627"/>
                </a:lnTo>
                <a:lnTo>
                  <a:pt x="1642325" y="71627"/>
                </a:lnTo>
                <a:lnTo>
                  <a:pt x="1664154" y="58952"/>
                </a:lnTo>
                <a:lnTo>
                  <a:pt x="1642398" y="46227"/>
                </a:lnTo>
                <a:lnTo>
                  <a:pt x="1689353" y="46227"/>
                </a:lnTo>
                <a:lnTo>
                  <a:pt x="0" y="44703"/>
                </a:lnTo>
                <a:close/>
              </a:path>
              <a:path w="1715134" h="118110">
                <a:moveTo>
                  <a:pt x="1692888" y="46227"/>
                </a:moveTo>
                <a:lnTo>
                  <a:pt x="1689354" y="46227"/>
                </a:lnTo>
                <a:lnTo>
                  <a:pt x="1689354" y="71627"/>
                </a:lnTo>
                <a:lnTo>
                  <a:pt x="1692812" y="71627"/>
                </a:lnTo>
                <a:lnTo>
                  <a:pt x="1714585" y="58952"/>
                </a:lnTo>
                <a:lnTo>
                  <a:pt x="1692888" y="46227"/>
                </a:lnTo>
                <a:close/>
              </a:path>
              <a:path w="1715134" h="118110">
                <a:moveTo>
                  <a:pt x="1683004" y="48005"/>
                </a:moveTo>
                <a:lnTo>
                  <a:pt x="1664154" y="58952"/>
                </a:lnTo>
                <a:lnTo>
                  <a:pt x="1683004" y="69976"/>
                </a:lnTo>
                <a:lnTo>
                  <a:pt x="1683004" y="48005"/>
                </a:lnTo>
                <a:close/>
              </a:path>
              <a:path w="1715134" h="118110">
                <a:moveTo>
                  <a:pt x="1689354" y="48005"/>
                </a:moveTo>
                <a:lnTo>
                  <a:pt x="1683004" y="48005"/>
                </a:lnTo>
                <a:lnTo>
                  <a:pt x="1683004" y="69976"/>
                </a:lnTo>
                <a:lnTo>
                  <a:pt x="1689354" y="69976"/>
                </a:lnTo>
                <a:lnTo>
                  <a:pt x="1689354" y="48005"/>
                </a:lnTo>
                <a:close/>
              </a:path>
              <a:path w="1715134" h="118110">
                <a:moveTo>
                  <a:pt x="1613535" y="0"/>
                </a:moveTo>
                <a:lnTo>
                  <a:pt x="1605788" y="2031"/>
                </a:lnTo>
                <a:lnTo>
                  <a:pt x="1602232" y="8000"/>
                </a:lnTo>
                <a:lnTo>
                  <a:pt x="1598676" y="14096"/>
                </a:lnTo>
                <a:lnTo>
                  <a:pt x="1600708" y="21843"/>
                </a:lnTo>
                <a:lnTo>
                  <a:pt x="1664154" y="58952"/>
                </a:lnTo>
                <a:lnTo>
                  <a:pt x="1683004" y="48005"/>
                </a:lnTo>
                <a:lnTo>
                  <a:pt x="1689354" y="48005"/>
                </a:lnTo>
                <a:lnTo>
                  <a:pt x="1689354" y="46227"/>
                </a:lnTo>
                <a:lnTo>
                  <a:pt x="1692888" y="46227"/>
                </a:lnTo>
                <a:lnTo>
                  <a:pt x="1619631" y="3428"/>
                </a:lnTo>
                <a:lnTo>
                  <a:pt x="16135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573011" y="3500628"/>
            <a:ext cx="1213485" cy="6432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5"/>
              </a:spcBef>
            </a:pPr>
            <a:r>
              <a:rPr dirty="0" sz="2000" spc="-25">
                <a:latin typeface="Arial"/>
                <a:cs typeface="Arial"/>
              </a:rPr>
              <a:t>l</a:t>
            </a:r>
            <a:r>
              <a:rPr dirty="0" baseline="-21367" sz="1950" spc="-37">
                <a:latin typeface="Arial"/>
                <a:cs typeface="Arial"/>
              </a:rPr>
              <a:t>1</a:t>
            </a:r>
            <a:endParaRPr baseline="-21367" sz="195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2000" spc="-140">
                <a:latin typeface="Arial"/>
                <a:cs typeface="Arial"/>
              </a:rPr>
              <a:t>x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180">
                <a:latin typeface="Arial"/>
                <a:cs typeface="Arial"/>
              </a:rPr>
              <a:t>=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21270" y="4144517"/>
            <a:ext cx="118110" cy="786130"/>
          </a:xfrm>
          <a:custGeom>
            <a:avLst/>
            <a:gdLst/>
            <a:ahLst/>
            <a:cxnLst/>
            <a:rect l="l" t="t" r="r" b="b"/>
            <a:pathLst>
              <a:path w="118109" h="786129">
                <a:moveTo>
                  <a:pt x="71587" y="108838"/>
                </a:moveTo>
                <a:lnTo>
                  <a:pt x="46187" y="108838"/>
                </a:lnTo>
                <a:lnTo>
                  <a:pt x="44830" y="785875"/>
                </a:lnTo>
                <a:lnTo>
                  <a:pt x="70230" y="785875"/>
                </a:lnTo>
                <a:lnTo>
                  <a:pt x="71573" y="115950"/>
                </a:lnTo>
                <a:lnTo>
                  <a:pt x="71587" y="108838"/>
                </a:lnTo>
                <a:close/>
              </a:path>
              <a:path w="118109" h="786129">
                <a:moveTo>
                  <a:pt x="115823" y="108838"/>
                </a:moveTo>
                <a:lnTo>
                  <a:pt x="92921" y="108838"/>
                </a:lnTo>
                <a:lnTo>
                  <a:pt x="95884" y="113918"/>
                </a:lnTo>
                <a:lnTo>
                  <a:pt x="103631" y="115950"/>
                </a:lnTo>
                <a:lnTo>
                  <a:pt x="115823" y="108838"/>
                </a:lnTo>
                <a:close/>
              </a:path>
              <a:path w="118109" h="786129">
                <a:moveTo>
                  <a:pt x="59054" y="0"/>
                </a:moveTo>
                <a:lnTo>
                  <a:pt x="3555" y="94868"/>
                </a:lnTo>
                <a:lnTo>
                  <a:pt x="0" y="100837"/>
                </a:lnTo>
                <a:lnTo>
                  <a:pt x="2031" y="108711"/>
                </a:lnTo>
                <a:lnTo>
                  <a:pt x="8000" y="112267"/>
                </a:lnTo>
                <a:lnTo>
                  <a:pt x="14096" y="115696"/>
                </a:lnTo>
                <a:lnTo>
                  <a:pt x="21327" y="113918"/>
                </a:lnTo>
                <a:lnTo>
                  <a:pt x="21769" y="113918"/>
                </a:lnTo>
                <a:lnTo>
                  <a:pt x="46241" y="72128"/>
                </a:lnTo>
                <a:lnTo>
                  <a:pt x="46354" y="25145"/>
                </a:lnTo>
                <a:lnTo>
                  <a:pt x="73681" y="25145"/>
                </a:lnTo>
                <a:lnTo>
                  <a:pt x="59054" y="0"/>
                </a:lnTo>
                <a:close/>
              </a:path>
              <a:path w="118109" h="786129">
                <a:moveTo>
                  <a:pt x="92847" y="108711"/>
                </a:moveTo>
                <a:lnTo>
                  <a:pt x="71587" y="108711"/>
                </a:lnTo>
                <a:lnTo>
                  <a:pt x="71587" y="108838"/>
                </a:lnTo>
                <a:lnTo>
                  <a:pt x="92921" y="108838"/>
                </a:lnTo>
                <a:lnTo>
                  <a:pt x="92847" y="108711"/>
                </a:lnTo>
                <a:close/>
              </a:path>
              <a:path w="118109" h="786129">
                <a:moveTo>
                  <a:pt x="59026" y="50309"/>
                </a:moveTo>
                <a:lnTo>
                  <a:pt x="46260" y="72128"/>
                </a:lnTo>
                <a:lnTo>
                  <a:pt x="46187" y="108711"/>
                </a:lnTo>
                <a:lnTo>
                  <a:pt x="71587" y="108711"/>
                </a:lnTo>
                <a:lnTo>
                  <a:pt x="71660" y="72128"/>
                </a:lnTo>
                <a:lnTo>
                  <a:pt x="59026" y="50309"/>
                </a:lnTo>
                <a:close/>
              </a:path>
              <a:path w="118109" h="786129">
                <a:moveTo>
                  <a:pt x="73681" y="25145"/>
                </a:moveTo>
                <a:lnTo>
                  <a:pt x="71754" y="25145"/>
                </a:lnTo>
                <a:lnTo>
                  <a:pt x="71660" y="72128"/>
                </a:lnTo>
                <a:lnTo>
                  <a:pt x="92847" y="108711"/>
                </a:lnTo>
                <a:lnTo>
                  <a:pt x="115857" y="108711"/>
                </a:lnTo>
                <a:lnTo>
                  <a:pt x="117855" y="101091"/>
                </a:lnTo>
                <a:lnTo>
                  <a:pt x="73681" y="25145"/>
                </a:lnTo>
                <a:close/>
              </a:path>
              <a:path w="118109" h="786129">
                <a:moveTo>
                  <a:pt x="71754" y="25145"/>
                </a:moveTo>
                <a:lnTo>
                  <a:pt x="46354" y="25145"/>
                </a:lnTo>
                <a:lnTo>
                  <a:pt x="46260" y="72128"/>
                </a:lnTo>
                <a:lnTo>
                  <a:pt x="59026" y="50309"/>
                </a:lnTo>
                <a:lnTo>
                  <a:pt x="48206" y="31622"/>
                </a:lnTo>
                <a:lnTo>
                  <a:pt x="71742" y="31622"/>
                </a:lnTo>
                <a:lnTo>
                  <a:pt x="71754" y="25145"/>
                </a:lnTo>
                <a:close/>
              </a:path>
              <a:path w="118109" h="786129">
                <a:moveTo>
                  <a:pt x="71742" y="31622"/>
                </a:moveTo>
                <a:lnTo>
                  <a:pt x="69976" y="31622"/>
                </a:lnTo>
                <a:lnTo>
                  <a:pt x="59026" y="50309"/>
                </a:lnTo>
                <a:lnTo>
                  <a:pt x="71660" y="72128"/>
                </a:lnTo>
                <a:lnTo>
                  <a:pt x="71742" y="31622"/>
                </a:lnTo>
                <a:close/>
              </a:path>
              <a:path w="118109" h="786129">
                <a:moveTo>
                  <a:pt x="69976" y="31622"/>
                </a:moveTo>
                <a:lnTo>
                  <a:pt x="48206" y="31622"/>
                </a:lnTo>
                <a:lnTo>
                  <a:pt x="59026" y="50309"/>
                </a:lnTo>
                <a:lnTo>
                  <a:pt x="69976" y="31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643884" y="2071116"/>
            <a:ext cx="1214755" cy="6432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"/>
              </a:spcBef>
            </a:pPr>
            <a:r>
              <a:rPr dirty="0" sz="2000" spc="-25">
                <a:latin typeface="Arial"/>
                <a:cs typeface="Arial"/>
              </a:rPr>
              <a:t>l</a:t>
            </a:r>
            <a:r>
              <a:rPr dirty="0" baseline="-21367" sz="1950" spc="-37">
                <a:latin typeface="Arial"/>
                <a:cs typeface="Arial"/>
              </a:rPr>
              <a:t>1</a:t>
            </a:r>
            <a:endParaRPr baseline="-21367" sz="1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2000" spc="-140">
                <a:latin typeface="Arial"/>
                <a:cs typeface="Arial"/>
              </a:rPr>
              <a:t>x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80">
                <a:latin typeface="Arial"/>
                <a:cs typeface="Arial"/>
              </a:rPr>
              <a:t>=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51910" y="2309622"/>
            <a:ext cx="292735" cy="118110"/>
          </a:xfrm>
          <a:custGeom>
            <a:avLst/>
            <a:gdLst/>
            <a:ahLst/>
            <a:cxnLst/>
            <a:rect l="l" t="t" r="r" b="b"/>
            <a:pathLst>
              <a:path w="292735" h="118110">
                <a:moveTo>
                  <a:pt x="220165" y="71763"/>
                </a:moveTo>
                <a:lnTo>
                  <a:pt x="178307" y="95885"/>
                </a:lnTo>
                <a:lnTo>
                  <a:pt x="176148" y="103632"/>
                </a:lnTo>
                <a:lnTo>
                  <a:pt x="179704" y="109728"/>
                </a:lnTo>
                <a:lnTo>
                  <a:pt x="183133" y="115824"/>
                </a:lnTo>
                <a:lnTo>
                  <a:pt x="190880" y="117856"/>
                </a:lnTo>
                <a:lnTo>
                  <a:pt x="196976" y="114427"/>
                </a:lnTo>
                <a:lnTo>
                  <a:pt x="270717" y="72009"/>
                </a:lnTo>
                <a:lnTo>
                  <a:pt x="267080" y="72009"/>
                </a:lnTo>
                <a:lnTo>
                  <a:pt x="220165" y="71763"/>
                </a:lnTo>
                <a:close/>
              </a:path>
              <a:path w="292735" h="118110">
                <a:moveTo>
                  <a:pt x="241859" y="59261"/>
                </a:moveTo>
                <a:lnTo>
                  <a:pt x="220165" y="71763"/>
                </a:lnTo>
                <a:lnTo>
                  <a:pt x="267080" y="72009"/>
                </a:lnTo>
                <a:lnTo>
                  <a:pt x="267089" y="70358"/>
                </a:lnTo>
                <a:lnTo>
                  <a:pt x="260603" y="70358"/>
                </a:lnTo>
                <a:lnTo>
                  <a:pt x="241859" y="59261"/>
                </a:lnTo>
                <a:close/>
              </a:path>
              <a:path w="292735" h="118110">
                <a:moveTo>
                  <a:pt x="191515" y="0"/>
                </a:moveTo>
                <a:lnTo>
                  <a:pt x="183768" y="2032"/>
                </a:lnTo>
                <a:lnTo>
                  <a:pt x="180212" y="8001"/>
                </a:lnTo>
                <a:lnTo>
                  <a:pt x="176656" y="14097"/>
                </a:lnTo>
                <a:lnTo>
                  <a:pt x="178688" y="21844"/>
                </a:lnTo>
                <a:lnTo>
                  <a:pt x="220068" y="46362"/>
                </a:lnTo>
                <a:lnTo>
                  <a:pt x="267207" y="46609"/>
                </a:lnTo>
                <a:lnTo>
                  <a:pt x="267080" y="72009"/>
                </a:lnTo>
                <a:lnTo>
                  <a:pt x="270717" y="72009"/>
                </a:lnTo>
                <a:lnTo>
                  <a:pt x="292353" y="59563"/>
                </a:lnTo>
                <a:lnTo>
                  <a:pt x="191515" y="0"/>
                </a:lnTo>
                <a:close/>
              </a:path>
              <a:path w="292735" h="118110">
                <a:moveTo>
                  <a:pt x="253" y="45212"/>
                </a:moveTo>
                <a:lnTo>
                  <a:pt x="240" y="46609"/>
                </a:lnTo>
                <a:lnTo>
                  <a:pt x="113" y="59261"/>
                </a:lnTo>
                <a:lnTo>
                  <a:pt x="0" y="70612"/>
                </a:lnTo>
                <a:lnTo>
                  <a:pt x="220165" y="71763"/>
                </a:lnTo>
                <a:lnTo>
                  <a:pt x="241859" y="59261"/>
                </a:lnTo>
                <a:lnTo>
                  <a:pt x="220068" y="46362"/>
                </a:lnTo>
                <a:lnTo>
                  <a:pt x="253" y="45212"/>
                </a:lnTo>
                <a:close/>
              </a:path>
              <a:path w="292735" h="118110">
                <a:moveTo>
                  <a:pt x="260730" y="48387"/>
                </a:moveTo>
                <a:lnTo>
                  <a:pt x="241859" y="59261"/>
                </a:lnTo>
                <a:lnTo>
                  <a:pt x="260603" y="70358"/>
                </a:lnTo>
                <a:lnTo>
                  <a:pt x="260668" y="59261"/>
                </a:lnTo>
                <a:lnTo>
                  <a:pt x="260730" y="48387"/>
                </a:lnTo>
                <a:close/>
              </a:path>
              <a:path w="292735" h="118110">
                <a:moveTo>
                  <a:pt x="267199" y="48387"/>
                </a:moveTo>
                <a:lnTo>
                  <a:pt x="260730" y="48387"/>
                </a:lnTo>
                <a:lnTo>
                  <a:pt x="260668" y="59261"/>
                </a:lnTo>
                <a:lnTo>
                  <a:pt x="260603" y="70358"/>
                </a:lnTo>
                <a:lnTo>
                  <a:pt x="267089" y="70358"/>
                </a:lnTo>
                <a:lnTo>
                  <a:pt x="267199" y="48387"/>
                </a:lnTo>
                <a:close/>
              </a:path>
              <a:path w="292735" h="118110">
                <a:moveTo>
                  <a:pt x="220068" y="46362"/>
                </a:moveTo>
                <a:lnTo>
                  <a:pt x="241859" y="59261"/>
                </a:lnTo>
                <a:lnTo>
                  <a:pt x="260730" y="48387"/>
                </a:lnTo>
                <a:lnTo>
                  <a:pt x="267199" y="48387"/>
                </a:lnTo>
                <a:lnTo>
                  <a:pt x="267207" y="46609"/>
                </a:lnTo>
                <a:lnTo>
                  <a:pt x="220068" y="4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643884" y="3500628"/>
            <a:ext cx="1214755" cy="6432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2000" spc="-25">
                <a:latin typeface="Arial"/>
                <a:cs typeface="Arial"/>
              </a:rPr>
              <a:t>l</a:t>
            </a:r>
            <a:r>
              <a:rPr dirty="0" baseline="-21367" sz="1950" spc="-37">
                <a:latin typeface="Arial"/>
                <a:cs typeface="Arial"/>
              </a:rPr>
              <a:t>1</a:t>
            </a:r>
            <a:endParaRPr baseline="-21367" sz="1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000" spc="-110">
                <a:latin typeface="Arial"/>
                <a:cs typeface="Arial"/>
              </a:rPr>
              <a:t>0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180">
                <a:latin typeface="Arial"/>
                <a:cs typeface="Arial"/>
              </a:rPr>
              <a:t>&lt;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x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80">
                <a:latin typeface="Arial"/>
                <a:cs typeface="Arial"/>
              </a:rPr>
              <a:t>&lt;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192396" y="2064766"/>
            <a:ext cx="3600450" cy="1437640"/>
            <a:chOff x="4192396" y="2064766"/>
            <a:chExt cx="3600450" cy="1437640"/>
          </a:xfrm>
        </p:grpSpPr>
        <p:sp>
          <p:nvSpPr>
            <p:cNvPr id="18" name="object 18"/>
            <p:cNvSpPr/>
            <p:nvPr/>
          </p:nvSpPr>
          <p:spPr>
            <a:xfrm>
              <a:off x="4192396" y="2716530"/>
              <a:ext cx="118110" cy="786130"/>
            </a:xfrm>
            <a:custGeom>
              <a:avLst/>
              <a:gdLst/>
              <a:ahLst/>
              <a:cxnLst/>
              <a:rect l="l" t="t" r="r" b="b"/>
              <a:pathLst>
                <a:path w="118110" h="786129">
                  <a:moveTo>
                    <a:pt x="14708" y="670052"/>
                  </a:moveTo>
                  <a:lnTo>
                    <a:pt x="13998" y="670052"/>
                  </a:lnTo>
                  <a:lnTo>
                    <a:pt x="8127" y="673354"/>
                  </a:lnTo>
                  <a:lnTo>
                    <a:pt x="2158" y="676910"/>
                  </a:lnTo>
                  <a:lnTo>
                    <a:pt x="0" y="684657"/>
                  </a:lnTo>
                  <a:lnTo>
                    <a:pt x="58800" y="785876"/>
                  </a:lnTo>
                  <a:lnTo>
                    <a:pt x="73545" y="760730"/>
                  </a:lnTo>
                  <a:lnTo>
                    <a:pt x="46100" y="760730"/>
                  </a:lnTo>
                  <a:lnTo>
                    <a:pt x="46203" y="713607"/>
                  </a:lnTo>
                  <a:lnTo>
                    <a:pt x="22044" y="672084"/>
                  </a:lnTo>
                  <a:lnTo>
                    <a:pt x="21970" y="671957"/>
                  </a:lnTo>
                  <a:lnTo>
                    <a:pt x="14708" y="670052"/>
                  </a:lnTo>
                  <a:close/>
                </a:path>
                <a:path w="118110" h="786129">
                  <a:moveTo>
                    <a:pt x="46295" y="713766"/>
                  </a:moveTo>
                  <a:lnTo>
                    <a:pt x="46155" y="735438"/>
                  </a:lnTo>
                  <a:lnTo>
                    <a:pt x="46100" y="760730"/>
                  </a:lnTo>
                  <a:lnTo>
                    <a:pt x="71500" y="760730"/>
                  </a:lnTo>
                  <a:lnTo>
                    <a:pt x="71515" y="754253"/>
                  </a:lnTo>
                  <a:lnTo>
                    <a:pt x="47878" y="754253"/>
                  </a:lnTo>
                  <a:lnTo>
                    <a:pt x="58903" y="735438"/>
                  </a:lnTo>
                  <a:lnTo>
                    <a:pt x="46295" y="713766"/>
                  </a:lnTo>
                  <a:close/>
                </a:path>
                <a:path w="118110" h="786129">
                  <a:moveTo>
                    <a:pt x="103885" y="670052"/>
                  </a:moveTo>
                  <a:lnTo>
                    <a:pt x="96011" y="672084"/>
                  </a:lnTo>
                  <a:lnTo>
                    <a:pt x="84939" y="691007"/>
                  </a:lnTo>
                  <a:lnTo>
                    <a:pt x="71603" y="713607"/>
                  </a:lnTo>
                  <a:lnTo>
                    <a:pt x="71500" y="760730"/>
                  </a:lnTo>
                  <a:lnTo>
                    <a:pt x="73545" y="760730"/>
                  </a:lnTo>
                  <a:lnTo>
                    <a:pt x="117982" y="684911"/>
                  </a:lnTo>
                  <a:lnTo>
                    <a:pt x="115950" y="677164"/>
                  </a:lnTo>
                  <a:lnTo>
                    <a:pt x="109854" y="673608"/>
                  </a:lnTo>
                  <a:lnTo>
                    <a:pt x="103885" y="670052"/>
                  </a:lnTo>
                  <a:close/>
                </a:path>
                <a:path w="118110" h="786129">
                  <a:moveTo>
                    <a:pt x="58903" y="735438"/>
                  </a:moveTo>
                  <a:lnTo>
                    <a:pt x="47878" y="754253"/>
                  </a:lnTo>
                  <a:lnTo>
                    <a:pt x="69849" y="754253"/>
                  </a:lnTo>
                  <a:lnTo>
                    <a:pt x="58903" y="735438"/>
                  </a:lnTo>
                  <a:close/>
                </a:path>
                <a:path w="118110" h="786129">
                  <a:moveTo>
                    <a:pt x="71602" y="713766"/>
                  </a:moveTo>
                  <a:lnTo>
                    <a:pt x="58903" y="735438"/>
                  </a:lnTo>
                  <a:lnTo>
                    <a:pt x="69849" y="754253"/>
                  </a:lnTo>
                  <a:lnTo>
                    <a:pt x="71515" y="754253"/>
                  </a:lnTo>
                  <a:lnTo>
                    <a:pt x="71602" y="713766"/>
                  </a:lnTo>
                  <a:close/>
                </a:path>
                <a:path w="118110" h="786129">
                  <a:moveTo>
                    <a:pt x="73151" y="0"/>
                  </a:moveTo>
                  <a:lnTo>
                    <a:pt x="47751" y="0"/>
                  </a:lnTo>
                  <a:lnTo>
                    <a:pt x="46297" y="670052"/>
                  </a:lnTo>
                  <a:lnTo>
                    <a:pt x="46295" y="713766"/>
                  </a:lnTo>
                  <a:lnTo>
                    <a:pt x="58903" y="735438"/>
                  </a:lnTo>
                  <a:lnTo>
                    <a:pt x="71602" y="713766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573011" y="2071116"/>
              <a:ext cx="1213485" cy="643255"/>
            </a:xfrm>
            <a:custGeom>
              <a:avLst/>
              <a:gdLst/>
              <a:ahLst/>
              <a:cxnLst/>
              <a:rect l="l" t="t" r="r" b="b"/>
              <a:pathLst>
                <a:path w="1213484" h="643255">
                  <a:moveTo>
                    <a:pt x="0" y="643127"/>
                  </a:moveTo>
                  <a:lnTo>
                    <a:pt x="1213103" y="643127"/>
                  </a:lnTo>
                  <a:lnTo>
                    <a:pt x="1213103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096506" y="2059000"/>
            <a:ext cx="8445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0"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54418" y="2206828"/>
            <a:ext cx="11176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0"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27342" y="2364486"/>
            <a:ext cx="505459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40">
                <a:latin typeface="Arial"/>
                <a:cs typeface="Arial"/>
              </a:rPr>
              <a:t>x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80">
                <a:latin typeface="Arial"/>
                <a:cs typeface="Arial"/>
              </a:rPr>
              <a:t>&gt;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874240" y="1374432"/>
            <a:ext cx="5722620" cy="4767580"/>
            <a:chOff x="2874240" y="1374432"/>
            <a:chExt cx="5722620" cy="4767580"/>
          </a:xfrm>
        </p:grpSpPr>
        <p:sp>
          <p:nvSpPr>
            <p:cNvPr id="24" name="object 24"/>
            <p:cNvSpPr/>
            <p:nvPr/>
          </p:nvSpPr>
          <p:spPr>
            <a:xfrm>
              <a:off x="7121271" y="2716530"/>
              <a:ext cx="118110" cy="786130"/>
            </a:xfrm>
            <a:custGeom>
              <a:avLst/>
              <a:gdLst/>
              <a:ahLst/>
              <a:cxnLst/>
              <a:rect l="l" t="t" r="r" b="b"/>
              <a:pathLst>
                <a:path w="118109" h="786129">
                  <a:moveTo>
                    <a:pt x="71587" y="108839"/>
                  </a:moveTo>
                  <a:lnTo>
                    <a:pt x="46187" y="108839"/>
                  </a:lnTo>
                  <a:lnTo>
                    <a:pt x="44830" y="785876"/>
                  </a:lnTo>
                  <a:lnTo>
                    <a:pt x="70230" y="785876"/>
                  </a:lnTo>
                  <a:lnTo>
                    <a:pt x="71573" y="115951"/>
                  </a:lnTo>
                  <a:lnTo>
                    <a:pt x="71587" y="108839"/>
                  </a:lnTo>
                  <a:close/>
                </a:path>
                <a:path w="118109" h="786129">
                  <a:moveTo>
                    <a:pt x="115823" y="108839"/>
                  </a:moveTo>
                  <a:lnTo>
                    <a:pt x="92921" y="108839"/>
                  </a:lnTo>
                  <a:lnTo>
                    <a:pt x="95884" y="113919"/>
                  </a:lnTo>
                  <a:lnTo>
                    <a:pt x="103631" y="115951"/>
                  </a:lnTo>
                  <a:lnTo>
                    <a:pt x="115823" y="108839"/>
                  </a:lnTo>
                  <a:close/>
                </a:path>
                <a:path w="118109" h="786129">
                  <a:moveTo>
                    <a:pt x="59054" y="0"/>
                  </a:moveTo>
                  <a:lnTo>
                    <a:pt x="3555" y="94869"/>
                  </a:lnTo>
                  <a:lnTo>
                    <a:pt x="0" y="100838"/>
                  </a:lnTo>
                  <a:lnTo>
                    <a:pt x="2031" y="108712"/>
                  </a:lnTo>
                  <a:lnTo>
                    <a:pt x="8000" y="112268"/>
                  </a:lnTo>
                  <a:lnTo>
                    <a:pt x="14096" y="115697"/>
                  </a:lnTo>
                  <a:lnTo>
                    <a:pt x="21327" y="113919"/>
                  </a:lnTo>
                  <a:lnTo>
                    <a:pt x="21769" y="113919"/>
                  </a:lnTo>
                  <a:lnTo>
                    <a:pt x="46241" y="72128"/>
                  </a:lnTo>
                  <a:lnTo>
                    <a:pt x="46354" y="25146"/>
                  </a:lnTo>
                  <a:lnTo>
                    <a:pt x="73681" y="25146"/>
                  </a:lnTo>
                  <a:lnTo>
                    <a:pt x="59054" y="0"/>
                  </a:lnTo>
                  <a:close/>
                </a:path>
                <a:path w="118109" h="786129">
                  <a:moveTo>
                    <a:pt x="92847" y="108712"/>
                  </a:moveTo>
                  <a:lnTo>
                    <a:pt x="71587" y="108712"/>
                  </a:lnTo>
                  <a:lnTo>
                    <a:pt x="71587" y="108839"/>
                  </a:lnTo>
                  <a:lnTo>
                    <a:pt x="92921" y="108839"/>
                  </a:lnTo>
                  <a:lnTo>
                    <a:pt x="92847" y="108712"/>
                  </a:lnTo>
                  <a:close/>
                </a:path>
                <a:path w="118109" h="786129">
                  <a:moveTo>
                    <a:pt x="59026" y="50309"/>
                  </a:moveTo>
                  <a:lnTo>
                    <a:pt x="46260" y="72128"/>
                  </a:lnTo>
                  <a:lnTo>
                    <a:pt x="46187" y="108712"/>
                  </a:lnTo>
                  <a:lnTo>
                    <a:pt x="71587" y="108712"/>
                  </a:lnTo>
                  <a:lnTo>
                    <a:pt x="71660" y="72128"/>
                  </a:lnTo>
                  <a:lnTo>
                    <a:pt x="59026" y="50309"/>
                  </a:lnTo>
                  <a:close/>
                </a:path>
                <a:path w="118109" h="786129">
                  <a:moveTo>
                    <a:pt x="73681" y="25146"/>
                  </a:moveTo>
                  <a:lnTo>
                    <a:pt x="71754" y="25146"/>
                  </a:lnTo>
                  <a:lnTo>
                    <a:pt x="71660" y="72128"/>
                  </a:lnTo>
                  <a:lnTo>
                    <a:pt x="92847" y="108712"/>
                  </a:lnTo>
                  <a:lnTo>
                    <a:pt x="115857" y="108712"/>
                  </a:lnTo>
                  <a:lnTo>
                    <a:pt x="117855" y="101092"/>
                  </a:lnTo>
                  <a:lnTo>
                    <a:pt x="73681" y="25146"/>
                  </a:lnTo>
                  <a:close/>
                </a:path>
                <a:path w="118109" h="786129">
                  <a:moveTo>
                    <a:pt x="71754" y="25146"/>
                  </a:moveTo>
                  <a:lnTo>
                    <a:pt x="46354" y="25146"/>
                  </a:lnTo>
                  <a:lnTo>
                    <a:pt x="46260" y="72128"/>
                  </a:lnTo>
                  <a:lnTo>
                    <a:pt x="59026" y="50309"/>
                  </a:lnTo>
                  <a:lnTo>
                    <a:pt x="48206" y="31623"/>
                  </a:lnTo>
                  <a:lnTo>
                    <a:pt x="71742" y="31623"/>
                  </a:lnTo>
                  <a:lnTo>
                    <a:pt x="71754" y="25146"/>
                  </a:lnTo>
                  <a:close/>
                </a:path>
                <a:path w="118109" h="786129">
                  <a:moveTo>
                    <a:pt x="71742" y="31623"/>
                  </a:moveTo>
                  <a:lnTo>
                    <a:pt x="69976" y="31623"/>
                  </a:lnTo>
                  <a:lnTo>
                    <a:pt x="59026" y="50309"/>
                  </a:lnTo>
                  <a:lnTo>
                    <a:pt x="71660" y="72128"/>
                  </a:lnTo>
                  <a:lnTo>
                    <a:pt x="71742" y="31623"/>
                  </a:lnTo>
                  <a:close/>
                </a:path>
                <a:path w="118109" h="786129">
                  <a:moveTo>
                    <a:pt x="69976" y="31623"/>
                  </a:moveTo>
                  <a:lnTo>
                    <a:pt x="48206" y="31623"/>
                  </a:lnTo>
                  <a:lnTo>
                    <a:pt x="59026" y="50309"/>
                  </a:lnTo>
                  <a:lnTo>
                    <a:pt x="69976" y="316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859273" y="2227834"/>
              <a:ext cx="1714500" cy="118110"/>
            </a:xfrm>
            <a:custGeom>
              <a:avLst/>
              <a:gdLst/>
              <a:ahLst/>
              <a:cxnLst/>
              <a:rect l="l" t="t" r="r" b="b"/>
              <a:pathLst>
                <a:path w="1714500" h="118110">
                  <a:moveTo>
                    <a:pt x="100965" y="0"/>
                  </a:moveTo>
                  <a:lnTo>
                    <a:pt x="94996" y="3555"/>
                  </a:lnTo>
                  <a:lnTo>
                    <a:pt x="0" y="58927"/>
                  </a:lnTo>
                  <a:lnTo>
                    <a:pt x="94996" y="114299"/>
                  </a:lnTo>
                  <a:lnTo>
                    <a:pt x="100965" y="117855"/>
                  </a:lnTo>
                  <a:lnTo>
                    <a:pt x="108838" y="115823"/>
                  </a:lnTo>
                  <a:lnTo>
                    <a:pt x="112268" y="109727"/>
                  </a:lnTo>
                  <a:lnTo>
                    <a:pt x="115824" y="103758"/>
                  </a:lnTo>
                  <a:lnTo>
                    <a:pt x="113791" y="95884"/>
                  </a:lnTo>
                  <a:lnTo>
                    <a:pt x="107696" y="92455"/>
                  </a:lnTo>
                  <a:lnTo>
                    <a:pt x="71990" y="71627"/>
                  </a:lnTo>
                  <a:lnTo>
                    <a:pt x="25145" y="71627"/>
                  </a:lnTo>
                  <a:lnTo>
                    <a:pt x="25145" y="46227"/>
                  </a:lnTo>
                  <a:lnTo>
                    <a:pt x="71990" y="46227"/>
                  </a:lnTo>
                  <a:lnTo>
                    <a:pt x="107696" y="25399"/>
                  </a:lnTo>
                  <a:lnTo>
                    <a:pt x="113791" y="21970"/>
                  </a:lnTo>
                  <a:lnTo>
                    <a:pt x="115824" y="14096"/>
                  </a:lnTo>
                  <a:lnTo>
                    <a:pt x="112268" y="8127"/>
                  </a:lnTo>
                  <a:lnTo>
                    <a:pt x="108838" y="2031"/>
                  </a:lnTo>
                  <a:lnTo>
                    <a:pt x="100965" y="0"/>
                  </a:lnTo>
                  <a:close/>
                </a:path>
                <a:path w="1714500" h="118110">
                  <a:moveTo>
                    <a:pt x="71990" y="46227"/>
                  </a:moveTo>
                  <a:lnTo>
                    <a:pt x="25145" y="46227"/>
                  </a:lnTo>
                  <a:lnTo>
                    <a:pt x="25145" y="71627"/>
                  </a:lnTo>
                  <a:lnTo>
                    <a:pt x="71990" y="71627"/>
                  </a:lnTo>
                  <a:lnTo>
                    <a:pt x="68942" y="69849"/>
                  </a:lnTo>
                  <a:lnTo>
                    <a:pt x="31495" y="69849"/>
                  </a:lnTo>
                  <a:lnTo>
                    <a:pt x="31495" y="48005"/>
                  </a:lnTo>
                  <a:lnTo>
                    <a:pt x="68942" y="48005"/>
                  </a:lnTo>
                  <a:lnTo>
                    <a:pt x="71990" y="46227"/>
                  </a:lnTo>
                  <a:close/>
                </a:path>
                <a:path w="1714500" h="118110">
                  <a:moveTo>
                    <a:pt x="1714500" y="46227"/>
                  </a:moveTo>
                  <a:lnTo>
                    <a:pt x="71990" y="46227"/>
                  </a:lnTo>
                  <a:lnTo>
                    <a:pt x="50219" y="58927"/>
                  </a:lnTo>
                  <a:lnTo>
                    <a:pt x="71990" y="71627"/>
                  </a:lnTo>
                  <a:lnTo>
                    <a:pt x="1714500" y="71627"/>
                  </a:lnTo>
                  <a:lnTo>
                    <a:pt x="1714500" y="46227"/>
                  </a:lnTo>
                  <a:close/>
                </a:path>
                <a:path w="1714500" h="118110">
                  <a:moveTo>
                    <a:pt x="31495" y="48005"/>
                  </a:moveTo>
                  <a:lnTo>
                    <a:pt x="31495" y="69849"/>
                  </a:lnTo>
                  <a:lnTo>
                    <a:pt x="50219" y="58927"/>
                  </a:lnTo>
                  <a:lnTo>
                    <a:pt x="31495" y="48005"/>
                  </a:lnTo>
                  <a:close/>
                </a:path>
                <a:path w="1714500" h="118110">
                  <a:moveTo>
                    <a:pt x="50219" y="58927"/>
                  </a:moveTo>
                  <a:lnTo>
                    <a:pt x="31495" y="69849"/>
                  </a:lnTo>
                  <a:lnTo>
                    <a:pt x="68942" y="69849"/>
                  </a:lnTo>
                  <a:lnTo>
                    <a:pt x="50219" y="58927"/>
                  </a:lnTo>
                  <a:close/>
                </a:path>
                <a:path w="1714500" h="118110">
                  <a:moveTo>
                    <a:pt x="68942" y="48005"/>
                  </a:moveTo>
                  <a:lnTo>
                    <a:pt x="31495" y="48005"/>
                  </a:lnTo>
                  <a:lnTo>
                    <a:pt x="50219" y="58927"/>
                  </a:lnTo>
                  <a:lnTo>
                    <a:pt x="68942" y="48005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777353" y="1924812"/>
              <a:ext cx="739775" cy="882650"/>
            </a:xfrm>
            <a:custGeom>
              <a:avLst/>
              <a:gdLst/>
              <a:ahLst/>
              <a:cxnLst/>
              <a:rect l="l" t="t" r="r" b="b"/>
              <a:pathLst>
                <a:path w="739775" h="882650">
                  <a:moveTo>
                    <a:pt x="78648" y="753411"/>
                  </a:moveTo>
                  <a:lnTo>
                    <a:pt x="61260" y="762154"/>
                  </a:lnTo>
                  <a:lnTo>
                    <a:pt x="70485" y="774700"/>
                  </a:lnTo>
                  <a:lnTo>
                    <a:pt x="82042" y="783590"/>
                  </a:lnTo>
                  <a:lnTo>
                    <a:pt x="93472" y="793750"/>
                  </a:lnTo>
                  <a:lnTo>
                    <a:pt x="105664" y="801370"/>
                  </a:lnTo>
                  <a:lnTo>
                    <a:pt x="118364" y="810260"/>
                  </a:lnTo>
                  <a:lnTo>
                    <a:pt x="145161" y="825500"/>
                  </a:lnTo>
                  <a:lnTo>
                    <a:pt x="204343" y="852169"/>
                  </a:lnTo>
                  <a:lnTo>
                    <a:pt x="285369" y="875030"/>
                  </a:lnTo>
                  <a:lnTo>
                    <a:pt x="353441" y="882650"/>
                  </a:lnTo>
                  <a:lnTo>
                    <a:pt x="388239" y="882650"/>
                  </a:lnTo>
                  <a:lnTo>
                    <a:pt x="423037" y="877569"/>
                  </a:lnTo>
                  <a:lnTo>
                    <a:pt x="457327" y="867410"/>
                  </a:lnTo>
                  <a:lnTo>
                    <a:pt x="467461" y="863600"/>
                  </a:lnTo>
                  <a:lnTo>
                    <a:pt x="354330" y="863600"/>
                  </a:lnTo>
                  <a:lnTo>
                    <a:pt x="337566" y="862330"/>
                  </a:lnTo>
                  <a:lnTo>
                    <a:pt x="337947" y="862330"/>
                  </a:lnTo>
                  <a:lnTo>
                    <a:pt x="321687" y="861098"/>
                  </a:lnTo>
                  <a:lnTo>
                    <a:pt x="304800" y="858519"/>
                  </a:lnTo>
                  <a:lnTo>
                    <a:pt x="305181" y="858519"/>
                  </a:lnTo>
                  <a:lnTo>
                    <a:pt x="288671" y="855980"/>
                  </a:lnTo>
                  <a:lnTo>
                    <a:pt x="289052" y="855980"/>
                  </a:lnTo>
                  <a:lnTo>
                    <a:pt x="273535" y="853574"/>
                  </a:lnTo>
                  <a:lnTo>
                    <a:pt x="273316" y="853574"/>
                  </a:lnTo>
                  <a:lnTo>
                    <a:pt x="240919" y="844550"/>
                  </a:lnTo>
                  <a:lnTo>
                    <a:pt x="241681" y="844550"/>
                  </a:lnTo>
                  <a:lnTo>
                    <a:pt x="210693" y="834390"/>
                  </a:lnTo>
                  <a:lnTo>
                    <a:pt x="211201" y="834390"/>
                  </a:lnTo>
                  <a:lnTo>
                    <a:pt x="181483" y="822960"/>
                  </a:lnTo>
                  <a:lnTo>
                    <a:pt x="182118" y="822960"/>
                  </a:lnTo>
                  <a:lnTo>
                    <a:pt x="153924" y="808990"/>
                  </a:lnTo>
                  <a:lnTo>
                    <a:pt x="154559" y="808990"/>
                  </a:lnTo>
                  <a:lnTo>
                    <a:pt x="128270" y="793750"/>
                  </a:lnTo>
                  <a:lnTo>
                    <a:pt x="128651" y="793750"/>
                  </a:lnTo>
                  <a:lnTo>
                    <a:pt x="116535" y="786255"/>
                  </a:lnTo>
                  <a:lnTo>
                    <a:pt x="106431" y="778510"/>
                  </a:lnTo>
                  <a:lnTo>
                    <a:pt x="105156" y="778510"/>
                  </a:lnTo>
                  <a:lnTo>
                    <a:pt x="99567" y="774064"/>
                  </a:lnTo>
                  <a:lnTo>
                    <a:pt x="98805" y="773430"/>
                  </a:lnTo>
                  <a:lnTo>
                    <a:pt x="94135" y="769743"/>
                  </a:lnTo>
                  <a:lnTo>
                    <a:pt x="83566" y="760730"/>
                  </a:lnTo>
                  <a:lnTo>
                    <a:pt x="84137" y="760730"/>
                  </a:lnTo>
                  <a:lnTo>
                    <a:pt x="78648" y="753411"/>
                  </a:lnTo>
                  <a:close/>
                </a:path>
                <a:path w="739775" h="882650">
                  <a:moveTo>
                    <a:pt x="403205" y="861098"/>
                  </a:moveTo>
                  <a:lnTo>
                    <a:pt x="402972" y="861098"/>
                  </a:lnTo>
                  <a:lnTo>
                    <a:pt x="386461" y="863600"/>
                  </a:lnTo>
                  <a:lnTo>
                    <a:pt x="467461" y="863600"/>
                  </a:lnTo>
                  <a:lnTo>
                    <a:pt x="470839" y="862330"/>
                  </a:lnTo>
                  <a:lnTo>
                    <a:pt x="402590" y="862330"/>
                  </a:lnTo>
                  <a:lnTo>
                    <a:pt x="403205" y="861098"/>
                  </a:lnTo>
                  <a:close/>
                </a:path>
                <a:path w="739775" h="882650">
                  <a:moveTo>
                    <a:pt x="482600" y="835660"/>
                  </a:moveTo>
                  <a:lnTo>
                    <a:pt x="466598" y="843280"/>
                  </a:lnTo>
                  <a:lnTo>
                    <a:pt x="467106" y="843280"/>
                  </a:lnTo>
                  <a:lnTo>
                    <a:pt x="450723" y="849630"/>
                  </a:lnTo>
                  <a:lnTo>
                    <a:pt x="451231" y="849630"/>
                  </a:lnTo>
                  <a:lnTo>
                    <a:pt x="434720" y="854710"/>
                  </a:lnTo>
                  <a:lnTo>
                    <a:pt x="435356" y="854710"/>
                  </a:lnTo>
                  <a:lnTo>
                    <a:pt x="418719" y="858519"/>
                  </a:lnTo>
                  <a:lnTo>
                    <a:pt x="419353" y="858519"/>
                  </a:lnTo>
                  <a:lnTo>
                    <a:pt x="402590" y="862330"/>
                  </a:lnTo>
                  <a:lnTo>
                    <a:pt x="470839" y="862330"/>
                  </a:lnTo>
                  <a:lnTo>
                    <a:pt x="474116" y="861098"/>
                  </a:lnTo>
                  <a:lnTo>
                    <a:pt x="490561" y="853574"/>
                  </a:lnTo>
                  <a:lnTo>
                    <a:pt x="507238" y="844550"/>
                  </a:lnTo>
                  <a:lnTo>
                    <a:pt x="521062" y="836930"/>
                  </a:lnTo>
                  <a:lnTo>
                    <a:pt x="482219" y="836930"/>
                  </a:lnTo>
                  <a:lnTo>
                    <a:pt x="482600" y="835660"/>
                  </a:lnTo>
                  <a:close/>
                </a:path>
                <a:path w="739775" h="882650">
                  <a:moveTo>
                    <a:pt x="543052" y="797560"/>
                  </a:moveTo>
                  <a:lnTo>
                    <a:pt x="527939" y="808990"/>
                  </a:lnTo>
                  <a:lnTo>
                    <a:pt x="528320" y="808990"/>
                  </a:lnTo>
                  <a:lnTo>
                    <a:pt x="512953" y="819150"/>
                  </a:lnTo>
                  <a:lnTo>
                    <a:pt x="513334" y="819150"/>
                  </a:lnTo>
                  <a:lnTo>
                    <a:pt x="497713" y="828040"/>
                  </a:lnTo>
                  <a:lnTo>
                    <a:pt x="498094" y="828040"/>
                  </a:lnTo>
                  <a:lnTo>
                    <a:pt x="482219" y="836930"/>
                  </a:lnTo>
                  <a:lnTo>
                    <a:pt x="521062" y="836930"/>
                  </a:lnTo>
                  <a:lnTo>
                    <a:pt x="554482" y="812800"/>
                  </a:lnTo>
                  <a:lnTo>
                    <a:pt x="572389" y="798830"/>
                  </a:lnTo>
                  <a:lnTo>
                    <a:pt x="542671" y="798830"/>
                  </a:lnTo>
                  <a:lnTo>
                    <a:pt x="543052" y="797560"/>
                  </a:lnTo>
                  <a:close/>
                </a:path>
                <a:path w="739775" h="882650">
                  <a:moveTo>
                    <a:pt x="586509" y="786255"/>
                  </a:moveTo>
                  <a:lnTo>
                    <a:pt x="557131" y="786255"/>
                  </a:lnTo>
                  <a:lnTo>
                    <a:pt x="548487" y="793750"/>
                  </a:lnTo>
                  <a:lnTo>
                    <a:pt x="547539" y="794596"/>
                  </a:lnTo>
                  <a:lnTo>
                    <a:pt x="542671" y="798830"/>
                  </a:lnTo>
                  <a:lnTo>
                    <a:pt x="572389" y="798830"/>
                  </a:lnTo>
                  <a:lnTo>
                    <a:pt x="584073" y="788670"/>
                  </a:lnTo>
                  <a:lnTo>
                    <a:pt x="586509" y="786255"/>
                  </a:lnTo>
                  <a:close/>
                </a:path>
                <a:path w="739775" h="882650">
                  <a:moveTo>
                    <a:pt x="571246" y="773430"/>
                  </a:moveTo>
                  <a:lnTo>
                    <a:pt x="548487" y="793750"/>
                  </a:lnTo>
                  <a:lnTo>
                    <a:pt x="557131" y="786255"/>
                  </a:lnTo>
                  <a:lnTo>
                    <a:pt x="586509" y="786255"/>
                  </a:lnTo>
                  <a:lnTo>
                    <a:pt x="598170" y="774700"/>
                  </a:lnTo>
                  <a:lnTo>
                    <a:pt x="570992" y="774700"/>
                  </a:lnTo>
                  <a:lnTo>
                    <a:pt x="571119" y="774064"/>
                  </a:lnTo>
                  <a:lnTo>
                    <a:pt x="571246" y="773430"/>
                  </a:lnTo>
                  <a:close/>
                </a:path>
                <a:path w="739775" h="882650">
                  <a:moveTo>
                    <a:pt x="11176" y="645160"/>
                  </a:moveTo>
                  <a:lnTo>
                    <a:pt x="11171" y="650240"/>
                  </a:lnTo>
                  <a:lnTo>
                    <a:pt x="11049" y="787400"/>
                  </a:lnTo>
                  <a:lnTo>
                    <a:pt x="61260" y="762154"/>
                  </a:lnTo>
                  <a:lnTo>
                    <a:pt x="54610" y="753110"/>
                  </a:lnTo>
                  <a:lnTo>
                    <a:pt x="69850" y="741680"/>
                  </a:lnTo>
                  <a:lnTo>
                    <a:pt x="101981" y="741680"/>
                  </a:lnTo>
                  <a:lnTo>
                    <a:pt x="124714" y="730250"/>
                  </a:lnTo>
                  <a:lnTo>
                    <a:pt x="11176" y="645160"/>
                  </a:lnTo>
                  <a:close/>
                </a:path>
                <a:path w="739775" h="882650">
                  <a:moveTo>
                    <a:pt x="116753" y="786255"/>
                  </a:moveTo>
                  <a:lnTo>
                    <a:pt x="116565" y="786255"/>
                  </a:lnTo>
                  <a:lnTo>
                    <a:pt x="117757" y="787011"/>
                  </a:lnTo>
                  <a:lnTo>
                    <a:pt x="116753" y="786255"/>
                  </a:lnTo>
                  <a:close/>
                </a:path>
                <a:path w="739775" h="882650">
                  <a:moveTo>
                    <a:pt x="104775" y="777240"/>
                  </a:moveTo>
                  <a:lnTo>
                    <a:pt x="105156" y="778510"/>
                  </a:lnTo>
                  <a:lnTo>
                    <a:pt x="106431" y="778510"/>
                  </a:lnTo>
                  <a:lnTo>
                    <a:pt x="104775" y="777240"/>
                  </a:lnTo>
                  <a:close/>
                </a:path>
                <a:path w="739775" h="882650">
                  <a:moveTo>
                    <a:pt x="645287" y="684530"/>
                  </a:moveTo>
                  <a:lnTo>
                    <a:pt x="633984" y="701040"/>
                  </a:lnTo>
                  <a:lnTo>
                    <a:pt x="634238" y="701040"/>
                  </a:lnTo>
                  <a:lnTo>
                    <a:pt x="622427" y="717550"/>
                  </a:lnTo>
                  <a:lnTo>
                    <a:pt x="622681" y="717550"/>
                  </a:lnTo>
                  <a:lnTo>
                    <a:pt x="610235" y="732790"/>
                  </a:lnTo>
                  <a:lnTo>
                    <a:pt x="610489" y="732790"/>
                  </a:lnTo>
                  <a:lnTo>
                    <a:pt x="597662" y="746760"/>
                  </a:lnTo>
                  <a:lnTo>
                    <a:pt x="597916" y="746760"/>
                  </a:lnTo>
                  <a:lnTo>
                    <a:pt x="584454" y="760730"/>
                  </a:lnTo>
                  <a:lnTo>
                    <a:pt x="584708" y="760730"/>
                  </a:lnTo>
                  <a:lnTo>
                    <a:pt x="570992" y="774700"/>
                  </a:lnTo>
                  <a:lnTo>
                    <a:pt x="598170" y="774700"/>
                  </a:lnTo>
                  <a:lnTo>
                    <a:pt x="624967" y="744220"/>
                  </a:lnTo>
                  <a:lnTo>
                    <a:pt x="649732" y="712470"/>
                  </a:lnTo>
                  <a:lnTo>
                    <a:pt x="667330" y="685800"/>
                  </a:lnTo>
                  <a:lnTo>
                    <a:pt x="645033" y="685800"/>
                  </a:lnTo>
                  <a:lnTo>
                    <a:pt x="645287" y="684530"/>
                  </a:lnTo>
                  <a:close/>
                </a:path>
                <a:path w="739775" h="882650">
                  <a:moveTo>
                    <a:pt x="94382" y="769743"/>
                  </a:moveTo>
                  <a:lnTo>
                    <a:pt x="94145" y="769743"/>
                  </a:lnTo>
                  <a:lnTo>
                    <a:pt x="98771" y="773430"/>
                  </a:lnTo>
                  <a:lnTo>
                    <a:pt x="94382" y="769743"/>
                  </a:lnTo>
                  <a:close/>
                </a:path>
                <a:path w="739775" h="882650">
                  <a:moveTo>
                    <a:pt x="69850" y="741680"/>
                  </a:moveTo>
                  <a:lnTo>
                    <a:pt x="54610" y="753110"/>
                  </a:lnTo>
                  <a:lnTo>
                    <a:pt x="61260" y="762154"/>
                  </a:lnTo>
                  <a:lnTo>
                    <a:pt x="78648" y="753411"/>
                  </a:lnTo>
                  <a:lnTo>
                    <a:pt x="69850" y="741680"/>
                  </a:lnTo>
                  <a:close/>
                </a:path>
                <a:path w="739775" h="882650">
                  <a:moveTo>
                    <a:pt x="84137" y="760730"/>
                  </a:moveTo>
                  <a:lnTo>
                    <a:pt x="83566" y="760730"/>
                  </a:lnTo>
                  <a:lnTo>
                    <a:pt x="85275" y="762154"/>
                  </a:lnTo>
                  <a:lnTo>
                    <a:pt x="84137" y="760730"/>
                  </a:lnTo>
                  <a:close/>
                </a:path>
                <a:path w="739775" h="882650">
                  <a:moveTo>
                    <a:pt x="101981" y="741680"/>
                  </a:moveTo>
                  <a:lnTo>
                    <a:pt x="69850" y="741680"/>
                  </a:lnTo>
                  <a:lnTo>
                    <a:pt x="78648" y="753411"/>
                  </a:lnTo>
                  <a:lnTo>
                    <a:pt x="101981" y="741680"/>
                  </a:lnTo>
                  <a:close/>
                </a:path>
                <a:path w="739775" h="882650">
                  <a:moveTo>
                    <a:pt x="665353" y="650240"/>
                  </a:moveTo>
                  <a:lnTo>
                    <a:pt x="655574" y="668020"/>
                  </a:lnTo>
                  <a:lnTo>
                    <a:pt x="645033" y="685800"/>
                  </a:lnTo>
                  <a:lnTo>
                    <a:pt x="667330" y="685800"/>
                  </a:lnTo>
                  <a:lnTo>
                    <a:pt x="671957" y="678180"/>
                  </a:lnTo>
                  <a:lnTo>
                    <a:pt x="681990" y="660400"/>
                  </a:lnTo>
                  <a:lnTo>
                    <a:pt x="686375" y="651510"/>
                  </a:lnTo>
                  <a:lnTo>
                    <a:pt x="665099" y="651510"/>
                  </a:lnTo>
                  <a:lnTo>
                    <a:pt x="665353" y="650240"/>
                  </a:lnTo>
                  <a:close/>
                </a:path>
                <a:path w="739775" h="882650">
                  <a:moveTo>
                    <a:pt x="674370" y="632460"/>
                  </a:moveTo>
                  <a:lnTo>
                    <a:pt x="665099" y="651510"/>
                  </a:lnTo>
                  <a:lnTo>
                    <a:pt x="686375" y="651510"/>
                  </a:lnTo>
                  <a:lnTo>
                    <a:pt x="691388" y="641350"/>
                  </a:lnTo>
                  <a:lnTo>
                    <a:pt x="694842" y="633730"/>
                  </a:lnTo>
                  <a:lnTo>
                    <a:pt x="674243" y="633730"/>
                  </a:lnTo>
                  <a:lnTo>
                    <a:pt x="674370" y="632460"/>
                  </a:lnTo>
                  <a:close/>
                </a:path>
                <a:path w="739775" h="882650">
                  <a:moveTo>
                    <a:pt x="718533" y="480067"/>
                  </a:moveTo>
                  <a:lnTo>
                    <a:pt x="718347" y="480834"/>
                  </a:lnTo>
                  <a:lnTo>
                    <a:pt x="716026" y="500380"/>
                  </a:lnTo>
                  <a:lnTo>
                    <a:pt x="712689" y="519446"/>
                  </a:lnTo>
                  <a:lnTo>
                    <a:pt x="712515" y="520248"/>
                  </a:lnTo>
                  <a:lnTo>
                    <a:pt x="712470" y="520700"/>
                  </a:lnTo>
                  <a:lnTo>
                    <a:pt x="712327" y="520700"/>
                  </a:lnTo>
                  <a:lnTo>
                    <a:pt x="703199" y="558800"/>
                  </a:lnTo>
                  <a:lnTo>
                    <a:pt x="690372" y="596900"/>
                  </a:lnTo>
                  <a:lnTo>
                    <a:pt x="674243" y="633730"/>
                  </a:lnTo>
                  <a:lnTo>
                    <a:pt x="694842" y="633730"/>
                  </a:lnTo>
                  <a:lnTo>
                    <a:pt x="715137" y="584200"/>
                  </a:lnTo>
                  <a:lnTo>
                    <a:pt x="726821" y="543560"/>
                  </a:lnTo>
                  <a:lnTo>
                    <a:pt x="731710" y="520700"/>
                  </a:lnTo>
                  <a:lnTo>
                    <a:pt x="712470" y="520700"/>
                  </a:lnTo>
                  <a:lnTo>
                    <a:pt x="712549" y="520248"/>
                  </a:lnTo>
                  <a:lnTo>
                    <a:pt x="731789" y="520248"/>
                  </a:lnTo>
                  <a:lnTo>
                    <a:pt x="734822" y="502920"/>
                  </a:lnTo>
                  <a:lnTo>
                    <a:pt x="737362" y="482600"/>
                  </a:lnTo>
                  <a:lnTo>
                    <a:pt x="737465" y="481330"/>
                  </a:lnTo>
                  <a:lnTo>
                    <a:pt x="718439" y="481330"/>
                  </a:lnTo>
                  <a:lnTo>
                    <a:pt x="718533" y="480067"/>
                  </a:lnTo>
                  <a:close/>
                </a:path>
                <a:path w="739775" h="882650">
                  <a:moveTo>
                    <a:pt x="737457" y="401320"/>
                  </a:moveTo>
                  <a:lnTo>
                    <a:pt x="718439" y="401320"/>
                  </a:lnTo>
                  <a:lnTo>
                    <a:pt x="719867" y="420370"/>
                  </a:lnTo>
                  <a:lnTo>
                    <a:pt x="719963" y="421640"/>
                  </a:lnTo>
                  <a:lnTo>
                    <a:pt x="720471" y="440690"/>
                  </a:lnTo>
                  <a:lnTo>
                    <a:pt x="719963" y="461009"/>
                  </a:lnTo>
                  <a:lnTo>
                    <a:pt x="718533" y="480067"/>
                  </a:lnTo>
                  <a:lnTo>
                    <a:pt x="718439" y="481330"/>
                  </a:lnTo>
                  <a:lnTo>
                    <a:pt x="737465" y="481330"/>
                  </a:lnTo>
                  <a:lnTo>
                    <a:pt x="739013" y="462280"/>
                  </a:lnTo>
                  <a:lnTo>
                    <a:pt x="739491" y="441959"/>
                  </a:lnTo>
                  <a:lnTo>
                    <a:pt x="739521" y="440690"/>
                  </a:lnTo>
                  <a:lnTo>
                    <a:pt x="738925" y="421640"/>
                  </a:lnTo>
                  <a:lnTo>
                    <a:pt x="738886" y="420370"/>
                  </a:lnTo>
                  <a:lnTo>
                    <a:pt x="737551" y="402582"/>
                  </a:lnTo>
                  <a:lnTo>
                    <a:pt x="737457" y="401320"/>
                  </a:lnTo>
                  <a:close/>
                </a:path>
                <a:path w="739775" h="882650">
                  <a:moveTo>
                    <a:pt x="731694" y="361950"/>
                  </a:moveTo>
                  <a:lnTo>
                    <a:pt x="712470" y="361950"/>
                  </a:lnTo>
                  <a:lnTo>
                    <a:pt x="715899" y="382270"/>
                  </a:lnTo>
                  <a:lnTo>
                    <a:pt x="718438" y="402582"/>
                  </a:lnTo>
                  <a:lnTo>
                    <a:pt x="718439" y="401320"/>
                  </a:lnTo>
                  <a:lnTo>
                    <a:pt x="737457" y="401320"/>
                  </a:lnTo>
                  <a:lnTo>
                    <a:pt x="737362" y="400050"/>
                  </a:lnTo>
                  <a:lnTo>
                    <a:pt x="734695" y="379730"/>
                  </a:lnTo>
                  <a:lnTo>
                    <a:pt x="731694" y="361950"/>
                  </a:lnTo>
                  <a:close/>
                </a:path>
                <a:path w="739775" h="882650">
                  <a:moveTo>
                    <a:pt x="694715" y="248920"/>
                  </a:moveTo>
                  <a:lnTo>
                    <a:pt x="674116" y="248920"/>
                  </a:lnTo>
                  <a:lnTo>
                    <a:pt x="682498" y="267970"/>
                  </a:lnTo>
                  <a:lnTo>
                    <a:pt x="690118" y="285750"/>
                  </a:lnTo>
                  <a:lnTo>
                    <a:pt x="696976" y="304800"/>
                  </a:lnTo>
                  <a:lnTo>
                    <a:pt x="702945" y="323850"/>
                  </a:lnTo>
                  <a:lnTo>
                    <a:pt x="708279" y="342900"/>
                  </a:lnTo>
                  <a:lnTo>
                    <a:pt x="712593" y="363205"/>
                  </a:lnTo>
                  <a:lnTo>
                    <a:pt x="712470" y="361950"/>
                  </a:lnTo>
                  <a:lnTo>
                    <a:pt x="731694" y="361950"/>
                  </a:lnTo>
                  <a:lnTo>
                    <a:pt x="731266" y="359409"/>
                  </a:lnTo>
                  <a:lnTo>
                    <a:pt x="721360" y="318770"/>
                  </a:lnTo>
                  <a:lnTo>
                    <a:pt x="707898" y="279400"/>
                  </a:lnTo>
                  <a:lnTo>
                    <a:pt x="699897" y="260350"/>
                  </a:lnTo>
                  <a:lnTo>
                    <a:pt x="694715" y="248920"/>
                  </a:lnTo>
                  <a:close/>
                </a:path>
                <a:path w="739775" h="882650">
                  <a:moveTo>
                    <a:pt x="686248" y="231140"/>
                  </a:moveTo>
                  <a:lnTo>
                    <a:pt x="664972" y="231140"/>
                  </a:lnTo>
                  <a:lnTo>
                    <a:pt x="674243" y="250190"/>
                  </a:lnTo>
                  <a:lnTo>
                    <a:pt x="674116" y="248920"/>
                  </a:lnTo>
                  <a:lnTo>
                    <a:pt x="694715" y="248920"/>
                  </a:lnTo>
                  <a:lnTo>
                    <a:pt x="691261" y="241300"/>
                  </a:lnTo>
                  <a:lnTo>
                    <a:pt x="686248" y="231140"/>
                  </a:lnTo>
                  <a:close/>
                </a:path>
                <a:path w="739775" h="882650">
                  <a:moveTo>
                    <a:pt x="387350" y="0"/>
                  </a:moveTo>
                  <a:lnTo>
                    <a:pt x="352425" y="0"/>
                  </a:lnTo>
                  <a:lnTo>
                    <a:pt x="318135" y="2540"/>
                  </a:lnTo>
                  <a:lnTo>
                    <a:pt x="234696" y="19050"/>
                  </a:lnTo>
                  <a:lnTo>
                    <a:pt x="172720" y="41909"/>
                  </a:lnTo>
                  <a:lnTo>
                    <a:pt x="117093" y="72390"/>
                  </a:lnTo>
                  <a:lnTo>
                    <a:pt x="104393" y="81279"/>
                  </a:lnTo>
                  <a:lnTo>
                    <a:pt x="92075" y="88900"/>
                  </a:lnTo>
                  <a:lnTo>
                    <a:pt x="80518" y="99059"/>
                  </a:lnTo>
                  <a:lnTo>
                    <a:pt x="69596" y="107950"/>
                  </a:lnTo>
                  <a:lnTo>
                    <a:pt x="59436" y="118109"/>
                  </a:lnTo>
                  <a:lnTo>
                    <a:pt x="25526" y="158750"/>
                  </a:lnTo>
                  <a:lnTo>
                    <a:pt x="4952" y="203200"/>
                  </a:lnTo>
                  <a:lnTo>
                    <a:pt x="0" y="237490"/>
                  </a:lnTo>
                  <a:lnTo>
                    <a:pt x="19050" y="237490"/>
                  </a:lnTo>
                  <a:lnTo>
                    <a:pt x="19494" y="228600"/>
                  </a:lnTo>
                  <a:lnTo>
                    <a:pt x="19558" y="227329"/>
                  </a:lnTo>
                  <a:lnTo>
                    <a:pt x="19797" y="226059"/>
                  </a:lnTo>
                  <a:lnTo>
                    <a:pt x="20776" y="219286"/>
                  </a:lnTo>
                  <a:lnTo>
                    <a:pt x="20899" y="218432"/>
                  </a:lnTo>
                  <a:lnTo>
                    <a:pt x="20969" y="217948"/>
                  </a:lnTo>
                  <a:lnTo>
                    <a:pt x="21082" y="217170"/>
                  </a:lnTo>
                  <a:lnTo>
                    <a:pt x="21221" y="217170"/>
                  </a:lnTo>
                  <a:lnTo>
                    <a:pt x="23368" y="207009"/>
                  </a:lnTo>
                  <a:lnTo>
                    <a:pt x="23558" y="207009"/>
                  </a:lnTo>
                  <a:lnTo>
                    <a:pt x="26670" y="198120"/>
                  </a:lnTo>
                  <a:lnTo>
                    <a:pt x="26416" y="198120"/>
                  </a:lnTo>
                  <a:lnTo>
                    <a:pt x="30734" y="187959"/>
                  </a:lnTo>
                  <a:lnTo>
                    <a:pt x="31072" y="187959"/>
                  </a:lnTo>
                  <a:lnTo>
                    <a:pt x="35814" y="177800"/>
                  </a:lnTo>
                  <a:lnTo>
                    <a:pt x="36322" y="177800"/>
                  </a:lnTo>
                  <a:lnTo>
                    <a:pt x="41656" y="168909"/>
                  </a:lnTo>
                  <a:lnTo>
                    <a:pt x="41402" y="168909"/>
                  </a:lnTo>
                  <a:lnTo>
                    <a:pt x="48387" y="158750"/>
                  </a:lnTo>
                  <a:lnTo>
                    <a:pt x="48974" y="158750"/>
                  </a:lnTo>
                  <a:lnTo>
                    <a:pt x="55753" y="149859"/>
                  </a:lnTo>
                  <a:lnTo>
                    <a:pt x="55499" y="149859"/>
                  </a:lnTo>
                  <a:lnTo>
                    <a:pt x="64008" y="139700"/>
                  </a:lnTo>
                  <a:lnTo>
                    <a:pt x="64785" y="139700"/>
                  </a:lnTo>
                  <a:lnTo>
                    <a:pt x="72898" y="130809"/>
                  </a:lnTo>
                  <a:lnTo>
                    <a:pt x="72644" y="130809"/>
                  </a:lnTo>
                  <a:lnTo>
                    <a:pt x="82550" y="121920"/>
                  </a:lnTo>
                  <a:lnTo>
                    <a:pt x="82169" y="121920"/>
                  </a:lnTo>
                  <a:lnTo>
                    <a:pt x="92837" y="113029"/>
                  </a:lnTo>
                  <a:lnTo>
                    <a:pt x="92456" y="113029"/>
                  </a:lnTo>
                  <a:lnTo>
                    <a:pt x="103759" y="104140"/>
                  </a:lnTo>
                  <a:lnTo>
                    <a:pt x="105065" y="104140"/>
                  </a:lnTo>
                  <a:lnTo>
                    <a:pt x="115026" y="96642"/>
                  </a:lnTo>
                  <a:lnTo>
                    <a:pt x="114735" y="96642"/>
                  </a:lnTo>
                  <a:lnTo>
                    <a:pt x="127380" y="88900"/>
                  </a:lnTo>
                  <a:lnTo>
                    <a:pt x="126873" y="88900"/>
                  </a:lnTo>
                  <a:lnTo>
                    <a:pt x="153162" y="73659"/>
                  </a:lnTo>
                  <a:lnTo>
                    <a:pt x="152654" y="73659"/>
                  </a:lnTo>
                  <a:lnTo>
                    <a:pt x="180848" y="59690"/>
                  </a:lnTo>
                  <a:lnTo>
                    <a:pt x="180213" y="59690"/>
                  </a:lnTo>
                  <a:lnTo>
                    <a:pt x="210058" y="48259"/>
                  </a:lnTo>
                  <a:lnTo>
                    <a:pt x="209423" y="48259"/>
                  </a:lnTo>
                  <a:lnTo>
                    <a:pt x="240538" y="38100"/>
                  </a:lnTo>
                  <a:lnTo>
                    <a:pt x="239776" y="38100"/>
                  </a:lnTo>
                  <a:lnTo>
                    <a:pt x="271679" y="29307"/>
                  </a:lnTo>
                  <a:lnTo>
                    <a:pt x="271018" y="29307"/>
                  </a:lnTo>
                  <a:lnTo>
                    <a:pt x="286793" y="26870"/>
                  </a:lnTo>
                  <a:lnTo>
                    <a:pt x="304038" y="22859"/>
                  </a:lnTo>
                  <a:lnTo>
                    <a:pt x="312102" y="22859"/>
                  </a:lnTo>
                  <a:lnTo>
                    <a:pt x="320048" y="21646"/>
                  </a:lnTo>
                  <a:lnTo>
                    <a:pt x="319283" y="21646"/>
                  </a:lnTo>
                  <a:lnTo>
                    <a:pt x="336931" y="20319"/>
                  </a:lnTo>
                  <a:lnTo>
                    <a:pt x="336677" y="20319"/>
                  </a:lnTo>
                  <a:lnTo>
                    <a:pt x="353441" y="19050"/>
                  </a:lnTo>
                  <a:lnTo>
                    <a:pt x="466826" y="19050"/>
                  </a:lnTo>
                  <a:lnTo>
                    <a:pt x="439547" y="8890"/>
                  </a:lnTo>
                  <a:lnTo>
                    <a:pt x="422275" y="5080"/>
                  </a:lnTo>
                  <a:lnTo>
                    <a:pt x="387350" y="0"/>
                  </a:lnTo>
                  <a:close/>
                </a:path>
                <a:path w="739775" h="882650">
                  <a:moveTo>
                    <a:pt x="667022" y="196850"/>
                  </a:moveTo>
                  <a:lnTo>
                    <a:pt x="644779" y="196850"/>
                  </a:lnTo>
                  <a:lnTo>
                    <a:pt x="655447" y="214629"/>
                  </a:lnTo>
                  <a:lnTo>
                    <a:pt x="655193" y="214629"/>
                  </a:lnTo>
                  <a:lnTo>
                    <a:pt x="665099" y="232409"/>
                  </a:lnTo>
                  <a:lnTo>
                    <a:pt x="664972" y="231140"/>
                  </a:lnTo>
                  <a:lnTo>
                    <a:pt x="686248" y="231140"/>
                  </a:lnTo>
                  <a:lnTo>
                    <a:pt x="681863" y="222250"/>
                  </a:lnTo>
                  <a:lnTo>
                    <a:pt x="671703" y="204470"/>
                  </a:lnTo>
                  <a:lnTo>
                    <a:pt x="667022" y="196850"/>
                  </a:lnTo>
                  <a:close/>
                </a:path>
                <a:path w="739775" h="882650">
                  <a:moveTo>
                    <a:pt x="21221" y="217170"/>
                  </a:moveTo>
                  <a:lnTo>
                    <a:pt x="21082" y="217170"/>
                  </a:lnTo>
                  <a:lnTo>
                    <a:pt x="21004" y="217948"/>
                  </a:lnTo>
                  <a:lnTo>
                    <a:pt x="21221" y="217170"/>
                  </a:lnTo>
                  <a:close/>
                </a:path>
                <a:path w="739775" h="882650">
                  <a:moveTo>
                    <a:pt x="23558" y="207009"/>
                  </a:moveTo>
                  <a:lnTo>
                    <a:pt x="23368" y="207009"/>
                  </a:lnTo>
                  <a:lnTo>
                    <a:pt x="23141" y="208141"/>
                  </a:lnTo>
                  <a:lnTo>
                    <a:pt x="23558" y="207009"/>
                  </a:lnTo>
                  <a:close/>
                </a:path>
                <a:path w="739775" h="882650">
                  <a:moveTo>
                    <a:pt x="656384" y="180340"/>
                  </a:moveTo>
                  <a:lnTo>
                    <a:pt x="633730" y="180340"/>
                  </a:lnTo>
                  <a:lnTo>
                    <a:pt x="644906" y="198120"/>
                  </a:lnTo>
                  <a:lnTo>
                    <a:pt x="644779" y="196850"/>
                  </a:lnTo>
                  <a:lnTo>
                    <a:pt x="667022" y="196850"/>
                  </a:lnTo>
                  <a:lnTo>
                    <a:pt x="660781" y="186690"/>
                  </a:lnTo>
                  <a:lnTo>
                    <a:pt x="656384" y="180340"/>
                  </a:lnTo>
                  <a:close/>
                </a:path>
                <a:path w="739775" h="882650">
                  <a:moveTo>
                    <a:pt x="31072" y="187959"/>
                  </a:moveTo>
                  <a:lnTo>
                    <a:pt x="30734" y="187959"/>
                  </a:lnTo>
                  <a:lnTo>
                    <a:pt x="30480" y="189229"/>
                  </a:lnTo>
                  <a:lnTo>
                    <a:pt x="31072" y="187959"/>
                  </a:lnTo>
                  <a:close/>
                </a:path>
                <a:path w="739775" h="882650">
                  <a:moveTo>
                    <a:pt x="597916" y="107950"/>
                  </a:moveTo>
                  <a:lnTo>
                    <a:pt x="570611" y="107950"/>
                  </a:lnTo>
                  <a:lnTo>
                    <a:pt x="584454" y="121920"/>
                  </a:lnTo>
                  <a:lnTo>
                    <a:pt x="584200" y="121920"/>
                  </a:lnTo>
                  <a:lnTo>
                    <a:pt x="597535" y="135890"/>
                  </a:lnTo>
                  <a:lnTo>
                    <a:pt x="597281" y="135890"/>
                  </a:lnTo>
                  <a:lnTo>
                    <a:pt x="610235" y="149859"/>
                  </a:lnTo>
                  <a:lnTo>
                    <a:pt x="609981" y="149859"/>
                  </a:lnTo>
                  <a:lnTo>
                    <a:pt x="622427" y="165100"/>
                  </a:lnTo>
                  <a:lnTo>
                    <a:pt x="622173" y="165100"/>
                  </a:lnTo>
                  <a:lnTo>
                    <a:pt x="633984" y="181609"/>
                  </a:lnTo>
                  <a:lnTo>
                    <a:pt x="633730" y="180340"/>
                  </a:lnTo>
                  <a:lnTo>
                    <a:pt x="656384" y="180340"/>
                  </a:lnTo>
                  <a:lnTo>
                    <a:pt x="649351" y="170179"/>
                  </a:lnTo>
                  <a:lnTo>
                    <a:pt x="637413" y="153670"/>
                  </a:lnTo>
                  <a:lnTo>
                    <a:pt x="624713" y="138429"/>
                  </a:lnTo>
                  <a:lnTo>
                    <a:pt x="611505" y="123190"/>
                  </a:lnTo>
                  <a:lnTo>
                    <a:pt x="597916" y="107950"/>
                  </a:lnTo>
                  <a:close/>
                </a:path>
                <a:path w="739775" h="882650">
                  <a:moveTo>
                    <a:pt x="36322" y="177800"/>
                  </a:moveTo>
                  <a:lnTo>
                    <a:pt x="35814" y="177800"/>
                  </a:lnTo>
                  <a:lnTo>
                    <a:pt x="35560" y="179070"/>
                  </a:lnTo>
                  <a:lnTo>
                    <a:pt x="36322" y="177800"/>
                  </a:lnTo>
                  <a:close/>
                </a:path>
                <a:path w="739775" h="882650">
                  <a:moveTo>
                    <a:pt x="48974" y="158750"/>
                  </a:moveTo>
                  <a:lnTo>
                    <a:pt x="48387" y="158750"/>
                  </a:lnTo>
                  <a:lnTo>
                    <a:pt x="48006" y="160020"/>
                  </a:lnTo>
                  <a:lnTo>
                    <a:pt x="48974" y="158750"/>
                  </a:lnTo>
                  <a:close/>
                </a:path>
                <a:path w="739775" h="882650">
                  <a:moveTo>
                    <a:pt x="64785" y="139700"/>
                  </a:moveTo>
                  <a:lnTo>
                    <a:pt x="64008" y="139700"/>
                  </a:lnTo>
                  <a:lnTo>
                    <a:pt x="63627" y="140970"/>
                  </a:lnTo>
                  <a:lnTo>
                    <a:pt x="64785" y="139700"/>
                  </a:lnTo>
                  <a:close/>
                </a:path>
                <a:path w="739775" h="882650">
                  <a:moveTo>
                    <a:pt x="74046" y="129551"/>
                  </a:moveTo>
                  <a:lnTo>
                    <a:pt x="72644" y="130809"/>
                  </a:lnTo>
                  <a:lnTo>
                    <a:pt x="72898" y="130809"/>
                  </a:lnTo>
                  <a:lnTo>
                    <a:pt x="74046" y="129551"/>
                  </a:lnTo>
                  <a:close/>
                </a:path>
                <a:path w="739775" h="882650">
                  <a:moveTo>
                    <a:pt x="584985" y="95250"/>
                  </a:moveTo>
                  <a:lnTo>
                    <a:pt x="556641" y="95250"/>
                  </a:lnTo>
                  <a:lnTo>
                    <a:pt x="570865" y="109220"/>
                  </a:lnTo>
                  <a:lnTo>
                    <a:pt x="570611" y="107950"/>
                  </a:lnTo>
                  <a:lnTo>
                    <a:pt x="597916" y="107950"/>
                  </a:lnTo>
                  <a:lnTo>
                    <a:pt x="584985" y="95250"/>
                  </a:lnTo>
                  <a:close/>
                </a:path>
                <a:path w="739775" h="882650">
                  <a:moveTo>
                    <a:pt x="105065" y="104140"/>
                  </a:moveTo>
                  <a:lnTo>
                    <a:pt x="103759" y="104140"/>
                  </a:lnTo>
                  <a:lnTo>
                    <a:pt x="103378" y="105409"/>
                  </a:lnTo>
                  <a:lnTo>
                    <a:pt x="105065" y="104140"/>
                  </a:lnTo>
                  <a:close/>
                </a:path>
                <a:path w="739775" h="882650">
                  <a:moveTo>
                    <a:pt x="116296" y="95686"/>
                  </a:moveTo>
                  <a:lnTo>
                    <a:pt x="114735" y="96642"/>
                  </a:lnTo>
                  <a:lnTo>
                    <a:pt x="115026" y="96642"/>
                  </a:lnTo>
                  <a:lnTo>
                    <a:pt x="116296" y="95686"/>
                  </a:lnTo>
                  <a:close/>
                </a:path>
                <a:path w="739775" h="882650">
                  <a:moveTo>
                    <a:pt x="520445" y="45719"/>
                  </a:moveTo>
                  <a:lnTo>
                    <a:pt x="481584" y="45719"/>
                  </a:lnTo>
                  <a:lnTo>
                    <a:pt x="497586" y="54609"/>
                  </a:lnTo>
                  <a:lnTo>
                    <a:pt x="497205" y="54609"/>
                  </a:lnTo>
                  <a:lnTo>
                    <a:pt x="512826" y="63500"/>
                  </a:lnTo>
                  <a:lnTo>
                    <a:pt x="512445" y="63500"/>
                  </a:lnTo>
                  <a:lnTo>
                    <a:pt x="527812" y="73659"/>
                  </a:lnTo>
                  <a:lnTo>
                    <a:pt x="527431" y="73659"/>
                  </a:lnTo>
                  <a:lnTo>
                    <a:pt x="542544" y="83820"/>
                  </a:lnTo>
                  <a:lnTo>
                    <a:pt x="542163" y="83820"/>
                  </a:lnTo>
                  <a:lnTo>
                    <a:pt x="557036" y="96642"/>
                  </a:lnTo>
                  <a:lnTo>
                    <a:pt x="556728" y="95686"/>
                  </a:lnTo>
                  <a:lnTo>
                    <a:pt x="556641" y="95250"/>
                  </a:lnTo>
                  <a:lnTo>
                    <a:pt x="584985" y="95250"/>
                  </a:lnTo>
                  <a:lnTo>
                    <a:pt x="583692" y="93979"/>
                  </a:lnTo>
                  <a:lnTo>
                    <a:pt x="569087" y="81279"/>
                  </a:lnTo>
                  <a:lnTo>
                    <a:pt x="553974" y="69850"/>
                  </a:lnTo>
                  <a:lnTo>
                    <a:pt x="538607" y="58419"/>
                  </a:lnTo>
                  <a:lnTo>
                    <a:pt x="522731" y="46990"/>
                  </a:lnTo>
                  <a:lnTo>
                    <a:pt x="520445" y="45719"/>
                  </a:lnTo>
                  <a:close/>
                </a:path>
                <a:path w="739775" h="882650">
                  <a:moveTo>
                    <a:pt x="466826" y="19050"/>
                  </a:moveTo>
                  <a:lnTo>
                    <a:pt x="385572" y="19050"/>
                  </a:lnTo>
                  <a:lnTo>
                    <a:pt x="402463" y="20319"/>
                  </a:lnTo>
                  <a:lnTo>
                    <a:pt x="401828" y="20319"/>
                  </a:lnTo>
                  <a:lnTo>
                    <a:pt x="418592" y="24130"/>
                  </a:lnTo>
                  <a:lnTo>
                    <a:pt x="417956" y="24130"/>
                  </a:lnTo>
                  <a:lnTo>
                    <a:pt x="434594" y="27940"/>
                  </a:lnTo>
                  <a:lnTo>
                    <a:pt x="433959" y="27940"/>
                  </a:lnTo>
                  <a:lnTo>
                    <a:pt x="450595" y="33019"/>
                  </a:lnTo>
                  <a:lnTo>
                    <a:pt x="450088" y="33019"/>
                  </a:lnTo>
                  <a:lnTo>
                    <a:pt x="466470" y="39369"/>
                  </a:lnTo>
                  <a:lnTo>
                    <a:pt x="465836" y="39369"/>
                  </a:lnTo>
                  <a:lnTo>
                    <a:pt x="482092" y="46990"/>
                  </a:lnTo>
                  <a:lnTo>
                    <a:pt x="481584" y="45719"/>
                  </a:lnTo>
                  <a:lnTo>
                    <a:pt x="520445" y="45719"/>
                  </a:lnTo>
                  <a:lnTo>
                    <a:pt x="506730" y="38100"/>
                  </a:lnTo>
                  <a:lnTo>
                    <a:pt x="490401" y="29307"/>
                  </a:lnTo>
                  <a:lnTo>
                    <a:pt x="473707" y="21646"/>
                  </a:lnTo>
                  <a:lnTo>
                    <a:pt x="466826" y="19050"/>
                  </a:lnTo>
                  <a:close/>
                </a:path>
                <a:path w="739775" h="882650">
                  <a:moveTo>
                    <a:pt x="288578" y="26585"/>
                  </a:moveTo>
                  <a:lnTo>
                    <a:pt x="288016" y="26585"/>
                  </a:lnTo>
                  <a:lnTo>
                    <a:pt x="286793" y="26870"/>
                  </a:lnTo>
                  <a:lnTo>
                    <a:pt x="288578" y="26585"/>
                  </a:lnTo>
                  <a:close/>
                </a:path>
                <a:path w="739775" h="882650">
                  <a:moveTo>
                    <a:pt x="312102" y="22859"/>
                  </a:moveTo>
                  <a:lnTo>
                    <a:pt x="304038" y="22859"/>
                  </a:lnTo>
                  <a:lnTo>
                    <a:pt x="303784" y="24130"/>
                  </a:lnTo>
                  <a:lnTo>
                    <a:pt x="312102" y="228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859273" y="2494026"/>
              <a:ext cx="2005964" cy="1019175"/>
            </a:xfrm>
            <a:custGeom>
              <a:avLst/>
              <a:gdLst/>
              <a:ahLst/>
              <a:cxnLst/>
              <a:rect l="l" t="t" r="r" b="b"/>
              <a:pathLst>
                <a:path w="2005965" h="1019175">
                  <a:moveTo>
                    <a:pt x="73657" y="30226"/>
                  </a:moveTo>
                  <a:lnTo>
                    <a:pt x="45105" y="30226"/>
                  </a:lnTo>
                  <a:lnTo>
                    <a:pt x="58872" y="51278"/>
                  </a:lnTo>
                  <a:lnTo>
                    <a:pt x="1994535" y="1019048"/>
                  </a:lnTo>
                  <a:lnTo>
                    <a:pt x="2005965" y="996442"/>
                  </a:lnTo>
                  <a:lnTo>
                    <a:pt x="73657" y="30226"/>
                  </a:lnTo>
                  <a:close/>
                </a:path>
                <a:path w="2005965" h="1019175">
                  <a:moveTo>
                    <a:pt x="116712" y="0"/>
                  </a:moveTo>
                  <a:lnTo>
                    <a:pt x="0" y="7620"/>
                  </a:lnTo>
                  <a:lnTo>
                    <a:pt x="64008" y="105537"/>
                  </a:lnTo>
                  <a:lnTo>
                    <a:pt x="71882" y="107188"/>
                  </a:lnTo>
                  <a:lnTo>
                    <a:pt x="77724" y="103378"/>
                  </a:lnTo>
                  <a:lnTo>
                    <a:pt x="83566" y="99441"/>
                  </a:lnTo>
                  <a:lnTo>
                    <a:pt x="85217" y="91567"/>
                  </a:lnTo>
                  <a:lnTo>
                    <a:pt x="58872" y="51278"/>
                  </a:lnTo>
                  <a:lnTo>
                    <a:pt x="16764" y="30226"/>
                  </a:lnTo>
                  <a:lnTo>
                    <a:pt x="28130" y="7620"/>
                  </a:lnTo>
                  <a:lnTo>
                    <a:pt x="28193" y="7493"/>
                  </a:lnTo>
                  <a:lnTo>
                    <a:pt x="122926" y="7493"/>
                  </a:lnTo>
                  <a:lnTo>
                    <a:pt x="122809" y="5334"/>
                  </a:lnTo>
                  <a:lnTo>
                    <a:pt x="116712" y="0"/>
                  </a:lnTo>
                  <a:close/>
                </a:path>
                <a:path w="2005965" h="1019175">
                  <a:moveTo>
                    <a:pt x="28193" y="7493"/>
                  </a:moveTo>
                  <a:lnTo>
                    <a:pt x="16764" y="30226"/>
                  </a:lnTo>
                  <a:lnTo>
                    <a:pt x="58872" y="51278"/>
                  </a:lnTo>
                  <a:lnTo>
                    <a:pt x="45936" y="31496"/>
                  </a:lnTo>
                  <a:lnTo>
                    <a:pt x="23368" y="31496"/>
                  </a:lnTo>
                  <a:lnTo>
                    <a:pt x="33147" y="11938"/>
                  </a:lnTo>
                  <a:lnTo>
                    <a:pt x="37083" y="11938"/>
                  </a:lnTo>
                  <a:lnTo>
                    <a:pt x="28193" y="7493"/>
                  </a:lnTo>
                  <a:close/>
                </a:path>
                <a:path w="2005965" h="1019175">
                  <a:moveTo>
                    <a:pt x="33147" y="11938"/>
                  </a:moveTo>
                  <a:lnTo>
                    <a:pt x="23368" y="31496"/>
                  </a:lnTo>
                  <a:lnTo>
                    <a:pt x="43370" y="30226"/>
                  </a:lnTo>
                  <a:lnTo>
                    <a:pt x="45105" y="30226"/>
                  </a:lnTo>
                  <a:lnTo>
                    <a:pt x="33147" y="11938"/>
                  </a:lnTo>
                  <a:close/>
                </a:path>
                <a:path w="2005965" h="1019175">
                  <a:moveTo>
                    <a:pt x="70244" y="28519"/>
                  </a:moveTo>
                  <a:lnTo>
                    <a:pt x="23368" y="31496"/>
                  </a:lnTo>
                  <a:lnTo>
                    <a:pt x="45936" y="31496"/>
                  </a:lnTo>
                  <a:lnTo>
                    <a:pt x="45105" y="30226"/>
                  </a:lnTo>
                  <a:lnTo>
                    <a:pt x="73657" y="30226"/>
                  </a:lnTo>
                  <a:lnTo>
                    <a:pt x="70244" y="28519"/>
                  </a:lnTo>
                  <a:close/>
                </a:path>
                <a:path w="2005965" h="1019175">
                  <a:moveTo>
                    <a:pt x="37083" y="11938"/>
                  </a:moveTo>
                  <a:lnTo>
                    <a:pt x="33147" y="11938"/>
                  </a:lnTo>
                  <a:lnTo>
                    <a:pt x="45105" y="30226"/>
                  </a:lnTo>
                  <a:lnTo>
                    <a:pt x="43370" y="30226"/>
                  </a:lnTo>
                  <a:lnTo>
                    <a:pt x="70244" y="28519"/>
                  </a:lnTo>
                  <a:lnTo>
                    <a:pt x="37083" y="11938"/>
                  </a:lnTo>
                  <a:close/>
                </a:path>
                <a:path w="2005965" h="1019175">
                  <a:moveTo>
                    <a:pt x="122926" y="7493"/>
                  </a:moveTo>
                  <a:lnTo>
                    <a:pt x="28193" y="7493"/>
                  </a:lnTo>
                  <a:lnTo>
                    <a:pt x="70244" y="28519"/>
                  </a:lnTo>
                  <a:lnTo>
                    <a:pt x="118364" y="25400"/>
                  </a:lnTo>
                  <a:lnTo>
                    <a:pt x="123698" y="19304"/>
                  </a:lnTo>
                  <a:lnTo>
                    <a:pt x="123190" y="12319"/>
                  </a:lnTo>
                  <a:lnTo>
                    <a:pt x="122933" y="7620"/>
                  </a:lnTo>
                  <a:lnTo>
                    <a:pt x="122926" y="7493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888527" y="1520059"/>
              <a:ext cx="5694045" cy="4607560"/>
            </a:xfrm>
            <a:custGeom>
              <a:avLst/>
              <a:gdLst/>
              <a:ahLst/>
              <a:cxnLst/>
              <a:rect l="l" t="t" r="r" b="b"/>
              <a:pathLst>
                <a:path w="5694045" h="4607560">
                  <a:moveTo>
                    <a:pt x="2547072" y="252987"/>
                  </a:moveTo>
                  <a:lnTo>
                    <a:pt x="2494003" y="212177"/>
                  </a:lnTo>
                  <a:lnTo>
                    <a:pt x="2429861" y="174668"/>
                  </a:lnTo>
                  <a:lnTo>
                    <a:pt x="2393996" y="157179"/>
                  </a:lnTo>
                  <a:lnTo>
                    <a:pt x="2355791" y="140548"/>
                  </a:lnTo>
                  <a:lnTo>
                    <a:pt x="2315391" y="124787"/>
                  </a:lnTo>
                  <a:lnTo>
                    <a:pt x="2272938" y="109907"/>
                  </a:lnTo>
                  <a:lnTo>
                    <a:pt x="2228575" y="95919"/>
                  </a:lnTo>
                  <a:lnTo>
                    <a:pt x="2182446" y="82835"/>
                  </a:lnTo>
                  <a:lnTo>
                    <a:pt x="2134692" y="70664"/>
                  </a:lnTo>
                  <a:lnTo>
                    <a:pt x="2085459" y="59419"/>
                  </a:lnTo>
                  <a:lnTo>
                    <a:pt x="2034888" y="49111"/>
                  </a:lnTo>
                  <a:lnTo>
                    <a:pt x="1983123" y="39751"/>
                  </a:lnTo>
                  <a:lnTo>
                    <a:pt x="1930306" y="31349"/>
                  </a:lnTo>
                  <a:lnTo>
                    <a:pt x="1876581" y="23918"/>
                  </a:lnTo>
                  <a:lnTo>
                    <a:pt x="1822091" y="17468"/>
                  </a:lnTo>
                  <a:lnTo>
                    <a:pt x="1766979" y="12010"/>
                  </a:lnTo>
                  <a:lnTo>
                    <a:pt x="1711389" y="7556"/>
                  </a:lnTo>
                  <a:lnTo>
                    <a:pt x="1655462" y="4117"/>
                  </a:lnTo>
                  <a:lnTo>
                    <a:pt x="1599342" y="1704"/>
                  </a:lnTo>
                  <a:lnTo>
                    <a:pt x="1543173" y="328"/>
                  </a:lnTo>
                  <a:lnTo>
                    <a:pt x="1487097" y="0"/>
                  </a:lnTo>
                  <a:lnTo>
                    <a:pt x="1431258" y="731"/>
                  </a:lnTo>
                  <a:lnTo>
                    <a:pt x="1375798" y="2533"/>
                  </a:lnTo>
                  <a:lnTo>
                    <a:pt x="1320861" y="5416"/>
                  </a:lnTo>
                  <a:lnTo>
                    <a:pt x="1266589" y="9393"/>
                  </a:lnTo>
                  <a:lnTo>
                    <a:pt x="1213126" y="14473"/>
                  </a:lnTo>
                  <a:lnTo>
                    <a:pt x="1160615" y="20669"/>
                  </a:lnTo>
                  <a:lnTo>
                    <a:pt x="1109199" y="27991"/>
                  </a:lnTo>
                  <a:lnTo>
                    <a:pt x="1059020" y="36450"/>
                  </a:lnTo>
                  <a:lnTo>
                    <a:pt x="1010223" y="46058"/>
                  </a:lnTo>
                  <a:lnTo>
                    <a:pt x="962950" y="56826"/>
                  </a:lnTo>
                  <a:lnTo>
                    <a:pt x="917344" y="68764"/>
                  </a:lnTo>
                  <a:lnTo>
                    <a:pt x="873549" y="81885"/>
                  </a:lnTo>
                  <a:lnTo>
                    <a:pt x="831707" y="96199"/>
                  </a:lnTo>
                  <a:lnTo>
                    <a:pt x="791961" y="111718"/>
                  </a:lnTo>
                  <a:lnTo>
                    <a:pt x="754455" y="128452"/>
                  </a:lnTo>
                  <a:lnTo>
                    <a:pt x="719331" y="146412"/>
                  </a:lnTo>
                  <a:lnTo>
                    <a:pt x="656804" y="186058"/>
                  </a:lnTo>
                  <a:lnTo>
                    <a:pt x="599539" y="234411"/>
                  </a:lnTo>
                  <a:lnTo>
                    <a:pt x="547637" y="290465"/>
                  </a:lnTo>
                  <a:lnTo>
                    <a:pt x="523607" y="321220"/>
                  </a:lnTo>
                  <a:lnTo>
                    <a:pt x="500810" y="353709"/>
                  </a:lnTo>
                  <a:lnTo>
                    <a:pt x="479210" y="387868"/>
                  </a:lnTo>
                  <a:lnTo>
                    <a:pt x="458772" y="423634"/>
                  </a:lnTo>
                  <a:lnTo>
                    <a:pt x="439459" y="460942"/>
                  </a:lnTo>
                  <a:lnTo>
                    <a:pt x="421236" y="499730"/>
                  </a:lnTo>
                  <a:lnTo>
                    <a:pt x="404067" y="539933"/>
                  </a:lnTo>
                  <a:lnTo>
                    <a:pt x="387916" y="581488"/>
                  </a:lnTo>
                  <a:lnTo>
                    <a:pt x="372747" y="624331"/>
                  </a:lnTo>
                  <a:lnTo>
                    <a:pt x="358525" y="668398"/>
                  </a:lnTo>
                  <a:lnTo>
                    <a:pt x="345213" y="713625"/>
                  </a:lnTo>
                  <a:lnTo>
                    <a:pt x="332776" y="759949"/>
                  </a:lnTo>
                  <a:lnTo>
                    <a:pt x="321177" y="807307"/>
                  </a:lnTo>
                  <a:lnTo>
                    <a:pt x="310382" y="855634"/>
                  </a:lnTo>
                  <a:lnTo>
                    <a:pt x="300354" y="904866"/>
                  </a:lnTo>
                  <a:lnTo>
                    <a:pt x="291057" y="954941"/>
                  </a:lnTo>
                  <a:lnTo>
                    <a:pt x="282455" y="1005793"/>
                  </a:lnTo>
                  <a:lnTo>
                    <a:pt x="274513" y="1057360"/>
                  </a:lnTo>
                  <a:lnTo>
                    <a:pt x="267195" y="1109578"/>
                  </a:lnTo>
                  <a:lnTo>
                    <a:pt x="260465" y="1162383"/>
                  </a:lnTo>
                  <a:lnTo>
                    <a:pt x="254288" y="1215712"/>
                  </a:lnTo>
                  <a:lnTo>
                    <a:pt x="248626" y="1269500"/>
                  </a:lnTo>
                  <a:lnTo>
                    <a:pt x="243445" y="1323684"/>
                  </a:lnTo>
                  <a:lnTo>
                    <a:pt x="238708" y="1378200"/>
                  </a:lnTo>
                  <a:lnTo>
                    <a:pt x="234380" y="1432985"/>
                  </a:lnTo>
                  <a:lnTo>
                    <a:pt x="230426" y="1487975"/>
                  </a:lnTo>
                  <a:lnTo>
                    <a:pt x="226808" y="1543106"/>
                  </a:lnTo>
                  <a:lnTo>
                    <a:pt x="223491" y="1598314"/>
                  </a:lnTo>
                  <a:lnTo>
                    <a:pt x="220440" y="1653535"/>
                  </a:lnTo>
                  <a:lnTo>
                    <a:pt x="217619" y="1708707"/>
                  </a:lnTo>
                  <a:lnTo>
                    <a:pt x="214991" y="1763765"/>
                  </a:lnTo>
                  <a:lnTo>
                    <a:pt x="212521" y="1818645"/>
                  </a:lnTo>
                  <a:lnTo>
                    <a:pt x="210173" y="1873284"/>
                  </a:lnTo>
                  <a:lnTo>
                    <a:pt x="207911" y="1927619"/>
                  </a:lnTo>
                  <a:lnTo>
                    <a:pt x="205700" y="1981584"/>
                  </a:lnTo>
                  <a:lnTo>
                    <a:pt x="203866" y="2016437"/>
                  </a:lnTo>
                  <a:lnTo>
                    <a:pt x="197816" y="2088914"/>
                  </a:lnTo>
                  <a:lnTo>
                    <a:pt x="188940" y="2164818"/>
                  </a:lnTo>
                  <a:lnTo>
                    <a:pt x="183573" y="2203955"/>
                  </a:lnTo>
                  <a:lnTo>
                    <a:pt x="177655" y="2243828"/>
                  </a:lnTo>
                  <a:lnTo>
                    <a:pt x="171238" y="2284397"/>
                  </a:lnTo>
                  <a:lnTo>
                    <a:pt x="164376" y="2325623"/>
                  </a:lnTo>
                  <a:lnTo>
                    <a:pt x="157119" y="2367465"/>
                  </a:lnTo>
                  <a:lnTo>
                    <a:pt x="149520" y="2409883"/>
                  </a:lnTo>
                  <a:lnTo>
                    <a:pt x="141632" y="2452838"/>
                  </a:lnTo>
                  <a:lnTo>
                    <a:pt x="133505" y="2496288"/>
                  </a:lnTo>
                  <a:lnTo>
                    <a:pt x="125193" y="2540194"/>
                  </a:lnTo>
                  <a:lnTo>
                    <a:pt x="116747" y="2584515"/>
                  </a:lnTo>
                  <a:lnTo>
                    <a:pt x="108220" y="2629212"/>
                  </a:lnTo>
                  <a:lnTo>
                    <a:pt x="99663" y="2674245"/>
                  </a:lnTo>
                  <a:lnTo>
                    <a:pt x="91129" y="2719573"/>
                  </a:lnTo>
                  <a:lnTo>
                    <a:pt x="82670" y="2765157"/>
                  </a:lnTo>
                  <a:lnTo>
                    <a:pt x="74338" y="2810956"/>
                  </a:lnTo>
                  <a:lnTo>
                    <a:pt x="66184" y="2856930"/>
                  </a:lnTo>
                  <a:lnTo>
                    <a:pt x="58262" y="2903039"/>
                  </a:lnTo>
                  <a:lnTo>
                    <a:pt x="50623" y="2949243"/>
                  </a:lnTo>
                  <a:lnTo>
                    <a:pt x="43318" y="2995502"/>
                  </a:lnTo>
                  <a:lnTo>
                    <a:pt x="36402" y="3041775"/>
                  </a:lnTo>
                  <a:lnTo>
                    <a:pt x="29925" y="3088024"/>
                  </a:lnTo>
                  <a:lnTo>
                    <a:pt x="23939" y="3134207"/>
                  </a:lnTo>
                  <a:lnTo>
                    <a:pt x="18497" y="3180284"/>
                  </a:lnTo>
                  <a:lnTo>
                    <a:pt x="13650" y="3226216"/>
                  </a:lnTo>
                  <a:lnTo>
                    <a:pt x="9452" y="3271962"/>
                  </a:lnTo>
                  <a:lnTo>
                    <a:pt x="5953" y="3317483"/>
                  </a:lnTo>
                  <a:lnTo>
                    <a:pt x="3206" y="3362737"/>
                  </a:lnTo>
                  <a:lnTo>
                    <a:pt x="1264" y="3407686"/>
                  </a:lnTo>
                  <a:lnTo>
                    <a:pt x="178" y="3452289"/>
                  </a:lnTo>
                  <a:lnTo>
                    <a:pt x="0" y="3496505"/>
                  </a:lnTo>
                  <a:lnTo>
                    <a:pt x="782" y="3540295"/>
                  </a:lnTo>
                  <a:lnTo>
                    <a:pt x="2577" y="3583619"/>
                  </a:lnTo>
                  <a:lnTo>
                    <a:pt x="5436" y="3626437"/>
                  </a:lnTo>
                  <a:lnTo>
                    <a:pt x="9412" y="3668708"/>
                  </a:lnTo>
                  <a:lnTo>
                    <a:pt x="14557" y="3710392"/>
                  </a:lnTo>
                  <a:lnTo>
                    <a:pt x="20923" y="3751450"/>
                  </a:lnTo>
                  <a:lnTo>
                    <a:pt x="28561" y="3791841"/>
                  </a:lnTo>
                  <a:lnTo>
                    <a:pt x="37525" y="3831525"/>
                  </a:lnTo>
                  <a:lnTo>
                    <a:pt x="47866" y="3870462"/>
                  </a:lnTo>
                  <a:lnTo>
                    <a:pt x="59636" y="3908612"/>
                  </a:lnTo>
                  <a:lnTo>
                    <a:pt x="72888" y="3945935"/>
                  </a:lnTo>
                  <a:lnTo>
                    <a:pt x="87672" y="3982391"/>
                  </a:lnTo>
                  <a:lnTo>
                    <a:pt x="104043" y="4017939"/>
                  </a:lnTo>
                  <a:lnTo>
                    <a:pt x="122051" y="4052540"/>
                  </a:lnTo>
                  <a:lnTo>
                    <a:pt x="141749" y="4086153"/>
                  </a:lnTo>
                  <a:lnTo>
                    <a:pt x="163188" y="4118739"/>
                  </a:lnTo>
                  <a:lnTo>
                    <a:pt x="186422" y="4150257"/>
                  </a:lnTo>
                  <a:lnTo>
                    <a:pt x="211501" y="4180667"/>
                  </a:lnTo>
                  <a:lnTo>
                    <a:pt x="238479" y="4209929"/>
                  </a:lnTo>
                  <a:lnTo>
                    <a:pt x="267407" y="4238003"/>
                  </a:lnTo>
                  <a:lnTo>
                    <a:pt x="298337" y="4264849"/>
                  </a:lnTo>
                  <a:lnTo>
                    <a:pt x="331322" y="4290427"/>
                  </a:lnTo>
                  <a:lnTo>
                    <a:pt x="366413" y="4314697"/>
                  </a:lnTo>
                  <a:lnTo>
                    <a:pt x="403662" y="4337618"/>
                  </a:lnTo>
                  <a:lnTo>
                    <a:pt x="443123" y="4359151"/>
                  </a:lnTo>
                  <a:lnTo>
                    <a:pt x="484846" y="4379255"/>
                  </a:lnTo>
                  <a:lnTo>
                    <a:pt x="540104" y="4402204"/>
                  </a:lnTo>
                  <a:lnTo>
                    <a:pt x="601092" y="4423782"/>
                  </a:lnTo>
                  <a:lnTo>
                    <a:pt x="667562" y="4444014"/>
                  </a:lnTo>
                  <a:lnTo>
                    <a:pt x="739270" y="4462927"/>
                  </a:lnTo>
                  <a:lnTo>
                    <a:pt x="777010" y="4471896"/>
                  </a:lnTo>
                  <a:lnTo>
                    <a:pt x="815967" y="4480545"/>
                  </a:lnTo>
                  <a:lnTo>
                    <a:pt x="856110" y="4488876"/>
                  </a:lnTo>
                  <a:lnTo>
                    <a:pt x="897409" y="4496894"/>
                  </a:lnTo>
                  <a:lnTo>
                    <a:pt x="939831" y="4504600"/>
                  </a:lnTo>
                  <a:lnTo>
                    <a:pt x="983347" y="4511999"/>
                  </a:lnTo>
                  <a:lnTo>
                    <a:pt x="1027926" y="4519093"/>
                  </a:lnTo>
                  <a:lnTo>
                    <a:pt x="1073537" y="4525886"/>
                  </a:lnTo>
                  <a:lnTo>
                    <a:pt x="1120148" y="4532380"/>
                  </a:lnTo>
                  <a:lnTo>
                    <a:pt x="1167731" y="4538580"/>
                  </a:lnTo>
                  <a:lnTo>
                    <a:pt x="1216252" y="4544487"/>
                  </a:lnTo>
                  <a:lnTo>
                    <a:pt x="1265683" y="4550106"/>
                  </a:lnTo>
                  <a:lnTo>
                    <a:pt x="1315991" y="4555440"/>
                  </a:lnTo>
                  <a:lnTo>
                    <a:pt x="1367146" y="4560491"/>
                  </a:lnTo>
                  <a:lnTo>
                    <a:pt x="1419118" y="4565263"/>
                  </a:lnTo>
                  <a:lnTo>
                    <a:pt x="1471875" y="4569759"/>
                  </a:lnTo>
                  <a:lnTo>
                    <a:pt x="1525387" y="4573982"/>
                  </a:lnTo>
                  <a:lnTo>
                    <a:pt x="1579622" y="4577936"/>
                  </a:lnTo>
                  <a:lnTo>
                    <a:pt x="1634551" y="4581623"/>
                  </a:lnTo>
                  <a:lnTo>
                    <a:pt x="1690142" y="4585047"/>
                  </a:lnTo>
                  <a:lnTo>
                    <a:pt x="1746365" y="4588211"/>
                  </a:lnTo>
                  <a:lnTo>
                    <a:pt x="1803188" y="4591118"/>
                  </a:lnTo>
                  <a:lnTo>
                    <a:pt x="1860581" y="4593771"/>
                  </a:lnTo>
                  <a:lnTo>
                    <a:pt x="1918513" y="4596174"/>
                  </a:lnTo>
                  <a:lnTo>
                    <a:pt x="1976953" y="4598330"/>
                  </a:lnTo>
                  <a:lnTo>
                    <a:pt x="2035871" y="4600241"/>
                  </a:lnTo>
                  <a:lnTo>
                    <a:pt x="2095236" y="4601911"/>
                  </a:lnTo>
                  <a:lnTo>
                    <a:pt x="2155016" y="4603344"/>
                  </a:lnTo>
                  <a:lnTo>
                    <a:pt x="2215181" y="4604541"/>
                  </a:lnTo>
                  <a:lnTo>
                    <a:pt x="2275701" y="4605508"/>
                  </a:lnTo>
                  <a:lnTo>
                    <a:pt x="2336544" y="4606246"/>
                  </a:lnTo>
                  <a:lnTo>
                    <a:pt x="2397679" y="4606759"/>
                  </a:lnTo>
                  <a:lnTo>
                    <a:pt x="2459077" y="4607050"/>
                  </a:lnTo>
                  <a:lnTo>
                    <a:pt x="2520705" y="4607122"/>
                  </a:lnTo>
                  <a:lnTo>
                    <a:pt x="2582534" y="4606979"/>
                  </a:lnTo>
                  <a:lnTo>
                    <a:pt x="2644532" y="4606623"/>
                  </a:lnTo>
                  <a:lnTo>
                    <a:pt x="2706669" y="4606058"/>
                  </a:lnTo>
                  <a:lnTo>
                    <a:pt x="2768913" y="4605287"/>
                  </a:lnTo>
                  <a:lnTo>
                    <a:pt x="2831235" y="4604314"/>
                  </a:lnTo>
                  <a:lnTo>
                    <a:pt x="2893602" y="4603140"/>
                  </a:lnTo>
                  <a:lnTo>
                    <a:pt x="2955985" y="4601770"/>
                  </a:lnTo>
                  <a:lnTo>
                    <a:pt x="3018353" y="4600207"/>
                  </a:lnTo>
                  <a:lnTo>
                    <a:pt x="3080675" y="4598453"/>
                  </a:lnTo>
                  <a:lnTo>
                    <a:pt x="3142919" y="4596513"/>
                  </a:lnTo>
                  <a:lnTo>
                    <a:pt x="3205056" y="4594389"/>
                  </a:lnTo>
                  <a:lnTo>
                    <a:pt x="3267054" y="4592084"/>
                  </a:lnTo>
                  <a:lnTo>
                    <a:pt x="3328882" y="4589602"/>
                  </a:lnTo>
                  <a:lnTo>
                    <a:pt x="3390510" y="4586946"/>
                  </a:lnTo>
                  <a:lnTo>
                    <a:pt x="3451908" y="4584118"/>
                  </a:lnTo>
                  <a:lnTo>
                    <a:pt x="3513043" y="4581123"/>
                  </a:lnTo>
                  <a:lnTo>
                    <a:pt x="3573886" y="4577962"/>
                  </a:lnTo>
                  <a:lnTo>
                    <a:pt x="3634405" y="4574641"/>
                  </a:lnTo>
                  <a:lnTo>
                    <a:pt x="3694570" y="4571161"/>
                  </a:lnTo>
                  <a:lnTo>
                    <a:pt x="3754350" y="4567526"/>
                  </a:lnTo>
                  <a:lnTo>
                    <a:pt x="3813715" y="4563738"/>
                  </a:lnTo>
                  <a:lnTo>
                    <a:pt x="3872632" y="4559802"/>
                  </a:lnTo>
                  <a:lnTo>
                    <a:pt x="3931072" y="4555721"/>
                  </a:lnTo>
                  <a:lnTo>
                    <a:pt x="3989004" y="4551497"/>
                  </a:lnTo>
                  <a:lnTo>
                    <a:pt x="4046397" y="4547133"/>
                  </a:lnTo>
                  <a:lnTo>
                    <a:pt x="4103219" y="4542634"/>
                  </a:lnTo>
                  <a:lnTo>
                    <a:pt x="4159442" y="4538001"/>
                  </a:lnTo>
                  <a:lnTo>
                    <a:pt x="4215032" y="4533239"/>
                  </a:lnTo>
                  <a:lnTo>
                    <a:pt x="4269961" y="4528350"/>
                  </a:lnTo>
                  <a:lnTo>
                    <a:pt x="4324196" y="4523338"/>
                  </a:lnTo>
                  <a:lnTo>
                    <a:pt x="4377707" y="4518206"/>
                  </a:lnTo>
                  <a:lnTo>
                    <a:pt x="4430464" y="4512956"/>
                  </a:lnTo>
                  <a:lnTo>
                    <a:pt x="4482435" y="4507593"/>
                  </a:lnTo>
                  <a:lnTo>
                    <a:pt x="4533590" y="4502119"/>
                  </a:lnTo>
                  <a:lnTo>
                    <a:pt x="4583897" y="4496537"/>
                  </a:lnTo>
                  <a:lnTo>
                    <a:pt x="4633327" y="4490852"/>
                  </a:lnTo>
                  <a:lnTo>
                    <a:pt x="4681848" y="4485065"/>
                  </a:lnTo>
                  <a:lnTo>
                    <a:pt x="4729430" y="4479180"/>
                  </a:lnTo>
                  <a:lnTo>
                    <a:pt x="4776041" y="4473200"/>
                  </a:lnTo>
                  <a:lnTo>
                    <a:pt x="4821651" y="4467129"/>
                  </a:lnTo>
                  <a:lnTo>
                    <a:pt x="4866229" y="4460969"/>
                  </a:lnTo>
                  <a:lnTo>
                    <a:pt x="4909745" y="4454724"/>
                  </a:lnTo>
                  <a:lnTo>
                    <a:pt x="4952166" y="4448397"/>
                  </a:lnTo>
                  <a:lnTo>
                    <a:pt x="4993464" y="4441991"/>
                  </a:lnTo>
                  <a:lnTo>
                    <a:pt x="5033606" y="4435509"/>
                  </a:lnTo>
                  <a:lnTo>
                    <a:pt x="5072563" y="4428955"/>
                  </a:lnTo>
                  <a:lnTo>
                    <a:pt x="5110302" y="4422332"/>
                  </a:lnTo>
                  <a:lnTo>
                    <a:pt x="5182008" y="4408889"/>
                  </a:lnTo>
                  <a:lnTo>
                    <a:pt x="5248477" y="4395207"/>
                  </a:lnTo>
                  <a:lnTo>
                    <a:pt x="5309463" y="4381312"/>
                  </a:lnTo>
                  <a:lnTo>
                    <a:pt x="5364719" y="4367228"/>
                  </a:lnTo>
                  <a:lnTo>
                    <a:pt x="5414000" y="4352980"/>
                  </a:lnTo>
                  <a:lnTo>
                    <a:pt x="5477381" y="4330575"/>
                  </a:lnTo>
                  <a:lnTo>
                    <a:pt x="5514492" y="4313708"/>
                  </a:lnTo>
                  <a:lnTo>
                    <a:pt x="5577313" y="4275335"/>
                  </a:lnTo>
                  <a:lnTo>
                    <a:pt x="5625655" y="4231242"/>
                  </a:lnTo>
                  <a:lnTo>
                    <a:pt x="5660392" y="4181985"/>
                  </a:lnTo>
                  <a:lnTo>
                    <a:pt x="5682395" y="4128122"/>
                  </a:lnTo>
                  <a:lnTo>
                    <a:pt x="5692538" y="4070208"/>
                  </a:lnTo>
                  <a:lnTo>
                    <a:pt x="5693434" y="4039906"/>
                  </a:lnTo>
                  <a:lnTo>
                    <a:pt x="5691692" y="4008800"/>
                  </a:lnTo>
                  <a:lnTo>
                    <a:pt x="5680730" y="3944456"/>
                  </a:lnTo>
                  <a:lnTo>
                    <a:pt x="5660524" y="3877731"/>
                  </a:lnTo>
                  <a:lnTo>
                    <a:pt x="5631947" y="3809183"/>
                  </a:lnTo>
                  <a:lnTo>
                    <a:pt x="5614791" y="3774399"/>
                  </a:lnTo>
                  <a:lnTo>
                    <a:pt x="5595870" y="3739368"/>
                  </a:lnTo>
                  <a:lnTo>
                    <a:pt x="5575293" y="3704159"/>
                  </a:lnTo>
                  <a:lnTo>
                    <a:pt x="5553167" y="3668843"/>
                  </a:lnTo>
                  <a:lnTo>
                    <a:pt x="5529603" y="3633488"/>
                  </a:lnTo>
                  <a:lnTo>
                    <a:pt x="5504710" y="3598164"/>
                  </a:lnTo>
                  <a:lnTo>
                    <a:pt x="5478596" y="3562941"/>
                  </a:lnTo>
                  <a:lnTo>
                    <a:pt x="5451371" y="3527889"/>
                  </a:lnTo>
                  <a:lnTo>
                    <a:pt x="5423143" y="3493076"/>
                  </a:lnTo>
                  <a:lnTo>
                    <a:pt x="5394022" y="3458573"/>
                  </a:lnTo>
                  <a:lnTo>
                    <a:pt x="5364116" y="3424449"/>
                  </a:lnTo>
                  <a:lnTo>
                    <a:pt x="5333536" y="3390774"/>
                  </a:lnTo>
                  <a:lnTo>
                    <a:pt x="5302389" y="3357618"/>
                  </a:lnTo>
                  <a:lnTo>
                    <a:pt x="5270785" y="3325049"/>
                  </a:lnTo>
                  <a:lnTo>
                    <a:pt x="5238832" y="3293138"/>
                  </a:lnTo>
                  <a:lnTo>
                    <a:pt x="5206641" y="3261954"/>
                  </a:lnTo>
                  <a:lnTo>
                    <a:pt x="5174320" y="3231566"/>
                  </a:lnTo>
                  <a:lnTo>
                    <a:pt x="5141977" y="3202045"/>
                  </a:lnTo>
                  <a:lnTo>
                    <a:pt x="5109723" y="3173460"/>
                  </a:lnTo>
                  <a:lnTo>
                    <a:pt x="5077666" y="3145880"/>
                  </a:lnTo>
                  <a:lnTo>
                    <a:pt x="5045915" y="3119375"/>
                  </a:lnTo>
                  <a:lnTo>
                    <a:pt x="5014579" y="3094014"/>
                  </a:lnTo>
                  <a:lnTo>
                    <a:pt x="4983767" y="3069868"/>
                  </a:lnTo>
                  <a:lnTo>
                    <a:pt x="4924153" y="3025497"/>
                  </a:lnTo>
                  <a:lnTo>
                    <a:pt x="4867944" y="2986818"/>
                  </a:lnTo>
                  <a:lnTo>
                    <a:pt x="4816013" y="2954387"/>
                  </a:lnTo>
                  <a:lnTo>
                    <a:pt x="4759992" y="2925283"/>
                  </a:lnTo>
                  <a:lnTo>
                    <a:pt x="4689768" y="2902827"/>
                  </a:lnTo>
                  <a:lnTo>
                    <a:pt x="4651723" y="2895473"/>
                  </a:lnTo>
                  <a:lnTo>
                    <a:pt x="4611884" y="2890497"/>
                  </a:lnTo>
                  <a:lnTo>
                    <a:pt x="4570376" y="2887747"/>
                  </a:lnTo>
                  <a:lnTo>
                    <a:pt x="4527321" y="2887072"/>
                  </a:lnTo>
                  <a:lnTo>
                    <a:pt x="4482841" y="2888318"/>
                  </a:lnTo>
                  <a:lnTo>
                    <a:pt x="4437060" y="2891333"/>
                  </a:lnTo>
                  <a:lnTo>
                    <a:pt x="4390100" y="2895965"/>
                  </a:lnTo>
                  <a:lnTo>
                    <a:pt x="4342084" y="2902061"/>
                  </a:lnTo>
                  <a:lnTo>
                    <a:pt x="4293134" y="2909470"/>
                  </a:lnTo>
                  <a:lnTo>
                    <a:pt x="4243374" y="2918038"/>
                  </a:lnTo>
                  <a:lnTo>
                    <a:pt x="4192925" y="2927613"/>
                  </a:lnTo>
                  <a:lnTo>
                    <a:pt x="4141912" y="2938044"/>
                  </a:lnTo>
                  <a:lnTo>
                    <a:pt x="4090455" y="2949176"/>
                  </a:lnTo>
                  <a:lnTo>
                    <a:pt x="4038679" y="2960859"/>
                  </a:lnTo>
                  <a:lnTo>
                    <a:pt x="3986706" y="2972940"/>
                  </a:lnTo>
                  <a:lnTo>
                    <a:pt x="3934658" y="2985265"/>
                  </a:lnTo>
                  <a:lnTo>
                    <a:pt x="3882659" y="2997684"/>
                  </a:lnTo>
                  <a:lnTo>
                    <a:pt x="3830830" y="3010043"/>
                  </a:lnTo>
                  <a:lnTo>
                    <a:pt x="3779295" y="3022190"/>
                  </a:lnTo>
                  <a:lnTo>
                    <a:pt x="3728177" y="3033973"/>
                  </a:lnTo>
                  <a:lnTo>
                    <a:pt x="3677598" y="3045239"/>
                  </a:lnTo>
                  <a:lnTo>
                    <a:pt x="3627680" y="3055836"/>
                  </a:lnTo>
                  <a:lnTo>
                    <a:pt x="3578548" y="3065612"/>
                  </a:lnTo>
                  <a:lnTo>
                    <a:pt x="3530322" y="3074413"/>
                  </a:lnTo>
                  <a:lnTo>
                    <a:pt x="3483127" y="3082089"/>
                  </a:lnTo>
                  <a:lnTo>
                    <a:pt x="3437084" y="3088485"/>
                  </a:lnTo>
                  <a:lnTo>
                    <a:pt x="3392317" y="3093451"/>
                  </a:lnTo>
                  <a:lnTo>
                    <a:pt x="3348948" y="3096833"/>
                  </a:lnTo>
                  <a:lnTo>
                    <a:pt x="3307100" y="3098480"/>
                  </a:lnTo>
                  <a:lnTo>
                    <a:pt x="3266896" y="3098238"/>
                  </a:lnTo>
                  <a:lnTo>
                    <a:pt x="3228458" y="3095955"/>
                  </a:lnTo>
                  <a:lnTo>
                    <a:pt x="3157371" y="3084658"/>
                  </a:lnTo>
                  <a:lnTo>
                    <a:pt x="3094823" y="3063370"/>
                  </a:lnTo>
                  <a:lnTo>
                    <a:pt x="3055363" y="3043231"/>
                  </a:lnTo>
                  <a:lnTo>
                    <a:pt x="3018440" y="3020480"/>
                  </a:lnTo>
                  <a:lnTo>
                    <a:pt x="2983943" y="2995226"/>
                  </a:lnTo>
                  <a:lnTo>
                    <a:pt x="2951757" y="2967582"/>
                  </a:lnTo>
                  <a:lnTo>
                    <a:pt x="2921771" y="2937656"/>
                  </a:lnTo>
                  <a:lnTo>
                    <a:pt x="2893871" y="2905559"/>
                  </a:lnTo>
                  <a:lnTo>
                    <a:pt x="2867945" y="2871403"/>
                  </a:lnTo>
                  <a:lnTo>
                    <a:pt x="2843879" y="2835297"/>
                  </a:lnTo>
                  <a:lnTo>
                    <a:pt x="2821561" y="2797352"/>
                  </a:lnTo>
                  <a:lnTo>
                    <a:pt x="2800878" y="2757679"/>
                  </a:lnTo>
                  <a:lnTo>
                    <a:pt x="2781717" y="2716388"/>
                  </a:lnTo>
                  <a:lnTo>
                    <a:pt x="2763964" y="2673589"/>
                  </a:lnTo>
                  <a:lnTo>
                    <a:pt x="2747508" y="2629393"/>
                  </a:lnTo>
                  <a:lnTo>
                    <a:pt x="2732235" y="2583910"/>
                  </a:lnTo>
                  <a:lnTo>
                    <a:pt x="2718033" y="2537252"/>
                  </a:lnTo>
                  <a:lnTo>
                    <a:pt x="2704788" y="2489527"/>
                  </a:lnTo>
                  <a:lnTo>
                    <a:pt x="2692387" y="2440848"/>
                  </a:lnTo>
                  <a:lnTo>
                    <a:pt x="2680718" y="2391324"/>
                  </a:lnTo>
                  <a:lnTo>
                    <a:pt x="2669668" y="2341066"/>
                  </a:lnTo>
                  <a:lnTo>
                    <a:pt x="2659124" y="2290184"/>
                  </a:lnTo>
                  <a:lnTo>
                    <a:pt x="2648973" y="2238789"/>
                  </a:lnTo>
                  <a:lnTo>
                    <a:pt x="2639102" y="2186992"/>
                  </a:lnTo>
                  <a:lnTo>
                    <a:pt x="2629398" y="2134902"/>
                  </a:lnTo>
                  <a:lnTo>
                    <a:pt x="2619749" y="2082631"/>
                  </a:lnTo>
                  <a:lnTo>
                    <a:pt x="2610041" y="2030288"/>
                  </a:lnTo>
                  <a:lnTo>
                    <a:pt x="2600162" y="1977985"/>
                  </a:lnTo>
                  <a:lnTo>
                    <a:pt x="2589998" y="1925831"/>
                  </a:lnTo>
                  <a:lnTo>
                    <a:pt x="2583447" y="1886898"/>
                  </a:lnTo>
                  <a:lnTo>
                    <a:pt x="2578799" y="1846137"/>
                  </a:lnTo>
                  <a:lnTo>
                    <a:pt x="2575916" y="1803674"/>
                  </a:lnTo>
                  <a:lnTo>
                    <a:pt x="2574660" y="1759636"/>
                  </a:lnTo>
                  <a:lnTo>
                    <a:pt x="2574895" y="1714149"/>
                  </a:lnTo>
                  <a:lnTo>
                    <a:pt x="2576483" y="1667342"/>
                  </a:lnTo>
                  <a:lnTo>
                    <a:pt x="2579287" y="1619340"/>
                  </a:lnTo>
                  <a:lnTo>
                    <a:pt x="2583168" y="1570271"/>
                  </a:lnTo>
                  <a:lnTo>
                    <a:pt x="2587991" y="1520261"/>
                  </a:lnTo>
                  <a:lnTo>
                    <a:pt x="2593616" y="1469437"/>
                  </a:lnTo>
                  <a:lnTo>
                    <a:pt x="2599908" y="1417926"/>
                  </a:lnTo>
                  <a:lnTo>
                    <a:pt x="2606728" y="1365855"/>
                  </a:lnTo>
                  <a:lnTo>
                    <a:pt x="2613939" y="1313350"/>
                  </a:lnTo>
                  <a:lnTo>
                    <a:pt x="2621404" y="1260539"/>
                  </a:lnTo>
                  <a:lnTo>
                    <a:pt x="2628985" y="1207548"/>
                  </a:lnTo>
                  <a:lnTo>
                    <a:pt x="2636545" y="1154505"/>
                  </a:lnTo>
                  <a:lnTo>
                    <a:pt x="2643946" y="1101535"/>
                  </a:lnTo>
                  <a:lnTo>
                    <a:pt x="2651052" y="1048766"/>
                  </a:lnTo>
                  <a:lnTo>
                    <a:pt x="2657724" y="996324"/>
                  </a:lnTo>
                  <a:lnTo>
                    <a:pt x="2663825" y="944337"/>
                  </a:lnTo>
                  <a:lnTo>
                    <a:pt x="2669218" y="892932"/>
                  </a:lnTo>
                  <a:lnTo>
                    <a:pt x="2673766" y="842234"/>
                  </a:lnTo>
                  <a:lnTo>
                    <a:pt x="2677330" y="792371"/>
                  </a:lnTo>
                  <a:lnTo>
                    <a:pt x="2679774" y="743470"/>
                  </a:lnTo>
                  <a:lnTo>
                    <a:pt x="2680961" y="695658"/>
                  </a:lnTo>
                  <a:lnTo>
                    <a:pt x="2680752" y="649061"/>
                  </a:lnTo>
                  <a:lnTo>
                    <a:pt x="2679010" y="603807"/>
                  </a:lnTo>
                  <a:lnTo>
                    <a:pt x="2675599" y="560021"/>
                  </a:lnTo>
                  <a:lnTo>
                    <a:pt x="2670380" y="517831"/>
                  </a:lnTo>
                  <a:lnTo>
                    <a:pt x="2663216" y="477364"/>
                  </a:lnTo>
                  <a:lnTo>
                    <a:pt x="2653970" y="438747"/>
                  </a:lnTo>
                  <a:lnTo>
                    <a:pt x="2642505" y="402106"/>
                  </a:lnTo>
                  <a:lnTo>
                    <a:pt x="2612365" y="335261"/>
                  </a:lnTo>
                  <a:lnTo>
                    <a:pt x="2571697" y="277844"/>
                  </a:lnTo>
                  <a:lnTo>
                    <a:pt x="2547072" y="252987"/>
                  </a:lnTo>
                  <a:close/>
                </a:path>
              </a:pathLst>
            </a:custGeom>
            <a:ln w="2857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194830" y="1388720"/>
              <a:ext cx="2077085" cy="2909570"/>
            </a:xfrm>
            <a:custGeom>
              <a:avLst/>
              <a:gdLst/>
              <a:ahLst/>
              <a:cxnLst/>
              <a:rect l="l" t="t" r="r" b="b"/>
              <a:pathLst>
                <a:path w="2077084" h="2909570">
                  <a:moveTo>
                    <a:pt x="1527404" y="227735"/>
                  </a:moveTo>
                  <a:lnTo>
                    <a:pt x="1499932" y="196756"/>
                  </a:lnTo>
                  <a:lnTo>
                    <a:pt x="1470132" y="168128"/>
                  </a:lnTo>
                  <a:lnTo>
                    <a:pt x="1438160" y="141828"/>
                  </a:lnTo>
                  <a:lnTo>
                    <a:pt x="1404174" y="117835"/>
                  </a:lnTo>
                  <a:lnTo>
                    <a:pt x="1368332" y="96127"/>
                  </a:lnTo>
                  <a:lnTo>
                    <a:pt x="1330789" y="76683"/>
                  </a:lnTo>
                  <a:lnTo>
                    <a:pt x="1291705" y="59482"/>
                  </a:lnTo>
                  <a:lnTo>
                    <a:pt x="1251235" y="44501"/>
                  </a:lnTo>
                  <a:lnTo>
                    <a:pt x="1209538" y="31719"/>
                  </a:lnTo>
                  <a:lnTo>
                    <a:pt x="1166769" y="21114"/>
                  </a:lnTo>
                  <a:lnTo>
                    <a:pt x="1123088" y="12666"/>
                  </a:lnTo>
                  <a:lnTo>
                    <a:pt x="1078650" y="6352"/>
                  </a:lnTo>
                  <a:lnTo>
                    <a:pt x="1033613" y="2150"/>
                  </a:lnTo>
                  <a:lnTo>
                    <a:pt x="988135" y="40"/>
                  </a:lnTo>
                  <a:lnTo>
                    <a:pt x="942372" y="0"/>
                  </a:lnTo>
                  <a:lnTo>
                    <a:pt x="896482" y="2007"/>
                  </a:lnTo>
                  <a:lnTo>
                    <a:pt x="850621" y="6041"/>
                  </a:lnTo>
                  <a:lnTo>
                    <a:pt x="804948" y="12079"/>
                  </a:lnTo>
                  <a:lnTo>
                    <a:pt x="759620" y="20101"/>
                  </a:lnTo>
                  <a:lnTo>
                    <a:pt x="714793" y="30085"/>
                  </a:lnTo>
                  <a:lnTo>
                    <a:pt x="670625" y="42009"/>
                  </a:lnTo>
                  <a:lnTo>
                    <a:pt x="627273" y="55851"/>
                  </a:lnTo>
                  <a:lnTo>
                    <a:pt x="584894" y="71591"/>
                  </a:lnTo>
                  <a:lnTo>
                    <a:pt x="543646" y="89205"/>
                  </a:lnTo>
                  <a:lnTo>
                    <a:pt x="503686" y="108674"/>
                  </a:lnTo>
                  <a:lnTo>
                    <a:pt x="465171" y="129975"/>
                  </a:lnTo>
                  <a:lnTo>
                    <a:pt x="428258" y="153086"/>
                  </a:lnTo>
                  <a:lnTo>
                    <a:pt x="393105" y="177987"/>
                  </a:lnTo>
                  <a:lnTo>
                    <a:pt x="359869" y="204655"/>
                  </a:lnTo>
                  <a:lnTo>
                    <a:pt x="328706" y="233069"/>
                  </a:lnTo>
                  <a:lnTo>
                    <a:pt x="299775" y="263207"/>
                  </a:lnTo>
                  <a:lnTo>
                    <a:pt x="273232" y="295048"/>
                  </a:lnTo>
                  <a:lnTo>
                    <a:pt x="249235" y="328570"/>
                  </a:lnTo>
                  <a:lnTo>
                    <a:pt x="227940" y="363752"/>
                  </a:lnTo>
                  <a:lnTo>
                    <a:pt x="200861" y="419218"/>
                  </a:lnTo>
                  <a:lnTo>
                    <a:pt x="174918" y="485057"/>
                  </a:lnTo>
                  <a:lnTo>
                    <a:pt x="162413" y="521573"/>
                  </a:lnTo>
                  <a:lnTo>
                    <a:pt x="150241" y="560329"/>
                  </a:lnTo>
                  <a:lnTo>
                    <a:pt x="138419" y="601207"/>
                  </a:lnTo>
                  <a:lnTo>
                    <a:pt x="126963" y="644090"/>
                  </a:lnTo>
                  <a:lnTo>
                    <a:pt x="115889" y="688861"/>
                  </a:lnTo>
                  <a:lnTo>
                    <a:pt x="105215" y="735401"/>
                  </a:lnTo>
                  <a:lnTo>
                    <a:pt x="94955" y="783593"/>
                  </a:lnTo>
                  <a:lnTo>
                    <a:pt x="85127" y="833320"/>
                  </a:lnTo>
                  <a:lnTo>
                    <a:pt x="75748" y="884462"/>
                  </a:lnTo>
                  <a:lnTo>
                    <a:pt x="66833" y="936904"/>
                  </a:lnTo>
                  <a:lnTo>
                    <a:pt x="58399" y="990527"/>
                  </a:lnTo>
                  <a:lnTo>
                    <a:pt x="50462" y="1045214"/>
                  </a:lnTo>
                  <a:lnTo>
                    <a:pt x="43039" y="1100846"/>
                  </a:lnTo>
                  <a:lnTo>
                    <a:pt x="36147" y="1157306"/>
                  </a:lnTo>
                  <a:lnTo>
                    <a:pt x="29801" y="1214477"/>
                  </a:lnTo>
                  <a:lnTo>
                    <a:pt x="24018" y="1272241"/>
                  </a:lnTo>
                  <a:lnTo>
                    <a:pt x="18815" y="1330480"/>
                  </a:lnTo>
                  <a:lnTo>
                    <a:pt x="14208" y="1389076"/>
                  </a:lnTo>
                  <a:lnTo>
                    <a:pt x="10213" y="1447913"/>
                  </a:lnTo>
                  <a:lnTo>
                    <a:pt x="6847" y="1506871"/>
                  </a:lnTo>
                  <a:lnTo>
                    <a:pt x="4126" y="1565833"/>
                  </a:lnTo>
                  <a:lnTo>
                    <a:pt x="2067" y="1624683"/>
                  </a:lnTo>
                  <a:lnTo>
                    <a:pt x="686" y="1683301"/>
                  </a:lnTo>
                  <a:lnTo>
                    <a:pt x="0" y="1741571"/>
                  </a:lnTo>
                  <a:lnTo>
                    <a:pt x="24" y="1799374"/>
                  </a:lnTo>
                  <a:lnTo>
                    <a:pt x="776" y="1856594"/>
                  </a:lnTo>
                  <a:lnTo>
                    <a:pt x="2272" y="1913112"/>
                  </a:lnTo>
                  <a:lnTo>
                    <a:pt x="4527" y="1968810"/>
                  </a:lnTo>
                  <a:lnTo>
                    <a:pt x="7560" y="2023572"/>
                  </a:lnTo>
                  <a:lnTo>
                    <a:pt x="11386" y="2077279"/>
                  </a:lnTo>
                  <a:lnTo>
                    <a:pt x="16021" y="2129813"/>
                  </a:lnTo>
                  <a:lnTo>
                    <a:pt x="21482" y="2181057"/>
                  </a:lnTo>
                  <a:lnTo>
                    <a:pt x="27785" y="2230894"/>
                  </a:lnTo>
                  <a:lnTo>
                    <a:pt x="34947" y="2279205"/>
                  </a:lnTo>
                  <a:lnTo>
                    <a:pt x="42985" y="2325873"/>
                  </a:lnTo>
                  <a:lnTo>
                    <a:pt x="51914" y="2370781"/>
                  </a:lnTo>
                  <a:lnTo>
                    <a:pt x="61751" y="2413809"/>
                  </a:lnTo>
                  <a:lnTo>
                    <a:pt x="72512" y="2454842"/>
                  </a:lnTo>
                  <a:lnTo>
                    <a:pt x="84215" y="2493761"/>
                  </a:lnTo>
                  <a:lnTo>
                    <a:pt x="96875" y="2530449"/>
                  </a:lnTo>
                  <a:lnTo>
                    <a:pt x="125132" y="2596658"/>
                  </a:lnTo>
                  <a:lnTo>
                    <a:pt x="157416" y="2652530"/>
                  </a:lnTo>
                  <a:lnTo>
                    <a:pt x="196954" y="2700459"/>
                  </a:lnTo>
                  <a:lnTo>
                    <a:pt x="249544" y="2744684"/>
                  </a:lnTo>
                  <a:lnTo>
                    <a:pt x="313003" y="2783492"/>
                  </a:lnTo>
                  <a:lnTo>
                    <a:pt x="348435" y="2800886"/>
                  </a:lnTo>
                  <a:lnTo>
                    <a:pt x="386137" y="2816950"/>
                  </a:lnTo>
                  <a:lnTo>
                    <a:pt x="425960" y="2831692"/>
                  </a:lnTo>
                  <a:lnTo>
                    <a:pt x="467754" y="2845121"/>
                  </a:lnTo>
                  <a:lnTo>
                    <a:pt x="511371" y="2857245"/>
                  </a:lnTo>
                  <a:lnTo>
                    <a:pt x="556660" y="2868071"/>
                  </a:lnTo>
                  <a:lnTo>
                    <a:pt x="603473" y="2877608"/>
                  </a:lnTo>
                  <a:lnTo>
                    <a:pt x="651661" y="2885864"/>
                  </a:lnTo>
                  <a:lnTo>
                    <a:pt x="701074" y="2892848"/>
                  </a:lnTo>
                  <a:lnTo>
                    <a:pt x="751564" y="2898566"/>
                  </a:lnTo>
                  <a:lnTo>
                    <a:pt x="802980" y="2903028"/>
                  </a:lnTo>
                  <a:lnTo>
                    <a:pt x="855174" y="2906241"/>
                  </a:lnTo>
                  <a:lnTo>
                    <a:pt x="907997" y="2908214"/>
                  </a:lnTo>
                  <a:lnTo>
                    <a:pt x="961300" y="2908955"/>
                  </a:lnTo>
                  <a:lnTo>
                    <a:pt x="1014932" y="2908471"/>
                  </a:lnTo>
                  <a:lnTo>
                    <a:pt x="1068746" y="2906771"/>
                  </a:lnTo>
                  <a:lnTo>
                    <a:pt x="1122592" y="2903863"/>
                  </a:lnTo>
                  <a:lnTo>
                    <a:pt x="1176320" y="2899756"/>
                  </a:lnTo>
                  <a:lnTo>
                    <a:pt x="1229782" y="2894456"/>
                  </a:lnTo>
                  <a:lnTo>
                    <a:pt x="1282829" y="2887973"/>
                  </a:lnTo>
                  <a:lnTo>
                    <a:pt x="1335310" y="2880314"/>
                  </a:lnTo>
                  <a:lnTo>
                    <a:pt x="1387077" y="2871488"/>
                  </a:lnTo>
                  <a:lnTo>
                    <a:pt x="1437981" y="2861503"/>
                  </a:lnTo>
                  <a:lnTo>
                    <a:pt x="1487873" y="2850366"/>
                  </a:lnTo>
                  <a:lnTo>
                    <a:pt x="1536603" y="2838087"/>
                  </a:lnTo>
                  <a:lnTo>
                    <a:pt x="1584022" y="2824672"/>
                  </a:lnTo>
                  <a:lnTo>
                    <a:pt x="1629982" y="2810131"/>
                  </a:lnTo>
                  <a:lnTo>
                    <a:pt x="1674332" y="2794471"/>
                  </a:lnTo>
                  <a:lnTo>
                    <a:pt x="1716923" y="2777700"/>
                  </a:lnTo>
                  <a:lnTo>
                    <a:pt x="1757607" y="2759826"/>
                  </a:lnTo>
                  <a:lnTo>
                    <a:pt x="1796235" y="2740859"/>
                  </a:lnTo>
                  <a:lnTo>
                    <a:pt x="1832656" y="2720805"/>
                  </a:lnTo>
                  <a:lnTo>
                    <a:pt x="1866722" y="2699672"/>
                  </a:lnTo>
                  <a:lnTo>
                    <a:pt x="1898284" y="2677470"/>
                  </a:lnTo>
                  <a:lnTo>
                    <a:pt x="1953298" y="2629888"/>
                  </a:lnTo>
                  <a:lnTo>
                    <a:pt x="1996504" y="2578123"/>
                  </a:lnTo>
                  <a:lnTo>
                    <a:pt x="2025866" y="2524754"/>
                  </a:lnTo>
                  <a:lnTo>
                    <a:pt x="2046577" y="2465125"/>
                  </a:lnTo>
                  <a:lnTo>
                    <a:pt x="2061649" y="2395902"/>
                  </a:lnTo>
                  <a:lnTo>
                    <a:pt x="2067160" y="2357971"/>
                  </a:lnTo>
                  <a:lnTo>
                    <a:pt x="2071369" y="2317976"/>
                  </a:lnTo>
                  <a:lnTo>
                    <a:pt x="2074310" y="2276028"/>
                  </a:lnTo>
                  <a:lnTo>
                    <a:pt x="2076021" y="2232240"/>
                  </a:lnTo>
                  <a:lnTo>
                    <a:pt x="2076536" y="2186721"/>
                  </a:lnTo>
                  <a:lnTo>
                    <a:pt x="2075892" y="2139585"/>
                  </a:lnTo>
                  <a:lnTo>
                    <a:pt x="2074124" y="2090942"/>
                  </a:lnTo>
                  <a:lnTo>
                    <a:pt x="2071268" y="2040903"/>
                  </a:lnTo>
                  <a:lnTo>
                    <a:pt x="2067360" y="1989581"/>
                  </a:lnTo>
                  <a:lnTo>
                    <a:pt x="2062435" y="1937087"/>
                  </a:lnTo>
                  <a:lnTo>
                    <a:pt x="2056529" y="1883533"/>
                  </a:lnTo>
                  <a:lnTo>
                    <a:pt x="2049679" y="1829029"/>
                  </a:lnTo>
                  <a:lnTo>
                    <a:pt x="2041919" y="1773688"/>
                  </a:lnTo>
                  <a:lnTo>
                    <a:pt x="2033285" y="1717620"/>
                  </a:lnTo>
                  <a:lnTo>
                    <a:pt x="2023814" y="1660938"/>
                  </a:lnTo>
                  <a:lnTo>
                    <a:pt x="2013541" y="1603753"/>
                  </a:lnTo>
                  <a:lnTo>
                    <a:pt x="2002501" y="1546176"/>
                  </a:lnTo>
                  <a:lnTo>
                    <a:pt x="1990731" y="1488319"/>
                  </a:lnTo>
                  <a:lnTo>
                    <a:pt x="1978266" y="1430294"/>
                  </a:lnTo>
                  <a:lnTo>
                    <a:pt x="1965142" y="1372211"/>
                  </a:lnTo>
                  <a:lnTo>
                    <a:pt x="1951394" y="1314183"/>
                  </a:lnTo>
                  <a:lnTo>
                    <a:pt x="1937059" y="1256321"/>
                  </a:lnTo>
                  <a:lnTo>
                    <a:pt x="1922173" y="1198736"/>
                  </a:lnTo>
                  <a:lnTo>
                    <a:pt x="1906770" y="1141540"/>
                  </a:lnTo>
                  <a:lnTo>
                    <a:pt x="1890887" y="1084845"/>
                  </a:lnTo>
                  <a:lnTo>
                    <a:pt x="1874559" y="1028761"/>
                  </a:lnTo>
                  <a:lnTo>
                    <a:pt x="1857822" y="973401"/>
                  </a:lnTo>
                  <a:lnTo>
                    <a:pt x="1840713" y="918876"/>
                  </a:lnTo>
                  <a:lnTo>
                    <a:pt x="1823266" y="865297"/>
                  </a:lnTo>
                  <a:lnTo>
                    <a:pt x="1805517" y="812776"/>
                  </a:lnTo>
                  <a:lnTo>
                    <a:pt x="1787502" y="761425"/>
                  </a:lnTo>
                  <a:lnTo>
                    <a:pt x="1769258" y="711354"/>
                  </a:lnTo>
                  <a:lnTo>
                    <a:pt x="1750819" y="662676"/>
                  </a:lnTo>
                  <a:lnTo>
                    <a:pt x="1732221" y="615502"/>
                  </a:lnTo>
                  <a:lnTo>
                    <a:pt x="1713501" y="569943"/>
                  </a:lnTo>
                  <a:lnTo>
                    <a:pt x="1694694" y="526111"/>
                  </a:lnTo>
                  <a:lnTo>
                    <a:pt x="1675835" y="484118"/>
                  </a:lnTo>
                  <a:lnTo>
                    <a:pt x="1656960" y="444075"/>
                  </a:lnTo>
                  <a:lnTo>
                    <a:pt x="1638106" y="406093"/>
                  </a:lnTo>
                  <a:lnTo>
                    <a:pt x="1619307" y="370284"/>
                  </a:lnTo>
                  <a:lnTo>
                    <a:pt x="1600601" y="336759"/>
                  </a:lnTo>
                  <a:lnTo>
                    <a:pt x="1563605" y="277009"/>
                  </a:lnTo>
                  <a:lnTo>
                    <a:pt x="1527404" y="227735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777" y="2994405"/>
            <a:ext cx="1727200" cy="3023107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1024127" y="3059938"/>
            <a:ext cx="952500" cy="6375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dirty="0" baseline="-21367" sz="1950" spc="-37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baseline="-21367" sz="1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2000" spc="-110">
                <a:solidFill>
                  <a:srgbClr val="C00000"/>
                </a:solidFill>
                <a:latin typeface="Arial"/>
                <a:cs typeface="Arial"/>
              </a:rPr>
              <a:t>0 </a:t>
            </a:r>
            <a:r>
              <a:rPr dirty="0" sz="2000">
                <a:solidFill>
                  <a:srgbClr val="C00000"/>
                </a:solidFill>
                <a:latin typeface="Arial"/>
                <a:cs typeface="Arial"/>
              </a:rPr>
              <a:t>≤</a:t>
            </a:r>
            <a:r>
              <a:rPr dirty="0" sz="2000" spc="-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140">
                <a:solidFill>
                  <a:srgbClr val="C00000"/>
                </a:solidFill>
                <a:latin typeface="Arial"/>
                <a:cs typeface="Arial"/>
              </a:rPr>
              <a:t>x</a:t>
            </a:r>
            <a:r>
              <a:rPr dirty="0" sz="2000" spc="-10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180">
                <a:solidFill>
                  <a:srgbClr val="C00000"/>
                </a:solidFill>
                <a:latin typeface="Arial"/>
                <a:cs typeface="Arial"/>
              </a:rPr>
              <a:t>&lt;</a:t>
            </a:r>
            <a:r>
              <a:rPr dirty="0" sz="2000" spc="-10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14627" y="4560570"/>
            <a:ext cx="569595" cy="637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2000" spc="-25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dirty="0" baseline="-21367" sz="1950" spc="-37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baseline="-21367" sz="1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2000" spc="-140">
                <a:solidFill>
                  <a:srgbClr val="C00000"/>
                </a:solidFill>
                <a:latin typeface="Arial"/>
                <a:cs typeface="Arial"/>
              </a:rPr>
              <a:t>x</a:t>
            </a:r>
            <a:r>
              <a:rPr dirty="0" sz="2000" spc="-12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C00000"/>
                </a:solidFill>
                <a:latin typeface="Arial"/>
                <a:cs typeface="Arial"/>
              </a:rPr>
              <a:t>≥</a:t>
            </a:r>
            <a:r>
              <a:rPr dirty="0" sz="2000" spc="-114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0584" y="266192"/>
            <a:ext cx="97536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35"/>
              <a:t>Fazit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81125"/>
            <a:ext cx="7487284" cy="38500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ts val="2740"/>
              </a:lnSpc>
              <a:spcBef>
                <a:spcPts val="10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dirty="0" sz="2400" spc="-70">
                <a:latin typeface="Arial"/>
                <a:cs typeface="Arial"/>
              </a:rPr>
              <a:t>Verifikation</a:t>
            </a:r>
            <a:r>
              <a:rPr dirty="0" sz="2400" spc="-114">
                <a:latin typeface="Arial"/>
                <a:cs typeface="Arial"/>
              </a:rPr>
              <a:t> von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330">
                <a:latin typeface="Arial"/>
                <a:cs typeface="Arial"/>
              </a:rPr>
              <a:t>TAs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mit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10">
                <a:latin typeface="Arial"/>
                <a:cs typeface="Arial"/>
              </a:rPr>
              <a:t>dem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325">
                <a:latin typeface="Arial"/>
                <a:cs typeface="Arial"/>
              </a:rPr>
              <a:t>UPPAAL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65">
                <a:latin typeface="Arial"/>
                <a:cs typeface="Arial"/>
              </a:rPr>
              <a:t>Model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Checker</a:t>
            </a:r>
            <a:endParaRPr sz="2400">
              <a:latin typeface="Arial"/>
              <a:cs typeface="Arial"/>
            </a:endParaRPr>
          </a:p>
          <a:p>
            <a:pPr marL="241300">
              <a:lnSpc>
                <a:spcPts val="2740"/>
              </a:lnSpc>
            </a:pPr>
            <a:r>
              <a:rPr dirty="0" sz="2400" spc="-10">
                <a:latin typeface="Arial"/>
                <a:cs typeface="Arial"/>
              </a:rPr>
              <a:t>möglich</a:t>
            </a:r>
            <a:endParaRPr sz="2400">
              <a:latin typeface="Arial"/>
              <a:cs typeface="Arial"/>
            </a:endParaRPr>
          </a:p>
          <a:p>
            <a:pPr marL="241300" marR="628015" indent="-228600">
              <a:lnSpc>
                <a:spcPts val="2590"/>
              </a:lnSpc>
              <a:spcBef>
                <a:spcPts val="105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1300" algn="l"/>
              </a:tabLst>
            </a:pPr>
            <a:r>
              <a:rPr dirty="0" sz="2400" spc="-130">
                <a:latin typeface="Arial"/>
                <a:cs typeface="Arial"/>
              </a:rPr>
              <a:t>Eigenschaften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von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365">
                <a:latin typeface="Arial"/>
                <a:cs typeface="Arial"/>
              </a:rPr>
              <a:t>TA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25">
                <a:latin typeface="Arial"/>
                <a:cs typeface="Arial"/>
              </a:rPr>
              <a:t>können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mit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einer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Temporallogik </a:t>
            </a:r>
            <a:r>
              <a:rPr dirty="0" sz="2400" spc="-80">
                <a:latin typeface="Arial"/>
                <a:cs typeface="Arial"/>
              </a:rPr>
              <a:t>spezifiziert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werden</a:t>
            </a:r>
            <a:endParaRPr sz="2400">
              <a:latin typeface="Arial"/>
              <a:cs typeface="Arial"/>
            </a:endParaRPr>
          </a:p>
          <a:p>
            <a:pPr marL="241300" marR="282575" indent="-228600">
              <a:lnSpc>
                <a:spcPts val="2590"/>
              </a:lnSpc>
              <a:spcBef>
                <a:spcPts val="100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1300" algn="l"/>
              </a:tabLst>
            </a:pPr>
            <a:r>
              <a:rPr dirty="0" sz="2400" spc="-254">
                <a:latin typeface="Arial"/>
                <a:cs typeface="Arial"/>
              </a:rPr>
              <a:t>Das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35">
                <a:latin typeface="Arial"/>
                <a:cs typeface="Arial"/>
              </a:rPr>
              <a:t>Transitionssystem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25">
                <a:latin typeface="Arial"/>
                <a:cs typeface="Arial"/>
              </a:rPr>
              <a:t>eines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370">
                <a:latin typeface="Arial"/>
                <a:cs typeface="Arial"/>
              </a:rPr>
              <a:t>TA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bildet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einen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60">
                <a:latin typeface="Arial"/>
                <a:cs typeface="Arial"/>
              </a:rPr>
              <a:t>unendlichen </a:t>
            </a:r>
            <a:r>
              <a:rPr dirty="0" sz="2400" spc="-135">
                <a:latin typeface="Arial"/>
                <a:cs typeface="Arial"/>
              </a:rPr>
              <a:t>Zustandsraum.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Damit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65">
                <a:latin typeface="Arial"/>
                <a:cs typeface="Arial"/>
              </a:rPr>
              <a:t>verifizierbar: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80">
                <a:latin typeface="Arial"/>
                <a:cs typeface="Arial"/>
              </a:rPr>
              <a:t>Abstraktion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von </a:t>
            </a:r>
            <a:r>
              <a:rPr dirty="0" sz="2400" spc="-60">
                <a:latin typeface="Arial"/>
                <a:cs typeface="Arial"/>
              </a:rPr>
              <a:t>kontinuierlicher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Zeit</a:t>
            </a:r>
            <a:endParaRPr sz="2400">
              <a:latin typeface="Arial"/>
              <a:cs typeface="Arial"/>
            </a:endParaRPr>
          </a:p>
          <a:p>
            <a:pPr lvl="1" marL="697865" indent="-227965">
              <a:lnSpc>
                <a:spcPct val="100000"/>
              </a:lnSpc>
              <a:spcBef>
                <a:spcPts val="24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697865" algn="l"/>
              </a:tabLst>
            </a:pPr>
            <a:r>
              <a:rPr dirty="0" sz="2000" spc="-95">
                <a:latin typeface="Arial"/>
                <a:cs typeface="Arial"/>
              </a:rPr>
              <a:t>Ziel: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endlich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viele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Zustände</a:t>
            </a:r>
            <a:endParaRPr sz="2000">
              <a:latin typeface="Arial"/>
              <a:cs typeface="Arial"/>
            </a:endParaRPr>
          </a:p>
          <a:p>
            <a:pPr lvl="1" marL="697865" marR="5080" indent="-228600">
              <a:lnSpc>
                <a:spcPts val="2160"/>
              </a:lnSpc>
              <a:spcBef>
                <a:spcPts val="54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697865" algn="l"/>
              </a:tabLst>
            </a:pPr>
            <a:r>
              <a:rPr dirty="0" sz="2000" spc="-35">
                <a:latin typeface="Arial"/>
                <a:cs typeface="Arial"/>
              </a:rPr>
              <a:t>Methodik: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35">
                <a:latin typeface="Arial"/>
                <a:cs typeface="Arial"/>
              </a:rPr>
              <a:t>Zonen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als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114">
                <a:latin typeface="Arial"/>
                <a:cs typeface="Arial"/>
              </a:rPr>
              <a:t>Äquivalenzklassen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95">
                <a:latin typeface="Arial"/>
                <a:cs typeface="Arial"/>
              </a:rPr>
              <a:t>von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125">
                <a:latin typeface="Arial"/>
                <a:cs typeface="Arial"/>
              </a:rPr>
              <a:t>Regionen,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30">
                <a:latin typeface="Arial"/>
                <a:cs typeface="Arial"/>
              </a:rPr>
              <a:t>Regionen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= </a:t>
            </a:r>
            <a:r>
              <a:rPr dirty="0" sz="2000" spc="-114">
                <a:latin typeface="Arial"/>
                <a:cs typeface="Arial"/>
              </a:rPr>
              <a:t>Äquivalenzklassen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95">
                <a:latin typeface="Arial"/>
                <a:cs typeface="Arial"/>
              </a:rPr>
              <a:t>von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05">
                <a:latin typeface="Arial"/>
                <a:cs typeface="Arial"/>
              </a:rPr>
              <a:t>semantischen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114">
                <a:latin typeface="Arial"/>
                <a:cs typeface="Arial"/>
              </a:rPr>
              <a:t>Zuständen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(Location, </a:t>
            </a:r>
            <a:r>
              <a:rPr dirty="0" sz="2000" spc="-30">
                <a:latin typeface="Arial"/>
                <a:cs typeface="Arial"/>
              </a:rPr>
              <a:t>Uhrenbelegung)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90"/>
              <a:t>Literatur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81125"/>
            <a:ext cx="6371590" cy="2621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ts val="2740"/>
              </a:lnSpc>
              <a:spcBef>
                <a:spcPts val="10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dirty="0" sz="2400" spc="-250">
                <a:latin typeface="Arial"/>
                <a:cs typeface="Arial"/>
              </a:rPr>
              <a:t>R.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65">
                <a:latin typeface="Arial"/>
                <a:cs typeface="Arial"/>
              </a:rPr>
              <a:t>Alur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130">
                <a:latin typeface="Arial"/>
                <a:cs typeface="Arial"/>
              </a:rPr>
              <a:t>and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225">
                <a:latin typeface="Arial"/>
                <a:cs typeface="Arial"/>
              </a:rPr>
              <a:t>T.A.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45">
                <a:latin typeface="Arial"/>
                <a:cs typeface="Arial"/>
              </a:rPr>
              <a:t>Henzinger.</a:t>
            </a:r>
            <a:endParaRPr sz="2400">
              <a:latin typeface="Arial"/>
              <a:cs typeface="Arial"/>
            </a:endParaRPr>
          </a:p>
          <a:p>
            <a:pPr marL="241300" marR="5080">
              <a:lnSpc>
                <a:spcPts val="2590"/>
              </a:lnSpc>
              <a:spcBef>
                <a:spcPts val="185"/>
              </a:spcBef>
            </a:pPr>
            <a:r>
              <a:rPr dirty="0" sz="2400" spc="-185" b="1">
                <a:latin typeface="Arial"/>
                <a:cs typeface="Arial"/>
              </a:rPr>
              <a:t>Real-</a:t>
            </a:r>
            <a:r>
              <a:rPr dirty="0" sz="2400" spc="-95" b="1">
                <a:latin typeface="Arial"/>
                <a:cs typeface="Arial"/>
              </a:rPr>
              <a:t>time</a:t>
            </a:r>
            <a:r>
              <a:rPr dirty="0" sz="2400" spc="-90" b="1">
                <a:latin typeface="Arial"/>
                <a:cs typeface="Arial"/>
              </a:rPr>
              <a:t> </a:t>
            </a:r>
            <a:r>
              <a:rPr dirty="0" sz="2400" spc="-220" b="1">
                <a:latin typeface="Arial"/>
                <a:cs typeface="Arial"/>
              </a:rPr>
              <a:t>logics:</a:t>
            </a:r>
            <a:r>
              <a:rPr dirty="0" sz="2400" spc="-105" b="1">
                <a:latin typeface="Arial"/>
                <a:cs typeface="Arial"/>
              </a:rPr>
              <a:t> </a:t>
            </a:r>
            <a:r>
              <a:rPr dirty="0" sz="2400" spc="-170" b="1">
                <a:latin typeface="Arial"/>
                <a:cs typeface="Arial"/>
              </a:rPr>
              <a:t>complexity</a:t>
            </a:r>
            <a:r>
              <a:rPr dirty="0" sz="2400" spc="-110" b="1">
                <a:latin typeface="Arial"/>
                <a:cs typeface="Arial"/>
              </a:rPr>
              <a:t> </a:t>
            </a:r>
            <a:r>
              <a:rPr dirty="0" sz="2400" spc="-180" b="1">
                <a:latin typeface="Arial"/>
                <a:cs typeface="Arial"/>
              </a:rPr>
              <a:t>and</a:t>
            </a:r>
            <a:r>
              <a:rPr dirty="0" sz="2400" spc="-100" b="1">
                <a:latin typeface="Arial"/>
                <a:cs typeface="Arial"/>
              </a:rPr>
              <a:t> </a:t>
            </a:r>
            <a:r>
              <a:rPr dirty="0" sz="2400" spc="-204" b="1">
                <a:latin typeface="Arial"/>
                <a:cs typeface="Arial"/>
              </a:rPr>
              <a:t>expressiveness</a:t>
            </a:r>
            <a:r>
              <a:rPr dirty="0" sz="2400" spc="-204">
                <a:latin typeface="Arial"/>
                <a:cs typeface="Arial"/>
              </a:rPr>
              <a:t>. </a:t>
            </a:r>
            <a:r>
              <a:rPr dirty="0" sz="2400" spc="-55">
                <a:latin typeface="Arial"/>
                <a:cs typeface="Arial"/>
              </a:rPr>
              <a:t>Information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30">
                <a:latin typeface="Arial"/>
                <a:cs typeface="Arial"/>
              </a:rPr>
              <a:t>and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Computation </a:t>
            </a:r>
            <a:r>
              <a:rPr dirty="0" sz="2400" spc="-110">
                <a:latin typeface="Arial"/>
                <a:cs typeface="Arial"/>
              </a:rPr>
              <a:t>104(1):35-</a:t>
            </a:r>
            <a:r>
              <a:rPr dirty="0" sz="2400" spc="-114">
                <a:latin typeface="Arial"/>
                <a:cs typeface="Arial"/>
              </a:rPr>
              <a:t>77,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1993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sz="2400">
              <a:latin typeface="Arial"/>
              <a:cs typeface="Arial"/>
            </a:endParaRPr>
          </a:p>
          <a:p>
            <a:pPr marL="240665" indent="-227965">
              <a:lnSpc>
                <a:spcPts val="2735"/>
              </a:lnSpc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dirty="0" sz="2400" spc="-250">
                <a:latin typeface="Arial"/>
                <a:cs typeface="Arial"/>
              </a:rPr>
              <a:t>R.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65">
                <a:latin typeface="Arial"/>
                <a:cs typeface="Arial"/>
              </a:rPr>
              <a:t>Alur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30">
                <a:latin typeface="Arial"/>
                <a:cs typeface="Arial"/>
              </a:rPr>
              <a:t>and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D.L.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Dill.</a:t>
            </a:r>
            <a:endParaRPr sz="2400">
              <a:latin typeface="Arial"/>
              <a:cs typeface="Arial"/>
            </a:endParaRPr>
          </a:p>
          <a:p>
            <a:pPr marL="241300">
              <a:lnSpc>
                <a:spcPts val="2590"/>
              </a:lnSpc>
            </a:pPr>
            <a:r>
              <a:rPr dirty="0" sz="2400" spc="-300" b="1">
                <a:latin typeface="Arial"/>
                <a:cs typeface="Arial"/>
              </a:rPr>
              <a:t>A</a:t>
            </a:r>
            <a:r>
              <a:rPr dirty="0" sz="2400" spc="-110" b="1">
                <a:latin typeface="Arial"/>
                <a:cs typeface="Arial"/>
              </a:rPr>
              <a:t> </a:t>
            </a:r>
            <a:r>
              <a:rPr dirty="0" sz="2400" spc="-130" b="1">
                <a:latin typeface="Arial"/>
                <a:cs typeface="Arial"/>
              </a:rPr>
              <a:t>theory</a:t>
            </a:r>
            <a:r>
              <a:rPr dirty="0" sz="2400" spc="-110" b="1">
                <a:latin typeface="Arial"/>
                <a:cs typeface="Arial"/>
              </a:rPr>
              <a:t> </a:t>
            </a:r>
            <a:r>
              <a:rPr dirty="0" sz="2400" spc="-120" b="1">
                <a:latin typeface="Arial"/>
                <a:cs typeface="Arial"/>
              </a:rPr>
              <a:t>of</a:t>
            </a:r>
            <a:r>
              <a:rPr dirty="0" sz="2400" spc="-110" b="1">
                <a:latin typeface="Arial"/>
                <a:cs typeface="Arial"/>
              </a:rPr>
              <a:t> </a:t>
            </a:r>
            <a:r>
              <a:rPr dirty="0" sz="2400" spc="-125" b="1">
                <a:latin typeface="Arial"/>
                <a:cs typeface="Arial"/>
              </a:rPr>
              <a:t>timed</a:t>
            </a:r>
            <a:r>
              <a:rPr dirty="0" sz="2400" spc="-11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automata</a:t>
            </a:r>
            <a:r>
              <a:rPr dirty="0" sz="2400" spc="-1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241300">
              <a:lnSpc>
                <a:spcPts val="2735"/>
              </a:lnSpc>
            </a:pPr>
            <a:r>
              <a:rPr dirty="0" sz="2400" spc="-95">
                <a:latin typeface="Arial"/>
                <a:cs typeface="Arial"/>
              </a:rPr>
              <a:t>Theoretical </a:t>
            </a:r>
            <a:r>
              <a:rPr dirty="0" sz="2400" spc="-105">
                <a:latin typeface="Arial"/>
                <a:cs typeface="Arial"/>
              </a:rPr>
              <a:t>Computer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80">
                <a:latin typeface="Arial"/>
                <a:cs typeface="Arial"/>
              </a:rPr>
              <a:t>Science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20">
                <a:latin typeface="Arial"/>
                <a:cs typeface="Arial"/>
              </a:rPr>
              <a:t>126:183-235,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1994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TU-Pseudonym 1602087970080298</dc:creator>
  <dcterms:created xsi:type="dcterms:W3CDTF">2026-03-04T19:31:24Z</dcterms:created>
  <dcterms:modified xsi:type="dcterms:W3CDTF">2026-03-04T19:31:24Z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2023-10-30T00:00:00Z</vt:filetime>
  </property>
  <property fmtid="{D5CDD505-2E9C-101B-9397-08002B2CF9AE}" pid="3" name="Creator">
    <vt:lpwstr>Microsoft® PowerPoint® für Microsoft 365</vt:lpwstr>
  </property>
  <property fmtid="{D5CDD505-2E9C-101B-9397-08002B2CF9AE}" pid="4" name="LastSaved">
    <vt:filetime>2026-03-04T00:00:00Z</vt:filetime>
  </property>
  <property fmtid="{D5CDD505-2E9C-101B-9397-08002B2CF9AE}" pid="5" name="Producer">
    <vt:lpwstr>Microsoft® PowerPoint® für Microsoft 365</vt:lpwstr>
  </property>
</Properties>
</file>